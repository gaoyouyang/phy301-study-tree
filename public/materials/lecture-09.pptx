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notesMasterIdLst>
    <p:notesMasterId r:id="rId37"/>
  </p:notesMasterIdLst>
  <p:sldIdLst>
    <p:sldId id="469" r:id="rId2"/>
    <p:sldId id="508" r:id="rId3"/>
    <p:sldId id="527" r:id="rId4"/>
    <p:sldId id="529" r:id="rId5"/>
    <p:sldId id="539" r:id="rId6"/>
    <p:sldId id="566" r:id="rId7"/>
    <p:sldId id="526" r:id="rId8"/>
    <p:sldId id="533" r:id="rId9"/>
    <p:sldId id="535" r:id="rId10"/>
    <p:sldId id="567" r:id="rId11"/>
    <p:sldId id="568" r:id="rId12"/>
    <p:sldId id="569" r:id="rId13"/>
    <p:sldId id="572" r:id="rId14"/>
    <p:sldId id="520" r:id="rId15"/>
    <p:sldId id="521" r:id="rId16"/>
    <p:sldId id="540" r:id="rId17"/>
    <p:sldId id="542" r:id="rId18"/>
    <p:sldId id="541" r:id="rId19"/>
    <p:sldId id="497" r:id="rId20"/>
    <p:sldId id="523" r:id="rId21"/>
    <p:sldId id="543" r:id="rId22"/>
    <p:sldId id="544" r:id="rId23"/>
    <p:sldId id="545" r:id="rId24"/>
    <p:sldId id="546" r:id="rId25"/>
    <p:sldId id="547" r:id="rId26"/>
    <p:sldId id="588" r:id="rId27"/>
    <p:sldId id="563" r:id="rId28"/>
    <p:sldId id="559" r:id="rId29"/>
    <p:sldId id="564" r:id="rId30"/>
    <p:sldId id="565" r:id="rId31"/>
    <p:sldId id="589" r:id="rId32"/>
    <p:sldId id="524" r:id="rId33"/>
    <p:sldId id="560" r:id="rId34"/>
    <p:sldId id="561" r:id="rId35"/>
    <p:sldId id="562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ADE4"/>
    <a:srgbClr val="0432FF"/>
    <a:srgbClr val="1AA0D3"/>
    <a:srgbClr val="FFFFFF"/>
    <a:srgbClr val="DFE3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712"/>
  </p:normalViewPr>
  <p:slideViewPr>
    <p:cSldViewPr snapToGrid="0" snapToObjects="1">
      <p:cViewPr varScale="1">
        <p:scale>
          <a:sx n="65" d="100"/>
          <a:sy n="65" d="100"/>
        </p:scale>
        <p:origin x="6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0C4CF7-F995-064A-A609-EA130F94374C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F87CB1-692F-4249-B4E0-C0426D9B9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2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6371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726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7768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08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881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9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540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950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918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558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9586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smtClean="0"/>
              <a:pPr/>
              <a:t>10/29/2025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0306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18" Type="http://schemas.openxmlformats.org/officeDocument/2006/relationships/image" Target="../media/image18.png"/><Relationship Id="rId26" Type="http://schemas.openxmlformats.org/officeDocument/2006/relationships/image" Target="../media/image26.sv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17" Type="http://schemas.openxmlformats.org/officeDocument/2006/relationships/image" Target="../media/image17.svg"/><Relationship Id="rId25" Type="http://schemas.openxmlformats.org/officeDocument/2006/relationships/image" Target="../media/image25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29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24" Type="http://schemas.openxmlformats.org/officeDocument/2006/relationships/image" Target="../media/image24.png"/><Relationship Id="rId5" Type="http://schemas.openxmlformats.org/officeDocument/2006/relationships/image" Target="../media/image5.png"/><Relationship Id="rId15" Type="http://schemas.openxmlformats.org/officeDocument/2006/relationships/image" Target="../media/image15.svg"/><Relationship Id="rId23" Type="http://schemas.openxmlformats.org/officeDocument/2006/relationships/image" Target="../media/image23.svg"/><Relationship Id="rId28" Type="http://schemas.openxmlformats.org/officeDocument/2006/relationships/image" Target="../media/image28.svg"/><Relationship Id="rId10" Type="http://schemas.openxmlformats.org/officeDocument/2006/relationships/image" Target="../media/image10.png"/><Relationship Id="rId19" Type="http://schemas.openxmlformats.org/officeDocument/2006/relationships/image" Target="../media/image19.svg"/><Relationship Id="rId4" Type="http://schemas.openxmlformats.org/officeDocument/2006/relationships/image" Target="../media/image4.svg"/><Relationship Id="rId9" Type="http://schemas.openxmlformats.org/officeDocument/2006/relationships/image" Target="../media/image9.sv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2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34.png"/><Relationship Id="rId18" Type="http://schemas.openxmlformats.org/officeDocument/2006/relationships/image" Target="../media/image38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6.png"/><Relationship Id="rId12" Type="http://schemas.openxmlformats.org/officeDocument/2006/relationships/image" Target="../media/image33.png"/><Relationship Id="rId17" Type="http://schemas.openxmlformats.org/officeDocument/2006/relationships/image" Target="../media/image37.svg"/><Relationship Id="rId2" Type="http://schemas.openxmlformats.org/officeDocument/2006/relationships/image" Target="../media/image2.png"/><Relationship Id="rId16" Type="http://schemas.openxmlformats.org/officeDocument/2006/relationships/image" Target="../media/image36.png"/><Relationship Id="rId20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32.png"/><Relationship Id="rId5" Type="http://schemas.openxmlformats.org/officeDocument/2006/relationships/image" Target="../media/image24.png"/><Relationship Id="rId15" Type="http://schemas.openxmlformats.org/officeDocument/2006/relationships/image" Target="../media/image35.png"/><Relationship Id="rId10" Type="http://schemas.openxmlformats.org/officeDocument/2006/relationships/image" Target="../media/image31.png"/><Relationship Id="rId19" Type="http://schemas.openxmlformats.org/officeDocument/2006/relationships/image" Target="../media/image39.png"/><Relationship Id="rId4" Type="http://schemas.openxmlformats.org/officeDocument/2006/relationships/image" Target="../media/image4.svg"/><Relationship Id="rId9" Type="http://schemas.openxmlformats.org/officeDocument/2006/relationships/image" Target="../media/image30.png"/><Relationship Id="rId14" Type="http://schemas.openxmlformats.org/officeDocument/2006/relationships/image" Target="../media/image20.png"/><Relationship Id="rId22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46.png"/><Relationship Id="rId18" Type="http://schemas.openxmlformats.org/officeDocument/2006/relationships/image" Target="../media/image29.png"/><Relationship Id="rId3" Type="http://schemas.openxmlformats.org/officeDocument/2006/relationships/image" Target="../media/image30.png"/><Relationship Id="rId7" Type="http://schemas.openxmlformats.org/officeDocument/2006/relationships/image" Target="../media/image44.svg"/><Relationship Id="rId12" Type="http://schemas.openxmlformats.org/officeDocument/2006/relationships/image" Target="../media/image45.png"/><Relationship Id="rId17" Type="http://schemas.openxmlformats.org/officeDocument/2006/relationships/image" Target="../media/image50.svg"/><Relationship Id="rId2" Type="http://schemas.openxmlformats.org/officeDocument/2006/relationships/image" Target="../media/image31.png"/><Relationship Id="rId16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0.png"/><Relationship Id="rId5" Type="http://schemas.openxmlformats.org/officeDocument/2006/relationships/image" Target="../media/image42.svg"/><Relationship Id="rId15" Type="http://schemas.openxmlformats.org/officeDocument/2006/relationships/image" Target="../media/image48.svg"/><Relationship Id="rId10" Type="http://schemas.openxmlformats.org/officeDocument/2006/relationships/image" Target="../media/image39.png"/><Relationship Id="rId4" Type="http://schemas.openxmlformats.org/officeDocument/2006/relationships/image" Target="../media/image41.png"/><Relationship Id="rId9" Type="http://schemas.openxmlformats.org/officeDocument/2006/relationships/image" Target="../media/image34.png"/><Relationship Id="rId14" Type="http://schemas.openxmlformats.org/officeDocument/2006/relationships/image" Target="../media/image4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46.png"/><Relationship Id="rId3" Type="http://schemas.openxmlformats.org/officeDocument/2006/relationships/image" Target="../media/image43.png"/><Relationship Id="rId7" Type="http://schemas.openxmlformats.org/officeDocument/2006/relationships/image" Target="../media/image52.png"/><Relationship Id="rId12" Type="http://schemas.openxmlformats.org/officeDocument/2006/relationships/image" Target="../media/image39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11" Type="http://schemas.openxmlformats.org/officeDocument/2006/relationships/image" Target="../media/image48.svg"/><Relationship Id="rId5" Type="http://schemas.openxmlformats.org/officeDocument/2006/relationships/image" Target="../media/image45.png"/><Relationship Id="rId15" Type="http://schemas.openxmlformats.org/officeDocument/2006/relationships/image" Target="../media/image29.png"/><Relationship Id="rId10" Type="http://schemas.openxmlformats.org/officeDocument/2006/relationships/image" Target="../media/image47.png"/><Relationship Id="rId4" Type="http://schemas.openxmlformats.org/officeDocument/2006/relationships/image" Target="../media/image44.svg"/><Relationship Id="rId9" Type="http://schemas.openxmlformats.org/officeDocument/2006/relationships/image" Target="../media/image54.png"/><Relationship Id="rId14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13" Type="http://schemas.openxmlformats.org/officeDocument/2006/relationships/image" Target="../media/image65.png"/><Relationship Id="rId18" Type="http://schemas.openxmlformats.org/officeDocument/2006/relationships/image" Target="../media/image70.png"/><Relationship Id="rId3" Type="http://schemas.openxmlformats.org/officeDocument/2006/relationships/image" Target="../media/image56.svg"/><Relationship Id="rId7" Type="http://schemas.openxmlformats.org/officeDocument/2006/relationships/image" Target="../media/image60.png"/><Relationship Id="rId12" Type="http://schemas.openxmlformats.org/officeDocument/2006/relationships/image" Target="../media/image30.png"/><Relationship Id="rId17" Type="http://schemas.openxmlformats.org/officeDocument/2006/relationships/image" Target="../media/image69.svg"/><Relationship Id="rId2" Type="http://schemas.openxmlformats.org/officeDocument/2006/relationships/image" Target="../media/image55.png"/><Relationship Id="rId16" Type="http://schemas.openxmlformats.org/officeDocument/2006/relationships/image" Target="../media/image68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emf"/><Relationship Id="rId11" Type="http://schemas.openxmlformats.org/officeDocument/2006/relationships/image" Target="../media/image64.svg"/><Relationship Id="rId5" Type="http://schemas.openxmlformats.org/officeDocument/2006/relationships/image" Target="../media/image58.svg"/><Relationship Id="rId15" Type="http://schemas.openxmlformats.org/officeDocument/2006/relationships/image" Target="../media/image67.png"/><Relationship Id="rId10" Type="http://schemas.openxmlformats.org/officeDocument/2006/relationships/image" Target="../media/image63.png"/><Relationship Id="rId19" Type="http://schemas.openxmlformats.org/officeDocument/2006/relationships/image" Target="../media/image71.svg"/><Relationship Id="rId4" Type="http://schemas.openxmlformats.org/officeDocument/2006/relationships/image" Target="../media/image57.png"/><Relationship Id="rId9" Type="http://schemas.openxmlformats.org/officeDocument/2006/relationships/image" Target="../media/image62.svg"/><Relationship Id="rId14" Type="http://schemas.openxmlformats.org/officeDocument/2006/relationships/image" Target="../media/image66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svg"/><Relationship Id="rId13" Type="http://schemas.openxmlformats.org/officeDocument/2006/relationships/image" Target="../media/image66.svg"/><Relationship Id="rId18" Type="http://schemas.openxmlformats.org/officeDocument/2006/relationships/image" Target="../media/image70.png"/><Relationship Id="rId3" Type="http://schemas.openxmlformats.org/officeDocument/2006/relationships/image" Target="../media/image55.png"/><Relationship Id="rId21" Type="http://schemas.openxmlformats.org/officeDocument/2006/relationships/image" Target="../media/image75.svg"/><Relationship Id="rId7" Type="http://schemas.openxmlformats.org/officeDocument/2006/relationships/image" Target="../media/image63.png"/><Relationship Id="rId12" Type="http://schemas.openxmlformats.org/officeDocument/2006/relationships/image" Target="../media/image65.png"/><Relationship Id="rId17" Type="http://schemas.openxmlformats.org/officeDocument/2006/relationships/image" Target="../media/image73.png"/><Relationship Id="rId2" Type="http://schemas.openxmlformats.org/officeDocument/2006/relationships/image" Target="../media/image72.png"/><Relationship Id="rId16" Type="http://schemas.openxmlformats.org/officeDocument/2006/relationships/image" Target="../media/image69.svg"/><Relationship Id="rId20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svg"/><Relationship Id="rId11" Type="http://schemas.openxmlformats.org/officeDocument/2006/relationships/image" Target="../media/image58.svg"/><Relationship Id="rId24" Type="http://schemas.openxmlformats.org/officeDocument/2006/relationships/image" Target="../media/image29.png"/><Relationship Id="rId5" Type="http://schemas.openxmlformats.org/officeDocument/2006/relationships/image" Target="../media/image61.png"/><Relationship Id="rId15" Type="http://schemas.openxmlformats.org/officeDocument/2006/relationships/image" Target="../media/image68.png"/><Relationship Id="rId23" Type="http://schemas.openxmlformats.org/officeDocument/2006/relationships/image" Target="../media/image60.png"/><Relationship Id="rId10" Type="http://schemas.openxmlformats.org/officeDocument/2006/relationships/image" Target="../media/image57.png"/><Relationship Id="rId19" Type="http://schemas.openxmlformats.org/officeDocument/2006/relationships/image" Target="../media/image71.svg"/><Relationship Id="rId4" Type="http://schemas.openxmlformats.org/officeDocument/2006/relationships/image" Target="../media/image56.svg"/><Relationship Id="rId9" Type="http://schemas.openxmlformats.org/officeDocument/2006/relationships/image" Target="../media/image30.png"/><Relationship Id="rId14" Type="http://schemas.openxmlformats.org/officeDocument/2006/relationships/image" Target="../media/image67.png"/><Relationship Id="rId22" Type="http://schemas.openxmlformats.org/officeDocument/2006/relationships/image" Target="../media/image7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77.png"/><Relationship Id="rId7" Type="http://schemas.openxmlformats.org/officeDocument/2006/relationships/image" Target="../media/image3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10" Type="http://schemas.openxmlformats.org/officeDocument/2006/relationships/image" Target="../media/image29.png"/><Relationship Id="rId4" Type="http://schemas.openxmlformats.org/officeDocument/2006/relationships/image" Target="../media/image78.png"/><Relationship Id="rId9" Type="http://schemas.openxmlformats.org/officeDocument/2006/relationships/image" Target="../media/image8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87.svg"/><Relationship Id="rId3" Type="http://schemas.openxmlformats.org/officeDocument/2006/relationships/image" Target="../media/image34.png"/><Relationship Id="rId7" Type="http://schemas.openxmlformats.org/officeDocument/2006/relationships/image" Target="../media/image77.png"/><Relationship Id="rId12" Type="http://schemas.openxmlformats.org/officeDocument/2006/relationships/image" Target="../media/image86.png"/><Relationship Id="rId2" Type="http://schemas.openxmlformats.org/officeDocument/2006/relationships/image" Target="../media/image30.png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11" Type="http://schemas.openxmlformats.org/officeDocument/2006/relationships/image" Target="../media/image85.png"/><Relationship Id="rId5" Type="http://schemas.openxmlformats.org/officeDocument/2006/relationships/image" Target="../media/image51.png"/><Relationship Id="rId15" Type="http://schemas.openxmlformats.org/officeDocument/2006/relationships/image" Target="../media/image89.png"/><Relationship Id="rId10" Type="http://schemas.openxmlformats.org/officeDocument/2006/relationships/image" Target="../media/image79.png"/><Relationship Id="rId4" Type="http://schemas.openxmlformats.org/officeDocument/2006/relationships/image" Target="../media/image82.png"/><Relationship Id="rId9" Type="http://schemas.openxmlformats.org/officeDocument/2006/relationships/image" Target="../media/image84.png"/><Relationship Id="rId14" Type="http://schemas.openxmlformats.org/officeDocument/2006/relationships/image" Target="../media/image8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93.svg"/><Relationship Id="rId4" Type="http://schemas.openxmlformats.org/officeDocument/2006/relationships/image" Target="../media/image9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66.svg"/><Relationship Id="rId18" Type="http://schemas.openxmlformats.org/officeDocument/2006/relationships/image" Target="../media/image74.png"/><Relationship Id="rId3" Type="http://schemas.openxmlformats.org/officeDocument/2006/relationships/image" Target="../media/image56.svg"/><Relationship Id="rId21" Type="http://schemas.openxmlformats.org/officeDocument/2006/relationships/image" Target="../media/image70.png"/><Relationship Id="rId7" Type="http://schemas.openxmlformats.org/officeDocument/2006/relationships/image" Target="../media/image64.svg"/><Relationship Id="rId12" Type="http://schemas.openxmlformats.org/officeDocument/2006/relationships/image" Target="../media/image65.png"/><Relationship Id="rId17" Type="http://schemas.openxmlformats.org/officeDocument/2006/relationships/image" Target="../media/image76.png"/><Relationship Id="rId2" Type="http://schemas.openxmlformats.org/officeDocument/2006/relationships/image" Target="../media/image55.png"/><Relationship Id="rId16" Type="http://schemas.openxmlformats.org/officeDocument/2006/relationships/image" Target="../media/image69.svg"/><Relationship Id="rId20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11" Type="http://schemas.openxmlformats.org/officeDocument/2006/relationships/image" Target="../media/image58.svg"/><Relationship Id="rId5" Type="http://schemas.openxmlformats.org/officeDocument/2006/relationships/image" Target="../media/image62.svg"/><Relationship Id="rId15" Type="http://schemas.openxmlformats.org/officeDocument/2006/relationships/image" Target="../media/image68.png"/><Relationship Id="rId23" Type="http://schemas.openxmlformats.org/officeDocument/2006/relationships/image" Target="../media/image29.png"/><Relationship Id="rId10" Type="http://schemas.openxmlformats.org/officeDocument/2006/relationships/image" Target="../media/image57.png"/><Relationship Id="rId19" Type="http://schemas.openxmlformats.org/officeDocument/2006/relationships/image" Target="../media/image75.svg"/><Relationship Id="rId4" Type="http://schemas.openxmlformats.org/officeDocument/2006/relationships/image" Target="../media/image61.png"/><Relationship Id="rId9" Type="http://schemas.openxmlformats.org/officeDocument/2006/relationships/image" Target="../media/image60.png"/><Relationship Id="rId14" Type="http://schemas.openxmlformats.org/officeDocument/2006/relationships/image" Target="../media/image67.png"/><Relationship Id="rId22" Type="http://schemas.openxmlformats.org/officeDocument/2006/relationships/image" Target="../media/image71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12" Type="http://schemas.openxmlformats.org/officeDocument/2006/relationships/image" Target="../media/image29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png"/><Relationship Id="rId11" Type="http://schemas.openxmlformats.org/officeDocument/2006/relationships/image" Target="../media/image103.png"/><Relationship Id="rId5" Type="http://schemas.openxmlformats.org/officeDocument/2006/relationships/image" Target="../media/image97.png"/><Relationship Id="rId10" Type="http://schemas.openxmlformats.org/officeDocument/2006/relationships/image" Target="../media/image102.png"/><Relationship Id="rId4" Type="http://schemas.openxmlformats.org/officeDocument/2006/relationships/image" Target="../media/image96.png"/><Relationship Id="rId9" Type="http://schemas.openxmlformats.org/officeDocument/2006/relationships/image" Target="../media/image10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gif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svg"/><Relationship Id="rId13" Type="http://schemas.openxmlformats.org/officeDocument/2006/relationships/image" Target="../media/image10.png"/><Relationship Id="rId18" Type="http://schemas.openxmlformats.org/officeDocument/2006/relationships/image" Target="../media/image118.svg"/><Relationship Id="rId26" Type="http://schemas.openxmlformats.org/officeDocument/2006/relationships/image" Target="../media/image126.svg"/><Relationship Id="rId3" Type="http://schemas.openxmlformats.org/officeDocument/2006/relationships/image" Target="../media/image107.png"/><Relationship Id="rId21" Type="http://schemas.openxmlformats.org/officeDocument/2006/relationships/image" Target="../media/image121.png"/><Relationship Id="rId7" Type="http://schemas.openxmlformats.org/officeDocument/2006/relationships/image" Target="../media/image111.png"/><Relationship Id="rId12" Type="http://schemas.openxmlformats.org/officeDocument/2006/relationships/image" Target="../media/image116.svg"/><Relationship Id="rId17" Type="http://schemas.openxmlformats.org/officeDocument/2006/relationships/image" Target="../media/image117.png"/><Relationship Id="rId25" Type="http://schemas.openxmlformats.org/officeDocument/2006/relationships/image" Target="../media/image125.png"/><Relationship Id="rId2" Type="http://schemas.openxmlformats.org/officeDocument/2006/relationships/image" Target="../media/image106.png"/><Relationship Id="rId16" Type="http://schemas.openxmlformats.org/officeDocument/2006/relationships/image" Target="../media/image13.svg"/><Relationship Id="rId20" Type="http://schemas.openxmlformats.org/officeDocument/2006/relationships/image" Target="../media/image120.svg"/><Relationship Id="rId29" Type="http://schemas.openxmlformats.org/officeDocument/2006/relationships/image" Target="../media/image1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svg"/><Relationship Id="rId11" Type="http://schemas.openxmlformats.org/officeDocument/2006/relationships/image" Target="../media/image115.png"/><Relationship Id="rId24" Type="http://schemas.openxmlformats.org/officeDocument/2006/relationships/image" Target="../media/image124.svg"/><Relationship Id="rId32" Type="http://schemas.openxmlformats.org/officeDocument/2006/relationships/image" Target="../media/image29.png"/><Relationship Id="rId5" Type="http://schemas.openxmlformats.org/officeDocument/2006/relationships/image" Target="../media/image109.png"/><Relationship Id="rId15" Type="http://schemas.openxmlformats.org/officeDocument/2006/relationships/image" Target="../media/image12.png"/><Relationship Id="rId23" Type="http://schemas.openxmlformats.org/officeDocument/2006/relationships/image" Target="../media/image123.png"/><Relationship Id="rId28" Type="http://schemas.openxmlformats.org/officeDocument/2006/relationships/image" Target="../media/image128.svg"/><Relationship Id="rId10" Type="http://schemas.openxmlformats.org/officeDocument/2006/relationships/image" Target="../media/image114.svg"/><Relationship Id="rId19" Type="http://schemas.openxmlformats.org/officeDocument/2006/relationships/image" Target="../media/image119.png"/><Relationship Id="rId31" Type="http://schemas.openxmlformats.org/officeDocument/2006/relationships/image" Target="../media/image131.svg"/><Relationship Id="rId4" Type="http://schemas.openxmlformats.org/officeDocument/2006/relationships/image" Target="../media/image108.svg"/><Relationship Id="rId9" Type="http://schemas.openxmlformats.org/officeDocument/2006/relationships/image" Target="../media/image113.png"/><Relationship Id="rId14" Type="http://schemas.openxmlformats.org/officeDocument/2006/relationships/image" Target="../media/image11.svg"/><Relationship Id="rId22" Type="http://schemas.openxmlformats.org/officeDocument/2006/relationships/image" Target="../media/image122.svg"/><Relationship Id="rId27" Type="http://schemas.openxmlformats.org/officeDocument/2006/relationships/image" Target="../media/image127.png"/><Relationship Id="rId30" Type="http://schemas.openxmlformats.org/officeDocument/2006/relationships/image" Target="../media/image13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svg"/><Relationship Id="rId13" Type="http://schemas.openxmlformats.org/officeDocument/2006/relationships/image" Target="../media/image137.png"/><Relationship Id="rId18" Type="http://schemas.openxmlformats.org/officeDocument/2006/relationships/image" Target="../media/image142.png"/><Relationship Id="rId3" Type="http://schemas.openxmlformats.org/officeDocument/2006/relationships/image" Target="../media/image10.png"/><Relationship Id="rId21" Type="http://schemas.openxmlformats.org/officeDocument/2006/relationships/image" Target="../media/image145.svg"/><Relationship Id="rId7" Type="http://schemas.openxmlformats.org/officeDocument/2006/relationships/image" Target="../media/image107.png"/><Relationship Id="rId12" Type="http://schemas.openxmlformats.org/officeDocument/2006/relationships/image" Target="../media/image136.svg"/><Relationship Id="rId17" Type="http://schemas.openxmlformats.org/officeDocument/2006/relationships/image" Target="../media/image141.svg"/><Relationship Id="rId2" Type="http://schemas.openxmlformats.org/officeDocument/2006/relationships/image" Target="../media/image132.png"/><Relationship Id="rId16" Type="http://schemas.openxmlformats.org/officeDocument/2006/relationships/image" Target="../media/image140.png"/><Relationship Id="rId20" Type="http://schemas.openxmlformats.org/officeDocument/2006/relationships/image" Target="../media/image1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11" Type="http://schemas.openxmlformats.org/officeDocument/2006/relationships/image" Target="../media/image135.png"/><Relationship Id="rId5" Type="http://schemas.openxmlformats.org/officeDocument/2006/relationships/image" Target="../media/image12.png"/><Relationship Id="rId15" Type="http://schemas.openxmlformats.org/officeDocument/2006/relationships/image" Target="../media/image139.png"/><Relationship Id="rId10" Type="http://schemas.openxmlformats.org/officeDocument/2006/relationships/image" Target="../media/image134.svg"/><Relationship Id="rId19" Type="http://schemas.openxmlformats.org/officeDocument/2006/relationships/image" Target="../media/image143.svg"/><Relationship Id="rId4" Type="http://schemas.openxmlformats.org/officeDocument/2006/relationships/image" Target="../media/image11.svg"/><Relationship Id="rId9" Type="http://schemas.openxmlformats.org/officeDocument/2006/relationships/image" Target="../media/image133.png"/><Relationship Id="rId14" Type="http://schemas.openxmlformats.org/officeDocument/2006/relationships/image" Target="../media/image138.svg"/><Relationship Id="rId22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13" Type="http://schemas.openxmlformats.org/officeDocument/2006/relationships/image" Target="../media/image148.png"/><Relationship Id="rId18" Type="http://schemas.openxmlformats.org/officeDocument/2006/relationships/image" Target="../media/image153.svg"/><Relationship Id="rId26" Type="http://schemas.openxmlformats.org/officeDocument/2006/relationships/image" Target="../media/image161.png"/><Relationship Id="rId3" Type="http://schemas.openxmlformats.org/officeDocument/2006/relationships/image" Target="../media/image11.svg"/><Relationship Id="rId21" Type="http://schemas.openxmlformats.org/officeDocument/2006/relationships/image" Target="../media/image156.png"/><Relationship Id="rId7" Type="http://schemas.openxmlformats.org/officeDocument/2006/relationships/image" Target="../media/image108.svg"/><Relationship Id="rId12" Type="http://schemas.openxmlformats.org/officeDocument/2006/relationships/image" Target="../media/image147.svg"/><Relationship Id="rId17" Type="http://schemas.openxmlformats.org/officeDocument/2006/relationships/image" Target="../media/image152.png"/><Relationship Id="rId25" Type="http://schemas.openxmlformats.org/officeDocument/2006/relationships/image" Target="../media/image160.png"/><Relationship Id="rId2" Type="http://schemas.openxmlformats.org/officeDocument/2006/relationships/image" Target="../media/image10.png"/><Relationship Id="rId16" Type="http://schemas.openxmlformats.org/officeDocument/2006/relationships/image" Target="../media/image151.svg"/><Relationship Id="rId20" Type="http://schemas.openxmlformats.org/officeDocument/2006/relationships/image" Target="../media/image155.svg"/><Relationship Id="rId29" Type="http://schemas.openxmlformats.org/officeDocument/2006/relationships/image" Target="../media/image16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11" Type="http://schemas.openxmlformats.org/officeDocument/2006/relationships/image" Target="../media/image146.png"/><Relationship Id="rId24" Type="http://schemas.openxmlformats.org/officeDocument/2006/relationships/image" Target="../media/image159.svg"/><Relationship Id="rId32" Type="http://schemas.openxmlformats.org/officeDocument/2006/relationships/image" Target="../media/image29.png"/><Relationship Id="rId5" Type="http://schemas.openxmlformats.org/officeDocument/2006/relationships/image" Target="../media/image13.svg"/><Relationship Id="rId15" Type="http://schemas.openxmlformats.org/officeDocument/2006/relationships/image" Target="../media/image150.png"/><Relationship Id="rId23" Type="http://schemas.openxmlformats.org/officeDocument/2006/relationships/image" Target="../media/image158.png"/><Relationship Id="rId28" Type="http://schemas.openxmlformats.org/officeDocument/2006/relationships/image" Target="../media/image163.png"/><Relationship Id="rId10" Type="http://schemas.openxmlformats.org/officeDocument/2006/relationships/image" Target="../media/image139.png"/><Relationship Id="rId19" Type="http://schemas.openxmlformats.org/officeDocument/2006/relationships/image" Target="../media/image154.png"/><Relationship Id="rId31" Type="http://schemas.openxmlformats.org/officeDocument/2006/relationships/image" Target="../media/image141.svg"/><Relationship Id="rId4" Type="http://schemas.openxmlformats.org/officeDocument/2006/relationships/image" Target="../media/image12.png"/><Relationship Id="rId9" Type="http://schemas.openxmlformats.org/officeDocument/2006/relationships/image" Target="../media/image138.svg"/><Relationship Id="rId14" Type="http://schemas.openxmlformats.org/officeDocument/2006/relationships/image" Target="../media/image149.svg"/><Relationship Id="rId22" Type="http://schemas.openxmlformats.org/officeDocument/2006/relationships/image" Target="../media/image157.svg"/><Relationship Id="rId27" Type="http://schemas.openxmlformats.org/officeDocument/2006/relationships/image" Target="../media/image162.svg"/><Relationship Id="rId30" Type="http://schemas.openxmlformats.org/officeDocument/2006/relationships/image" Target="../media/image1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sv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7" Type="http://schemas.openxmlformats.org/officeDocument/2006/relationships/image" Target="../media/image29.png"/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1.svg"/><Relationship Id="rId5" Type="http://schemas.openxmlformats.org/officeDocument/2006/relationships/image" Target="../media/image140.png"/><Relationship Id="rId4" Type="http://schemas.openxmlformats.org/officeDocument/2006/relationships/image" Target="../media/image108.sv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png"/><Relationship Id="rId13" Type="http://schemas.openxmlformats.org/officeDocument/2006/relationships/image" Target="../media/image173.png"/><Relationship Id="rId18" Type="http://schemas.openxmlformats.org/officeDocument/2006/relationships/image" Target="../media/image11.svg"/><Relationship Id="rId26" Type="http://schemas.openxmlformats.org/officeDocument/2006/relationships/image" Target="../media/image19.svg"/><Relationship Id="rId3" Type="http://schemas.openxmlformats.org/officeDocument/2006/relationships/image" Target="../media/image3.png"/><Relationship Id="rId21" Type="http://schemas.openxmlformats.org/officeDocument/2006/relationships/image" Target="../media/image14.png"/><Relationship Id="rId7" Type="http://schemas.openxmlformats.org/officeDocument/2006/relationships/image" Target="../media/image167.png"/><Relationship Id="rId12" Type="http://schemas.openxmlformats.org/officeDocument/2006/relationships/image" Target="../media/image172.png"/><Relationship Id="rId17" Type="http://schemas.openxmlformats.org/officeDocument/2006/relationships/image" Target="../media/image10.png"/><Relationship Id="rId25" Type="http://schemas.openxmlformats.org/officeDocument/2006/relationships/image" Target="../media/image18.png"/><Relationship Id="rId2" Type="http://schemas.openxmlformats.org/officeDocument/2006/relationships/image" Target="../media/image166.png"/><Relationship Id="rId16" Type="http://schemas.openxmlformats.org/officeDocument/2006/relationships/image" Target="../media/image9.svg"/><Relationship Id="rId20" Type="http://schemas.openxmlformats.org/officeDocument/2006/relationships/image" Target="../media/image13.svg"/><Relationship Id="rId29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171.svg"/><Relationship Id="rId24" Type="http://schemas.openxmlformats.org/officeDocument/2006/relationships/image" Target="../media/image17.svg"/><Relationship Id="rId5" Type="http://schemas.openxmlformats.org/officeDocument/2006/relationships/image" Target="../media/image6.png"/><Relationship Id="rId15" Type="http://schemas.openxmlformats.org/officeDocument/2006/relationships/image" Target="../media/image8.png"/><Relationship Id="rId23" Type="http://schemas.openxmlformats.org/officeDocument/2006/relationships/image" Target="../media/image16.png"/><Relationship Id="rId28" Type="http://schemas.openxmlformats.org/officeDocument/2006/relationships/image" Target="../media/image26.svg"/><Relationship Id="rId10" Type="http://schemas.openxmlformats.org/officeDocument/2006/relationships/image" Target="../media/image170.png"/><Relationship Id="rId19" Type="http://schemas.openxmlformats.org/officeDocument/2006/relationships/image" Target="../media/image12.png"/><Relationship Id="rId4" Type="http://schemas.openxmlformats.org/officeDocument/2006/relationships/image" Target="../media/image4.svg"/><Relationship Id="rId9" Type="http://schemas.openxmlformats.org/officeDocument/2006/relationships/image" Target="../media/image169.png"/><Relationship Id="rId14" Type="http://schemas.openxmlformats.org/officeDocument/2006/relationships/image" Target="../media/image174.png"/><Relationship Id="rId22" Type="http://schemas.openxmlformats.org/officeDocument/2006/relationships/image" Target="../media/image15.svg"/><Relationship Id="rId27" Type="http://schemas.openxmlformats.org/officeDocument/2006/relationships/image" Target="../media/image25.png"/><Relationship Id="rId30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png"/><Relationship Id="rId13" Type="http://schemas.openxmlformats.org/officeDocument/2006/relationships/image" Target="../media/image174.png"/><Relationship Id="rId18" Type="http://schemas.openxmlformats.org/officeDocument/2006/relationships/image" Target="../media/image29.png"/><Relationship Id="rId3" Type="http://schemas.openxmlformats.org/officeDocument/2006/relationships/image" Target="../media/image3.png"/><Relationship Id="rId7" Type="http://schemas.openxmlformats.org/officeDocument/2006/relationships/image" Target="../media/image167.png"/><Relationship Id="rId12" Type="http://schemas.openxmlformats.org/officeDocument/2006/relationships/image" Target="../media/image173.png"/><Relationship Id="rId17" Type="http://schemas.openxmlformats.org/officeDocument/2006/relationships/image" Target="../media/image178.png"/><Relationship Id="rId2" Type="http://schemas.openxmlformats.org/officeDocument/2006/relationships/image" Target="../media/image166.png"/><Relationship Id="rId16" Type="http://schemas.openxmlformats.org/officeDocument/2006/relationships/image" Target="../media/image1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171.svg"/><Relationship Id="rId5" Type="http://schemas.openxmlformats.org/officeDocument/2006/relationships/image" Target="../media/image6.png"/><Relationship Id="rId15" Type="http://schemas.openxmlformats.org/officeDocument/2006/relationships/image" Target="../media/image176.png"/><Relationship Id="rId10" Type="http://schemas.openxmlformats.org/officeDocument/2006/relationships/image" Target="../media/image170.png"/><Relationship Id="rId4" Type="http://schemas.openxmlformats.org/officeDocument/2006/relationships/image" Target="../media/image4.svg"/><Relationship Id="rId9" Type="http://schemas.openxmlformats.org/officeDocument/2006/relationships/image" Target="../media/image169.png"/><Relationship Id="rId14" Type="http://schemas.openxmlformats.org/officeDocument/2006/relationships/image" Target="../media/image17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png"/><Relationship Id="rId13" Type="http://schemas.openxmlformats.org/officeDocument/2006/relationships/image" Target="../media/image174.png"/><Relationship Id="rId3" Type="http://schemas.openxmlformats.org/officeDocument/2006/relationships/image" Target="../media/image3.png"/><Relationship Id="rId7" Type="http://schemas.openxmlformats.org/officeDocument/2006/relationships/image" Target="../media/image167.png"/><Relationship Id="rId12" Type="http://schemas.openxmlformats.org/officeDocument/2006/relationships/image" Target="../media/image173.png"/><Relationship Id="rId17" Type="http://schemas.openxmlformats.org/officeDocument/2006/relationships/image" Target="../media/image29.png"/><Relationship Id="rId2" Type="http://schemas.openxmlformats.org/officeDocument/2006/relationships/image" Target="../media/image166.png"/><Relationship Id="rId16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11" Type="http://schemas.openxmlformats.org/officeDocument/2006/relationships/image" Target="../media/image171.svg"/><Relationship Id="rId5" Type="http://schemas.openxmlformats.org/officeDocument/2006/relationships/image" Target="../media/image6.png"/><Relationship Id="rId15" Type="http://schemas.openxmlformats.org/officeDocument/2006/relationships/image" Target="../media/image179.png"/><Relationship Id="rId10" Type="http://schemas.openxmlformats.org/officeDocument/2006/relationships/image" Target="../media/image170.png"/><Relationship Id="rId4" Type="http://schemas.openxmlformats.org/officeDocument/2006/relationships/image" Target="../media/image4.svg"/><Relationship Id="rId9" Type="http://schemas.openxmlformats.org/officeDocument/2006/relationships/image" Target="../media/image169.png"/><Relationship Id="rId14" Type="http://schemas.openxmlformats.org/officeDocument/2006/relationships/image" Target="../media/image177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png"/><Relationship Id="rId13" Type="http://schemas.openxmlformats.org/officeDocument/2006/relationships/image" Target="../media/image188.svg"/><Relationship Id="rId18" Type="http://schemas.openxmlformats.org/officeDocument/2006/relationships/image" Target="../media/image25.png"/><Relationship Id="rId26" Type="http://schemas.openxmlformats.org/officeDocument/2006/relationships/image" Target="../media/image195.png"/><Relationship Id="rId3" Type="http://schemas.openxmlformats.org/officeDocument/2006/relationships/image" Target="../media/image7.svg"/><Relationship Id="rId21" Type="http://schemas.openxmlformats.org/officeDocument/2006/relationships/image" Target="../media/image190.svg"/><Relationship Id="rId7" Type="http://schemas.openxmlformats.org/officeDocument/2006/relationships/image" Target="../media/image184.png"/><Relationship Id="rId12" Type="http://schemas.openxmlformats.org/officeDocument/2006/relationships/image" Target="../media/image187.png"/><Relationship Id="rId17" Type="http://schemas.openxmlformats.org/officeDocument/2006/relationships/image" Target="../media/image13.svg"/><Relationship Id="rId25" Type="http://schemas.openxmlformats.org/officeDocument/2006/relationships/image" Target="../media/image194.svg"/><Relationship Id="rId2" Type="http://schemas.openxmlformats.org/officeDocument/2006/relationships/image" Target="../media/image6.png"/><Relationship Id="rId16" Type="http://schemas.openxmlformats.org/officeDocument/2006/relationships/image" Target="../media/image12.png"/><Relationship Id="rId20" Type="http://schemas.openxmlformats.org/officeDocument/2006/relationships/image" Target="../media/image1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3.png"/><Relationship Id="rId11" Type="http://schemas.openxmlformats.org/officeDocument/2006/relationships/image" Target="../media/image15.svg"/><Relationship Id="rId24" Type="http://schemas.openxmlformats.org/officeDocument/2006/relationships/image" Target="../media/image193.png"/><Relationship Id="rId5" Type="http://schemas.openxmlformats.org/officeDocument/2006/relationships/image" Target="../media/image182.png"/><Relationship Id="rId15" Type="http://schemas.openxmlformats.org/officeDocument/2006/relationships/image" Target="../media/image11.svg"/><Relationship Id="rId23" Type="http://schemas.openxmlformats.org/officeDocument/2006/relationships/image" Target="../media/image192.svg"/><Relationship Id="rId28" Type="http://schemas.openxmlformats.org/officeDocument/2006/relationships/image" Target="../media/image29.png"/><Relationship Id="rId10" Type="http://schemas.openxmlformats.org/officeDocument/2006/relationships/image" Target="../media/image14.png"/><Relationship Id="rId19" Type="http://schemas.openxmlformats.org/officeDocument/2006/relationships/image" Target="../media/image26.svg"/><Relationship Id="rId4" Type="http://schemas.openxmlformats.org/officeDocument/2006/relationships/image" Target="../media/image181.png"/><Relationship Id="rId9" Type="http://schemas.openxmlformats.org/officeDocument/2006/relationships/image" Target="../media/image186.png"/><Relationship Id="rId14" Type="http://schemas.openxmlformats.org/officeDocument/2006/relationships/image" Target="../media/image10.png"/><Relationship Id="rId22" Type="http://schemas.openxmlformats.org/officeDocument/2006/relationships/image" Target="../media/image191.png"/><Relationship Id="rId27" Type="http://schemas.openxmlformats.org/officeDocument/2006/relationships/image" Target="../media/image196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png"/><Relationship Id="rId13" Type="http://schemas.openxmlformats.org/officeDocument/2006/relationships/image" Target="../media/image194.svg"/><Relationship Id="rId18" Type="http://schemas.openxmlformats.org/officeDocument/2006/relationships/image" Target="../media/image29.png"/><Relationship Id="rId3" Type="http://schemas.openxmlformats.org/officeDocument/2006/relationships/image" Target="../media/image7.svg"/><Relationship Id="rId7" Type="http://schemas.openxmlformats.org/officeDocument/2006/relationships/image" Target="../media/image184.png"/><Relationship Id="rId12" Type="http://schemas.openxmlformats.org/officeDocument/2006/relationships/image" Target="../media/image193.png"/><Relationship Id="rId17" Type="http://schemas.openxmlformats.org/officeDocument/2006/relationships/image" Target="../media/image200.png"/><Relationship Id="rId2" Type="http://schemas.openxmlformats.org/officeDocument/2006/relationships/image" Target="../media/image6.png"/><Relationship Id="rId16" Type="http://schemas.openxmlformats.org/officeDocument/2006/relationships/image" Target="../media/image1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3.png"/><Relationship Id="rId11" Type="http://schemas.openxmlformats.org/officeDocument/2006/relationships/image" Target="../media/image192.svg"/><Relationship Id="rId5" Type="http://schemas.openxmlformats.org/officeDocument/2006/relationships/image" Target="../media/image182.png"/><Relationship Id="rId15" Type="http://schemas.openxmlformats.org/officeDocument/2006/relationships/image" Target="../media/image198.png"/><Relationship Id="rId10" Type="http://schemas.openxmlformats.org/officeDocument/2006/relationships/image" Target="../media/image191.png"/><Relationship Id="rId4" Type="http://schemas.openxmlformats.org/officeDocument/2006/relationships/image" Target="../media/image181.png"/><Relationship Id="rId9" Type="http://schemas.openxmlformats.org/officeDocument/2006/relationships/image" Target="../media/image186.png"/><Relationship Id="rId14" Type="http://schemas.openxmlformats.org/officeDocument/2006/relationships/image" Target="../media/image19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png"/><Relationship Id="rId13" Type="http://schemas.openxmlformats.org/officeDocument/2006/relationships/image" Target="../media/image207.png"/><Relationship Id="rId3" Type="http://schemas.openxmlformats.org/officeDocument/2006/relationships/image" Target="../media/image7.svg"/><Relationship Id="rId7" Type="http://schemas.openxmlformats.org/officeDocument/2006/relationships/image" Target="../media/image202.svg"/><Relationship Id="rId12" Type="http://schemas.openxmlformats.org/officeDocument/2006/relationships/image" Target="../media/image20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1.png"/><Relationship Id="rId11" Type="http://schemas.openxmlformats.org/officeDocument/2006/relationships/image" Target="../media/image205.png"/><Relationship Id="rId5" Type="http://schemas.openxmlformats.org/officeDocument/2006/relationships/image" Target="../media/image182.png"/><Relationship Id="rId10" Type="http://schemas.openxmlformats.org/officeDocument/2006/relationships/image" Target="../media/image204.png"/><Relationship Id="rId4" Type="http://schemas.openxmlformats.org/officeDocument/2006/relationships/image" Target="../media/image181.png"/><Relationship Id="rId9" Type="http://schemas.openxmlformats.org/officeDocument/2006/relationships/image" Target="../media/image203.png"/><Relationship Id="rId1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4.png"/><Relationship Id="rId3" Type="http://schemas.openxmlformats.org/officeDocument/2006/relationships/image" Target="../media/image209.png"/><Relationship Id="rId7" Type="http://schemas.openxmlformats.org/officeDocument/2006/relationships/image" Target="../media/image213.png"/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2.png"/><Relationship Id="rId11" Type="http://schemas.openxmlformats.org/officeDocument/2006/relationships/image" Target="../media/image29.png"/><Relationship Id="rId5" Type="http://schemas.openxmlformats.org/officeDocument/2006/relationships/image" Target="../media/image211.png"/><Relationship Id="rId10" Type="http://schemas.openxmlformats.org/officeDocument/2006/relationships/image" Target="../media/image173.png"/><Relationship Id="rId4" Type="http://schemas.openxmlformats.org/officeDocument/2006/relationships/image" Target="../media/image210.png"/><Relationship Id="rId9" Type="http://schemas.openxmlformats.org/officeDocument/2006/relationships/image" Target="../media/image215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2.svg"/><Relationship Id="rId3" Type="http://schemas.openxmlformats.org/officeDocument/2006/relationships/image" Target="../media/image7.svg"/><Relationship Id="rId7" Type="http://schemas.openxmlformats.org/officeDocument/2006/relationships/image" Target="../media/image20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6.png"/><Relationship Id="rId11" Type="http://schemas.openxmlformats.org/officeDocument/2006/relationships/image" Target="../media/image215.png"/><Relationship Id="rId5" Type="http://schemas.openxmlformats.org/officeDocument/2006/relationships/image" Target="../media/image182.png"/><Relationship Id="rId10" Type="http://schemas.openxmlformats.org/officeDocument/2006/relationships/image" Target="../media/image29.png"/><Relationship Id="rId4" Type="http://schemas.openxmlformats.org/officeDocument/2006/relationships/image" Target="../media/image181.png"/><Relationship Id="rId9" Type="http://schemas.openxmlformats.org/officeDocument/2006/relationships/image" Target="../media/image17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3" Type="http://schemas.openxmlformats.org/officeDocument/2006/relationships/image" Target="../media/image218.png"/><Relationship Id="rId7" Type="http://schemas.openxmlformats.org/officeDocument/2006/relationships/image" Target="../media/image169.png"/><Relationship Id="rId2" Type="http://schemas.openxmlformats.org/officeDocument/2006/relationships/image" Target="../media/image2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7.png"/><Relationship Id="rId11" Type="http://schemas.openxmlformats.org/officeDocument/2006/relationships/image" Target="../media/image29.png"/><Relationship Id="rId5" Type="http://schemas.openxmlformats.org/officeDocument/2006/relationships/image" Target="../media/image192.svg"/><Relationship Id="rId10" Type="http://schemas.openxmlformats.org/officeDocument/2006/relationships/image" Target="../media/image219.png"/><Relationship Id="rId4" Type="http://schemas.openxmlformats.org/officeDocument/2006/relationships/image" Target="../media/image191.png"/><Relationship Id="rId9" Type="http://schemas.openxmlformats.org/officeDocument/2006/relationships/image" Target="../media/image171.sv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3.png"/><Relationship Id="rId13" Type="http://schemas.openxmlformats.org/officeDocument/2006/relationships/image" Target="../media/image218.png"/><Relationship Id="rId3" Type="http://schemas.openxmlformats.org/officeDocument/2006/relationships/image" Target="../media/image191.png"/><Relationship Id="rId7" Type="http://schemas.openxmlformats.org/officeDocument/2006/relationships/image" Target="../media/image222.png"/><Relationship Id="rId12" Type="http://schemas.openxmlformats.org/officeDocument/2006/relationships/image" Target="../media/image171.svg"/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1.png"/><Relationship Id="rId11" Type="http://schemas.openxmlformats.org/officeDocument/2006/relationships/image" Target="../media/image170.png"/><Relationship Id="rId5" Type="http://schemas.openxmlformats.org/officeDocument/2006/relationships/image" Target="../media/image220.png"/><Relationship Id="rId10" Type="http://schemas.openxmlformats.org/officeDocument/2006/relationships/image" Target="../media/image169.png"/><Relationship Id="rId4" Type="http://schemas.openxmlformats.org/officeDocument/2006/relationships/image" Target="../media/image192.svg"/><Relationship Id="rId9" Type="http://schemas.openxmlformats.org/officeDocument/2006/relationships/image" Target="../media/image167.png"/><Relationship Id="rId14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svg"/><Relationship Id="rId3" Type="http://schemas.openxmlformats.org/officeDocument/2006/relationships/image" Target="../media/image192.svg"/><Relationship Id="rId7" Type="http://schemas.openxmlformats.org/officeDocument/2006/relationships/image" Target="../media/image170.png"/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9.png"/><Relationship Id="rId11" Type="http://schemas.openxmlformats.org/officeDocument/2006/relationships/image" Target="../media/image29.png"/><Relationship Id="rId5" Type="http://schemas.openxmlformats.org/officeDocument/2006/relationships/image" Target="../media/image167.png"/><Relationship Id="rId10" Type="http://schemas.openxmlformats.org/officeDocument/2006/relationships/image" Target="../media/image223.png"/><Relationship Id="rId4" Type="http://schemas.openxmlformats.org/officeDocument/2006/relationships/image" Target="../media/image222.png"/><Relationship Id="rId9" Type="http://schemas.openxmlformats.org/officeDocument/2006/relationships/image" Target="../media/image218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png"/><Relationship Id="rId3" Type="http://schemas.openxmlformats.org/officeDocument/2006/relationships/image" Target="../media/image225.png"/><Relationship Id="rId7" Type="http://schemas.openxmlformats.org/officeDocument/2006/relationships/image" Target="../media/image229.png"/><Relationship Id="rId12" Type="http://schemas.openxmlformats.org/officeDocument/2006/relationships/image" Target="../media/image29.png"/><Relationship Id="rId2" Type="http://schemas.openxmlformats.org/officeDocument/2006/relationships/image" Target="../media/image2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8.png"/><Relationship Id="rId11" Type="http://schemas.openxmlformats.org/officeDocument/2006/relationships/image" Target="../media/image233.png"/><Relationship Id="rId5" Type="http://schemas.openxmlformats.org/officeDocument/2006/relationships/image" Target="../media/image227.png"/><Relationship Id="rId10" Type="http://schemas.openxmlformats.org/officeDocument/2006/relationships/image" Target="../media/image232.png"/><Relationship Id="rId4" Type="http://schemas.openxmlformats.org/officeDocument/2006/relationships/image" Target="../media/image226.png"/><Relationship Id="rId9" Type="http://schemas.openxmlformats.org/officeDocument/2006/relationships/image" Target="../media/image23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png"/><Relationship Id="rId3" Type="http://schemas.openxmlformats.org/officeDocument/2006/relationships/image" Target="../media/image235.png"/><Relationship Id="rId7" Type="http://schemas.openxmlformats.org/officeDocument/2006/relationships/image" Target="../media/image239.png"/><Relationship Id="rId2" Type="http://schemas.openxmlformats.org/officeDocument/2006/relationships/image" Target="../media/image2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8.png"/><Relationship Id="rId5" Type="http://schemas.openxmlformats.org/officeDocument/2006/relationships/image" Target="../media/image237.png"/><Relationship Id="rId10" Type="http://schemas.openxmlformats.org/officeDocument/2006/relationships/image" Target="../media/image29.png"/><Relationship Id="rId4" Type="http://schemas.openxmlformats.org/officeDocument/2006/relationships/image" Target="../media/image236.png"/><Relationship Id="rId9" Type="http://schemas.openxmlformats.org/officeDocument/2006/relationships/image" Target="../media/image192.sv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4.png"/><Relationship Id="rId3" Type="http://schemas.openxmlformats.org/officeDocument/2006/relationships/image" Target="../media/image241.png"/><Relationship Id="rId7" Type="http://schemas.openxmlformats.org/officeDocument/2006/relationships/image" Target="../media/image245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4.png"/><Relationship Id="rId5" Type="http://schemas.openxmlformats.org/officeDocument/2006/relationships/image" Target="../media/image243.png"/><Relationship Id="rId4" Type="http://schemas.openxmlformats.org/officeDocument/2006/relationships/image" Target="../media/image242.png"/><Relationship Id="rId9" Type="http://schemas.openxmlformats.org/officeDocument/2006/relationships/image" Target="../media/image29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3" Type="http://schemas.openxmlformats.org/officeDocument/2006/relationships/image" Target="../media/image234.png"/><Relationship Id="rId7" Type="http://schemas.openxmlformats.org/officeDocument/2006/relationships/image" Target="../media/image249.png"/><Relationship Id="rId2" Type="http://schemas.openxmlformats.org/officeDocument/2006/relationships/image" Target="../media/image2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8.svg"/><Relationship Id="rId11" Type="http://schemas.openxmlformats.org/officeDocument/2006/relationships/image" Target="../media/image29.png"/><Relationship Id="rId5" Type="http://schemas.openxmlformats.org/officeDocument/2006/relationships/image" Target="../media/image247.png"/><Relationship Id="rId10" Type="http://schemas.openxmlformats.org/officeDocument/2006/relationships/image" Target="../media/image252.svg"/><Relationship Id="rId4" Type="http://schemas.openxmlformats.org/officeDocument/2006/relationships/image" Target="../media/image246.png"/><Relationship Id="rId9" Type="http://schemas.openxmlformats.org/officeDocument/2006/relationships/image" Target="../media/image251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png"/><Relationship Id="rId13" Type="http://schemas.openxmlformats.org/officeDocument/2006/relationships/image" Target="../media/image29.png"/><Relationship Id="rId3" Type="http://schemas.openxmlformats.org/officeDocument/2006/relationships/image" Target="../media/image250.png"/><Relationship Id="rId7" Type="http://schemas.openxmlformats.org/officeDocument/2006/relationships/image" Target="../media/image256.png"/><Relationship Id="rId12" Type="http://schemas.openxmlformats.org/officeDocument/2006/relationships/image" Target="../media/image258.png"/><Relationship Id="rId2" Type="http://schemas.openxmlformats.org/officeDocument/2006/relationships/image" Target="../media/image2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5.png"/><Relationship Id="rId11" Type="http://schemas.openxmlformats.org/officeDocument/2006/relationships/image" Target="../media/image192.svg"/><Relationship Id="rId5" Type="http://schemas.openxmlformats.org/officeDocument/2006/relationships/image" Target="../media/image254.png"/><Relationship Id="rId10" Type="http://schemas.openxmlformats.org/officeDocument/2006/relationships/image" Target="../media/image191.png"/><Relationship Id="rId4" Type="http://schemas.openxmlformats.org/officeDocument/2006/relationships/image" Target="../media/image253.png"/><Relationship Id="rId9" Type="http://schemas.openxmlformats.org/officeDocument/2006/relationships/image" Target="../media/image2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Statistical physics phy301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Non-interacting bosons</a:t>
            </a:r>
          </a:p>
          <a:p>
            <a:endParaRPr lang="en-US" dirty="0"/>
          </a:p>
          <a:p>
            <a:r>
              <a:rPr lang="en-US" dirty="0"/>
              <a:t> Idea gas, black body radiation and phonon.</a:t>
            </a:r>
          </a:p>
          <a:p>
            <a:endParaRPr lang="en-US" dirty="0"/>
          </a:p>
          <a:p>
            <a:r>
              <a:rPr lang="en-US" dirty="0"/>
              <a:t>Lecturer: Kok Wee Song</a:t>
            </a:r>
          </a:p>
        </p:txBody>
      </p:sp>
    </p:spTree>
    <p:extLst>
      <p:ext uri="{BB962C8B-B14F-4D97-AF65-F5344CB8AC3E}">
        <p14:creationId xmlns:p14="http://schemas.microsoft.com/office/powerpoint/2010/main" val="3945269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ACF2A-2886-45F8-B80B-9AC423AD4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Non-interacting: </a:t>
            </a:r>
            <a:r>
              <a:rPr lang="en-US" dirty="0" err="1"/>
              <a:t>bose</a:t>
            </a:r>
            <a:r>
              <a:rPr lang="en-US" dirty="0"/>
              <a:t> gas (Nonrelativistic)</a:t>
            </a:r>
            <a:endParaRPr lang="en-MY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903FDC-2C35-46EF-8944-7B8AC76A2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796" y="3312221"/>
            <a:ext cx="3336116" cy="77050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85CBBBE-D15C-464B-9633-06F328F24C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93559" y="2265715"/>
            <a:ext cx="2880084" cy="11433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6AD291-585A-478A-94ED-E3AECBBA88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8332" y="3500437"/>
            <a:ext cx="1743318" cy="381053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2B2E9E5-15CD-41BC-86C1-A03D7EC14B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0304" y="2381264"/>
            <a:ext cx="1910370" cy="81608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7E858D6-80FC-42CE-A224-C821AF762FB6}"/>
              </a:ext>
            </a:extLst>
          </p:cNvPr>
          <p:cNvSpPr txBox="1"/>
          <p:nvPr/>
        </p:nvSpPr>
        <p:spPr>
          <a:xfrm>
            <a:off x="379896" y="2067047"/>
            <a:ext cx="1736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Non-relativistic</a:t>
            </a:r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457B1927-1FCC-4043-B739-E4F68B40C94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00876" y="2786086"/>
            <a:ext cx="4123385" cy="701489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FFA353F-998B-4979-A97F-FF29D06FCB38}"/>
              </a:ext>
            </a:extLst>
          </p:cNvPr>
          <p:cNvGrpSpPr/>
          <p:nvPr/>
        </p:nvGrpSpPr>
        <p:grpSpPr>
          <a:xfrm>
            <a:off x="6118838" y="3583602"/>
            <a:ext cx="5295668" cy="802744"/>
            <a:chOff x="6118838" y="3583602"/>
            <a:chExt cx="5295668" cy="802744"/>
          </a:xfrm>
        </p:grpSpPr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363EE599-FBC5-49A3-BBF1-7C65C8A98C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734200" y="3684858"/>
              <a:ext cx="1680306" cy="701488"/>
            </a:xfrm>
            <a:prstGeom prst="rect">
              <a:avLst/>
            </a:prstGeom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5A806F0D-58C6-4E54-B21C-5595A05ED7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118838" y="3583602"/>
              <a:ext cx="3738013" cy="765617"/>
            </a:xfrm>
            <a:prstGeom prst="rect">
              <a:avLst/>
            </a:prstGeom>
          </p:spPr>
        </p:pic>
      </p:grpSp>
      <p:pic>
        <p:nvPicPr>
          <p:cNvPr id="36" name="Graphic 35">
            <a:extLst>
              <a:ext uri="{FF2B5EF4-FFF2-40B4-BE49-F238E27FC236}">
                <a16:creationId xmlns:a16="http://schemas.microsoft.com/office/drawing/2014/main" id="{355ED89E-2016-4CC5-9859-E342F288B6C3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r="30339" b="-11642"/>
          <a:stretch/>
        </p:blipFill>
        <p:spPr>
          <a:xfrm>
            <a:off x="6086529" y="5308535"/>
            <a:ext cx="4222128" cy="835627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D5781C9B-8153-4E84-BC59-058CA6197AFF}"/>
              </a:ext>
            </a:extLst>
          </p:cNvPr>
          <p:cNvGrpSpPr/>
          <p:nvPr/>
        </p:nvGrpSpPr>
        <p:grpSpPr>
          <a:xfrm>
            <a:off x="6092645" y="4589811"/>
            <a:ext cx="4921662" cy="515259"/>
            <a:chOff x="6092645" y="4589811"/>
            <a:chExt cx="4921662" cy="515259"/>
          </a:xfrm>
        </p:grpSpPr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F3D42865-DEDF-4475-BE05-C21B041191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6092645" y="4595454"/>
              <a:ext cx="1736950" cy="493660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87A6FB02-9448-4F9A-B71F-E713261328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rcRect/>
            <a:stretch/>
          </p:blipFill>
          <p:spPr>
            <a:xfrm>
              <a:off x="8637468" y="4589811"/>
              <a:ext cx="2376839" cy="515259"/>
            </a:xfrm>
            <a:prstGeom prst="rect">
              <a:avLst/>
            </a:prstGeom>
          </p:spPr>
        </p:pic>
      </p:grpSp>
      <p:pic>
        <p:nvPicPr>
          <p:cNvPr id="40" name="Picture 39">
            <a:extLst>
              <a:ext uri="{FF2B5EF4-FFF2-40B4-BE49-F238E27FC236}">
                <a16:creationId xmlns:a16="http://schemas.microsoft.com/office/drawing/2014/main" id="{CE7E4A2E-224C-4AD0-9678-2A0520A65E9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82656" y="4101830"/>
            <a:ext cx="5301910" cy="917045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EC5DEF55-F373-47F0-9EE9-E01F412F9604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82656" y="6144162"/>
            <a:ext cx="3950945" cy="799596"/>
          </a:xfrm>
          <a:prstGeom prst="rect">
            <a:avLst/>
          </a:prstGeom>
        </p:spPr>
      </p:pic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96505CD5-CB6F-4233-80D2-D2E1D6367C7F}"/>
              </a:ext>
            </a:extLst>
          </p:cNvPr>
          <p:cNvSpPr/>
          <p:nvPr/>
        </p:nvSpPr>
        <p:spPr>
          <a:xfrm>
            <a:off x="4300978" y="4269148"/>
            <a:ext cx="1373996" cy="58091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59195EF5-D93D-445D-A3DD-8E9E477B03BC}"/>
              </a:ext>
            </a:extLst>
          </p:cNvPr>
          <p:cNvSpPr/>
          <p:nvPr/>
        </p:nvSpPr>
        <p:spPr>
          <a:xfrm>
            <a:off x="3268947" y="6253502"/>
            <a:ext cx="1118658" cy="58091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64B58A0-0B9B-4EC2-8EBB-27EA4E4FAED7}"/>
              </a:ext>
            </a:extLst>
          </p:cNvPr>
          <p:cNvGrpSpPr/>
          <p:nvPr/>
        </p:nvGrpSpPr>
        <p:grpSpPr>
          <a:xfrm>
            <a:off x="4126799" y="4879480"/>
            <a:ext cx="1464820" cy="1264682"/>
            <a:chOff x="4137939" y="3839469"/>
            <a:chExt cx="1464820" cy="1264682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201F4373-259B-490E-A38B-CB6017D61A3F}"/>
                </a:ext>
              </a:extLst>
            </p:cNvPr>
            <p:cNvGrpSpPr/>
            <p:nvPr/>
          </p:nvGrpSpPr>
          <p:grpSpPr>
            <a:xfrm>
              <a:off x="4137939" y="4297160"/>
              <a:ext cx="1464820" cy="419333"/>
              <a:chOff x="4137939" y="4297160"/>
              <a:chExt cx="1464820" cy="419333"/>
            </a:xfrm>
          </p:grpSpPr>
          <p:pic>
            <p:nvPicPr>
              <p:cNvPr id="46" name="Graphic 45">
                <a:extLst>
                  <a:ext uri="{FF2B5EF4-FFF2-40B4-BE49-F238E27FC236}">
                    <a16:creationId xmlns:a16="http://schemas.microsoft.com/office/drawing/2014/main" id="{B7C627F4-7709-4A47-BAEC-86A1F3EB3E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/>
              </a:stretch>
            </p:blipFill>
            <p:spPr>
              <a:xfrm>
                <a:off x="4137939" y="4297160"/>
                <a:ext cx="802202" cy="419333"/>
              </a:xfrm>
              <a:prstGeom prst="rect">
                <a:avLst/>
              </a:prstGeom>
            </p:spPr>
          </p:pic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772A17B-9D9E-48AF-8AFA-EC03DD1C24B3}"/>
                  </a:ext>
                </a:extLst>
              </p:cNvPr>
              <p:cNvSpPr txBox="1"/>
              <p:nvPr/>
            </p:nvSpPr>
            <p:spPr>
              <a:xfrm>
                <a:off x="4847616" y="4347161"/>
                <a:ext cx="7551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MY" dirty="0"/>
                  <a:t>terms</a:t>
                </a:r>
              </a:p>
            </p:txBody>
          </p:sp>
        </p:grp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EC78BB3A-300B-4261-835B-184B0316B9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6379" y="3839469"/>
              <a:ext cx="0" cy="5076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A77B5F03-006F-463C-900C-2A8EDA1302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37940" y="4671629"/>
              <a:ext cx="578439" cy="4325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1B367F5-ECCF-4E80-9051-168D06C3DA27}"/>
              </a:ext>
            </a:extLst>
          </p:cNvPr>
          <p:cNvSpPr/>
          <p:nvPr/>
        </p:nvSpPr>
        <p:spPr>
          <a:xfrm>
            <a:off x="470304" y="2472491"/>
            <a:ext cx="1993763" cy="72485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1E341B9-4506-4560-B284-73B02C449BFD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82656" y="5137433"/>
            <a:ext cx="3259899" cy="806211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F2F8D6F2-88A0-465F-A9B9-3FF502135F97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/>
        </p:blipFill>
        <p:spPr>
          <a:xfrm>
            <a:off x="10176137" y="5274398"/>
            <a:ext cx="2118800" cy="765617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B22DA74A-9B6C-48E9-AA6F-0795FF6E9FCC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598288" y="6186376"/>
            <a:ext cx="2133797" cy="648042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449455C-ED44-4AAA-B870-0ECEB555F472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804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ACF2A-2886-45F8-B80B-9AC423AD4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Non-interacting: </a:t>
            </a:r>
            <a:r>
              <a:rPr lang="en-US" dirty="0" err="1"/>
              <a:t>bose</a:t>
            </a:r>
            <a:r>
              <a:rPr lang="en-US" dirty="0"/>
              <a:t> gas (Nonrelativistic)</a:t>
            </a:r>
            <a:endParaRPr lang="en-MY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903FDC-2C35-46EF-8944-7B8AC76A2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796" y="3312221"/>
            <a:ext cx="3336116" cy="77050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85CBBBE-D15C-464B-9633-06F328F24C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93559" y="2265715"/>
            <a:ext cx="2880084" cy="11433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587DE1-E17F-45D6-8BE0-355092998C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656" y="5137433"/>
            <a:ext cx="3259899" cy="8062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6AD291-585A-478A-94ED-E3AECBBA88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3246" y="3500437"/>
            <a:ext cx="1743318" cy="381053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2B2E9E5-15CD-41BC-86C1-A03D7EC14BA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0304" y="2381264"/>
            <a:ext cx="1910370" cy="81608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7E858D6-80FC-42CE-A224-C821AF762FB6}"/>
              </a:ext>
            </a:extLst>
          </p:cNvPr>
          <p:cNvSpPr txBox="1"/>
          <p:nvPr/>
        </p:nvSpPr>
        <p:spPr>
          <a:xfrm>
            <a:off x="379896" y="2067047"/>
            <a:ext cx="1736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Non-relativistic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1B367F5-ECCF-4E80-9051-168D06C3DA27}"/>
              </a:ext>
            </a:extLst>
          </p:cNvPr>
          <p:cNvSpPr/>
          <p:nvPr/>
        </p:nvSpPr>
        <p:spPr>
          <a:xfrm>
            <a:off x="470304" y="2472491"/>
            <a:ext cx="1993763" cy="72485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786BE65-03CB-480A-BBA7-C9A353F1461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7389" y="5858587"/>
            <a:ext cx="5316254" cy="94839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9C12581-D9E2-41D4-A5B4-5858CBEA728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3796" y="4167631"/>
            <a:ext cx="6207995" cy="100384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3B35011-D5AF-47D6-B8C8-F041E674476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37256" y="3107880"/>
            <a:ext cx="1819796" cy="29877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0398EED-39CF-4F20-8A8C-424625486C2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84057" y="5274107"/>
            <a:ext cx="2381582" cy="49536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54A1843-3901-45C5-883C-8338E751BBB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73909" y="4199971"/>
            <a:ext cx="4583460" cy="89887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928ACF76-9B26-451D-9D8B-6E9AF63B0245}"/>
              </a:ext>
            </a:extLst>
          </p:cNvPr>
          <p:cNvGrpSpPr/>
          <p:nvPr/>
        </p:nvGrpSpPr>
        <p:grpSpPr>
          <a:xfrm>
            <a:off x="7330890" y="1984315"/>
            <a:ext cx="3374104" cy="1035936"/>
            <a:chOff x="7330890" y="1984315"/>
            <a:chExt cx="3374104" cy="1035936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8F8B3476-2912-4C47-9F34-E289CC9981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4"/>
            <a:srcRect l="78947"/>
            <a:stretch/>
          </p:blipFill>
          <p:spPr>
            <a:xfrm>
              <a:off x="7330890" y="1984315"/>
              <a:ext cx="1260910" cy="1035936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23D0FF39-C2DB-4038-B204-FA22BADE7D5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9047747" y="2346441"/>
              <a:ext cx="1657247" cy="311684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3959281C-1B47-4EC7-B4FD-24196764F1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8468884" y="2216693"/>
              <a:ext cx="603890" cy="551378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894C56C6-186F-4004-BB51-578596929B4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330890" y="3700489"/>
            <a:ext cx="3181794" cy="362001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44ACCC66-95B0-4586-9E82-A8414E0D6757}"/>
              </a:ext>
            </a:extLst>
          </p:cNvPr>
          <p:cNvSpPr txBox="1"/>
          <p:nvPr/>
        </p:nvSpPr>
        <p:spPr>
          <a:xfrm>
            <a:off x="7273909" y="6148120"/>
            <a:ext cx="1150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For small 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92F6217B-457E-42BF-A83E-A91D757A59BC}"/>
              </a:ext>
            </a:extLst>
          </p:cNvPr>
          <p:cNvPicPr>
            <a:picLocks noChangeAspect="1"/>
          </p:cNvPicPr>
          <p:nvPr/>
        </p:nvPicPr>
        <p:blipFill rotWithShape="1">
          <a:blip r:embed="rId19"/>
          <a:srcRect l="67296" t="17265" r="19349" b="12530"/>
          <a:stretch/>
        </p:blipFill>
        <p:spPr>
          <a:xfrm>
            <a:off x="8426823" y="5857832"/>
            <a:ext cx="361318" cy="782862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BACAB771-BDCE-462A-8E83-9BD9E2B0C829}"/>
              </a:ext>
            </a:extLst>
          </p:cNvPr>
          <p:cNvPicPr>
            <a:picLocks noChangeAspect="1"/>
          </p:cNvPicPr>
          <p:nvPr/>
        </p:nvPicPr>
        <p:blipFill rotWithShape="1">
          <a:blip r:embed="rId20"/>
          <a:srcRect t="1" r="66449" b="-25174"/>
          <a:stretch/>
        </p:blipFill>
        <p:spPr>
          <a:xfrm>
            <a:off x="9544010" y="5893739"/>
            <a:ext cx="1219185" cy="379045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7E7EAC52-76BE-4B24-8AF3-3E47B4A72913}"/>
              </a:ext>
            </a:extLst>
          </p:cNvPr>
          <p:cNvPicPr>
            <a:picLocks noChangeAspect="1"/>
          </p:cNvPicPr>
          <p:nvPr/>
        </p:nvPicPr>
        <p:blipFill rotWithShape="1">
          <a:blip r:embed="rId20"/>
          <a:srcRect l="32053" t="-6873" r="-1385" b="-23391"/>
          <a:stretch/>
        </p:blipFill>
        <p:spPr>
          <a:xfrm>
            <a:off x="9484483" y="6272784"/>
            <a:ext cx="2519433" cy="39445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3B03B93-969B-49BF-AD43-A05B130054F8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l="75274"/>
          <a:stretch/>
        </p:blipFill>
        <p:spPr>
          <a:xfrm>
            <a:off x="3629912" y="3212250"/>
            <a:ext cx="1310949" cy="91704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B603479-4E53-4E16-BAD0-3F9641BE76AF}"/>
              </a:ext>
            </a:extLst>
          </p:cNvPr>
          <p:cNvPicPr>
            <a:picLocks noChangeAspect="1"/>
          </p:cNvPicPr>
          <p:nvPr/>
        </p:nvPicPr>
        <p:blipFill rotWithShape="1">
          <a:blip r:embed="rId21"/>
          <a:srcRect l="75676"/>
          <a:stretch/>
        </p:blipFill>
        <p:spPr>
          <a:xfrm>
            <a:off x="3605409" y="5113393"/>
            <a:ext cx="961012" cy="799596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C5470D3-FED2-4CF1-93D0-59CE83F29328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760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BE660-D077-4B5A-8467-493A70263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Idea </a:t>
            </a:r>
            <a:r>
              <a:rPr lang="en-US" dirty="0" err="1"/>
              <a:t>bose</a:t>
            </a:r>
            <a:r>
              <a:rPr lang="en-US" dirty="0"/>
              <a:t> gas: Thermodynamics</a:t>
            </a:r>
            <a:endParaRPr lang="en-MY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76C295-FC32-4292-9239-3DEF07D771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8453"/>
          <a:stretch/>
        </p:blipFill>
        <p:spPr>
          <a:xfrm>
            <a:off x="601804" y="2425154"/>
            <a:ext cx="716857" cy="10038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E300DC4-D605-4D07-855B-04638B25AB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1494" r="-99"/>
          <a:stretch/>
        </p:blipFill>
        <p:spPr>
          <a:xfrm>
            <a:off x="1318661" y="2425152"/>
            <a:ext cx="1155032" cy="100384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9DE48CB-C294-46BC-A27F-9A5AFFAA764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" r="78437"/>
          <a:stretch/>
        </p:blipFill>
        <p:spPr>
          <a:xfrm>
            <a:off x="470959" y="3393360"/>
            <a:ext cx="1146360" cy="94839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63C3657F-1C15-4556-84EB-04BCA0E89EC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1362" t="6119" r="1" b="-6119"/>
          <a:stretch/>
        </p:blipFill>
        <p:spPr>
          <a:xfrm>
            <a:off x="1596488" y="3464125"/>
            <a:ext cx="990775" cy="948399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F1D1D07F-9C6D-45FE-8E04-4512C79268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9213" y="4185367"/>
            <a:ext cx="3255602" cy="809303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83FA0552-A54B-4EBE-8FA7-AC3D99AC9C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350728" y="2461879"/>
            <a:ext cx="3353737" cy="801981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A03A29D5-FE74-4002-B4E1-05151551E5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84057" y="5274107"/>
            <a:ext cx="2381582" cy="495369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2D59DD12-21D9-453B-9888-AA6A7051BB3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73909" y="4199971"/>
            <a:ext cx="4583460" cy="898877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2B6C4A38-1B4E-476E-A876-DCB8FD12EB69}"/>
              </a:ext>
            </a:extLst>
          </p:cNvPr>
          <p:cNvSpPr txBox="1"/>
          <p:nvPr/>
        </p:nvSpPr>
        <p:spPr>
          <a:xfrm>
            <a:off x="7273909" y="6148120"/>
            <a:ext cx="1150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For small </a:t>
            </a: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98EDC056-7B64-4623-A9BC-8942D043BC86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67296" t="17265" r="19349" b="12530"/>
          <a:stretch/>
        </p:blipFill>
        <p:spPr>
          <a:xfrm>
            <a:off x="8426823" y="5857832"/>
            <a:ext cx="361318" cy="782862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303D966F-5BE0-4C35-85DF-5F8A226AC972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1" r="66449" b="-25174"/>
          <a:stretch/>
        </p:blipFill>
        <p:spPr>
          <a:xfrm>
            <a:off x="9544010" y="5893739"/>
            <a:ext cx="1219185" cy="379045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7D760528-704D-44C4-8DF2-054874633DD0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2053" t="-6873" r="-1385" b="-23391"/>
          <a:stretch/>
        </p:blipFill>
        <p:spPr>
          <a:xfrm>
            <a:off x="9484483" y="6272784"/>
            <a:ext cx="2519433" cy="394458"/>
          </a:xfrm>
          <a:prstGeom prst="rect">
            <a:avLst/>
          </a:prstGeom>
        </p:spPr>
      </p:pic>
      <p:grpSp>
        <p:nvGrpSpPr>
          <p:cNvPr id="72" name="Group 71">
            <a:extLst>
              <a:ext uri="{FF2B5EF4-FFF2-40B4-BE49-F238E27FC236}">
                <a16:creationId xmlns:a16="http://schemas.microsoft.com/office/drawing/2014/main" id="{8F3C7145-B91A-43B6-82F5-E87CA23C67EF}"/>
              </a:ext>
            </a:extLst>
          </p:cNvPr>
          <p:cNvGrpSpPr/>
          <p:nvPr/>
        </p:nvGrpSpPr>
        <p:grpSpPr>
          <a:xfrm>
            <a:off x="470959" y="1978044"/>
            <a:ext cx="11026237" cy="2123955"/>
            <a:chOff x="694804" y="1978044"/>
            <a:chExt cx="11026237" cy="2123955"/>
          </a:xfrm>
        </p:grpSpPr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3F8F269D-7C75-4CC3-84D3-31B01C462D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942784" y="1978044"/>
              <a:ext cx="3778257" cy="2123955"/>
            </a:xfrm>
            <a:prstGeom prst="rect">
              <a:avLst/>
            </a:prstGeom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3513F827-513F-4415-BCED-2165400D085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l="24627" r="62818"/>
            <a:stretch/>
          </p:blipFill>
          <p:spPr>
            <a:xfrm>
              <a:off x="5902750" y="2375120"/>
              <a:ext cx="296813" cy="974429"/>
            </a:xfrm>
            <a:prstGeom prst="rect">
              <a:avLst/>
            </a:prstGeom>
          </p:spPr>
        </p:pic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E94C3B01-FA71-4C37-950C-89B98ABC1F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694804" y="2038130"/>
              <a:ext cx="2590923" cy="433723"/>
            </a:xfrm>
            <a:prstGeom prst="rect">
              <a:avLst/>
            </a:prstGeom>
          </p:spPr>
        </p:pic>
      </p:grpSp>
      <p:pic>
        <p:nvPicPr>
          <p:cNvPr id="4" name="Graphic 3">
            <a:extLst>
              <a:ext uri="{FF2B5EF4-FFF2-40B4-BE49-F238E27FC236}">
                <a16:creationId xmlns:a16="http://schemas.microsoft.com/office/drawing/2014/main" id="{407B708A-AFFC-4444-ACF9-21627815068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774891" y="2636896"/>
            <a:ext cx="642218" cy="55845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733606A-E3B5-45F6-B2E1-6A7E7377F21F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36713" t="-1147" r="764" b="1147"/>
          <a:stretch/>
        </p:blipFill>
        <p:spPr>
          <a:xfrm>
            <a:off x="6287781" y="2364935"/>
            <a:ext cx="1478085" cy="974429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35EF60B2-C3CA-450A-9775-4649859967E4}"/>
              </a:ext>
            </a:extLst>
          </p:cNvPr>
          <p:cNvGrpSpPr/>
          <p:nvPr/>
        </p:nvGrpSpPr>
        <p:grpSpPr>
          <a:xfrm>
            <a:off x="374302" y="4881806"/>
            <a:ext cx="3976317" cy="1050771"/>
            <a:chOff x="374302" y="4881806"/>
            <a:chExt cx="3976317" cy="1050771"/>
          </a:xfrm>
        </p:grpSpPr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35311E13-8FB7-4BF5-801F-E59575E69B72}"/>
                </a:ext>
              </a:extLst>
            </p:cNvPr>
            <p:cNvCxnSpPr>
              <a:cxnSpLocks/>
            </p:cNvCxnSpPr>
            <p:nvPr/>
          </p:nvCxnSpPr>
          <p:spPr>
            <a:xfrm>
              <a:off x="1318661" y="4881806"/>
              <a:ext cx="0" cy="5007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71F3153C-F687-443D-805A-CF6E98DF57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374302" y="5384729"/>
              <a:ext cx="3976317" cy="547848"/>
            </a:xfrm>
            <a:prstGeom prst="rect">
              <a:avLst/>
            </a:prstGeom>
          </p:spPr>
        </p:pic>
      </p:grp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AFAF425-7975-4D08-9455-6A1A8F0BF876}"/>
              </a:ext>
            </a:extLst>
          </p:cNvPr>
          <p:cNvCxnSpPr>
            <a:cxnSpLocks/>
          </p:cNvCxnSpPr>
          <p:nvPr/>
        </p:nvCxnSpPr>
        <p:spPr>
          <a:xfrm flipV="1">
            <a:off x="2800952" y="4881806"/>
            <a:ext cx="0" cy="4377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228ED21-1A9E-4764-A4BF-BE0855EE72DF}"/>
              </a:ext>
            </a:extLst>
          </p:cNvPr>
          <p:cNvSpPr txBox="1"/>
          <p:nvPr/>
        </p:nvSpPr>
        <p:spPr>
          <a:xfrm>
            <a:off x="3077043" y="2062085"/>
            <a:ext cx="3412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>
                <a:solidFill>
                  <a:srgbClr val="FF0000"/>
                </a:solidFill>
              </a:rPr>
              <a:t>(High-temperature, low density)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F30BF83-79AE-4895-BBAA-24A751DAA34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187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BE660-D077-4B5A-8467-493A70263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Idea </a:t>
            </a:r>
            <a:r>
              <a:rPr lang="en-US" dirty="0" err="1"/>
              <a:t>bose</a:t>
            </a:r>
            <a:r>
              <a:rPr lang="en-US" dirty="0"/>
              <a:t> gas: Thermodynamics</a:t>
            </a:r>
            <a:endParaRPr lang="en-MY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76C295-FC32-4292-9239-3DEF07D771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8453"/>
          <a:stretch/>
        </p:blipFill>
        <p:spPr>
          <a:xfrm>
            <a:off x="601804" y="2425154"/>
            <a:ext cx="716857" cy="10038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E300DC4-D605-4D07-855B-04638B25AB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1494" r="-99"/>
          <a:stretch/>
        </p:blipFill>
        <p:spPr>
          <a:xfrm>
            <a:off x="1318661" y="2425152"/>
            <a:ext cx="1155032" cy="1003845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83FA0552-A54B-4EBE-8FA7-AC3D99AC9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50728" y="2461879"/>
            <a:ext cx="3353737" cy="801981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6E9F7A85-DDC3-4E4D-916E-3D20A66786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8939" y="1978044"/>
            <a:ext cx="3778257" cy="2123955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38E440D8-590E-4CA5-9FAC-678841EB3BFF}"/>
              </a:ext>
            </a:extLst>
          </p:cNvPr>
          <p:cNvGrpSpPr/>
          <p:nvPr/>
        </p:nvGrpSpPr>
        <p:grpSpPr>
          <a:xfrm>
            <a:off x="6335857" y="4043842"/>
            <a:ext cx="5496561" cy="2803805"/>
            <a:chOff x="6335857" y="4043842"/>
            <a:chExt cx="5496561" cy="2803805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EDC02A7-0C37-4724-9072-C22C28B28DAF}"/>
                </a:ext>
              </a:extLst>
            </p:cNvPr>
            <p:cNvGrpSpPr/>
            <p:nvPr/>
          </p:nvGrpSpPr>
          <p:grpSpPr>
            <a:xfrm>
              <a:off x="6335857" y="4392287"/>
              <a:ext cx="5496561" cy="2455360"/>
              <a:chOff x="6695439" y="4228262"/>
              <a:chExt cx="5496561" cy="2455360"/>
            </a:xfrm>
          </p:grpSpPr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8ABA93CF-D64E-40F4-808A-B8B011A3AD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11552" y="4228262"/>
                <a:ext cx="4491889" cy="856466"/>
              </a:xfrm>
              <a:prstGeom prst="rect">
                <a:avLst/>
              </a:prstGeom>
            </p:spPr>
          </p:pic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FDA6A2F8-8330-4560-A4FA-295DD45E0D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95439" y="5065712"/>
                <a:ext cx="5496561" cy="1617910"/>
              </a:xfrm>
              <a:prstGeom prst="rect">
                <a:avLst/>
              </a:prstGeom>
            </p:spPr>
          </p:pic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DEDE2FF-FB8E-4AD2-8628-AA9EFAE195A8}"/>
                </a:ext>
              </a:extLst>
            </p:cNvPr>
            <p:cNvSpPr txBox="1"/>
            <p:nvPr/>
          </p:nvSpPr>
          <p:spPr>
            <a:xfrm>
              <a:off x="6335857" y="4043842"/>
              <a:ext cx="16485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/>
                <a:t>Heat capacity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B2D8B163-F7B9-4186-9670-4B494FAF5E0C}"/>
              </a:ext>
            </a:extLst>
          </p:cNvPr>
          <p:cNvGrpSpPr/>
          <p:nvPr/>
        </p:nvGrpSpPr>
        <p:grpSpPr>
          <a:xfrm>
            <a:off x="446345" y="3544410"/>
            <a:ext cx="4238860" cy="2506268"/>
            <a:chOff x="446345" y="3544410"/>
            <a:chExt cx="4238860" cy="2506268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41C2EA27-D4D7-43BF-B002-DEB76DD5ADF4}"/>
                </a:ext>
              </a:extLst>
            </p:cNvPr>
            <p:cNvGrpSpPr/>
            <p:nvPr/>
          </p:nvGrpSpPr>
          <p:grpSpPr>
            <a:xfrm>
              <a:off x="446345" y="3985849"/>
              <a:ext cx="4238860" cy="2064829"/>
              <a:chOff x="6695439" y="2084832"/>
              <a:chExt cx="5246618" cy="2494544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44DFCDF0-9771-499C-9A05-8D5A4FD479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695439" y="2084832"/>
                <a:ext cx="5246618" cy="1559096"/>
              </a:xfrm>
              <a:prstGeom prst="rect">
                <a:avLst/>
              </a:prstGeom>
            </p:spPr>
          </p:pic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82F59C8B-49FE-402E-8F3D-020ED0CAA2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375983" y="3826795"/>
                <a:ext cx="1657581" cy="752581"/>
              </a:xfrm>
              <a:prstGeom prst="rect">
                <a:avLst/>
              </a:prstGeom>
            </p:spPr>
          </p:pic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26EF20B-CA2A-46E8-BA71-68F68E200839}"/>
                </a:ext>
              </a:extLst>
            </p:cNvPr>
            <p:cNvSpPr txBox="1"/>
            <p:nvPr/>
          </p:nvSpPr>
          <p:spPr>
            <a:xfrm>
              <a:off x="501487" y="3544410"/>
              <a:ext cx="19353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b="1" dirty="0"/>
                <a:t>Internal energy</a:t>
              </a:r>
            </a:p>
          </p:txBody>
        </p:sp>
      </p:grpSp>
      <p:pic>
        <p:nvPicPr>
          <p:cNvPr id="20" name="Graphic 19">
            <a:extLst>
              <a:ext uri="{FF2B5EF4-FFF2-40B4-BE49-F238E27FC236}">
                <a16:creationId xmlns:a16="http://schemas.microsoft.com/office/drawing/2014/main" id="{4A806819-203F-46D1-8096-47E8B26E4C8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774891" y="2636896"/>
            <a:ext cx="642218" cy="55845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017E9B4-AF64-4B98-A814-0E1CAA807ACD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36713" t="-1147" r="764" b="1147"/>
          <a:stretch/>
        </p:blipFill>
        <p:spPr>
          <a:xfrm>
            <a:off x="6287781" y="2364935"/>
            <a:ext cx="1478085" cy="97442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12683D3-718B-41E0-9DF0-796AA34B1156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24627" r="62818"/>
          <a:stretch/>
        </p:blipFill>
        <p:spPr>
          <a:xfrm>
            <a:off x="5678905" y="2375120"/>
            <a:ext cx="296813" cy="97442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4CE0095-5A0A-44A6-A976-7D333BFB356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0959" y="2038130"/>
            <a:ext cx="2590923" cy="433723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E200C32-5CFC-46AF-B502-09DD1A8094C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6345" y="6208479"/>
            <a:ext cx="2381582" cy="495369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3034C03F-2992-489B-8852-78FD9D05ECBC}"/>
              </a:ext>
            </a:extLst>
          </p:cNvPr>
          <p:cNvSpPr txBox="1"/>
          <p:nvPr/>
        </p:nvSpPr>
        <p:spPr>
          <a:xfrm>
            <a:off x="3077043" y="2062085"/>
            <a:ext cx="3412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>
                <a:solidFill>
                  <a:srgbClr val="FF0000"/>
                </a:solidFill>
              </a:rPr>
              <a:t>(High-temperature, low density)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88CC01B9-4D6E-41B4-941B-3F3408ECAA2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920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B4B6B-9A54-4385-9D01-5A8791C71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Non-interacting </a:t>
            </a:r>
            <a:r>
              <a:rPr lang="en-US" dirty="0" err="1"/>
              <a:t>bose</a:t>
            </a:r>
            <a:r>
              <a:rPr lang="en-US" dirty="0"/>
              <a:t> gas: Bose-</a:t>
            </a:r>
            <a:r>
              <a:rPr lang="en-US" dirty="0" err="1"/>
              <a:t>einstein</a:t>
            </a:r>
            <a:r>
              <a:rPr lang="en-US" dirty="0"/>
              <a:t> condensation</a:t>
            </a:r>
            <a:endParaRPr lang="en-MY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684A3F-D765-44F2-A58A-7C8B81D37CAC}"/>
              </a:ext>
            </a:extLst>
          </p:cNvPr>
          <p:cNvSpPr txBox="1"/>
          <p:nvPr/>
        </p:nvSpPr>
        <p:spPr>
          <a:xfrm>
            <a:off x="877153" y="1908651"/>
            <a:ext cx="3431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>
                <a:solidFill>
                  <a:srgbClr val="FF0000"/>
                </a:solidFill>
              </a:rPr>
              <a:t>(Low-temperature, high density)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CF468E-2F84-44B4-849B-6119B5387337}"/>
              </a:ext>
            </a:extLst>
          </p:cNvPr>
          <p:cNvSpPr txBox="1"/>
          <p:nvPr/>
        </p:nvSpPr>
        <p:spPr>
          <a:xfrm>
            <a:off x="456268" y="5441502"/>
            <a:ext cx="3846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In therm0dynamics limit a V, N </a:t>
            </a:r>
            <a:r>
              <a:rPr lang="en-MY" dirty="0">
                <a:latin typeface="Cambria" panose="02040503050406030204" pitchFamily="18" charset="0"/>
                <a:ea typeface="Cambria" panose="02040503050406030204" pitchFamily="18" charset="0"/>
              </a:rPr>
              <a:t>→ ∞.</a:t>
            </a:r>
            <a:endParaRPr lang="en-MY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6DAFA71-88A7-4A5A-8AB8-F84258793C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243" y="2702636"/>
            <a:ext cx="3616280" cy="136661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A6532C7F-8A30-4198-807A-53AC6A235C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6095" y="5860771"/>
            <a:ext cx="2826280" cy="4239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3A3B2A6-6E17-4FEB-BDF7-5D0FEB2519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23403" y="883669"/>
            <a:ext cx="1582887" cy="234802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A90BA7C-E5DA-4E9E-B8F1-E7BA16B8E55F}"/>
              </a:ext>
            </a:extLst>
          </p:cNvPr>
          <p:cNvSpPr txBox="1"/>
          <p:nvPr/>
        </p:nvSpPr>
        <p:spPr>
          <a:xfrm>
            <a:off x="16902" y="2273518"/>
            <a:ext cx="1582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Fixed number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60C6AB0-CF80-46A4-85E4-B64D27EC3F30}"/>
              </a:ext>
            </a:extLst>
          </p:cNvPr>
          <p:cNvCxnSpPr>
            <a:cxnSpLocks/>
          </p:cNvCxnSpPr>
          <p:nvPr/>
        </p:nvCxnSpPr>
        <p:spPr>
          <a:xfrm>
            <a:off x="596797" y="2656064"/>
            <a:ext cx="211548" cy="2677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FE4D638-E9FC-443B-9A8C-D06F532E32E4}"/>
              </a:ext>
            </a:extLst>
          </p:cNvPr>
          <p:cNvSpPr txBox="1"/>
          <p:nvPr/>
        </p:nvSpPr>
        <p:spPr>
          <a:xfrm>
            <a:off x="727339" y="4629632"/>
            <a:ext cx="34310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For finite small volume, it may not has solution for all z. (z≠1)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0FCF2F5-F72A-484F-8589-6F57E9340F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99170" y="4329949"/>
            <a:ext cx="990426" cy="259397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DCBE6715-F6A4-4C12-BC70-A8809A855E2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2142" y="3837282"/>
            <a:ext cx="2085880" cy="516686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89E6AFEF-7CDC-4980-93AC-12103B42F20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094399" y="3827337"/>
            <a:ext cx="915403" cy="478506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DFB7C53D-1A46-40E6-871C-DFAE40060EA9}"/>
              </a:ext>
            </a:extLst>
          </p:cNvPr>
          <p:cNvGrpSpPr/>
          <p:nvPr/>
        </p:nvGrpSpPr>
        <p:grpSpPr>
          <a:xfrm>
            <a:off x="2095044" y="2119484"/>
            <a:ext cx="4534941" cy="846263"/>
            <a:chOff x="2095044" y="2119484"/>
            <a:chExt cx="4534941" cy="846263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4C597921-D9D1-449A-85EE-230D794F15E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/>
            <a:srcRect l="20616" r="23801"/>
            <a:stretch/>
          </p:blipFill>
          <p:spPr>
            <a:xfrm>
              <a:off x="4147527" y="2119484"/>
              <a:ext cx="2482458" cy="796750"/>
            </a:xfrm>
            <a:prstGeom prst="rect">
              <a:avLst/>
            </a:prstGeom>
          </p:spPr>
        </p:pic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F44617F6-C48D-42A6-B1EB-81D5BDB510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95044" y="2566072"/>
              <a:ext cx="1814067" cy="3996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7" name="Graphic 36">
            <a:extLst>
              <a:ext uri="{FF2B5EF4-FFF2-40B4-BE49-F238E27FC236}">
                <a16:creationId xmlns:a16="http://schemas.microsoft.com/office/drawing/2014/main" id="{22D0B9C5-C109-44BD-8A11-876E55AFC8E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6268" y="6284713"/>
            <a:ext cx="3774678" cy="541657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2BCE5FE2-6BD0-40E4-A875-39BB3DE32B74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b="16832"/>
          <a:stretch/>
        </p:blipFill>
        <p:spPr>
          <a:xfrm>
            <a:off x="5287760" y="3344573"/>
            <a:ext cx="6628316" cy="2629757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97750D66-0492-41AA-B9A0-5EABF93DF2D3}"/>
              </a:ext>
            </a:extLst>
          </p:cNvPr>
          <p:cNvSpPr txBox="1"/>
          <p:nvPr/>
        </p:nvSpPr>
        <p:spPr>
          <a:xfrm>
            <a:off x="10799661" y="3178743"/>
            <a:ext cx="13186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K. Huang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7502BE8-0F47-4A6F-8C4E-4F34DB0F10FC}"/>
              </a:ext>
            </a:extLst>
          </p:cNvPr>
          <p:cNvCxnSpPr/>
          <p:nvPr/>
        </p:nvCxnSpPr>
        <p:spPr>
          <a:xfrm>
            <a:off x="5755907" y="5595838"/>
            <a:ext cx="201168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5" name="Group 64">
            <a:extLst>
              <a:ext uri="{FF2B5EF4-FFF2-40B4-BE49-F238E27FC236}">
                <a16:creationId xmlns:a16="http://schemas.microsoft.com/office/drawing/2014/main" id="{61BBF6C7-1A33-4CBC-8E3F-036057B66DE7}"/>
              </a:ext>
            </a:extLst>
          </p:cNvPr>
          <p:cNvGrpSpPr/>
          <p:nvPr/>
        </p:nvGrpSpPr>
        <p:grpSpPr>
          <a:xfrm>
            <a:off x="5089005" y="3222348"/>
            <a:ext cx="2640080" cy="491558"/>
            <a:chOff x="5089005" y="3472605"/>
            <a:chExt cx="2640080" cy="491558"/>
          </a:xfrm>
        </p:grpSpPr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66DB8225-A35C-4303-83C8-7A133C315A81}"/>
                </a:ext>
              </a:extLst>
            </p:cNvPr>
            <p:cNvCxnSpPr>
              <a:cxnSpLocks/>
            </p:cNvCxnSpPr>
            <p:nvPr/>
          </p:nvCxnSpPr>
          <p:spPr>
            <a:xfrm>
              <a:off x="5570856" y="3769823"/>
              <a:ext cx="2158229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7" name="Graphic 66">
              <a:extLst>
                <a:ext uri="{FF2B5EF4-FFF2-40B4-BE49-F238E27FC236}">
                  <a16:creationId xmlns:a16="http://schemas.microsoft.com/office/drawing/2014/main" id="{8ABE8D18-521F-4B33-B185-9128D5101C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5089005" y="3472605"/>
              <a:ext cx="637204" cy="491558"/>
            </a:xfrm>
            <a:prstGeom prst="rect">
              <a:avLst/>
            </a:prstGeom>
          </p:spPr>
        </p:pic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14A4AD00-2C25-40FB-AA2E-BD4A9EDCA775}"/>
              </a:ext>
            </a:extLst>
          </p:cNvPr>
          <p:cNvGrpSpPr/>
          <p:nvPr/>
        </p:nvGrpSpPr>
        <p:grpSpPr>
          <a:xfrm>
            <a:off x="7729085" y="3481066"/>
            <a:ext cx="1305792" cy="530057"/>
            <a:chOff x="7729085" y="3481066"/>
            <a:chExt cx="1305792" cy="530057"/>
          </a:xfrm>
        </p:grpSpPr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A1B74A2B-841E-473B-BE77-AD22D2CF5C24}"/>
                </a:ext>
              </a:extLst>
            </p:cNvPr>
            <p:cNvCxnSpPr>
              <a:cxnSpLocks/>
            </p:cNvCxnSpPr>
            <p:nvPr/>
          </p:nvCxnSpPr>
          <p:spPr>
            <a:xfrm>
              <a:off x="7729085" y="3530910"/>
              <a:ext cx="539014" cy="0"/>
            </a:xfrm>
            <a:prstGeom prst="line">
              <a:avLst/>
            </a:prstGeom>
            <a:ln w="28575">
              <a:solidFill>
                <a:srgbClr val="FF0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F10BD6D5-96BA-45FB-A56D-E387230026D7}"/>
                </a:ext>
              </a:extLst>
            </p:cNvPr>
            <p:cNvGrpSpPr/>
            <p:nvPr/>
          </p:nvGrpSpPr>
          <p:grpSpPr>
            <a:xfrm>
              <a:off x="8393229" y="3481066"/>
              <a:ext cx="641648" cy="530057"/>
              <a:chOff x="8393229" y="3731323"/>
              <a:chExt cx="641648" cy="530057"/>
            </a:xfrm>
          </p:grpSpPr>
          <p:sp>
            <p:nvSpPr>
              <p:cNvPr id="69" name="Right Brace 68">
                <a:extLst>
                  <a:ext uri="{FF2B5EF4-FFF2-40B4-BE49-F238E27FC236}">
                    <a16:creationId xmlns:a16="http://schemas.microsoft.com/office/drawing/2014/main" id="{282CA71F-D7C0-4937-815C-1C26985E5C33}"/>
                  </a:ext>
                </a:extLst>
              </p:cNvPr>
              <p:cNvSpPr/>
              <p:nvPr/>
            </p:nvSpPr>
            <p:spPr>
              <a:xfrm>
                <a:off x="8393229" y="3731323"/>
                <a:ext cx="202131" cy="491557"/>
              </a:xfrm>
              <a:prstGeom prst="rightBrac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MY"/>
              </a:p>
            </p:txBody>
          </p:sp>
          <p:pic>
            <p:nvPicPr>
              <p:cNvPr id="70" name="Graphic 69">
                <a:extLst>
                  <a:ext uri="{FF2B5EF4-FFF2-40B4-BE49-F238E27FC236}">
                    <a16:creationId xmlns:a16="http://schemas.microsoft.com/office/drawing/2014/main" id="{7007258C-49A8-4466-BBE2-33F3E00867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8566115" y="3824946"/>
                <a:ext cx="468762" cy="436434"/>
              </a:xfrm>
              <a:prstGeom prst="rect">
                <a:avLst/>
              </a:prstGeom>
            </p:spPr>
          </p:pic>
        </p:grpSp>
      </p:grp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E98677A-3127-4647-AAA2-31A76E201976}"/>
              </a:ext>
            </a:extLst>
          </p:cNvPr>
          <p:cNvCxnSpPr>
            <a:cxnSpLocks/>
          </p:cNvCxnSpPr>
          <p:nvPr/>
        </p:nvCxnSpPr>
        <p:spPr>
          <a:xfrm>
            <a:off x="5675130" y="3951101"/>
            <a:ext cx="2718099" cy="0"/>
          </a:xfrm>
          <a:prstGeom prst="line">
            <a:avLst/>
          </a:prstGeom>
          <a:ln w="190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Group 83">
            <a:extLst>
              <a:ext uri="{FF2B5EF4-FFF2-40B4-BE49-F238E27FC236}">
                <a16:creationId xmlns:a16="http://schemas.microsoft.com/office/drawing/2014/main" id="{F5FD6705-11D9-4DBB-9D8C-B9889ACA1EA1}"/>
              </a:ext>
            </a:extLst>
          </p:cNvPr>
          <p:cNvGrpSpPr/>
          <p:nvPr/>
        </p:nvGrpSpPr>
        <p:grpSpPr>
          <a:xfrm>
            <a:off x="4133936" y="3337540"/>
            <a:ext cx="1123657" cy="1252942"/>
            <a:chOff x="4133936" y="3337540"/>
            <a:chExt cx="1123657" cy="1252942"/>
          </a:xfrm>
        </p:grpSpPr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2046B2BD-7331-4EB1-8C1C-505FEED5C8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48857" y="3337540"/>
              <a:ext cx="298353" cy="5558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D9AC1B5C-9B57-4A23-86FE-643982FE11EC}"/>
                </a:ext>
              </a:extLst>
            </p:cNvPr>
            <p:cNvSpPr txBox="1"/>
            <p:nvPr/>
          </p:nvSpPr>
          <p:spPr>
            <a:xfrm>
              <a:off x="4133936" y="3944151"/>
              <a:ext cx="1123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dirty="0"/>
                <a:t>Positive: </a:t>
              </a:r>
            </a:p>
            <a:p>
              <a:r>
                <a:rPr lang="en-MY" dirty="0"/>
                <a:t>stuck at 1</a:t>
              </a:r>
            </a:p>
          </p:txBody>
        </p: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BC806CD2-2EB1-470C-8E81-F32B4279FCE9}"/>
              </a:ext>
            </a:extLst>
          </p:cNvPr>
          <p:cNvSpPr txBox="1"/>
          <p:nvPr/>
        </p:nvSpPr>
        <p:spPr>
          <a:xfrm flipH="1">
            <a:off x="4399431" y="6375270"/>
            <a:ext cx="1510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b="1" dirty="0">
                <a:solidFill>
                  <a:srgbClr val="FF0000"/>
                </a:solidFill>
              </a:rPr>
              <a:t>BEC phase!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F1B8D88-B908-435A-9C3B-764E795D9BBA}"/>
              </a:ext>
            </a:extLst>
          </p:cNvPr>
          <p:cNvSpPr txBox="1"/>
          <p:nvPr/>
        </p:nvSpPr>
        <p:spPr>
          <a:xfrm>
            <a:off x="5826410" y="3109508"/>
            <a:ext cx="2887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>
                <a:solidFill>
                  <a:srgbClr val="FF0000"/>
                </a:solidFill>
              </a:rPr>
              <a:t>No solution for z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83796D8-CA06-40D0-9044-DE8C400665EF}"/>
              </a:ext>
            </a:extLst>
          </p:cNvPr>
          <p:cNvSpPr txBox="1"/>
          <p:nvPr/>
        </p:nvSpPr>
        <p:spPr>
          <a:xfrm>
            <a:off x="5726209" y="6105623"/>
            <a:ext cx="6441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/>
              <a:t>Macroscopic number of particles occupy the ground state.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73BDAC71-38AB-48AA-A933-2809B087DD7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67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8" grpId="0"/>
      <p:bldP spid="83" grpId="0"/>
      <p:bldP spid="85" grpId="0"/>
      <p:bldP spid="8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0D799-063A-455E-B119-663D6DB06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Non-interacting </a:t>
            </a:r>
            <a:r>
              <a:rPr lang="en-US" dirty="0" err="1"/>
              <a:t>bose</a:t>
            </a:r>
            <a:r>
              <a:rPr lang="en-US" dirty="0"/>
              <a:t> gas: Bose-</a:t>
            </a:r>
            <a:r>
              <a:rPr lang="en-US" dirty="0" err="1"/>
              <a:t>einstein</a:t>
            </a:r>
            <a:r>
              <a:rPr lang="en-US" dirty="0"/>
              <a:t> condensation</a:t>
            </a:r>
            <a:endParaRPr lang="en-MY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DAE2B5-7486-4724-A69B-C71082D12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20" y="6157524"/>
            <a:ext cx="5001224" cy="68578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025CC65-E94E-43AC-BF0F-00127F7AA488}"/>
              </a:ext>
            </a:extLst>
          </p:cNvPr>
          <p:cNvSpPr txBox="1"/>
          <p:nvPr/>
        </p:nvSpPr>
        <p:spPr>
          <a:xfrm>
            <a:off x="5726209" y="6105623"/>
            <a:ext cx="6441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/>
              <a:t>Macroscopic number of particles occupy the ground state.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5FBC56-F6CC-4D06-BD93-65DA14589384}"/>
              </a:ext>
            </a:extLst>
          </p:cNvPr>
          <p:cNvSpPr txBox="1"/>
          <p:nvPr/>
        </p:nvSpPr>
        <p:spPr>
          <a:xfrm>
            <a:off x="877153" y="1908651"/>
            <a:ext cx="3431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>
                <a:solidFill>
                  <a:srgbClr val="FF0000"/>
                </a:solidFill>
              </a:rPr>
              <a:t>(Low-temperature, high density)</a:t>
            </a: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D8BD21E9-4787-4115-B1FE-E2DC65C4B8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6243" y="2702636"/>
            <a:ext cx="3616280" cy="136661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8365694-605D-4372-9F0D-8D87F5D66479}"/>
              </a:ext>
            </a:extLst>
          </p:cNvPr>
          <p:cNvSpPr txBox="1"/>
          <p:nvPr/>
        </p:nvSpPr>
        <p:spPr>
          <a:xfrm>
            <a:off x="16902" y="2273518"/>
            <a:ext cx="1582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Fixed number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CF4901C-F8C4-4EC5-8F73-A9CF582E892B}"/>
              </a:ext>
            </a:extLst>
          </p:cNvPr>
          <p:cNvCxnSpPr>
            <a:cxnSpLocks/>
          </p:cNvCxnSpPr>
          <p:nvPr/>
        </p:nvCxnSpPr>
        <p:spPr>
          <a:xfrm>
            <a:off x="596797" y="2656064"/>
            <a:ext cx="211548" cy="2677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Graphic 29">
            <a:extLst>
              <a:ext uri="{FF2B5EF4-FFF2-40B4-BE49-F238E27FC236}">
                <a16:creationId xmlns:a16="http://schemas.microsoft.com/office/drawing/2014/main" id="{4DD689DF-07E1-49CC-9F08-D9B1317DBB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2142" y="3837282"/>
            <a:ext cx="2085880" cy="516686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2BD8CE35-B7DE-4340-A18E-F9ABA13A7B4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94399" y="3827337"/>
            <a:ext cx="915403" cy="478506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E43C50C6-3F37-4905-8E99-2A08B8513E46}"/>
              </a:ext>
            </a:extLst>
          </p:cNvPr>
          <p:cNvGrpSpPr/>
          <p:nvPr/>
        </p:nvGrpSpPr>
        <p:grpSpPr>
          <a:xfrm>
            <a:off x="2095044" y="2119484"/>
            <a:ext cx="4534941" cy="846263"/>
            <a:chOff x="2095044" y="2119484"/>
            <a:chExt cx="4534941" cy="846263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365D21C6-287D-47D6-A74A-BC1B463457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20616" r="23801"/>
            <a:stretch/>
          </p:blipFill>
          <p:spPr>
            <a:xfrm>
              <a:off x="4147527" y="2119484"/>
              <a:ext cx="2482458" cy="796750"/>
            </a:xfrm>
            <a:prstGeom prst="rect">
              <a:avLst/>
            </a:prstGeom>
          </p:spPr>
        </p:pic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C657F6C7-9E6E-41DF-9BB5-FA45FBACFB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95044" y="2566072"/>
              <a:ext cx="1814067" cy="3996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9265802A-4D8A-4E69-983F-79B45EA1E278}"/>
              </a:ext>
            </a:extLst>
          </p:cNvPr>
          <p:cNvSpPr txBox="1"/>
          <p:nvPr/>
        </p:nvSpPr>
        <p:spPr>
          <a:xfrm>
            <a:off x="461965" y="4808046"/>
            <a:ext cx="3846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In therm0dynamics limit a V, N </a:t>
            </a:r>
            <a:r>
              <a:rPr lang="en-MY" dirty="0">
                <a:latin typeface="Cambria" panose="02040503050406030204" pitchFamily="18" charset="0"/>
                <a:ea typeface="Cambria" panose="02040503050406030204" pitchFamily="18" charset="0"/>
              </a:rPr>
              <a:t>→ ∞.</a:t>
            </a:r>
            <a:endParaRPr lang="en-MY" dirty="0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635CDC46-6052-4CEA-8BC0-B860917F2D5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1792" y="5227315"/>
            <a:ext cx="2826280" cy="423942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2136BC6D-82F3-4FD5-9A3F-11EA63E67AF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61965" y="5651257"/>
            <a:ext cx="3774678" cy="54165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63C7F4FB-B667-4E72-878F-5468E98C49E7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b="16283"/>
          <a:stretch/>
        </p:blipFill>
        <p:spPr>
          <a:xfrm>
            <a:off x="5287760" y="3344573"/>
            <a:ext cx="6628316" cy="2647119"/>
          </a:xfrm>
          <a:prstGeom prst="rect">
            <a:avLst/>
          </a:prstGeom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7326B0F-E044-4D1C-B457-5B5386F3EBB1}"/>
              </a:ext>
            </a:extLst>
          </p:cNvPr>
          <p:cNvCxnSpPr/>
          <p:nvPr/>
        </p:nvCxnSpPr>
        <p:spPr>
          <a:xfrm>
            <a:off x="5755907" y="5595838"/>
            <a:ext cx="201168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5DFC7D4-9DB2-42C8-B07B-51D99CAA6B18}"/>
              </a:ext>
            </a:extLst>
          </p:cNvPr>
          <p:cNvCxnSpPr>
            <a:cxnSpLocks/>
          </p:cNvCxnSpPr>
          <p:nvPr/>
        </p:nvCxnSpPr>
        <p:spPr>
          <a:xfrm>
            <a:off x="7729085" y="3530910"/>
            <a:ext cx="539014" cy="0"/>
          </a:xfrm>
          <a:prstGeom prst="line">
            <a:avLst/>
          </a:prstGeom>
          <a:ln w="28575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E10B0ED-3F7E-46FA-8363-00FA14BBBBF1}"/>
              </a:ext>
            </a:extLst>
          </p:cNvPr>
          <p:cNvGrpSpPr/>
          <p:nvPr/>
        </p:nvGrpSpPr>
        <p:grpSpPr>
          <a:xfrm>
            <a:off x="5089005" y="3222348"/>
            <a:ext cx="2640080" cy="491558"/>
            <a:chOff x="5089005" y="3472605"/>
            <a:chExt cx="2640080" cy="491558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660054E8-9AF6-4D0D-9F8D-BB9FB338DDA2}"/>
                </a:ext>
              </a:extLst>
            </p:cNvPr>
            <p:cNvCxnSpPr>
              <a:cxnSpLocks/>
            </p:cNvCxnSpPr>
            <p:nvPr/>
          </p:nvCxnSpPr>
          <p:spPr>
            <a:xfrm>
              <a:off x="5570856" y="3769823"/>
              <a:ext cx="2158229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6" name="Graphic 45">
              <a:extLst>
                <a:ext uri="{FF2B5EF4-FFF2-40B4-BE49-F238E27FC236}">
                  <a16:creationId xmlns:a16="http://schemas.microsoft.com/office/drawing/2014/main" id="{1AF73676-9632-4A22-AE3E-B85227DA00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089005" y="3472605"/>
              <a:ext cx="637204" cy="491558"/>
            </a:xfrm>
            <a:prstGeom prst="rect">
              <a:avLst/>
            </a:prstGeom>
          </p:spPr>
        </p:pic>
      </p:grp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46EF49A-E1DF-43B7-984F-2A0AA87D01E0}"/>
              </a:ext>
            </a:extLst>
          </p:cNvPr>
          <p:cNvCxnSpPr>
            <a:cxnSpLocks/>
          </p:cNvCxnSpPr>
          <p:nvPr/>
        </p:nvCxnSpPr>
        <p:spPr>
          <a:xfrm>
            <a:off x="5675130" y="3951101"/>
            <a:ext cx="2718099" cy="0"/>
          </a:xfrm>
          <a:prstGeom prst="line">
            <a:avLst/>
          </a:prstGeom>
          <a:ln w="190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Picture 50">
            <a:extLst>
              <a:ext uri="{FF2B5EF4-FFF2-40B4-BE49-F238E27FC236}">
                <a16:creationId xmlns:a16="http://schemas.microsoft.com/office/drawing/2014/main" id="{33E1C656-9458-4D20-B7B8-9AA5C969C32B}"/>
              </a:ext>
            </a:extLst>
          </p:cNvPr>
          <p:cNvPicPr>
            <a:picLocks noChangeAspect="1"/>
          </p:cNvPicPr>
          <p:nvPr/>
        </p:nvPicPr>
        <p:blipFill rotWithShape="1">
          <a:blip r:embed="rId17"/>
          <a:srcRect t="5344"/>
          <a:stretch/>
        </p:blipFill>
        <p:spPr>
          <a:xfrm>
            <a:off x="8395909" y="3481066"/>
            <a:ext cx="3614218" cy="2438220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D97BAB1E-12CA-44D1-99AD-533054213AF1}"/>
              </a:ext>
            </a:extLst>
          </p:cNvPr>
          <p:cNvGrpSpPr/>
          <p:nvPr/>
        </p:nvGrpSpPr>
        <p:grpSpPr>
          <a:xfrm>
            <a:off x="8393229" y="3481066"/>
            <a:ext cx="641648" cy="530057"/>
            <a:chOff x="8393229" y="3731323"/>
            <a:chExt cx="641648" cy="530057"/>
          </a:xfrm>
        </p:grpSpPr>
        <p:sp>
          <p:nvSpPr>
            <p:cNvPr id="48" name="Right Brace 47">
              <a:extLst>
                <a:ext uri="{FF2B5EF4-FFF2-40B4-BE49-F238E27FC236}">
                  <a16:creationId xmlns:a16="http://schemas.microsoft.com/office/drawing/2014/main" id="{77110741-6837-4CD9-90D7-70DD69FED432}"/>
                </a:ext>
              </a:extLst>
            </p:cNvPr>
            <p:cNvSpPr/>
            <p:nvPr/>
          </p:nvSpPr>
          <p:spPr>
            <a:xfrm>
              <a:off x="8393229" y="3731323"/>
              <a:ext cx="202131" cy="491557"/>
            </a:xfrm>
            <a:prstGeom prst="righ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pic>
          <p:nvPicPr>
            <p:cNvPr id="49" name="Graphic 48">
              <a:extLst>
                <a:ext uri="{FF2B5EF4-FFF2-40B4-BE49-F238E27FC236}">
                  <a16:creationId xmlns:a16="http://schemas.microsoft.com/office/drawing/2014/main" id="{A4D890FB-1E0E-41E7-86FC-AB62088174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8566115" y="3824946"/>
              <a:ext cx="468762" cy="436434"/>
            </a:xfrm>
            <a:prstGeom prst="rect">
              <a:avLst/>
            </a:prstGeom>
          </p:spPr>
        </p:pic>
      </p:grpSp>
      <p:pic>
        <p:nvPicPr>
          <p:cNvPr id="5" name="Graphic 4">
            <a:extLst>
              <a:ext uri="{FF2B5EF4-FFF2-40B4-BE49-F238E27FC236}">
                <a16:creationId xmlns:a16="http://schemas.microsoft.com/office/drawing/2014/main" id="{BC33E22E-BDFC-452C-BE02-78F8531AE80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834062" y="3300412"/>
            <a:ext cx="523875" cy="257175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CB6F53D3-33B1-4EBC-9491-ADD1446E989D}"/>
              </a:ext>
            </a:extLst>
          </p:cNvPr>
          <p:cNvSpPr txBox="1"/>
          <p:nvPr/>
        </p:nvSpPr>
        <p:spPr>
          <a:xfrm flipH="1">
            <a:off x="4141707" y="5737419"/>
            <a:ext cx="1776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b="1" dirty="0">
                <a:solidFill>
                  <a:srgbClr val="FF0000"/>
                </a:solidFill>
              </a:rPr>
              <a:t>BEC phase!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A7E0505-73FB-49A5-9235-915FE5808206}"/>
              </a:ext>
            </a:extLst>
          </p:cNvPr>
          <p:cNvGrpSpPr/>
          <p:nvPr/>
        </p:nvGrpSpPr>
        <p:grpSpPr>
          <a:xfrm>
            <a:off x="6868401" y="2012927"/>
            <a:ext cx="5233122" cy="1022132"/>
            <a:chOff x="6868401" y="2012927"/>
            <a:chExt cx="5233122" cy="1022132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4FF35801-74D9-46B5-A223-2306E59625BF}"/>
                </a:ext>
              </a:extLst>
            </p:cNvPr>
            <p:cNvGrpSpPr/>
            <p:nvPr/>
          </p:nvGrpSpPr>
          <p:grpSpPr>
            <a:xfrm>
              <a:off x="8986518" y="2097412"/>
              <a:ext cx="3115005" cy="937647"/>
              <a:chOff x="6968691" y="5646724"/>
              <a:chExt cx="3115005" cy="937647"/>
            </a:xfrm>
          </p:grpSpPr>
          <p:pic>
            <p:nvPicPr>
              <p:cNvPr id="54" name="Picture 53">
                <a:extLst>
                  <a:ext uri="{FF2B5EF4-FFF2-40B4-BE49-F238E27FC236}">
                    <a16:creationId xmlns:a16="http://schemas.microsoft.com/office/drawing/2014/main" id="{9479DE5A-5AEB-47DF-8019-7E0BFF9C88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601238" y="5646724"/>
                <a:ext cx="2482458" cy="937647"/>
              </a:xfrm>
              <a:prstGeom prst="rect">
                <a:avLst/>
              </a:prstGeom>
            </p:spPr>
          </p:pic>
          <p:sp>
            <p:nvSpPr>
              <p:cNvPr id="55" name="Arrow: Right 54">
                <a:extLst>
                  <a:ext uri="{FF2B5EF4-FFF2-40B4-BE49-F238E27FC236}">
                    <a16:creationId xmlns:a16="http://schemas.microsoft.com/office/drawing/2014/main" id="{A771BC6E-1163-4112-BC30-1484C2DE7485}"/>
                  </a:ext>
                </a:extLst>
              </p:cNvPr>
              <p:cNvSpPr/>
              <p:nvPr/>
            </p:nvSpPr>
            <p:spPr>
              <a:xfrm>
                <a:off x="6968691" y="6030590"/>
                <a:ext cx="500514" cy="273958"/>
              </a:xfrm>
              <a:prstGeom prst="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MY"/>
              </a:p>
            </p:txBody>
          </p:sp>
        </p:grp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AE7E6D24-B99B-462E-98BC-C3D58C11CC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7753723" y="2371199"/>
              <a:ext cx="1028751" cy="505023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92CBF49-7D2E-491B-A719-51D7937314A1}"/>
                </a:ext>
              </a:extLst>
            </p:cNvPr>
            <p:cNvSpPr txBox="1"/>
            <p:nvPr/>
          </p:nvSpPr>
          <p:spPr>
            <a:xfrm>
              <a:off x="6868401" y="2012927"/>
              <a:ext cx="21633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dirty="0"/>
                <a:t>At transition point:</a:t>
              </a:r>
            </a:p>
          </p:txBody>
        </p:sp>
      </p:grpSp>
      <p:pic>
        <p:nvPicPr>
          <p:cNvPr id="56" name="Picture 55">
            <a:extLst>
              <a:ext uri="{FF2B5EF4-FFF2-40B4-BE49-F238E27FC236}">
                <a16:creationId xmlns:a16="http://schemas.microsoft.com/office/drawing/2014/main" id="{9E050797-25FD-485C-97B4-F98CF285ABD5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999170" y="4329949"/>
            <a:ext cx="990426" cy="259397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270778E6-10E9-4F49-99B8-E15B854296C9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378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80247-609A-48A4-B9A5-5B11D2C2A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Non-interacting: </a:t>
            </a:r>
            <a:r>
              <a:rPr lang="en-US" dirty="0" err="1"/>
              <a:t>bose</a:t>
            </a:r>
            <a:r>
              <a:rPr lang="en-US" dirty="0"/>
              <a:t> gas Bose-</a:t>
            </a:r>
            <a:r>
              <a:rPr lang="en-US" dirty="0" err="1"/>
              <a:t>einstein</a:t>
            </a:r>
            <a:r>
              <a:rPr lang="en-US" dirty="0"/>
              <a:t> condensation</a:t>
            </a:r>
            <a:endParaRPr lang="en-MY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5070C7-719A-4298-8FE8-987E7ED62B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8453"/>
          <a:stretch/>
        </p:blipFill>
        <p:spPr>
          <a:xfrm>
            <a:off x="601804" y="2425154"/>
            <a:ext cx="716857" cy="10038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81D4A14-4AB9-4BE9-B835-52A88567EA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1494" r="-99"/>
          <a:stretch/>
        </p:blipFill>
        <p:spPr>
          <a:xfrm>
            <a:off x="1318661" y="2425152"/>
            <a:ext cx="1155032" cy="10038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E3E4B0-E965-4169-803A-D99D67EEB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803" y="3546574"/>
            <a:ext cx="1034491" cy="3183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B29C603-CE1C-43B4-A7BE-F125DE4F15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951" y="3984859"/>
            <a:ext cx="1840163" cy="8326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D2E731C-334E-44F7-9694-1D2D7C8674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8633" y="3557164"/>
            <a:ext cx="728425" cy="28370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211FF49-AC2C-4E91-BE47-D5108D78D9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1698" y="4043079"/>
            <a:ext cx="1902295" cy="71667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85DBE49-D132-469B-9D29-D1901929FE95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83548"/>
          <a:stretch/>
        </p:blipFill>
        <p:spPr>
          <a:xfrm>
            <a:off x="3089326" y="2480601"/>
            <a:ext cx="874645" cy="94839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10BE817-8130-4E8B-9AFF-897AC416584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75716" t="-1018" r="-1057" b="1018"/>
          <a:stretch/>
        </p:blipFill>
        <p:spPr>
          <a:xfrm>
            <a:off x="3963971" y="2480600"/>
            <a:ext cx="1347231" cy="94839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40EAD4C-521E-4FFE-8006-6F7FA6BC312A}"/>
              </a:ext>
            </a:extLst>
          </p:cNvPr>
          <p:cNvSpPr txBox="1"/>
          <p:nvPr/>
        </p:nvSpPr>
        <p:spPr>
          <a:xfrm>
            <a:off x="204938" y="4875346"/>
            <a:ext cx="28078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Volume independent</a:t>
            </a:r>
          </a:p>
          <a:p>
            <a:r>
              <a:rPr lang="en-MY" dirty="0"/>
              <a:t>=&gt; Infinite compressibility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45FB7D-3751-4BC4-95D0-BB46F1684E29}"/>
              </a:ext>
            </a:extLst>
          </p:cNvPr>
          <p:cNvSpPr txBox="1"/>
          <p:nvPr/>
        </p:nvSpPr>
        <p:spPr>
          <a:xfrm>
            <a:off x="3314429" y="4901240"/>
            <a:ext cx="16969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z depends on V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B58D79C-9319-490C-8715-4D26E91F07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163" y="6301138"/>
            <a:ext cx="2119238" cy="44080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F369B6E-CA05-4CEB-B524-A77C54EEEC6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45851" y="2480599"/>
            <a:ext cx="5007287" cy="426133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A1A7F43-ED72-4DE9-B58E-A26AE3A513FE}"/>
              </a:ext>
            </a:extLst>
          </p:cNvPr>
          <p:cNvSpPr txBox="1"/>
          <p:nvPr/>
        </p:nvSpPr>
        <p:spPr>
          <a:xfrm>
            <a:off x="4533239" y="3523722"/>
            <a:ext cx="1485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(Normal gas)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DFC82D-FE12-4FD8-82FC-22823ECF02C6}"/>
              </a:ext>
            </a:extLst>
          </p:cNvPr>
          <p:cNvSpPr txBox="1"/>
          <p:nvPr/>
        </p:nvSpPr>
        <p:spPr>
          <a:xfrm>
            <a:off x="1694449" y="3486831"/>
            <a:ext cx="1531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(Condensate)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92312E-D832-4785-B229-DAC73D661481}"/>
              </a:ext>
            </a:extLst>
          </p:cNvPr>
          <p:cNvSpPr txBox="1"/>
          <p:nvPr/>
        </p:nvSpPr>
        <p:spPr>
          <a:xfrm rot="20423946">
            <a:off x="9643590" y="4426601"/>
            <a:ext cx="1485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(Normal gas)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2E13D7-BC72-4F18-B71F-31450E213051}"/>
              </a:ext>
            </a:extLst>
          </p:cNvPr>
          <p:cNvSpPr txBox="1"/>
          <p:nvPr/>
        </p:nvSpPr>
        <p:spPr>
          <a:xfrm rot="19901543">
            <a:off x="6741117" y="6231975"/>
            <a:ext cx="1531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(Condensate)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95BBE31-7DC0-4F35-8C04-DCA44A2905C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428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516BA545-4147-41A8-AC83-A5CE6F1651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3548"/>
          <a:stretch/>
        </p:blipFill>
        <p:spPr>
          <a:xfrm>
            <a:off x="6962058" y="5495156"/>
            <a:ext cx="874645" cy="94839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D2CACA6-C690-40EF-90C9-13F37FB7CF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5716" t="-1018" r="-1057" b="1018"/>
          <a:stretch/>
        </p:blipFill>
        <p:spPr>
          <a:xfrm>
            <a:off x="7836703" y="5495155"/>
            <a:ext cx="1347231" cy="94839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367C952-63A0-4172-9DBF-D11BFC25E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7211" y="4696268"/>
            <a:ext cx="4583460" cy="89887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C7748AD-DEBA-4D83-B01A-D4BF4E7939E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3032"/>
          <a:stretch/>
        </p:blipFill>
        <p:spPr>
          <a:xfrm>
            <a:off x="5544822" y="1499998"/>
            <a:ext cx="5801535" cy="324235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FF80247-609A-48A4-B9A5-5B11D2C2A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Non-interacting: </a:t>
            </a:r>
            <a:r>
              <a:rPr lang="en-US" dirty="0" err="1"/>
              <a:t>bose</a:t>
            </a:r>
            <a:r>
              <a:rPr lang="en-US" dirty="0"/>
              <a:t> gas Bose-</a:t>
            </a:r>
            <a:r>
              <a:rPr lang="en-US" dirty="0" err="1"/>
              <a:t>einstein</a:t>
            </a:r>
            <a:r>
              <a:rPr lang="en-US" dirty="0"/>
              <a:t> condensation</a:t>
            </a:r>
            <a:endParaRPr lang="en-MY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7CAF346-5279-4F8A-9610-C017A0E22A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20" y="2023232"/>
            <a:ext cx="4491889" cy="85646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AB6DECE-4DC6-4234-9FAB-75CBCDA71E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846" y="3462817"/>
            <a:ext cx="3988874" cy="70084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0CF7AA8-801A-4C96-8220-11E941C5DD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643" y="2962815"/>
            <a:ext cx="1034491" cy="31830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B58D79C-9319-490C-8715-4D26E91F07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163" y="6301138"/>
            <a:ext cx="2119238" cy="440801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E9A1900-D711-4C01-B11A-D64D96E101B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4320" y="4696268"/>
            <a:ext cx="2884679" cy="74692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F64D198-E60C-4A4C-BD76-CA45A1AF7E9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6191" y="4348372"/>
            <a:ext cx="728425" cy="28370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DCC35D2-9807-48FC-BA49-D4E56F95DC5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8846" y="5494580"/>
            <a:ext cx="3099874" cy="796615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8062EB9C-915F-489D-B75A-8450FFC5001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971468" y="4672313"/>
            <a:ext cx="2549481" cy="85646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7E7DCA9-1DD7-4CD5-8267-7B1F639A597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93927" y="5403656"/>
            <a:ext cx="2498077" cy="7008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2DF7A3-DD45-4BF5-8BE1-E5D59A59CA4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23052" y="6064960"/>
            <a:ext cx="2239826" cy="70084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BAE5B22-4340-4A54-8FFE-E69F3FDE2143}"/>
              </a:ext>
            </a:extLst>
          </p:cNvPr>
          <p:cNvSpPr txBox="1"/>
          <p:nvPr/>
        </p:nvSpPr>
        <p:spPr>
          <a:xfrm>
            <a:off x="9643590" y="2720650"/>
            <a:ext cx="13404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(Normal gas)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4B2927-9720-4F25-9D96-C311EDDF7185}"/>
              </a:ext>
            </a:extLst>
          </p:cNvPr>
          <p:cNvSpPr txBox="1"/>
          <p:nvPr/>
        </p:nvSpPr>
        <p:spPr>
          <a:xfrm>
            <a:off x="6979304" y="4045085"/>
            <a:ext cx="13798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600" dirty="0"/>
              <a:t>(Condensate)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16F80AC-41FC-4339-95CD-D2A2F055362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9536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E543150-4D66-49D3-BBAD-73F275260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3813" y="2583533"/>
            <a:ext cx="5032692" cy="20718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A3747AB-BAFB-4E99-A034-7DCAEE874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Possible reason for </a:t>
            </a:r>
            <a:r>
              <a:rPr lang="en-MY" dirty="0" err="1"/>
              <a:t>bose</a:t>
            </a:r>
            <a:r>
              <a:rPr lang="en-MY" dirty="0"/>
              <a:t>-Einstein condensation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29B29B-6BBD-44CB-9C05-734F38B5F8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960" y="3854470"/>
            <a:ext cx="3964310" cy="5589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98B6EE1-5F80-49DF-9E57-4EEDA35DD879}"/>
              </a:ext>
            </a:extLst>
          </p:cNvPr>
          <p:cNvSpPr txBox="1"/>
          <p:nvPr/>
        </p:nvSpPr>
        <p:spPr>
          <a:xfrm>
            <a:off x="885524" y="2346778"/>
            <a:ext cx="2464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dirty="0"/>
              <a:t>N=2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9F2095-7C46-4CC4-A489-E75826BB9859}"/>
              </a:ext>
            </a:extLst>
          </p:cNvPr>
          <p:cNvSpPr txBox="1"/>
          <p:nvPr/>
        </p:nvSpPr>
        <p:spPr>
          <a:xfrm>
            <a:off x="227513" y="3417533"/>
            <a:ext cx="3122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Density matrix in real space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C933E081-9CB0-40F0-BC95-6CB4BD1876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920711" y="5140689"/>
            <a:ext cx="6750726" cy="67970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EE7BFA2-CE69-46CE-A01B-6B750E3A1B26}"/>
              </a:ext>
            </a:extLst>
          </p:cNvPr>
          <p:cNvSpPr txBox="1"/>
          <p:nvPr/>
        </p:nvSpPr>
        <p:spPr>
          <a:xfrm>
            <a:off x="5370897" y="6036865"/>
            <a:ext cx="4629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Virial expansion, just like interacting gas!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83D1A65-6296-43B3-B716-08A730DC68EF}"/>
              </a:ext>
            </a:extLst>
          </p:cNvPr>
          <p:cNvGrpSpPr/>
          <p:nvPr/>
        </p:nvGrpSpPr>
        <p:grpSpPr>
          <a:xfrm>
            <a:off x="7045694" y="4625917"/>
            <a:ext cx="2370219" cy="514772"/>
            <a:chOff x="7045694" y="4625917"/>
            <a:chExt cx="2370219" cy="514772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1438BBFF-0266-46F0-83AA-2625067E65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45694" y="4923118"/>
              <a:ext cx="288757" cy="2175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5C27E64-8F0E-4261-A94A-2357BBC20933}"/>
                </a:ext>
              </a:extLst>
            </p:cNvPr>
            <p:cNvSpPr txBox="1"/>
            <p:nvPr/>
          </p:nvSpPr>
          <p:spPr>
            <a:xfrm>
              <a:off x="7190072" y="4625917"/>
              <a:ext cx="22258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dirty="0"/>
                <a:t>Statistical force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D8137C5-648B-444F-828C-B17A256BB74A}"/>
              </a:ext>
            </a:extLst>
          </p:cNvPr>
          <p:cNvGrpSpPr/>
          <p:nvPr/>
        </p:nvGrpSpPr>
        <p:grpSpPr>
          <a:xfrm>
            <a:off x="8855241" y="4450003"/>
            <a:ext cx="2695075" cy="690686"/>
            <a:chOff x="8855241" y="4450003"/>
            <a:chExt cx="2695075" cy="690686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4A26BBE-258A-442A-963E-4752F8E47CA8}"/>
                </a:ext>
              </a:extLst>
            </p:cNvPr>
            <p:cNvSpPr txBox="1"/>
            <p:nvPr/>
          </p:nvSpPr>
          <p:spPr>
            <a:xfrm flipH="1">
              <a:off x="9180094" y="4450003"/>
              <a:ext cx="237022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dirty="0"/>
                <a:t>Attractive for boson</a:t>
              </a:r>
            </a:p>
            <a:p>
              <a:r>
                <a:rPr lang="en-MY" dirty="0"/>
                <a:t>Repulsive for fermion</a:t>
              </a:r>
            </a:p>
          </p:txBody>
        </p:sp>
        <p:sp>
          <p:nvSpPr>
            <p:cNvPr id="23" name="Left Brace 22">
              <a:extLst>
                <a:ext uri="{FF2B5EF4-FFF2-40B4-BE49-F238E27FC236}">
                  <a16:creationId xmlns:a16="http://schemas.microsoft.com/office/drawing/2014/main" id="{8EF9D31A-1F47-438E-96C1-76FF72BA2DAB}"/>
                </a:ext>
              </a:extLst>
            </p:cNvPr>
            <p:cNvSpPr/>
            <p:nvPr/>
          </p:nvSpPr>
          <p:spPr>
            <a:xfrm>
              <a:off x="8855241" y="4450003"/>
              <a:ext cx="366685" cy="690686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CD11831D-AA5A-4745-8227-B2F9368CAF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5707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0D799-063A-455E-B119-663D6DB06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condition for BEC</a:t>
            </a:r>
            <a:endParaRPr lang="en-MY" dirty="0"/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D8BD21E9-4787-4115-B1FE-E2DC65C4B8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243" y="2702636"/>
            <a:ext cx="3616280" cy="1366617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8365694-605D-4372-9F0D-8D87F5D66479}"/>
              </a:ext>
            </a:extLst>
          </p:cNvPr>
          <p:cNvSpPr txBox="1"/>
          <p:nvPr/>
        </p:nvSpPr>
        <p:spPr>
          <a:xfrm>
            <a:off x="16902" y="2273518"/>
            <a:ext cx="1582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Fixed number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CF4901C-F8C4-4EC5-8F73-A9CF582E892B}"/>
              </a:ext>
            </a:extLst>
          </p:cNvPr>
          <p:cNvCxnSpPr>
            <a:cxnSpLocks/>
          </p:cNvCxnSpPr>
          <p:nvPr/>
        </p:nvCxnSpPr>
        <p:spPr>
          <a:xfrm>
            <a:off x="596797" y="2656064"/>
            <a:ext cx="211548" cy="2677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Graphic 29">
            <a:extLst>
              <a:ext uri="{FF2B5EF4-FFF2-40B4-BE49-F238E27FC236}">
                <a16:creationId xmlns:a16="http://schemas.microsoft.com/office/drawing/2014/main" id="{4DD689DF-07E1-49CC-9F08-D9B1317DBB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2142" y="3837282"/>
            <a:ext cx="2085880" cy="516686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2BD8CE35-B7DE-4340-A18E-F9ABA13A7B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94399" y="3827337"/>
            <a:ext cx="915403" cy="478506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E43C50C6-3F37-4905-8E99-2A08B8513E46}"/>
              </a:ext>
            </a:extLst>
          </p:cNvPr>
          <p:cNvGrpSpPr/>
          <p:nvPr/>
        </p:nvGrpSpPr>
        <p:grpSpPr>
          <a:xfrm>
            <a:off x="2095044" y="2119484"/>
            <a:ext cx="4534941" cy="846263"/>
            <a:chOff x="2095044" y="2119484"/>
            <a:chExt cx="4534941" cy="846263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365D21C6-287D-47D6-A74A-BC1B463457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l="20616" r="23801"/>
            <a:stretch/>
          </p:blipFill>
          <p:spPr>
            <a:xfrm>
              <a:off x="4147527" y="2119484"/>
              <a:ext cx="2482458" cy="796750"/>
            </a:xfrm>
            <a:prstGeom prst="rect">
              <a:avLst/>
            </a:prstGeom>
          </p:spPr>
        </p:pic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C657F6C7-9E6E-41DF-9BB5-FA45FBACFB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95044" y="2566072"/>
              <a:ext cx="1814067" cy="3996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D23960E0-68CC-4F8A-81BF-A0E25544EFD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99170" y="4426200"/>
            <a:ext cx="990426" cy="259397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9265802A-4D8A-4E69-983F-79B45EA1E278}"/>
              </a:ext>
            </a:extLst>
          </p:cNvPr>
          <p:cNvSpPr txBox="1"/>
          <p:nvPr/>
        </p:nvSpPr>
        <p:spPr>
          <a:xfrm>
            <a:off x="461965" y="4808046"/>
            <a:ext cx="3846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In therm0dynamics limit a V, N </a:t>
            </a:r>
            <a:r>
              <a:rPr lang="en-MY" dirty="0">
                <a:latin typeface="Cambria" panose="02040503050406030204" pitchFamily="18" charset="0"/>
                <a:ea typeface="Cambria" panose="02040503050406030204" pitchFamily="18" charset="0"/>
              </a:rPr>
              <a:t>→ ∞.</a:t>
            </a:r>
            <a:endParaRPr lang="en-MY" dirty="0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635CDC46-6052-4CEA-8BC0-B860917F2D5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1792" y="5227315"/>
            <a:ext cx="2826280" cy="423942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2136BC6D-82F3-4FD5-9A3F-11EA63E67AF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61965" y="5651257"/>
            <a:ext cx="3774678" cy="54165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63C7F4FB-B667-4E72-878F-5468E98C49E7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b="16283"/>
          <a:stretch/>
        </p:blipFill>
        <p:spPr>
          <a:xfrm>
            <a:off x="5287760" y="3344573"/>
            <a:ext cx="6628316" cy="2647119"/>
          </a:xfrm>
          <a:prstGeom prst="rect">
            <a:avLst/>
          </a:prstGeom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7326B0F-E044-4D1C-B457-5B5386F3EBB1}"/>
              </a:ext>
            </a:extLst>
          </p:cNvPr>
          <p:cNvCxnSpPr/>
          <p:nvPr/>
        </p:nvCxnSpPr>
        <p:spPr>
          <a:xfrm>
            <a:off x="5755907" y="5595838"/>
            <a:ext cx="201168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E10B0ED-3F7E-46FA-8363-00FA14BBBBF1}"/>
              </a:ext>
            </a:extLst>
          </p:cNvPr>
          <p:cNvGrpSpPr/>
          <p:nvPr/>
        </p:nvGrpSpPr>
        <p:grpSpPr>
          <a:xfrm>
            <a:off x="5089005" y="3222348"/>
            <a:ext cx="2640080" cy="491558"/>
            <a:chOff x="5089005" y="3472605"/>
            <a:chExt cx="2640080" cy="491558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660054E8-9AF6-4D0D-9F8D-BB9FB338DDA2}"/>
                </a:ext>
              </a:extLst>
            </p:cNvPr>
            <p:cNvCxnSpPr>
              <a:cxnSpLocks/>
            </p:cNvCxnSpPr>
            <p:nvPr/>
          </p:nvCxnSpPr>
          <p:spPr>
            <a:xfrm>
              <a:off x="5570856" y="3769823"/>
              <a:ext cx="2158229" cy="0"/>
            </a:xfrm>
            <a:prstGeom prst="line">
              <a:avLst/>
            </a:prstGeom>
            <a:ln w="19050">
              <a:solidFill>
                <a:srgbClr val="FF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6" name="Graphic 45">
              <a:extLst>
                <a:ext uri="{FF2B5EF4-FFF2-40B4-BE49-F238E27FC236}">
                  <a16:creationId xmlns:a16="http://schemas.microsoft.com/office/drawing/2014/main" id="{1AF73676-9632-4A22-AE3E-B85227DA00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089005" y="3472605"/>
              <a:ext cx="637204" cy="491558"/>
            </a:xfrm>
            <a:prstGeom prst="rect">
              <a:avLst/>
            </a:prstGeom>
          </p:spPr>
        </p:pic>
      </p:grp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46EF49A-E1DF-43B7-984F-2A0AA87D01E0}"/>
              </a:ext>
            </a:extLst>
          </p:cNvPr>
          <p:cNvCxnSpPr>
            <a:cxnSpLocks/>
          </p:cNvCxnSpPr>
          <p:nvPr/>
        </p:nvCxnSpPr>
        <p:spPr>
          <a:xfrm>
            <a:off x="5675130" y="3951101"/>
            <a:ext cx="2718099" cy="0"/>
          </a:xfrm>
          <a:prstGeom prst="line">
            <a:avLst/>
          </a:prstGeom>
          <a:ln w="190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3" name="Group 52">
            <a:extLst>
              <a:ext uri="{FF2B5EF4-FFF2-40B4-BE49-F238E27FC236}">
                <a16:creationId xmlns:a16="http://schemas.microsoft.com/office/drawing/2014/main" id="{4FF35801-74D9-46B5-A223-2306E59625BF}"/>
              </a:ext>
            </a:extLst>
          </p:cNvPr>
          <p:cNvGrpSpPr/>
          <p:nvPr/>
        </p:nvGrpSpPr>
        <p:grpSpPr>
          <a:xfrm>
            <a:off x="8986518" y="2097412"/>
            <a:ext cx="3115005" cy="937647"/>
            <a:chOff x="6968691" y="5646724"/>
            <a:chExt cx="3115005" cy="937647"/>
          </a:xfrm>
        </p:grpSpPr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9479DE5A-5AEB-47DF-8019-7E0BFF9C88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7601238" y="5646724"/>
              <a:ext cx="2482458" cy="937647"/>
            </a:xfrm>
            <a:prstGeom prst="rect">
              <a:avLst/>
            </a:prstGeom>
          </p:spPr>
        </p:pic>
        <p:sp>
          <p:nvSpPr>
            <p:cNvPr id="55" name="Arrow: Right 54">
              <a:extLst>
                <a:ext uri="{FF2B5EF4-FFF2-40B4-BE49-F238E27FC236}">
                  <a16:creationId xmlns:a16="http://schemas.microsoft.com/office/drawing/2014/main" id="{A771BC6E-1163-4112-BC30-1484C2DE7485}"/>
                </a:ext>
              </a:extLst>
            </p:cNvPr>
            <p:cNvSpPr/>
            <p:nvPr/>
          </p:nvSpPr>
          <p:spPr>
            <a:xfrm>
              <a:off x="6968691" y="6030590"/>
              <a:ext cx="500514" cy="27395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pic>
        <p:nvPicPr>
          <p:cNvPr id="5" name="Graphic 4">
            <a:extLst>
              <a:ext uri="{FF2B5EF4-FFF2-40B4-BE49-F238E27FC236}">
                <a16:creationId xmlns:a16="http://schemas.microsoft.com/office/drawing/2014/main" id="{BC33E22E-BDFC-452C-BE02-78F8531AE80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834062" y="3300412"/>
            <a:ext cx="523875" cy="257175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AE7E6D24-B99B-462E-98BC-C3D58C11CC4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753723" y="2371199"/>
            <a:ext cx="1028751" cy="50502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92CBF49-7D2E-491B-A719-51D7937314A1}"/>
              </a:ext>
            </a:extLst>
          </p:cNvPr>
          <p:cNvSpPr txBox="1"/>
          <p:nvPr/>
        </p:nvSpPr>
        <p:spPr>
          <a:xfrm>
            <a:off x="6868401" y="2012927"/>
            <a:ext cx="2163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At transition point: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1FFDBB7-12AA-4862-A121-95C285B37045}"/>
              </a:ext>
            </a:extLst>
          </p:cNvPr>
          <p:cNvGrpSpPr/>
          <p:nvPr/>
        </p:nvGrpSpPr>
        <p:grpSpPr>
          <a:xfrm>
            <a:off x="-43984" y="1877186"/>
            <a:ext cx="4228949" cy="1723506"/>
            <a:chOff x="-43984" y="1877186"/>
            <a:chExt cx="4228949" cy="1723506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8187B667-EBA7-4273-991A-4A25BAFDC3DA}"/>
                </a:ext>
              </a:extLst>
            </p:cNvPr>
            <p:cNvSpPr/>
            <p:nvPr/>
          </p:nvSpPr>
          <p:spPr>
            <a:xfrm>
              <a:off x="16902" y="2273518"/>
              <a:ext cx="1503890" cy="1327174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C140EFA-E3D6-4FE0-9395-FFAD2400D390}"/>
                </a:ext>
              </a:extLst>
            </p:cNvPr>
            <p:cNvSpPr txBox="1"/>
            <p:nvPr/>
          </p:nvSpPr>
          <p:spPr>
            <a:xfrm>
              <a:off x="-43984" y="1877186"/>
              <a:ext cx="42289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dirty="0">
                  <a:solidFill>
                    <a:srgbClr val="FF0000"/>
                  </a:solidFill>
                </a:rPr>
                <a:t>1. Number of particle must be conserved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7413EF4-E4C1-4E6D-87A7-6854DDC2BB1C}"/>
              </a:ext>
            </a:extLst>
          </p:cNvPr>
          <p:cNvGrpSpPr/>
          <p:nvPr/>
        </p:nvGrpSpPr>
        <p:grpSpPr>
          <a:xfrm>
            <a:off x="4087750" y="1565599"/>
            <a:ext cx="4656709" cy="1400148"/>
            <a:chOff x="4087750" y="1565599"/>
            <a:chExt cx="4656709" cy="1400148"/>
          </a:xfrm>
        </p:grpSpPr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82B7CE14-CC8C-44E3-BA28-8323F400EFCE}"/>
                </a:ext>
              </a:extLst>
            </p:cNvPr>
            <p:cNvSpPr/>
            <p:nvPr/>
          </p:nvSpPr>
          <p:spPr>
            <a:xfrm>
              <a:off x="4087750" y="2028099"/>
              <a:ext cx="2648617" cy="937648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8FED299-DC87-4724-8FA9-CB1D1BF5C3AC}"/>
                </a:ext>
              </a:extLst>
            </p:cNvPr>
            <p:cNvSpPr txBox="1"/>
            <p:nvPr/>
          </p:nvSpPr>
          <p:spPr>
            <a:xfrm>
              <a:off x="4515510" y="1565599"/>
              <a:ext cx="42289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dirty="0">
                  <a:solidFill>
                    <a:srgbClr val="FF0000"/>
                  </a:solidFill>
                </a:rPr>
                <a:t>2. must be upper bounded at z=1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1377B2D-0AC3-4624-8EA7-C4C5274429E2}"/>
              </a:ext>
            </a:extLst>
          </p:cNvPr>
          <p:cNvGrpSpPr/>
          <p:nvPr/>
        </p:nvGrpSpPr>
        <p:grpSpPr>
          <a:xfrm>
            <a:off x="461964" y="5679581"/>
            <a:ext cx="4138911" cy="1112238"/>
            <a:chOff x="461964" y="5679581"/>
            <a:chExt cx="4138911" cy="1112238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C62C03B-D4FE-4C1B-B1CA-898DEE4B2CD6}"/>
                </a:ext>
              </a:extLst>
            </p:cNvPr>
            <p:cNvSpPr txBox="1"/>
            <p:nvPr/>
          </p:nvSpPr>
          <p:spPr>
            <a:xfrm>
              <a:off x="1154139" y="6145488"/>
              <a:ext cx="336137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dirty="0">
                  <a:solidFill>
                    <a:srgbClr val="FF0000"/>
                  </a:solidFill>
                </a:rPr>
                <a:t>3. In BEC phase, z=1, </a:t>
              </a:r>
            </a:p>
            <a:p>
              <a:r>
                <a:rPr lang="en-MY" dirty="0">
                  <a:solidFill>
                    <a:srgbClr val="FF0000"/>
                  </a:solidFill>
                </a:rPr>
                <a:t>N</a:t>
              </a:r>
              <a:r>
                <a:rPr lang="en-MY" baseline="-25000" dirty="0">
                  <a:solidFill>
                    <a:srgbClr val="FF0000"/>
                  </a:solidFill>
                </a:rPr>
                <a:t>0</a:t>
              </a:r>
              <a:r>
                <a:rPr lang="en-MY" dirty="0">
                  <a:solidFill>
                    <a:srgbClr val="FF0000"/>
                  </a:solidFill>
                </a:rPr>
                <a:t> can be any nonzero number</a:t>
              </a:r>
            </a:p>
          </p:txBody>
        </p:sp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DF004C84-32B4-4E78-A1BC-2AFF12122BB8}"/>
                </a:ext>
              </a:extLst>
            </p:cNvPr>
            <p:cNvSpPr/>
            <p:nvPr/>
          </p:nvSpPr>
          <p:spPr>
            <a:xfrm>
              <a:off x="461964" y="5679581"/>
              <a:ext cx="4138911" cy="1112237"/>
            </a:xfrm>
            <a:prstGeom prst="round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</p:grpSp>
      <p:pic>
        <p:nvPicPr>
          <p:cNvPr id="60" name="Picture 59">
            <a:extLst>
              <a:ext uri="{FF2B5EF4-FFF2-40B4-BE49-F238E27FC236}">
                <a16:creationId xmlns:a16="http://schemas.microsoft.com/office/drawing/2014/main" id="{F7354CCB-CD78-4572-A5D8-A4BDDD7AF032}"/>
              </a:ext>
            </a:extLst>
          </p:cNvPr>
          <p:cNvPicPr>
            <a:picLocks noChangeAspect="1"/>
          </p:cNvPicPr>
          <p:nvPr/>
        </p:nvPicPr>
        <p:blipFill rotWithShape="1">
          <a:blip r:embed="rId20"/>
          <a:srcRect t="5344"/>
          <a:stretch/>
        </p:blipFill>
        <p:spPr>
          <a:xfrm>
            <a:off x="8559538" y="3481066"/>
            <a:ext cx="3614218" cy="2438220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D97BAB1E-12CA-44D1-99AD-533054213AF1}"/>
              </a:ext>
            </a:extLst>
          </p:cNvPr>
          <p:cNvGrpSpPr/>
          <p:nvPr/>
        </p:nvGrpSpPr>
        <p:grpSpPr>
          <a:xfrm>
            <a:off x="8393229" y="3481066"/>
            <a:ext cx="641648" cy="530057"/>
            <a:chOff x="8393229" y="3731323"/>
            <a:chExt cx="641648" cy="530057"/>
          </a:xfrm>
        </p:grpSpPr>
        <p:sp>
          <p:nvSpPr>
            <p:cNvPr id="48" name="Right Brace 47">
              <a:extLst>
                <a:ext uri="{FF2B5EF4-FFF2-40B4-BE49-F238E27FC236}">
                  <a16:creationId xmlns:a16="http://schemas.microsoft.com/office/drawing/2014/main" id="{77110741-6837-4CD9-90D7-70DD69FED432}"/>
                </a:ext>
              </a:extLst>
            </p:cNvPr>
            <p:cNvSpPr/>
            <p:nvPr/>
          </p:nvSpPr>
          <p:spPr>
            <a:xfrm>
              <a:off x="8393229" y="3731323"/>
              <a:ext cx="202131" cy="491557"/>
            </a:xfrm>
            <a:prstGeom prst="righ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pic>
          <p:nvPicPr>
            <p:cNvPr id="49" name="Graphic 48">
              <a:extLst>
                <a:ext uri="{FF2B5EF4-FFF2-40B4-BE49-F238E27FC236}">
                  <a16:creationId xmlns:a16="http://schemas.microsoft.com/office/drawing/2014/main" id="{A4D890FB-1E0E-41E7-86FC-AB62088174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8566115" y="3824946"/>
              <a:ext cx="468762" cy="436434"/>
            </a:xfrm>
            <a:prstGeom prst="rect">
              <a:avLst/>
            </a:prstGeom>
          </p:spPr>
        </p:pic>
      </p:grp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5DFC7D4-9DB2-42C8-B07B-51D99CAA6B18}"/>
              </a:ext>
            </a:extLst>
          </p:cNvPr>
          <p:cNvCxnSpPr>
            <a:cxnSpLocks/>
          </p:cNvCxnSpPr>
          <p:nvPr/>
        </p:nvCxnSpPr>
        <p:spPr>
          <a:xfrm>
            <a:off x="7729085" y="3530910"/>
            <a:ext cx="539014" cy="0"/>
          </a:xfrm>
          <a:prstGeom prst="line">
            <a:avLst/>
          </a:prstGeom>
          <a:ln w="28575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FD03F0FE-5105-447B-9934-315CD31B7AE7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931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B3D40-4CC0-4703-99A6-38D056C40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Atomic gas in optical trap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C1BACA-7570-4FBE-9F44-9FD9FE370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521" y="1767197"/>
            <a:ext cx="3046771" cy="5445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4243E9-D8B1-4218-9362-D2F61B783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641" y="2538198"/>
            <a:ext cx="5198067" cy="5360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4A0FC1-0D4A-46E0-AD42-445170DED3A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9710"/>
          <a:stretch/>
        </p:blipFill>
        <p:spPr>
          <a:xfrm>
            <a:off x="169185" y="3165326"/>
            <a:ext cx="5986419" cy="8767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156DAF4-9E2D-486B-B62B-B185C34C30A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6094" b="-1"/>
          <a:stretch/>
        </p:blipFill>
        <p:spPr>
          <a:xfrm>
            <a:off x="282715" y="4294110"/>
            <a:ext cx="3191577" cy="60498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530F413-D61E-4CEA-93F9-FC82076222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0377" y="4989003"/>
            <a:ext cx="1895781" cy="83898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34C106C-124D-4BE4-B8B9-CACB846C1E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3238" y="1832971"/>
            <a:ext cx="3046772" cy="248255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2C3FB4F-48DE-4749-BF4C-2A18F3FAED5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04582" y="4291858"/>
            <a:ext cx="3692225" cy="245733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76631E1-B568-4BDF-85F4-070C74F3BD7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4917" y="5917899"/>
            <a:ext cx="1228896" cy="79068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E4D2EF4-D5F1-4E59-BED7-B9AE3EC8189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00994" y="5945968"/>
            <a:ext cx="2686425" cy="74305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7EB4544-CB85-4BC2-861C-43031BF974F2}"/>
              </a:ext>
            </a:extLst>
          </p:cNvPr>
          <p:cNvSpPr txBox="1"/>
          <p:nvPr/>
        </p:nvSpPr>
        <p:spPr>
          <a:xfrm>
            <a:off x="5203089" y="6088118"/>
            <a:ext cx="1676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100n K for Rb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47458F-A86D-4AED-9097-2B4A3EB4F9D9}"/>
              </a:ext>
            </a:extLst>
          </p:cNvPr>
          <p:cNvSpPr txBox="1"/>
          <p:nvPr/>
        </p:nvSpPr>
        <p:spPr>
          <a:xfrm flipH="1">
            <a:off x="3955318" y="1925210"/>
            <a:ext cx="2495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b="1" dirty="0"/>
              <a:t>Weakly interacting</a:t>
            </a:r>
            <a:endParaRPr lang="en-MY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142A9CF-407C-43C8-8747-992D87B6F62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42389" y="1866323"/>
            <a:ext cx="2537344" cy="242778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BF17C16-3C43-4079-83FC-4A2A1265ABB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2541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9EBCF-E134-4F3C-A1E4-28F261F46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Superfluid in He</a:t>
            </a:r>
            <a:r>
              <a:rPr lang="en-MY" baseline="-25000" dirty="0"/>
              <a:t>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36C1E6-1C41-4F0F-A514-C5D97B234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649889"/>
            <a:ext cx="4391638" cy="38105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ECEB243-38EC-4958-B451-97F4DA3C120B}"/>
              </a:ext>
            </a:extLst>
          </p:cNvPr>
          <p:cNvSpPr txBox="1"/>
          <p:nvPr/>
        </p:nvSpPr>
        <p:spPr>
          <a:xfrm>
            <a:off x="664144" y="2604170"/>
            <a:ext cx="3185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b="1" dirty="0"/>
              <a:t>Strongly interacting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3EC814-B053-4D7C-AF90-D0F29122D104}"/>
              </a:ext>
            </a:extLst>
          </p:cNvPr>
          <p:cNvSpPr txBox="1"/>
          <p:nvPr/>
        </p:nvSpPr>
        <p:spPr>
          <a:xfrm flipH="1">
            <a:off x="2230654" y="3059667"/>
            <a:ext cx="2245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Very hard problem!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27DEC0-EBD3-4CB8-8373-2A1A307B6B0D}"/>
              </a:ext>
            </a:extLst>
          </p:cNvPr>
          <p:cNvSpPr txBox="1"/>
          <p:nvPr/>
        </p:nvSpPr>
        <p:spPr>
          <a:xfrm flipH="1">
            <a:off x="880198" y="3649589"/>
            <a:ext cx="41441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Tc = 2.17 K </a:t>
            </a:r>
          </a:p>
          <a:p>
            <a:endParaRPr lang="en-MY" dirty="0"/>
          </a:p>
          <a:p>
            <a:r>
              <a:rPr lang="en-MY" dirty="0"/>
              <a:t>(much larger Tc due to interaction)</a:t>
            </a:r>
          </a:p>
        </p:txBody>
      </p:sp>
      <p:pic>
        <p:nvPicPr>
          <p:cNvPr id="1026" name="Picture 2" descr="Glasgow University Amnesty International » Newsletter 2015-02-08: More ...">
            <a:extLst>
              <a:ext uri="{FF2B5EF4-FFF2-40B4-BE49-F238E27FC236}">
                <a16:creationId xmlns:a16="http://schemas.microsoft.com/office/drawing/2014/main" id="{72F3B1BB-7C66-4062-B755-C7DB6CD8E07B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6106" y="4793509"/>
            <a:ext cx="3048000" cy="1724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8C81E3F-A741-4BDA-8B0F-84E0E388C41D}"/>
              </a:ext>
            </a:extLst>
          </p:cNvPr>
          <p:cNvSpPr txBox="1"/>
          <p:nvPr/>
        </p:nvSpPr>
        <p:spPr>
          <a:xfrm>
            <a:off x="695681" y="5265441"/>
            <a:ext cx="15317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Zero viscosity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75D8635-6533-4AD7-974D-CF630ED922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2661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94CE8C0-3742-46F5-B2A1-91891D230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07" y="1895034"/>
            <a:ext cx="3067478" cy="487748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6EE02FE-EA5B-4B13-86D5-E67390479C01}"/>
              </a:ext>
            </a:extLst>
          </p:cNvPr>
          <p:cNvSpPr txBox="1"/>
          <p:nvPr/>
        </p:nvSpPr>
        <p:spPr>
          <a:xfrm rot="16200000">
            <a:off x="-610003" y="3476127"/>
            <a:ext cx="17400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continuous in k</a:t>
            </a: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D73A92BF-1184-41A2-B027-9C83C87A1F99}"/>
              </a:ext>
            </a:extLst>
          </p:cNvPr>
          <p:cNvSpPr/>
          <p:nvPr/>
        </p:nvSpPr>
        <p:spPr>
          <a:xfrm>
            <a:off x="409507" y="2935705"/>
            <a:ext cx="369333" cy="359022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0ACF2A-2886-45F8-B80B-9AC423AD4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Non-interacting bosons: Black body (cavity EM fields) </a:t>
            </a:r>
            <a:endParaRPr lang="en-MY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6694BD3-5788-4C7C-B25E-9076049F29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99888" y="2238696"/>
            <a:ext cx="1103906" cy="4978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631E6A7-B129-44E9-9296-2B000446E568}"/>
              </a:ext>
            </a:extLst>
          </p:cNvPr>
          <p:cNvSpPr txBox="1"/>
          <p:nvPr/>
        </p:nvSpPr>
        <p:spPr>
          <a:xfrm flipH="1">
            <a:off x="1867219" y="1881589"/>
            <a:ext cx="2270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Photon energy: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74651D-2976-44D5-806A-5A94B21B6833}"/>
              </a:ext>
            </a:extLst>
          </p:cNvPr>
          <p:cNvSpPr txBox="1"/>
          <p:nvPr/>
        </p:nvSpPr>
        <p:spPr>
          <a:xfrm>
            <a:off x="2576217" y="3259216"/>
            <a:ext cx="1656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2 polarizations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3D1B458A-08DF-4841-A0F0-E624C94BEC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57056" y="2678482"/>
            <a:ext cx="1806788" cy="50590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DD127A8-4702-421B-BC4C-8D5E473E1A99}"/>
              </a:ext>
            </a:extLst>
          </p:cNvPr>
          <p:cNvSpPr txBox="1"/>
          <p:nvPr/>
        </p:nvSpPr>
        <p:spPr>
          <a:xfrm>
            <a:off x="4278442" y="2287669"/>
            <a:ext cx="226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Occupation number: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A9C0B9D9-6C09-4E00-9C88-A6D5A985021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47765" y="2666626"/>
            <a:ext cx="1994566" cy="720726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87E8785E-A28C-4070-9097-82670F15834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43543" y="2545409"/>
            <a:ext cx="1978553" cy="1072346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404E394-6D85-49B9-9C39-10004B98568F}"/>
              </a:ext>
            </a:extLst>
          </p:cNvPr>
          <p:cNvCxnSpPr/>
          <p:nvPr/>
        </p:nvCxnSpPr>
        <p:spPr>
          <a:xfrm>
            <a:off x="2839453" y="3555226"/>
            <a:ext cx="0" cy="2420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aphic 21">
            <a:extLst>
              <a:ext uri="{FF2B5EF4-FFF2-40B4-BE49-F238E27FC236}">
                <a16:creationId xmlns:a16="http://schemas.microsoft.com/office/drawing/2014/main" id="{F1E1E8D9-59C1-4EA7-8C5F-F87BE6A832D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21360221">
            <a:off x="-20439" y="4478281"/>
            <a:ext cx="548991" cy="505072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9347F1A1-7603-442D-9D0B-A58CC510A3FF}"/>
              </a:ext>
            </a:extLst>
          </p:cNvPr>
          <p:cNvGrpSpPr/>
          <p:nvPr/>
        </p:nvGrpSpPr>
        <p:grpSpPr>
          <a:xfrm>
            <a:off x="7101840" y="1881589"/>
            <a:ext cx="5090160" cy="802744"/>
            <a:chOff x="6118838" y="3583602"/>
            <a:chExt cx="5295668" cy="802744"/>
          </a:xfrm>
        </p:grpSpPr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993EF1F9-745E-4D32-B3B0-9B76994436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734200" y="3684858"/>
              <a:ext cx="1680306" cy="701488"/>
            </a:xfrm>
            <a:prstGeom prst="rect">
              <a:avLst/>
            </a:prstGeom>
          </p:spPr>
        </p:pic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BA6DB843-9233-4B4C-8115-7D2C107D61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118838" y="3583602"/>
              <a:ext cx="3738013" cy="765617"/>
            </a:xfrm>
            <a:prstGeom prst="rect">
              <a:avLst/>
            </a:prstGeom>
          </p:spPr>
        </p:pic>
      </p:grpSp>
      <p:pic>
        <p:nvPicPr>
          <p:cNvPr id="27" name="Graphic 26">
            <a:extLst>
              <a:ext uri="{FF2B5EF4-FFF2-40B4-BE49-F238E27FC236}">
                <a16:creationId xmlns:a16="http://schemas.microsoft.com/office/drawing/2014/main" id="{81786441-8168-4DAA-B6A3-6AA2B5929B1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813901" y="3700226"/>
            <a:ext cx="4177350" cy="855602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B7E27B5C-897A-452B-B312-8FE5AD8A690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813901" y="4381467"/>
            <a:ext cx="1647360" cy="730272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889108B7-AF8F-4898-8E9B-465B832BB408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676640" y="4390217"/>
            <a:ext cx="2874473" cy="730272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588FADE8-98B9-4E4D-8A19-8D94762FB9F2}"/>
              </a:ext>
            </a:extLst>
          </p:cNvPr>
          <p:cNvSpPr txBox="1"/>
          <p:nvPr/>
        </p:nvSpPr>
        <p:spPr>
          <a:xfrm>
            <a:off x="4420311" y="3423257"/>
            <a:ext cx="1751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Photon density: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0064D52-E302-44B8-9333-076C97239F91}"/>
              </a:ext>
            </a:extLst>
          </p:cNvPr>
          <p:cNvGrpSpPr/>
          <p:nvPr/>
        </p:nvGrpSpPr>
        <p:grpSpPr>
          <a:xfrm>
            <a:off x="3350422" y="5028125"/>
            <a:ext cx="4503389" cy="1887847"/>
            <a:chOff x="3350422" y="5028125"/>
            <a:chExt cx="4503389" cy="1887847"/>
          </a:xfrm>
        </p:grpSpPr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8C6A109D-4E4A-4301-B49C-52430E999B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4658870" y="6222139"/>
              <a:ext cx="1081088" cy="693833"/>
            </a:xfrm>
            <a:prstGeom prst="rect">
              <a:avLst/>
            </a:prstGeom>
          </p:spPr>
        </p:pic>
        <p:pic>
          <p:nvPicPr>
            <p:cNvPr id="42" name="Graphic 41">
              <a:extLst>
                <a:ext uri="{FF2B5EF4-FFF2-40B4-BE49-F238E27FC236}">
                  <a16:creationId xmlns:a16="http://schemas.microsoft.com/office/drawing/2014/main" id="{AA084122-B118-49B5-A7A9-E4D7D7B73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6307485" y="6007639"/>
              <a:ext cx="1546326" cy="865206"/>
            </a:xfrm>
            <a:prstGeom prst="rect">
              <a:avLst/>
            </a:prstGeom>
          </p:spPr>
        </p:pic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2C80059C-F369-422A-B918-BAD1CEBE2231}"/>
                </a:ext>
              </a:extLst>
            </p:cNvPr>
            <p:cNvGrpSpPr/>
            <p:nvPr/>
          </p:nvGrpSpPr>
          <p:grpSpPr>
            <a:xfrm>
              <a:off x="4102692" y="5028125"/>
              <a:ext cx="3751119" cy="1145369"/>
              <a:chOff x="4102692" y="5028125"/>
              <a:chExt cx="3751119" cy="1145369"/>
            </a:xfrm>
          </p:grpSpPr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E386B09-D523-4EB3-8DA7-93EFEFC2D634}"/>
                  </a:ext>
                </a:extLst>
              </p:cNvPr>
              <p:cNvSpPr txBox="1"/>
              <p:nvPr/>
            </p:nvSpPr>
            <p:spPr>
              <a:xfrm>
                <a:off x="4448610" y="5028125"/>
                <a:ext cx="17149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MY" dirty="0"/>
                  <a:t>Energy density:</a:t>
                </a:r>
              </a:p>
            </p:txBody>
          </p:sp>
          <p:pic>
            <p:nvPicPr>
              <p:cNvPr id="44" name="Graphic 43">
                <a:extLst>
                  <a:ext uri="{FF2B5EF4-FFF2-40B4-BE49-F238E27FC236}">
                    <a16:creationId xmlns:a16="http://schemas.microsoft.com/office/drawing/2014/main" id="{AFCA32E0-4816-4467-974C-D49C52599B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/>
              </a:stretch>
            </p:blipFill>
            <p:spPr>
              <a:xfrm>
                <a:off x="4102692" y="5334428"/>
                <a:ext cx="3751119" cy="839066"/>
              </a:xfrm>
              <a:prstGeom prst="rect">
                <a:avLst/>
              </a:prstGeom>
            </p:spPr>
          </p:pic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86F58DD-94F4-44AC-95DD-D2801FDB5293}"/>
                </a:ext>
              </a:extLst>
            </p:cNvPr>
            <p:cNvSpPr txBox="1"/>
            <p:nvPr/>
          </p:nvSpPr>
          <p:spPr>
            <a:xfrm>
              <a:off x="3350422" y="6356390"/>
              <a:ext cx="13832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Stefan’s law: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B482378C-99F3-4FBD-9F8E-607F9D69C6C5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479518" y="4415216"/>
            <a:ext cx="3694318" cy="22976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9D9A481-C622-4518-B6E5-FEDD44AB4BFA}"/>
              </a:ext>
            </a:extLst>
          </p:cNvPr>
          <p:cNvSpPr txBox="1"/>
          <p:nvPr/>
        </p:nvSpPr>
        <p:spPr>
          <a:xfrm>
            <a:off x="8961443" y="2758416"/>
            <a:ext cx="27223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solidFill>
                  <a:srgbClr val="FF0000"/>
                </a:solidFill>
              </a:rPr>
              <a:t>μ</a:t>
            </a:r>
            <a:r>
              <a:rPr lang="en-MY" dirty="0">
                <a:solidFill>
                  <a:srgbClr val="FF0000"/>
                </a:solidFill>
              </a:rPr>
              <a:t>=0! Number of particles is NOT conserved.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FFA3F05-5E61-49E4-80EB-DDAFEE1213C3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5247720" y="5541383"/>
            <a:ext cx="369332" cy="3693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FD60230-D397-4D93-999A-06C924A49780}"/>
              </a:ext>
            </a:extLst>
          </p:cNvPr>
          <p:cNvSpPr txBox="1"/>
          <p:nvPr/>
        </p:nvSpPr>
        <p:spPr>
          <a:xfrm>
            <a:off x="8898316" y="3491886"/>
            <a:ext cx="32183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N is the Lagrange multiplier arise from the constraint of N.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9AB9FE3-EC9D-478E-9B81-16751425B9E7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79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ACF2A-2886-45F8-B80B-9AC423AD4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Non-interacting bosons: Phonon (Lattice vibrations) </a:t>
            </a:r>
            <a:endParaRPr lang="en-MY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2CC5BA-7BC2-4F7E-B552-AD07446F09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3" y="1964680"/>
            <a:ext cx="2867425" cy="469648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C998D301-3FFE-4DF6-A326-E10728EA674F}"/>
              </a:ext>
            </a:extLst>
          </p:cNvPr>
          <p:cNvGrpSpPr/>
          <p:nvPr/>
        </p:nvGrpSpPr>
        <p:grpSpPr>
          <a:xfrm>
            <a:off x="7101840" y="1881589"/>
            <a:ext cx="5090160" cy="802744"/>
            <a:chOff x="6118838" y="3583602"/>
            <a:chExt cx="5295668" cy="802744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619612C6-EB6F-417B-9C15-9537BE68A2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734200" y="3684858"/>
              <a:ext cx="1680306" cy="701488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1BBE533-A5F0-4C7B-ACE8-93214090B2D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118838" y="3583602"/>
              <a:ext cx="3738013" cy="765617"/>
            </a:xfrm>
            <a:prstGeom prst="rect">
              <a:avLst/>
            </a:prstGeom>
          </p:spPr>
        </p:pic>
      </p:grpSp>
      <p:pic>
        <p:nvPicPr>
          <p:cNvPr id="8" name="Graphic 7">
            <a:extLst>
              <a:ext uri="{FF2B5EF4-FFF2-40B4-BE49-F238E27FC236}">
                <a16:creationId xmlns:a16="http://schemas.microsoft.com/office/drawing/2014/main" id="{4FD35258-EDD6-43EE-8AA7-37D799FB571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24222" y="2319767"/>
            <a:ext cx="1103906" cy="4978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8D16740-51E5-497D-A320-161D18C1AC43}"/>
              </a:ext>
            </a:extLst>
          </p:cNvPr>
          <p:cNvSpPr txBox="1"/>
          <p:nvPr/>
        </p:nvSpPr>
        <p:spPr>
          <a:xfrm flipH="1">
            <a:off x="3891553" y="1940299"/>
            <a:ext cx="2270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Phonon energy: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1C9BE569-CE33-4084-A5E4-E1B35BA899D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731339" y="3431887"/>
            <a:ext cx="1500146" cy="816536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464F7021-5DC8-4229-B0B5-6A42379D368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67158" y="4379389"/>
            <a:ext cx="3890584" cy="76561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F031AE8-83E8-45AD-ABFF-6516627CD578}"/>
              </a:ext>
            </a:extLst>
          </p:cNvPr>
          <p:cNvSpPr txBox="1"/>
          <p:nvPr/>
        </p:nvSpPr>
        <p:spPr>
          <a:xfrm>
            <a:off x="5303853" y="3018608"/>
            <a:ext cx="2995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All possible vibrating modes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A478415-2F2C-488A-942D-EE63F027C4DC}"/>
              </a:ext>
            </a:extLst>
          </p:cNvPr>
          <p:cNvCxnSpPr/>
          <p:nvPr/>
        </p:nvCxnSpPr>
        <p:spPr>
          <a:xfrm flipH="1">
            <a:off x="5171370" y="3387470"/>
            <a:ext cx="461053" cy="1834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304CC87-3D6F-4AFD-B150-7DC2DDC4AB76}"/>
              </a:ext>
            </a:extLst>
          </p:cNvPr>
          <p:cNvSpPr txBox="1"/>
          <p:nvPr/>
        </p:nvSpPr>
        <p:spPr>
          <a:xfrm>
            <a:off x="3073448" y="2810155"/>
            <a:ext cx="2474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3 vibrational directions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4B2F791-8806-4992-9AAD-AADDC86AB1B5}"/>
              </a:ext>
            </a:extLst>
          </p:cNvPr>
          <p:cNvCxnSpPr>
            <a:cxnSpLocks/>
            <a:stCxn id="21" idx="2"/>
          </p:cNvCxnSpPr>
          <p:nvPr/>
        </p:nvCxnSpPr>
        <p:spPr>
          <a:xfrm flipH="1">
            <a:off x="4309380" y="3179487"/>
            <a:ext cx="1491" cy="3836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75A2D26-24B8-4EE9-B857-F24F4C16D366}"/>
              </a:ext>
            </a:extLst>
          </p:cNvPr>
          <p:cNvGrpSpPr/>
          <p:nvPr/>
        </p:nvGrpSpPr>
        <p:grpSpPr>
          <a:xfrm>
            <a:off x="3920130" y="5407701"/>
            <a:ext cx="3697422" cy="915087"/>
            <a:chOff x="4712277" y="5465374"/>
            <a:chExt cx="3697422" cy="915087"/>
          </a:xfrm>
        </p:grpSpPr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8B6C696F-8878-4C4B-88FC-6F3CCDCE3D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712277" y="5465374"/>
              <a:ext cx="1954154" cy="545755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4885910-C5AD-48D6-B24F-2938F7B55C37}"/>
                </a:ext>
              </a:extLst>
            </p:cNvPr>
            <p:cNvSpPr txBox="1"/>
            <p:nvPr/>
          </p:nvSpPr>
          <p:spPr>
            <a:xfrm>
              <a:off x="4712277" y="6011129"/>
              <a:ext cx="36974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Cut off frequency: Debye frequency</a:t>
              </a:r>
            </a:p>
          </p:txBody>
        </p:sp>
      </p:grpSp>
      <p:sp>
        <p:nvSpPr>
          <p:cNvPr id="28" name="Left Brace 27">
            <a:extLst>
              <a:ext uri="{FF2B5EF4-FFF2-40B4-BE49-F238E27FC236}">
                <a16:creationId xmlns:a16="http://schemas.microsoft.com/office/drawing/2014/main" id="{67DAD9A2-BBF7-4471-9E11-50969D481CDA}"/>
              </a:ext>
            </a:extLst>
          </p:cNvPr>
          <p:cNvSpPr/>
          <p:nvPr/>
        </p:nvSpPr>
        <p:spPr>
          <a:xfrm rot="5400000">
            <a:off x="6429210" y="4023732"/>
            <a:ext cx="207891" cy="71131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83666BB-74E3-4245-8F23-FA2A10052626}"/>
              </a:ext>
            </a:extLst>
          </p:cNvPr>
          <p:cNvSpPr txBox="1"/>
          <p:nvPr/>
        </p:nvSpPr>
        <p:spPr>
          <a:xfrm>
            <a:off x="5793719" y="3773418"/>
            <a:ext cx="1823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Density of states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D1E30A4-5F0D-4CB7-BAC4-72E318857243}"/>
              </a:ext>
            </a:extLst>
          </p:cNvPr>
          <p:cNvGrpSpPr/>
          <p:nvPr/>
        </p:nvGrpSpPr>
        <p:grpSpPr>
          <a:xfrm>
            <a:off x="7740295" y="3112417"/>
            <a:ext cx="3776791" cy="3700871"/>
            <a:chOff x="7740295" y="3112417"/>
            <a:chExt cx="3776791" cy="3700871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A2015F08-6F32-423B-B7CD-E4289EC575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7740295" y="3785548"/>
              <a:ext cx="3776791" cy="3027740"/>
            </a:xfrm>
            <a:prstGeom prst="rect">
              <a:avLst/>
            </a:prstGeom>
          </p:spPr>
        </p:pic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9775644D-A132-447E-9969-91B42CB9EF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762129" y="3112417"/>
              <a:ext cx="2995820" cy="1036290"/>
            </a:xfrm>
            <a:prstGeom prst="rect">
              <a:avLst/>
            </a:prstGeom>
          </p:spPr>
        </p:pic>
      </p:grpSp>
      <p:pic>
        <p:nvPicPr>
          <p:cNvPr id="35" name="Graphic 34">
            <a:extLst>
              <a:ext uri="{FF2B5EF4-FFF2-40B4-BE49-F238E27FC236}">
                <a16:creationId xmlns:a16="http://schemas.microsoft.com/office/drawing/2014/main" id="{0693A344-6F1C-458F-A67A-A97F072C8D8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780356" y="4997683"/>
            <a:ext cx="586183" cy="545756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B79BB6A2-5963-410D-BEAB-1FC5D25B3B18}"/>
              </a:ext>
            </a:extLst>
          </p:cNvPr>
          <p:cNvGrpSpPr/>
          <p:nvPr/>
        </p:nvGrpSpPr>
        <p:grpSpPr>
          <a:xfrm>
            <a:off x="9306777" y="4527068"/>
            <a:ext cx="1103906" cy="880633"/>
            <a:chOff x="9306777" y="4527068"/>
            <a:chExt cx="1103906" cy="880633"/>
          </a:xfrm>
        </p:grpSpPr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09C7D34C-67B4-46E2-9C4E-DA4F841FFB9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306777" y="4527068"/>
              <a:ext cx="1103906" cy="497840"/>
            </a:xfrm>
            <a:prstGeom prst="rect">
              <a:avLst/>
            </a:prstGeom>
          </p:spPr>
        </p:pic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41150B30-E7C5-4C8E-BE8E-815CCED87FA6}"/>
                </a:ext>
              </a:extLst>
            </p:cNvPr>
            <p:cNvCxnSpPr/>
            <p:nvPr/>
          </p:nvCxnSpPr>
          <p:spPr>
            <a:xfrm>
              <a:off x="9711891" y="4974792"/>
              <a:ext cx="654517" cy="43290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8FA1037-B101-448B-A607-E1D63FD630BA}"/>
              </a:ext>
            </a:extLst>
          </p:cNvPr>
          <p:cNvGrpSpPr/>
          <p:nvPr/>
        </p:nvGrpSpPr>
        <p:grpSpPr>
          <a:xfrm>
            <a:off x="10857297" y="3785548"/>
            <a:ext cx="881666" cy="697787"/>
            <a:chOff x="10857297" y="3785548"/>
            <a:chExt cx="881666" cy="697787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114ACA0-F46E-45AA-B00F-547A93239E8E}"/>
                </a:ext>
              </a:extLst>
            </p:cNvPr>
            <p:cNvCxnSpPr/>
            <p:nvPr/>
          </p:nvCxnSpPr>
          <p:spPr>
            <a:xfrm flipH="1">
              <a:off x="10857297" y="4242516"/>
              <a:ext cx="317634" cy="24081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132A62A4-A06C-40A1-935C-D6DC3186A6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0953054" y="3785548"/>
              <a:ext cx="785909" cy="611263"/>
            </a:xfrm>
            <a:prstGeom prst="rect">
              <a:avLst/>
            </a:prstGeom>
          </p:spPr>
        </p:pic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F2F03D9E-7C4D-46BB-AD2D-5B97685ED3EB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007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ACF2A-2886-45F8-B80B-9AC423AD4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Non-interacting bosons: Phonon (Lattice vibrations) </a:t>
            </a:r>
            <a:endParaRPr lang="en-MY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998D301-3FFE-4DF6-A326-E10728EA674F}"/>
              </a:ext>
            </a:extLst>
          </p:cNvPr>
          <p:cNvGrpSpPr/>
          <p:nvPr/>
        </p:nvGrpSpPr>
        <p:grpSpPr>
          <a:xfrm>
            <a:off x="7101840" y="1881589"/>
            <a:ext cx="5090160" cy="802744"/>
            <a:chOff x="6118838" y="3583602"/>
            <a:chExt cx="5295668" cy="802744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619612C6-EB6F-417B-9C15-9537BE68A2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734200" y="3684858"/>
              <a:ext cx="1680306" cy="701488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1BBE533-A5F0-4C7B-ACE8-93214090B2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118838" y="3583602"/>
              <a:ext cx="3738013" cy="765617"/>
            </a:xfrm>
            <a:prstGeom prst="rect">
              <a:avLst/>
            </a:prstGeom>
          </p:spPr>
        </p:pic>
      </p:grpSp>
      <p:pic>
        <p:nvPicPr>
          <p:cNvPr id="8" name="Graphic 7">
            <a:extLst>
              <a:ext uri="{FF2B5EF4-FFF2-40B4-BE49-F238E27FC236}">
                <a16:creationId xmlns:a16="http://schemas.microsoft.com/office/drawing/2014/main" id="{4FD35258-EDD6-43EE-8AA7-37D799FB57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4222" y="2319767"/>
            <a:ext cx="1103906" cy="4978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8D16740-51E5-497D-A320-161D18C1AC43}"/>
              </a:ext>
            </a:extLst>
          </p:cNvPr>
          <p:cNvSpPr txBox="1"/>
          <p:nvPr/>
        </p:nvSpPr>
        <p:spPr>
          <a:xfrm flipH="1">
            <a:off x="3891553" y="1940299"/>
            <a:ext cx="2270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Phonon energy: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75A2D26-24B8-4EE9-B857-F24F4C16D366}"/>
              </a:ext>
            </a:extLst>
          </p:cNvPr>
          <p:cNvGrpSpPr/>
          <p:nvPr/>
        </p:nvGrpSpPr>
        <p:grpSpPr>
          <a:xfrm>
            <a:off x="5147686" y="2817607"/>
            <a:ext cx="1954154" cy="915087"/>
            <a:chOff x="4712277" y="5465374"/>
            <a:chExt cx="1954154" cy="915087"/>
          </a:xfrm>
        </p:grpSpPr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8B6C696F-8878-4C4B-88FC-6F3CCDCE3D3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712277" y="5465374"/>
              <a:ext cx="1954154" cy="545755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4885910-C5AD-48D6-B24F-2938F7B55C37}"/>
                </a:ext>
              </a:extLst>
            </p:cNvPr>
            <p:cNvSpPr txBox="1"/>
            <p:nvPr/>
          </p:nvSpPr>
          <p:spPr>
            <a:xfrm>
              <a:off x="4712277" y="6011129"/>
              <a:ext cx="19096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 Debye frequency</a:t>
              </a:r>
            </a:p>
          </p:txBody>
        </p:sp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A2015F08-6F32-423B-B7CD-E4289EC575F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40295" y="3785548"/>
            <a:ext cx="3776791" cy="302774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ECD57606-326F-46F2-8D20-EF4C5B715A49}"/>
              </a:ext>
            </a:extLst>
          </p:cNvPr>
          <p:cNvSpPr txBox="1"/>
          <p:nvPr/>
        </p:nvSpPr>
        <p:spPr>
          <a:xfrm>
            <a:off x="712058" y="2500139"/>
            <a:ext cx="1471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Total energy: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C0BA8B53-A46C-446C-B33D-CD152A38801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32362" y="3027444"/>
            <a:ext cx="3697423" cy="808811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7FACA6F-7290-4D67-808A-F5C92CF83AC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89217" y="4844965"/>
            <a:ext cx="876305" cy="638663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07B9BF64-B573-4836-978D-4C79676183B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035930" y="3817221"/>
            <a:ext cx="1109764" cy="499394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6DA9FFE0-BAB9-4DD2-BBA5-446AB8AC2766}"/>
              </a:ext>
            </a:extLst>
          </p:cNvPr>
          <p:cNvSpPr txBox="1"/>
          <p:nvPr/>
        </p:nvSpPr>
        <p:spPr>
          <a:xfrm>
            <a:off x="40939" y="3874755"/>
            <a:ext cx="2023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Change of variable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720B876E-315B-42F1-BE0F-5D5F5CC5960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01271" y="4316615"/>
            <a:ext cx="1794295" cy="721072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3476A51A-3BC4-418F-B9B7-5C9A359C4828}"/>
              </a:ext>
            </a:extLst>
          </p:cNvPr>
          <p:cNvSpPr txBox="1"/>
          <p:nvPr/>
        </p:nvSpPr>
        <p:spPr>
          <a:xfrm>
            <a:off x="40939" y="4956847"/>
            <a:ext cx="789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where</a:t>
            </a:r>
          </a:p>
        </p:txBody>
      </p:sp>
      <p:pic>
        <p:nvPicPr>
          <p:cNvPr id="42" name="Graphic 41">
            <a:extLst>
              <a:ext uri="{FF2B5EF4-FFF2-40B4-BE49-F238E27FC236}">
                <a16:creationId xmlns:a16="http://schemas.microsoft.com/office/drawing/2014/main" id="{FE420CEF-C46A-4922-9E28-71358A0FD77A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36657" y="5395567"/>
            <a:ext cx="1954155" cy="616411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915CF801-C801-40C9-8327-4C8A88E5F1D3}"/>
              </a:ext>
            </a:extLst>
          </p:cNvPr>
          <p:cNvSpPr txBox="1"/>
          <p:nvPr/>
        </p:nvSpPr>
        <p:spPr>
          <a:xfrm>
            <a:off x="1719568" y="4954075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with</a:t>
            </a:r>
          </a:p>
        </p:txBody>
      </p:sp>
      <p:pic>
        <p:nvPicPr>
          <p:cNvPr id="45" name="Graphic 44">
            <a:extLst>
              <a:ext uri="{FF2B5EF4-FFF2-40B4-BE49-F238E27FC236}">
                <a16:creationId xmlns:a16="http://schemas.microsoft.com/office/drawing/2014/main" id="{0A772E85-3977-4AF3-89DC-08258C974783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356036" y="4928063"/>
            <a:ext cx="1303167" cy="395343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8FD1558F-102D-434A-BA45-CC2F007CD95F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85843" y="6005766"/>
            <a:ext cx="3426476" cy="736157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DAC2CD96-3681-473B-9EB0-720D390F1165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995606" y="3808562"/>
            <a:ext cx="3595784" cy="2928762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C98DB410-3684-4A55-AD46-8B09905A9DDC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5291137" y="4524718"/>
            <a:ext cx="2168338" cy="577368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B7C109F-0F61-4B82-95C0-1BEBE060D54D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2257825" y="5392794"/>
            <a:ext cx="190500" cy="219075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311D8D83-857E-4B0B-BDD8-39C81EE7640B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7762129" y="3112417"/>
            <a:ext cx="2995820" cy="103629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DE7CFE6-6CA4-4B25-9229-D3E87CA81988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189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4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ACF2A-2886-45F8-B80B-9AC423AD4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Statistics for Non-interacting bosons</a:t>
            </a:r>
            <a:endParaRPr lang="en-MY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FD35258-EDD6-43EE-8AA7-37D799FB57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58629" y="3272566"/>
            <a:ext cx="1092198" cy="4978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8D16740-51E5-497D-A320-161D18C1AC43}"/>
              </a:ext>
            </a:extLst>
          </p:cNvPr>
          <p:cNvSpPr txBox="1"/>
          <p:nvPr/>
        </p:nvSpPr>
        <p:spPr>
          <a:xfrm flipH="1">
            <a:off x="8425959" y="2893098"/>
            <a:ext cx="2246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Phonon energy:</a:t>
            </a:r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74217952-6EBC-44E8-8BAB-43EA36DE28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04083" y="3120268"/>
            <a:ext cx="1890109" cy="81608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D600F69E-7176-49EA-A8C8-E795F6EB0064}"/>
              </a:ext>
            </a:extLst>
          </p:cNvPr>
          <p:cNvSpPr txBox="1"/>
          <p:nvPr/>
        </p:nvSpPr>
        <p:spPr>
          <a:xfrm flipH="1">
            <a:off x="4429871" y="2887477"/>
            <a:ext cx="2246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Photon energy:</a:t>
            </a:r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F1EFC694-EFEC-4EA9-A1DA-ED041D3197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57831" y="3429000"/>
            <a:ext cx="1092198" cy="49784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FF12188E-A378-4195-989B-AD17F2482EBB}"/>
              </a:ext>
            </a:extLst>
          </p:cNvPr>
          <p:cNvSpPr txBox="1"/>
          <p:nvPr/>
        </p:nvSpPr>
        <p:spPr>
          <a:xfrm flipH="1">
            <a:off x="1404082" y="2722927"/>
            <a:ext cx="2246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Ideal Bose gas: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4982807-4F35-4291-9A6F-7E8268D23DDE}"/>
              </a:ext>
            </a:extLst>
          </p:cNvPr>
          <p:cNvSpPr txBox="1"/>
          <p:nvPr/>
        </p:nvSpPr>
        <p:spPr>
          <a:xfrm>
            <a:off x="1147810" y="5578094"/>
            <a:ext cx="10231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dirty="0"/>
              <a:t>Interactions between bosons? Advanced topic: Quantum many-body/ fields theoretic techniques.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8E8D50B-C55A-4CF1-8DD7-4AF1597118C6}"/>
              </a:ext>
            </a:extLst>
          </p:cNvPr>
          <p:cNvSpPr txBox="1"/>
          <p:nvPr/>
        </p:nvSpPr>
        <p:spPr>
          <a:xfrm>
            <a:off x="1186313" y="4971374"/>
            <a:ext cx="9557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dirty="0"/>
              <a:t>Real system has a much more complicated energy spectrum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215908A-3199-4C0C-9D67-F3A029597D62}"/>
              </a:ext>
            </a:extLst>
          </p:cNvPr>
          <p:cNvCxnSpPr/>
          <p:nvPr/>
        </p:nvCxnSpPr>
        <p:spPr>
          <a:xfrm flipV="1">
            <a:off x="490888" y="4059454"/>
            <a:ext cx="11540691" cy="112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6B498A5-3009-40DE-A3E5-8F94A994AC6B}"/>
              </a:ext>
            </a:extLst>
          </p:cNvPr>
          <p:cNvSpPr txBox="1"/>
          <p:nvPr/>
        </p:nvSpPr>
        <p:spPr>
          <a:xfrm>
            <a:off x="801827" y="2204710"/>
            <a:ext cx="4109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/>
              <a:t>We have consider the simple system: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5D2838-A925-4B75-86A0-D6EF48167283}"/>
              </a:ext>
            </a:extLst>
          </p:cNvPr>
          <p:cNvSpPr txBox="1"/>
          <p:nvPr/>
        </p:nvSpPr>
        <p:spPr>
          <a:xfrm>
            <a:off x="877225" y="4369661"/>
            <a:ext cx="15745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/>
              <a:t>In real cases: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3BCB5EF-7BE0-41EB-B436-7D4EFA2842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8393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6D630-90E3-4944-8F93-D7CE1BB3A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Phonon in real materials</a:t>
            </a:r>
            <a:endParaRPr lang="en-MY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8C3C477-DC16-435F-9783-0F99DEDEED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3047" y="2268554"/>
            <a:ext cx="7620000" cy="445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DBF8842-3F6E-4CA1-8DCD-90D1674CAD3B}"/>
              </a:ext>
            </a:extLst>
          </p:cNvPr>
          <p:cNvSpPr txBox="1"/>
          <p:nvPr/>
        </p:nvSpPr>
        <p:spPr>
          <a:xfrm>
            <a:off x="327259" y="4706516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Our model:</a:t>
            </a:r>
            <a:endParaRPr lang="en-MY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35DEB2D-05AF-4341-85DC-917A170846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2175" y="5202726"/>
            <a:ext cx="1103906" cy="49784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E57BB089-A9F0-4AA8-A6BF-D5ED2C2685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7259" y="5651642"/>
            <a:ext cx="2995820" cy="10362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E180F5-ABAB-4D34-873F-AFA4542DFB0B}"/>
              </a:ext>
            </a:extLst>
          </p:cNvPr>
          <p:cNvSpPr txBox="1"/>
          <p:nvPr/>
        </p:nvSpPr>
        <p:spPr>
          <a:xfrm>
            <a:off x="2194560" y="2291294"/>
            <a:ext cx="2995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Real materials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1917934-E7C7-4F4C-A983-4276693FD0C7}"/>
              </a:ext>
            </a:extLst>
          </p:cNvPr>
          <p:cNvSpPr/>
          <p:nvPr/>
        </p:nvSpPr>
        <p:spPr>
          <a:xfrm>
            <a:off x="5072514" y="3850105"/>
            <a:ext cx="760395" cy="53901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0E9889C-6A89-4ADD-8EA4-A1947628627E}"/>
              </a:ext>
            </a:extLst>
          </p:cNvPr>
          <p:cNvSpPr/>
          <p:nvPr/>
        </p:nvSpPr>
        <p:spPr>
          <a:xfrm>
            <a:off x="5082139" y="6076430"/>
            <a:ext cx="760395" cy="53901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CC82A96-471A-4D24-ACDD-2AB4EAC698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1886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Statistical physics phy301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Non-interacting fermions</a:t>
            </a:r>
          </a:p>
          <a:p>
            <a:endParaRPr lang="en-US" dirty="0"/>
          </a:p>
          <a:p>
            <a:r>
              <a:rPr lang="en-US" dirty="0"/>
              <a:t>Idea gas, electrons in solid</a:t>
            </a:r>
          </a:p>
        </p:txBody>
      </p:sp>
    </p:spTree>
    <p:extLst>
      <p:ext uri="{BB962C8B-B14F-4D97-AF65-F5344CB8AC3E}">
        <p14:creationId xmlns:p14="http://schemas.microsoft.com/office/powerpoint/2010/main" val="5458870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ACF2A-2886-45F8-B80B-9AC423AD4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Non-interacting Fermi gas (Nonrelativistic)</a:t>
            </a:r>
            <a:endParaRPr lang="en-MY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BCF1AA-1BFA-4C6E-8F91-D07992C2F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510" y="3723282"/>
            <a:ext cx="3219952" cy="82963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8124196-FC78-40DE-A4DD-590AA71187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93559" y="2265715"/>
            <a:ext cx="2880084" cy="114335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13B8A97-FDA4-4BF4-AD63-DF6DAC85A0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0304" y="2381264"/>
            <a:ext cx="1910370" cy="8160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2C79E7-B3D8-4B44-9CEE-2FF4DB8A1660}"/>
              </a:ext>
            </a:extLst>
          </p:cNvPr>
          <p:cNvSpPr txBox="1"/>
          <p:nvPr/>
        </p:nvSpPr>
        <p:spPr>
          <a:xfrm>
            <a:off x="379896" y="2067047"/>
            <a:ext cx="1736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Non-relativistic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5EFB83D-88C8-407A-8DFE-92864C0EFFAC}"/>
              </a:ext>
            </a:extLst>
          </p:cNvPr>
          <p:cNvSpPr/>
          <p:nvPr/>
        </p:nvSpPr>
        <p:spPr>
          <a:xfrm>
            <a:off x="470304" y="2472491"/>
            <a:ext cx="1993763" cy="72485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2FEC0F2-1FC5-4289-8F71-8864164053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7510" y="4589811"/>
            <a:ext cx="3219952" cy="8136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B5730DC-D9F3-46F8-B9B7-F3550DE50B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7462" y="3793840"/>
            <a:ext cx="1448002" cy="69542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D0CAE1E-D5EF-4BB9-95FF-BBF496FA930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87020" y="4712171"/>
            <a:ext cx="1343212" cy="704948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DAD625DD-0007-4CE3-AED8-72E79F4F7C2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855937" y="3858748"/>
            <a:ext cx="447976" cy="447976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552A074D-CFA3-499B-88C3-1E1DAAFFDBE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65802" y="4840657"/>
            <a:ext cx="447976" cy="44797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F9DCC44-A046-4215-8AD9-719E5A65B51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1423" y="2193057"/>
            <a:ext cx="2324424" cy="39058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A8AF200-5353-47E3-A1B8-1622383D786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7510" y="5735428"/>
            <a:ext cx="5315692" cy="104789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264C0A7-9796-40BB-961F-2F42E9B71C0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4813" y="5488839"/>
            <a:ext cx="2382159" cy="350976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C5B7AB65-6C53-46E7-8435-6939F0F27520}"/>
              </a:ext>
            </a:extLst>
          </p:cNvPr>
          <p:cNvSpPr txBox="1"/>
          <p:nvPr/>
        </p:nvSpPr>
        <p:spPr>
          <a:xfrm>
            <a:off x="4361507" y="3256737"/>
            <a:ext cx="1884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degeneracy: spin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4663BF2-1763-4AB2-A840-3A17151CCAFC}"/>
              </a:ext>
            </a:extLst>
          </p:cNvPr>
          <p:cNvCxnSpPr>
            <a:stCxn id="32" idx="1"/>
          </p:cNvCxnSpPr>
          <p:nvPr/>
        </p:nvCxnSpPr>
        <p:spPr>
          <a:xfrm flipH="1">
            <a:off x="4148488" y="3441403"/>
            <a:ext cx="213019" cy="4173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C3614DE2-3E4E-4B18-8AF3-5F67D3C93818}"/>
              </a:ext>
            </a:extLst>
          </p:cNvPr>
          <p:cNvGrpSpPr/>
          <p:nvPr/>
        </p:nvGrpSpPr>
        <p:grpSpPr>
          <a:xfrm>
            <a:off x="6086529" y="2786086"/>
            <a:ext cx="6208408" cy="3362734"/>
            <a:chOff x="6086529" y="2786086"/>
            <a:chExt cx="6208408" cy="3362734"/>
          </a:xfrm>
        </p:grpSpPr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B73121A2-90E1-4193-BB6E-54D93485BF4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100876" y="2786086"/>
              <a:ext cx="4123385" cy="701489"/>
            </a:xfrm>
            <a:prstGeom prst="rect">
              <a:avLst/>
            </a:prstGeom>
          </p:spPr>
        </p:pic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252D467-9E66-47AF-AEB0-706204316976}"/>
                </a:ext>
              </a:extLst>
            </p:cNvPr>
            <p:cNvGrpSpPr/>
            <p:nvPr/>
          </p:nvGrpSpPr>
          <p:grpSpPr>
            <a:xfrm>
              <a:off x="6118838" y="3583602"/>
              <a:ext cx="5393091" cy="765617"/>
              <a:chOff x="6118838" y="3583602"/>
              <a:chExt cx="5393091" cy="765617"/>
            </a:xfrm>
          </p:grpSpPr>
          <p:pic>
            <p:nvPicPr>
              <p:cNvPr id="17" name="Graphic 16">
                <a:extLst>
                  <a:ext uri="{FF2B5EF4-FFF2-40B4-BE49-F238E27FC236}">
                    <a16:creationId xmlns:a16="http://schemas.microsoft.com/office/drawing/2014/main" id="{B21E8DF3-B6BC-4334-BD33-5505F375F9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9831623" y="3583602"/>
                <a:ext cx="1680306" cy="701488"/>
              </a:xfrm>
              <a:prstGeom prst="rect">
                <a:avLst/>
              </a:prstGeom>
            </p:spPr>
          </p:pic>
          <p:pic>
            <p:nvPicPr>
              <p:cNvPr id="18" name="Graphic 17">
                <a:extLst>
                  <a:ext uri="{FF2B5EF4-FFF2-40B4-BE49-F238E27FC236}">
                    <a16:creationId xmlns:a16="http://schemas.microsoft.com/office/drawing/2014/main" id="{A6B7FA5E-8408-42B3-BE1A-B1875DF3CB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6118838" y="3583602"/>
                <a:ext cx="3738013" cy="765617"/>
              </a:xfrm>
              <a:prstGeom prst="rect">
                <a:avLst/>
              </a:prstGeom>
            </p:spPr>
          </p:pic>
        </p:grpSp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DAD526B5-58C0-45B3-8A26-A7EBCAC8173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rcRect t="-1" r="30179" b="-12264"/>
            <a:stretch/>
          </p:blipFill>
          <p:spPr>
            <a:xfrm>
              <a:off x="6086529" y="5308535"/>
              <a:ext cx="4231754" cy="840285"/>
            </a:xfrm>
            <a:prstGeom prst="rect">
              <a:avLst/>
            </a:prstGeom>
          </p:spPr>
        </p:pic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11B66A6-32CC-415E-B9FE-74A46E70485E}"/>
                </a:ext>
              </a:extLst>
            </p:cNvPr>
            <p:cNvGrpSpPr/>
            <p:nvPr/>
          </p:nvGrpSpPr>
          <p:grpSpPr>
            <a:xfrm>
              <a:off x="6092645" y="4589811"/>
              <a:ext cx="4921662" cy="515259"/>
              <a:chOff x="6092645" y="4589811"/>
              <a:chExt cx="4921662" cy="515259"/>
            </a:xfrm>
          </p:grpSpPr>
          <p:pic>
            <p:nvPicPr>
              <p:cNvPr id="21" name="Graphic 20">
                <a:extLst>
                  <a:ext uri="{FF2B5EF4-FFF2-40B4-BE49-F238E27FC236}">
                    <a16:creationId xmlns:a16="http://schemas.microsoft.com/office/drawing/2014/main" id="{BBE1E5E8-6870-4F2E-A17C-C1A4E5776B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/>
              </a:stretch>
            </p:blipFill>
            <p:spPr>
              <a:xfrm>
                <a:off x="6092645" y="4595454"/>
                <a:ext cx="1736950" cy="493660"/>
              </a:xfrm>
              <a:prstGeom prst="rect">
                <a:avLst/>
              </a:prstGeom>
            </p:spPr>
          </p:pic>
          <p:pic>
            <p:nvPicPr>
              <p:cNvPr id="22" name="Graphic 21">
                <a:extLst>
                  <a:ext uri="{FF2B5EF4-FFF2-40B4-BE49-F238E27FC236}">
                    <a16:creationId xmlns:a16="http://schemas.microsoft.com/office/drawing/2014/main" id="{46BC3AF8-BA2A-44E2-9872-EBBBD217C9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rcRect/>
              <a:stretch/>
            </p:blipFill>
            <p:spPr>
              <a:xfrm>
                <a:off x="8637468" y="4589811"/>
                <a:ext cx="2376839" cy="515259"/>
              </a:xfrm>
              <a:prstGeom prst="rect">
                <a:avLst/>
              </a:prstGeom>
            </p:spPr>
          </p:pic>
        </p:grpSp>
        <p:pic>
          <p:nvPicPr>
            <p:cNvPr id="35" name="Graphic 34">
              <a:extLst>
                <a:ext uri="{FF2B5EF4-FFF2-40B4-BE49-F238E27FC236}">
                  <a16:creationId xmlns:a16="http://schemas.microsoft.com/office/drawing/2014/main" id="{2ED0FDDB-19A8-42E9-844C-C0DAACA4A0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rcRect/>
            <a:stretch/>
          </p:blipFill>
          <p:spPr>
            <a:xfrm>
              <a:off x="10176137" y="5274398"/>
              <a:ext cx="2118800" cy="765617"/>
            </a:xfrm>
            <a:prstGeom prst="rect">
              <a:avLst/>
            </a:prstGeom>
          </p:spPr>
        </p:pic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C69CB035-2D96-499C-98AD-BC75ADC56635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246318" y="5918802"/>
            <a:ext cx="4583460" cy="89887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8B888CE-0D30-4075-94E2-5DF74656CB9D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765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ACF2A-2886-45F8-B80B-9AC423AD4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Thermodynamics of idea Fermi gas (Any temperature)</a:t>
            </a:r>
            <a:endParaRPr lang="en-MY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BCF1AA-1BFA-4C6E-8F91-D07992C2F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510" y="3723282"/>
            <a:ext cx="3219952" cy="82963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8124196-FC78-40DE-A4DD-590AA71187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93559" y="2265715"/>
            <a:ext cx="2880084" cy="114335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13B8A97-FDA4-4BF4-AD63-DF6DAC85A0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0304" y="2381264"/>
            <a:ext cx="1910370" cy="8160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2C79E7-B3D8-4B44-9CEE-2FF4DB8A1660}"/>
              </a:ext>
            </a:extLst>
          </p:cNvPr>
          <p:cNvSpPr txBox="1"/>
          <p:nvPr/>
        </p:nvSpPr>
        <p:spPr>
          <a:xfrm>
            <a:off x="379896" y="2067047"/>
            <a:ext cx="1736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Non-relativistic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5EFB83D-88C8-407A-8DFE-92864C0EFFAC}"/>
              </a:ext>
            </a:extLst>
          </p:cNvPr>
          <p:cNvSpPr/>
          <p:nvPr/>
        </p:nvSpPr>
        <p:spPr>
          <a:xfrm>
            <a:off x="470304" y="2472491"/>
            <a:ext cx="1993763" cy="72485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2FEC0F2-1FC5-4289-8F71-8864164053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7510" y="4589811"/>
            <a:ext cx="3219952" cy="8136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B5730DC-D9F3-46F8-B9B7-F3550DE50B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7462" y="3793840"/>
            <a:ext cx="1448002" cy="69542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D0CAE1E-D5EF-4BB9-95FF-BBF496FA930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87020" y="4712171"/>
            <a:ext cx="1343212" cy="704948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DAD625DD-0007-4CE3-AED8-72E79F4F7C2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855937" y="3858748"/>
            <a:ext cx="447976" cy="447976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552A074D-CFA3-499B-88C3-1E1DAAFFDBE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65802" y="4840657"/>
            <a:ext cx="447976" cy="44797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A8AF200-5353-47E3-A1B8-1622383D786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7510" y="5735428"/>
            <a:ext cx="5315692" cy="104789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264C0A7-9796-40BB-961F-2F42E9B71C0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4813" y="5488839"/>
            <a:ext cx="2382159" cy="350976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C5B7AB65-6C53-46E7-8435-6939F0F27520}"/>
              </a:ext>
            </a:extLst>
          </p:cNvPr>
          <p:cNvSpPr txBox="1"/>
          <p:nvPr/>
        </p:nvSpPr>
        <p:spPr>
          <a:xfrm>
            <a:off x="4361507" y="3256737"/>
            <a:ext cx="1884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degeneracy: spin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4663BF2-1763-4AB2-A840-3A17151CCAFC}"/>
              </a:ext>
            </a:extLst>
          </p:cNvPr>
          <p:cNvCxnSpPr>
            <a:stCxn id="32" idx="1"/>
          </p:cNvCxnSpPr>
          <p:nvPr/>
        </p:nvCxnSpPr>
        <p:spPr>
          <a:xfrm flipH="1">
            <a:off x="4148488" y="3441403"/>
            <a:ext cx="213019" cy="4173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5756FDFF-BBFF-4301-8183-877B3847BF0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70395" y="2458311"/>
            <a:ext cx="4276925" cy="147748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E5D5CD7-529A-4AFE-9968-26490AD310BC}"/>
              </a:ext>
            </a:extLst>
          </p:cNvPr>
          <p:cNvSpPr txBox="1"/>
          <p:nvPr/>
        </p:nvSpPr>
        <p:spPr>
          <a:xfrm>
            <a:off x="7007925" y="1941806"/>
            <a:ext cx="20009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400" b="1" dirty="0"/>
              <a:t>Total Energy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4348A02-20CB-41E1-9F16-63B4CB862CB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33211" y="4373986"/>
            <a:ext cx="1505160" cy="695422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8E1471E2-6346-4F41-83D8-BE8CD9A963BC}"/>
              </a:ext>
            </a:extLst>
          </p:cNvPr>
          <p:cNvSpPr txBox="1"/>
          <p:nvPr/>
        </p:nvSpPr>
        <p:spPr>
          <a:xfrm>
            <a:off x="7160325" y="3935795"/>
            <a:ext cx="26554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400" b="1" dirty="0"/>
              <a:t>Equation of state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E03DF1B-183F-4D41-A2D5-6B273113E4FA}"/>
              </a:ext>
            </a:extLst>
          </p:cNvPr>
          <p:cNvGrpSpPr/>
          <p:nvPr/>
        </p:nvGrpSpPr>
        <p:grpSpPr>
          <a:xfrm>
            <a:off x="7160325" y="5076209"/>
            <a:ext cx="4905324" cy="1564137"/>
            <a:chOff x="7160325" y="5076209"/>
            <a:chExt cx="4905324" cy="156413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96A2D3B-6D89-4960-80EE-7A1D5A5C711F}"/>
                </a:ext>
              </a:extLst>
            </p:cNvPr>
            <p:cNvSpPr txBox="1"/>
            <p:nvPr/>
          </p:nvSpPr>
          <p:spPr>
            <a:xfrm>
              <a:off x="7160325" y="5076209"/>
              <a:ext cx="213866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2400" b="1" dirty="0"/>
                <a:t>Heat capacity</a:t>
              </a: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1A659E87-2AAE-4B19-A254-1AC2FAEC01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7258614" y="5735428"/>
              <a:ext cx="2973301" cy="904918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7847D467-2FB1-4D8B-AE82-00C98E9166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767131" y="5083798"/>
              <a:ext cx="2298518" cy="585897"/>
            </a:xfrm>
            <a:prstGeom prst="rect">
              <a:avLst/>
            </a:prstGeom>
          </p:spPr>
        </p:pic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D1AEF0DB-E1A7-4FA1-B48A-E9CB4B30643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267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ACF2A-2886-45F8-B80B-9AC423AD4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Thermodynamics of idea Fermi gas</a:t>
            </a:r>
            <a:endParaRPr lang="en-MY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BCF1AA-1BFA-4C6E-8F91-D07992C2F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510" y="3723282"/>
            <a:ext cx="3219952" cy="82963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8124196-FC78-40DE-A4DD-590AA71187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93559" y="2265715"/>
            <a:ext cx="2880084" cy="114335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13B8A97-FDA4-4BF4-AD63-DF6DAC85A02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0304" y="2381264"/>
            <a:ext cx="1910370" cy="8160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2C79E7-B3D8-4B44-9CEE-2FF4DB8A1660}"/>
              </a:ext>
            </a:extLst>
          </p:cNvPr>
          <p:cNvSpPr txBox="1"/>
          <p:nvPr/>
        </p:nvSpPr>
        <p:spPr>
          <a:xfrm>
            <a:off x="379896" y="2067047"/>
            <a:ext cx="1736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Non-relativistic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5EFB83D-88C8-407A-8DFE-92864C0EFFAC}"/>
              </a:ext>
            </a:extLst>
          </p:cNvPr>
          <p:cNvSpPr/>
          <p:nvPr/>
        </p:nvSpPr>
        <p:spPr>
          <a:xfrm>
            <a:off x="470304" y="2472491"/>
            <a:ext cx="1993763" cy="72485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2FEC0F2-1FC5-4289-8F71-8864164053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7510" y="4589811"/>
            <a:ext cx="3219952" cy="8136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B5730DC-D9F3-46F8-B9B7-F3550DE50B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7462" y="3793840"/>
            <a:ext cx="1448002" cy="69542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D0CAE1E-D5EF-4BB9-95FF-BBF496FA930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87020" y="4712171"/>
            <a:ext cx="1343212" cy="704948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DAD625DD-0007-4CE3-AED8-72E79F4F7C2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855937" y="3858748"/>
            <a:ext cx="447976" cy="447976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552A074D-CFA3-499B-88C3-1E1DAAFFDBE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65802" y="4840657"/>
            <a:ext cx="447976" cy="44797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A8AF200-5353-47E3-A1B8-1622383D786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9008" y="5799277"/>
            <a:ext cx="5315692" cy="104789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264C0A7-9796-40BB-961F-2F42E9B71C0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4813" y="5488839"/>
            <a:ext cx="2382159" cy="350976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C5B7AB65-6C53-46E7-8435-6939F0F27520}"/>
              </a:ext>
            </a:extLst>
          </p:cNvPr>
          <p:cNvSpPr txBox="1"/>
          <p:nvPr/>
        </p:nvSpPr>
        <p:spPr>
          <a:xfrm>
            <a:off x="4361507" y="3256737"/>
            <a:ext cx="1884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degeneracy: spin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4663BF2-1763-4AB2-A840-3A17151CCAFC}"/>
              </a:ext>
            </a:extLst>
          </p:cNvPr>
          <p:cNvCxnSpPr>
            <a:stCxn id="32" idx="1"/>
          </p:cNvCxnSpPr>
          <p:nvPr/>
        </p:nvCxnSpPr>
        <p:spPr>
          <a:xfrm flipH="1">
            <a:off x="4148488" y="3441403"/>
            <a:ext cx="213019" cy="4173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E5D5CD7-529A-4AFE-9968-26490AD310BC}"/>
              </a:ext>
            </a:extLst>
          </p:cNvPr>
          <p:cNvSpPr txBox="1"/>
          <p:nvPr/>
        </p:nvSpPr>
        <p:spPr>
          <a:xfrm>
            <a:off x="7007925" y="1941806"/>
            <a:ext cx="25595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400" b="1" dirty="0"/>
              <a:t>Virial expansion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E03DF1B-183F-4D41-A2D5-6B273113E4FA}"/>
              </a:ext>
            </a:extLst>
          </p:cNvPr>
          <p:cNvGrpSpPr/>
          <p:nvPr/>
        </p:nvGrpSpPr>
        <p:grpSpPr>
          <a:xfrm>
            <a:off x="7007925" y="3707193"/>
            <a:ext cx="3022984" cy="1357452"/>
            <a:chOff x="7160325" y="5076209"/>
            <a:chExt cx="3022984" cy="1357452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96A2D3B-6D89-4960-80EE-7A1D5A5C711F}"/>
                </a:ext>
              </a:extLst>
            </p:cNvPr>
            <p:cNvSpPr txBox="1"/>
            <p:nvPr/>
          </p:nvSpPr>
          <p:spPr>
            <a:xfrm>
              <a:off x="7160325" y="5076209"/>
              <a:ext cx="213866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sz="2400" b="1" dirty="0"/>
                <a:t>Heat capacity</a:t>
              </a:r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1A659E87-2AAE-4B19-A254-1AC2FAEC01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210008" y="5528743"/>
              <a:ext cx="2973301" cy="904918"/>
            </a:xfrm>
            <a:prstGeom prst="rect">
              <a:avLst/>
            </a:prstGeom>
          </p:spPr>
        </p:pic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E7393DAF-FD0A-4A1B-AF74-C065BCE55E2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00405" y="2569052"/>
            <a:ext cx="3543795" cy="100026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67FFC1E-4F3C-4763-B94E-591649BE1F3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07887" y="5139891"/>
            <a:ext cx="6255186" cy="172054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2E6C2E3-12F5-4087-82B7-13C6A079C82E}"/>
              </a:ext>
            </a:extLst>
          </p:cNvPr>
          <p:cNvSpPr txBox="1"/>
          <p:nvPr/>
        </p:nvSpPr>
        <p:spPr>
          <a:xfrm>
            <a:off x="7007925" y="1590312"/>
            <a:ext cx="34127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>
                <a:solidFill>
                  <a:srgbClr val="FF0000"/>
                </a:solidFill>
              </a:rPr>
              <a:t>(High-temperature, low density)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24981BB8-98DA-4CA0-9F69-9447A71B148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0378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ACF2A-2886-45F8-B80B-9AC423AD4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Thermodynamics of idea Fermi gas (T=0)</a:t>
            </a:r>
            <a:endParaRPr lang="en-MY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13B8A97-FDA4-4BF4-AD63-DF6DAC85A0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304" y="2381264"/>
            <a:ext cx="1910370" cy="8160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2C79E7-B3D8-4B44-9CEE-2FF4DB8A1660}"/>
              </a:ext>
            </a:extLst>
          </p:cNvPr>
          <p:cNvSpPr txBox="1"/>
          <p:nvPr/>
        </p:nvSpPr>
        <p:spPr>
          <a:xfrm>
            <a:off x="379896" y="2067047"/>
            <a:ext cx="1736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Non-relativistic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5EFB83D-88C8-407A-8DFE-92864C0EFFAC}"/>
              </a:ext>
            </a:extLst>
          </p:cNvPr>
          <p:cNvSpPr/>
          <p:nvPr/>
        </p:nvSpPr>
        <p:spPr>
          <a:xfrm>
            <a:off x="470304" y="2472491"/>
            <a:ext cx="1993763" cy="72485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96C473C-FAF0-4760-985D-25FA6AF512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556" y="4144809"/>
            <a:ext cx="5656108" cy="257414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5CE00A7-AD48-4F7A-A26F-63D8F299DB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2168" y="3346891"/>
            <a:ext cx="4032733" cy="892742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A6D9A4CC-4857-4091-AD92-4D7B2430FBE3}"/>
              </a:ext>
            </a:extLst>
          </p:cNvPr>
          <p:cNvGrpSpPr/>
          <p:nvPr/>
        </p:nvGrpSpPr>
        <p:grpSpPr>
          <a:xfrm>
            <a:off x="3834062" y="2772844"/>
            <a:ext cx="1507958" cy="750698"/>
            <a:chOff x="6095999" y="1997720"/>
            <a:chExt cx="1507958" cy="75069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158A766-F332-4F72-8A51-930DFED0E055}"/>
                </a:ext>
              </a:extLst>
            </p:cNvPr>
            <p:cNvSpPr txBox="1"/>
            <p:nvPr/>
          </p:nvSpPr>
          <p:spPr>
            <a:xfrm>
              <a:off x="6375133" y="1997720"/>
              <a:ext cx="11128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T=0 limit</a:t>
              </a:r>
            </a:p>
          </p:txBody>
        </p:sp>
        <p:sp>
          <p:nvSpPr>
            <p:cNvPr id="19" name="Left Brace 18">
              <a:extLst>
                <a:ext uri="{FF2B5EF4-FFF2-40B4-BE49-F238E27FC236}">
                  <a16:creationId xmlns:a16="http://schemas.microsoft.com/office/drawing/2014/main" id="{B6AB9DE9-9CAF-438E-B632-C374C3526685}"/>
                </a:ext>
              </a:extLst>
            </p:cNvPr>
            <p:cNvSpPr/>
            <p:nvPr/>
          </p:nvSpPr>
          <p:spPr>
            <a:xfrm rot="5400000">
              <a:off x="6665313" y="1809774"/>
              <a:ext cx="369330" cy="1507958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AF03F02-46B9-4335-9D88-FE96047EF020}"/>
              </a:ext>
            </a:extLst>
          </p:cNvPr>
          <p:cNvGrpSpPr/>
          <p:nvPr/>
        </p:nvGrpSpPr>
        <p:grpSpPr>
          <a:xfrm>
            <a:off x="6565895" y="1936975"/>
            <a:ext cx="3195002" cy="401272"/>
            <a:chOff x="6565895" y="2443285"/>
            <a:chExt cx="3195002" cy="401272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95366023-C8EC-4816-9E44-7F978C0F42D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65895" y="2443285"/>
              <a:ext cx="400106" cy="352474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E37BAC58-7672-4876-B1D0-7C2E550BA7D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345791" y="2491134"/>
              <a:ext cx="295316" cy="304843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01C2F3D3-124B-406C-AABF-34A1F2A0DA3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041580" y="2506107"/>
              <a:ext cx="228632" cy="266737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907A2A27-332A-42FD-8E4C-260F7B57BC4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989000" y="2453977"/>
              <a:ext cx="1771897" cy="390580"/>
            </a:xfrm>
            <a:prstGeom prst="rect">
              <a:avLst/>
            </a:prstGeom>
          </p:spPr>
        </p:pic>
      </p:grpSp>
      <p:pic>
        <p:nvPicPr>
          <p:cNvPr id="41" name="Graphic 40">
            <a:extLst>
              <a:ext uri="{FF2B5EF4-FFF2-40B4-BE49-F238E27FC236}">
                <a16:creationId xmlns:a16="http://schemas.microsoft.com/office/drawing/2014/main" id="{83B83BDD-4C15-4B40-B315-57133FA13118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r="30442" b="-11081"/>
          <a:stretch/>
        </p:blipFill>
        <p:spPr>
          <a:xfrm>
            <a:off x="5958041" y="4188504"/>
            <a:ext cx="4215864" cy="831425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B955B3E7-3864-4DFB-A8BA-80FBD7F1262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6757948" y="2358499"/>
            <a:ext cx="1593544" cy="1109430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B70CEA09-208E-4473-8B0C-DEA763CC44B6}"/>
              </a:ext>
            </a:extLst>
          </p:cNvPr>
          <p:cNvGrpSpPr/>
          <p:nvPr/>
        </p:nvGrpSpPr>
        <p:grpSpPr>
          <a:xfrm>
            <a:off x="6620835" y="3467929"/>
            <a:ext cx="5393091" cy="765617"/>
            <a:chOff x="6118838" y="3583602"/>
            <a:chExt cx="5393091" cy="765617"/>
          </a:xfrm>
        </p:grpSpPr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4D321F0F-B47B-4273-92AA-98201E11F9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831623" y="3583602"/>
              <a:ext cx="1680306" cy="701488"/>
            </a:xfrm>
            <a:prstGeom prst="rect">
              <a:avLst/>
            </a:prstGeom>
          </p:spPr>
        </p:pic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6D39F76C-4604-4522-937A-855D07C2C7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6118838" y="3583602"/>
              <a:ext cx="3738013" cy="765617"/>
            </a:xfrm>
            <a:prstGeom prst="rect">
              <a:avLst/>
            </a:prstGeom>
          </p:spPr>
        </p:pic>
      </p:grpSp>
      <p:pic>
        <p:nvPicPr>
          <p:cNvPr id="51" name="Graphic 50">
            <a:extLst>
              <a:ext uri="{FF2B5EF4-FFF2-40B4-BE49-F238E27FC236}">
                <a16:creationId xmlns:a16="http://schemas.microsoft.com/office/drawing/2014/main" id="{D5A52E62-D09E-4D0A-9C23-5B1BEA8F823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10073200" y="4178879"/>
            <a:ext cx="2118800" cy="765617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E50E856D-B65E-40B2-8313-D4912FCB411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>
          <a:xfrm>
            <a:off x="6031805" y="5053780"/>
            <a:ext cx="3700678" cy="832210"/>
          </a:xfrm>
          <a:prstGeom prst="rect">
            <a:avLst/>
          </a:prstGeom>
        </p:spPr>
      </p:pic>
      <p:pic>
        <p:nvPicPr>
          <p:cNvPr id="65" name="Graphic 64">
            <a:extLst>
              <a:ext uri="{FF2B5EF4-FFF2-40B4-BE49-F238E27FC236}">
                <a16:creationId xmlns:a16="http://schemas.microsoft.com/office/drawing/2014/main" id="{00E37A28-CD1D-4C69-8F40-F9B9FD91E94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600113" y="5063624"/>
            <a:ext cx="2626474" cy="791309"/>
          </a:xfrm>
          <a:prstGeom prst="rect">
            <a:avLst/>
          </a:prstGeom>
        </p:spPr>
      </p:pic>
      <p:pic>
        <p:nvPicPr>
          <p:cNvPr id="67" name="Graphic 66">
            <a:extLst>
              <a:ext uri="{FF2B5EF4-FFF2-40B4-BE49-F238E27FC236}">
                <a16:creationId xmlns:a16="http://schemas.microsoft.com/office/drawing/2014/main" id="{C98AF327-92FE-42E1-A9AF-9D9A90979E78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0171229" y="5993112"/>
            <a:ext cx="1922741" cy="722951"/>
          </a:xfrm>
          <a:prstGeom prst="rect">
            <a:avLst/>
          </a:prstGeom>
        </p:spPr>
      </p:pic>
      <p:pic>
        <p:nvPicPr>
          <p:cNvPr id="69" name="Graphic 68">
            <a:extLst>
              <a:ext uri="{FF2B5EF4-FFF2-40B4-BE49-F238E27FC236}">
                <a16:creationId xmlns:a16="http://schemas.microsoft.com/office/drawing/2014/main" id="{9616493E-2252-43FC-B5F2-A98C79AC215B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641107" y="5975960"/>
            <a:ext cx="1239944" cy="814291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13FA23B-C8D2-4905-B49D-18B2F4E3706A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481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ACF2A-2886-45F8-B80B-9AC423AD4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Thermodynamics of idea Fermi gas (T=0)</a:t>
            </a:r>
            <a:endParaRPr lang="en-MY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13B8A97-FDA4-4BF4-AD63-DF6DAC85A0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304" y="2381264"/>
            <a:ext cx="1910370" cy="8160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2C79E7-B3D8-4B44-9CEE-2FF4DB8A1660}"/>
              </a:ext>
            </a:extLst>
          </p:cNvPr>
          <p:cNvSpPr txBox="1"/>
          <p:nvPr/>
        </p:nvSpPr>
        <p:spPr>
          <a:xfrm>
            <a:off x="379896" y="2067047"/>
            <a:ext cx="1736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Non-relativistic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5EFB83D-88C8-407A-8DFE-92864C0EFFAC}"/>
              </a:ext>
            </a:extLst>
          </p:cNvPr>
          <p:cNvSpPr/>
          <p:nvPr/>
        </p:nvSpPr>
        <p:spPr>
          <a:xfrm>
            <a:off x="470304" y="2472491"/>
            <a:ext cx="1993763" cy="72485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96C473C-FAF0-4760-985D-25FA6AF512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556" y="4144809"/>
            <a:ext cx="5656108" cy="257414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5CE00A7-AD48-4F7A-A26F-63D8F299DB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2168" y="3346891"/>
            <a:ext cx="4032733" cy="892742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A6D9A4CC-4857-4091-AD92-4D7B2430FBE3}"/>
              </a:ext>
            </a:extLst>
          </p:cNvPr>
          <p:cNvGrpSpPr/>
          <p:nvPr/>
        </p:nvGrpSpPr>
        <p:grpSpPr>
          <a:xfrm>
            <a:off x="3834062" y="2772844"/>
            <a:ext cx="1507958" cy="750698"/>
            <a:chOff x="6095999" y="1997720"/>
            <a:chExt cx="1507958" cy="75069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158A766-F332-4F72-8A51-930DFED0E055}"/>
                </a:ext>
              </a:extLst>
            </p:cNvPr>
            <p:cNvSpPr txBox="1"/>
            <p:nvPr/>
          </p:nvSpPr>
          <p:spPr>
            <a:xfrm>
              <a:off x="6375133" y="1997720"/>
              <a:ext cx="11128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T=0 limit</a:t>
              </a:r>
            </a:p>
          </p:txBody>
        </p:sp>
        <p:sp>
          <p:nvSpPr>
            <p:cNvPr id="19" name="Left Brace 18">
              <a:extLst>
                <a:ext uri="{FF2B5EF4-FFF2-40B4-BE49-F238E27FC236}">
                  <a16:creationId xmlns:a16="http://schemas.microsoft.com/office/drawing/2014/main" id="{B6AB9DE9-9CAF-438E-B632-C374C3526685}"/>
                </a:ext>
              </a:extLst>
            </p:cNvPr>
            <p:cNvSpPr/>
            <p:nvPr/>
          </p:nvSpPr>
          <p:spPr>
            <a:xfrm rot="5400000">
              <a:off x="6665313" y="1809774"/>
              <a:ext cx="369330" cy="1507958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AF03F02-46B9-4335-9D88-FE96047EF020}"/>
              </a:ext>
            </a:extLst>
          </p:cNvPr>
          <p:cNvGrpSpPr/>
          <p:nvPr/>
        </p:nvGrpSpPr>
        <p:grpSpPr>
          <a:xfrm>
            <a:off x="6565895" y="1936975"/>
            <a:ext cx="3195002" cy="401272"/>
            <a:chOff x="6565895" y="2443285"/>
            <a:chExt cx="3195002" cy="401272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95366023-C8EC-4816-9E44-7F978C0F42D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65895" y="2443285"/>
              <a:ext cx="400106" cy="352474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E37BAC58-7672-4876-B1D0-7C2E550BA7D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345791" y="2491134"/>
              <a:ext cx="295316" cy="304843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01C2F3D3-124B-406C-AABF-34A1F2A0DA3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041580" y="2506107"/>
              <a:ext cx="228632" cy="266737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907A2A27-332A-42FD-8E4C-260F7B57BC4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989000" y="2453977"/>
              <a:ext cx="1771897" cy="390580"/>
            </a:xfrm>
            <a:prstGeom prst="rect">
              <a:avLst/>
            </a:prstGeom>
          </p:spPr>
        </p:pic>
      </p:grpSp>
      <p:pic>
        <p:nvPicPr>
          <p:cNvPr id="65" name="Graphic 64">
            <a:extLst>
              <a:ext uri="{FF2B5EF4-FFF2-40B4-BE49-F238E27FC236}">
                <a16:creationId xmlns:a16="http://schemas.microsoft.com/office/drawing/2014/main" id="{00E37A28-CD1D-4C69-8F40-F9B9FD91E946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13417"/>
          <a:stretch/>
        </p:blipFill>
        <p:spPr>
          <a:xfrm>
            <a:off x="6401162" y="2655974"/>
            <a:ext cx="2274065" cy="791309"/>
          </a:xfrm>
          <a:prstGeom prst="rect">
            <a:avLst/>
          </a:prstGeom>
        </p:spPr>
      </p:pic>
      <p:pic>
        <p:nvPicPr>
          <p:cNvPr id="67" name="Graphic 66">
            <a:extLst>
              <a:ext uri="{FF2B5EF4-FFF2-40B4-BE49-F238E27FC236}">
                <a16:creationId xmlns:a16="http://schemas.microsoft.com/office/drawing/2014/main" id="{C98AF327-92FE-42E1-A9AF-9D9A90979E7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279115" y="2590355"/>
            <a:ext cx="1922741" cy="72295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E49047-CB23-4334-830D-6F35B163AA4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86036" y="4144809"/>
            <a:ext cx="2774154" cy="16739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7648362-2894-4C22-86B7-B4AEF5017FF8}"/>
              </a:ext>
            </a:extLst>
          </p:cNvPr>
          <p:cNvSpPr txBox="1"/>
          <p:nvPr/>
        </p:nvSpPr>
        <p:spPr>
          <a:xfrm>
            <a:off x="6310037" y="3651900"/>
            <a:ext cx="24563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000" b="1" dirty="0"/>
              <a:t>Total energy at T=0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36BE93C-590B-4DD3-B2D0-58B84A53C28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23847" y="4487232"/>
            <a:ext cx="1878009" cy="72295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AE44077-4EC8-459E-AB5D-4E6C5B1C22C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53422" y="6110588"/>
            <a:ext cx="2192050" cy="610643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3629B260-31E9-493F-93C7-842E50B6A331}"/>
              </a:ext>
            </a:extLst>
          </p:cNvPr>
          <p:cNvSpPr txBox="1"/>
          <p:nvPr/>
        </p:nvSpPr>
        <p:spPr>
          <a:xfrm>
            <a:off x="6216224" y="5708648"/>
            <a:ext cx="12332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000" b="1" dirty="0"/>
              <a:t>Pressure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034F19E-042F-4DF4-8824-01581374C29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12914" y="6027139"/>
            <a:ext cx="2889276" cy="77496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F4F46C6-5DFC-4ABD-ADC6-9020565067E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5806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ACF2A-2886-45F8-B80B-9AC423AD4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Thermodynamics of idea Fermi gas (Low-temperature)</a:t>
            </a:r>
            <a:endParaRPr lang="en-MY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13B8A97-FDA4-4BF4-AD63-DF6DAC85A0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304" y="2381264"/>
            <a:ext cx="1910370" cy="8160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2C79E7-B3D8-4B44-9CEE-2FF4DB8A1660}"/>
              </a:ext>
            </a:extLst>
          </p:cNvPr>
          <p:cNvSpPr txBox="1"/>
          <p:nvPr/>
        </p:nvSpPr>
        <p:spPr>
          <a:xfrm>
            <a:off x="379896" y="2067047"/>
            <a:ext cx="1736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Non-relativistic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5EFB83D-88C8-407A-8DFE-92864C0EFFAC}"/>
              </a:ext>
            </a:extLst>
          </p:cNvPr>
          <p:cNvSpPr/>
          <p:nvPr/>
        </p:nvSpPr>
        <p:spPr>
          <a:xfrm>
            <a:off x="470304" y="2472491"/>
            <a:ext cx="1993763" cy="72485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96C473C-FAF0-4760-985D-25FA6AF512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556" y="4144809"/>
            <a:ext cx="5656108" cy="257414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5CE00A7-AD48-4F7A-A26F-63D8F299DB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2168" y="3346891"/>
            <a:ext cx="4032733" cy="892742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A6D9A4CC-4857-4091-AD92-4D7B2430FBE3}"/>
              </a:ext>
            </a:extLst>
          </p:cNvPr>
          <p:cNvGrpSpPr/>
          <p:nvPr/>
        </p:nvGrpSpPr>
        <p:grpSpPr>
          <a:xfrm>
            <a:off x="3834062" y="2772844"/>
            <a:ext cx="1507958" cy="750698"/>
            <a:chOff x="6095999" y="1997720"/>
            <a:chExt cx="1507958" cy="75069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158A766-F332-4F72-8A51-930DFED0E055}"/>
                </a:ext>
              </a:extLst>
            </p:cNvPr>
            <p:cNvSpPr txBox="1"/>
            <p:nvPr/>
          </p:nvSpPr>
          <p:spPr>
            <a:xfrm>
              <a:off x="6375133" y="1997720"/>
              <a:ext cx="11128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T=0 limit</a:t>
              </a:r>
            </a:p>
          </p:txBody>
        </p:sp>
        <p:sp>
          <p:nvSpPr>
            <p:cNvPr id="19" name="Left Brace 18">
              <a:extLst>
                <a:ext uri="{FF2B5EF4-FFF2-40B4-BE49-F238E27FC236}">
                  <a16:creationId xmlns:a16="http://schemas.microsoft.com/office/drawing/2014/main" id="{B6AB9DE9-9CAF-438E-B632-C374C3526685}"/>
                </a:ext>
              </a:extLst>
            </p:cNvPr>
            <p:cNvSpPr/>
            <p:nvPr/>
          </p:nvSpPr>
          <p:spPr>
            <a:xfrm rot="5400000">
              <a:off x="6665313" y="1809774"/>
              <a:ext cx="369330" cy="1507958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67648362-2894-4C22-86B7-B4AEF5017FF8}"/>
              </a:ext>
            </a:extLst>
          </p:cNvPr>
          <p:cNvSpPr txBox="1"/>
          <p:nvPr/>
        </p:nvSpPr>
        <p:spPr>
          <a:xfrm>
            <a:off x="6253738" y="3021210"/>
            <a:ext cx="30349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000" b="1" dirty="0"/>
              <a:t>Sommerfeld expansion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D7F4A3C-D41E-4C48-B43B-020E1F925F7D}"/>
              </a:ext>
            </a:extLst>
          </p:cNvPr>
          <p:cNvGrpSpPr/>
          <p:nvPr/>
        </p:nvGrpSpPr>
        <p:grpSpPr>
          <a:xfrm>
            <a:off x="1677418" y="4130974"/>
            <a:ext cx="3847483" cy="2141810"/>
            <a:chOff x="1677418" y="4130974"/>
            <a:chExt cx="3847483" cy="214181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F7EF2F5B-BACB-4640-9961-6685F070950E}"/>
                </a:ext>
              </a:extLst>
            </p:cNvPr>
            <p:cNvSpPr/>
            <p:nvPr/>
          </p:nvSpPr>
          <p:spPr>
            <a:xfrm>
              <a:off x="3522846" y="4523874"/>
              <a:ext cx="2002055" cy="1748910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56232B0-4464-47CF-9796-95E0D933F7C1}"/>
                </a:ext>
              </a:extLst>
            </p:cNvPr>
            <p:cNvSpPr txBox="1"/>
            <p:nvPr/>
          </p:nvSpPr>
          <p:spPr>
            <a:xfrm>
              <a:off x="1677418" y="4130974"/>
              <a:ext cx="240202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dirty="0">
                  <a:solidFill>
                    <a:srgbClr val="FF0000"/>
                  </a:solidFill>
                </a:rPr>
                <a:t>Relevant fluctuations (thermal average)</a:t>
              </a:r>
            </a:p>
          </p:txBody>
        </p:sp>
      </p:grpSp>
      <p:pic>
        <p:nvPicPr>
          <p:cNvPr id="28" name="Graphic 27">
            <a:extLst>
              <a:ext uri="{FF2B5EF4-FFF2-40B4-BE49-F238E27FC236}">
                <a16:creationId xmlns:a16="http://schemas.microsoft.com/office/drawing/2014/main" id="{2740E300-DF3A-4E34-BBC0-DA2220716B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65973" y="2924882"/>
            <a:ext cx="1533859" cy="54492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CD4C5C7-E1D1-4417-A734-C8F732AF74A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8649" y="1953651"/>
            <a:ext cx="4619223" cy="91059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7ABCC3A-4337-4A41-93B5-5A374A68C09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8414" y="4470328"/>
            <a:ext cx="6116514" cy="73434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3AC9B85-408B-4836-8285-F3ECFD4916B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24338" y="3496928"/>
            <a:ext cx="2428774" cy="70943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9E61626-1B5D-42C1-B6A3-E983B0F87EE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25492" y="3558804"/>
            <a:ext cx="2620952" cy="73655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8F7EF719-75EB-483F-B2D0-2D177C8D494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144104" y="5303292"/>
            <a:ext cx="1047896" cy="38105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98F60EF-24B7-4AB1-81AE-7F259CBC46E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48648" y="5816441"/>
            <a:ext cx="5410431" cy="673188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6A41B29-2BF8-42A0-BE53-7E8D4E9401F9}"/>
              </a:ext>
            </a:extLst>
          </p:cNvPr>
          <p:cNvSpPr txBox="1"/>
          <p:nvPr/>
        </p:nvSpPr>
        <p:spPr>
          <a:xfrm>
            <a:off x="6245075" y="2784470"/>
            <a:ext cx="20910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>
                <a:solidFill>
                  <a:srgbClr val="FF0000"/>
                </a:solidFill>
              </a:rPr>
              <a:t>(Low-temperature)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9D75AD2-E892-4296-9059-68D6AA16D1E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0355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E179F-A7CC-4411-8D0D-50CFFDB26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Sommerfeld expansion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58DAF8-88F1-4C76-9349-4BEFBCE21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969" y="4037041"/>
            <a:ext cx="3591426" cy="7811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753AF8-329F-459B-BA47-2D6EEE31B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138" y="2093549"/>
            <a:ext cx="4658375" cy="19580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F20BE4-75D7-49A2-A100-66BDE1C174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391" y="4991309"/>
            <a:ext cx="4848902" cy="8002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46FD6B5-4182-484A-ABFD-C4DB8BD6C2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8582" y="2373239"/>
            <a:ext cx="2657846" cy="43821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3A89326-1F1B-47DD-8DC1-0CAB50AA60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1955" y="3057473"/>
            <a:ext cx="4706007" cy="74305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F9C74C8-54BE-41F6-94D4-0EFE929DF7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1411" y="3887219"/>
            <a:ext cx="4658375" cy="177189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970EFE8-F4CB-48A7-B915-C37C27945F8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66896" y="5963308"/>
            <a:ext cx="971686" cy="40010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CC88297-2C05-4CF1-8E61-8870838D3F3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91470" y="5871411"/>
            <a:ext cx="5200530" cy="67756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7287838-E9F2-4542-8244-548C0A5CB9C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23890" y="5990034"/>
            <a:ext cx="3788110" cy="7467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94FC9EE-9C99-4109-BB6D-50EBA376D9B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7891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ACF2A-2886-45F8-B80B-9AC423AD4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Thermodynamics of idea Fermi gas (T ≠ 0)</a:t>
            </a:r>
            <a:endParaRPr lang="en-MY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13B8A97-FDA4-4BF4-AD63-DF6DAC85A0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304" y="2381264"/>
            <a:ext cx="1910370" cy="8160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2C79E7-B3D8-4B44-9CEE-2FF4DB8A1660}"/>
              </a:ext>
            </a:extLst>
          </p:cNvPr>
          <p:cNvSpPr txBox="1"/>
          <p:nvPr/>
        </p:nvSpPr>
        <p:spPr>
          <a:xfrm>
            <a:off x="379896" y="2067047"/>
            <a:ext cx="1736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Non-relativistic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5EFB83D-88C8-407A-8DFE-92864C0EFFAC}"/>
              </a:ext>
            </a:extLst>
          </p:cNvPr>
          <p:cNvSpPr/>
          <p:nvPr/>
        </p:nvSpPr>
        <p:spPr>
          <a:xfrm>
            <a:off x="470304" y="2472491"/>
            <a:ext cx="1993763" cy="72485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96C473C-FAF0-4760-985D-25FA6AF512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556" y="4144809"/>
            <a:ext cx="5656108" cy="257414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5CE00A7-AD48-4F7A-A26F-63D8F299DB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2168" y="3346891"/>
            <a:ext cx="4032733" cy="892742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A6D9A4CC-4857-4091-AD92-4D7B2430FBE3}"/>
              </a:ext>
            </a:extLst>
          </p:cNvPr>
          <p:cNvGrpSpPr/>
          <p:nvPr/>
        </p:nvGrpSpPr>
        <p:grpSpPr>
          <a:xfrm>
            <a:off x="3834062" y="2772844"/>
            <a:ext cx="1507958" cy="750698"/>
            <a:chOff x="6095999" y="1997720"/>
            <a:chExt cx="1507958" cy="75069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158A766-F332-4F72-8A51-930DFED0E055}"/>
                </a:ext>
              </a:extLst>
            </p:cNvPr>
            <p:cNvSpPr txBox="1"/>
            <p:nvPr/>
          </p:nvSpPr>
          <p:spPr>
            <a:xfrm>
              <a:off x="6375133" y="1997720"/>
              <a:ext cx="11128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T=0 limit</a:t>
              </a:r>
            </a:p>
          </p:txBody>
        </p:sp>
        <p:sp>
          <p:nvSpPr>
            <p:cNvPr id="19" name="Left Brace 18">
              <a:extLst>
                <a:ext uri="{FF2B5EF4-FFF2-40B4-BE49-F238E27FC236}">
                  <a16:creationId xmlns:a16="http://schemas.microsoft.com/office/drawing/2014/main" id="{B6AB9DE9-9CAF-438E-B632-C374C3526685}"/>
                </a:ext>
              </a:extLst>
            </p:cNvPr>
            <p:cNvSpPr/>
            <p:nvPr/>
          </p:nvSpPr>
          <p:spPr>
            <a:xfrm rot="5400000">
              <a:off x="6665313" y="1809774"/>
              <a:ext cx="369330" cy="1507958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67648362-2894-4C22-86B7-B4AEF5017FF8}"/>
              </a:ext>
            </a:extLst>
          </p:cNvPr>
          <p:cNvSpPr txBox="1"/>
          <p:nvPr/>
        </p:nvSpPr>
        <p:spPr>
          <a:xfrm>
            <a:off x="6253738" y="3021210"/>
            <a:ext cx="30349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2000" b="1" dirty="0"/>
              <a:t>Sommerfeld expansion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D7F4A3C-D41E-4C48-B43B-020E1F925F7D}"/>
              </a:ext>
            </a:extLst>
          </p:cNvPr>
          <p:cNvGrpSpPr/>
          <p:nvPr/>
        </p:nvGrpSpPr>
        <p:grpSpPr>
          <a:xfrm>
            <a:off x="1677418" y="4130974"/>
            <a:ext cx="3847483" cy="2141810"/>
            <a:chOff x="1677418" y="4130974"/>
            <a:chExt cx="3847483" cy="2141810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F7EF2F5B-BACB-4640-9961-6685F070950E}"/>
                </a:ext>
              </a:extLst>
            </p:cNvPr>
            <p:cNvSpPr/>
            <p:nvPr/>
          </p:nvSpPr>
          <p:spPr>
            <a:xfrm>
              <a:off x="3522846" y="4523874"/>
              <a:ext cx="2002055" cy="1748910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56232B0-4464-47CF-9796-95E0D933F7C1}"/>
                </a:ext>
              </a:extLst>
            </p:cNvPr>
            <p:cNvSpPr txBox="1"/>
            <p:nvPr/>
          </p:nvSpPr>
          <p:spPr>
            <a:xfrm>
              <a:off x="1677418" y="4130974"/>
              <a:ext cx="240202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dirty="0">
                  <a:solidFill>
                    <a:srgbClr val="FF0000"/>
                  </a:solidFill>
                </a:rPr>
                <a:t>Relevant fluctuations (thermal average)</a:t>
              </a:r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A5FE9605-B8CF-4BAA-B968-5290B932655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45026"/>
          <a:stretch/>
        </p:blipFill>
        <p:spPr>
          <a:xfrm>
            <a:off x="6496310" y="4186142"/>
            <a:ext cx="4293581" cy="1573569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2740E300-DF3A-4E34-BBC0-DA2220716BF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65973" y="2924882"/>
            <a:ext cx="1533859" cy="54492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CD4C5C7-E1D1-4417-A734-C8F732AF74A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8649" y="1953651"/>
            <a:ext cx="4619223" cy="91059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000A485-C38B-48E7-AC98-95F65C8A066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73983" b="-1714"/>
          <a:stretch/>
        </p:blipFill>
        <p:spPr>
          <a:xfrm>
            <a:off x="6351931" y="5857767"/>
            <a:ext cx="4451284" cy="82292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67D6208-457B-47C2-A0B3-D660DEBBB1F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140E65B-2F53-4B2A-AB53-6732D5D0B4D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65708" y="3484016"/>
            <a:ext cx="5200530" cy="677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303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9C464-0EFA-4C85-8FEA-B989F923F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Thermodynamics of idea Fermi gas (T ≠ 0)</a:t>
            </a:r>
            <a:endParaRPr lang="en-MY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EDBA25-3C5C-4FB9-A21F-A34A52080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390" y="2774333"/>
            <a:ext cx="5354980" cy="7616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6A172A-DB6C-45DA-920B-5D269FCA278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1582" b="13212"/>
          <a:stretch/>
        </p:blipFill>
        <p:spPr>
          <a:xfrm>
            <a:off x="4098910" y="5197972"/>
            <a:ext cx="3570507" cy="76166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8CCD5BA-0CF1-4AC0-9AEF-3B6C94699ED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3051"/>
          <a:stretch/>
        </p:blipFill>
        <p:spPr>
          <a:xfrm>
            <a:off x="9180791" y="2820169"/>
            <a:ext cx="2283691" cy="79130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76A0AF6-76DA-4A2C-86E8-89A6322BD73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-1" r="87711" b="1561"/>
          <a:stretch/>
        </p:blipFill>
        <p:spPr>
          <a:xfrm>
            <a:off x="1447800" y="1927161"/>
            <a:ext cx="395691" cy="80094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67DA1A8-57F9-4B15-B272-ACCBFAF2CE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43491" y="1999160"/>
            <a:ext cx="1343212" cy="704948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BDC54F12-F211-46C2-AB38-E9C0668E7C0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116571" y="2155057"/>
            <a:ext cx="447976" cy="447976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22F89EED-428A-4546-A0CA-6F438E526FA2}"/>
              </a:ext>
            </a:extLst>
          </p:cNvPr>
          <p:cNvGrpSpPr/>
          <p:nvPr/>
        </p:nvGrpSpPr>
        <p:grpSpPr>
          <a:xfrm>
            <a:off x="1447800" y="3429001"/>
            <a:ext cx="4913753" cy="1164000"/>
            <a:chOff x="1447800" y="3429001"/>
            <a:chExt cx="4913753" cy="116400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2F2C098-C136-4A9E-BCD1-F82F44964D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447800" y="3812878"/>
              <a:ext cx="3095324" cy="780123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F7548C0-05D2-4A98-9033-D5E5D950A3EF}"/>
                </a:ext>
              </a:extLst>
            </p:cNvPr>
            <p:cNvSpPr txBox="1"/>
            <p:nvPr/>
          </p:nvSpPr>
          <p:spPr>
            <a:xfrm>
              <a:off x="4774131" y="4202939"/>
              <a:ext cx="15874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(zeroth order)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4EB6B202-6010-4C7D-A8F1-41FCE27245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47899" y="3429001"/>
              <a:ext cx="0" cy="5847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AC1A8D96-AD40-4CFF-8600-E1F41FB6C098}"/>
              </a:ext>
            </a:extLst>
          </p:cNvPr>
          <p:cNvSpPr txBox="1"/>
          <p:nvPr/>
        </p:nvSpPr>
        <p:spPr>
          <a:xfrm>
            <a:off x="3564547" y="6189044"/>
            <a:ext cx="4995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>
                <a:solidFill>
                  <a:srgbClr val="FF0000"/>
                </a:solidFill>
              </a:rPr>
              <a:t>Chemical potential is very close to Fermi energy.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ED84C92-24DE-41E2-8F27-7F8C7985602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8917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9C464-0EFA-4C85-8FEA-B989F923F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Thermodynamics of idea Fermi gas (T ≠ 0)</a:t>
            </a:r>
            <a:endParaRPr lang="en-MY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11435E-1978-4DAB-A39C-C23A2CD535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299" y="3612075"/>
            <a:ext cx="4276925" cy="1477484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8CCD5BA-0CF1-4AC0-9AEF-3B6C94699ED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051"/>
          <a:stretch/>
        </p:blipFill>
        <p:spPr>
          <a:xfrm>
            <a:off x="9180791" y="2820169"/>
            <a:ext cx="2283691" cy="7913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C52A535-B789-4FC8-A2C9-1D802BE3EF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0654" y="5242308"/>
            <a:ext cx="3466474" cy="81436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2598C62-F8A4-4629-A30A-EC5559A688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2022" y="6064511"/>
            <a:ext cx="3143737" cy="761666"/>
          </a:xfrm>
          <a:prstGeom prst="rect">
            <a:avLst/>
          </a:prstGeom>
          <a:ln>
            <a:noFill/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F007120-B461-4DA1-9B5D-6EF5826DA05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1881" y="6094125"/>
            <a:ext cx="3667368" cy="732052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D11F9B1-83BC-4ED0-9E8D-C2E875400C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45181" y="6045320"/>
            <a:ext cx="2019301" cy="76166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76A0AF6-76DA-4A2C-86E8-89A6322BD731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-1" r="87711" b="1561"/>
          <a:stretch/>
        </p:blipFill>
        <p:spPr>
          <a:xfrm>
            <a:off x="1581991" y="2178560"/>
            <a:ext cx="395691" cy="80094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67DA1A8-57F9-4B15-B272-ACCBFAF2CE6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77682" y="2250559"/>
            <a:ext cx="1343212" cy="704948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BDC54F12-F211-46C2-AB38-E9C0668E7C0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250762" y="2406456"/>
            <a:ext cx="447976" cy="44797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E633535-1A79-4AEA-A057-0D993F0A54C4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t="21582" b="13212"/>
          <a:stretch/>
        </p:blipFill>
        <p:spPr>
          <a:xfrm>
            <a:off x="4593974" y="2224937"/>
            <a:ext cx="3570507" cy="761666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BF987D8-F6E2-429C-843A-B69BED77D37D}"/>
              </a:ext>
            </a:extLst>
          </p:cNvPr>
          <p:cNvSpPr txBox="1"/>
          <p:nvPr/>
        </p:nvSpPr>
        <p:spPr>
          <a:xfrm>
            <a:off x="1230654" y="3242743"/>
            <a:ext cx="1768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Internal energy: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D0CC17C-4311-4F25-A9EA-D6590788B432}"/>
              </a:ext>
            </a:extLst>
          </p:cNvPr>
          <p:cNvSpPr/>
          <p:nvPr/>
        </p:nvSpPr>
        <p:spPr>
          <a:xfrm>
            <a:off x="4966636" y="4119810"/>
            <a:ext cx="250257" cy="23100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E2F3172-CC09-4DF8-95CC-CD128FA74A9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8621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9C464-0EFA-4C85-8FEA-B989F923F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Thermodynamics of idea Fermi gas (T ≠ 0)</a:t>
            </a:r>
            <a:endParaRPr lang="en-MY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8CCD5BA-0CF1-4AC0-9AEF-3B6C94699ED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051"/>
          <a:stretch/>
        </p:blipFill>
        <p:spPr>
          <a:xfrm>
            <a:off x="9180791" y="2820169"/>
            <a:ext cx="2283691" cy="79130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F007120-B461-4DA1-9B5D-6EF5826DA0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012" y="3251800"/>
            <a:ext cx="4045526" cy="807537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76A0AF6-76DA-4A2C-86E8-89A6322BD73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-1" r="87711" b="1561"/>
          <a:stretch/>
        </p:blipFill>
        <p:spPr>
          <a:xfrm>
            <a:off x="1581991" y="2178560"/>
            <a:ext cx="395691" cy="80094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67DA1A8-57F9-4B15-B272-ACCBFAF2CE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77682" y="2250559"/>
            <a:ext cx="1343212" cy="704948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BDC54F12-F211-46C2-AB38-E9C0668E7C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50762" y="2406456"/>
            <a:ext cx="447976" cy="44797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E633535-1A79-4AEA-A057-0D993F0A54C4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21582" b="13212"/>
          <a:stretch/>
        </p:blipFill>
        <p:spPr>
          <a:xfrm>
            <a:off x="4593974" y="2224937"/>
            <a:ext cx="3570507" cy="76166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44F5C7F-071E-44FA-8918-FEA0A815EE4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69576" y="4317200"/>
            <a:ext cx="2019301" cy="761666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010BEDB-B9A5-4532-A889-DC26E7A06FB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9582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49821-7CAF-41B4-BB3B-B341C5496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electron gas in metals</a:t>
            </a:r>
            <a:endParaRPr lang="en-MY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D886F5-13F3-4509-8BF0-D04604FDD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925" y="2178171"/>
            <a:ext cx="1965039" cy="7082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E4EA5C-AF3F-4D49-971A-C1583F2C92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925" y="3148698"/>
            <a:ext cx="4506109" cy="1966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09E9A4-6F54-4A4C-8F02-11DF25EF4D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3839" y="3950249"/>
            <a:ext cx="1028844" cy="5620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5B4FDDC-9180-45B7-AEA6-4F1F48EB8D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7925" y="4764778"/>
            <a:ext cx="3353268" cy="35247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18F8BDD-12C0-4BE6-84B3-12D420DA22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4559" y="4060583"/>
            <a:ext cx="3458058" cy="24768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590EE5A-D312-4281-AD22-529E99D96C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2617" y="4101490"/>
            <a:ext cx="638264" cy="20957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C575803-42AA-44EA-AAD8-4B115311AD6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7925" y="5455728"/>
            <a:ext cx="3143689" cy="80021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22800D2-7BA1-4652-821C-A243370D9D1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75550" y="4926259"/>
            <a:ext cx="1933845" cy="60015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9497E34-3785-4765-9EBB-CD9793C445A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78491" y="5731992"/>
            <a:ext cx="1562318" cy="52394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03076CC-A81F-405B-81C5-7264E320E58D}"/>
              </a:ext>
            </a:extLst>
          </p:cNvPr>
          <p:cNvSpPr txBox="1"/>
          <p:nvPr/>
        </p:nvSpPr>
        <p:spPr>
          <a:xfrm>
            <a:off x="6096000" y="5526418"/>
            <a:ext cx="746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Total: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8B4665-C45C-4029-8E5E-E599F50F6165}"/>
              </a:ext>
            </a:extLst>
          </p:cNvPr>
          <p:cNvSpPr txBox="1"/>
          <p:nvPr/>
        </p:nvSpPr>
        <p:spPr>
          <a:xfrm>
            <a:off x="6059469" y="4638806"/>
            <a:ext cx="1002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electron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9397BD-9F61-4CED-B22C-DE65C441DF4B}"/>
              </a:ext>
            </a:extLst>
          </p:cNvPr>
          <p:cNvSpPr txBox="1"/>
          <p:nvPr/>
        </p:nvSpPr>
        <p:spPr>
          <a:xfrm>
            <a:off x="7039806" y="6162255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phonon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04FF2B78-8A2D-4C0F-9561-DA7E03317F3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41218" y="2393780"/>
            <a:ext cx="3658111" cy="308653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E598084-5FCA-4B9D-9EB0-84BD2BAD0AC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2514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ACF2A-2886-45F8-B80B-9AC423AD4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Non-interacting Fermion: electrons in metal</a:t>
            </a:r>
            <a:endParaRPr lang="en-MY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13D60A-F80F-41E1-BE95-55D84F746870}"/>
              </a:ext>
            </a:extLst>
          </p:cNvPr>
          <p:cNvSpPr txBox="1"/>
          <p:nvPr/>
        </p:nvSpPr>
        <p:spPr>
          <a:xfrm>
            <a:off x="1135781" y="2165685"/>
            <a:ext cx="34747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Pauli </a:t>
            </a:r>
            <a:r>
              <a:rPr lang="en-US" sz="2000" b="1" dirty="0" err="1"/>
              <a:t>paramagnetism</a:t>
            </a:r>
            <a:r>
              <a:rPr lang="en-US" sz="2000" b="1" dirty="0"/>
              <a:t> (T=0)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A97E60-29D3-462D-9C15-D4BF28470E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171" y="2646648"/>
            <a:ext cx="1971950" cy="7240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61479B0-FA54-4DF4-9467-9CE657C915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9152" y="4053248"/>
            <a:ext cx="2862008" cy="6768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686D2B6-C6D0-4215-A856-D188F88054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9153" y="4935838"/>
            <a:ext cx="2707990" cy="65165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0BF1BCC-30A9-470B-9EF3-DEBB68B26DE6}"/>
              </a:ext>
            </a:extLst>
          </p:cNvPr>
          <p:cNvSpPr txBox="1"/>
          <p:nvPr/>
        </p:nvSpPr>
        <p:spPr>
          <a:xfrm>
            <a:off x="1135781" y="3630139"/>
            <a:ext cx="2775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Splitting  of Fermi energy:</a:t>
            </a:r>
            <a:endParaRPr lang="en-MY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7AFD1E8-860E-4FED-970A-3B9F0D8265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2857" y="3010777"/>
            <a:ext cx="6298090" cy="61936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303D953-A7EC-46A1-92B7-6B5D37943606}"/>
              </a:ext>
            </a:extLst>
          </p:cNvPr>
          <p:cNvSpPr txBox="1"/>
          <p:nvPr/>
        </p:nvSpPr>
        <p:spPr>
          <a:xfrm>
            <a:off x="5330792" y="2565795"/>
            <a:ext cx="1699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Magnetization:</a:t>
            </a:r>
            <a:endParaRPr lang="en-MY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A5EBD7-C8AD-44F5-9FB1-69856E1235DD}"/>
              </a:ext>
            </a:extLst>
          </p:cNvPr>
          <p:cNvSpPr txBox="1"/>
          <p:nvPr/>
        </p:nvSpPr>
        <p:spPr>
          <a:xfrm>
            <a:off x="5330792" y="3683916"/>
            <a:ext cx="159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Susceptibility:</a:t>
            </a:r>
            <a:endParaRPr lang="en-MY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990D4D5-6A41-4524-A7FC-8AA8A42766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7494" y="4053248"/>
            <a:ext cx="3347276" cy="73668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A574061-6311-40F6-BB83-F430A060B7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7877" y="5101257"/>
            <a:ext cx="1753191" cy="624900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2BB7B4E3-BDB9-4A8C-9424-38C722B87B00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13417"/>
          <a:stretch/>
        </p:blipFill>
        <p:spPr>
          <a:xfrm>
            <a:off x="9953914" y="4753892"/>
            <a:ext cx="1896177" cy="65981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066C99F-BB6F-4F88-AFC3-06DA8B470A2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0295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ACF2A-2886-45F8-B80B-9AC423AD4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Non-interacting Fermion: electrons in metal</a:t>
            </a:r>
            <a:endParaRPr lang="en-MY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087014-3DAA-4827-BE14-9CFD8E3F9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8171" y="1924810"/>
            <a:ext cx="4532817" cy="17163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907D0F-A846-4719-B64F-17D38DCF8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640" y="2535017"/>
            <a:ext cx="2724856" cy="8365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71B7295-D09E-44B9-A73C-DE0FEF73A3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0998" y="3473418"/>
            <a:ext cx="1334151" cy="5467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D3D5821-85C8-4A17-BFDF-B0B66934E8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7261" y="3733260"/>
            <a:ext cx="2749195" cy="54026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777E79D-3AFA-410C-990F-77322D2299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5102" y="4437713"/>
            <a:ext cx="7920324" cy="101655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B0B5D09-0438-44B3-BB5A-F341743A7D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90585" y="5644429"/>
            <a:ext cx="7047928" cy="49538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479ED9B-4876-4145-8E4C-8B59A39200FC}"/>
              </a:ext>
            </a:extLst>
          </p:cNvPr>
          <p:cNvSpPr txBox="1"/>
          <p:nvPr/>
        </p:nvSpPr>
        <p:spPr>
          <a:xfrm>
            <a:off x="1135781" y="2165685"/>
            <a:ext cx="34747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Pauli </a:t>
            </a:r>
            <a:r>
              <a:rPr lang="en-US" sz="2000" b="1" dirty="0" err="1"/>
              <a:t>paramagnetism</a:t>
            </a:r>
            <a:r>
              <a:rPr lang="en-US" sz="2000" b="1" dirty="0"/>
              <a:t> (T≠0)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F173FE0-BBA5-421A-9D7A-AA415A2A20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9171" y="2646648"/>
            <a:ext cx="1971950" cy="7240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0A69856-66C1-4170-8621-00888E9EE14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2130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ACF2A-2886-45F8-B80B-9AC423AD4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Non-interacting Fermion: electrons in metal</a:t>
            </a:r>
            <a:endParaRPr lang="en-MY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777E79D-3AFA-410C-990F-77322D229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031" y="2724416"/>
            <a:ext cx="7920324" cy="10165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479ED9B-4876-4145-8E4C-8B59A39200FC}"/>
              </a:ext>
            </a:extLst>
          </p:cNvPr>
          <p:cNvSpPr txBox="1"/>
          <p:nvPr/>
        </p:nvSpPr>
        <p:spPr>
          <a:xfrm>
            <a:off x="1135781" y="2165685"/>
            <a:ext cx="34747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Pauli </a:t>
            </a:r>
            <a:r>
              <a:rPr lang="en-US" sz="2000" b="1" dirty="0" err="1"/>
              <a:t>paramagnetism</a:t>
            </a:r>
            <a:r>
              <a:rPr lang="en-US" sz="2000" b="1" dirty="0"/>
              <a:t> (T≠0)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F173FE0-BBA5-421A-9D7A-AA415A2A2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171" y="2646648"/>
            <a:ext cx="1971950" cy="7240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3A14D2E-8060-4B88-8232-82520C86B4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9234" y="3899588"/>
            <a:ext cx="5017507" cy="701536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6EF5C8D6-C387-4774-BD36-592F881100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55241" y="4015791"/>
            <a:ext cx="2465493" cy="58533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5952BFE-77F6-41A2-8243-C4AA6DE108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78609" y="4954679"/>
            <a:ext cx="4832423" cy="68937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8777822-C228-4C0D-964C-AEC4AFF05C6C}"/>
              </a:ext>
            </a:extLst>
          </p:cNvPr>
          <p:cNvSpPr txBox="1"/>
          <p:nvPr/>
        </p:nvSpPr>
        <p:spPr>
          <a:xfrm>
            <a:off x="1129225" y="4494511"/>
            <a:ext cx="3698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Keep the largest term in the sum</a:t>
            </a:r>
            <a:endParaRPr lang="en-MY" b="1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0E411EC-9B1E-4D60-AACD-5EA6B59AA5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76905" y="5721716"/>
            <a:ext cx="3014517" cy="391495"/>
          </a:xfrm>
          <a:prstGeom prst="rect">
            <a:avLst/>
          </a:prstGeom>
        </p:spPr>
      </p:pic>
      <p:sp>
        <p:nvSpPr>
          <p:cNvPr id="3" name="Right Brace 2">
            <a:extLst>
              <a:ext uri="{FF2B5EF4-FFF2-40B4-BE49-F238E27FC236}">
                <a16:creationId xmlns:a16="http://schemas.microsoft.com/office/drawing/2014/main" id="{E2FEA451-6A21-4FB3-A2D0-CDE7C6821B8C}"/>
              </a:ext>
            </a:extLst>
          </p:cNvPr>
          <p:cNvSpPr/>
          <p:nvPr/>
        </p:nvSpPr>
        <p:spPr>
          <a:xfrm rot="16200000">
            <a:off x="7754854" y="1755283"/>
            <a:ext cx="400110" cy="197194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7EBE694-ADA3-4A27-A6EA-DA1AD55B4C3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19912" y="2070289"/>
            <a:ext cx="2483970" cy="4163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5325B0D-6E0C-40C7-B9DC-121C1E9BE42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4282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ACF2A-2886-45F8-B80B-9AC423AD4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Non-interacting Fermion: electrons in metal</a:t>
            </a:r>
            <a:endParaRPr lang="en-MY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79ED9B-4876-4145-8E4C-8B59A39200FC}"/>
              </a:ext>
            </a:extLst>
          </p:cNvPr>
          <p:cNvSpPr txBox="1"/>
          <p:nvPr/>
        </p:nvSpPr>
        <p:spPr>
          <a:xfrm>
            <a:off x="1135781" y="2165685"/>
            <a:ext cx="34747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Pauli </a:t>
            </a:r>
            <a:r>
              <a:rPr lang="en-US" sz="2000" b="1" dirty="0" err="1"/>
              <a:t>paramagnetism</a:t>
            </a:r>
            <a:r>
              <a:rPr lang="en-US" sz="2000" b="1" dirty="0"/>
              <a:t> (T≠0)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F173FE0-BBA5-421A-9D7A-AA415A2A2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171" y="2646648"/>
            <a:ext cx="1971950" cy="72400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8777822-C228-4C0D-964C-AEC4AFF05C6C}"/>
              </a:ext>
            </a:extLst>
          </p:cNvPr>
          <p:cNvSpPr txBox="1"/>
          <p:nvPr/>
        </p:nvSpPr>
        <p:spPr>
          <a:xfrm>
            <a:off x="5493724" y="2461982"/>
            <a:ext cx="3153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The most probable N</a:t>
            </a:r>
            <a:r>
              <a:rPr lang="en-US" b="1" baseline="30000" dirty="0"/>
              <a:t>+</a:t>
            </a:r>
            <a:r>
              <a:rPr lang="en-US" b="1" dirty="0"/>
              <a:t> term</a:t>
            </a:r>
            <a:endParaRPr lang="en-MY" b="1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0E411EC-9B1E-4D60-AACD-5EA6B59AA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164" y="2838738"/>
            <a:ext cx="3014517" cy="39149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D328736-2C33-4CE6-B5BD-DB92AC757A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3206" y="3697847"/>
            <a:ext cx="4320484" cy="45811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89EF099-CE05-40B5-B35B-E517C51A5F94}"/>
              </a:ext>
            </a:extLst>
          </p:cNvPr>
          <p:cNvSpPr txBox="1"/>
          <p:nvPr/>
        </p:nvSpPr>
        <p:spPr>
          <a:xfrm>
            <a:off x="1375319" y="3786628"/>
            <a:ext cx="1779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Magnetization</a:t>
            </a:r>
            <a:endParaRPr lang="en-MY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8F47CD-9218-43B6-A684-01806AC1F6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9025" y="3627768"/>
            <a:ext cx="3014821" cy="561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211510-0ED0-49AB-8B37-8561880A16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7630" y="4444329"/>
            <a:ext cx="2979296" cy="7949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2A1CDD-2647-41BB-A99A-1CE8126063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68045" y="4230424"/>
            <a:ext cx="1444284" cy="71215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43B2417-2567-46C8-BCEE-9FEF107C6228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28924"/>
          <a:stretch/>
        </p:blipFill>
        <p:spPr>
          <a:xfrm>
            <a:off x="8199628" y="5004259"/>
            <a:ext cx="2537787" cy="116807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09043A2-1366-4DC2-A208-69E04370A23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38658" y="5588298"/>
            <a:ext cx="2286534" cy="841623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1889F0C4-B4F2-4372-A0FA-E344DE2A016A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13417"/>
          <a:stretch/>
        </p:blipFill>
        <p:spPr>
          <a:xfrm>
            <a:off x="8898681" y="6110659"/>
            <a:ext cx="1896177" cy="6598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B0A268-967B-4ADF-AD7C-AE59D8B2087E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t="12357"/>
          <a:stretch/>
        </p:blipFill>
        <p:spPr>
          <a:xfrm>
            <a:off x="8089430" y="4543663"/>
            <a:ext cx="2229161" cy="53434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B0D1AD2-EB4F-4E64-8DF5-FBDA974A3F5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1665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Custom 1">
      <a:majorFont>
        <a:latin typeface="Cambria"/>
        <a:ea typeface=""/>
        <a:cs typeface=""/>
      </a:majorFont>
      <a:minorFont>
        <a:latin typeface="Constantia"/>
        <a:ea typeface=""/>
        <a:cs typeface="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50534</TotalTime>
  <Words>772</Words>
  <Application>Microsoft Office PowerPoint</Application>
  <PresentationFormat>Widescreen</PresentationFormat>
  <Paragraphs>170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Arial</vt:lpstr>
      <vt:lpstr>Calibri</vt:lpstr>
      <vt:lpstr>Cambria</vt:lpstr>
      <vt:lpstr>Constantia</vt:lpstr>
      <vt:lpstr>Tw Cen MT</vt:lpstr>
      <vt:lpstr>Wingdings 3</vt:lpstr>
      <vt:lpstr>Integral</vt:lpstr>
      <vt:lpstr>Statistical physics phy301</vt:lpstr>
      <vt:lpstr>Non-interacting: bose gas (Nonrelativistic)</vt:lpstr>
      <vt:lpstr>Non-interacting: bose gas (Nonrelativistic)</vt:lpstr>
      <vt:lpstr>Idea bose gas: Thermodynamics</vt:lpstr>
      <vt:lpstr>Idea bose gas: Thermodynamics</vt:lpstr>
      <vt:lpstr>Non-interacting bose gas: Bose-einstein condensation</vt:lpstr>
      <vt:lpstr>Non-interacting bose gas: Bose-einstein condensation</vt:lpstr>
      <vt:lpstr>Non-interacting: bose gas Bose-einstein condensation</vt:lpstr>
      <vt:lpstr>Non-interacting: bose gas Bose-einstein condensation</vt:lpstr>
      <vt:lpstr>Possible reason for bose-Einstein condensation</vt:lpstr>
      <vt:lpstr>What is the condition for BEC</vt:lpstr>
      <vt:lpstr>Atomic gas in optical trap</vt:lpstr>
      <vt:lpstr>Superfluid in He4</vt:lpstr>
      <vt:lpstr>Non-interacting bosons: Black body (cavity EM fields) </vt:lpstr>
      <vt:lpstr>Non-interacting bosons: Phonon (Lattice vibrations) </vt:lpstr>
      <vt:lpstr>Non-interacting bosons: Phonon (Lattice vibrations) </vt:lpstr>
      <vt:lpstr>Statistics for Non-interacting bosons</vt:lpstr>
      <vt:lpstr>Phonon in real materials</vt:lpstr>
      <vt:lpstr>Statistical physics phy301</vt:lpstr>
      <vt:lpstr>Non-interacting Fermi gas (Nonrelativistic)</vt:lpstr>
      <vt:lpstr>Thermodynamics of idea Fermi gas (Any temperature)</vt:lpstr>
      <vt:lpstr>Thermodynamics of idea Fermi gas</vt:lpstr>
      <vt:lpstr>Thermodynamics of idea Fermi gas (T=0)</vt:lpstr>
      <vt:lpstr>Thermodynamics of idea Fermi gas (T=0)</vt:lpstr>
      <vt:lpstr>Thermodynamics of idea Fermi gas (Low-temperature)</vt:lpstr>
      <vt:lpstr>Sommerfeld expansion</vt:lpstr>
      <vt:lpstr>Thermodynamics of idea Fermi gas (T ≠ 0)</vt:lpstr>
      <vt:lpstr>Thermodynamics of idea Fermi gas (T ≠ 0)</vt:lpstr>
      <vt:lpstr>Thermodynamics of idea Fermi gas (T ≠ 0)</vt:lpstr>
      <vt:lpstr>Thermodynamics of idea Fermi gas (T ≠ 0)</vt:lpstr>
      <vt:lpstr>The electron gas in metals</vt:lpstr>
      <vt:lpstr>Non-interacting Fermion: electrons in metal</vt:lpstr>
      <vt:lpstr>Non-interacting Fermion: electrons in metal</vt:lpstr>
      <vt:lpstr>Non-interacting Fermion: electrons in metal</vt:lpstr>
      <vt:lpstr>Non-interacting Fermion: electrons in metal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Mechanics phy101</dc:title>
  <dc:creator>Kok Wee Song</dc:creator>
  <cp:lastModifiedBy>Song Kok Wee</cp:lastModifiedBy>
  <cp:revision>1673</cp:revision>
  <dcterms:created xsi:type="dcterms:W3CDTF">2024-08-25T23:32:26Z</dcterms:created>
  <dcterms:modified xsi:type="dcterms:W3CDTF">2025-10-29T12:03:39Z</dcterms:modified>
</cp:coreProperties>
</file>