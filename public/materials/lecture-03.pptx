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9"/>
  </p:notesMasterIdLst>
  <p:sldIdLst>
    <p:sldId id="266" r:id="rId2"/>
    <p:sldId id="298" r:id="rId3"/>
    <p:sldId id="313" r:id="rId4"/>
    <p:sldId id="315" r:id="rId5"/>
    <p:sldId id="316" r:id="rId6"/>
    <p:sldId id="321" r:id="rId7"/>
    <p:sldId id="317" r:id="rId8"/>
    <p:sldId id="322" r:id="rId9"/>
    <p:sldId id="323" r:id="rId10"/>
    <p:sldId id="320" r:id="rId11"/>
    <p:sldId id="324" r:id="rId12"/>
    <p:sldId id="325" r:id="rId13"/>
    <p:sldId id="326" r:id="rId14"/>
    <p:sldId id="428" r:id="rId15"/>
    <p:sldId id="429" r:id="rId16"/>
    <p:sldId id="327" r:id="rId17"/>
    <p:sldId id="329" r:id="rId18"/>
    <p:sldId id="330" r:id="rId19"/>
    <p:sldId id="331" r:id="rId20"/>
    <p:sldId id="332" r:id="rId21"/>
    <p:sldId id="333" r:id="rId22"/>
    <p:sldId id="328" r:id="rId23"/>
    <p:sldId id="414" r:id="rId24"/>
    <p:sldId id="334" r:id="rId25"/>
    <p:sldId id="411" r:id="rId26"/>
    <p:sldId id="412" r:id="rId27"/>
    <p:sldId id="41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png"/><Relationship Id="rId5" Type="http://schemas.openxmlformats.org/officeDocument/2006/relationships/image" Target="../media/image5.emf"/><Relationship Id="rId10" Type="http://schemas.openxmlformats.org/officeDocument/2006/relationships/image" Target="../media/image10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3.svg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12" Type="http://schemas.openxmlformats.org/officeDocument/2006/relationships/image" Target="../media/image22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11" Type="http://schemas.openxmlformats.org/officeDocument/2006/relationships/image" Target="../media/image21.svg"/><Relationship Id="rId5" Type="http://schemas.openxmlformats.org/officeDocument/2006/relationships/image" Target="../media/image15.emf"/><Relationship Id="rId10" Type="http://schemas.openxmlformats.org/officeDocument/2006/relationships/image" Target="../media/image20.png"/><Relationship Id="rId4" Type="http://schemas.openxmlformats.org/officeDocument/2006/relationships/image" Target="../media/image14.emf"/><Relationship Id="rId9" Type="http://schemas.openxmlformats.org/officeDocument/2006/relationships/image" Target="../media/image19.emf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image" Target="../media/image11.png"/><Relationship Id="rId3" Type="http://schemas.openxmlformats.org/officeDocument/2006/relationships/image" Target="../media/image12.emf"/><Relationship Id="rId7" Type="http://schemas.openxmlformats.org/officeDocument/2006/relationships/image" Target="../media/image25.emf"/><Relationship Id="rId12" Type="http://schemas.openxmlformats.org/officeDocument/2006/relationships/image" Target="../media/image29.sv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11" Type="http://schemas.openxmlformats.org/officeDocument/2006/relationships/image" Target="../media/image28.png"/><Relationship Id="rId5" Type="http://schemas.openxmlformats.org/officeDocument/2006/relationships/image" Target="../media/image16.emf"/><Relationship Id="rId10" Type="http://schemas.openxmlformats.org/officeDocument/2006/relationships/image" Target="../media/image19.emf"/><Relationship Id="rId4" Type="http://schemas.openxmlformats.org/officeDocument/2006/relationships/image" Target="../media/image13.emf"/><Relationship Id="rId9" Type="http://schemas.openxmlformats.org/officeDocument/2006/relationships/image" Target="../media/image2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13.emf"/><Relationship Id="rId7" Type="http://schemas.openxmlformats.org/officeDocument/2006/relationships/image" Target="../media/image30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11" Type="http://schemas.openxmlformats.org/officeDocument/2006/relationships/image" Target="../media/image11.png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6.emf"/><Relationship Id="rId9" Type="http://schemas.openxmlformats.org/officeDocument/2006/relationships/image" Target="../media/image3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png"/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12" Type="http://schemas.openxmlformats.org/officeDocument/2006/relationships/image" Target="../media/image37.sv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36.png"/><Relationship Id="rId5" Type="http://schemas.openxmlformats.org/officeDocument/2006/relationships/image" Target="../media/image3.emf"/><Relationship Id="rId10" Type="http://schemas.openxmlformats.org/officeDocument/2006/relationships/image" Target="../media/image35.emf"/><Relationship Id="rId4" Type="http://schemas.openxmlformats.org/officeDocument/2006/relationships/image" Target="../media/image7.emf"/><Relationship Id="rId9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12" Type="http://schemas.openxmlformats.org/officeDocument/2006/relationships/image" Target="../media/image1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11" Type="http://schemas.openxmlformats.org/officeDocument/2006/relationships/image" Target="../media/image46.emf"/><Relationship Id="rId5" Type="http://schemas.openxmlformats.org/officeDocument/2006/relationships/image" Target="../media/image40.emf"/><Relationship Id="rId10" Type="http://schemas.openxmlformats.org/officeDocument/2006/relationships/image" Target="../media/image45.emf"/><Relationship Id="rId4" Type="http://schemas.openxmlformats.org/officeDocument/2006/relationships/image" Target="../media/image39.emf"/><Relationship Id="rId9" Type="http://schemas.openxmlformats.org/officeDocument/2006/relationships/image" Target="../media/image4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8.emf"/><Relationship Id="rId7" Type="http://schemas.openxmlformats.org/officeDocument/2006/relationships/image" Target="../media/image25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18.emf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10" Type="http://schemas.openxmlformats.org/officeDocument/2006/relationships/image" Target="../media/image11.png"/><Relationship Id="rId4" Type="http://schemas.openxmlformats.org/officeDocument/2006/relationships/image" Target="../media/image52.emf"/><Relationship Id="rId9" Type="http://schemas.openxmlformats.org/officeDocument/2006/relationships/image" Target="../media/image5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image" Target="../media/image59.emf"/><Relationship Id="rId7" Type="http://schemas.openxmlformats.org/officeDocument/2006/relationships/image" Target="../media/image63.emf"/><Relationship Id="rId12" Type="http://schemas.openxmlformats.org/officeDocument/2006/relationships/image" Target="../media/image11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image" Target="../media/image67.emf"/><Relationship Id="rId5" Type="http://schemas.openxmlformats.org/officeDocument/2006/relationships/image" Target="../media/image61.emf"/><Relationship Id="rId10" Type="http://schemas.openxmlformats.org/officeDocument/2006/relationships/image" Target="../media/image66.emf"/><Relationship Id="rId4" Type="http://schemas.openxmlformats.org/officeDocument/2006/relationships/image" Target="../media/image60.emf"/><Relationship Id="rId9" Type="http://schemas.openxmlformats.org/officeDocument/2006/relationships/image" Target="../media/image6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image" Target="../media/image61.emf"/><Relationship Id="rId3" Type="http://schemas.openxmlformats.org/officeDocument/2006/relationships/image" Target="../media/image59.emf"/><Relationship Id="rId7" Type="http://schemas.openxmlformats.org/officeDocument/2006/relationships/image" Target="../media/image68.emf"/><Relationship Id="rId12" Type="http://schemas.openxmlformats.org/officeDocument/2006/relationships/image" Target="../media/image67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11" Type="http://schemas.openxmlformats.org/officeDocument/2006/relationships/image" Target="../media/image66.emf"/><Relationship Id="rId5" Type="http://schemas.openxmlformats.org/officeDocument/2006/relationships/image" Target="../media/image62.emf"/><Relationship Id="rId15" Type="http://schemas.openxmlformats.org/officeDocument/2006/relationships/image" Target="../media/image11.png"/><Relationship Id="rId10" Type="http://schemas.openxmlformats.org/officeDocument/2006/relationships/image" Target="../media/image71.emf"/><Relationship Id="rId4" Type="http://schemas.openxmlformats.org/officeDocument/2006/relationships/image" Target="../media/image60.emf"/><Relationship Id="rId9" Type="http://schemas.openxmlformats.org/officeDocument/2006/relationships/image" Target="../media/image70.emf"/><Relationship Id="rId14" Type="http://schemas.openxmlformats.org/officeDocument/2006/relationships/image" Target="../media/image7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image" Target="../media/image75.emf"/><Relationship Id="rId3" Type="http://schemas.openxmlformats.org/officeDocument/2006/relationships/image" Target="../media/image59.emf"/><Relationship Id="rId7" Type="http://schemas.openxmlformats.org/officeDocument/2006/relationships/image" Target="../media/image72.emf"/><Relationship Id="rId12" Type="http://schemas.openxmlformats.org/officeDocument/2006/relationships/image" Target="../media/image74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image" Target="../media/image63.emf"/><Relationship Id="rId5" Type="http://schemas.openxmlformats.org/officeDocument/2006/relationships/image" Target="../media/image60.emf"/><Relationship Id="rId15" Type="http://schemas.openxmlformats.org/officeDocument/2006/relationships/image" Target="../media/image11.png"/><Relationship Id="rId10" Type="http://schemas.openxmlformats.org/officeDocument/2006/relationships/image" Target="../media/image66.emf"/><Relationship Id="rId4" Type="http://schemas.openxmlformats.org/officeDocument/2006/relationships/image" Target="../media/image61.emf"/><Relationship Id="rId9" Type="http://schemas.openxmlformats.org/officeDocument/2006/relationships/image" Target="../media/image58.emf"/><Relationship Id="rId14" Type="http://schemas.openxmlformats.org/officeDocument/2006/relationships/image" Target="../media/image7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image" Target="../media/image78.emf"/><Relationship Id="rId18" Type="http://schemas.openxmlformats.org/officeDocument/2006/relationships/image" Target="../media/image11.png"/><Relationship Id="rId3" Type="http://schemas.openxmlformats.org/officeDocument/2006/relationships/image" Target="../media/image59.emf"/><Relationship Id="rId7" Type="http://schemas.openxmlformats.org/officeDocument/2006/relationships/image" Target="../media/image66.emf"/><Relationship Id="rId12" Type="http://schemas.openxmlformats.org/officeDocument/2006/relationships/image" Target="../media/image77.emf"/><Relationship Id="rId17" Type="http://schemas.openxmlformats.org/officeDocument/2006/relationships/image" Target="../media/image82.emf"/><Relationship Id="rId2" Type="http://schemas.openxmlformats.org/officeDocument/2006/relationships/image" Target="../media/image58.emf"/><Relationship Id="rId16" Type="http://schemas.openxmlformats.org/officeDocument/2006/relationships/image" Target="../media/image8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image" Target="../media/image76.emf"/><Relationship Id="rId5" Type="http://schemas.openxmlformats.org/officeDocument/2006/relationships/image" Target="../media/image61.emf"/><Relationship Id="rId15" Type="http://schemas.openxmlformats.org/officeDocument/2006/relationships/image" Target="../media/image80.png"/><Relationship Id="rId10" Type="http://schemas.openxmlformats.org/officeDocument/2006/relationships/image" Target="../media/image71.emf"/><Relationship Id="rId4" Type="http://schemas.openxmlformats.org/officeDocument/2006/relationships/image" Target="../media/image60.emf"/><Relationship Id="rId9" Type="http://schemas.openxmlformats.org/officeDocument/2006/relationships/image" Target="../media/image63.emf"/><Relationship Id="rId14" Type="http://schemas.openxmlformats.org/officeDocument/2006/relationships/image" Target="../media/image79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sv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21" Type="http://schemas.openxmlformats.org/officeDocument/2006/relationships/image" Target="../media/image102.svg"/><Relationship Id="rId34" Type="http://schemas.openxmlformats.org/officeDocument/2006/relationships/image" Target="../media/image115.png"/><Relationship Id="rId7" Type="http://schemas.openxmlformats.org/officeDocument/2006/relationships/image" Target="../media/image88.svg"/><Relationship Id="rId12" Type="http://schemas.openxmlformats.org/officeDocument/2006/relationships/image" Target="../media/image93.png"/><Relationship Id="rId17" Type="http://schemas.openxmlformats.org/officeDocument/2006/relationships/image" Target="../media/image98.svg"/><Relationship Id="rId25" Type="http://schemas.openxmlformats.org/officeDocument/2006/relationships/image" Target="../media/image106.svg"/><Relationship Id="rId33" Type="http://schemas.openxmlformats.org/officeDocument/2006/relationships/image" Target="../media/image114.svg"/><Relationship Id="rId38" Type="http://schemas.openxmlformats.org/officeDocument/2006/relationships/image" Target="../media/image11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29" Type="http://schemas.openxmlformats.org/officeDocument/2006/relationships/image" Target="../media/image1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svg"/><Relationship Id="rId24" Type="http://schemas.openxmlformats.org/officeDocument/2006/relationships/image" Target="../media/image105.png"/><Relationship Id="rId32" Type="http://schemas.openxmlformats.org/officeDocument/2006/relationships/image" Target="../media/image113.png"/><Relationship Id="rId37" Type="http://schemas.openxmlformats.org/officeDocument/2006/relationships/image" Target="../media/image118.svg"/><Relationship Id="rId5" Type="http://schemas.openxmlformats.org/officeDocument/2006/relationships/image" Target="../media/image86.svg"/><Relationship Id="rId15" Type="http://schemas.openxmlformats.org/officeDocument/2006/relationships/image" Target="../media/image96.svg"/><Relationship Id="rId23" Type="http://schemas.openxmlformats.org/officeDocument/2006/relationships/image" Target="../media/image104.svg"/><Relationship Id="rId28" Type="http://schemas.openxmlformats.org/officeDocument/2006/relationships/image" Target="../media/image109.png"/><Relationship Id="rId36" Type="http://schemas.openxmlformats.org/officeDocument/2006/relationships/image" Target="../media/image117.png"/><Relationship Id="rId10" Type="http://schemas.openxmlformats.org/officeDocument/2006/relationships/image" Target="../media/image91.png"/><Relationship Id="rId19" Type="http://schemas.openxmlformats.org/officeDocument/2006/relationships/image" Target="../media/image100.svg"/><Relationship Id="rId31" Type="http://schemas.openxmlformats.org/officeDocument/2006/relationships/image" Target="../media/image112.svg"/><Relationship Id="rId4" Type="http://schemas.openxmlformats.org/officeDocument/2006/relationships/image" Target="../media/image85.png"/><Relationship Id="rId9" Type="http://schemas.openxmlformats.org/officeDocument/2006/relationships/image" Target="../media/image90.sv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Relationship Id="rId27" Type="http://schemas.openxmlformats.org/officeDocument/2006/relationships/image" Target="../media/image108.svg"/><Relationship Id="rId30" Type="http://schemas.openxmlformats.org/officeDocument/2006/relationships/image" Target="../media/image111.png"/><Relationship Id="rId35" Type="http://schemas.openxmlformats.org/officeDocument/2006/relationships/image" Target="../media/image116.svg"/><Relationship Id="rId8" Type="http://schemas.openxmlformats.org/officeDocument/2006/relationships/image" Target="../media/image89.png"/><Relationship Id="rId3" Type="http://schemas.openxmlformats.org/officeDocument/2006/relationships/image" Target="../media/image84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sv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3" Type="http://schemas.openxmlformats.org/officeDocument/2006/relationships/image" Target="../media/image84.svg"/><Relationship Id="rId21" Type="http://schemas.openxmlformats.org/officeDocument/2006/relationships/image" Target="../media/image102.svg"/><Relationship Id="rId34" Type="http://schemas.openxmlformats.org/officeDocument/2006/relationships/image" Target="../media/image121.png"/><Relationship Id="rId7" Type="http://schemas.openxmlformats.org/officeDocument/2006/relationships/image" Target="../media/image88.svg"/><Relationship Id="rId12" Type="http://schemas.openxmlformats.org/officeDocument/2006/relationships/image" Target="../media/image93.png"/><Relationship Id="rId17" Type="http://schemas.openxmlformats.org/officeDocument/2006/relationships/image" Target="../media/image98.svg"/><Relationship Id="rId25" Type="http://schemas.openxmlformats.org/officeDocument/2006/relationships/image" Target="../media/image106.svg"/><Relationship Id="rId33" Type="http://schemas.openxmlformats.org/officeDocument/2006/relationships/image" Target="../media/image120.sv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29" Type="http://schemas.openxmlformats.org/officeDocument/2006/relationships/image" Target="../media/image1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svg"/><Relationship Id="rId24" Type="http://schemas.openxmlformats.org/officeDocument/2006/relationships/image" Target="../media/image105.png"/><Relationship Id="rId32" Type="http://schemas.openxmlformats.org/officeDocument/2006/relationships/image" Target="../media/image119.png"/><Relationship Id="rId5" Type="http://schemas.openxmlformats.org/officeDocument/2006/relationships/image" Target="../media/image86.svg"/><Relationship Id="rId15" Type="http://schemas.openxmlformats.org/officeDocument/2006/relationships/image" Target="../media/image96.svg"/><Relationship Id="rId23" Type="http://schemas.openxmlformats.org/officeDocument/2006/relationships/image" Target="../media/image104.svg"/><Relationship Id="rId28" Type="http://schemas.openxmlformats.org/officeDocument/2006/relationships/image" Target="../media/image109.png"/><Relationship Id="rId36" Type="http://schemas.openxmlformats.org/officeDocument/2006/relationships/image" Target="../media/image11.png"/><Relationship Id="rId10" Type="http://schemas.openxmlformats.org/officeDocument/2006/relationships/image" Target="../media/image91.png"/><Relationship Id="rId19" Type="http://schemas.openxmlformats.org/officeDocument/2006/relationships/image" Target="../media/image100.svg"/><Relationship Id="rId31" Type="http://schemas.openxmlformats.org/officeDocument/2006/relationships/image" Target="../media/image112.svg"/><Relationship Id="rId4" Type="http://schemas.openxmlformats.org/officeDocument/2006/relationships/image" Target="../media/image85.png"/><Relationship Id="rId9" Type="http://schemas.openxmlformats.org/officeDocument/2006/relationships/image" Target="../media/image90.sv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Relationship Id="rId27" Type="http://schemas.openxmlformats.org/officeDocument/2006/relationships/image" Target="../media/image108.svg"/><Relationship Id="rId30" Type="http://schemas.openxmlformats.org/officeDocument/2006/relationships/image" Target="../media/image111.png"/><Relationship Id="rId35" Type="http://schemas.openxmlformats.org/officeDocument/2006/relationships/image" Target="../media/image122.svg"/><Relationship Id="rId8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emf"/><Relationship Id="rId7" Type="http://schemas.openxmlformats.org/officeDocument/2006/relationships/image" Target="../media/image128.emf"/><Relationship Id="rId12" Type="http://schemas.openxmlformats.org/officeDocument/2006/relationships/image" Target="../media/image11.png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emf"/><Relationship Id="rId11" Type="http://schemas.openxmlformats.org/officeDocument/2006/relationships/image" Target="../media/image132.svg"/><Relationship Id="rId5" Type="http://schemas.openxmlformats.org/officeDocument/2006/relationships/image" Target="../media/image126.emf"/><Relationship Id="rId10" Type="http://schemas.openxmlformats.org/officeDocument/2006/relationships/image" Target="../media/image131.png"/><Relationship Id="rId4" Type="http://schemas.openxmlformats.org/officeDocument/2006/relationships/image" Target="../media/image125.emf"/><Relationship Id="rId9" Type="http://schemas.openxmlformats.org/officeDocument/2006/relationships/image" Target="../media/image13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13" Type="http://schemas.openxmlformats.org/officeDocument/2006/relationships/image" Target="../media/image138.png"/><Relationship Id="rId3" Type="http://schemas.openxmlformats.org/officeDocument/2006/relationships/image" Target="../media/image124.emf"/><Relationship Id="rId7" Type="http://schemas.openxmlformats.org/officeDocument/2006/relationships/image" Target="../media/image128.emf"/><Relationship Id="rId12" Type="http://schemas.openxmlformats.org/officeDocument/2006/relationships/image" Target="../media/image137.svg"/><Relationship Id="rId17" Type="http://schemas.openxmlformats.org/officeDocument/2006/relationships/image" Target="../media/image11.png"/><Relationship Id="rId2" Type="http://schemas.openxmlformats.org/officeDocument/2006/relationships/image" Target="../media/image123.emf"/><Relationship Id="rId16" Type="http://schemas.openxmlformats.org/officeDocument/2006/relationships/image" Target="../media/image1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emf"/><Relationship Id="rId11" Type="http://schemas.openxmlformats.org/officeDocument/2006/relationships/image" Target="../media/image136.png"/><Relationship Id="rId5" Type="http://schemas.openxmlformats.org/officeDocument/2006/relationships/image" Target="../media/image127.emf"/><Relationship Id="rId15" Type="http://schemas.openxmlformats.org/officeDocument/2006/relationships/image" Target="../media/image140.png"/><Relationship Id="rId10" Type="http://schemas.openxmlformats.org/officeDocument/2006/relationships/image" Target="../media/image135.svg"/><Relationship Id="rId4" Type="http://schemas.openxmlformats.org/officeDocument/2006/relationships/image" Target="../media/image125.emf"/><Relationship Id="rId9" Type="http://schemas.openxmlformats.org/officeDocument/2006/relationships/image" Target="../media/image134.png"/><Relationship Id="rId14" Type="http://schemas.openxmlformats.org/officeDocument/2006/relationships/image" Target="../media/image13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svg"/><Relationship Id="rId3" Type="http://schemas.openxmlformats.org/officeDocument/2006/relationships/image" Target="../media/image143.emf"/><Relationship Id="rId7" Type="http://schemas.openxmlformats.org/officeDocument/2006/relationships/image" Target="../media/image147.png"/><Relationship Id="rId2" Type="http://schemas.openxmlformats.org/officeDocument/2006/relationships/image" Target="../media/image14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svg"/><Relationship Id="rId11" Type="http://schemas.openxmlformats.org/officeDocument/2006/relationships/image" Target="../media/image11.png"/><Relationship Id="rId5" Type="http://schemas.openxmlformats.org/officeDocument/2006/relationships/image" Target="../media/image145.png"/><Relationship Id="rId10" Type="http://schemas.openxmlformats.org/officeDocument/2006/relationships/image" Target="../media/image150.svg"/><Relationship Id="rId4" Type="http://schemas.openxmlformats.org/officeDocument/2006/relationships/image" Target="../media/image144.emf"/><Relationship Id="rId9" Type="http://schemas.openxmlformats.org/officeDocument/2006/relationships/image" Target="../media/image1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svg"/><Relationship Id="rId13" Type="http://schemas.openxmlformats.org/officeDocument/2006/relationships/image" Target="../media/image68.emf"/><Relationship Id="rId3" Type="http://schemas.openxmlformats.org/officeDocument/2006/relationships/image" Target="../media/image124.emf"/><Relationship Id="rId7" Type="http://schemas.openxmlformats.org/officeDocument/2006/relationships/image" Target="../media/image136.png"/><Relationship Id="rId12" Type="http://schemas.openxmlformats.org/officeDocument/2006/relationships/image" Target="../media/image152.emf"/><Relationship Id="rId2" Type="http://schemas.openxmlformats.org/officeDocument/2006/relationships/image" Target="../media/image123.emf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emf"/><Relationship Id="rId11" Type="http://schemas.openxmlformats.org/officeDocument/2006/relationships/image" Target="../media/image151.emf"/><Relationship Id="rId5" Type="http://schemas.openxmlformats.org/officeDocument/2006/relationships/image" Target="../media/image127.emf"/><Relationship Id="rId15" Type="http://schemas.openxmlformats.org/officeDocument/2006/relationships/image" Target="../media/image154.emf"/><Relationship Id="rId10" Type="http://schemas.openxmlformats.org/officeDocument/2006/relationships/image" Target="../media/image150.svg"/><Relationship Id="rId4" Type="http://schemas.openxmlformats.org/officeDocument/2006/relationships/image" Target="../media/image125.emf"/><Relationship Id="rId9" Type="http://schemas.openxmlformats.org/officeDocument/2006/relationships/image" Target="../media/image149.png"/><Relationship Id="rId14" Type="http://schemas.openxmlformats.org/officeDocument/2006/relationships/image" Target="../media/image15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image" Target="../media/image136.png"/><Relationship Id="rId3" Type="http://schemas.openxmlformats.org/officeDocument/2006/relationships/image" Target="../media/image124.emf"/><Relationship Id="rId7" Type="http://schemas.openxmlformats.org/officeDocument/2006/relationships/image" Target="../media/image152.emf"/><Relationship Id="rId12" Type="http://schemas.openxmlformats.org/officeDocument/2006/relationships/image" Target="../media/image11.png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emf"/><Relationship Id="rId11" Type="http://schemas.openxmlformats.org/officeDocument/2006/relationships/image" Target="../media/image156.emf"/><Relationship Id="rId5" Type="http://schemas.openxmlformats.org/officeDocument/2006/relationships/image" Target="../media/image127.emf"/><Relationship Id="rId15" Type="http://schemas.openxmlformats.org/officeDocument/2006/relationships/image" Target="../media/image151.emf"/><Relationship Id="rId10" Type="http://schemas.openxmlformats.org/officeDocument/2006/relationships/image" Target="../media/image155.emf"/><Relationship Id="rId4" Type="http://schemas.openxmlformats.org/officeDocument/2006/relationships/image" Target="../media/image125.emf"/><Relationship Id="rId9" Type="http://schemas.openxmlformats.org/officeDocument/2006/relationships/image" Target="../media/image154.emf"/><Relationship Id="rId14" Type="http://schemas.openxmlformats.org/officeDocument/2006/relationships/image" Target="../media/image137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13" Type="http://schemas.openxmlformats.org/officeDocument/2006/relationships/image" Target="../media/image162.emf"/><Relationship Id="rId3" Type="http://schemas.openxmlformats.org/officeDocument/2006/relationships/image" Target="../media/image123.emf"/><Relationship Id="rId7" Type="http://schemas.openxmlformats.org/officeDocument/2006/relationships/image" Target="../media/image126.emf"/><Relationship Id="rId12" Type="http://schemas.openxmlformats.org/officeDocument/2006/relationships/image" Target="../media/image161.emf"/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emf"/><Relationship Id="rId11" Type="http://schemas.openxmlformats.org/officeDocument/2006/relationships/image" Target="../media/image160.emf"/><Relationship Id="rId5" Type="http://schemas.openxmlformats.org/officeDocument/2006/relationships/image" Target="../media/image125.emf"/><Relationship Id="rId15" Type="http://schemas.openxmlformats.org/officeDocument/2006/relationships/image" Target="../media/image11.png"/><Relationship Id="rId10" Type="http://schemas.openxmlformats.org/officeDocument/2006/relationships/image" Target="../media/image159.emf"/><Relationship Id="rId4" Type="http://schemas.openxmlformats.org/officeDocument/2006/relationships/image" Target="../media/image124.emf"/><Relationship Id="rId9" Type="http://schemas.openxmlformats.org/officeDocument/2006/relationships/image" Target="../media/image158.emf"/><Relationship Id="rId14" Type="http://schemas.openxmlformats.org/officeDocument/2006/relationships/image" Target="../media/image1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svg"/><Relationship Id="rId5" Type="http://schemas.openxmlformats.org/officeDocument/2006/relationships/image" Target="../media/image164.png"/><Relationship Id="rId4" Type="http://schemas.openxmlformats.org/officeDocument/2006/relationships/image" Target="../media/image6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1.png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12" Type="http://schemas.openxmlformats.org/officeDocument/2006/relationships/image" Target="../media/image169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68.png"/><Relationship Id="rId5" Type="http://schemas.openxmlformats.org/officeDocument/2006/relationships/image" Target="../media/image5.emf"/><Relationship Id="rId10" Type="http://schemas.openxmlformats.org/officeDocument/2006/relationships/image" Target="../media/image167.png"/><Relationship Id="rId4" Type="http://schemas.openxmlformats.org/officeDocument/2006/relationships/image" Target="../media/image4.emf"/><Relationship Id="rId9" Type="http://schemas.openxmlformats.org/officeDocument/2006/relationships/image" Target="../media/image16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emf"/><Relationship Id="rId13" Type="http://schemas.openxmlformats.org/officeDocument/2006/relationships/image" Target="../media/image179.emf"/><Relationship Id="rId18" Type="http://schemas.openxmlformats.org/officeDocument/2006/relationships/image" Target="../media/image184.png"/><Relationship Id="rId3" Type="http://schemas.openxmlformats.org/officeDocument/2006/relationships/image" Target="../media/image170.emf"/><Relationship Id="rId7" Type="http://schemas.openxmlformats.org/officeDocument/2006/relationships/image" Target="../media/image160.emf"/><Relationship Id="rId12" Type="http://schemas.openxmlformats.org/officeDocument/2006/relationships/image" Target="../media/image178.emf"/><Relationship Id="rId17" Type="http://schemas.openxmlformats.org/officeDocument/2006/relationships/image" Target="../media/image183.svg"/><Relationship Id="rId2" Type="http://schemas.openxmlformats.org/officeDocument/2006/relationships/image" Target="../media/image152.emf"/><Relationship Id="rId16" Type="http://schemas.openxmlformats.org/officeDocument/2006/relationships/image" Target="../media/image182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emf"/><Relationship Id="rId11" Type="http://schemas.openxmlformats.org/officeDocument/2006/relationships/image" Target="../media/image177.emf"/><Relationship Id="rId5" Type="http://schemas.openxmlformats.org/officeDocument/2006/relationships/image" Target="../media/image172.emf"/><Relationship Id="rId15" Type="http://schemas.openxmlformats.org/officeDocument/2006/relationships/image" Target="../media/image181.emf"/><Relationship Id="rId10" Type="http://schemas.openxmlformats.org/officeDocument/2006/relationships/image" Target="../media/image176.emf"/><Relationship Id="rId19" Type="http://schemas.openxmlformats.org/officeDocument/2006/relationships/image" Target="../media/image185.svg"/><Relationship Id="rId4" Type="http://schemas.openxmlformats.org/officeDocument/2006/relationships/image" Target="../media/image171.emf"/><Relationship Id="rId9" Type="http://schemas.openxmlformats.org/officeDocument/2006/relationships/image" Target="../media/image175.emf"/><Relationship Id="rId14" Type="http://schemas.openxmlformats.org/officeDocument/2006/relationships/image" Target="../media/image18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13" Type="http://schemas.openxmlformats.org/officeDocument/2006/relationships/image" Target="../media/image181.emf"/><Relationship Id="rId3" Type="http://schemas.openxmlformats.org/officeDocument/2006/relationships/image" Target="../media/image183.svg"/><Relationship Id="rId7" Type="http://schemas.openxmlformats.org/officeDocument/2006/relationships/image" Target="../media/image180.emf"/><Relationship Id="rId12" Type="http://schemas.openxmlformats.org/officeDocument/2006/relationships/image" Target="../media/image188.emf"/><Relationship Id="rId2" Type="http://schemas.openxmlformats.org/officeDocument/2006/relationships/image" Target="../media/image182.png"/><Relationship Id="rId16" Type="http://schemas.openxmlformats.org/officeDocument/2006/relationships/image" Target="../media/image17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emf"/><Relationship Id="rId11" Type="http://schemas.openxmlformats.org/officeDocument/2006/relationships/image" Target="../media/image127.emf"/><Relationship Id="rId5" Type="http://schemas.openxmlformats.org/officeDocument/2006/relationships/image" Target="../media/image185.svg"/><Relationship Id="rId15" Type="http://schemas.openxmlformats.org/officeDocument/2006/relationships/image" Target="../media/image176.emf"/><Relationship Id="rId10" Type="http://schemas.openxmlformats.org/officeDocument/2006/relationships/image" Target="../media/image151.emf"/><Relationship Id="rId4" Type="http://schemas.openxmlformats.org/officeDocument/2006/relationships/image" Target="../media/image184.png"/><Relationship Id="rId9" Type="http://schemas.openxmlformats.org/officeDocument/2006/relationships/image" Target="../media/image187.emf"/><Relationship Id="rId1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13" Type="http://schemas.openxmlformats.org/officeDocument/2006/relationships/image" Target="../media/image192.emf"/><Relationship Id="rId18" Type="http://schemas.openxmlformats.org/officeDocument/2006/relationships/image" Target="../media/image184.png"/><Relationship Id="rId3" Type="http://schemas.openxmlformats.org/officeDocument/2006/relationships/image" Target="../media/image180.emf"/><Relationship Id="rId21" Type="http://schemas.openxmlformats.org/officeDocument/2006/relationships/image" Target="../media/image177.emf"/><Relationship Id="rId7" Type="http://schemas.openxmlformats.org/officeDocument/2006/relationships/image" Target="../media/image152.emf"/><Relationship Id="rId12" Type="http://schemas.openxmlformats.org/officeDocument/2006/relationships/image" Target="../media/image191.emf"/><Relationship Id="rId17" Type="http://schemas.openxmlformats.org/officeDocument/2006/relationships/image" Target="../media/image183.svg"/><Relationship Id="rId2" Type="http://schemas.openxmlformats.org/officeDocument/2006/relationships/image" Target="../media/image179.emf"/><Relationship Id="rId16" Type="http://schemas.openxmlformats.org/officeDocument/2006/relationships/image" Target="../media/image182.png"/><Relationship Id="rId20" Type="http://schemas.openxmlformats.org/officeDocument/2006/relationships/image" Target="../media/image17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emf"/><Relationship Id="rId11" Type="http://schemas.openxmlformats.org/officeDocument/2006/relationships/image" Target="../media/image190.emf"/><Relationship Id="rId5" Type="http://schemas.openxmlformats.org/officeDocument/2006/relationships/image" Target="../media/image127.emf"/><Relationship Id="rId15" Type="http://schemas.openxmlformats.org/officeDocument/2006/relationships/image" Target="../media/image11.png"/><Relationship Id="rId10" Type="http://schemas.openxmlformats.org/officeDocument/2006/relationships/image" Target="../media/image181.emf"/><Relationship Id="rId19" Type="http://schemas.openxmlformats.org/officeDocument/2006/relationships/image" Target="../media/image185.svg"/><Relationship Id="rId4" Type="http://schemas.openxmlformats.org/officeDocument/2006/relationships/image" Target="../media/image151.emf"/><Relationship Id="rId9" Type="http://schemas.openxmlformats.org/officeDocument/2006/relationships/image" Target="../media/image189.emf"/><Relationship Id="rId14" Type="http://schemas.openxmlformats.org/officeDocument/2006/relationships/image" Target="../media/image19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emf"/><Relationship Id="rId13" Type="http://schemas.openxmlformats.org/officeDocument/2006/relationships/image" Target="../media/image195.emf"/><Relationship Id="rId18" Type="http://schemas.openxmlformats.org/officeDocument/2006/relationships/image" Target="../media/image199.png"/><Relationship Id="rId26" Type="http://schemas.openxmlformats.org/officeDocument/2006/relationships/image" Target="../media/image185.svg"/><Relationship Id="rId3" Type="http://schemas.openxmlformats.org/officeDocument/2006/relationships/image" Target="../media/image180.emf"/><Relationship Id="rId21" Type="http://schemas.openxmlformats.org/officeDocument/2006/relationships/image" Target="../media/image202.svg"/><Relationship Id="rId7" Type="http://schemas.openxmlformats.org/officeDocument/2006/relationships/image" Target="../media/image173.emf"/><Relationship Id="rId12" Type="http://schemas.openxmlformats.org/officeDocument/2006/relationships/image" Target="../media/image194.emf"/><Relationship Id="rId17" Type="http://schemas.openxmlformats.org/officeDocument/2006/relationships/image" Target="../media/image198.emf"/><Relationship Id="rId25" Type="http://schemas.openxmlformats.org/officeDocument/2006/relationships/image" Target="../media/image184.png"/><Relationship Id="rId2" Type="http://schemas.openxmlformats.org/officeDocument/2006/relationships/image" Target="../media/image179.emf"/><Relationship Id="rId16" Type="http://schemas.openxmlformats.org/officeDocument/2006/relationships/image" Target="../media/image197.emf"/><Relationship Id="rId20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emf"/><Relationship Id="rId11" Type="http://schemas.openxmlformats.org/officeDocument/2006/relationships/image" Target="../media/image193.emf"/><Relationship Id="rId24" Type="http://schemas.openxmlformats.org/officeDocument/2006/relationships/image" Target="../media/image183.svg"/><Relationship Id="rId5" Type="http://schemas.openxmlformats.org/officeDocument/2006/relationships/image" Target="../media/image127.emf"/><Relationship Id="rId15" Type="http://schemas.openxmlformats.org/officeDocument/2006/relationships/image" Target="../media/image191.emf"/><Relationship Id="rId23" Type="http://schemas.openxmlformats.org/officeDocument/2006/relationships/image" Target="../media/image182.png"/><Relationship Id="rId28" Type="http://schemas.openxmlformats.org/officeDocument/2006/relationships/image" Target="../media/image177.emf"/><Relationship Id="rId10" Type="http://schemas.openxmlformats.org/officeDocument/2006/relationships/image" Target="../media/image190.emf"/><Relationship Id="rId19" Type="http://schemas.openxmlformats.org/officeDocument/2006/relationships/image" Target="../media/image200.svg"/><Relationship Id="rId4" Type="http://schemas.openxmlformats.org/officeDocument/2006/relationships/image" Target="../media/image151.emf"/><Relationship Id="rId9" Type="http://schemas.openxmlformats.org/officeDocument/2006/relationships/image" Target="../media/image181.emf"/><Relationship Id="rId14" Type="http://schemas.openxmlformats.org/officeDocument/2006/relationships/image" Target="../media/image196.emf"/><Relationship Id="rId22" Type="http://schemas.openxmlformats.org/officeDocument/2006/relationships/image" Target="../media/image11.png"/><Relationship Id="rId27" Type="http://schemas.openxmlformats.org/officeDocument/2006/relationships/image" Target="../media/image17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Microcanonical</a:t>
            </a:r>
            <a:r>
              <a:rPr lang="en-US" dirty="0"/>
              <a:t>, canonical, grand canonical ensemble</a:t>
            </a:r>
          </a:p>
          <a:p>
            <a:endParaRPr lang="en-US" dirty="0"/>
          </a:p>
          <a:p>
            <a:r>
              <a:rPr lang="en-US" dirty="0"/>
              <a:t>Laws of thermodynamic and idea gas</a:t>
            </a:r>
          </a:p>
        </p:txBody>
      </p:sp>
    </p:spTree>
    <p:extLst>
      <p:ext uri="{BB962C8B-B14F-4D97-AF65-F5344CB8AC3E}">
        <p14:creationId xmlns:p14="http://schemas.microsoft.com/office/powerpoint/2010/main" val="94445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58" y="2119174"/>
            <a:ext cx="1274918" cy="261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6327" y="1980440"/>
            <a:ext cx="5734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Isolated                  system with total energy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92" y="2098887"/>
            <a:ext cx="311658" cy="28857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BD96C4E-820E-455F-AA2D-4E72E0060C4E}"/>
              </a:ext>
            </a:extLst>
          </p:cNvPr>
          <p:cNvGrpSpPr/>
          <p:nvPr/>
        </p:nvGrpSpPr>
        <p:grpSpPr>
          <a:xfrm>
            <a:off x="3554793" y="2713336"/>
            <a:ext cx="8231315" cy="688232"/>
            <a:chOff x="3554793" y="2713336"/>
            <a:chExt cx="8231315" cy="688232"/>
          </a:xfrm>
        </p:grpSpPr>
        <p:sp>
          <p:nvSpPr>
            <p:cNvPr id="15" name="TextBox 14"/>
            <p:cNvSpPr txBox="1"/>
            <p:nvPr/>
          </p:nvSpPr>
          <p:spPr>
            <a:xfrm>
              <a:off x="3554793" y="2779483"/>
              <a:ext cx="3679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number of microstates: 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688" y="2713336"/>
              <a:ext cx="4215420" cy="688232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182F12-1F0E-44AC-AF83-8D718565D41D}"/>
              </a:ext>
            </a:extLst>
          </p:cNvPr>
          <p:cNvGrpSpPr/>
          <p:nvPr/>
        </p:nvGrpSpPr>
        <p:grpSpPr>
          <a:xfrm>
            <a:off x="3869628" y="3514726"/>
            <a:ext cx="7649737" cy="1556209"/>
            <a:chOff x="3869628" y="3514726"/>
            <a:chExt cx="7649737" cy="1556209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0041" y="4407408"/>
              <a:ext cx="1721875" cy="36350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02857" y="4118678"/>
              <a:ext cx="5416508" cy="952257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869628" y="3514726"/>
              <a:ext cx="74395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The very 1</a:t>
              </a:r>
              <a:r>
                <a:rPr lang="en-US" sz="2400" b="1" baseline="30000" dirty="0"/>
                <a:t>st</a:t>
              </a:r>
              <a:r>
                <a:rPr lang="en-US" sz="2400" b="1" dirty="0"/>
                <a:t> statistical model: microcanonical ensemble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946971" y="4943905"/>
            <a:ext cx="5416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postulate uniform probability distribution. All microstates with E are equally probable.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E7725B-7F1F-45F7-85AC-4B2E925C37A0}"/>
              </a:ext>
            </a:extLst>
          </p:cNvPr>
          <p:cNvGrpSpPr/>
          <p:nvPr/>
        </p:nvGrpSpPr>
        <p:grpSpPr>
          <a:xfrm>
            <a:off x="7369781" y="4980711"/>
            <a:ext cx="3323960" cy="794191"/>
            <a:chOff x="7369781" y="4980711"/>
            <a:chExt cx="3323960" cy="794191"/>
          </a:xfrm>
        </p:grpSpPr>
        <p:cxnSp>
          <p:nvCxnSpPr>
            <p:cNvPr id="23" name="Straight Arrow Connector 22"/>
            <p:cNvCxnSpPr/>
            <p:nvPr/>
          </p:nvCxnSpPr>
          <p:spPr>
            <a:xfrm flipH="1" flipV="1">
              <a:off x="8195405" y="4980711"/>
              <a:ext cx="436531" cy="378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369781" y="5313237"/>
              <a:ext cx="3323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Function of total energy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944612" y="6293259"/>
            <a:ext cx="7549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we get the laws of thermodynamic from this model?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3858" y="6293258"/>
            <a:ext cx="710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YES!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5ECD2A-23FA-4EF5-9997-2EBFA811F9DC}"/>
              </a:ext>
            </a:extLst>
          </p:cNvPr>
          <p:cNvGrpSpPr/>
          <p:nvPr/>
        </p:nvGrpSpPr>
        <p:grpSpPr>
          <a:xfrm>
            <a:off x="1719072" y="2580196"/>
            <a:ext cx="1502791" cy="1978309"/>
            <a:chOff x="1719072" y="2580196"/>
            <a:chExt cx="1502791" cy="1978309"/>
          </a:xfrm>
        </p:grpSpPr>
        <p:sp>
          <p:nvSpPr>
            <p:cNvPr id="5" name="Rectangle 4"/>
            <p:cNvSpPr/>
            <p:nvPr/>
          </p:nvSpPr>
          <p:spPr>
            <a:xfrm>
              <a:off x="1719072" y="2580196"/>
              <a:ext cx="1499616" cy="15894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70012" y="3737109"/>
              <a:ext cx="699929" cy="31582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4524" y="2866030"/>
              <a:ext cx="311658" cy="2885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E1A41A-F677-4693-A84A-7339F417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4524" y="4286442"/>
              <a:ext cx="1327339" cy="27206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1AC77AA-569F-4E87-A018-B6795F1EAF37}"/>
              </a:ext>
            </a:extLst>
          </p:cNvPr>
          <p:cNvGrpSpPr/>
          <p:nvPr/>
        </p:nvGrpSpPr>
        <p:grpSpPr>
          <a:xfrm>
            <a:off x="386613" y="3010316"/>
            <a:ext cx="1507911" cy="551087"/>
            <a:chOff x="386613" y="3010316"/>
            <a:chExt cx="1507911" cy="551087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1445058" y="3010316"/>
              <a:ext cx="449466" cy="144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6613" y="3099738"/>
              <a:ext cx="13129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Conserve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1CF531-C471-42B2-8E8B-59B175944690}"/>
              </a:ext>
            </a:extLst>
          </p:cNvPr>
          <p:cNvGrpSpPr/>
          <p:nvPr/>
        </p:nvGrpSpPr>
        <p:grpSpPr>
          <a:xfrm>
            <a:off x="7771365" y="1950410"/>
            <a:ext cx="3191809" cy="851531"/>
            <a:chOff x="7771365" y="1950410"/>
            <a:chExt cx="3191809" cy="85153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35402-BE6C-4E3B-9B23-510DF8FAB9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25394" b="-2980"/>
            <a:stretch/>
          </p:blipFill>
          <p:spPr>
            <a:xfrm>
              <a:off x="7771365" y="1950410"/>
              <a:ext cx="1284610" cy="374335"/>
            </a:xfrm>
            <a:prstGeom prst="rect">
              <a:avLst/>
            </a:prstGeom>
          </p:spPr>
        </p:pic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DB4723C3-7F0A-4119-9707-C2A82BD0CC0C}"/>
                </a:ext>
              </a:extLst>
            </p:cNvPr>
            <p:cNvSpPr/>
            <p:nvPr/>
          </p:nvSpPr>
          <p:spPr>
            <a:xfrm rot="16200000">
              <a:off x="9901968" y="1740735"/>
              <a:ext cx="328903" cy="179350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9665" y="1708925"/>
            <a:ext cx="2642767" cy="82049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E01A2CD-04DD-4058-A10B-127330B240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4221" y="5359404"/>
            <a:ext cx="1792129" cy="64206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D616CA0-F31F-4A25-9AF9-49CE3A7E52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8529" y="6066331"/>
            <a:ext cx="2220810" cy="76454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124C5F8-C0BA-4002-ABA2-E8E754451F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78665"/>
            <a:ext cx="6113612" cy="49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346" y="18047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of thermodynamic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6071" y="2278665"/>
            <a:ext cx="2818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concept of temperature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E2E035-6524-4D98-B03A-B7B0E0D545E4}"/>
              </a:ext>
            </a:extLst>
          </p:cNvPr>
          <p:cNvGrpSpPr/>
          <p:nvPr/>
        </p:nvGrpSpPr>
        <p:grpSpPr>
          <a:xfrm>
            <a:off x="636306" y="2879973"/>
            <a:ext cx="7025276" cy="1539998"/>
            <a:chOff x="636306" y="2879973"/>
            <a:chExt cx="7025276" cy="153999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99588" y="2879973"/>
              <a:ext cx="3761994" cy="1539998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636306" y="3289056"/>
              <a:ext cx="33441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Combining two systems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6BD59A-3484-4F6B-8A7D-A5129B4AACAC}"/>
              </a:ext>
            </a:extLst>
          </p:cNvPr>
          <p:cNvGrpSpPr/>
          <p:nvPr/>
        </p:nvGrpSpPr>
        <p:grpSpPr>
          <a:xfrm>
            <a:off x="176356" y="4293715"/>
            <a:ext cx="8960256" cy="1377244"/>
            <a:chOff x="176356" y="4293715"/>
            <a:chExt cx="8960256" cy="137724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3007" y="4755465"/>
              <a:ext cx="6083605" cy="915494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76356" y="4293715"/>
              <a:ext cx="4521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The distribution for the total system: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7973F5-CBF1-4752-838A-C1C8984CF855}"/>
              </a:ext>
            </a:extLst>
          </p:cNvPr>
          <p:cNvGrpSpPr/>
          <p:nvPr/>
        </p:nvGrpSpPr>
        <p:grpSpPr>
          <a:xfrm>
            <a:off x="7716446" y="3608291"/>
            <a:ext cx="4160934" cy="369332"/>
            <a:chOff x="7716446" y="3608291"/>
            <a:chExt cx="4160934" cy="36933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0112" y="3675542"/>
              <a:ext cx="1837268" cy="257624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7716446" y="3608291"/>
              <a:ext cx="21961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Separate microstates: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FD431D-B966-4B27-8F69-CB10944BC9D5}"/>
              </a:ext>
            </a:extLst>
          </p:cNvPr>
          <p:cNvGrpSpPr/>
          <p:nvPr/>
        </p:nvGrpSpPr>
        <p:grpSpPr>
          <a:xfrm>
            <a:off x="8384028" y="2983491"/>
            <a:ext cx="2861592" cy="369332"/>
            <a:chOff x="8384028" y="2983491"/>
            <a:chExt cx="2861592" cy="369332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57761" y="3081769"/>
              <a:ext cx="1387859" cy="212989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8384028" y="2983491"/>
              <a:ext cx="13846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Total energy: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FDB6E5-A3F1-44BA-92F5-8C691EDC5002}"/>
              </a:ext>
            </a:extLst>
          </p:cNvPr>
          <p:cNvGrpSpPr/>
          <p:nvPr/>
        </p:nvGrpSpPr>
        <p:grpSpPr>
          <a:xfrm>
            <a:off x="7152535" y="4100752"/>
            <a:ext cx="4793205" cy="369332"/>
            <a:chOff x="7152535" y="4100752"/>
            <a:chExt cx="4793205" cy="369332"/>
          </a:xfrm>
        </p:grpSpPr>
        <p:sp>
          <p:nvSpPr>
            <p:cNvPr id="16" name="Rectangle 15"/>
            <p:cNvSpPr/>
            <p:nvPr/>
          </p:nvSpPr>
          <p:spPr>
            <a:xfrm>
              <a:off x="7152535" y="4100752"/>
              <a:ext cx="17405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Total microstates: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21596" y="4148917"/>
              <a:ext cx="2824144" cy="266565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904371-F2B4-4F77-B4ED-7F429CA476B1}"/>
              </a:ext>
            </a:extLst>
          </p:cNvPr>
          <p:cNvGrpSpPr/>
          <p:nvPr/>
        </p:nvGrpSpPr>
        <p:grpSpPr>
          <a:xfrm>
            <a:off x="945414" y="5476952"/>
            <a:ext cx="3731086" cy="663566"/>
            <a:chOff x="945414" y="5476952"/>
            <a:chExt cx="3731086" cy="663566"/>
          </a:xfrm>
        </p:grpSpPr>
        <p:sp>
          <p:nvSpPr>
            <p:cNvPr id="18" name="TextBox 17"/>
            <p:cNvSpPr txBox="1"/>
            <p:nvPr/>
          </p:nvSpPr>
          <p:spPr>
            <a:xfrm>
              <a:off x="945414" y="5678853"/>
              <a:ext cx="3731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number </a:t>
              </a:r>
              <a:r>
                <a:rPr lang="en-US" sz="2400"/>
                <a:t>of microstates? </a:t>
              </a:r>
              <a:endParaRPr lang="en-US" sz="24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4184152" y="5476952"/>
              <a:ext cx="492348" cy="329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9828" y="6140518"/>
            <a:ext cx="7208874" cy="73448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34B811E-50BC-434F-A344-345ACAD6E1F0}"/>
              </a:ext>
            </a:extLst>
          </p:cNvPr>
          <p:cNvGrpSpPr/>
          <p:nvPr/>
        </p:nvGrpSpPr>
        <p:grpSpPr>
          <a:xfrm>
            <a:off x="9377541" y="5295751"/>
            <a:ext cx="2215551" cy="642476"/>
            <a:chOff x="9377541" y="5295751"/>
            <a:chExt cx="2215551" cy="642476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77541" y="5295751"/>
              <a:ext cx="2215551" cy="263586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10584279" y="5568895"/>
              <a:ext cx="9947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(Entropy)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AD020B2-EA82-4943-8DCB-06DCDC5B532B}"/>
              </a:ext>
            </a:extLst>
          </p:cNvPr>
          <p:cNvGrpSpPr/>
          <p:nvPr/>
        </p:nvGrpSpPr>
        <p:grpSpPr>
          <a:xfrm>
            <a:off x="10040112" y="4408039"/>
            <a:ext cx="1128708" cy="734885"/>
            <a:chOff x="10040112" y="4408039"/>
            <a:chExt cx="1128708" cy="734885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568CEC3D-0DDC-4E0C-8C1C-D7183A5EB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040112" y="4568309"/>
              <a:ext cx="1128708" cy="574615"/>
            </a:xfrm>
            <a:prstGeom prst="rect">
              <a:avLst/>
            </a:prstGeom>
          </p:spPr>
        </p:pic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F95A2539-B83D-4482-AE2B-5CF2CD0C53D8}"/>
                </a:ext>
              </a:extLst>
            </p:cNvPr>
            <p:cNvSpPr/>
            <p:nvPr/>
          </p:nvSpPr>
          <p:spPr>
            <a:xfrm rot="5400000">
              <a:off x="10517894" y="4198647"/>
              <a:ext cx="240112" cy="65889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25291A6-82B3-4DA7-A6E9-89E0E07BE4A4}"/>
              </a:ext>
            </a:extLst>
          </p:cNvPr>
          <p:cNvGrpSpPr/>
          <p:nvPr/>
        </p:nvGrpSpPr>
        <p:grpSpPr>
          <a:xfrm>
            <a:off x="11127984" y="4423934"/>
            <a:ext cx="1115711" cy="702816"/>
            <a:chOff x="11127984" y="4423934"/>
            <a:chExt cx="1115711" cy="702816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CD1CF87D-DADD-44BC-A62D-0BC484C65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27984" y="4558751"/>
              <a:ext cx="1115711" cy="567999"/>
            </a:xfrm>
            <a:prstGeom prst="rect">
              <a:avLst/>
            </a:prstGeom>
          </p:spPr>
        </p:pic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6FF705C6-B1C6-490E-975D-69A56966015E}"/>
                </a:ext>
              </a:extLst>
            </p:cNvPr>
            <p:cNvSpPr/>
            <p:nvPr/>
          </p:nvSpPr>
          <p:spPr>
            <a:xfrm rot="5400000">
              <a:off x="11398167" y="4214542"/>
              <a:ext cx="240112" cy="65889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BE16FB56-F30D-4D3D-B986-64FC84AA27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D654A03-2D25-41FD-8342-3BE22B7F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28" y="6140518"/>
            <a:ext cx="7208874" cy="7344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6" y="2278665"/>
            <a:ext cx="6113612" cy="49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346" y="18047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</a:t>
            </a:r>
            <a:r>
              <a:rPr lang="en-US"/>
              <a:t>of thermodynamic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396071" y="2278665"/>
            <a:ext cx="2776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=&gt; concept of temperature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588" y="2879973"/>
            <a:ext cx="3761994" cy="15399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761" y="3081769"/>
            <a:ext cx="1387859" cy="21298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84028" y="2983491"/>
            <a:ext cx="1384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Total energy: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95735" y="5012045"/>
            <a:ext cx="328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major contribution is from saddle point: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070" y="5872309"/>
            <a:ext cx="3472591" cy="5284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6225" y="6221035"/>
            <a:ext cx="4263026" cy="48720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0573" y="5068785"/>
            <a:ext cx="3280547" cy="57235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7289" y="4419972"/>
            <a:ext cx="2896762" cy="23631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B42FBBD-6E66-4250-8C6D-01A5DFB891AC}"/>
              </a:ext>
            </a:extLst>
          </p:cNvPr>
          <p:cNvGrpSpPr/>
          <p:nvPr/>
        </p:nvGrpSpPr>
        <p:grpSpPr>
          <a:xfrm>
            <a:off x="9547888" y="4029780"/>
            <a:ext cx="2684709" cy="831824"/>
            <a:chOff x="9547888" y="4029780"/>
            <a:chExt cx="2684709" cy="831824"/>
          </a:xfrm>
        </p:grpSpPr>
        <p:sp>
          <p:nvSpPr>
            <p:cNvPr id="29" name="TextBox 28"/>
            <p:cNvSpPr txBox="1"/>
            <p:nvPr/>
          </p:nvSpPr>
          <p:spPr>
            <a:xfrm>
              <a:off x="9547888" y="4029780"/>
              <a:ext cx="26847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Most probable states</a:t>
              </a:r>
            </a:p>
            <a:p>
              <a:r>
                <a:rPr lang="en-US" sz="2000" b="1" dirty="0"/>
                <a:t>(equilibrium)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H="1">
              <a:off x="10803735" y="4582763"/>
              <a:ext cx="368733" cy="278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FEAF00-176A-456B-9721-3A4E51B3ECB2}"/>
              </a:ext>
            </a:extLst>
          </p:cNvPr>
          <p:cNvGrpSpPr/>
          <p:nvPr/>
        </p:nvGrpSpPr>
        <p:grpSpPr>
          <a:xfrm>
            <a:off x="9377541" y="5295751"/>
            <a:ext cx="2215551" cy="642476"/>
            <a:chOff x="9377541" y="5295751"/>
            <a:chExt cx="2215551" cy="64247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964FCF0-DF60-46F6-B107-C2606124A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77541" y="5295751"/>
              <a:ext cx="2215551" cy="263586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7E048E-D207-49A7-B5A1-639001316A93}"/>
                </a:ext>
              </a:extLst>
            </p:cNvPr>
            <p:cNvSpPr txBox="1"/>
            <p:nvPr/>
          </p:nvSpPr>
          <p:spPr>
            <a:xfrm>
              <a:off x="10584279" y="5568895"/>
              <a:ext cx="9947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(Entropy)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6594950-9DCE-4395-9642-65FAF51F6D63}"/>
              </a:ext>
            </a:extLst>
          </p:cNvPr>
          <p:cNvSpPr txBox="1"/>
          <p:nvPr/>
        </p:nvSpPr>
        <p:spPr>
          <a:xfrm>
            <a:off x="4656225" y="5850633"/>
            <a:ext cx="2149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Maximum entropy</a:t>
            </a:r>
            <a:endParaRPr lang="en-MY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C62129-2624-49E1-99AE-209BD4B052C7}"/>
              </a:ext>
            </a:extLst>
          </p:cNvPr>
          <p:cNvSpPr txBox="1"/>
          <p:nvPr/>
        </p:nvSpPr>
        <p:spPr>
          <a:xfrm>
            <a:off x="636306" y="3289056"/>
            <a:ext cx="334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Combining two systems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0522CFD-5257-488E-B1F4-1ADF144993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6557" y="6379459"/>
            <a:ext cx="3903615" cy="5284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3E490EE-208C-416F-9F70-8080131A17E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8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59259E-6 L -0.03971 -0.270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2" y="-1354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48148E-6 L 0.02213 -0.2682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7" y="-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78665"/>
            <a:ext cx="6113612" cy="496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346" y="18047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</a:t>
            </a:r>
            <a:r>
              <a:rPr lang="en-US"/>
              <a:t>of thermodynamic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396071" y="2278665"/>
            <a:ext cx="2776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=&gt; concept of temperature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588" y="2879973"/>
            <a:ext cx="3761994" cy="15399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761" y="3081769"/>
            <a:ext cx="1387859" cy="21298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84028" y="2983491"/>
            <a:ext cx="1384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Total energy: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149" y="3471997"/>
            <a:ext cx="2215551" cy="26358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76887" y="3745141"/>
            <a:ext cx="99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(Entropy)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7289" y="4419972"/>
            <a:ext cx="2896762" cy="2363148"/>
          </a:xfrm>
          <a:prstGeom prst="rect">
            <a:avLst/>
          </a:prstGeom>
        </p:spPr>
      </p:pic>
      <p:cxnSp>
        <p:nvCxnSpPr>
          <p:cNvPr id="30" name="Straight Arrow Connector 29"/>
          <p:cNvCxnSpPr/>
          <p:nvPr/>
        </p:nvCxnSpPr>
        <p:spPr>
          <a:xfrm flipH="1">
            <a:off x="10803735" y="4582763"/>
            <a:ext cx="368733" cy="278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6228" y="5466054"/>
            <a:ext cx="3638972" cy="5825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5550" y="6464218"/>
            <a:ext cx="1851406" cy="31890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F44F274-2630-4039-B8CC-7EB95B0176A5}"/>
              </a:ext>
            </a:extLst>
          </p:cNvPr>
          <p:cNvGrpSpPr/>
          <p:nvPr/>
        </p:nvGrpSpPr>
        <p:grpSpPr>
          <a:xfrm>
            <a:off x="3613206" y="6048564"/>
            <a:ext cx="3731194" cy="762463"/>
            <a:chOff x="3613206" y="6048564"/>
            <a:chExt cx="3731194" cy="762463"/>
          </a:xfrm>
        </p:grpSpPr>
        <p:sp>
          <p:nvSpPr>
            <p:cNvPr id="13" name="Left Brace 12"/>
            <p:cNvSpPr/>
            <p:nvPr/>
          </p:nvSpPr>
          <p:spPr>
            <a:xfrm rot="16200000">
              <a:off x="5297639" y="4364131"/>
              <a:ext cx="362327" cy="373119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654469" y="6349362"/>
              <a:ext cx="17218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Temperature</a:t>
              </a:r>
              <a:endParaRPr lang="en-US" sz="2400" dirty="0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1854" y="5386018"/>
            <a:ext cx="550198" cy="6076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D2D828C-CB3F-43BE-82CC-91DEB72590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087" y="6039773"/>
            <a:ext cx="3472591" cy="5284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E8227C-2674-48CF-89B3-078F9D896393}"/>
              </a:ext>
            </a:extLst>
          </p:cNvPr>
          <p:cNvSpPr txBox="1"/>
          <p:nvPr/>
        </p:nvSpPr>
        <p:spPr>
          <a:xfrm>
            <a:off x="636306" y="3289056"/>
            <a:ext cx="334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Combining two systems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B6934A1-DEE7-451E-9D04-B3A2237DA990}"/>
              </a:ext>
            </a:extLst>
          </p:cNvPr>
          <p:cNvGrpSpPr/>
          <p:nvPr/>
        </p:nvGrpSpPr>
        <p:grpSpPr>
          <a:xfrm>
            <a:off x="9547888" y="4029780"/>
            <a:ext cx="2684709" cy="831824"/>
            <a:chOff x="9547888" y="4029780"/>
            <a:chExt cx="2684709" cy="83182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6240CE-BFB2-4E04-89A7-220D5C0F8E67}"/>
                </a:ext>
              </a:extLst>
            </p:cNvPr>
            <p:cNvSpPr txBox="1"/>
            <p:nvPr/>
          </p:nvSpPr>
          <p:spPr>
            <a:xfrm>
              <a:off x="9547888" y="4029780"/>
              <a:ext cx="26847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Most probable states</a:t>
              </a:r>
            </a:p>
            <a:p>
              <a:r>
                <a:rPr lang="en-US" sz="2000" b="1" dirty="0"/>
                <a:t>(equilibrium)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95AD75B-83ED-42A9-AE1F-37231BDB625E}"/>
                </a:ext>
              </a:extLst>
            </p:cNvPr>
            <p:cNvCxnSpPr/>
            <p:nvPr/>
          </p:nvCxnSpPr>
          <p:spPr>
            <a:xfrm flipH="1">
              <a:off x="10803735" y="4582763"/>
              <a:ext cx="368733" cy="278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DF4D4AB-BB18-4934-AE6B-4E01F56EC1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6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0.27253 -0.21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20" y="-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346" y="1823044"/>
            <a:ext cx="255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59772"/>
            <a:ext cx="6599528" cy="112724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719072" y="3988372"/>
            <a:ext cx="1499616" cy="15894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058" y="3527350"/>
            <a:ext cx="1274918" cy="26131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012" y="5145285"/>
            <a:ext cx="699929" cy="31582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524" y="4274206"/>
            <a:ext cx="311658" cy="28857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8CC1B22-879D-4AF4-B506-9D90710AF4EE}"/>
              </a:ext>
            </a:extLst>
          </p:cNvPr>
          <p:cNvGrpSpPr/>
          <p:nvPr/>
        </p:nvGrpSpPr>
        <p:grpSpPr>
          <a:xfrm>
            <a:off x="334452" y="3399126"/>
            <a:ext cx="6086073" cy="461665"/>
            <a:chOff x="334452" y="3388616"/>
            <a:chExt cx="6086073" cy="461665"/>
          </a:xfrm>
        </p:grpSpPr>
        <p:sp>
          <p:nvSpPr>
            <p:cNvPr id="32" name="TextBox 31"/>
            <p:cNvSpPr txBox="1"/>
            <p:nvPr/>
          </p:nvSpPr>
          <p:spPr>
            <a:xfrm>
              <a:off x="334452" y="3388616"/>
              <a:ext cx="57345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Isolated                  system with total energy </a:t>
              </a: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8867" y="3507836"/>
              <a:ext cx="311658" cy="288572"/>
            </a:xfrm>
            <a:prstGeom prst="rect">
              <a:avLst/>
            </a:prstGeom>
          </p:spPr>
        </p:pic>
      </p:grpSp>
      <p:cxnSp>
        <p:nvCxnSpPr>
          <p:cNvPr id="35" name="Straight Arrow Connector 34"/>
          <p:cNvCxnSpPr/>
          <p:nvPr/>
        </p:nvCxnSpPr>
        <p:spPr>
          <a:xfrm flipV="1">
            <a:off x="1445058" y="4418492"/>
            <a:ext cx="449466" cy="144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6613" y="4507914"/>
            <a:ext cx="1312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Conserve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8261" y="4187659"/>
            <a:ext cx="3679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Total number of microstates: 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296" y="4121512"/>
            <a:ext cx="4215420" cy="688232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0041" y="5815584"/>
            <a:ext cx="1721875" cy="363507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2857" y="5526854"/>
            <a:ext cx="5416508" cy="95225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720881" y="4933864"/>
            <a:ext cx="7359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very 1</a:t>
            </a:r>
            <a:r>
              <a:rPr lang="en-US" sz="2400" b="1" baseline="30000" dirty="0"/>
              <a:t>st</a:t>
            </a:r>
            <a:r>
              <a:rPr lang="en-US" sz="2400" b="1" dirty="0"/>
              <a:t> statistical model (microcanonical ensemble)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715" y="4303578"/>
            <a:ext cx="1084717" cy="32629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3099" y="6047034"/>
            <a:ext cx="1084717" cy="3262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EF3828F-8C96-4BC8-9878-9038A6799ABB}"/>
              </a:ext>
            </a:extLst>
          </p:cNvPr>
          <p:cNvGrpSpPr/>
          <p:nvPr/>
        </p:nvGrpSpPr>
        <p:grpSpPr>
          <a:xfrm>
            <a:off x="-18288" y="5547499"/>
            <a:ext cx="4982849" cy="1235775"/>
            <a:chOff x="-18288" y="5547499"/>
            <a:chExt cx="4982849" cy="123577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329DCA4-0E4A-41F3-AFF9-6E66E9D9CCCF}"/>
                </a:ext>
              </a:extLst>
            </p:cNvPr>
            <p:cNvGrpSpPr/>
            <p:nvPr/>
          </p:nvGrpSpPr>
          <p:grpSpPr>
            <a:xfrm>
              <a:off x="-18288" y="5547499"/>
              <a:ext cx="4575548" cy="1235775"/>
              <a:chOff x="-18288" y="5547499"/>
              <a:chExt cx="4575548" cy="1235775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-18288" y="6321609"/>
                <a:ext cx="45755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The available positions depends on </a:t>
                </a:r>
              </a:p>
            </p:txBody>
          </p:sp>
          <p:cxnSp>
            <p:nvCxnSpPr>
              <p:cNvPr id="6" name="Straight Arrow Connector 5"/>
              <p:cNvCxnSpPr/>
              <p:nvPr/>
            </p:nvCxnSpPr>
            <p:spPr>
              <a:xfrm flipV="1">
                <a:off x="2269486" y="5547499"/>
                <a:ext cx="620018" cy="9316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97686" y="6433468"/>
              <a:ext cx="266875" cy="266875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3C8B9ADD-787D-4D8C-BF0C-89DCA810FC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73314" y="4465628"/>
            <a:ext cx="611605" cy="6116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79DC602-6AB9-4C90-8C9C-50DE5BC73B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9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346" y="1823044"/>
            <a:ext cx="255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259772"/>
            <a:ext cx="6599528" cy="112724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852" y="3406242"/>
            <a:ext cx="2887540" cy="28041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942" y="3222428"/>
            <a:ext cx="1355896" cy="52464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08D8512-AF93-4A45-902E-BE45BDA2E79D}"/>
              </a:ext>
            </a:extLst>
          </p:cNvPr>
          <p:cNvGrpSpPr/>
          <p:nvPr/>
        </p:nvGrpSpPr>
        <p:grpSpPr>
          <a:xfrm>
            <a:off x="993513" y="4445216"/>
            <a:ext cx="7130222" cy="369332"/>
            <a:chOff x="993513" y="4445216"/>
            <a:chExt cx="7130222" cy="36933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6DF5263-AC65-459C-BCE5-10134F187CEF}"/>
                </a:ext>
              </a:extLst>
            </p:cNvPr>
            <p:cNvGrpSpPr/>
            <p:nvPr/>
          </p:nvGrpSpPr>
          <p:grpSpPr>
            <a:xfrm>
              <a:off x="993513" y="4445216"/>
              <a:ext cx="7130222" cy="369332"/>
              <a:chOff x="993513" y="4445216"/>
              <a:chExt cx="7130222" cy="369332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993513" y="4445216"/>
                <a:ext cx="5461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All the work done                    on the system turn into:</a:t>
                </a:r>
              </a:p>
            </p:txBody>
          </p:sp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5008" y="4536863"/>
                <a:ext cx="1738727" cy="220188"/>
              </a:xfrm>
              <a:prstGeom prst="rect">
                <a:avLst/>
              </a:prstGeom>
            </p:spPr>
          </p:pic>
        </p:grp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63295" y="4574621"/>
              <a:ext cx="1042760" cy="18363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472D6F6-F4E8-48C3-A839-FF2D6F1ACC90}"/>
              </a:ext>
            </a:extLst>
          </p:cNvPr>
          <p:cNvGrpSpPr/>
          <p:nvPr/>
        </p:nvGrpSpPr>
        <p:grpSpPr>
          <a:xfrm>
            <a:off x="276753" y="5485967"/>
            <a:ext cx="1252459" cy="528949"/>
            <a:chOff x="276753" y="5485967"/>
            <a:chExt cx="1252459" cy="528949"/>
          </a:xfrm>
        </p:grpSpPr>
        <p:sp>
          <p:nvSpPr>
            <p:cNvPr id="50" name="Rectangle 49"/>
            <p:cNvSpPr/>
            <p:nvPr/>
          </p:nvSpPr>
          <p:spPr>
            <a:xfrm>
              <a:off x="276753" y="5645584"/>
              <a:ext cx="125245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reversibility</a:t>
              </a:r>
              <a:endParaRPr lang="en-US" dirty="0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 flipV="1">
              <a:off x="902983" y="5485967"/>
              <a:ext cx="460696" cy="1961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7870" y="6014916"/>
            <a:ext cx="4491977" cy="59634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7254372" y="6370279"/>
            <a:ext cx="944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(Heat)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66249" y="5970012"/>
            <a:ext cx="1059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b="1" baseline="30000" dirty="0"/>
              <a:t>st</a:t>
            </a:r>
            <a:r>
              <a:rPr lang="en-US" sz="2400" b="1" dirty="0"/>
              <a:t> law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CDA0B0-E86C-4F86-BEB2-982EB10D097A}"/>
              </a:ext>
            </a:extLst>
          </p:cNvPr>
          <p:cNvGrpSpPr/>
          <p:nvPr/>
        </p:nvGrpSpPr>
        <p:grpSpPr>
          <a:xfrm>
            <a:off x="1127346" y="3931920"/>
            <a:ext cx="4784318" cy="369332"/>
            <a:chOff x="1127346" y="3931920"/>
            <a:chExt cx="4784318" cy="369332"/>
          </a:xfrm>
        </p:grpSpPr>
        <p:sp>
          <p:nvSpPr>
            <p:cNvPr id="18" name="TextBox 17"/>
            <p:cNvSpPr txBox="1"/>
            <p:nvPr/>
          </p:nvSpPr>
          <p:spPr>
            <a:xfrm>
              <a:off x="1127346" y="3931920"/>
              <a:ext cx="2868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 a REVERSIBLE process with </a:t>
              </a:r>
            </a:p>
          </p:txBody>
        </p: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4493" y="4008482"/>
              <a:ext cx="1567171" cy="218312"/>
            </a:xfrm>
            <a:prstGeom prst="rect">
              <a:avLst/>
            </a:prstGeom>
          </p:spPr>
        </p:pic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346" y="5063069"/>
            <a:ext cx="7143148" cy="614551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8837" y="6110807"/>
            <a:ext cx="3011434" cy="267069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9384" y="4993618"/>
            <a:ext cx="2095838" cy="6455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B16EB00-84F4-44B4-A27E-1266666142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6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645" y="2817900"/>
            <a:ext cx="1102868" cy="2990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096" y="4526777"/>
            <a:ext cx="5541264" cy="28836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r="89478" b="25018"/>
          <a:stretch/>
        </p:blipFill>
        <p:spPr>
          <a:xfrm>
            <a:off x="3941513" y="3305033"/>
            <a:ext cx="994314" cy="72194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827" y="3430167"/>
            <a:ext cx="3280547" cy="57235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083" y="3359268"/>
            <a:ext cx="2896762" cy="236314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6977C66-9258-449A-A452-D25799005AAF}"/>
              </a:ext>
            </a:extLst>
          </p:cNvPr>
          <p:cNvGrpSpPr/>
          <p:nvPr/>
        </p:nvGrpSpPr>
        <p:grpSpPr>
          <a:xfrm>
            <a:off x="10481627" y="3207591"/>
            <a:ext cx="1404552" cy="593309"/>
            <a:chOff x="10691833" y="3207591"/>
            <a:chExt cx="1404552" cy="593309"/>
          </a:xfrm>
        </p:grpSpPr>
        <p:sp>
          <p:nvSpPr>
            <p:cNvPr id="28" name="TextBox 27"/>
            <p:cNvSpPr txBox="1"/>
            <p:nvPr/>
          </p:nvSpPr>
          <p:spPr>
            <a:xfrm>
              <a:off x="10691833" y="3207591"/>
              <a:ext cx="1404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equilibrium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10803735" y="3522059"/>
              <a:ext cx="368733" cy="2788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D418158-3E5F-49B4-A3AE-DD8B6E53BDA1}"/>
              </a:ext>
            </a:extLst>
          </p:cNvPr>
          <p:cNvGrpSpPr/>
          <p:nvPr/>
        </p:nvGrpSpPr>
        <p:grpSpPr>
          <a:xfrm>
            <a:off x="637454" y="5446961"/>
            <a:ext cx="7676009" cy="550154"/>
            <a:chOff x="637454" y="5446961"/>
            <a:chExt cx="7676009" cy="550154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7"/>
            <a:srcRect l="56041" r="507" b="-8648"/>
            <a:stretch/>
          </p:blipFill>
          <p:spPr>
            <a:xfrm>
              <a:off x="3783751" y="5446961"/>
              <a:ext cx="1925203" cy="55015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84164" y="5558336"/>
              <a:ext cx="2429299" cy="306772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7"/>
            <a:srcRect r="49676"/>
            <a:stretch/>
          </p:blipFill>
          <p:spPr>
            <a:xfrm>
              <a:off x="637454" y="5458541"/>
              <a:ext cx="2229699" cy="506361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93F369D3-8D3B-4AC2-BB13-97809040E5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4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346" y="2261956"/>
            <a:ext cx="259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Law of thermodynamic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2"/>
            <a:ext cx="8083166" cy="7028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10" y="3688421"/>
            <a:ext cx="1607717" cy="3831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416" y="3663256"/>
            <a:ext cx="2485831" cy="46954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939" y="4487881"/>
            <a:ext cx="3224588" cy="57742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2728C98-6BEC-4F3B-9825-4153859833C1}"/>
              </a:ext>
            </a:extLst>
          </p:cNvPr>
          <p:cNvGrpSpPr/>
          <p:nvPr/>
        </p:nvGrpSpPr>
        <p:grpSpPr>
          <a:xfrm>
            <a:off x="6415574" y="4029528"/>
            <a:ext cx="1981977" cy="1035779"/>
            <a:chOff x="6415574" y="4029528"/>
            <a:chExt cx="1981977" cy="103577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15574" y="4698641"/>
              <a:ext cx="1981977" cy="366666"/>
            </a:xfrm>
            <a:prstGeom prst="rect">
              <a:avLst/>
            </a:prstGeom>
          </p:spPr>
        </p:pic>
        <p:cxnSp>
          <p:nvCxnSpPr>
            <p:cNvPr id="13" name="Straight Arrow Connector 12"/>
            <p:cNvCxnSpPr>
              <a:cxnSpLocks/>
            </p:cNvCxnSpPr>
            <p:nvPr/>
          </p:nvCxnSpPr>
          <p:spPr>
            <a:xfrm flipV="1">
              <a:off x="8154955" y="4029528"/>
              <a:ext cx="0" cy="4583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650" y="3644595"/>
            <a:ext cx="2578472" cy="38781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4340" y="6105700"/>
            <a:ext cx="7382174" cy="34057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7952" y="5402997"/>
            <a:ext cx="9695243" cy="36455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738886" y="6231364"/>
            <a:ext cx="2162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More Examples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F04276-33E2-4F5E-8EE1-1F6FA67CAD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56" name="Freeform 55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06DEC65-6D20-4DC9-83BD-31F04E925826}"/>
              </a:ext>
            </a:extLst>
          </p:cNvPr>
          <p:cNvGrpSpPr/>
          <p:nvPr/>
        </p:nvGrpSpPr>
        <p:grpSpPr>
          <a:xfrm>
            <a:off x="8806758" y="3067719"/>
            <a:ext cx="2634042" cy="2561061"/>
            <a:chOff x="8806758" y="3067719"/>
            <a:chExt cx="2634042" cy="2561061"/>
          </a:xfrm>
        </p:grpSpPr>
        <p:grpSp>
          <p:nvGrpSpPr>
            <p:cNvPr id="63" name="Group 62"/>
            <p:cNvGrpSpPr/>
            <p:nvPr/>
          </p:nvGrpSpPr>
          <p:grpSpPr>
            <a:xfrm>
              <a:off x="10933794" y="3067719"/>
              <a:ext cx="507006" cy="503341"/>
              <a:chOff x="10933794" y="3067719"/>
              <a:chExt cx="507006" cy="503341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64" name="Group 63"/>
            <p:cNvGrpSpPr/>
            <p:nvPr/>
          </p:nvGrpSpPr>
          <p:grpSpPr>
            <a:xfrm>
              <a:off x="10932841" y="3593019"/>
              <a:ext cx="507006" cy="503341"/>
              <a:chOff x="10933794" y="3067719"/>
              <a:chExt cx="507006" cy="503341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6" name="Picture 6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67" name="Group 66"/>
            <p:cNvGrpSpPr/>
            <p:nvPr/>
          </p:nvGrpSpPr>
          <p:grpSpPr>
            <a:xfrm>
              <a:off x="10400509" y="4100347"/>
              <a:ext cx="507006" cy="503341"/>
              <a:chOff x="10933794" y="3067719"/>
              <a:chExt cx="507006" cy="503341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9" name="Picture 6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70" name="Group 69"/>
            <p:cNvGrpSpPr/>
            <p:nvPr/>
          </p:nvGrpSpPr>
          <p:grpSpPr>
            <a:xfrm>
              <a:off x="9336191" y="3579571"/>
              <a:ext cx="507006" cy="503341"/>
              <a:chOff x="10933794" y="3067719"/>
              <a:chExt cx="507006" cy="503341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2" name="Picture 7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73" name="Group 72"/>
            <p:cNvGrpSpPr/>
            <p:nvPr/>
          </p:nvGrpSpPr>
          <p:grpSpPr>
            <a:xfrm>
              <a:off x="8806758" y="5125439"/>
              <a:ext cx="507006" cy="503341"/>
              <a:chOff x="10933794" y="3067719"/>
              <a:chExt cx="507006" cy="503341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5" name="Picture 7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A87DD0B-6C3B-4139-A595-D06F18613C37}"/>
              </a:ext>
            </a:extLst>
          </p:cNvPr>
          <p:cNvGrpSpPr/>
          <p:nvPr/>
        </p:nvGrpSpPr>
        <p:grpSpPr>
          <a:xfrm>
            <a:off x="3668427" y="1962194"/>
            <a:ext cx="1302381" cy="617045"/>
            <a:chOff x="3668427" y="1962194"/>
            <a:chExt cx="1302381" cy="617045"/>
          </a:xfrm>
        </p:grpSpPr>
        <p:cxnSp>
          <p:nvCxnSpPr>
            <p:cNvPr id="78" name="Straight Arrow Connector 77"/>
            <p:cNvCxnSpPr/>
            <p:nvPr/>
          </p:nvCxnSpPr>
          <p:spPr>
            <a:xfrm>
              <a:off x="4141694" y="2279417"/>
              <a:ext cx="13448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68427" y="1962194"/>
              <a:ext cx="1302381" cy="237493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4BB6C3-BD1B-4A4C-9B3B-81CC0C439408}"/>
              </a:ext>
            </a:extLst>
          </p:cNvPr>
          <p:cNvGrpSpPr/>
          <p:nvPr/>
        </p:nvGrpSpPr>
        <p:grpSpPr>
          <a:xfrm>
            <a:off x="5088285" y="2063378"/>
            <a:ext cx="2929023" cy="515861"/>
            <a:chOff x="5088285" y="2063378"/>
            <a:chExt cx="2929023" cy="515861"/>
          </a:xfrm>
        </p:grpSpPr>
        <p:cxnSp>
          <p:nvCxnSpPr>
            <p:cNvPr id="80" name="Straight Arrow Connector 79"/>
            <p:cNvCxnSpPr/>
            <p:nvPr/>
          </p:nvCxnSpPr>
          <p:spPr>
            <a:xfrm flipH="1">
              <a:off x="5088285" y="2279417"/>
              <a:ext cx="440649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5528934" y="2063378"/>
              <a:ext cx="2488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excited states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9571DA7-67B1-4758-A668-EDE54649F5AC}"/>
              </a:ext>
            </a:extLst>
          </p:cNvPr>
          <p:cNvGrpSpPr/>
          <p:nvPr/>
        </p:nvGrpSpPr>
        <p:grpSpPr>
          <a:xfrm>
            <a:off x="521203" y="3967935"/>
            <a:ext cx="5241938" cy="461665"/>
            <a:chOff x="521203" y="3967935"/>
            <a:chExt cx="5241938" cy="461665"/>
          </a:xfrm>
        </p:grpSpPr>
        <p:sp>
          <p:nvSpPr>
            <p:cNvPr id="83" name="TextBox 82"/>
            <p:cNvSpPr txBox="1"/>
            <p:nvPr/>
          </p:nvSpPr>
          <p:spPr>
            <a:xfrm>
              <a:off x="521203" y="3967935"/>
              <a:ext cx="1621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Microstates:</a:t>
              </a:r>
            </a:p>
          </p:txBody>
        </p:sp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74155" y="4042843"/>
              <a:ext cx="3488986" cy="359589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D369015-D614-4885-9680-3CA65613DA29}"/>
              </a:ext>
            </a:extLst>
          </p:cNvPr>
          <p:cNvGrpSpPr/>
          <p:nvPr/>
        </p:nvGrpSpPr>
        <p:grpSpPr>
          <a:xfrm>
            <a:off x="247935" y="4359933"/>
            <a:ext cx="8295957" cy="1139409"/>
            <a:chOff x="247935" y="4359933"/>
            <a:chExt cx="8295957" cy="1139409"/>
          </a:xfrm>
        </p:grpSpPr>
        <p:sp>
          <p:nvSpPr>
            <p:cNvPr id="85" name="TextBox 84"/>
            <p:cNvSpPr txBox="1"/>
            <p:nvPr/>
          </p:nvSpPr>
          <p:spPr>
            <a:xfrm>
              <a:off x="247935" y="4878674"/>
              <a:ext cx="31280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Microstates distribution: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5959338" y="4359933"/>
              <a:ext cx="2584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(</a:t>
              </a:r>
              <a:r>
                <a:rPr lang="en-US" dirty="0" err="1"/>
                <a:t>Microcanonical</a:t>
              </a:r>
              <a:r>
                <a:rPr lang="en-US" dirty="0"/>
                <a:t> ensemble)</a:t>
              </a:r>
            </a:p>
          </p:txBody>
        </p:sp>
        <p:pic>
          <p:nvPicPr>
            <p:cNvPr id="88" name="Picture 8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68427" y="4773494"/>
              <a:ext cx="3902267" cy="725848"/>
            </a:xfrm>
            <a:prstGeom prst="rect">
              <a:avLst/>
            </a:prstGeom>
          </p:spPr>
        </p:pic>
      </p:grpSp>
      <p:pic>
        <p:nvPicPr>
          <p:cNvPr id="89" name="Picture 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0396" y="5779805"/>
            <a:ext cx="2762746" cy="769012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3089" y="6088760"/>
            <a:ext cx="1695210" cy="30010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7B703C0-6A10-4F5C-B85A-7A68A7CCEE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0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56" name="Freeform 55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10933794" y="3067719"/>
            <a:ext cx="507006" cy="503341"/>
            <a:chOff x="10933794" y="3067719"/>
            <a:chExt cx="507006" cy="503341"/>
          </a:xfrm>
        </p:grpSpPr>
        <p:sp>
          <p:nvSpPr>
            <p:cNvPr id="61" name="Rectangle 6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4" name="Group 63"/>
          <p:cNvGrpSpPr/>
          <p:nvPr/>
        </p:nvGrpSpPr>
        <p:grpSpPr>
          <a:xfrm>
            <a:off x="10932841" y="3593019"/>
            <a:ext cx="507006" cy="503341"/>
            <a:chOff x="10933794" y="3067719"/>
            <a:chExt cx="507006" cy="503341"/>
          </a:xfrm>
        </p:grpSpPr>
        <p:sp>
          <p:nvSpPr>
            <p:cNvPr id="65" name="Rectangle 64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0400509" y="4100347"/>
            <a:ext cx="507006" cy="503341"/>
            <a:chOff x="10933794" y="3067719"/>
            <a:chExt cx="507006" cy="503341"/>
          </a:xfrm>
        </p:grpSpPr>
        <p:sp>
          <p:nvSpPr>
            <p:cNvPr id="68" name="Rectangle 67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0" name="Group 69"/>
          <p:cNvGrpSpPr/>
          <p:nvPr/>
        </p:nvGrpSpPr>
        <p:grpSpPr>
          <a:xfrm>
            <a:off x="9336191" y="3579571"/>
            <a:ext cx="507006" cy="503341"/>
            <a:chOff x="10933794" y="3067719"/>
            <a:chExt cx="507006" cy="503341"/>
          </a:xfrm>
        </p:grpSpPr>
        <p:sp>
          <p:nvSpPr>
            <p:cNvPr id="71" name="Rectangle 7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3" name="Group 72"/>
          <p:cNvGrpSpPr/>
          <p:nvPr/>
        </p:nvGrpSpPr>
        <p:grpSpPr>
          <a:xfrm>
            <a:off x="8806758" y="5125439"/>
            <a:ext cx="507006" cy="503341"/>
            <a:chOff x="10933794" y="3067719"/>
            <a:chExt cx="507006" cy="503341"/>
          </a:xfrm>
        </p:grpSpPr>
        <p:sp>
          <p:nvSpPr>
            <p:cNvPr id="74" name="Rectangle 73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cxnSp>
        <p:nvCxnSpPr>
          <p:cNvPr id="80" name="Straight Arrow Connector 79"/>
          <p:cNvCxnSpPr/>
          <p:nvPr/>
        </p:nvCxnSpPr>
        <p:spPr>
          <a:xfrm flipH="1">
            <a:off x="5088285" y="2279417"/>
            <a:ext cx="440649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28934" y="2063378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excited states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141694" y="2279417"/>
            <a:ext cx="13448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427" y="1962194"/>
            <a:ext cx="1302381" cy="2374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106" y="4319648"/>
            <a:ext cx="1655856" cy="2927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/>
          <a:srcRect r="81861" b="50938"/>
          <a:stretch/>
        </p:blipFill>
        <p:spPr>
          <a:xfrm>
            <a:off x="158389" y="4719101"/>
            <a:ext cx="1402095" cy="875173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 rotWithShape="1">
          <a:blip r:embed="rId8"/>
          <a:srcRect l="17550" t="47050"/>
          <a:stretch/>
        </p:blipFill>
        <p:spPr>
          <a:xfrm>
            <a:off x="1613318" y="4628008"/>
            <a:ext cx="6373175" cy="9445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7768" y="5761300"/>
            <a:ext cx="4177204" cy="98674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9037" y="5926979"/>
            <a:ext cx="3494975" cy="682548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0396" y="5779805"/>
            <a:ext cx="2762746" cy="769012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3089" y="6088760"/>
            <a:ext cx="1695210" cy="300109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1802" y="2530438"/>
            <a:ext cx="4340198" cy="3248492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4" name="Group 13"/>
          <p:cNvGrpSpPr/>
          <p:nvPr/>
        </p:nvGrpSpPr>
        <p:grpSpPr>
          <a:xfrm>
            <a:off x="8617486" y="5480892"/>
            <a:ext cx="1682247" cy="488890"/>
            <a:chOff x="8617486" y="5480892"/>
            <a:chExt cx="1682247" cy="488890"/>
          </a:xfrm>
        </p:grpSpPr>
        <p:sp>
          <p:nvSpPr>
            <p:cNvPr id="9" name="TextBox 8"/>
            <p:cNvSpPr txBox="1"/>
            <p:nvPr/>
          </p:nvSpPr>
          <p:spPr>
            <a:xfrm>
              <a:off x="9126463" y="5508117"/>
              <a:ext cx="1173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</a:rPr>
                <a:t>3</a:t>
              </a:r>
              <a:r>
                <a:rPr lang="en-US" sz="2400" b="1" baseline="30000">
                  <a:solidFill>
                    <a:srgbClr val="FF0000"/>
                  </a:solidFill>
                </a:rPr>
                <a:t>rd</a:t>
              </a:r>
              <a:r>
                <a:rPr lang="en-US" sz="2400" b="1">
                  <a:solidFill>
                    <a:srgbClr val="FF0000"/>
                  </a:solidFill>
                </a:rPr>
                <a:t> law 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8617486" y="5480892"/>
              <a:ext cx="487144" cy="2181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5C3AFF04-EDBB-4630-A01F-1574EFAF88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4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-0.08816 -0.373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14" y="-1868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7.40741E-7 L -0.09466 -0.365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1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761" y="3602298"/>
            <a:ext cx="1695210" cy="300109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5857270" y="2997332"/>
            <a:ext cx="5590022" cy="2633548"/>
            <a:chOff x="5857270" y="2997332"/>
            <a:chExt cx="5590022" cy="2633548"/>
          </a:xfrm>
        </p:grpSpPr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7270" y="2997332"/>
              <a:ext cx="2760216" cy="266612"/>
            </a:xfrm>
            <a:prstGeom prst="rect">
              <a:avLst/>
            </a:prstGeom>
          </p:spPr>
        </p:pic>
        <p:grpSp>
          <p:nvGrpSpPr>
            <p:cNvPr id="4" name="Group 3"/>
            <p:cNvGrpSpPr/>
            <p:nvPr/>
          </p:nvGrpSpPr>
          <p:grpSpPr>
            <a:xfrm>
              <a:off x="8191276" y="3063239"/>
              <a:ext cx="3256016" cy="2567641"/>
              <a:chOff x="8191276" y="3063239"/>
              <a:chExt cx="3256016" cy="2567641"/>
            </a:xfrm>
          </p:grpSpPr>
          <p:grpSp>
            <p:nvGrpSpPr>
              <p:cNvPr id="48" name="Group 47"/>
              <p:cNvGrpSpPr/>
              <p:nvPr/>
            </p:nvGrpSpPr>
            <p:grpSpPr>
              <a:xfrm rot="16200000">
                <a:off x="8828880" y="3012468"/>
                <a:ext cx="2567641" cy="2669183"/>
                <a:chOff x="8616462" y="3192098"/>
                <a:chExt cx="2661390" cy="2985796"/>
              </a:xfrm>
            </p:grpSpPr>
            <p:cxnSp>
              <p:nvCxnSpPr>
                <p:cNvPr id="49" name="Straight Connector 48"/>
                <p:cNvCxnSpPr/>
                <p:nvPr/>
              </p:nvCxnSpPr>
              <p:spPr>
                <a:xfrm flipH="1">
                  <a:off x="8616462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 flipH="1">
                  <a:off x="9148338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 flipH="1">
                  <a:off x="9680214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 flipH="1">
                  <a:off x="10212090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 flipH="1">
                  <a:off x="10743966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 flipH="1">
                  <a:off x="11275842" y="3192098"/>
                  <a:ext cx="2010" cy="298579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Freeform 55"/>
              <p:cNvSpPr/>
              <p:nvPr/>
            </p:nvSpPr>
            <p:spPr>
              <a:xfrm>
                <a:off x="8191276" y="3371180"/>
                <a:ext cx="1234440" cy="971550"/>
              </a:xfrm>
              <a:custGeom>
                <a:avLst/>
                <a:gdLst>
                  <a:gd name="connsiteX0" fmla="*/ 0 w 1234440"/>
                  <a:gd name="connsiteY0" fmla="*/ 0 h 971550"/>
                  <a:gd name="connsiteX1" fmla="*/ 388620 w 1234440"/>
                  <a:gd name="connsiteY1" fmla="*/ 697230 h 971550"/>
                  <a:gd name="connsiteX2" fmla="*/ 708660 w 1234440"/>
                  <a:gd name="connsiteY2" fmla="*/ 34290 h 971550"/>
                  <a:gd name="connsiteX3" fmla="*/ 1234440 w 1234440"/>
                  <a:gd name="connsiteY3" fmla="*/ 971550 h 971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4440" h="971550">
                    <a:moveTo>
                      <a:pt x="0" y="0"/>
                    </a:moveTo>
                    <a:cubicBezTo>
                      <a:pt x="135255" y="345757"/>
                      <a:pt x="270510" y="691515"/>
                      <a:pt x="388620" y="697230"/>
                    </a:cubicBezTo>
                    <a:cubicBezTo>
                      <a:pt x="506730" y="702945"/>
                      <a:pt x="567690" y="-11430"/>
                      <a:pt x="708660" y="34290"/>
                    </a:cubicBezTo>
                    <a:cubicBezTo>
                      <a:pt x="849630" y="80010"/>
                      <a:pt x="1234440" y="971550"/>
                      <a:pt x="1234440" y="971550"/>
                    </a:cubicBezTo>
                  </a:path>
                </a:pathLst>
              </a:cu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8" name="Picture 5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22044" y="4321286"/>
                <a:ext cx="759966" cy="178010"/>
              </a:xfrm>
              <a:prstGeom prst="rect">
                <a:avLst/>
              </a:prstGeom>
            </p:spPr>
          </p:pic>
          <p:grpSp>
            <p:nvGrpSpPr>
              <p:cNvPr id="63" name="Group 62"/>
              <p:cNvGrpSpPr/>
              <p:nvPr/>
            </p:nvGrpSpPr>
            <p:grpSpPr>
              <a:xfrm>
                <a:off x="10933794" y="3067719"/>
                <a:ext cx="507006" cy="503341"/>
                <a:chOff x="10933794" y="3067719"/>
                <a:chExt cx="507006" cy="503341"/>
              </a:xfrm>
            </p:grpSpPr>
            <p:sp>
              <p:nvSpPr>
                <p:cNvPr id="61" name="Rectangle 60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2" name="Picture 6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64" name="Group 63"/>
              <p:cNvGrpSpPr/>
              <p:nvPr/>
            </p:nvGrpSpPr>
            <p:grpSpPr>
              <a:xfrm>
                <a:off x="10932841" y="3593019"/>
                <a:ext cx="507006" cy="503341"/>
                <a:chOff x="10933794" y="3067719"/>
                <a:chExt cx="507006" cy="503341"/>
              </a:xfrm>
            </p:grpSpPr>
            <p:sp>
              <p:nvSpPr>
                <p:cNvPr id="65" name="Rectangle 64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6" name="Picture 65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oup 66"/>
              <p:cNvGrpSpPr/>
              <p:nvPr/>
            </p:nvGrpSpPr>
            <p:grpSpPr>
              <a:xfrm>
                <a:off x="10400509" y="4100347"/>
                <a:ext cx="507006" cy="503341"/>
                <a:chOff x="10933794" y="3067719"/>
                <a:chExt cx="507006" cy="503341"/>
              </a:xfrm>
            </p:grpSpPr>
            <p:sp>
              <p:nvSpPr>
                <p:cNvPr id="68" name="Rectangle 67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9" name="Picture 68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70" name="Group 69"/>
              <p:cNvGrpSpPr/>
              <p:nvPr/>
            </p:nvGrpSpPr>
            <p:grpSpPr>
              <a:xfrm>
                <a:off x="9336191" y="3579571"/>
                <a:ext cx="507006" cy="503341"/>
                <a:chOff x="10933794" y="3067719"/>
                <a:chExt cx="507006" cy="503341"/>
              </a:xfrm>
            </p:grpSpPr>
            <p:sp>
              <p:nvSpPr>
                <p:cNvPr id="71" name="Rectangle 70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2" name="Picture 7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  <p:grpSp>
            <p:nvGrpSpPr>
              <p:cNvPr id="73" name="Group 72"/>
              <p:cNvGrpSpPr/>
              <p:nvPr/>
            </p:nvGrpSpPr>
            <p:grpSpPr>
              <a:xfrm>
                <a:off x="8806758" y="5125439"/>
                <a:ext cx="507006" cy="503341"/>
                <a:chOff x="10933794" y="3067719"/>
                <a:chExt cx="507006" cy="503341"/>
              </a:xfrm>
            </p:grpSpPr>
            <p:sp>
              <p:nvSpPr>
                <p:cNvPr id="74" name="Rectangle 73"/>
                <p:cNvSpPr/>
                <p:nvPr/>
              </p:nvSpPr>
              <p:spPr>
                <a:xfrm>
                  <a:off x="10933794" y="3067719"/>
                  <a:ext cx="507006" cy="503341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5" name="Picture 74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095327" y="3193772"/>
                  <a:ext cx="165100" cy="203200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6" name="Picture 7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802" y="2530438"/>
            <a:ext cx="4340198" cy="324849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040" y="2469341"/>
            <a:ext cx="5640792" cy="286613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cxnSp>
        <p:nvCxnSpPr>
          <p:cNvPr id="80" name="Straight Arrow Connector 79"/>
          <p:cNvCxnSpPr/>
          <p:nvPr/>
        </p:nvCxnSpPr>
        <p:spPr>
          <a:xfrm flipH="1">
            <a:off x="5088285" y="2279417"/>
            <a:ext cx="440649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28934" y="2063378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excited states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0068" y="3293343"/>
            <a:ext cx="2762746" cy="769012"/>
          </a:xfrm>
          <a:prstGeom prst="rect">
            <a:avLst/>
          </a:prstGeom>
        </p:spPr>
      </p:pic>
      <p:cxnSp>
        <p:nvCxnSpPr>
          <p:cNvPr id="57" name="Straight Arrow Connector 56"/>
          <p:cNvCxnSpPr/>
          <p:nvPr/>
        </p:nvCxnSpPr>
        <p:spPr>
          <a:xfrm>
            <a:off x="4141694" y="2279417"/>
            <a:ext cx="13448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8427" y="1962194"/>
            <a:ext cx="1302381" cy="237493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05381" y="4915746"/>
            <a:ext cx="7331827" cy="1360702"/>
            <a:chOff x="505381" y="4915746"/>
            <a:chExt cx="7331827" cy="136070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46905" y="5307292"/>
              <a:ext cx="6690303" cy="96915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505381" y="4915746"/>
              <a:ext cx="1699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Heat capacity: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365614" y="2815092"/>
            <a:ext cx="3748594" cy="441322"/>
            <a:chOff x="8365614" y="2815092"/>
            <a:chExt cx="3748594" cy="441322"/>
          </a:xfrm>
        </p:grpSpPr>
        <p:sp>
          <p:nvSpPr>
            <p:cNvPr id="21" name="TextBox 20"/>
            <p:cNvSpPr txBox="1"/>
            <p:nvPr/>
          </p:nvSpPr>
          <p:spPr>
            <a:xfrm>
              <a:off x="8563492" y="2815092"/>
              <a:ext cx="3550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Started to deplete </a:t>
              </a:r>
              <a:r>
                <a:rPr lang="en-US"/>
                <a:t>the excited states</a:t>
              </a:r>
              <a:endParaRPr lang="en-US" dirty="0"/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 flipH="1">
              <a:off x="8365614" y="3010946"/>
              <a:ext cx="187558" cy="2454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977630" y="2496722"/>
            <a:ext cx="3896497" cy="2234498"/>
            <a:chOff x="6977630" y="2496722"/>
            <a:chExt cx="3896497" cy="2234498"/>
          </a:xfrm>
        </p:grpSpPr>
        <p:cxnSp>
          <p:nvCxnSpPr>
            <p:cNvPr id="78" name="Straight Arrow Connector 77"/>
            <p:cNvCxnSpPr/>
            <p:nvPr/>
          </p:nvCxnSpPr>
          <p:spPr>
            <a:xfrm flipH="1">
              <a:off x="6977630" y="3193772"/>
              <a:ext cx="260341" cy="15374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61552" y="2909813"/>
              <a:ext cx="847769" cy="19658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7005439" y="2496722"/>
              <a:ext cx="38686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Energy gap (minimum excitation energy)</a:t>
              </a:r>
            </a:p>
          </p:txBody>
        </p:sp>
      </p:grpSp>
      <p:pic>
        <p:nvPicPr>
          <p:cNvPr id="81" name="Picture 80"/>
          <p:cNvPicPr>
            <a:picLocks noChangeAspect="1"/>
          </p:cNvPicPr>
          <p:nvPr/>
        </p:nvPicPr>
        <p:blipFill rotWithShape="1">
          <a:blip r:embed="rId14"/>
          <a:srcRect l="10553"/>
          <a:stretch/>
        </p:blipFill>
        <p:spPr>
          <a:xfrm>
            <a:off x="1854815" y="4017744"/>
            <a:ext cx="2929529" cy="63961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C9BE32C3-14F1-4C41-972E-35676435848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7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two level system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56" name="Freeform 55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10933794" y="3067719"/>
            <a:ext cx="507006" cy="503341"/>
            <a:chOff x="10933794" y="3067719"/>
            <a:chExt cx="507006" cy="503341"/>
          </a:xfrm>
        </p:grpSpPr>
        <p:sp>
          <p:nvSpPr>
            <p:cNvPr id="61" name="Rectangle 6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4" name="Group 63"/>
          <p:cNvGrpSpPr/>
          <p:nvPr/>
        </p:nvGrpSpPr>
        <p:grpSpPr>
          <a:xfrm>
            <a:off x="10932841" y="3593019"/>
            <a:ext cx="507006" cy="503341"/>
            <a:chOff x="10933794" y="3067719"/>
            <a:chExt cx="507006" cy="503341"/>
          </a:xfrm>
        </p:grpSpPr>
        <p:sp>
          <p:nvSpPr>
            <p:cNvPr id="65" name="Rectangle 64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10400509" y="4100347"/>
            <a:ext cx="507006" cy="503341"/>
            <a:chOff x="10933794" y="3067719"/>
            <a:chExt cx="507006" cy="503341"/>
          </a:xfrm>
        </p:grpSpPr>
        <p:sp>
          <p:nvSpPr>
            <p:cNvPr id="68" name="Rectangle 67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0" name="Group 69"/>
          <p:cNvGrpSpPr/>
          <p:nvPr/>
        </p:nvGrpSpPr>
        <p:grpSpPr>
          <a:xfrm>
            <a:off x="9336191" y="3579571"/>
            <a:ext cx="507006" cy="503341"/>
            <a:chOff x="10933794" y="3067719"/>
            <a:chExt cx="507006" cy="503341"/>
          </a:xfrm>
        </p:grpSpPr>
        <p:sp>
          <p:nvSpPr>
            <p:cNvPr id="71" name="Rectangle 70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grpSp>
        <p:nvGrpSpPr>
          <p:cNvPr id="73" name="Group 72"/>
          <p:cNvGrpSpPr/>
          <p:nvPr/>
        </p:nvGrpSpPr>
        <p:grpSpPr>
          <a:xfrm>
            <a:off x="8806758" y="5125439"/>
            <a:ext cx="507006" cy="503341"/>
            <a:chOff x="10933794" y="3067719"/>
            <a:chExt cx="507006" cy="503341"/>
          </a:xfrm>
        </p:grpSpPr>
        <p:sp>
          <p:nvSpPr>
            <p:cNvPr id="74" name="Rectangle 73"/>
            <p:cNvSpPr/>
            <p:nvPr/>
          </p:nvSpPr>
          <p:spPr>
            <a:xfrm>
              <a:off x="10933794" y="3067719"/>
              <a:ext cx="507006" cy="5033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5327" y="3193772"/>
              <a:ext cx="165100" cy="203200"/>
            </a:xfrm>
            <a:prstGeom prst="rect">
              <a:avLst/>
            </a:prstGeom>
          </p:spPr>
        </p:pic>
      </p:grpSp>
      <p:cxnSp>
        <p:nvCxnSpPr>
          <p:cNvPr id="80" name="Straight Arrow Connector 79"/>
          <p:cNvCxnSpPr/>
          <p:nvPr/>
        </p:nvCxnSpPr>
        <p:spPr>
          <a:xfrm flipH="1">
            <a:off x="5088285" y="2279417"/>
            <a:ext cx="440649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28934" y="2063378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excited states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0068" y="3293343"/>
            <a:ext cx="2762746" cy="769012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2761" y="3602298"/>
            <a:ext cx="1695210" cy="300109"/>
          </a:xfrm>
          <a:prstGeom prst="rect">
            <a:avLst/>
          </a:prstGeom>
        </p:spPr>
      </p:pic>
      <p:cxnSp>
        <p:nvCxnSpPr>
          <p:cNvPr id="57" name="Straight Arrow Connector 56"/>
          <p:cNvCxnSpPr/>
          <p:nvPr/>
        </p:nvCxnSpPr>
        <p:spPr>
          <a:xfrm>
            <a:off x="4141694" y="2279417"/>
            <a:ext cx="13448" cy="29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8427" y="1962194"/>
            <a:ext cx="1302381" cy="237493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 rotWithShape="1">
          <a:blip r:embed="rId10"/>
          <a:srcRect l="10553"/>
          <a:stretch/>
        </p:blipFill>
        <p:spPr>
          <a:xfrm>
            <a:off x="1854815" y="4017744"/>
            <a:ext cx="2929529" cy="6396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2890" y="5852794"/>
            <a:ext cx="3615081" cy="4802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2731" y="2470493"/>
            <a:ext cx="4293926" cy="29918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3" name="Group 22"/>
          <p:cNvGrpSpPr/>
          <p:nvPr/>
        </p:nvGrpSpPr>
        <p:grpSpPr>
          <a:xfrm>
            <a:off x="7920337" y="2063378"/>
            <a:ext cx="2302424" cy="754993"/>
            <a:chOff x="7920337" y="2063378"/>
            <a:chExt cx="2302424" cy="754993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7920337" y="2429328"/>
              <a:ext cx="505877" cy="38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218558" y="2063378"/>
              <a:ext cx="200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Lowest energy state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956675" y="4418772"/>
            <a:ext cx="1635062" cy="490189"/>
            <a:chOff x="9956675" y="4418772"/>
            <a:chExt cx="1635062" cy="490189"/>
          </a:xfrm>
        </p:grpSpPr>
        <p:sp>
          <p:nvSpPr>
            <p:cNvPr id="7" name="TextBox 6"/>
            <p:cNvSpPr txBox="1"/>
            <p:nvPr/>
          </p:nvSpPr>
          <p:spPr>
            <a:xfrm>
              <a:off x="9956675" y="4418772"/>
              <a:ext cx="11821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Randomize</a:t>
              </a:r>
            </a:p>
          </p:txBody>
        </p:sp>
        <p:sp>
          <p:nvSpPr>
            <p:cNvPr id="81" name="Right Arrow 80"/>
            <p:cNvSpPr/>
            <p:nvPr/>
          </p:nvSpPr>
          <p:spPr>
            <a:xfrm>
              <a:off x="10873138" y="4657363"/>
              <a:ext cx="718599" cy="251598"/>
            </a:xfrm>
            <a:prstGeom prst="rightArrow">
              <a:avLst/>
            </a:prstGeom>
            <a:gradFill>
              <a:gsLst>
                <a:gs pos="0">
                  <a:schemeClr val="bg1">
                    <a:alpha val="60000"/>
                  </a:schemeClr>
                </a:gs>
                <a:gs pos="74000">
                  <a:schemeClr val="bg1">
                    <a:lumMod val="75000"/>
                  </a:schemeClr>
                </a:gs>
                <a:gs pos="8300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59A8FA-53EC-4D63-8C31-86CE957E5552}"/>
              </a:ext>
            </a:extLst>
          </p:cNvPr>
          <p:cNvGrpSpPr/>
          <p:nvPr/>
        </p:nvGrpSpPr>
        <p:grpSpPr>
          <a:xfrm>
            <a:off x="505381" y="4822390"/>
            <a:ext cx="6328276" cy="1525189"/>
            <a:chOff x="505381" y="4822390"/>
            <a:chExt cx="6328276" cy="1525189"/>
          </a:xfrm>
        </p:grpSpPr>
        <p:grpSp>
          <p:nvGrpSpPr>
            <p:cNvPr id="9" name="Group 8"/>
            <p:cNvGrpSpPr/>
            <p:nvPr/>
          </p:nvGrpSpPr>
          <p:grpSpPr>
            <a:xfrm>
              <a:off x="505381" y="4915746"/>
              <a:ext cx="6113981" cy="1431833"/>
              <a:chOff x="505381" y="4915746"/>
              <a:chExt cx="6113981" cy="1431833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505381" y="4915746"/>
                <a:ext cx="6113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At each site, what is the probability to find a     or  </a:t>
                </a:r>
              </a:p>
              <a:p>
                <a:r>
                  <a:rPr lang="en-US" sz="2000" b="1" dirty="0"/>
                  <a:t>energy state:</a:t>
                </a:r>
              </a:p>
            </p:txBody>
          </p:sp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63413" y="5020412"/>
                <a:ext cx="125042" cy="203193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22695" y="5864634"/>
                <a:ext cx="2347336" cy="482945"/>
              </a:xfrm>
              <a:prstGeom prst="rect">
                <a:avLst/>
              </a:prstGeom>
            </p:spPr>
          </p:pic>
        </p:grp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E86A7E2-A04B-4B75-B916-D4DF63062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242956" y="4822390"/>
              <a:ext cx="590701" cy="590701"/>
            </a:xfrm>
            <a:prstGeom prst="rect">
              <a:avLst/>
            </a:prstGeom>
          </p:spPr>
        </p:pic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1465" y="5702990"/>
            <a:ext cx="4282717" cy="86838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46A2CD8-F870-4795-8718-9A366607CE2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8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4B76-0A5B-4199-A1FC-E2E86B0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Lagrange Multiplier and the most probable distribution.</a:t>
            </a:r>
            <a:endParaRPr lang="en-MY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B90379-F79A-40FC-9107-FBDCF992CD5C}"/>
              </a:ext>
            </a:extLst>
          </p:cNvPr>
          <p:cNvGrpSpPr/>
          <p:nvPr/>
        </p:nvGrpSpPr>
        <p:grpSpPr>
          <a:xfrm>
            <a:off x="1176528" y="3210172"/>
            <a:ext cx="4314667" cy="1013289"/>
            <a:chOff x="1176528" y="3210172"/>
            <a:chExt cx="4314667" cy="10132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40229-46B5-4E46-9A19-C4BA88DC1673}"/>
                </a:ext>
              </a:extLst>
            </p:cNvPr>
            <p:cNvSpPr/>
            <p:nvPr/>
          </p:nvSpPr>
          <p:spPr>
            <a:xfrm>
              <a:off x="179201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1E3D61-95FA-430B-886A-F7DC46FF1B4B}"/>
                </a:ext>
              </a:extLst>
            </p:cNvPr>
            <p:cNvSpPr/>
            <p:nvPr/>
          </p:nvSpPr>
          <p:spPr>
            <a:xfrm>
              <a:off x="117652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F7FDB0-BC1A-423D-9159-A21B1B9BE2D2}"/>
                </a:ext>
              </a:extLst>
            </p:cNvPr>
            <p:cNvSpPr/>
            <p:nvPr/>
          </p:nvSpPr>
          <p:spPr>
            <a:xfrm>
              <a:off x="3022986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5588FD-3A56-4FE7-A6A6-B9492BCAEE35}"/>
                </a:ext>
              </a:extLst>
            </p:cNvPr>
            <p:cNvSpPr/>
            <p:nvPr/>
          </p:nvSpPr>
          <p:spPr>
            <a:xfrm>
              <a:off x="2407500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80BC6A-2FE8-4FDC-AA2B-7321276E95A3}"/>
                </a:ext>
              </a:extLst>
            </p:cNvPr>
            <p:cNvSpPr/>
            <p:nvPr/>
          </p:nvSpPr>
          <p:spPr>
            <a:xfrm>
              <a:off x="486944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049395-444B-4372-B8FD-3B9A28A9FE22}"/>
                </a:ext>
              </a:extLst>
            </p:cNvPr>
            <p:cNvSpPr/>
            <p:nvPr/>
          </p:nvSpPr>
          <p:spPr>
            <a:xfrm>
              <a:off x="425395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265871-D734-43E0-975A-AC4E9B5D1A22}"/>
                </a:ext>
              </a:extLst>
            </p:cNvPr>
            <p:cNvSpPr txBox="1"/>
            <p:nvPr/>
          </p:nvSpPr>
          <p:spPr>
            <a:xfrm>
              <a:off x="3623050" y="3210172"/>
              <a:ext cx="64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……</a:t>
              </a:r>
              <a:endParaRPr lang="en-MY" sz="2400" b="1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E2D07A7-F221-46F4-B1E3-6524D9976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8046" y="3802142"/>
              <a:ext cx="466863" cy="39769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8B92377-FEA7-438F-B85D-B1CC10204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0758" y="3815534"/>
              <a:ext cx="466863" cy="397698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A44C600-07F6-4E0B-89BF-744E7BAD4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67636" y="3818982"/>
              <a:ext cx="466863" cy="397698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7A9D5E01-1B17-4BB8-9F78-C15C5A059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08709" y="3783746"/>
              <a:ext cx="484155" cy="397699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4D5D980-9165-4F96-BA92-79514D16F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4200" y="3825763"/>
              <a:ext cx="778105" cy="397698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FC45FF5-878A-480D-B0AC-81F7E4F2A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55167" y="3786349"/>
              <a:ext cx="536028" cy="397698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72228F-50B9-470B-BF39-47D46C6C6ABE}"/>
              </a:ext>
            </a:extLst>
          </p:cNvPr>
          <p:cNvGrpSpPr/>
          <p:nvPr/>
        </p:nvGrpSpPr>
        <p:grpSpPr>
          <a:xfrm>
            <a:off x="853425" y="2209768"/>
            <a:ext cx="2326342" cy="807766"/>
            <a:chOff x="853425" y="2209768"/>
            <a:chExt cx="2326342" cy="807766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C520C1E4-D76B-4A80-9076-F35A37B81EE8}"/>
                </a:ext>
              </a:extLst>
            </p:cNvPr>
            <p:cNvSpPr/>
            <p:nvPr/>
          </p:nvSpPr>
          <p:spPr>
            <a:xfrm rot="2557179">
              <a:off x="1704509" y="2758343"/>
              <a:ext cx="670084" cy="2591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F3F57E-BB3B-4CC2-BFC0-DC866D8AB4AC}"/>
                </a:ext>
              </a:extLst>
            </p:cNvPr>
            <p:cNvSpPr txBox="1"/>
            <p:nvPr/>
          </p:nvSpPr>
          <p:spPr>
            <a:xfrm>
              <a:off x="853425" y="2209768"/>
              <a:ext cx="2326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particles in K levels</a:t>
              </a:r>
              <a:endParaRPr lang="en-MY" dirty="0"/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064C0175-BC1F-4D33-828C-67F03B3FC3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95263" y="2810789"/>
            <a:ext cx="2710281" cy="85793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6D2BDD5-BF6F-49C2-B5C9-C372B77342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251" y="4406523"/>
            <a:ext cx="1846458" cy="47480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9513070-CF78-4DD9-9CAA-138682C4B928}"/>
              </a:ext>
            </a:extLst>
          </p:cNvPr>
          <p:cNvGrpSpPr/>
          <p:nvPr/>
        </p:nvGrpSpPr>
        <p:grpSpPr>
          <a:xfrm>
            <a:off x="6413101" y="3726496"/>
            <a:ext cx="4874604" cy="521282"/>
            <a:chOff x="7495263" y="3749788"/>
            <a:chExt cx="4874604" cy="52128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9488E6-4B43-452E-85E4-F0CE13779E67}"/>
                </a:ext>
              </a:extLst>
            </p:cNvPr>
            <p:cNvSpPr txBox="1"/>
            <p:nvPr/>
          </p:nvSpPr>
          <p:spPr>
            <a:xfrm>
              <a:off x="7495263" y="3825763"/>
              <a:ext cx="4874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What distribution of        give largest                ? </a:t>
              </a:r>
              <a:endParaRPr lang="en-MY" dirty="0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1D515F3-10D6-40AB-A542-46F4762FA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093585" y="3749788"/>
              <a:ext cx="1098415" cy="521282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583766F7-FFAC-4A2D-982E-32D76D136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13884" y="3783746"/>
              <a:ext cx="646331" cy="464032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32572F5-58A3-41B7-BF8B-4ED62A191408}"/>
              </a:ext>
            </a:extLst>
          </p:cNvPr>
          <p:cNvSpPr txBox="1"/>
          <p:nvPr/>
        </p:nvSpPr>
        <p:spPr>
          <a:xfrm>
            <a:off x="6413101" y="4296386"/>
            <a:ext cx="212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the constraint:</a:t>
            </a:r>
            <a:endParaRPr lang="en-MY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CB69D7A5-5583-4E7A-BD09-91B0E0DA2B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91981" y="4116956"/>
            <a:ext cx="1319441" cy="908187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25BC3B9-78BF-4172-BF67-44763542DD0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71681" y="4160849"/>
            <a:ext cx="1409503" cy="87886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5911D84-8CE4-49E0-BE5C-2BF95AA0568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08060" y="3409734"/>
            <a:ext cx="431401" cy="413426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7EE1695-09C9-4B8B-A1FE-E340C36EA1B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819394" y="3409731"/>
            <a:ext cx="431401" cy="41342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1C49BB5E-1D01-4595-AEC8-6DDE916170B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932881" y="3409730"/>
            <a:ext cx="507790" cy="417113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ACC0C7A3-0FD6-4814-8670-3F7A3509621D}"/>
              </a:ext>
            </a:extLst>
          </p:cNvPr>
          <p:cNvGrpSpPr/>
          <p:nvPr/>
        </p:nvGrpSpPr>
        <p:grpSpPr>
          <a:xfrm>
            <a:off x="4277900" y="4937444"/>
            <a:ext cx="2184957" cy="775025"/>
            <a:chOff x="3623050" y="4688544"/>
            <a:chExt cx="2184957" cy="775025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77A9A70-79F7-4D11-9C92-1A0A1AB519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8472" y="4992498"/>
              <a:ext cx="307743" cy="47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585773-655D-4022-987E-921CCA48E622}"/>
                </a:ext>
              </a:extLst>
            </p:cNvPr>
            <p:cNvSpPr txBox="1"/>
            <p:nvPr/>
          </p:nvSpPr>
          <p:spPr>
            <a:xfrm>
              <a:off x="3623050" y="4688544"/>
              <a:ext cx="2184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Monotonic function</a:t>
              </a:r>
              <a:endParaRPr lang="en-MY" dirty="0"/>
            </a:p>
          </p:txBody>
        </p:sp>
      </p:grpSp>
      <p:pic>
        <p:nvPicPr>
          <p:cNvPr id="63" name="Graphic 62">
            <a:extLst>
              <a:ext uri="{FF2B5EF4-FFF2-40B4-BE49-F238E27FC236}">
                <a16:creationId xmlns:a16="http://schemas.microsoft.com/office/drawing/2014/main" id="{351F1747-45A0-4D64-8FBB-9480E3814B0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481270" y="5526077"/>
            <a:ext cx="5716046" cy="765542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97EEAA8-2126-42DC-8607-B1C13640CC65}"/>
              </a:ext>
            </a:extLst>
          </p:cNvPr>
          <p:cNvGrpSpPr/>
          <p:nvPr/>
        </p:nvGrpSpPr>
        <p:grpSpPr>
          <a:xfrm>
            <a:off x="5053566" y="6028024"/>
            <a:ext cx="2243371" cy="774186"/>
            <a:chOff x="4398716" y="5779124"/>
            <a:chExt cx="2243371" cy="774186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ABB1830-5BED-43F0-A8A9-4AE77295B9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1701" y="5779124"/>
              <a:ext cx="393466" cy="493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F056C85-1003-4560-B2C1-F1B821A0C5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5779124"/>
              <a:ext cx="189186" cy="3841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2E363FF-3B8D-4A7D-8858-5AA628DBADD8}"/>
                </a:ext>
              </a:extLst>
            </p:cNvPr>
            <p:cNvSpPr txBox="1"/>
            <p:nvPr/>
          </p:nvSpPr>
          <p:spPr>
            <a:xfrm>
              <a:off x="4398716" y="6183978"/>
              <a:ext cx="2243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Lagrange multipliers</a:t>
              </a:r>
              <a:endParaRPr lang="en-MY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6F9758C-3FD3-463C-B7BE-41252FFEEFC6}"/>
              </a:ext>
            </a:extLst>
          </p:cNvPr>
          <p:cNvGrpSpPr/>
          <p:nvPr/>
        </p:nvGrpSpPr>
        <p:grpSpPr>
          <a:xfrm>
            <a:off x="1792014" y="5920669"/>
            <a:ext cx="2743636" cy="983539"/>
            <a:chOff x="1137164" y="5671769"/>
            <a:chExt cx="2743636" cy="983539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5C84864-47A7-4333-819B-BE6FEBA4E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4158" y="5671769"/>
              <a:ext cx="363333" cy="501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AD26337-7BCE-4541-B3FC-84EF902FB31A}"/>
                </a:ext>
              </a:extLst>
            </p:cNvPr>
            <p:cNvGrpSpPr/>
            <p:nvPr/>
          </p:nvGrpSpPr>
          <p:grpSpPr>
            <a:xfrm>
              <a:off x="1137164" y="6188936"/>
              <a:ext cx="2743636" cy="466372"/>
              <a:chOff x="1160302" y="6272784"/>
              <a:chExt cx="2743636" cy="466372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23E24FD-A536-4CD8-9821-D9676694CAC7}"/>
                  </a:ext>
                </a:extLst>
              </p:cNvPr>
              <p:cNvSpPr txBox="1"/>
              <p:nvPr/>
            </p:nvSpPr>
            <p:spPr>
              <a:xfrm>
                <a:off x="1160302" y="6285976"/>
                <a:ext cx="27436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Varying     independently </a:t>
                </a:r>
                <a:endParaRPr lang="en-MY" dirty="0"/>
              </a:p>
            </p:txBody>
          </p:sp>
          <p:pic>
            <p:nvPicPr>
              <p:cNvPr id="79" name="Graphic 78">
                <a:extLst>
                  <a:ext uri="{FF2B5EF4-FFF2-40B4-BE49-F238E27FC236}">
                    <a16:creationId xmlns:a16="http://schemas.microsoft.com/office/drawing/2014/main" id="{90CE68BA-2FCF-4340-9C79-A8F5B29B3B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1932017" y="6272784"/>
                <a:ext cx="506926" cy="466372"/>
              </a:xfrm>
              <a:prstGeom prst="rect">
                <a:avLst/>
              </a:prstGeom>
            </p:spPr>
          </p:pic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2491A7A-5E1F-48D4-A683-58CD4B71AE03}"/>
              </a:ext>
            </a:extLst>
          </p:cNvPr>
          <p:cNvGrpSpPr/>
          <p:nvPr/>
        </p:nvGrpSpPr>
        <p:grpSpPr>
          <a:xfrm>
            <a:off x="294585" y="5039715"/>
            <a:ext cx="3404394" cy="445189"/>
            <a:chOff x="294585" y="5039715"/>
            <a:chExt cx="3404394" cy="445189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65E9BC2-2116-4F80-846A-1905CEC7D819}"/>
                </a:ext>
              </a:extLst>
            </p:cNvPr>
            <p:cNvSpPr txBox="1"/>
            <p:nvPr/>
          </p:nvSpPr>
          <p:spPr>
            <a:xfrm>
              <a:off x="294585" y="5105583"/>
              <a:ext cx="3404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Maximize      without constraint:</a:t>
              </a:r>
              <a:endParaRPr lang="en-MY" dirty="0"/>
            </a:p>
          </p:txBody>
        </p:sp>
        <p:pic>
          <p:nvPicPr>
            <p:cNvPr id="86" name="Graphic 85">
              <a:extLst>
                <a:ext uri="{FF2B5EF4-FFF2-40B4-BE49-F238E27FC236}">
                  <a16:creationId xmlns:a16="http://schemas.microsoft.com/office/drawing/2014/main" id="{E9FCC93B-398B-4C06-99F1-2317357B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304601" y="5039715"/>
              <a:ext cx="426639" cy="445189"/>
            </a:xfrm>
            <a:prstGeom prst="rect">
              <a:avLst/>
            </a:prstGeom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112E82D7-6448-48C6-B2F3-13D5E62B10F5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2E71C3-3BFA-4408-AA7B-D12CBB5F88AB}"/>
              </a:ext>
            </a:extLst>
          </p:cNvPr>
          <p:cNvSpPr txBox="1"/>
          <p:nvPr/>
        </p:nvSpPr>
        <p:spPr>
          <a:xfrm>
            <a:off x="4293322" y="2218646"/>
            <a:ext cx="348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2 level it is easy to fix the energy </a:t>
            </a:r>
          </a:p>
        </p:txBody>
      </p:sp>
    </p:spTree>
    <p:extLst>
      <p:ext uri="{BB962C8B-B14F-4D97-AF65-F5344CB8AC3E}">
        <p14:creationId xmlns:p14="http://schemas.microsoft.com/office/powerpoint/2010/main" val="60668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4B76-0A5B-4199-A1FC-E2E86B0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Lagrange Multiplier and the most probable distribution.</a:t>
            </a:r>
            <a:endParaRPr lang="en-MY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B90379-F79A-40FC-9107-FBDCF992CD5C}"/>
              </a:ext>
            </a:extLst>
          </p:cNvPr>
          <p:cNvGrpSpPr/>
          <p:nvPr/>
        </p:nvGrpSpPr>
        <p:grpSpPr>
          <a:xfrm>
            <a:off x="1176528" y="3210172"/>
            <a:ext cx="4314667" cy="1013289"/>
            <a:chOff x="1176528" y="3210172"/>
            <a:chExt cx="4314667" cy="10132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40229-46B5-4E46-9A19-C4BA88DC1673}"/>
                </a:ext>
              </a:extLst>
            </p:cNvPr>
            <p:cNvSpPr/>
            <p:nvPr/>
          </p:nvSpPr>
          <p:spPr>
            <a:xfrm>
              <a:off x="179201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1E3D61-95FA-430B-886A-F7DC46FF1B4B}"/>
                </a:ext>
              </a:extLst>
            </p:cNvPr>
            <p:cNvSpPr/>
            <p:nvPr/>
          </p:nvSpPr>
          <p:spPr>
            <a:xfrm>
              <a:off x="117652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F7FDB0-BC1A-423D-9159-A21B1B9BE2D2}"/>
                </a:ext>
              </a:extLst>
            </p:cNvPr>
            <p:cNvSpPr/>
            <p:nvPr/>
          </p:nvSpPr>
          <p:spPr>
            <a:xfrm>
              <a:off x="3022986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5588FD-3A56-4FE7-A6A6-B9492BCAEE35}"/>
                </a:ext>
              </a:extLst>
            </p:cNvPr>
            <p:cNvSpPr/>
            <p:nvPr/>
          </p:nvSpPr>
          <p:spPr>
            <a:xfrm>
              <a:off x="2407500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80BC6A-2FE8-4FDC-AA2B-7321276E95A3}"/>
                </a:ext>
              </a:extLst>
            </p:cNvPr>
            <p:cNvSpPr/>
            <p:nvPr/>
          </p:nvSpPr>
          <p:spPr>
            <a:xfrm>
              <a:off x="4869444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049395-444B-4372-B8FD-3B9A28A9FE22}"/>
                </a:ext>
              </a:extLst>
            </p:cNvPr>
            <p:cNvSpPr/>
            <p:nvPr/>
          </p:nvSpPr>
          <p:spPr>
            <a:xfrm>
              <a:off x="4253958" y="3321266"/>
              <a:ext cx="615486" cy="5044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265871-D734-43E0-975A-AC4E9B5D1A22}"/>
                </a:ext>
              </a:extLst>
            </p:cNvPr>
            <p:cNvSpPr txBox="1"/>
            <p:nvPr/>
          </p:nvSpPr>
          <p:spPr>
            <a:xfrm>
              <a:off x="3623050" y="3210172"/>
              <a:ext cx="64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……</a:t>
              </a:r>
              <a:endParaRPr lang="en-MY" sz="2400" b="1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E2D07A7-F221-46F4-B1E3-6524D9976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8046" y="3802142"/>
              <a:ext cx="466863" cy="39769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8B92377-FEA7-438F-B85D-B1CC10204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0758" y="3815534"/>
              <a:ext cx="466863" cy="397698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A44C600-07F6-4E0B-89BF-744E7BAD4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67636" y="3818982"/>
              <a:ext cx="466863" cy="397698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7A9D5E01-1B17-4BB8-9F78-C15C5A059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08709" y="3783746"/>
              <a:ext cx="484155" cy="397699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4D5D980-9165-4F96-BA92-79514D16F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4200" y="3825763"/>
              <a:ext cx="778105" cy="397698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FC45FF5-878A-480D-B0AC-81F7E4F2A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55167" y="3786349"/>
              <a:ext cx="536028" cy="397698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72228F-50B9-470B-BF39-47D46C6C6ABE}"/>
              </a:ext>
            </a:extLst>
          </p:cNvPr>
          <p:cNvGrpSpPr/>
          <p:nvPr/>
        </p:nvGrpSpPr>
        <p:grpSpPr>
          <a:xfrm>
            <a:off x="853425" y="2209768"/>
            <a:ext cx="1521168" cy="807766"/>
            <a:chOff x="853425" y="2209768"/>
            <a:chExt cx="1521168" cy="807766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C520C1E4-D76B-4A80-9076-F35A37B81EE8}"/>
                </a:ext>
              </a:extLst>
            </p:cNvPr>
            <p:cNvSpPr/>
            <p:nvPr/>
          </p:nvSpPr>
          <p:spPr>
            <a:xfrm rot="2557179">
              <a:off x="1704509" y="2758343"/>
              <a:ext cx="670084" cy="2591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F3F57E-BB3B-4CC2-BFC0-DC866D8AB4AC}"/>
                </a:ext>
              </a:extLst>
            </p:cNvPr>
            <p:cNvSpPr txBox="1"/>
            <p:nvPr/>
          </p:nvSpPr>
          <p:spPr>
            <a:xfrm>
              <a:off x="853425" y="2209768"/>
              <a:ext cx="12616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particles</a:t>
              </a:r>
              <a:endParaRPr lang="en-MY" dirty="0"/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064C0175-BC1F-4D33-828C-67F03B3FC3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95263" y="2810789"/>
            <a:ext cx="2710281" cy="85793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6D2BDD5-BF6F-49C2-B5C9-C372B77342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251" y="4406523"/>
            <a:ext cx="1846458" cy="47480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9513070-CF78-4DD9-9CAA-138682C4B928}"/>
              </a:ext>
            </a:extLst>
          </p:cNvPr>
          <p:cNvGrpSpPr/>
          <p:nvPr/>
        </p:nvGrpSpPr>
        <p:grpSpPr>
          <a:xfrm>
            <a:off x="6413101" y="3726496"/>
            <a:ext cx="4874604" cy="521282"/>
            <a:chOff x="7495263" y="3749788"/>
            <a:chExt cx="4874604" cy="52128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9488E6-4B43-452E-85E4-F0CE13779E67}"/>
                </a:ext>
              </a:extLst>
            </p:cNvPr>
            <p:cNvSpPr txBox="1"/>
            <p:nvPr/>
          </p:nvSpPr>
          <p:spPr>
            <a:xfrm>
              <a:off x="7495263" y="3825763"/>
              <a:ext cx="4874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What distribution of        give largest                ? </a:t>
              </a:r>
              <a:endParaRPr lang="en-MY" dirty="0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1D515F3-10D6-40AB-A542-46F4762FA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093585" y="3749788"/>
              <a:ext cx="1098415" cy="521282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583766F7-FFAC-4A2D-982E-32D76D136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13884" y="3783746"/>
              <a:ext cx="646331" cy="464032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32572F5-58A3-41B7-BF8B-4ED62A191408}"/>
              </a:ext>
            </a:extLst>
          </p:cNvPr>
          <p:cNvSpPr txBox="1"/>
          <p:nvPr/>
        </p:nvSpPr>
        <p:spPr>
          <a:xfrm>
            <a:off x="6413101" y="4296386"/>
            <a:ext cx="212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the constraint:</a:t>
            </a:r>
            <a:endParaRPr lang="en-MY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CB69D7A5-5583-4E7A-BD09-91B0E0DA2B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91981" y="4116956"/>
            <a:ext cx="1319441" cy="908187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25BC3B9-78BF-4172-BF67-44763542DD0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71681" y="4160849"/>
            <a:ext cx="1409503" cy="87886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5911D84-8CE4-49E0-BE5C-2BF95AA0568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08060" y="3409734"/>
            <a:ext cx="431401" cy="413426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7EE1695-09C9-4B8B-A1FE-E340C36EA1B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819394" y="3409731"/>
            <a:ext cx="431401" cy="41342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1C49BB5E-1D01-4595-AEC8-6DDE916170B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932881" y="3409730"/>
            <a:ext cx="507790" cy="417113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EE158959-2BD0-4150-AB4C-6E44926169F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623050" y="5129226"/>
            <a:ext cx="3233552" cy="77246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C839F68-8A20-49D0-BF0C-A702DF560A2B}"/>
              </a:ext>
            </a:extLst>
          </p:cNvPr>
          <p:cNvGrpSpPr/>
          <p:nvPr/>
        </p:nvGrpSpPr>
        <p:grpSpPr>
          <a:xfrm>
            <a:off x="5884164" y="4828644"/>
            <a:ext cx="4387517" cy="1151742"/>
            <a:chOff x="5884164" y="4828644"/>
            <a:chExt cx="4387517" cy="115174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E434930-0CFB-4362-8F57-27304259427A}"/>
                </a:ext>
              </a:extLst>
            </p:cNvPr>
            <p:cNvGrpSpPr/>
            <p:nvPr/>
          </p:nvGrpSpPr>
          <p:grpSpPr>
            <a:xfrm>
              <a:off x="5884164" y="4828644"/>
              <a:ext cx="4387517" cy="1151742"/>
              <a:chOff x="5884164" y="4828644"/>
              <a:chExt cx="4387517" cy="1151742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3FDF3B7-83A2-4373-95F2-08AFAEFCC7DE}"/>
                  </a:ext>
                </a:extLst>
              </p:cNvPr>
              <p:cNvCxnSpPr/>
              <p:nvPr/>
            </p:nvCxnSpPr>
            <p:spPr>
              <a:xfrm flipV="1">
                <a:off x="5884164" y="4881326"/>
                <a:ext cx="2807817" cy="10990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EB44612B-D6D8-455C-B657-B64701FD0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80965" y="4828644"/>
                <a:ext cx="4290716" cy="11367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503708-0BFA-47D6-BC54-8420E0F50DC9}"/>
                </a:ext>
              </a:extLst>
            </p:cNvPr>
            <p:cNvSpPr txBox="1"/>
            <p:nvPr/>
          </p:nvSpPr>
          <p:spPr>
            <a:xfrm rot="20700482">
              <a:off x="7164408" y="5410652"/>
              <a:ext cx="2560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Solve for the multipliers</a:t>
              </a:r>
              <a:endParaRPr lang="en-MY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28A6DD-B7C6-43F5-9327-BF631A0B8798}"/>
              </a:ext>
            </a:extLst>
          </p:cNvPr>
          <p:cNvGrpSpPr/>
          <p:nvPr/>
        </p:nvGrpSpPr>
        <p:grpSpPr>
          <a:xfrm>
            <a:off x="3977479" y="5885564"/>
            <a:ext cx="3027432" cy="830667"/>
            <a:chOff x="3977479" y="5885564"/>
            <a:chExt cx="3027432" cy="830667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35C1510-885B-47A4-AE29-8F39C7CDB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4373409" y="5885564"/>
              <a:ext cx="1607556" cy="582739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17AE58D-19E3-4C6D-BC6E-9FD2FF716DC6}"/>
                </a:ext>
              </a:extLst>
            </p:cNvPr>
            <p:cNvSpPr txBox="1"/>
            <p:nvPr/>
          </p:nvSpPr>
          <p:spPr>
            <a:xfrm>
              <a:off x="3977479" y="6346899"/>
              <a:ext cx="3027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(Most probable distribution)</a:t>
              </a:r>
              <a:endParaRPr lang="en-MY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6DD4696-0FBA-4555-8B73-022DB3D32539}"/>
              </a:ext>
            </a:extLst>
          </p:cNvPr>
          <p:cNvSpPr txBox="1"/>
          <p:nvPr/>
        </p:nvSpPr>
        <p:spPr>
          <a:xfrm>
            <a:off x="8439399" y="6309310"/>
            <a:ext cx="3538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may want this technique later.</a:t>
            </a:r>
            <a:endParaRPr lang="en-MY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9542317-54B5-4359-9EC9-661B88E1445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770185" y="4076835"/>
            <a:ext cx="9806247" cy="1478755"/>
            <a:chOff x="1770185" y="4076835"/>
            <a:chExt cx="9806247" cy="1478755"/>
          </a:xfrm>
        </p:grpSpPr>
        <p:grpSp>
          <p:nvGrpSpPr>
            <p:cNvPr id="3" name="Group 2"/>
            <p:cNvGrpSpPr/>
            <p:nvPr/>
          </p:nvGrpSpPr>
          <p:grpSpPr>
            <a:xfrm>
              <a:off x="1770185" y="4076835"/>
              <a:ext cx="8760792" cy="1157501"/>
              <a:chOff x="1770185" y="4076835"/>
              <a:chExt cx="8760792" cy="1157501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70185" y="4076835"/>
                <a:ext cx="3727033" cy="1157501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5649704" y="4525079"/>
                <a:ext cx="48812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Hypersurface of a 3N-dimensial sphere with radius</a:t>
                </a:r>
              </a:p>
            </p:txBody>
          </p:sp>
        </p:grp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43047" y="4911999"/>
              <a:ext cx="2133385" cy="643591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1171965" y="5295871"/>
            <a:ext cx="6002925" cy="1173893"/>
            <a:chOff x="1171965" y="5295871"/>
            <a:chExt cx="6002925" cy="1173893"/>
          </a:xfrm>
        </p:grpSpPr>
        <p:grpSp>
          <p:nvGrpSpPr>
            <p:cNvPr id="5" name="Group 4"/>
            <p:cNvGrpSpPr/>
            <p:nvPr/>
          </p:nvGrpSpPr>
          <p:grpSpPr>
            <a:xfrm>
              <a:off x="1171965" y="5295871"/>
              <a:ext cx="6002925" cy="1173893"/>
              <a:chOff x="1171965" y="5295871"/>
              <a:chExt cx="6002925" cy="1173893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171965" y="5295871"/>
                <a:ext cx="6002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Similar to 3D, we write the differential volume using solid angle:</a:t>
                </a:r>
              </a:p>
            </p:txBody>
          </p:sp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617408" y="5645918"/>
                <a:ext cx="1614064" cy="823846"/>
              </a:xfrm>
              <a:prstGeom prst="rect">
                <a:avLst/>
              </a:prstGeom>
            </p:spPr>
          </p:pic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4838330" y="5745890"/>
              <a:ext cx="2171893" cy="477159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E96ACAA9-C499-43A7-A9F4-A98529917D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6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0185" y="4076835"/>
            <a:ext cx="3727033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49704" y="4525079"/>
            <a:ext cx="4881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Hypersurface of a 3N-dimensial sphere with radius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3047" y="4911999"/>
            <a:ext cx="2133385" cy="6435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/>
          <a:srcRect b="49463"/>
          <a:stretch/>
        </p:blipFill>
        <p:spPr>
          <a:xfrm>
            <a:off x="6858000" y="5036948"/>
            <a:ext cx="2758083" cy="6522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701849" y="5235902"/>
            <a:ext cx="3568385" cy="8496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831130" y="6096014"/>
            <a:ext cx="3439105" cy="70381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413C706-76BB-4BF9-A3F2-7A34F167DC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29209" y="5647670"/>
            <a:ext cx="1804345" cy="4920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B802C8-782C-49B2-923F-B374D49844BA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4026" b="14026"/>
          <a:stretch/>
        </p:blipFill>
        <p:spPr>
          <a:xfrm>
            <a:off x="6857999" y="6111842"/>
            <a:ext cx="2758083" cy="6435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6511A9-51C3-47F8-AA9C-BC18390517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04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2084831"/>
            <a:ext cx="3169443" cy="807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18738" y="2320606"/>
            <a:ext cx="1796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Gaussian integral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24128" y="2892143"/>
            <a:ext cx="3246415" cy="1288281"/>
            <a:chOff x="1024128" y="2892143"/>
            <a:chExt cx="3246415" cy="128828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555" y="3166395"/>
              <a:ext cx="3146988" cy="1014029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24128" y="2892143"/>
              <a:ext cx="18614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the other hand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125416" y="4156115"/>
            <a:ext cx="6010821" cy="1051548"/>
            <a:chOff x="1125416" y="4156115"/>
            <a:chExt cx="6010821" cy="1051548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47336" y="4539560"/>
              <a:ext cx="1427970" cy="507723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125416" y="4557181"/>
              <a:ext cx="6859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Let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78521" y="4518563"/>
              <a:ext cx="686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and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870" b="870"/>
            <a:stretch/>
          </p:blipFill>
          <p:spPr>
            <a:xfrm>
              <a:off x="4369970" y="4156115"/>
              <a:ext cx="2766267" cy="1051548"/>
            </a:xfrm>
            <a:prstGeom prst="rect">
              <a:avLst/>
            </a:prstGeom>
          </p:spPr>
        </p:pic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22773" y="5189285"/>
            <a:ext cx="5813463" cy="9369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149700" y="3429000"/>
            <a:ext cx="2766267" cy="114698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4DD0104-9FE7-4F03-A929-CF86716123F6}"/>
              </a:ext>
            </a:extLst>
          </p:cNvPr>
          <p:cNvGrpSpPr/>
          <p:nvPr/>
        </p:nvGrpSpPr>
        <p:grpSpPr>
          <a:xfrm>
            <a:off x="2495608" y="5896303"/>
            <a:ext cx="2947808" cy="987182"/>
            <a:chOff x="2495608" y="5896303"/>
            <a:chExt cx="2947808" cy="98718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74185A-F3B8-449B-8EBC-DD85349D903A}"/>
                </a:ext>
              </a:extLst>
            </p:cNvPr>
            <p:cNvSpPr txBox="1"/>
            <p:nvPr/>
          </p:nvSpPr>
          <p:spPr>
            <a:xfrm>
              <a:off x="2495608" y="6421820"/>
              <a:ext cx="29478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(Gamma function)</a:t>
              </a:r>
              <a:endParaRPr lang="en-MY" sz="2400" b="1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862DE7C-2D4D-4A5C-9ED8-A46D821169D0}"/>
                </a:ext>
              </a:extLst>
            </p:cNvPr>
            <p:cNvCxnSpPr/>
            <p:nvPr/>
          </p:nvCxnSpPr>
          <p:spPr>
            <a:xfrm flipH="1" flipV="1">
              <a:off x="2974428" y="5896303"/>
              <a:ext cx="599089" cy="5255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E5EE5D87-71C5-4A72-922A-27CAC1535A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7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72066"/>
          <a:stretch/>
        </p:blipFill>
        <p:spPr>
          <a:xfrm>
            <a:off x="1770186" y="4076835"/>
            <a:ext cx="1041102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811288" y="3950234"/>
            <a:ext cx="3833197" cy="7844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98781" y="3687545"/>
            <a:ext cx="2114202" cy="8766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1"/>
          <a:srcRect l="65951" t="-13914" b="-1"/>
          <a:stretch/>
        </p:blipFill>
        <p:spPr>
          <a:xfrm>
            <a:off x="5701553" y="4012987"/>
            <a:ext cx="1129218" cy="62507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8" name="Group 7"/>
          <p:cNvGrpSpPr/>
          <p:nvPr/>
        </p:nvGrpSpPr>
        <p:grpSpPr>
          <a:xfrm>
            <a:off x="148462" y="4835770"/>
            <a:ext cx="8151476" cy="1460499"/>
            <a:chOff x="148462" y="4835770"/>
            <a:chExt cx="8151476" cy="146049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11288" y="4835770"/>
              <a:ext cx="5488650" cy="1460499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488488" y="5008605"/>
              <a:ext cx="921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Entropy:</a:t>
              </a: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8462" y="5128331"/>
              <a:ext cx="1199177" cy="212009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6262" y="5978397"/>
            <a:ext cx="926122" cy="54023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18708" y="6139483"/>
            <a:ext cx="1950489" cy="26338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418708" y="5540709"/>
            <a:ext cx="2714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equipartition </a:t>
            </a:r>
            <a:r>
              <a:rPr lang="en-US" b="1" dirty="0">
                <a:solidFill>
                  <a:srgbClr val="FF0000"/>
                </a:solidFill>
              </a:rPr>
              <a:t>of energy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5E0FBC-46A5-4CF2-8ED8-4439FDF81D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9CE233-C976-4464-8C77-2C85A284550C}"/>
              </a:ext>
            </a:extLst>
          </p:cNvPr>
          <p:cNvSpPr txBox="1"/>
          <p:nvPr/>
        </p:nvSpPr>
        <p:spPr>
          <a:xfrm>
            <a:off x="8312600" y="4976859"/>
            <a:ext cx="2194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(assume N is large)</a:t>
            </a:r>
          </a:p>
        </p:txBody>
      </p:sp>
    </p:spTree>
    <p:extLst>
      <p:ext uri="{BB962C8B-B14F-4D97-AF65-F5344CB8AC3E}">
        <p14:creationId xmlns:p14="http://schemas.microsoft.com/office/powerpoint/2010/main" val="176745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r="72066"/>
          <a:stretch/>
        </p:blipFill>
        <p:spPr>
          <a:xfrm>
            <a:off x="1770186" y="4076835"/>
            <a:ext cx="1041102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 r="81715"/>
          <a:stretch/>
        </p:blipFill>
        <p:spPr>
          <a:xfrm>
            <a:off x="2811288" y="4835770"/>
            <a:ext cx="1003596" cy="14604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7"/>
          <a:srcRect l="18156" t="50000" r="34300"/>
          <a:stretch/>
        </p:blipFill>
        <p:spPr>
          <a:xfrm>
            <a:off x="3911208" y="4835770"/>
            <a:ext cx="2609486" cy="73024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593029" y="2877819"/>
            <a:ext cx="3151171" cy="998882"/>
            <a:chOff x="7593029" y="2877819"/>
            <a:chExt cx="3151171" cy="99888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71265" y="3336463"/>
              <a:ext cx="926122" cy="54023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793711" y="3497549"/>
              <a:ext cx="1950489" cy="263387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7593029" y="2877819"/>
              <a:ext cx="16372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Internal energy</a:t>
              </a:r>
              <a:endParaRPr lang="en-US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669571" y="3986048"/>
            <a:ext cx="2271598" cy="862980"/>
            <a:chOff x="7669571" y="3986048"/>
            <a:chExt cx="2271598" cy="862980"/>
          </a:xfrm>
        </p:grpSpPr>
        <p:sp>
          <p:nvSpPr>
            <p:cNvPr id="22" name="Rectangle 21"/>
            <p:cNvSpPr/>
            <p:nvPr/>
          </p:nvSpPr>
          <p:spPr>
            <a:xfrm>
              <a:off x="7669571" y="3986048"/>
              <a:ext cx="14797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Heat capacity</a:t>
              </a:r>
              <a:endParaRPr lang="en-US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780927" y="4400676"/>
              <a:ext cx="2160242" cy="448352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7680234" y="4865004"/>
            <a:ext cx="4455967" cy="954003"/>
            <a:chOff x="7680234" y="4865004"/>
            <a:chExt cx="4455967" cy="954003"/>
          </a:xfrm>
        </p:grpSpPr>
        <p:sp>
          <p:nvSpPr>
            <p:cNvPr id="23" name="Rectangle 22"/>
            <p:cNvSpPr/>
            <p:nvPr/>
          </p:nvSpPr>
          <p:spPr>
            <a:xfrm>
              <a:off x="7680234" y="4865004"/>
              <a:ext cx="14867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Ideal gas law</a:t>
              </a:r>
              <a:endParaRPr lang="en-US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91957" y="5250312"/>
              <a:ext cx="4444244" cy="568695"/>
            </a:xfrm>
            <a:prstGeom prst="rect">
              <a:avLst/>
            </a:prstGeom>
          </p:spPr>
        </p:pic>
      </p:grpSp>
      <p:sp>
        <p:nvSpPr>
          <p:cNvPr id="25" name="Rectangle 24"/>
          <p:cNvSpPr/>
          <p:nvPr/>
        </p:nvSpPr>
        <p:spPr>
          <a:xfrm>
            <a:off x="7662517" y="5834983"/>
            <a:ext cx="3462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Maxwell–Boltzmann distribution ?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8234328" y="4900173"/>
            <a:ext cx="3497998" cy="588595"/>
            <a:chOff x="8234328" y="4900173"/>
            <a:chExt cx="3497998" cy="588595"/>
          </a:xfrm>
        </p:grpSpPr>
        <p:sp>
          <p:nvSpPr>
            <p:cNvPr id="26" name="TextBox 25"/>
            <p:cNvSpPr txBox="1"/>
            <p:nvPr/>
          </p:nvSpPr>
          <p:spPr>
            <a:xfrm>
              <a:off x="9206826" y="4900173"/>
              <a:ext cx="2525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From the proof of 1</a:t>
              </a:r>
              <a:r>
                <a:rPr lang="en-US" baseline="30000" dirty="0"/>
                <a:t>st</a:t>
              </a:r>
              <a:r>
                <a:rPr lang="en-US" dirty="0"/>
                <a:t> Law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flipH="1">
              <a:off x="8234328" y="5199167"/>
              <a:ext cx="932660" cy="2896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09F33E59-428C-44C5-99D2-AB7168EFEE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505FD7E-BA7C-4C67-AEDF-89A88D4FF328}"/>
              </a:ext>
            </a:extLst>
          </p:cNvPr>
          <p:cNvGrpSpPr/>
          <p:nvPr/>
        </p:nvGrpSpPr>
        <p:grpSpPr>
          <a:xfrm>
            <a:off x="2811288" y="3950234"/>
            <a:ext cx="4019483" cy="784468"/>
            <a:chOff x="2811288" y="3950234"/>
            <a:chExt cx="4019483" cy="784468"/>
          </a:xfrm>
        </p:grpSpPr>
        <p:pic>
          <p:nvPicPr>
            <p:cNvPr id="31" name="Picture 10">
              <a:extLst>
                <a:ext uri="{FF2B5EF4-FFF2-40B4-BE49-F238E27FC236}">
                  <a16:creationId xmlns:a16="http://schemas.microsoft.com/office/drawing/2014/main" id="{C78651AF-9CEA-40D3-AE08-14324937D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2811288" y="3950234"/>
              <a:ext cx="3833197" cy="78446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0BBB03B-1AD5-489E-96BB-5D03232201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65951" t="-13914" b="-1"/>
            <a:stretch/>
          </p:blipFill>
          <p:spPr>
            <a:xfrm>
              <a:off x="5701553" y="4012987"/>
              <a:ext cx="1129218" cy="625070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244971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072" y="4025530"/>
            <a:ext cx="3601236" cy="5958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ensemble: Ideal Gas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884" y="1899138"/>
            <a:ext cx="2406632" cy="867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965" y="3154484"/>
            <a:ext cx="5952735" cy="7844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103" y="2770064"/>
            <a:ext cx="1307025" cy="3844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/>
          <a:srcRect r="72066"/>
          <a:stretch/>
        </p:blipFill>
        <p:spPr>
          <a:xfrm>
            <a:off x="1770186" y="4076835"/>
            <a:ext cx="1041102" cy="11575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131" y="1951606"/>
            <a:ext cx="3426069" cy="6680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69591" y="5948240"/>
            <a:ext cx="3790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Maxwell–Boltzmann distribution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6767" y="5032051"/>
            <a:ext cx="3177397" cy="1230682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37651" y="4630321"/>
            <a:ext cx="5157949" cy="369332"/>
            <a:chOff x="437651" y="4630321"/>
            <a:chExt cx="5157949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437651" y="4630321"/>
              <a:ext cx="5016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Probability of getting a particle with momentum      :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9229" y="4654022"/>
              <a:ext cx="256371" cy="264140"/>
            </a:xfrm>
            <a:prstGeom prst="rect">
              <a:avLst/>
            </a:prstGeom>
          </p:spPr>
        </p:pic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6749" y="6194281"/>
            <a:ext cx="4225682" cy="66372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7318131" y="4172767"/>
            <a:ext cx="4152086" cy="1898195"/>
            <a:chOff x="7318131" y="4172767"/>
            <a:chExt cx="4152086" cy="189819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18131" y="4172767"/>
              <a:ext cx="3987769" cy="234202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741775" y="5310556"/>
              <a:ext cx="3728442" cy="760406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2424" y="6457972"/>
            <a:ext cx="4127500" cy="317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7D617D-474F-4DF5-BAE8-D57E3264A1F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7848" y="4535038"/>
            <a:ext cx="1948514" cy="5416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C164BA-A471-44ED-AB1C-564356E6A2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7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487" y="3859954"/>
            <a:ext cx="3917887" cy="6396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050" y="2858518"/>
            <a:ext cx="1721875" cy="3635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866" y="2569788"/>
            <a:ext cx="5416508" cy="95225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3676" y="2412445"/>
            <a:ext cx="4288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Microcanonical</a:t>
            </a:r>
            <a:r>
              <a:rPr lang="en-US" sz="2400" b="1" dirty="0"/>
              <a:t> ensemble: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483676" y="4615724"/>
            <a:ext cx="6124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r>
              <a:rPr lang="en-US" dirty="0"/>
              <a:t>Study cases: 2 level system and Ideal gas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EF2C26-1417-4628-B708-83A132A73AF0}"/>
              </a:ext>
            </a:extLst>
          </p:cNvPr>
          <p:cNvGrpSpPr/>
          <p:nvPr/>
        </p:nvGrpSpPr>
        <p:grpSpPr>
          <a:xfrm>
            <a:off x="764411" y="5575920"/>
            <a:ext cx="11041549" cy="1182706"/>
            <a:chOff x="575225" y="5593289"/>
            <a:chExt cx="11041549" cy="1182706"/>
          </a:xfrm>
        </p:grpSpPr>
        <p:sp>
          <p:nvSpPr>
            <p:cNvPr id="4" name="TextBox 3"/>
            <p:cNvSpPr txBox="1"/>
            <p:nvPr/>
          </p:nvSpPr>
          <p:spPr>
            <a:xfrm>
              <a:off x="575225" y="5593289"/>
              <a:ext cx="110415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All the thermodynamic phenomena can be understand as statistical (thermal) fluctuation.</a:t>
              </a:r>
            </a:p>
            <a:p>
              <a:endParaRPr lang="en-US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The energy fluctuation of each particles is                                 </a:t>
              </a: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B7FA38D-0C85-436C-9A57-E262914CE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20292" y="6100931"/>
              <a:ext cx="1725163" cy="675064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43AC8C8-27FB-4815-B0D6-A10A4F4F0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50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Microcanonical</a:t>
            </a:r>
            <a:r>
              <a:rPr lang="en-US" dirty="0"/>
              <a:t> ensemble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58" y="2119174"/>
            <a:ext cx="1274918" cy="261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6327" y="1980440"/>
            <a:ext cx="5734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Isolated                  system with total energy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92" y="2098887"/>
            <a:ext cx="311658" cy="28857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BD96C4E-820E-455F-AA2D-4E72E0060C4E}"/>
              </a:ext>
            </a:extLst>
          </p:cNvPr>
          <p:cNvGrpSpPr/>
          <p:nvPr/>
        </p:nvGrpSpPr>
        <p:grpSpPr>
          <a:xfrm>
            <a:off x="3554793" y="2713336"/>
            <a:ext cx="8231315" cy="688232"/>
            <a:chOff x="3554793" y="2713336"/>
            <a:chExt cx="8231315" cy="688232"/>
          </a:xfrm>
        </p:grpSpPr>
        <p:sp>
          <p:nvSpPr>
            <p:cNvPr id="15" name="TextBox 14"/>
            <p:cNvSpPr txBox="1"/>
            <p:nvPr/>
          </p:nvSpPr>
          <p:spPr>
            <a:xfrm>
              <a:off x="3554793" y="2779483"/>
              <a:ext cx="3679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number of microstates: 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688" y="2713336"/>
              <a:ext cx="4215420" cy="688232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182F12-1F0E-44AC-AF83-8D718565D41D}"/>
              </a:ext>
            </a:extLst>
          </p:cNvPr>
          <p:cNvGrpSpPr/>
          <p:nvPr/>
        </p:nvGrpSpPr>
        <p:grpSpPr>
          <a:xfrm>
            <a:off x="3869628" y="3514726"/>
            <a:ext cx="7649737" cy="1556209"/>
            <a:chOff x="3869628" y="3514726"/>
            <a:chExt cx="7649737" cy="1556209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0041" y="4407408"/>
              <a:ext cx="1721875" cy="36350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02857" y="4118678"/>
              <a:ext cx="5416508" cy="952257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869628" y="3514726"/>
              <a:ext cx="74395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The very 1</a:t>
              </a:r>
              <a:r>
                <a:rPr lang="en-US" sz="2400" b="1" baseline="30000" dirty="0"/>
                <a:t>st</a:t>
              </a:r>
              <a:r>
                <a:rPr lang="en-US" sz="2400" b="1" dirty="0"/>
                <a:t> statistical model: microcanonical ensemble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E7725B-7F1F-45F7-85AC-4B2E925C37A0}"/>
              </a:ext>
            </a:extLst>
          </p:cNvPr>
          <p:cNvGrpSpPr/>
          <p:nvPr/>
        </p:nvGrpSpPr>
        <p:grpSpPr>
          <a:xfrm>
            <a:off x="7234583" y="4980711"/>
            <a:ext cx="4551524" cy="794191"/>
            <a:chOff x="7234583" y="4980711"/>
            <a:chExt cx="4551524" cy="794191"/>
          </a:xfrm>
        </p:grpSpPr>
        <p:cxnSp>
          <p:nvCxnSpPr>
            <p:cNvPr id="23" name="Straight Arrow Connector 22"/>
            <p:cNvCxnSpPr/>
            <p:nvPr/>
          </p:nvCxnSpPr>
          <p:spPr>
            <a:xfrm flipH="1" flipV="1">
              <a:off x="8195405" y="4980711"/>
              <a:ext cx="436531" cy="378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234583" y="5313237"/>
              <a:ext cx="45515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Function of total energy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5ECD2A-23FA-4EF5-9997-2EBFA811F9DC}"/>
              </a:ext>
            </a:extLst>
          </p:cNvPr>
          <p:cNvGrpSpPr/>
          <p:nvPr/>
        </p:nvGrpSpPr>
        <p:grpSpPr>
          <a:xfrm>
            <a:off x="1719072" y="2580196"/>
            <a:ext cx="1502791" cy="1978309"/>
            <a:chOff x="1719072" y="2580196"/>
            <a:chExt cx="1502791" cy="1978309"/>
          </a:xfrm>
        </p:grpSpPr>
        <p:sp>
          <p:nvSpPr>
            <p:cNvPr id="5" name="Rectangle 4"/>
            <p:cNvSpPr/>
            <p:nvPr/>
          </p:nvSpPr>
          <p:spPr>
            <a:xfrm>
              <a:off x="1719072" y="2580196"/>
              <a:ext cx="1499616" cy="15894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70012" y="3737109"/>
              <a:ext cx="699929" cy="31582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4524" y="2866030"/>
              <a:ext cx="311658" cy="2885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E1A41A-F677-4693-A84A-7339F417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4524" y="4286442"/>
              <a:ext cx="1327339" cy="27206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1AC77AA-569F-4E87-A018-B6795F1EAF37}"/>
              </a:ext>
            </a:extLst>
          </p:cNvPr>
          <p:cNvGrpSpPr/>
          <p:nvPr/>
        </p:nvGrpSpPr>
        <p:grpSpPr>
          <a:xfrm>
            <a:off x="386613" y="3010316"/>
            <a:ext cx="1507911" cy="551087"/>
            <a:chOff x="386613" y="3010316"/>
            <a:chExt cx="1507911" cy="551087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1445058" y="3010316"/>
              <a:ext cx="449466" cy="144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6613" y="3099738"/>
              <a:ext cx="13129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Conserve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1CF531-C471-42B2-8E8B-59B175944690}"/>
              </a:ext>
            </a:extLst>
          </p:cNvPr>
          <p:cNvGrpSpPr/>
          <p:nvPr/>
        </p:nvGrpSpPr>
        <p:grpSpPr>
          <a:xfrm>
            <a:off x="7771365" y="1950410"/>
            <a:ext cx="3191809" cy="851531"/>
            <a:chOff x="7771365" y="1950410"/>
            <a:chExt cx="3191809" cy="85153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35402-BE6C-4E3B-9B23-510DF8FAB9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25394" b="-2980"/>
            <a:stretch/>
          </p:blipFill>
          <p:spPr>
            <a:xfrm>
              <a:off x="7771365" y="1950410"/>
              <a:ext cx="1284610" cy="374335"/>
            </a:xfrm>
            <a:prstGeom prst="rect">
              <a:avLst/>
            </a:prstGeom>
          </p:spPr>
        </p:pic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DB4723C3-7F0A-4119-9707-C2A82BD0CC0C}"/>
                </a:ext>
              </a:extLst>
            </p:cNvPr>
            <p:cNvSpPr/>
            <p:nvPr/>
          </p:nvSpPr>
          <p:spPr>
            <a:xfrm rot="16200000">
              <a:off x="9901968" y="1740735"/>
              <a:ext cx="328903" cy="179350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9665" y="1708925"/>
            <a:ext cx="2642767" cy="8204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D3F287-D13D-4C04-921A-D3AEE0DDD59F}"/>
              </a:ext>
            </a:extLst>
          </p:cNvPr>
          <p:cNvSpPr txBox="1"/>
          <p:nvPr/>
        </p:nvSpPr>
        <p:spPr>
          <a:xfrm>
            <a:off x="7750219" y="2264432"/>
            <a:ext cx="143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 Unique</a:t>
            </a:r>
            <a:endParaRPr lang="en-MY" b="1" dirty="0">
              <a:solidFill>
                <a:srgbClr val="FF0000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838853-F136-458C-89C1-4AA0F3C054FE}"/>
              </a:ext>
            </a:extLst>
          </p:cNvPr>
          <p:cNvGrpSpPr/>
          <p:nvPr/>
        </p:nvGrpSpPr>
        <p:grpSpPr>
          <a:xfrm>
            <a:off x="63448" y="4735207"/>
            <a:ext cx="10002971" cy="2081951"/>
            <a:chOff x="63448" y="4735207"/>
            <a:chExt cx="10002971" cy="2081951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38FB8C9-DF73-482D-88DF-774D43218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60989" y="6168799"/>
              <a:ext cx="2871304" cy="648359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63448" y="4735207"/>
              <a:ext cx="32721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Up to an unimportant constant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22B7809-5444-410D-A455-3D6D0C328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6613" y="5032691"/>
              <a:ext cx="2286637" cy="1652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612308D-77EB-419B-B6A0-86E84FF8A00E}"/>
                </a:ext>
              </a:extLst>
            </p:cNvPr>
            <p:cNvSpPr txBox="1"/>
            <p:nvPr/>
          </p:nvSpPr>
          <p:spPr>
            <a:xfrm>
              <a:off x="5850999" y="5849506"/>
              <a:ext cx="42154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 Kerson Huang, Statistical Mechanics, Wiley (1991)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41E0A48-A768-471A-9265-8A9F86800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44992" y="5329975"/>
              <a:ext cx="2002815" cy="918939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F54D315-9ED3-40FD-B5F3-97B49B5E6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88745" y="4927586"/>
              <a:ext cx="2116818" cy="557516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DB08821-B093-4FD1-AB03-49693D651FC9}"/>
              </a:ext>
            </a:extLst>
          </p:cNvPr>
          <p:cNvSpPr txBox="1"/>
          <p:nvPr/>
        </p:nvSpPr>
        <p:spPr>
          <a:xfrm>
            <a:off x="8374309" y="6466294"/>
            <a:ext cx="3934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laws of thermodynamic?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EB83E0C-5DA0-44F7-BFB1-6A9732D138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1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l="18156" t="50000" r="34300"/>
          <a:stretch/>
        </p:blipFill>
        <p:spPr>
          <a:xfrm>
            <a:off x="1483496" y="2063913"/>
            <a:ext cx="3537015" cy="98981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4A4A075-9730-4CC7-9349-A7AEC6672ADD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C397C2-54B1-4097-AF0D-EFA84AAA95D0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BE1E7A-B36B-4F50-B329-F677C1C603BF}"/>
              </a:ext>
            </a:extLst>
          </p:cNvPr>
          <p:cNvSpPr/>
          <p:nvPr/>
        </p:nvSpPr>
        <p:spPr>
          <a:xfrm>
            <a:off x="9252406" y="977001"/>
            <a:ext cx="114556" cy="1331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F03EE0-846F-4397-BC7F-3340037EFD21}"/>
              </a:ext>
            </a:extLst>
          </p:cNvPr>
          <p:cNvGrpSpPr/>
          <p:nvPr/>
        </p:nvGrpSpPr>
        <p:grpSpPr>
          <a:xfrm>
            <a:off x="8283459" y="1049189"/>
            <a:ext cx="2494446" cy="1213259"/>
            <a:chOff x="8283459" y="818361"/>
            <a:chExt cx="2494446" cy="1213259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3459" y="1719453"/>
              <a:ext cx="907238" cy="312167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74077" y="1692452"/>
              <a:ext cx="903828" cy="307686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3529" y="818361"/>
              <a:ext cx="273765" cy="263236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898" y="818361"/>
              <a:ext cx="273765" cy="263236"/>
            </a:xfrm>
            <a:prstGeom prst="rect">
              <a:avLst/>
            </a:prstGeom>
          </p:spPr>
        </p:pic>
      </p:grpSp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79" y="2074131"/>
            <a:ext cx="1359917" cy="77463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7"/>
          <a:srcRect l="15209" t="-4159" r="46570" b="-15692"/>
          <a:stretch/>
        </p:blipFill>
        <p:spPr>
          <a:xfrm>
            <a:off x="2451769" y="5709188"/>
            <a:ext cx="1805819" cy="33255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572" y="5545023"/>
            <a:ext cx="2120787" cy="50368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740" y="4764752"/>
            <a:ext cx="3289290" cy="2753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C6E593E-3358-4201-91A6-2D8E4868C34A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42" name="TextBox 41"/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1F1C83-E878-4472-9A15-C0ABBA257030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45" name="TextBox 44"/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021F5C8-1251-4CB2-ACA3-2CADDAA348CF}"/>
              </a:ext>
            </a:extLst>
          </p:cNvPr>
          <p:cNvGrpSpPr/>
          <p:nvPr/>
        </p:nvGrpSpPr>
        <p:grpSpPr>
          <a:xfrm>
            <a:off x="450684" y="3085910"/>
            <a:ext cx="3782103" cy="786097"/>
            <a:chOff x="450684" y="3085910"/>
            <a:chExt cx="3782103" cy="786097"/>
          </a:xfrm>
        </p:grpSpPr>
        <p:sp>
          <p:nvSpPr>
            <p:cNvPr id="48" name="TextBox 47"/>
            <p:cNvSpPr txBox="1"/>
            <p:nvPr/>
          </p:nvSpPr>
          <p:spPr>
            <a:xfrm>
              <a:off x="450684" y="3085910"/>
              <a:ext cx="31550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Not a extensive quantity:</a:t>
              </a:r>
            </a:p>
          </p:txBody>
        </p:sp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24128" y="3615591"/>
              <a:ext cx="3208659" cy="256416"/>
            </a:xfrm>
            <a:prstGeom prst="rect">
              <a:avLst/>
            </a:prstGeom>
          </p:spPr>
        </p:pic>
      </p:grpSp>
      <p:pic>
        <p:nvPicPr>
          <p:cNvPr id="53" name="Picture 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06996" y="6182022"/>
            <a:ext cx="4051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 gas 1 = gas 2, we have problem!</a:t>
            </a: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(increase)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2325F33-F72E-4456-9446-1D6A7FDC4372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501818B-8FDD-4B41-8A50-B16BE2F5C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82DAD7A1-FBD8-498F-97E2-F3082D384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C30C3842-217C-4011-A85E-CCBE2807226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0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 animBg="1"/>
      <p:bldP spid="26" grpId="0" animBg="1"/>
      <p:bldP spid="27" grpId="0" animBg="1"/>
      <p:bldP spid="27" grpId="1" animBg="1"/>
      <p:bldP spid="56" grpId="0"/>
      <p:bldP spid="5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870F44F-A5BA-44B1-86CB-79283A3EDA55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6910C7B-FD84-4213-ACB0-6137D2385EFC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171FE806-4400-4AA6-9903-B4ADDD4F4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6E1A03C1-76AB-4800-B6DE-06D68D268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06996" y="6182022"/>
            <a:ext cx="4051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 gas 1 = gas 2, we </a:t>
            </a:r>
            <a:r>
              <a:rPr lang="en-US" sz="2000" b="1"/>
              <a:t>have problem!</a:t>
            </a:r>
            <a:endParaRPr lang="en-US" sz="2000" b="1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(increase)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C6F38C-4A44-4298-B6CB-F4624C326B5C}"/>
              </a:ext>
            </a:extLst>
          </p:cNvPr>
          <p:cNvGrpSpPr/>
          <p:nvPr/>
        </p:nvGrpSpPr>
        <p:grpSpPr>
          <a:xfrm>
            <a:off x="964288" y="1932655"/>
            <a:ext cx="2870334" cy="1178051"/>
            <a:chOff x="964288" y="1932655"/>
            <a:chExt cx="2870334" cy="117805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4288" y="2332765"/>
              <a:ext cx="2870334" cy="777941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021926" y="1932655"/>
              <a:ext cx="21178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Distinguishable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D99AD7F-0DFF-46B9-91F5-83AF29FBF0B6}"/>
              </a:ext>
            </a:extLst>
          </p:cNvPr>
          <p:cNvGrpSpPr/>
          <p:nvPr/>
        </p:nvGrpSpPr>
        <p:grpSpPr>
          <a:xfrm>
            <a:off x="964288" y="3499130"/>
            <a:ext cx="2787172" cy="1666741"/>
            <a:chOff x="964288" y="3499130"/>
            <a:chExt cx="2787172" cy="166674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8D50B39-72B9-43F8-B31F-90CAAD34289D}"/>
                </a:ext>
              </a:extLst>
            </p:cNvPr>
            <p:cNvGrpSpPr/>
            <p:nvPr/>
          </p:nvGrpSpPr>
          <p:grpSpPr>
            <a:xfrm>
              <a:off x="964288" y="3499130"/>
              <a:ext cx="2787172" cy="1223569"/>
              <a:chOff x="964288" y="3499130"/>
              <a:chExt cx="2787172" cy="1223569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705" y="3942302"/>
                <a:ext cx="2771755" cy="780397"/>
              </a:xfrm>
              <a:prstGeom prst="rect">
                <a:avLst/>
              </a:prstGeom>
            </p:spPr>
          </p:pic>
          <p:sp>
            <p:nvSpPr>
              <p:cNvPr id="30" name="TextBox 29"/>
              <p:cNvSpPr txBox="1"/>
              <p:nvPr/>
            </p:nvSpPr>
            <p:spPr>
              <a:xfrm>
                <a:off x="964288" y="3499130"/>
                <a:ext cx="23391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/>
                  <a:t>Indistinguishable</a:t>
                </a:r>
                <a:endParaRPr lang="en-US" sz="2000" b="1" dirty="0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1288826" y="4765761"/>
              <a:ext cx="2252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</a:t>
              </a:r>
              <a:r>
                <a:rPr lang="en-US" sz="2000" i="1" dirty="0"/>
                <a:t>Identical</a:t>
              </a:r>
              <a:r>
                <a:rPr lang="en-US" sz="2000" dirty="0"/>
                <a:t> particle)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980479" y="2546366"/>
            <a:ext cx="1797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 configurations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3850039" y="4147834"/>
            <a:ext cx="166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configuration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17F36F-2E89-44A3-80FE-9D4250F3CD25}"/>
              </a:ext>
            </a:extLst>
          </p:cNvPr>
          <p:cNvGrpSpPr/>
          <p:nvPr/>
        </p:nvGrpSpPr>
        <p:grpSpPr>
          <a:xfrm>
            <a:off x="153306" y="5511526"/>
            <a:ext cx="5562394" cy="704572"/>
            <a:chOff x="153306" y="5511526"/>
            <a:chExt cx="5562394" cy="704572"/>
          </a:xfrm>
        </p:grpSpPr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57290" y="5511526"/>
              <a:ext cx="4258410" cy="70457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 rotWithShape="1">
            <a:blip r:embed="rId11"/>
            <a:srcRect r="72066" b="66351"/>
            <a:stretch/>
          </p:blipFill>
          <p:spPr>
            <a:xfrm>
              <a:off x="153306" y="5571061"/>
              <a:ext cx="1251382" cy="468157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611221-59D2-429B-8C21-BB97DE3F054F}"/>
              </a:ext>
            </a:extLst>
          </p:cNvPr>
          <p:cNvGrpSpPr/>
          <p:nvPr/>
        </p:nvGrpSpPr>
        <p:grpSpPr>
          <a:xfrm>
            <a:off x="44752" y="5025768"/>
            <a:ext cx="1839071" cy="681857"/>
            <a:chOff x="44752" y="5025768"/>
            <a:chExt cx="1839071" cy="681857"/>
          </a:xfrm>
        </p:grpSpPr>
        <p:sp>
          <p:nvSpPr>
            <p:cNvPr id="6" name="TextBox 5"/>
            <p:cNvSpPr txBox="1"/>
            <p:nvPr/>
          </p:nvSpPr>
          <p:spPr>
            <a:xfrm>
              <a:off x="44752" y="5025768"/>
              <a:ext cx="18390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rgbClr val="FF0000"/>
                  </a:solidFill>
                </a:rPr>
                <a:t>Overcounting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024128" y="5357361"/>
              <a:ext cx="433162" cy="3502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60AE0B-BD62-40DC-B9FD-5664EFB4262F}"/>
              </a:ext>
            </a:extLst>
          </p:cNvPr>
          <p:cNvGrpSpPr/>
          <p:nvPr/>
        </p:nvGrpSpPr>
        <p:grpSpPr>
          <a:xfrm>
            <a:off x="1806597" y="6216098"/>
            <a:ext cx="3909103" cy="458802"/>
            <a:chOff x="1806597" y="6216098"/>
            <a:chExt cx="3909103" cy="458802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806597" y="6216098"/>
              <a:ext cx="39091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40917" y="6387002"/>
              <a:ext cx="415853" cy="287898"/>
            </a:xfrm>
            <a:prstGeom prst="rect">
              <a:avLst/>
            </a:prstGeom>
          </p:spPr>
        </p:pic>
      </p:grpSp>
      <p:pic>
        <p:nvPicPr>
          <p:cNvPr id="51" name="Picture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4ADF666-56DE-4ACF-8E33-56403D3FFF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94A4D3B-6B88-4F2E-90A3-4FC1FFE4F91E}"/>
              </a:ext>
            </a:extLst>
          </p:cNvPr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460E29C-9BC4-4D04-813E-652B6B7B1E59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DAAE0DB-4505-4B9F-8FAD-6EE36160DB9F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6AC729-3CE5-4443-BF41-0471256811FC}"/>
                </a:ext>
              </a:extLst>
            </p:cNvPr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32F264D0-76EC-47B9-A5AE-BDD404832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8CF14AA-8D6E-46D1-8DA6-7CF4BF4D06B2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0A349BC-0915-43B7-B667-960B9BECA853}"/>
                </a:ext>
              </a:extLst>
            </p:cNvPr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7A5FD954-BB4D-4D29-88CC-F92EC7583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15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37" grpId="0"/>
      <p:bldP spid="40" grpId="0"/>
      <p:bldP spid="48" grpId="0"/>
      <p:bldP spid="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06996" y="6182022"/>
            <a:ext cx="4051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 gas 1 = gas 2, we </a:t>
            </a:r>
            <a:r>
              <a:rPr lang="en-US" sz="2000" b="1"/>
              <a:t>have problem!</a:t>
            </a:r>
            <a:endParaRPr lang="en-US" sz="2000" b="1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(increase)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290" y="5511526"/>
            <a:ext cx="4258410" cy="70457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5"/>
          <a:srcRect r="72066" b="66351"/>
          <a:stretch/>
        </p:blipFill>
        <p:spPr>
          <a:xfrm>
            <a:off x="153306" y="5571061"/>
            <a:ext cx="1251382" cy="46815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806597" y="6216098"/>
            <a:ext cx="3909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0917" y="6387002"/>
            <a:ext cx="415853" cy="287898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7"/>
          <a:srcRect l="18156" t="50000" r="34300"/>
          <a:stretch/>
        </p:blipFill>
        <p:spPr>
          <a:xfrm>
            <a:off x="1806597" y="2044158"/>
            <a:ext cx="3537015" cy="98981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680" y="2054376"/>
            <a:ext cx="1359917" cy="774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1968" y="2679675"/>
            <a:ext cx="264692" cy="213461"/>
          </a:xfrm>
          <a:prstGeom prst="rect">
            <a:avLst/>
          </a:prstGeom>
        </p:spPr>
      </p:pic>
      <p:cxnSp>
        <p:nvCxnSpPr>
          <p:cNvPr id="43" name="Straight Connector 42"/>
          <p:cNvCxnSpPr/>
          <p:nvPr/>
        </p:nvCxnSpPr>
        <p:spPr>
          <a:xfrm>
            <a:off x="3121968" y="2637994"/>
            <a:ext cx="2646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4833" y="3908624"/>
            <a:ext cx="4739842" cy="3807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9040" y="4677373"/>
            <a:ext cx="5214874" cy="4108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215" y="3361642"/>
            <a:ext cx="2569702" cy="61001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16533" y="4105473"/>
            <a:ext cx="2570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Density is the same.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9419316" y="5061926"/>
            <a:ext cx="1472045" cy="1040092"/>
            <a:chOff x="9419316" y="5061926"/>
            <a:chExt cx="1472045" cy="1040092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9419316" y="5225823"/>
              <a:ext cx="1238854" cy="87619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738961" y="5061926"/>
              <a:ext cx="152400" cy="317500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CE9757-4FDE-4E71-B401-BB743F6D6EE7}"/>
              </a:ext>
            </a:extLst>
          </p:cNvPr>
          <p:cNvCxnSpPr>
            <a:endCxn id="56" idx="3"/>
          </p:cNvCxnSpPr>
          <p:nvPr/>
        </p:nvCxnSpPr>
        <p:spPr>
          <a:xfrm>
            <a:off x="6371924" y="6382077"/>
            <a:ext cx="42862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D82D0605-80E3-4680-A946-8A48B65BF65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6CE779C-F67F-4F03-BA82-5305ACF7F846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BFBFCE-5367-4EB4-A769-44366FE746D3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0F0AD88C-BE75-4BD7-8EE0-4A1DED2D4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D7E530FB-D496-4796-8DB1-6BFB164E5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353B79A-8104-44B2-A3C1-5BBF81F430BE}"/>
              </a:ext>
            </a:extLst>
          </p:cNvPr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066CBCC-5BA9-49BB-A1DA-C2F8ABA37197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6BA61BC-75BD-4F9A-83E8-BB008FFDB16E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2DFD3B-5B6F-4B4C-9D96-A83729F1E5EE}"/>
                </a:ext>
              </a:extLst>
            </p:cNvPr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03FF12C6-6A68-444A-AF2D-86F93D7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E116609-50EB-49AA-8B0F-DAC1EE13E23D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218848D-802F-4897-B8F1-096CBCDAC0F0}"/>
                </a:ext>
              </a:extLst>
            </p:cNvPr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D07B6A0-4312-48EE-A86B-E18A33585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5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35" grpId="0" animBg="1"/>
      <p:bldP spid="51" grpId="0"/>
      <p:bldP spid="5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paradox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833" y="3920899"/>
            <a:ext cx="4126721" cy="349184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5357361"/>
            <a:ext cx="4990787" cy="74465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91361" y="55450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(increase)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290" y="5511526"/>
            <a:ext cx="4258410" cy="70457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5"/>
          <a:srcRect r="72066" b="66351"/>
          <a:stretch/>
        </p:blipFill>
        <p:spPr>
          <a:xfrm>
            <a:off x="153306" y="5571061"/>
            <a:ext cx="1251382" cy="46815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806597" y="6216098"/>
            <a:ext cx="3909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6"/>
          <a:srcRect l="18156" t="50000" r="34300"/>
          <a:stretch/>
        </p:blipFill>
        <p:spPr>
          <a:xfrm>
            <a:off x="1806597" y="2044158"/>
            <a:ext cx="3537015" cy="98981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680" y="2054376"/>
            <a:ext cx="1359917" cy="774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0478" y="2715443"/>
            <a:ext cx="264692" cy="213461"/>
          </a:xfrm>
          <a:prstGeom prst="rect">
            <a:avLst/>
          </a:prstGeom>
        </p:spPr>
      </p:pic>
      <p:cxnSp>
        <p:nvCxnSpPr>
          <p:cNvPr id="43" name="Straight Connector 42"/>
          <p:cNvCxnSpPr/>
          <p:nvPr/>
        </p:nvCxnSpPr>
        <p:spPr>
          <a:xfrm>
            <a:off x="3121968" y="2637994"/>
            <a:ext cx="2646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9040" y="4686213"/>
            <a:ext cx="5214874" cy="3613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4833" y="3908624"/>
            <a:ext cx="4739842" cy="380741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52" name="Group 51"/>
          <p:cNvGrpSpPr/>
          <p:nvPr/>
        </p:nvGrpSpPr>
        <p:grpSpPr>
          <a:xfrm>
            <a:off x="9419316" y="5061926"/>
            <a:ext cx="1472045" cy="1040092"/>
            <a:chOff x="9419316" y="5061926"/>
            <a:chExt cx="1472045" cy="1040092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9419316" y="5225823"/>
              <a:ext cx="1238854" cy="87619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738961" y="5061926"/>
              <a:ext cx="152400" cy="317500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1968" y="6414030"/>
            <a:ext cx="1079930" cy="336204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7962" y="5101400"/>
            <a:ext cx="956166" cy="628289"/>
            <a:chOff x="67962" y="5101400"/>
            <a:chExt cx="956166" cy="62828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962" y="5101400"/>
              <a:ext cx="956166" cy="260010"/>
            </a:xfrm>
            <a:prstGeom prst="rect">
              <a:avLst/>
            </a:prstGeom>
          </p:spPr>
        </p:pic>
        <p:cxnSp>
          <p:nvCxnSpPr>
            <p:cNvPr id="8" name="Straight Arrow Connector 7"/>
            <p:cNvCxnSpPr>
              <a:stCxn id="4" idx="2"/>
            </p:cNvCxnSpPr>
            <p:nvPr/>
          </p:nvCxnSpPr>
          <p:spPr>
            <a:xfrm>
              <a:off x="546045" y="5361410"/>
              <a:ext cx="232952" cy="3682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024128" y="4826881"/>
            <a:ext cx="1086210" cy="837039"/>
            <a:chOff x="1024128" y="4826881"/>
            <a:chExt cx="1086210" cy="83703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24128" y="4826881"/>
              <a:ext cx="1086210" cy="259019"/>
            </a:xfrm>
            <a:prstGeom prst="rect">
              <a:avLst/>
            </a:prstGeom>
          </p:spPr>
        </p:pic>
        <p:cxnSp>
          <p:nvCxnSpPr>
            <p:cNvPr id="40" name="Straight Arrow Connector 39"/>
            <p:cNvCxnSpPr/>
            <p:nvPr/>
          </p:nvCxnSpPr>
          <p:spPr>
            <a:xfrm flipH="1">
              <a:off x="1190342" y="5144341"/>
              <a:ext cx="250539" cy="519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Picture 4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79040" y="4677373"/>
            <a:ext cx="5214874" cy="4108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4518" y="4912189"/>
            <a:ext cx="751085" cy="2707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10030" y="5187180"/>
            <a:ext cx="1967875" cy="94001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1" name="TextBox 50"/>
          <p:cNvSpPr txBox="1"/>
          <p:nvPr/>
        </p:nvSpPr>
        <p:spPr>
          <a:xfrm>
            <a:off x="2474357" y="4394672"/>
            <a:ext cx="1676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gas 1 ≠ gas 2?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BDE1EAA-80F6-46A4-B497-A4AF4586236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1124" y="2574304"/>
            <a:ext cx="423004" cy="33047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6E567D3-97A7-42D8-9EA1-480BCC94E699}"/>
              </a:ext>
            </a:extLst>
          </p:cNvPr>
          <p:cNvGrpSpPr/>
          <p:nvPr/>
        </p:nvGrpSpPr>
        <p:grpSpPr>
          <a:xfrm>
            <a:off x="411799" y="3150742"/>
            <a:ext cx="4896932" cy="989812"/>
            <a:chOff x="411799" y="3150742"/>
            <a:chExt cx="4896932" cy="989812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62323" y="3824031"/>
              <a:ext cx="751085" cy="27074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2E244B8-7198-46B6-B800-B45D1E22F5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8156" t="50000" r="34300"/>
            <a:stretch/>
          </p:blipFill>
          <p:spPr>
            <a:xfrm>
              <a:off x="1771716" y="3150742"/>
              <a:ext cx="3537015" cy="98981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8FEA58BB-FF19-44B0-94D5-73F1517BC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1799" y="3160960"/>
              <a:ext cx="1359917" cy="774636"/>
            </a:xfrm>
            <a:prstGeom prst="rect">
              <a:avLst/>
            </a:prstGeom>
          </p:spPr>
        </p:pic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0E2107A-D175-4B71-93AC-B67208E83D53}"/>
                </a:ext>
              </a:extLst>
            </p:cNvPr>
            <p:cNvCxnSpPr/>
            <p:nvPr/>
          </p:nvCxnSpPr>
          <p:spPr>
            <a:xfrm>
              <a:off x="3131768" y="3752921"/>
              <a:ext cx="26469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3A60370-8303-4119-8172-3BBF9312E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10649" y="3645648"/>
              <a:ext cx="494965" cy="367232"/>
            </a:xfrm>
            <a:prstGeom prst="rect">
              <a:avLst/>
            </a:prstGeom>
          </p:spPr>
        </p:pic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04786E41-D471-4DD5-BDF5-8CA57C46562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564C2DC7-55AC-40BE-96EC-CAA4FBDCFB5A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EF9D4A6-2685-4075-8DE6-A60B16DB8AB6}"/>
              </a:ext>
            </a:extLst>
          </p:cNvPr>
          <p:cNvGrpSpPr/>
          <p:nvPr/>
        </p:nvGrpSpPr>
        <p:grpSpPr>
          <a:xfrm>
            <a:off x="8604728" y="1061000"/>
            <a:ext cx="1562241" cy="1233741"/>
            <a:chOff x="5304237" y="2323847"/>
            <a:chExt cx="1562241" cy="1233741"/>
          </a:xfrm>
        </p:grpSpPr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1A4FDA1C-C41D-4D14-8A01-46B6F9253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304237" y="2888056"/>
              <a:ext cx="1562241" cy="669532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CF627AB6-9D32-4B31-9631-B50D6E711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383723" y="2323847"/>
              <a:ext cx="1413456" cy="669532"/>
            </a:xfrm>
            <a:prstGeom prst="rect">
              <a:avLst/>
            </a:prstGeom>
          </p:spPr>
        </p:pic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183338CE-36B5-444C-A293-1505E67E26FF}"/>
              </a:ext>
            </a:extLst>
          </p:cNvPr>
          <p:cNvSpPr txBox="1"/>
          <p:nvPr/>
        </p:nvSpPr>
        <p:spPr>
          <a:xfrm>
            <a:off x="8737078" y="60788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59A92D8-1089-42BD-8D3B-BF4698EEAFC1}"/>
              </a:ext>
            </a:extLst>
          </p:cNvPr>
          <p:cNvSpPr/>
          <p:nvPr/>
        </p:nvSpPr>
        <p:spPr>
          <a:xfrm>
            <a:off x="8221750" y="971974"/>
            <a:ext cx="2669611" cy="13436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2FCE240-C6E7-4DF6-A642-D21F82AAD138}"/>
              </a:ext>
            </a:extLst>
          </p:cNvPr>
          <p:cNvGrpSpPr/>
          <p:nvPr/>
        </p:nvGrpSpPr>
        <p:grpSpPr>
          <a:xfrm>
            <a:off x="7144958" y="2554675"/>
            <a:ext cx="3908958" cy="369332"/>
            <a:chOff x="7144958" y="2323847"/>
            <a:chExt cx="3908958" cy="369332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1B0736E-B182-41F5-B86B-EC37E647BE21}"/>
                </a:ext>
              </a:extLst>
            </p:cNvPr>
            <p:cNvSpPr txBox="1"/>
            <p:nvPr/>
          </p:nvSpPr>
          <p:spPr>
            <a:xfrm>
              <a:off x="7144958" y="2323847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Initial:</a:t>
              </a: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83B8A0AC-2935-45E2-A182-440910087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135918" y="2381543"/>
              <a:ext cx="2917998" cy="256451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D1AF164-D622-4AB7-A252-ADFB5B9B0968}"/>
              </a:ext>
            </a:extLst>
          </p:cNvPr>
          <p:cNvGrpSpPr/>
          <p:nvPr/>
        </p:nvGrpSpPr>
        <p:grpSpPr>
          <a:xfrm>
            <a:off x="7144957" y="3325647"/>
            <a:ext cx="3862276" cy="369332"/>
            <a:chOff x="7144957" y="3094819"/>
            <a:chExt cx="3862276" cy="36933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2559749-AB47-4AFE-9CBE-E02FC517E67F}"/>
                </a:ext>
              </a:extLst>
            </p:cNvPr>
            <p:cNvSpPr txBox="1"/>
            <p:nvPr/>
          </p:nvSpPr>
          <p:spPr>
            <a:xfrm>
              <a:off x="7144957" y="3094819"/>
              <a:ext cx="696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final: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DD31693-030A-4623-8DC4-89B8BA07B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105876" y="3143035"/>
              <a:ext cx="2901357" cy="27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35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63" grpId="0" animBg="1"/>
      <p:bldP spid="67" grpId="0"/>
      <p:bldP spid="6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700</Words>
  <Application>Microsoft Office PowerPoint</Application>
  <PresentationFormat>Widescreen</PresentationFormat>
  <Paragraphs>171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</vt:lpstr>
      <vt:lpstr>Microcanonical ensemble: two level system</vt:lpstr>
      <vt:lpstr>Microcanonical ensemble: two level system</vt:lpstr>
      <vt:lpstr>Microcanonical ensemble: two level system</vt:lpstr>
      <vt:lpstr>Microcanonical ensemble: two level system</vt:lpstr>
      <vt:lpstr>Lagrange Multiplier and the most probable distribution.</vt:lpstr>
      <vt:lpstr>Lagrange Multiplier and the most probable distribution.</vt:lpstr>
      <vt:lpstr>Microcanonical ensemble: Ideal Gas</vt:lpstr>
      <vt:lpstr>Microcanonical ensemble: Ideal Gas</vt:lpstr>
      <vt:lpstr>Microcanonical ensemble: Ideal Gas</vt:lpstr>
      <vt:lpstr>Microcanonical ensemble: Ideal Gas</vt:lpstr>
      <vt:lpstr>Microcanonical ensemble: Ideal Gas</vt:lpstr>
      <vt:lpstr>Microcanonical ensemble: Ideal Gas</vt:lpstr>
      <vt:lpstr>Questions</vt:lpstr>
      <vt:lpstr>Microcanonical ensemble</vt:lpstr>
      <vt:lpstr>Gibbs paradox</vt:lpstr>
      <vt:lpstr>Gibbs paradox</vt:lpstr>
      <vt:lpstr>Gibbs paradox</vt:lpstr>
      <vt:lpstr>Gibbs paradox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1662</cp:revision>
  <dcterms:created xsi:type="dcterms:W3CDTF">2024-08-25T23:32:26Z</dcterms:created>
  <dcterms:modified xsi:type="dcterms:W3CDTF">2025-09-29T12:34:38Z</dcterms:modified>
</cp:coreProperties>
</file>