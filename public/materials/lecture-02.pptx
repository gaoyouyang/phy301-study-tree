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8"/>
  </p:notesMasterIdLst>
  <p:sldIdLst>
    <p:sldId id="285" r:id="rId2"/>
    <p:sldId id="283" r:id="rId3"/>
    <p:sldId id="301" r:id="rId4"/>
    <p:sldId id="304" r:id="rId5"/>
    <p:sldId id="415" r:id="rId6"/>
    <p:sldId id="302" r:id="rId7"/>
    <p:sldId id="303" r:id="rId8"/>
    <p:sldId id="305" r:id="rId9"/>
    <p:sldId id="306" r:id="rId10"/>
    <p:sldId id="337" r:id="rId11"/>
    <p:sldId id="404" r:id="rId12"/>
    <p:sldId id="405" r:id="rId13"/>
    <p:sldId id="406" r:id="rId14"/>
    <p:sldId id="623" r:id="rId15"/>
    <p:sldId id="622" r:id="rId16"/>
    <p:sldId id="30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emf"/><Relationship Id="rId7" Type="http://schemas.openxmlformats.org/officeDocument/2006/relationships/image" Target="../media/image8.sv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10" Type="http://schemas.openxmlformats.org/officeDocument/2006/relationships/image" Target="../media/image2.png"/><Relationship Id="rId4" Type="http://schemas.openxmlformats.org/officeDocument/2006/relationships/image" Target="../media/image5.emf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image" Target="../media/image22.png"/><Relationship Id="rId18" Type="http://schemas.openxmlformats.org/officeDocument/2006/relationships/image" Target="../media/image27.svg"/><Relationship Id="rId3" Type="http://schemas.openxmlformats.org/officeDocument/2006/relationships/image" Target="../media/image12.emf"/><Relationship Id="rId21" Type="http://schemas.openxmlformats.org/officeDocument/2006/relationships/image" Target="../media/image30.emf"/><Relationship Id="rId7" Type="http://schemas.openxmlformats.org/officeDocument/2006/relationships/image" Target="../media/image16.emf"/><Relationship Id="rId12" Type="http://schemas.openxmlformats.org/officeDocument/2006/relationships/image" Target="../media/image21.emf"/><Relationship Id="rId17" Type="http://schemas.openxmlformats.org/officeDocument/2006/relationships/image" Target="../media/image26.png"/><Relationship Id="rId2" Type="http://schemas.openxmlformats.org/officeDocument/2006/relationships/image" Target="../media/image11.emf"/><Relationship Id="rId16" Type="http://schemas.openxmlformats.org/officeDocument/2006/relationships/image" Target="../media/image25.svg"/><Relationship Id="rId20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11" Type="http://schemas.openxmlformats.org/officeDocument/2006/relationships/image" Target="../media/image20.emf"/><Relationship Id="rId5" Type="http://schemas.openxmlformats.org/officeDocument/2006/relationships/image" Target="../media/image14.emf"/><Relationship Id="rId15" Type="http://schemas.openxmlformats.org/officeDocument/2006/relationships/image" Target="../media/image24.png"/><Relationship Id="rId10" Type="http://schemas.openxmlformats.org/officeDocument/2006/relationships/image" Target="../media/image19.emf"/><Relationship Id="rId19" Type="http://schemas.openxmlformats.org/officeDocument/2006/relationships/image" Target="../media/image28.png"/><Relationship Id="rId4" Type="http://schemas.openxmlformats.org/officeDocument/2006/relationships/image" Target="../media/image13.emf"/><Relationship Id="rId9" Type="http://schemas.openxmlformats.org/officeDocument/2006/relationships/image" Target="../media/image18.emf"/><Relationship Id="rId14" Type="http://schemas.openxmlformats.org/officeDocument/2006/relationships/image" Target="../media/image23.svg"/><Relationship Id="rId2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0.emf"/><Relationship Id="rId3" Type="http://schemas.openxmlformats.org/officeDocument/2006/relationships/image" Target="../media/image11.emf"/><Relationship Id="rId7" Type="http://schemas.openxmlformats.org/officeDocument/2006/relationships/image" Target="../media/image33.emf"/><Relationship Id="rId12" Type="http://schemas.openxmlformats.org/officeDocument/2006/relationships/image" Target="../media/image26.png"/><Relationship Id="rId17" Type="http://schemas.openxmlformats.org/officeDocument/2006/relationships/image" Target="../media/image15.emf"/><Relationship Id="rId2" Type="http://schemas.openxmlformats.org/officeDocument/2006/relationships/image" Target="../media/image13.emf"/><Relationship Id="rId16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11" Type="http://schemas.openxmlformats.org/officeDocument/2006/relationships/image" Target="../media/image25.svg"/><Relationship Id="rId5" Type="http://schemas.openxmlformats.org/officeDocument/2006/relationships/image" Target="../media/image31.emf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19" Type="http://schemas.openxmlformats.org/officeDocument/2006/relationships/image" Target="../media/image2.png"/><Relationship Id="rId4" Type="http://schemas.openxmlformats.org/officeDocument/2006/relationships/image" Target="../media/image14.emf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png"/><Relationship Id="rId18" Type="http://schemas.openxmlformats.org/officeDocument/2006/relationships/image" Target="../media/image32.emf"/><Relationship Id="rId3" Type="http://schemas.openxmlformats.org/officeDocument/2006/relationships/image" Target="../media/image12.emf"/><Relationship Id="rId21" Type="http://schemas.openxmlformats.org/officeDocument/2006/relationships/image" Target="../media/image36.sv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17" Type="http://schemas.openxmlformats.org/officeDocument/2006/relationships/image" Target="../media/image31.emf"/><Relationship Id="rId2" Type="http://schemas.openxmlformats.org/officeDocument/2006/relationships/image" Target="../media/image11.emf"/><Relationship Id="rId16" Type="http://schemas.openxmlformats.org/officeDocument/2006/relationships/image" Target="../media/image34.jpe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11" Type="http://schemas.openxmlformats.org/officeDocument/2006/relationships/image" Target="../media/image26.png"/><Relationship Id="rId5" Type="http://schemas.openxmlformats.org/officeDocument/2006/relationships/image" Target="../media/image14.emf"/><Relationship Id="rId15" Type="http://schemas.openxmlformats.org/officeDocument/2006/relationships/image" Target="../media/image30.emf"/><Relationship Id="rId23" Type="http://schemas.openxmlformats.org/officeDocument/2006/relationships/image" Target="../media/image2.png"/><Relationship Id="rId10" Type="http://schemas.openxmlformats.org/officeDocument/2006/relationships/image" Target="../media/image25.svg"/><Relationship Id="rId19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image" Target="../media/image24.png"/><Relationship Id="rId14" Type="http://schemas.openxmlformats.org/officeDocument/2006/relationships/image" Target="../media/image29.svg"/><Relationship Id="rId22" Type="http://schemas.openxmlformats.org/officeDocument/2006/relationships/image" Target="../media/image3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image" Target="../media/image38.emf"/><Relationship Id="rId7" Type="http://schemas.openxmlformats.org/officeDocument/2006/relationships/image" Target="../media/image41.emf"/><Relationship Id="rId12" Type="http://schemas.openxmlformats.org/officeDocument/2006/relationships/image" Target="../media/image2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11" Type="http://schemas.openxmlformats.org/officeDocument/2006/relationships/image" Target="../media/image45.svg"/><Relationship Id="rId5" Type="http://schemas.openxmlformats.org/officeDocument/2006/relationships/image" Target="../media/image40.emf"/><Relationship Id="rId10" Type="http://schemas.openxmlformats.org/officeDocument/2006/relationships/image" Target="../media/image44.png"/><Relationship Id="rId4" Type="http://schemas.openxmlformats.org/officeDocument/2006/relationships/image" Target="../media/image39.emf"/><Relationship Id="rId9" Type="http://schemas.openxmlformats.org/officeDocument/2006/relationships/image" Target="../media/image4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33.emf"/><Relationship Id="rId7" Type="http://schemas.openxmlformats.org/officeDocument/2006/relationships/image" Target="../media/image49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emf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image" Target="../media/image18.emf"/><Relationship Id="rId7" Type="http://schemas.openxmlformats.org/officeDocument/2006/relationships/image" Target="../media/image53.sv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emf"/><Relationship Id="rId4" Type="http://schemas.openxmlformats.org/officeDocument/2006/relationships/image" Target="../media/image50.emf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10" Type="http://schemas.openxmlformats.org/officeDocument/2006/relationships/image" Target="../media/image2.png"/><Relationship Id="rId4" Type="http://schemas.openxmlformats.org/officeDocument/2006/relationships/image" Target="../media/image61.png"/><Relationship Id="rId9" Type="http://schemas.openxmlformats.org/officeDocument/2006/relationships/image" Target="../media/image6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3.emf"/><Relationship Id="rId7" Type="http://schemas.openxmlformats.org/officeDocument/2006/relationships/image" Target="../media/image77.png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emf"/><Relationship Id="rId5" Type="http://schemas.openxmlformats.org/officeDocument/2006/relationships/image" Target="../media/image75.png"/><Relationship Id="rId4" Type="http://schemas.openxmlformats.org/officeDocument/2006/relationships/image" Target="../media/image7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7" Type="http://schemas.openxmlformats.org/officeDocument/2006/relationships/image" Target="../media/image2.pn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5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Liouville’s theorem, ensemble theory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AC4B1-85A1-43D3-BB94-63CAF1BCB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8272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05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249424"/>
            <a:ext cx="49839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The microstates      </a:t>
            </a:r>
            <a:r>
              <a:rPr lang="en-US" sz="2400" b="1" dirty="0"/>
              <a:t>of a large system.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218" y="2412746"/>
            <a:ext cx="237744" cy="29718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9703C41-DDF4-40A3-97C9-75564D6B3493}"/>
              </a:ext>
            </a:extLst>
          </p:cNvPr>
          <p:cNvGrpSpPr/>
          <p:nvPr/>
        </p:nvGrpSpPr>
        <p:grpSpPr>
          <a:xfrm>
            <a:off x="7555484" y="1760273"/>
            <a:ext cx="4449103" cy="3435767"/>
            <a:chOff x="7454138" y="1880092"/>
            <a:chExt cx="4449103" cy="343576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60AAE96-594B-4460-B71B-05C5028CA2B6}"/>
                </a:ext>
              </a:extLst>
            </p:cNvPr>
            <p:cNvGrpSpPr/>
            <p:nvPr/>
          </p:nvGrpSpPr>
          <p:grpSpPr>
            <a:xfrm>
              <a:off x="7454138" y="1880092"/>
              <a:ext cx="4449103" cy="3435767"/>
              <a:chOff x="7454138" y="1880092"/>
              <a:chExt cx="4449103" cy="3435767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8724" y="2041344"/>
                <a:ext cx="3332988" cy="3274515"/>
              </a:xfrm>
              <a:prstGeom prst="rect">
                <a:avLst/>
              </a:prstGeom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7454138" y="1880092"/>
                <a:ext cx="4449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Phase space</a:t>
                </a:r>
                <a:r>
                  <a:rPr lang="en-US" dirty="0"/>
                  <a:t>: collection of all available states</a:t>
                </a:r>
              </a:p>
            </p:txBody>
          </p:sp>
        </p:grp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97696" y="4498848"/>
              <a:ext cx="1761488" cy="217170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554319" y="4061567"/>
            <a:ext cx="6299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We only interested in the macroscopic behavior.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833" y="4671314"/>
            <a:ext cx="5199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⇒ What is the correct statistical model?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0A3A92B-A6A2-488E-8384-F11B7C4618B4}"/>
              </a:ext>
            </a:extLst>
          </p:cNvPr>
          <p:cNvGrpSpPr/>
          <p:nvPr/>
        </p:nvGrpSpPr>
        <p:grpSpPr>
          <a:xfrm>
            <a:off x="463683" y="3083306"/>
            <a:ext cx="7447128" cy="802654"/>
            <a:chOff x="123933" y="3083306"/>
            <a:chExt cx="7447128" cy="802654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8462" y="3083306"/>
              <a:ext cx="6922599" cy="720598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1E5C954-9EB0-4295-8A57-A1C18E2E4AAE}"/>
                </a:ext>
              </a:extLst>
            </p:cNvPr>
            <p:cNvGrpSpPr/>
            <p:nvPr/>
          </p:nvGrpSpPr>
          <p:grpSpPr>
            <a:xfrm>
              <a:off x="123933" y="3362740"/>
              <a:ext cx="595958" cy="523220"/>
              <a:chOff x="123933" y="3362740"/>
              <a:chExt cx="595958" cy="52322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3B7994C2-E6CD-464C-B239-2E6413259F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3933" y="3530011"/>
                <a:ext cx="237744" cy="297180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C62B9E-9D65-4FB3-B809-4502723EEB47}"/>
                  </a:ext>
                </a:extLst>
              </p:cNvPr>
              <p:cNvSpPr txBox="1"/>
              <p:nvPr/>
            </p:nvSpPr>
            <p:spPr>
              <a:xfrm>
                <a:off x="336453" y="3362740"/>
                <a:ext cx="3834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=</a:t>
                </a:r>
                <a:endParaRPr lang="en-MY" sz="2800" dirty="0"/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348D381-30C3-4626-987E-06A1A9AFF277}"/>
              </a:ext>
            </a:extLst>
          </p:cNvPr>
          <p:cNvSpPr txBox="1"/>
          <p:nvPr/>
        </p:nvSpPr>
        <p:spPr>
          <a:xfrm>
            <a:off x="8616671" y="4650364"/>
            <a:ext cx="3387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Each point represent a state.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a huge space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896D830-155B-4B85-8E79-903B106D46D6}"/>
              </a:ext>
            </a:extLst>
          </p:cNvPr>
          <p:cNvGrpSpPr/>
          <p:nvPr/>
        </p:nvGrpSpPr>
        <p:grpSpPr>
          <a:xfrm>
            <a:off x="729833" y="5196040"/>
            <a:ext cx="8367547" cy="666825"/>
            <a:chOff x="729833" y="5196040"/>
            <a:chExt cx="8367547" cy="666825"/>
          </a:xfrm>
        </p:grpSpPr>
        <p:sp>
          <p:nvSpPr>
            <p:cNvPr id="6" name="TextBox 5"/>
            <p:cNvSpPr txBox="1"/>
            <p:nvPr/>
          </p:nvSpPr>
          <p:spPr>
            <a:xfrm>
              <a:off x="729833" y="5281061"/>
              <a:ext cx="83675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⇒ How to build the distribution of the microstates         ?</a:t>
              </a: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4D4C126-C0D3-4D2E-A200-0D68BC5D6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38537" y="5196040"/>
              <a:ext cx="928791" cy="666825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E2F3F6-55E3-42AA-8D45-999B31E39D53}"/>
              </a:ext>
            </a:extLst>
          </p:cNvPr>
          <p:cNvGrpSpPr/>
          <p:nvPr/>
        </p:nvGrpSpPr>
        <p:grpSpPr>
          <a:xfrm>
            <a:off x="701427" y="5880290"/>
            <a:ext cx="10491590" cy="622889"/>
            <a:chOff x="701427" y="5880290"/>
            <a:chExt cx="10491590" cy="622889"/>
          </a:xfrm>
        </p:grpSpPr>
        <p:sp>
          <p:nvSpPr>
            <p:cNvPr id="16" name="TextBox 15"/>
            <p:cNvSpPr txBox="1"/>
            <p:nvPr/>
          </p:nvSpPr>
          <p:spPr>
            <a:xfrm>
              <a:off x="701427" y="5945656"/>
              <a:ext cx="1049159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</a:rPr>
                <a:t>The physical law for each particles MUST not be violated </a:t>
              </a:r>
              <a:r>
                <a:rPr lang="en-US" sz="2400" b="1" dirty="0"/>
                <a:t>⇒        </a:t>
              </a:r>
              <a:r>
                <a:rPr lang="en-US" sz="2400" b="1" dirty="0">
                  <a:solidFill>
                    <a:srgbClr val="FF0000"/>
                  </a:solidFill>
                </a:rPr>
                <a:t> is not arbitrary.</a:t>
              </a: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D9735A35-11D5-453F-AB2C-7477A74DD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025662" y="5880290"/>
              <a:ext cx="867595" cy="622889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22E1A4A6-0AED-4FD5-AE31-9B5AD144D4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9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83664"/>
            <a:ext cx="2311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Ensemble theory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0192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8600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93851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7368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275229" y="30358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800" b="1"/>
              <a:t>……</a:t>
            </a:r>
            <a:endParaRPr lang="en-US" sz="28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B90534-31E8-44ED-AB9D-D2AEFA7FD775}"/>
              </a:ext>
            </a:extLst>
          </p:cNvPr>
          <p:cNvGrpSpPr/>
          <p:nvPr/>
        </p:nvGrpSpPr>
        <p:grpSpPr>
          <a:xfrm>
            <a:off x="1280158" y="1810003"/>
            <a:ext cx="9493935" cy="983621"/>
            <a:chOff x="1280158" y="1810003"/>
            <a:chExt cx="9493935" cy="983621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9466" y="1810003"/>
              <a:ext cx="1403398" cy="355791"/>
            </a:xfrm>
            <a:prstGeom prst="rect">
              <a:avLst/>
            </a:prstGeom>
          </p:spPr>
        </p:pic>
        <p:sp>
          <p:nvSpPr>
            <p:cNvPr id="23" name="Right Brace 22"/>
            <p:cNvSpPr/>
            <p:nvPr/>
          </p:nvSpPr>
          <p:spPr>
            <a:xfrm rot="16200000">
              <a:off x="5798023" y="-2182446"/>
              <a:ext cx="458205" cy="949393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/>
          <a:srcRect l="4966" t="-5966"/>
          <a:stretch/>
        </p:blipFill>
        <p:spPr>
          <a:xfrm>
            <a:off x="653289" y="4516143"/>
            <a:ext cx="10983731" cy="31122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BC6AA2-E84C-4709-81CB-1DF4D732826D}"/>
              </a:ext>
            </a:extLst>
          </p:cNvPr>
          <p:cNvGrpSpPr/>
          <p:nvPr/>
        </p:nvGrpSpPr>
        <p:grpSpPr>
          <a:xfrm>
            <a:off x="1024128" y="2889504"/>
            <a:ext cx="1327339" cy="1418790"/>
            <a:chOff x="1024128" y="2889504"/>
            <a:chExt cx="1327339" cy="1418790"/>
          </a:xfrm>
        </p:grpSpPr>
        <p:sp>
          <p:nvSpPr>
            <p:cNvPr id="8" name="Rectangle 7"/>
            <p:cNvSpPr/>
            <p:nvPr/>
          </p:nvSpPr>
          <p:spPr>
            <a:xfrm>
              <a:off x="1280160" y="2889504"/>
              <a:ext cx="1024128" cy="100584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4128" y="4036231"/>
              <a:ext cx="1327339" cy="27206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5612" y="3353061"/>
              <a:ext cx="699929" cy="315822"/>
            </a:xfrm>
            <a:prstGeom prst="rect">
              <a:avLst/>
            </a:prstGeom>
          </p:spPr>
        </p:pic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7456" y="1036579"/>
            <a:ext cx="1792129" cy="6420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797" y="4939265"/>
            <a:ext cx="3659029" cy="5341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219" y="5725422"/>
            <a:ext cx="11167872" cy="29620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1119" y="6247524"/>
            <a:ext cx="3206903" cy="4795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8836" y="6385117"/>
            <a:ext cx="1339596" cy="2585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1666" y="5003700"/>
            <a:ext cx="2053873" cy="51027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05459" y="6372770"/>
            <a:ext cx="3304126" cy="33041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56A7E13-B9D3-41BA-B7C3-BC96D4968B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95898" b="-15815"/>
          <a:stretch/>
        </p:blipFill>
        <p:spPr>
          <a:xfrm>
            <a:off x="494794" y="3284804"/>
            <a:ext cx="474050" cy="34014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DB255F2-F7B9-4A2C-8367-5015ADFC62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29733" y="3181362"/>
            <a:ext cx="1236892" cy="60759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5063106-0886-4030-B6D6-817ADD820E7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34042" y="3145668"/>
            <a:ext cx="1276116" cy="62686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97A1F26E-7F60-4DC3-BFC5-DB65F6D304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40507" y="3207860"/>
            <a:ext cx="2130069" cy="62781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BD2CF91-FE61-4559-A3CE-8BE8F966999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68865" y="3216840"/>
            <a:ext cx="2130069" cy="62781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91764" y="1743506"/>
            <a:ext cx="2220810" cy="7645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70D981D-4D19-450B-9E7C-866D21CE731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4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83664"/>
            <a:ext cx="2311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Ensemble theory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060192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8600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93851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7368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4036231"/>
            <a:ext cx="1327339" cy="2720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75229" y="30358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800" b="1"/>
              <a:t>……</a:t>
            </a:r>
            <a:endParaRPr lang="en-US" sz="2800" b="1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466" y="1810003"/>
            <a:ext cx="1403398" cy="355791"/>
          </a:xfrm>
          <a:prstGeom prst="rect">
            <a:avLst/>
          </a:prstGeom>
        </p:spPr>
      </p:pic>
      <p:sp>
        <p:nvSpPr>
          <p:cNvPr id="23" name="Right Brace 22"/>
          <p:cNvSpPr/>
          <p:nvPr/>
        </p:nvSpPr>
        <p:spPr>
          <a:xfrm rot="16200000">
            <a:off x="5798023" y="-2182446"/>
            <a:ext cx="458205" cy="949393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612" y="3353061"/>
            <a:ext cx="699929" cy="3158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634" y="4873267"/>
            <a:ext cx="5128165" cy="54410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2576" y="5684856"/>
            <a:ext cx="8631936" cy="3323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2096" y="6180125"/>
            <a:ext cx="5290058" cy="34674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1342AFF-8212-492A-9484-11CF9834326C}"/>
              </a:ext>
            </a:extLst>
          </p:cNvPr>
          <p:cNvGrpSpPr/>
          <p:nvPr/>
        </p:nvGrpSpPr>
        <p:grpSpPr>
          <a:xfrm>
            <a:off x="2929733" y="3145668"/>
            <a:ext cx="8469201" cy="698983"/>
            <a:chOff x="2929733" y="3145668"/>
            <a:chExt cx="8469201" cy="698983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8C83D78-00C0-4747-ABDB-49A69E8AD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29733" y="3181362"/>
              <a:ext cx="1236892" cy="607596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EBE1B6AA-F228-45FC-9F8E-B748C4D7F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734042" y="3145668"/>
              <a:ext cx="1276116" cy="626864"/>
            </a:xfrm>
            <a:prstGeom prst="rect">
              <a:avLst/>
            </a:prstGeom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F3C88E8-E5EF-49F4-BD92-1D387DD2A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340507" y="3207860"/>
              <a:ext cx="2130069" cy="627810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34DFDE19-8334-4D3B-8F24-2C02D496E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268865" y="3216840"/>
              <a:ext cx="2130069" cy="627811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967880C6-2DA0-4E04-B8C2-F1991CC6D6B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7797" y="4939265"/>
            <a:ext cx="3659029" cy="53416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97B4DEE9-6A66-43FA-A3D6-8A15CBFE0465}"/>
              </a:ext>
            </a:extLst>
          </p:cNvPr>
          <p:cNvGrpSpPr/>
          <p:nvPr/>
        </p:nvGrpSpPr>
        <p:grpSpPr>
          <a:xfrm>
            <a:off x="10336925" y="4106770"/>
            <a:ext cx="1235173" cy="832495"/>
            <a:chOff x="10336925" y="4106770"/>
            <a:chExt cx="1235173" cy="832495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588E829-6F57-4D76-B01B-26CF0A91BF42}"/>
                </a:ext>
              </a:extLst>
            </p:cNvPr>
            <p:cNvCxnSpPr>
              <a:cxnSpLocks/>
            </p:cNvCxnSpPr>
            <p:nvPr/>
          </p:nvCxnSpPr>
          <p:spPr>
            <a:xfrm>
              <a:off x="11398934" y="4561490"/>
              <a:ext cx="173164" cy="377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90D4711-63CB-473D-9A39-9E714843A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36925" y="4561490"/>
              <a:ext cx="246992" cy="377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278D19-0768-45E3-A402-9A7FB017AE61}"/>
                </a:ext>
              </a:extLst>
            </p:cNvPr>
            <p:cNvSpPr txBox="1"/>
            <p:nvPr/>
          </p:nvSpPr>
          <p:spPr>
            <a:xfrm>
              <a:off x="10418275" y="4106770"/>
              <a:ext cx="10724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accent2"/>
                  </a:solidFill>
                </a:rPr>
                <a:t>change</a:t>
              </a:r>
              <a:endParaRPr lang="en-MY" sz="24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33" name="Equals 32">
            <a:extLst>
              <a:ext uri="{FF2B5EF4-FFF2-40B4-BE49-F238E27FC236}">
                <a16:creationId xmlns:a16="http://schemas.microsoft.com/office/drawing/2014/main" id="{28BB2107-AF76-4F48-867E-CD0FFED8A035}"/>
              </a:ext>
            </a:extLst>
          </p:cNvPr>
          <p:cNvSpPr/>
          <p:nvPr/>
        </p:nvSpPr>
        <p:spPr>
          <a:xfrm>
            <a:off x="5616020" y="5022131"/>
            <a:ext cx="788276" cy="41559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17456" y="1036579"/>
            <a:ext cx="1792129" cy="642062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91764" y="1743506"/>
            <a:ext cx="2220810" cy="7645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CFBE4EB-8EFF-4A7A-A907-355F94C0763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8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883664"/>
            <a:ext cx="2311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Ensemble theory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0192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8600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93851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736836" y="2889504"/>
            <a:ext cx="1024128" cy="10058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6275229" y="303580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2800" b="1"/>
              <a:t>……</a:t>
            </a:r>
            <a:endParaRPr lang="en-US" sz="28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B90534-31E8-44ED-AB9D-D2AEFA7FD775}"/>
              </a:ext>
            </a:extLst>
          </p:cNvPr>
          <p:cNvGrpSpPr/>
          <p:nvPr/>
        </p:nvGrpSpPr>
        <p:grpSpPr>
          <a:xfrm>
            <a:off x="1280158" y="1810003"/>
            <a:ext cx="9493935" cy="983621"/>
            <a:chOff x="1280158" y="1810003"/>
            <a:chExt cx="9493935" cy="983621"/>
          </a:xfrm>
        </p:grpSpPr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09466" y="1810003"/>
              <a:ext cx="1403398" cy="355791"/>
            </a:xfrm>
            <a:prstGeom prst="rect">
              <a:avLst/>
            </a:prstGeom>
          </p:spPr>
        </p:pic>
        <p:sp>
          <p:nvSpPr>
            <p:cNvPr id="23" name="Right Brace 22"/>
            <p:cNvSpPr/>
            <p:nvPr/>
          </p:nvSpPr>
          <p:spPr>
            <a:xfrm rot="16200000">
              <a:off x="5798023" y="-2182446"/>
              <a:ext cx="458205" cy="9493935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/>
          <a:srcRect l="4966" t="-5966"/>
          <a:stretch/>
        </p:blipFill>
        <p:spPr>
          <a:xfrm>
            <a:off x="653289" y="4516143"/>
            <a:ext cx="10983731" cy="31122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0BC6AA2-E84C-4709-81CB-1DF4D732826D}"/>
              </a:ext>
            </a:extLst>
          </p:cNvPr>
          <p:cNvGrpSpPr/>
          <p:nvPr/>
        </p:nvGrpSpPr>
        <p:grpSpPr>
          <a:xfrm>
            <a:off x="1024128" y="2889504"/>
            <a:ext cx="1327339" cy="1418790"/>
            <a:chOff x="1024128" y="2889504"/>
            <a:chExt cx="1327339" cy="1418790"/>
          </a:xfrm>
        </p:grpSpPr>
        <p:sp>
          <p:nvSpPr>
            <p:cNvPr id="8" name="Rectangle 7"/>
            <p:cNvSpPr/>
            <p:nvPr/>
          </p:nvSpPr>
          <p:spPr>
            <a:xfrm>
              <a:off x="1280160" y="2889504"/>
              <a:ext cx="1024128" cy="100584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4128" y="4036231"/>
              <a:ext cx="1327339" cy="272063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55612" y="3353061"/>
              <a:ext cx="699929" cy="315822"/>
            </a:xfrm>
            <a:prstGeom prst="rect">
              <a:avLst/>
            </a:prstGeom>
          </p:spPr>
        </p:pic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7456" y="1036579"/>
            <a:ext cx="1792129" cy="64206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56A7E13-B9D3-41BA-B7C3-BC96D4968B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95898" b="-15815"/>
          <a:stretch/>
        </p:blipFill>
        <p:spPr>
          <a:xfrm>
            <a:off x="494794" y="3284804"/>
            <a:ext cx="474050" cy="34014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DB255F2-F7B9-4A2C-8367-5015ADFC62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9733" y="3181362"/>
            <a:ext cx="1236892" cy="60759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5063106-0886-4030-B6D6-817ADD820E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34042" y="3145668"/>
            <a:ext cx="1276116" cy="62686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97A1F26E-7F60-4DC3-BFC5-DB65F6D304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40507" y="3207860"/>
            <a:ext cx="2130069" cy="62781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BD2CF91-FE61-4559-A3CE-8BE8F966999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68865" y="3216840"/>
            <a:ext cx="2130069" cy="62781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91764" y="1743506"/>
            <a:ext cx="2220810" cy="764542"/>
          </a:xfrm>
          <a:prstGeom prst="rect">
            <a:avLst/>
          </a:prstGeom>
        </p:spPr>
      </p:pic>
      <p:pic>
        <p:nvPicPr>
          <p:cNvPr id="1028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CCA89663-244C-4325-BC83-687CDF80CC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1280160" y="286171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DB4C35C3-9309-49D8-A1C0-7C77602F51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3053740" y="2852571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17755B68-384F-4FB6-9C25-3FFF983A57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4823684" y="2868068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CE8A057B-1F63-4136-800E-CA5AE9CCE4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7914926" y="286171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Premium Vector | Golden slot machine wins the jackpot. isolated on blue ...">
            <a:extLst>
              <a:ext uri="{FF2B5EF4-FFF2-40B4-BE49-F238E27FC236}">
                <a16:creationId xmlns:a16="http://schemas.microsoft.com/office/drawing/2014/main" id="{92E54764-763A-4F05-9945-456F29B71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t="17346" r="13349" b="19021"/>
          <a:stretch/>
        </p:blipFill>
        <p:spPr bwMode="auto">
          <a:xfrm>
            <a:off x="9703048" y="2855925"/>
            <a:ext cx="1071307" cy="106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D9EEEA-3497-4076-A67B-29D6B858B6A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98561" y="4964438"/>
            <a:ext cx="5128165" cy="54410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3CBDE2FE-4377-4E1B-BDAC-9DE696D5359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4503" y="5776027"/>
            <a:ext cx="8631936" cy="3323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545A78E-5FBC-4325-BAEF-23DAE71E945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59724" y="5030436"/>
            <a:ext cx="3659029" cy="534165"/>
          </a:xfrm>
          <a:prstGeom prst="rect">
            <a:avLst/>
          </a:prstGeom>
        </p:spPr>
      </p:pic>
      <p:sp>
        <p:nvSpPr>
          <p:cNvPr id="41" name="Equals 40">
            <a:extLst>
              <a:ext uri="{FF2B5EF4-FFF2-40B4-BE49-F238E27FC236}">
                <a16:creationId xmlns:a16="http://schemas.microsoft.com/office/drawing/2014/main" id="{D0BA15AC-D364-4C0D-B691-421DBB33F292}"/>
              </a:ext>
            </a:extLst>
          </p:cNvPr>
          <p:cNvSpPr/>
          <p:nvPr/>
        </p:nvSpPr>
        <p:spPr>
          <a:xfrm>
            <a:off x="5287947" y="5113302"/>
            <a:ext cx="788276" cy="41559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660162D-EF97-4301-B47B-5390785A26A3}"/>
              </a:ext>
            </a:extLst>
          </p:cNvPr>
          <p:cNvGrpSpPr/>
          <p:nvPr/>
        </p:nvGrpSpPr>
        <p:grpSpPr>
          <a:xfrm>
            <a:off x="2929733" y="2680138"/>
            <a:ext cx="3983131" cy="1869466"/>
            <a:chOff x="2929733" y="2680138"/>
            <a:chExt cx="3983131" cy="1869466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F183ABA-04B0-4CBE-A76B-E097BF24E23E}"/>
                </a:ext>
              </a:extLst>
            </p:cNvPr>
            <p:cNvSpPr/>
            <p:nvPr/>
          </p:nvSpPr>
          <p:spPr>
            <a:xfrm>
              <a:off x="2929733" y="2680138"/>
              <a:ext cx="3983131" cy="183253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758B4C1B-DE3B-4989-A530-C3299F1787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 t="1" r="61626" b="-3382"/>
            <a:stretch/>
          </p:blipFill>
          <p:spPr>
            <a:xfrm>
              <a:off x="3407132" y="4075901"/>
              <a:ext cx="1236892" cy="473703"/>
            </a:xfrm>
            <a:prstGeom prst="rect">
              <a:avLst/>
            </a:prstGeom>
          </p:spPr>
        </p:pic>
      </p:grpSp>
      <p:pic>
        <p:nvPicPr>
          <p:cNvPr id="45" name="Graphic 44">
            <a:extLst>
              <a:ext uri="{FF2B5EF4-FFF2-40B4-BE49-F238E27FC236}">
                <a16:creationId xmlns:a16="http://schemas.microsoft.com/office/drawing/2014/main" id="{09C4A188-4EEE-468C-98FB-84972CD3A8B0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36439" t="17458"/>
          <a:stretch/>
        </p:blipFill>
        <p:spPr>
          <a:xfrm>
            <a:off x="4713350" y="4173207"/>
            <a:ext cx="2048732" cy="37821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7BE57C0-0DCE-47FE-8629-FCBB142B210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82096" y="6180125"/>
            <a:ext cx="5290058" cy="34674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13EF5AF-F02E-4BEB-AEBB-988FC42E432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2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842" y="2426896"/>
            <a:ext cx="3422324" cy="250596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34" y="2954205"/>
            <a:ext cx="6605794" cy="63070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161" y="4128968"/>
            <a:ext cx="5629140" cy="848614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FBEB5138-9658-42D5-8C15-548FDF3E257D}"/>
              </a:ext>
            </a:extLst>
          </p:cNvPr>
          <p:cNvGrpSpPr/>
          <p:nvPr/>
        </p:nvGrpSpPr>
        <p:grpSpPr>
          <a:xfrm>
            <a:off x="786308" y="5357229"/>
            <a:ext cx="8939696" cy="1480619"/>
            <a:chOff x="786308" y="5357229"/>
            <a:chExt cx="8939696" cy="1480619"/>
          </a:xfrm>
        </p:grpSpPr>
        <p:sp>
          <p:nvSpPr>
            <p:cNvPr id="3" name="TextBox 2"/>
            <p:cNvSpPr txBox="1"/>
            <p:nvPr/>
          </p:nvSpPr>
          <p:spPr>
            <a:xfrm>
              <a:off x="878902" y="5357229"/>
              <a:ext cx="8847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Each particle has to follow the Hamiltonian mechanic (Newton law)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6308" y="5847133"/>
              <a:ext cx="7865676" cy="990715"/>
            </a:xfrm>
            <a:prstGeom prst="rect">
              <a:avLst/>
            </a:prstGeom>
          </p:spPr>
        </p:pic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2520" y="2271414"/>
            <a:ext cx="4913416" cy="322056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03E0C529-7B63-479E-9A71-CADC7DF48302}"/>
              </a:ext>
            </a:extLst>
          </p:cNvPr>
          <p:cNvGrpSpPr/>
          <p:nvPr/>
        </p:nvGrpSpPr>
        <p:grpSpPr>
          <a:xfrm>
            <a:off x="7536149" y="3986581"/>
            <a:ext cx="1523768" cy="611354"/>
            <a:chOff x="7157777" y="4595493"/>
            <a:chExt cx="1523768" cy="611354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57777" y="4940796"/>
              <a:ext cx="1378631" cy="266051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9B4FDA4-4D48-48F5-A509-4560657050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6408" y="4595493"/>
              <a:ext cx="145137" cy="34530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EAFFDA8-105B-47B1-9278-9E9687872F81}"/>
              </a:ext>
            </a:extLst>
          </p:cNvPr>
          <p:cNvGrpSpPr/>
          <p:nvPr/>
        </p:nvGrpSpPr>
        <p:grpSpPr>
          <a:xfrm>
            <a:off x="8402553" y="2105902"/>
            <a:ext cx="1938133" cy="973527"/>
            <a:chOff x="8202377" y="3057483"/>
            <a:chExt cx="1938133" cy="97352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CF793F9-C9D9-42A3-B55F-44FE97D3009E}"/>
                </a:ext>
              </a:extLst>
            </p:cNvPr>
            <p:cNvGrpSpPr/>
            <p:nvPr/>
          </p:nvGrpSpPr>
          <p:grpSpPr>
            <a:xfrm>
              <a:off x="8202377" y="3057483"/>
              <a:ext cx="1938133" cy="461665"/>
              <a:chOff x="8098885" y="2979071"/>
              <a:chExt cx="1938133" cy="461665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98885" y="3059850"/>
                <a:ext cx="1605991" cy="300109"/>
              </a:xfrm>
              <a:prstGeom prst="rect">
                <a:avLst/>
              </a:prstGeom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9704876" y="2979071"/>
                <a:ext cx="3321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?</a:t>
                </a:r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A2A8C40-A69D-46B0-97D1-A3A582AD5292}"/>
                </a:ext>
              </a:extLst>
            </p:cNvPr>
            <p:cNvCxnSpPr>
              <a:cxnSpLocks/>
            </p:cNvCxnSpPr>
            <p:nvPr/>
          </p:nvCxnSpPr>
          <p:spPr>
            <a:xfrm>
              <a:off x="9395769" y="3604914"/>
              <a:ext cx="578068" cy="42609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3859" y="4906471"/>
            <a:ext cx="1623280" cy="266111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529422-DBBA-4353-8CCD-BD35763C23F5}"/>
              </a:ext>
            </a:extLst>
          </p:cNvPr>
          <p:cNvCxnSpPr>
            <a:cxnSpLocks/>
          </p:cNvCxnSpPr>
          <p:nvPr/>
        </p:nvCxnSpPr>
        <p:spPr>
          <a:xfrm>
            <a:off x="1432520" y="3415334"/>
            <a:ext cx="0" cy="9165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8DF45F0-218B-4ABF-97E6-FAF48CA1D1E8}"/>
              </a:ext>
            </a:extLst>
          </p:cNvPr>
          <p:cNvCxnSpPr>
            <a:cxnSpLocks/>
          </p:cNvCxnSpPr>
          <p:nvPr/>
        </p:nvCxnSpPr>
        <p:spPr>
          <a:xfrm flipH="1">
            <a:off x="2186152" y="3415334"/>
            <a:ext cx="2532994" cy="9288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44A7797-8F94-4953-B6ED-CADEAC710D30}"/>
              </a:ext>
            </a:extLst>
          </p:cNvPr>
          <p:cNvCxnSpPr>
            <a:cxnSpLocks/>
          </p:cNvCxnSpPr>
          <p:nvPr/>
        </p:nvCxnSpPr>
        <p:spPr>
          <a:xfrm flipV="1">
            <a:off x="3447393" y="4977582"/>
            <a:ext cx="830317" cy="8882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B695E90-57AC-42B7-A608-ACDD60EAA458}"/>
              </a:ext>
            </a:extLst>
          </p:cNvPr>
          <p:cNvCxnSpPr>
            <a:cxnSpLocks/>
          </p:cNvCxnSpPr>
          <p:nvPr/>
        </p:nvCxnSpPr>
        <p:spPr>
          <a:xfrm flipH="1" flipV="1">
            <a:off x="5360276" y="4840522"/>
            <a:ext cx="2554016" cy="113807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FCC53EF-DC1F-45B7-AA38-3503756778EC}"/>
              </a:ext>
            </a:extLst>
          </p:cNvPr>
          <p:cNvSpPr/>
          <p:nvPr/>
        </p:nvSpPr>
        <p:spPr>
          <a:xfrm>
            <a:off x="1580823" y="4816593"/>
            <a:ext cx="1492469" cy="46166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B4FD2F58-4075-4AB1-94C7-3103A0EE71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05548" y="6080792"/>
            <a:ext cx="2766523" cy="5233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9F7A1B4-9254-47D5-A439-E71E0EA312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9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19724" t="-1451"/>
          <a:stretch/>
        </p:blipFill>
        <p:spPr>
          <a:xfrm>
            <a:off x="8030051" y="2212840"/>
            <a:ext cx="1554480" cy="32205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520" y="2271414"/>
            <a:ext cx="4913416" cy="322056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7BF2E327-37AB-49C4-AAF7-602681470DDB}"/>
              </a:ext>
            </a:extLst>
          </p:cNvPr>
          <p:cNvGrpSpPr/>
          <p:nvPr/>
        </p:nvGrpSpPr>
        <p:grpSpPr>
          <a:xfrm>
            <a:off x="1169819" y="4728028"/>
            <a:ext cx="7756344" cy="1709186"/>
            <a:chOff x="1169819" y="4728028"/>
            <a:chExt cx="7756344" cy="1709186"/>
          </a:xfrm>
        </p:grpSpPr>
        <p:sp>
          <p:nvSpPr>
            <p:cNvPr id="4" name="TextBox 3"/>
            <p:cNvSpPr txBox="1"/>
            <p:nvPr/>
          </p:nvSpPr>
          <p:spPr>
            <a:xfrm>
              <a:off x="1169819" y="4728028"/>
              <a:ext cx="75063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Equation of motion for the distribution (</a:t>
              </a:r>
              <a:r>
                <a:rPr lang="en-US" sz="2400" b="1" dirty="0" err="1"/>
                <a:t>Liouville’s</a:t>
              </a:r>
              <a:r>
                <a:rPr lang="en-US" sz="2400" b="1" dirty="0"/>
                <a:t> theorem</a:t>
              </a:r>
              <a:r>
                <a:rPr lang="en-US" sz="2400" dirty="0"/>
                <a:t>):</a:t>
              </a: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67887" y="5422972"/>
              <a:ext cx="5758276" cy="1014242"/>
            </a:xfrm>
            <a:prstGeom prst="rect">
              <a:avLst/>
            </a:prstGeom>
          </p:spPr>
        </p:pic>
      </p:grpSp>
      <p:sp>
        <p:nvSpPr>
          <p:cNvPr id="9" name="Rounded Rectangle 8"/>
          <p:cNvSpPr/>
          <p:nvPr/>
        </p:nvSpPr>
        <p:spPr>
          <a:xfrm>
            <a:off x="3113023" y="5386396"/>
            <a:ext cx="5994401" cy="10142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E4DDEE-9F41-4D3D-A6A1-B9C10ED164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2454" y="2127941"/>
            <a:ext cx="3507007" cy="60900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3209131-51F6-46E4-A484-50D042C10C6F}"/>
              </a:ext>
            </a:extLst>
          </p:cNvPr>
          <p:cNvGrpSpPr/>
          <p:nvPr/>
        </p:nvGrpSpPr>
        <p:grpSpPr>
          <a:xfrm>
            <a:off x="5798279" y="2652923"/>
            <a:ext cx="4077911" cy="1900546"/>
            <a:chOff x="781839" y="2814712"/>
            <a:chExt cx="4077911" cy="190054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42454" y="3297255"/>
              <a:ext cx="1595253" cy="141800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EE4D9E8-AF96-42F5-9F7C-EA2CF501F7E4}"/>
                </a:ext>
              </a:extLst>
            </p:cNvPr>
            <p:cNvSpPr txBox="1"/>
            <p:nvPr/>
          </p:nvSpPr>
          <p:spPr>
            <a:xfrm>
              <a:off x="781839" y="2814712"/>
              <a:ext cx="40779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Hamiltonian equation of motion:</a:t>
              </a:r>
              <a:endParaRPr lang="en-MY" sz="24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9C8241-75AB-4F8E-8D78-B2C289A15EAE}"/>
              </a:ext>
            </a:extLst>
          </p:cNvPr>
          <p:cNvGrpSpPr/>
          <p:nvPr/>
        </p:nvGrpSpPr>
        <p:grpSpPr>
          <a:xfrm>
            <a:off x="1427235" y="2736942"/>
            <a:ext cx="3928373" cy="1704161"/>
            <a:chOff x="6086649" y="2814711"/>
            <a:chExt cx="3928373" cy="170416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37F9BDF-B02F-4CE6-80EB-D64E69F1A5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51626" t="-1564" r="-1989" b="20945"/>
            <a:stretch/>
          </p:blipFill>
          <p:spPr>
            <a:xfrm>
              <a:off x="6086649" y="3919907"/>
              <a:ext cx="3919022" cy="59896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E2969F-971E-4BF3-B822-F63321D65580}"/>
                </a:ext>
              </a:extLst>
            </p:cNvPr>
            <p:cNvSpPr txBox="1"/>
            <p:nvPr/>
          </p:nvSpPr>
          <p:spPr>
            <a:xfrm>
              <a:off x="6950686" y="2814711"/>
              <a:ext cx="19754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Time variation:</a:t>
              </a:r>
              <a:endParaRPr lang="en-MY" sz="2400" dirty="0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BCEDA43-A5C4-4958-9340-E775E34E75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49637" b="19381"/>
            <a:stretch/>
          </p:blipFill>
          <p:spPr>
            <a:xfrm>
              <a:off x="6096000" y="3297255"/>
              <a:ext cx="3919022" cy="598965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98E16A8-4E6F-46FE-9043-4F82585235AF}"/>
              </a:ext>
            </a:extLst>
          </p:cNvPr>
          <p:cNvGrpSpPr/>
          <p:nvPr/>
        </p:nvGrpSpPr>
        <p:grpSpPr>
          <a:xfrm>
            <a:off x="1937657" y="2625051"/>
            <a:ext cx="2360647" cy="1390103"/>
            <a:chOff x="1937657" y="2625051"/>
            <a:chExt cx="2360647" cy="1390103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9CCA09C-D495-435C-8D6E-ED51551C2E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2454" y="2645929"/>
              <a:ext cx="2007032" cy="61213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526E3AE-69D6-470A-8CE4-7029F56DBE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37657" y="2625051"/>
              <a:ext cx="2360647" cy="139010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149E09CB-13FF-4A58-A078-8E26D4B91A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2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0907" y="2084832"/>
            <a:ext cx="265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Liouville’s</a:t>
            </a:r>
            <a:r>
              <a:rPr lang="en-US" sz="2400" b="1" dirty="0"/>
              <a:t> theorem</a:t>
            </a:r>
            <a:r>
              <a:rPr lang="en-US" sz="24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887" y="2588332"/>
            <a:ext cx="5758276" cy="10142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113023" y="2551756"/>
            <a:ext cx="5994401" cy="10142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0907" y="3802089"/>
            <a:ext cx="9955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At equilibrium, the ensemble average must be independent in time.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171" y="4342053"/>
            <a:ext cx="3206903" cy="4795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32" y="5076103"/>
            <a:ext cx="1455972" cy="8123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7899" y="6161876"/>
            <a:ext cx="112355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 distribution of the statistical model must depends on total energy ONLY.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4BF5E0-9484-494A-83AB-5C9AC00418C1}"/>
              </a:ext>
            </a:extLst>
          </p:cNvPr>
          <p:cNvGrpSpPr/>
          <p:nvPr/>
        </p:nvGrpSpPr>
        <p:grpSpPr>
          <a:xfrm>
            <a:off x="6444698" y="5625640"/>
            <a:ext cx="1330621" cy="513496"/>
            <a:chOff x="6444698" y="5625640"/>
            <a:chExt cx="1330621" cy="513496"/>
          </a:xfrm>
        </p:grpSpPr>
        <p:sp>
          <p:nvSpPr>
            <p:cNvPr id="13" name="Rectangle 12"/>
            <p:cNvSpPr/>
            <p:nvPr/>
          </p:nvSpPr>
          <p:spPr>
            <a:xfrm>
              <a:off x="6444698" y="5769804"/>
              <a:ext cx="133062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/>
                <a:t>total energy</a:t>
              </a:r>
              <a:endParaRPr lang="en-US"/>
            </a:p>
          </p:txBody>
        </p:sp>
        <p:sp>
          <p:nvSpPr>
            <p:cNvPr id="14" name="Right Brace 13"/>
            <p:cNvSpPr/>
            <p:nvPr/>
          </p:nvSpPr>
          <p:spPr>
            <a:xfrm rot="5400000">
              <a:off x="6968930" y="5250632"/>
              <a:ext cx="282158" cy="1032174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/>
          <a:srcRect r="-3082" b="8806"/>
          <a:stretch/>
        </p:blipFill>
        <p:spPr>
          <a:xfrm>
            <a:off x="8340853" y="5268834"/>
            <a:ext cx="3740761" cy="389333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A6B1E4E-6AB5-48E1-AD7E-CF0F9DDB69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9817" y="4057364"/>
            <a:ext cx="2796624" cy="100041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045CC0E-B95F-4B55-AAB5-091CFEEE11BC}"/>
              </a:ext>
            </a:extLst>
          </p:cNvPr>
          <p:cNvGrpSpPr/>
          <p:nvPr/>
        </p:nvGrpSpPr>
        <p:grpSpPr>
          <a:xfrm>
            <a:off x="2362707" y="5283736"/>
            <a:ext cx="5555997" cy="416215"/>
            <a:chOff x="2362707" y="5283736"/>
            <a:chExt cx="5555997" cy="416215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77464" y="5283736"/>
              <a:ext cx="4841240" cy="416215"/>
            </a:xfrm>
            <a:prstGeom prst="rect">
              <a:avLst/>
            </a:prstGeom>
          </p:spPr>
        </p:pic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84080493-B631-4B5C-B6B3-2065066184F3}"/>
                </a:ext>
              </a:extLst>
            </p:cNvPr>
            <p:cNvSpPr/>
            <p:nvPr/>
          </p:nvSpPr>
          <p:spPr>
            <a:xfrm>
              <a:off x="2362707" y="5325805"/>
              <a:ext cx="565534" cy="33236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9723D52F-2A34-431D-A094-811B310365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153265"/>
            <a:ext cx="5085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If there are some conserved quantities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667" y="2614930"/>
            <a:ext cx="2026626" cy="5854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530" y="2237897"/>
            <a:ext cx="401290" cy="3109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B8968C5-2E3A-4982-822C-D7F9A126DBFD}"/>
              </a:ext>
            </a:extLst>
          </p:cNvPr>
          <p:cNvGrpSpPr/>
          <p:nvPr/>
        </p:nvGrpSpPr>
        <p:grpSpPr>
          <a:xfrm>
            <a:off x="1024128" y="3296397"/>
            <a:ext cx="10408254" cy="1745048"/>
            <a:chOff x="1024128" y="3296397"/>
            <a:chExt cx="10408254" cy="1745048"/>
          </a:xfrm>
        </p:grpSpPr>
        <p:sp>
          <p:nvSpPr>
            <p:cNvPr id="18" name="TextBox 17"/>
            <p:cNvSpPr txBox="1"/>
            <p:nvPr/>
          </p:nvSpPr>
          <p:spPr>
            <a:xfrm>
              <a:off x="6110284" y="4579780"/>
              <a:ext cx="53220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err="1"/>
                <a:t>Liouville’s</a:t>
              </a:r>
              <a:r>
                <a:rPr lang="en-US" sz="2400" b="1" dirty="0"/>
                <a:t> theorem still hold in this form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DB6A295-2BBB-4977-92B4-F82905958AFB}"/>
                </a:ext>
              </a:extLst>
            </p:cNvPr>
            <p:cNvGrpSpPr/>
            <p:nvPr/>
          </p:nvGrpSpPr>
          <p:grpSpPr>
            <a:xfrm>
              <a:off x="1024128" y="3296397"/>
              <a:ext cx="8668512" cy="1143132"/>
              <a:chOff x="1024128" y="3296397"/>
              <a:chExt cx="8668512" cy="1143132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06373" y="3922654"/>
                <a:ext cx="6251393" cy="492534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1024128" y="3296397"/>
                <a:ext cx="33166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Generalized the result to</a:t>
                </a: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3294394" y="3796370"/>
                <a:ext cx="6398246" cy="643159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20" name="TextBox 19"/>
          <p:cNvSpPr txBox="1"/>
          <p:nvPr/>
        </p:nvSpPr>
        <p:spPr>
          <a:xfrm>
            <a:off x="1261179" y="5620969"/>
            <a:ext cx="84544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If each particle follows the Newton’s law,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                                         the distribution must look like this.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FFE492-3443-4651-8D6E-3CE8CC7A1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93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CD74B6-4392-494B-BA4C-0106BE2E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90" y="2848683"/>
            <a:ext cx="5083302" cy="3679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C50408-E1A9-4188-9D39-17C7B8165CC1}"/>
              </a:ext>
            </a:extLst>
          </p:cNvPr>
          <p:cNvSpPr txBox="1"/>
          <p:nvPr/>
        </p:nvSpPr>
        <p:spPr>
          <a:xfrm>
            <a:off x="563557" y="3399018"/>
            <a:ext cx="11477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Cannot stay at equilibrium forever, no time direction in Newtonian mechanics.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442FC0-F15A-4D56-BE60-A19A35B66654}"/>
              </a:ext>
            </a:extLst>
          </p:cNvPr>
          <p:cNvSpPr txBox="1"/>
          <p:nvPr/>
        </p:nvSpPr>
        <p:spPr>
          <a:xfrm>
            <a:off x="698307" y="2253523"/>
            <a:ext cx="4915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“Weird” property in ensemble theory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2888391-9B2F-4235-9C58-CCF8F07D7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3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7307-6ECD-450B-8CC4-EF4133AE6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Time-reversal symmetry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C8D74-5DAA-4E8C-93A8-D3706ADA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1"/>
            <a:ext cx="10232451" cy="803955"/>
          </a:xfrm>
        </p:spPr>
        <p:txBody>
          <a:bodyPr>
            <a:normAutofit/>
          </a:bodyPr>
          <a:lstStyle/>
          <a:p>
            <a:r>
              <a:rPr lang="en-US" dirty="0"/>
              <a:t>If the laws of physics have time-reversal symmetry. The backward-time evolution follows exactly the same laws in forward-time evolution. </a:t>
            </a:r>
            <a:endParaRPr lang="en-MY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3BF2C9B-96AE-4DAB-A9FD-FAE77B071F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8156" y="4156844"/>
            <a:ext cx="1369772" cy="57281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A9DDA4-524E-423C-9CF8-2DFEA28FC5B4}"/>
              </a:ext>
            </a:extLst>
          </p:cNvPr>
          <p:cNvSpPr txBox="1">
            <a:spLocks/>
          </p:cNvSpPr>
          <p:nvPr/>
        </p:nvSpPr>
        <p:spPr>
          <a:xfrm>
            <a:off x="3299877" y="4230263"/>
            <a:ext cx="3458279" cy="45456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Change the time direction:</a:t>
            </a:r>
            <a:endParaRPr lang="en-MY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56BE57C-DCBE-4968-B7DF-1B230C4D4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3401" y="3126915"/>
            <a:ext cx="2046952" cy="91686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AB669B3-91C6-4C0C-8413-ABC1EA05C3FB}"/>
              </a:ext>
            </a:extLst>
          </p:cNvPr>
          <p:cNvSpPr txBox="1">
            <a:spLocks/>
          </p:cNvSpPr>
          <p:nvPr/>
        </p:nvSpPr>
        <p:spPr>
          <a:xfrm>
            <a:off x="979775" y="3392223"/>
            <a:ext cx="3350488" cy="45456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Example: Newton’s Law</a:t>
            </a:r>
            <a:endParaRPr lang="en-MY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D43D102-349C-4103-91A8-39CD206DC9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98608" y="4156844"/>
            <a:ext cx="1198376" cy="53042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44F0D67F-C119-4BB0-BA87-B2F2D792CE57}"/>
              </a:ext>
            </a:extLst>
          </p:cNvPr>
          <p:cNvSpPr/>
          <p:nvPr/>
        </p:nvSpPr>
        <p:spPr>
          <a:xfrm>
            <a:off x="8326101" y="4344879"/>
            <a:ext cx="774334" cy="2415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B32D98F-C553-4AC6-A8AB-41E23C957EC0}"/>
              </a:ext>
            </a:extLst>
          </p:cNvPr>
          <p:cNvSpPr/>
          <p:nvPr/>
        </p:nvSpPr>
        <p:spPr>
          <a:xfrm>
            <a:off x="2822220" y="5135805"/>
            <a:ext cx="774334" cy="2415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3ED93799-9D75-4AF5-B865-45B7768AF3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22190" y="4775703"/>
            <a:ext cx="2613651" cy="81676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621E60D-DC28-4D8D-AB82-C20B284D18CB}"/>
              </a:ext>
            </a:extLst>
          </p:cNvPr>
          <p:cNvSpPr txBox="1">
            <a:spLocks/>
          </p:cNvSpPr>
          <p:nvPr/>
        </p:nvSpPr>
        <p:spPr>
          <a:xfrm>
            <a:off x="2745888" y="5633741"/>
            <a:ext cx="5431163" cy="45456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 you can see the 2</a:t>
            </a:r>
            <a:r>
              <a:rPr lang="en-US" baseline="30000" dirty="0"/>
              <a:t>nd</a:t>
            </a:r>
            <a:r>
              <a:rPr lang="en-US" dirty="0"/>
              <a:t> law remain the same.</a:t>
            </a:r>
            <a:endParaRPr lang="en-MY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DEF963-210C-4D44-8222-9965EA33A0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12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97307-6ECD-450B-8CC4-EF4133AE6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Time-reversal symmetry</a:t>
            </a:r>
            <a:endParaRPr lang="en-M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F68D9-6E5A-4AD3-A644-638D4144EEC7}"/>
              </a:ext>
            </a:extLst>
          </p:cNvPr>
          <p:cNvSpPr txBox="1"/>
          <p:nvPr/>
        </p:nvSpPr>
        <p:spPr>
          <a:xfrm>
            <a:off x="641131" y="2396359"/>
            <a:ext cx="398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Consider a the following motion</a:t>
            </a:r>
            <a:endParaRPr lang="en-MY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EFF5B8-FAF7-452C-AB73-BD1C5393E799}"/>
              </a:ext>
            </a:extLst>
          </p:cNvPr>
          <p:cNvSpPr/>
          <p:nvPr/>
        </p:nvSpPr>
        <p:spPr>
          <a:xfrm>
            <a:off x="735725" y="3752194"/>
            <a:ext cx="367862" cy="3888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5D4A44-9BEE-4F0B-9BE9-28820F6417D6}"/>
              </a:ext>
            </a:extLst>
          </p:cNvPr>
          <p:cNvCxnSpPr/>
          <p:nvPr/>
        </p:nvCxnSpPr>
        <p:spPr>
          <a:xfrm>
            <a:off x="1240221" y="3946635"/>
            <a:ext cx="281677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BADBE1-92F5-4538-A54F-DE3C04B79DBC}"/>
              </a:ext>
            </a:extLst>
          </p:cNvPr>
          <p:cNvSpPr txBox="1"/>
          <p:nvPr/>
        </p:nvSpPr>
        <p:spPr>
          <a:xfrm>
            <a:off x="565588" y="4097574"/>
            <a:ext cx="3780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 to the RIGHT, forward in time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921658BE-CBCA-417B-8911-4EA573E15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6484" y="3689882"/>
            <a:ext cx="599090" cy="513505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8F06894-F2C0-4C6E-A4A8-8413566F4B9A}"/>
              </a:ext>
            </a:extLst>
          </p:cNvPr>
          <p:cNvGrpSpPr/>
          <p:nvPr/>
        </p:nvGrpSpPr>
        <p:grpSpPr>
          <a:xfrm>
            <a:off x="565588" y="4809334"/>
            <a:ext cx="5013305" cy="705665"/>
            <a:chOff x="565588" y="4809334"/>
            <a:chExt cx="5013305" cy="705665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3CBFC6F-E9D9-499B-93C7-F7D76A4FEF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1904" y="5286701"/>
              <a:ext cx="281677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D0B2049-5FD9-4E69-8510-DA9D769E4674}"/>
                </a:ext>
              </a:extLst>
            </p:cNvPr>
            <p:cNvSpPr/>
            <p:nvPr/>
          </p:nvSpPr>
          <p:spPr>
            <a:xfrm>
              <a:off x="4141078" y="5126116"/>
              <a:ext cx="367862" cy="3888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F38763A-3385-44CC-B4D8-1227D5D2DC1F}"/>
                </a:ext>
              </a:extLst>
            </p:cNvPr>
            <p:cNvSpPr txBox="1"/>
            <p:nvPr/>
          </p:nvSpPr>
          <p:spPr>
            <a:xfrm flipH="1">
              <a:off x="1240221" y="4809334"/>
              <a:ext cx="4338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reverse the above motion</a:t>
              </a:r>
              <a:endParaRPr lang="en-MY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98D7E4B-320C-46C8-B452-8AEFE775D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588" y="5004680"/>
              <a:ext cx="606316" cy="498045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7E49F66-C0E9-4117-BFF5-8579C7BAE140}"/>
              </a:ext>
            </a:extLst>
          </p:cNvPr>
          <p:cNvSpPr txBox="1"/>
          <p:nvPr/>
        </p:nvSpPr>
        <p:spPr>
          <a:xfrm>
            <a:off x="2127294" y="3145954"/>
            <a:ext cx="1765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1</a:t>
            </a:r>
            <a:endParaRPr lang="en-MY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2F727AA-155B-4C8B-ADE7-83E039A831AB}"/>
              </a:ext>
            </a:extLst>
          </p:cNvPr>
          <p:cNvCxnSpPr>
            <a:cxnSpLocks/>
          </p:cNvCxnSpPr>
          <p:nvPr/>
        </p:nvCxnSpPr>
        <p:spPr>
          <a:xfrm flipH="1">
            <a:off x="7469573" y="3909847"/>
            <a:ext cx="281677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DAE8C21A-DB96-49D1-9C43-3B4933C19131}"/>
              </a:ext>
            </a:extLst>
          </p:cNvPr>
          <p:cNvSpPr/>
          <p:nvPr/>
        </p:nvSpPr>
        <p:spPr>
          <a:xfrm>
            <a:off x="10438747" y="3749262"/>
            <a:ext cx="367862" cy="3888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02E2350A-4027-4A4C-AE57-15DFBA955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2166" y="3624640"/>
            <a:ext cx="599090" cy="51350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57B4D2E-83B8-4CA1-A8E8-A13C6C1488AC}"/>
              </a:ext>
            </a:extLst>
          </p:cNvPr>
          <p:cNvSpPr txBox="1"/>
          <p:nvPr/>
        </p:nvSpPr>
        <p:spPr>
          <a:xfrm>
            <a:off x="8562649" y="3146705"/>
            <a:ext cx="1765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Case 2</a:t>
            </a:r>
            <a:endParaRPr lang="en-MY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DFF943-14C7-41D2-BC93-313A69FF78C0}"/>
              </a:ext>
            </a:extLst>
          </p:cNvPr>
          <p:cNvGrpSpPr/>
          <p:nvPr/>
        </p:nvGrpSpPr>
        <p:grpSpPr>
          <a:xfrm>
            <a:off x="7032411" y="4688834"/>
            <a:ext cx="4594001" cy="846889"/>
            <a:chOff x="7032411" y="4688834"/>
            <a:chExt cx="4594001" cy="846889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9CDC95F-1BD5-4BF1-B6CB-117898E479BA}"/>
                </a:ext>
              </a:extLst>
            </p:cNvPr>
            <p:cNvSpPr/>
            <p:nvPr/>
          </p:nvSpPr>
          <p:spPr>
            <a:xfrm>
              <a:off x="7032411" y="5092260"/>
              <a:ext cx="367862" cy="3888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1126D1F-9C73-41AD-A01C-193EECE2D088}"/>
                </a:ext>
              </a:extLst>
            </p:cNvPr>
            <p:cNvCxnSpPr/>
            <p:nvPr/>
          </p:nvCxnSpPr>
          <p:spPr>
            <a:xfrm>
              <a:off x="7536907" y="5286701"/>
              <a:ext cx="2816773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5FF9EC6-58E6-4679-8BCE-AE00C2E67A98}"/>
                </a:ext>
              </a:extLst>
            </p:cNvPr>
            <p:cNvSpPr txBox="1"/>
            <p:nvPr/>
          </p:nvSpPr>
          <p:spPr>
            <a:xfrm flipH="1">
              <a:off x="7287740" y="4688834"/>
              <a:ext cx="43386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we reverse the above motion</a:t>
              </a:r>
              <a:endParaRPr lang="en-MY" dirty="0"/>
            </a:p>
          </p:txBody>
        </p:sp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C11A83D-A268-46A5-B873-B18F7687C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413780" y="5037678"/>
              <a:ext cx="606316" cy="498045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AB5CD59-B2A2-4107-BFE8-B82F3E3E55B0}"/>
              </a:ext>
            </a:extLst>
          </p:cNvPr>
          <p:cNvGrpSpPr/>
          <p:nvPr/>
        </p:nvGrpSpPr>
        <p:grpSpPr>
          <a:xfrm>
            <a:off x="4346029" y="4203387"/>
            <a:ext cx="2565485" cy="1050315"/>
            <a:chOff x="4346029" y="4203387"/>
            <a:chExt cx="2565485" cy="1050315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4221155-3EEA-491C-A524-A775763F3397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4346029" y="4203387"/>
              <a:ext cx="2456137" cy="1050315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1B34CA2-FC5C-4BB3-A237-9F7CF85E67BE}"/>
                </a:ext>
              </a:extLst>
            </p:cNvPr>
            <p:cNvSpPr txBox="1"/>
            <p:nvPr/>
          </p:nvSpPr>
          <p:spPr>
            <a:xfrm rot="1513073">
              <a:off x="4824692" y="4331980"/>
              <a:ext cx="2086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Indistinguishable</a:t>
              </a:r>
              <a:endParaRPr lang="en-MY" dirty="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2C10A55-85F5-4437-8FAA-EE49C24CCFAF}"/>
              </a:ext>
            </a:extLst>
          </p:cNvPr>
          <p:cNvSpPr txBox="1"/>
          <p:nvPr/>
        </p:nvSpPr>
        <p:spPr>
          <a:xfrm>
            <a:off x="1605694" y="6088118"/>
            <a:ext cx="8524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see something move from left to right, we cannot tell the time direction.</a:t>
            </a:r>
            <a:endParaRPr lang="en-MY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A7A3A7-3371-4771-9596-B0684BB4729A}"/>
              </a:ext>
            </a:extLst>
          </p:cNvPr>
          <p:cNvSpPr txBox="1"/>
          <p:nvPr/>
        </p:nvSpPr>
        <p:spPr>
          <a:xfrm>
            <a:off x="7259597" y="4054768"/>
            <a:ext cx="3575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 to the LEFT, forward in time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6B0A1B0-C1A8-4174-AAC7-9854BCFA1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5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2F16A-9CCA-44FC-AA0A-8A8C1B0E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Time-reversal symmetry breaking</a:t>
            </a:r>
            <a:endParaRPr lang="en-MY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96A31A-8083-4951-B128-6F82D184BBDD}"/>
              </a:ext>
            </a:extLst>
          </p:cNvPr>
          <p:cNvSpPr txBox="1"/>
          <p:nvPr/>
        </p:nvSpPr>
        <p:spPr>
          <a:xfrm flipH="1">
            <a:off x="1201856" y="2438399"/>
            <a:ext cx="92244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Weak interaction between elementary particles in the standard model.</a:t>
            </a:r>
            <a:endParaRPr lang="en-MY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91B57-D297-423C-AB78-BA12A6C146FB}"/>
              </a:ext>
            </a:extLst>
          </p:cNvPr>
          <p:cNvSpPr txBox="1"/>
          <p:nvPr/>
        </p:nvSpPr>
        <p:spPr>
          <a:xfrm flipH="1">
            <a:off x="1201856" y="3269396"/>
            <a:ext cx="8877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Hall effects. Magnetic field break time reversal symmetry.</a:t>
            </a:r>
            <a:endParaRPr lang="en-MY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056A99-66FB-4D6E-B594-2D7A40BB11E7}"/>
              </a:ext>
            </a:extLst>
          </p:cNvPr>
          <p:cNvSpPr txBox="1"/>
          <p:nvPr/>
        </p:nvSpPr>
        <p:spPr>
          <a:xfrm flipH="1">
            <a:off x="1201856" y="3717473"/>
            <a:ext cx="8877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etc</a:t>
            </a:r>
            <a:r>
              <a:rPr lang="en-US" sz="2400" b="1" dirty="0"/>
              <a:t> ….</a:t>
            </a:r>
            <a:endParaRPr lang="en-MY" sz="24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761BD6-9321-42FE-8838-EEAB62637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9897" y="4648740"/>
            <a:ext cx="2286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CE3E42-91EE-426B-98A9-AC0A4EAA4F6E}"/>
              </a:ext>
            </a:extLst>
          </p:cNvPr>
          <p:cNvSpPr txBox="1"/>
          <p:nvPr/>
        </p:nvSpPr>
        <p:spPr>
          <a:xfrm flipH="1">
            <a:off x="1201856" y="4934896"/>
            <a:ext cx="70172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example in the class: AMS experiment. The large magnetic field in the detector is to break the time-reversal symmetry of the particle motion. This will help to tell the charges, whether it is a particle or a anti-particle. 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F6AF8-1E6C-447F-BDDE-FEBC7E2EB8C0}"/>
              </a:ext>
            </a:extLst>
          </p:cNvPr>
          <p:cNvSpPr txBox="1"/>
          <p:nvPr/>
        </p:nvSpPr>
        <p:spPr>
          <a:xfrm>
            <a:off x="9421210" y="4319469"/>
            <a:ext cx="2645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AMS detector</a:t>
            </a:r>
            <a:endParaRPr lang="en-MY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6FF2E5-5EC3-49E0-A210-4F5F5AA91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40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CD74B6-4392-494B-BA4C-0106BE2E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90" y="2848683"/>
            <a:ext cx="5083302" cy="3679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C50408-E1A9-4188-9D39-17C7B8165CC1}"/>
              </a:ext>
            </a:extLst>
          </p:cNvPr>
          <p:cNvSpPr txBox="1"/>
          <p:nvPr/>
        </p:nvSpPr>
        <p:spPr>
          <a:xfrm>
            <a:off x="563557" y="3399018"/>
            <a:ext cx="11477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Cannot stay at equilibrium forever, no time direction in Newtonian mechanics.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442FC0-F15A-4D56-BE60-A19A35B66654}"/>
              </a:ext>
            </a:extLst>
          </p:cNvPr>
          <p:cNvSpPr txBox="1"/>
          <p:nvPr/>
        </p:nvSpPr>
        <p:spPr>
          <a:xfrm>
            <a:off x="698307" y="2253523"/>
            <a:ext cx="4915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“Weird” property in ensemble theory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2888391-9B2F-4235-9C58-CCF8F07D7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D4206C2-16C9-4A70-9BBE-146D4C98B5BF}"/>
              </a:ext>
            </a:extLst>
          </p:cNvPr>
          <p:cNvGrpSpPr/>
          <p:nvPr/>
        </p:nvGrpSpPr>
        <p:grpSpPr>
          <a:xfrm>
            <a:off x="1089067" y="4530803"/>
            <a:ext cx="7025276" cy="1539998"/>
            <a:chOff x="636306" y="2879973"/>
            <a:chExt cx="7025276" cy="153999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3EB6841-7E75-46E5-B62F-21B896128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9588" y="2879973"/>
              <a:ext cx="3761994" cy="153999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1DCD0A4-48C4-4B33-AA60-72F6552F746C}"/>
                </a:ext>
              </a:extLst>
            </p:cNvPr>
            <p:cNvSpPr txBox="1"/>
            <p:nvPr/>
          </p:nvSpPr>
          <p:spPr>
            <a:xfrm>
              <a:off x="636306" y="3289056"/>
              <a:ext cx="33441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Combining two systems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DC77B5-B197-4A54-8C57-1A1978B54A18}"/>
              </a:ext>
            </a:extLst>
          </p:cNvPr>
          <p:cNvSpPr txBox="1"/>
          <p:nvPr/>
        </p:nvSpPr>
        <p:spPr>
          <a:xfrm flipH="1">
            <a:off x="5884164" y="6070801"/>
            <a:ext cx="395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Can they stay at equilibrium forever?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8B909-34C6-4BA9-8FC1-01BC027CA77F}"/>
              </a:ext>
            </a:extLst>
          </p:cNvPr>
          <p:cNvSpPr txBox="1"/>
          <p:nvPr/>
        </p:nvSpPr>
        <p:spPr>
          <a:xfrm>
            <a:off x="4842769" y="5419307"/>
            <a:ext cx="43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</a:t>
            </a:r>
            <a:r>
              <a:rPr lang="en-MY" baseline="-250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859C7E-7F0F-46DC-8ADB-930276EC07B7}"/>
              </a:ext>
            </a:extLst>
          </p:cNvPr>
          <p:cNvSpPr txBox="1"/>
          <p:nvPr/>
        </p:nvSpPr>
        <p:spPr>
          <a:xfrm>
            <a:off x="6696724" y="5400681"/>
            <a:ext cx="435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</a:t>
            </a:r>
            <a:r>
              <a:rPr lang="en-MY" baseline="-25000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D8AAA-74ED-4674-882D-F2D8BF86BFF6}"/>
              </a:ext>
            </a:extLst>
          </p:cNvPr>
          <p:cNvSpPr txBox="1"/>
          <p:nvPr/>
        </p:nvSpPr>
        <p:spPr>
          <a:xfrm>
            <a:off x="7039993" y="6465789"/>
            <a:ext cx="443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Liouville theorem cannot guarantee this.</a:t>
            </a:r>
          </a:p>
        </p:txBody>
      </p:sp>
    </p:spTree>
    <p:extLst>
      <p:ext uri="{BB962C8B-B14F-4D97-AF65-F5344CB8AC3E}">
        <p14:creationId xmlns:p14="http://schemas.microsoft.com/office/powerpoint/2010/main" val="686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 statistical model for a many-particles system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0CD74B6-4392-494B-BA4C-0106BE2E2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490" y="2848683"/>
            <a:ext cx="5083302" cy="3679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C50408-E1A9-4188-9D39-17C7B8165CC1}"/>
              </a:ext>
            </a:extLst>
          </p:cNvPr>
          <p:cNvSpPr txBox="1"/>
          <p:nvPr/>
        </p:nvSpPr>
        <p:spPr>
          <a:xfrm>
            <a:off x="563557" y="3399018"/>
            <a:ext cx="11477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Cannot stay at equilibrium forever, no time direction in Newtonian mechanics.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C43A8C0-2169-431F-A5E9-643885C431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55" t="10131"/>
          <a:stretch/>
        </p:blipFill>
        <p:spPr>
          <a:xfrm>
            <a:off x="7007192" y="2848682"/>
            <a:ext cx="4944526" cy="31222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C4AC2CB-FCA9-47C7-9DEA-627170F77692}"/>
              </a:ext>
            </a:extLst>
          </p:cNvPr>
          <p:cNvGrpSpPr/>
          <p:nvPr/>
        </p:nvGrpSpPr>
        <p:grpSpPr>
          <a:xfrm>
            <a:off x="7724254" y="1961136"/>
            <a:ext cx="1660198" cy="887547"/>
            <a:chOff x="7640172" y="1925939"/>
            <a:chExt cx="1660198" cy="88754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009E42-5BF6-425C-AF6C-468A0951EDAE}"/>
                </a:ext>
              </a:extLst>
            </p:cNvPr>
            <p:cNvSpPr txBox="1"/>
            <p:nvPr/>
          </p:nvSpPr>
          <p:spPr>
            <a:xfrm>
              <a:off x="7640172" y="1925939"/>
              <a:ext cx="16601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Ergodicity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8562E54-4C85-472B-B765-F70089567522}"/>
                </a:ext>
              </a:extLst>
            </p:cNvPr>
            <p:cNvCxnSpPr>
              <a:stCxn id="23" idx="2"/>
            </p:cNvCxnSpPr>
            <p:nvPr/>
          </p:nvCxnSpPr>
          <p:spPr>
            <a:xfrm>
              <a:off x="8470271" y="2449159"/>
              <a:ext cx="0" cy="3643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E442FC0-F15A-4D56-BE60-A19A35B66654}"/>
              </a:ext>
            </a:extLst>
          </p:cNvPr>
          <p:cNvSpPr txBox="1"/>
          <p:nvPr/>
        </p:nvSpPr>
        <p:spPr>
          <a:xfrm>
            <a:off x="698307" y="2253523"/>
            <a:ext cx="4915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“Weird” property in ensemble theory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3809F4-EBE3-494B-9237-F68C463BDB37}"/>
              </a:ext>
            </a:extLst>
          </p:cNvPr>
          <p:cNvGrpSpPr/>
          <p:nvPr/>
        </p:nvGrpSpPr>
        <p:grpSpPr>
          <a:xfrm>
            <a:off x="8394359" y="3814825"/>
            <a:ext cx="4065472" cy="1810607"/>
            <a:chOff x="8529109" y="3814825"/>
            <a:chExt cx="4065472" cy="181060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E81C5EB-5E6B-40E4-9777-5368069A0968}"/>
                </a:ext>
              </a:extLst>
            </p:cNvPr>
            <p:cNvSpPr txBox="1"/>
            <p:nvPr/>
          </p:nvSpPr>
          <p:spPr>
            <a:xfrm>
              <a:off x="8529109" y="3814825"/>
              <a:ext cx="406547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Sometime, the statistical behavior may be convenient to be described by time average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C919A9C-4FC7-41B3-8F02-4618D8E98AB3}"/>
                </a:ext>
              </a:extLst>
            </p:cNvPr>
            <p:cNvCxnSpPr>
              <a:cxnSpLocks/>
            </p:cNvCxnSpPr>
            <p:nvPr/>
          </p:nvCxnSpPr>
          <p:spPr>
            <a:xfrm>
              <a:off x="9722069" y="5154480"/>
              <a:ext cx="556980" cy="47095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D6E3C7-0576-44CE-9CB1-F1638B8E6A92}"/>
              </a:ext>
            </a:extLst>
          </p:cNvPr>
          <p:cNvGrpSpPr/>
          <p:nvPr/>
        </p:nvGrpSpPr>
        <p:grpSpPr>
          <a:xfrm>
            <a:off x="384836" y="4142812"/>
            <a:ext cx="5245312" cy="2379925"/>
            <a:chOff x="384836" y="4142812"/>
            <a:chExt cx="5245312" cy="2379925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3FFC6B2D-D961-4D7B-BFCF-2611CF639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0576" y="5501190"/>
              <a:ext cx="4639213" cy="771594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FC9A365-AAA8-4D4A-9A2D-813D717AA596}"/>
                </a:ext>
              </a:extLst>
            </p:cNvPr>
            <p:cNvSpPr txBox="1"/>
            <p:nvPr/>
          </p:nvSpPr>
          <p:spPr>
            <a:xfrm>
              <a:off x="1887417" y="6061072"/>
              <a:ext cx="25981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(Ensemble average)</a:t>
              </a:r>
              <a:endParaRPr lang="en-US" sz="2400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26F7717-299F-43DE-A541-51A32B111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4836" y="4142812"/>
              <a:ext cx="5245312" cy="1241673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B396175-E687-4964-863D-98C27054BC68}"/>
              </a:ext>
            </a:extLst>
          </p:cNvPr>
          <p:cNvGrpSpPr/>
          <p:nvPr/>
        </p:nvGrpSpPr>
        <p:grpSpPr>
          <a:xfrm>
            <a:off x="5628248" y="4599655"/>
            <a:ext cx="5758038" cy="1949923"/>
            <a:chOff x="5628248" y="4599655"/>
            <a:chExt cx="5758038" cy="194992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075AFFA-AEB9-4E96-A6B5-BA40F4F8D777}"/>
                </a:ext>
              </a:extLst>
            </p:cNvPr>
            <p:cNvGrpSpPr/>
            <p:nvPr/>
          </p:nvGrpSpPr>
          <p:grpSpPr>
            <a:xfrm>
              <a:off x="5628248" y="5431638"/>
              <a:ext cx="5758038" cy="1117940"/>
              <a:chOff x="5628248" y="5431638"/>
              <a:chExt cx="5758038" cy="1117940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596A2809-2126-4F6D-8288-7341C689DF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12387" y="5431638"/>
                <a:ext cx="4873899" cy="896010"/>
              </a:xfrm>
              <a:prstGeom prst="rect">
                <a:avLst/>
              </a:prstGeom>
            </p:spPr>
          </p:pic>
          <p:sp>
            <p:nvSpPr>
              <p:cNvPr id="32" name="Equal 5">
                <a:extLst>
                  <a:ext uri="{FF2B5EF4-FFF2-40B4-BE49-F238E27FC236}">
                    <a16:creationId xmlns:a16="http://schemas.microsoft.com/office/drawing/2014/main" id="{E7EFE049-BE0A-4256-8882-729D09E564AE}"/>
                  </a:ext>
                </a:extLst>
              </p:cNvPr>
              <p:cNvSpPr/>
              <p:nvPr/>
            </p:nvSpPr>
            <p:spPr>
              <a:xfrm>
                <a:off x="5628248" y="5716872"/>
                <a:ext cx="576909" cy="322702"/>
              </a:xfrm>
              <a:prstGeom prst="mathEqual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8E82069-FCB8-4392-9BE1-21F16958F182}"/>
                  </a:ext>
                </a:extLst>
              </p:cNvPr>
              <p:cNvSpPr txBox="1"/>
              <p:nvPr/>
            </p:nvSpPr>
            <p:spPr>
              <a:xfrm>
                <a:off x="8933329" y="6087913"/>
                <a:ext cx="19858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(time average)</a:t>
                </a:r>
              </a:p>
            </p:txBody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D0E1C36-FB19-4F83-AC18-D8202D22DE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91666" y="4599655"/>
              <a:ext cx="892181" cy="896010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A2888391-9B2F-4235-9C58-CCF8F07D72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8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8288" y="2010396"/>
            <a:ext cx="26561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Liouville’s</a:t>
            </a:r>
            <a:r>
              <a:rPr lang="en-US" sz="2400" b="1" dirty="0"/>
              <a:t> theorem</a:t>
            </a:r>
            <a:r>
              <a:rPr lang="en-US" sz="2400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887" y="2588332"/>
            <a:ext cx="5758276" cy="101424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113023" y="2551756"/>
            <a:ext cx="5994401" cy="10142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039" y="4187174"/>
            <a:ext cx="2026626" cy="58547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440" y="4233642"/>
            <a:ext cx="6251393" cy="49253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2946309" y="4143934"/>
            <a:ext cx="6398246" cy="6431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29754" y="5053205"/>
            <a:ext cx="75791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So far we only have a very general statistical model. </a:t>
            </a:r>
          </a:p>
          <a:p>
            <a:pPr algn="ctr"/>
            <a:r>
              <a:rPr lang="en-US" sz="2400" b="1" dirty="0"/>
              <a:t>Relation with thermodynamics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C778C60-78FF-47F3-825D-F78785249C23}"/>
              </a:ext>
            </a:extLst>
          </p:cNvPr>
          <p:cNvGrpSpPr/>
          <p:nvPr/>
        </p:nvGrpSpPr>
        <p:grpSpPr>
          <a:xfrm>
            <a:off x="1977908" y="5855920"/>
            <a:ext cx="9493240" cy="790904"/>
            <a:chOff x="2829754" y="5625100"/>
            <a:chExt cx="9493240" cy="79090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1EAB70D-4A21-4547-83FB-ACFE986CEEA1}"/>
                </a:ext>
              </a:extLst>
            </p:cNvPr>
            <p:cNvSpPr txBox="1"/>
            <p:nvPr/>
          </p:nvSpPr>
          <p:spPr>
            <a:xfrm>
              <a:off x="2829754" y="5811119"/>
              <a:ext cx="94932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Next, a specific form of                      ⇒ Microcanonical ensemble</a:t>
              </a: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87289AF-3695-4AF2-86C5-0904C0FD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42356" y="5625100"/>
              <a:ext cx="1807780" cy="790904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7EE319E-C236-4FE3-999C-928492B483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25816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50103</TotalTime>
  <Words>575</Words>
  <Application>Microsoft Office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Building a statistical model for a many-particles system</vt:lpstr>
      <vt:lpstr>Time-reversal symmetry</vt:lpstr>
      <vt:lpstr>Time-reversal symmetry</vt:lpstr>
      <vt:lpstr>Example for Time-reversal symmetry breaking</vt:lpstr>
      <vt:lpstr>Building a statistical model for a many-particles system</vt:lpstr>
      <vt:lpstr>Building a statistical model for a many-particles system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1660</cp:revision>
  <dcterms:created xsi:type="dcterms:W3CDTF">2024-08-25T23:32:26Z</dcterms:created>
  <dcterms:modified xsi:type="dcterms:W3CDTF">2025-09-29T12:28:23Z</dcterms:modified>
</cp:coreProperties>
</file>