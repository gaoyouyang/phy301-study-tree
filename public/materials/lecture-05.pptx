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5"/>
  </p:notesMasterIdLst>
  <p:sldIdLst>
    <p:sldId id="336" r:id="rId2"/>
    <p:sldId id="319" r:id="rId3"/>
    <p:sldId id="435" r:id="rId4"/>
    <p:sldId id="438" r:id="rId5"/>
    <p:sldId id="436" r:id="rId6"/>
    <p:sldId id="439" r:id="rId7"/>
    <p:sldId id="440" r:id="rId8"/>
    <p:sldId id="427" r:id="rId9"/>
    <p:sldId id="441" r:id="rId10"/>
    <p:sldId id="442" r:id="rId11"/>
    <p:sldId id="453" r:id="rId12"/>
    <p:sldId id="444" r:id="rId13"/>
    <p:sldId id="44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svg"/><Relationship Id="rId5" Type="http://schemas.openxmlformats.org/officeDocument/2006/relationships/image" Target="../media/image5.emf"/><Relationship Id="rId10" Type="http://schemas.openxmlformats.org/officeDocument/2006/relationships/image" Target="../media/image10.png"/><Relationship Id="rId4" Type="http://schemas.openxmlformats.org/officeDocument/2006/relationships/image" Target="../media/image4.emf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3.emf"/><Relationship Id="rId7" Type="http://schemas.openxmlformats.org/officeDocument/2006/relationships/image" Target="../media/image16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8.emf"/><Relationship Id="rId7" Type="http://schemas.openxmlformats.org/officeDocument/2006/relationships/image" Target="../media/image15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9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1.emf"/><Relationship Id="rId7" Type="http://schemas.openxmlformats.org/officeDocument/2006/relationships/image" Target="../media/image24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6.png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10" Type="http://schemas.openxmlformats.org/officeDocument/2006/relationships/image" Target="../media/image9.png"/><Relationship Id="rId4" Type="http://schemas.openxmlformats.org/officeDocument/2006/relationships/image" Target="../media/image27.emf"/><Relationship Id="rId9" Type="http://schemas.openxmlformats.org/officeDocument/2006/relationships/image" Target="../media/image3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28.emf"/><Relationship Id="rId7" Type="http://schemas.openxmlformats.org/officeDocument/2006/relationships/image" Target="../media/image34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11" Type="http://schemas.openxmlformats.org/officeDocument/2006/relationships/image" Target="../media/image9.png"/><Relationship Id="rId5" Type="http://schemas.openxmlformats.org/officeDocument/2006/relationships/image" Target="../media/image33.emf"/><Relationship Id="rId10" Type="http://schemas.openxmlformats.org/officeDocument/2006/relationships/image" Target="../media/image36.emf"/><Relationship Id="rId4" Type="http://schemas.openxmlformats.org/officeDocument/2006/relationships/image" Target="../media/image32.emf"/><Relationship Id="rId9" Type="http://schemas.openxmlformats.org/officeDocument/2006/relationships/image" Target="../media/image25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8.emf"/><Relationship Id="rId7" Type="http://schemas.openxmlformats.org/officeDocument/2006/relationships/image" Target="../media/image41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5" Type="http://schemas.openxmlformats.org/officeDocument/2006/relationships/image" Target="../media/image9.png"/><Relationship Id="rId4" Type="http://schemas.openxmlformats.org/officeDocument/2006/relationships/image" Target="../media/image39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svg"/><Relationship Id="rId11" Type="http://schemas.openxmlformats.org/officeDocument/2006/relationships/image" Target="../media/image9.png"/><Relationship Id="rId5" Type="http://schemas.openxmlformats.org/officeDocument/2006/relationships/image" Target="../media/image45.png"/><Relationship Id="rId10" Type="http://schemas.openxmlformats.org/officeDocument/2006/relationships/image" Target="../media/image50.emf"/><Relationship Id="rId4" Type="http://schemas.openxmlformats.org/officeDocument/2006/relationships/image" Target="../media/image44.emf"/><Relationship Id="rId9" Type="http://schemas.openxmlformats.org/officeDocument/2006/relationships/image" Target="../media/image49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51.emf"/><Relationship Id="rId7" Type="http://schemas.openxmlformats.org/officeDocument/2006/relationships/image" Target="../media/image55.emf"/><Relationship Id="rId12" Type="http://schemas.openxmlformats.org/officeDocument/2006/relationships/image" Target="../media/image9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11" Type="http://schemas.openxmlformats.org/officeDocument/2006/relationships/image" Target="../media/image59.emf"/><Relationship Id="rId5" Type="http://schemas.openxmlformats.org/officeDocument/2006/relationships/image" Target="../media/image53.emf"/><Relationship Id="rId10" Type="http://schemas.openxmlformats.org/officeDocument/2006/relationships/image" Target="../media/image58.emf"/><Relationship Id="rId4" Type="http://schemas.openxmlformats.org/officeDocument/2006/relationships/image" Target="../media/image52.emf"/><Relationship Id="rId9" Type="http://schemas.openxmlformats.org/officeDocument/2006/relationships/image" Target="../media/image5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image" Target="../media/image51.emf"/><Relationship Id="rId7" Type="http://schemas.openxmlformats.org/officeDocument/2006/relationships/image" Target="../media/image61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3.emf"/><Relationship Id="rId4" Type="http://schemas.openxmlformats.org/officeDocument/2006/relationships/image" Target="../media/image52.emf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7" Type="http://schemas.openxmlformats.org/officeDocument/2006/relationships/image" Target="../media/image9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image" Target="../media/image9.png"/><Relationship Id="rId3" Type="http://schemas.openxmlformats.org/officeDocument/2006/relationships/image" Target="../media/image53.emf"/><Relationship Id="rId7" Type="http://schemas.openxmlformats.org/officeDocument/2006/relationships/image" Target="../media/image66.emf"/><Relationship Id="rId12" Type="http://schemas.openxmlformats.org/officeDocument/2006/relationships/image" Target="../media/image59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emf"/><Relationship Id="rId11" Type="http://schemas.openxmlformats.org/officeDocument/2006/relationships/image" Target="../media/image70.emf"/><Relationship Id="rId5" Type="http://schemas.openxmlformats.org/officeDocument/2006/relationships/image" Target="../media/image64.png"/><Relationship Id="rId10" Type="http://schemas.openxmlformats.org/officeDocument/2006/relationships/image" Target="../media/image69.emf"/><Relationship Id="rId4" Type="http://schemas.openxmlformats.org/officeDocument/2006/relationships/image" Target="../media/image62.emf"/><Relationship Id="rId9" Type="http://schemas.openxmlformats.org/officeDocument/2006/relationships/image" Target="../media/image6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canonical, grand canonical ensemble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146076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217173"/>
            <a:ext cx="3373489" cy="21631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791" y="2491042"/>
            <a:ext cx="4664244" cy="3406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339" y="3237899"/>
            <a:ext cx="2857883" cy="6694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837" y="3298749"/>
            <a:ext cx="2340281" cy="3744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408" y="4045606"/>
            <a:ext cx="1829993" cy="7552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2219" y="3907313"/>
            <a:ext cx="1892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 position: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1298" y="5231520"/>
            <a:ext cx="2946597" cy="5180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2219" y="4812735"/>
            <a:ext cx="1971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Gibbs free energy: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796" y="4792818"/>
            <a:ext cx="2542907" cy="44672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16150" y="1843371"/>
            <a:ext cx="1609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6150" y="5810950"/>
            <a:ext cx="450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Connect to </a:t>
            </a:r>
            <a:r>
              <a:rPr lang="en-US">
                <a:solidFill>
                  <a:srgbClr val="FF0000"/>
                </a:solidFill>
              </a:rPr>
              <a:t>the thermodynamics </a:t>
            </a:r>
            <a:r>
              <a:rPr lang="en-US" dirty="0">
                <a:solidFill>
                  <a:srgbClr val="FF0000"/>
                </a:solidFill>
              </a:rPr>
              <a:t>quantities.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A26391C-B4BF-4775-9F94-586F603CC2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FDC830C-36C2-48CA-90CA-875FBD933F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10274" y="5118324"/>
            <a:ext cx="2601195" cy="69262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8AFFC8-D554-4F8B-9AAC-39F48606445A}"/>
              </a:ext>
            </a:extLst>
          </p:cNvPr>
          <p:cNvSpPr txBox="1"/>
          <p:nvPr/>
        </p:nvSpPr>
        <p:spPr>
          <a:xfrm>
            <a:off x="1106691" y="4684225"/>
            <a:ext cx="1770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Average Energy: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57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3" y="2127929"/>
            <a:ext cx="3059403" cy="34388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6444" y="2170919"/>
            <a:ext cx="1124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Idea gas: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524" y="2170919"/>
            <a:ext cx="8534104" cy="8737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984" y="3160716"/>
            <a:ext cx="6597612" cy="176872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3590" y="5840473"/>
            <a:ext cx="6790212" cy="8602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CD3C6C-B0C4-4747-AAC3-BB092BCC02A8}"/>
              </a:ext>
            </a:extLst>
          </p:cNvPr>
          <p:cNvSpPr/>
          <p:nvPr/>
        </p:nvSpPr>
        <p:spPr>
          <a:xfrm>
            <a:off x="3508863" y="2946720"/>
            <a:ext cx="2163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Partition function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9C34C0-B93F-4BF6-AC7A-C073F136A135}"/>
              </a:ext>
            </a:extLst>
          </p:cNvPr>
          <p:cNvGrpSpPr/>
          <p:nvPr/>
        </p:nvGrpSpPr>
        <p:grpSpPr>
          <a:xfrm>
            <a:off x="3569061" y="4787479"/>
            <a:ext cx="2887120" cy="779313"/>
            <a:chOff x="3569061" y="4787479"/>
            <a:chExt cx="2887120" cy="779313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43590" y="5107435"/>
              <a:ext cx="2612591" cy="459357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D9BD09-F1D6-451A-B56D-7EACE864A140}"/>
                </a:ext>
              </a:extLst>
            </p:cNvPr>
            <p:cNvSpPr/>
            <p:nvPr/>
          </p:nvSpPr>
          <p:spPr>
            <a:xfrm>
              <a:off x="3569061" y="4787479"/>
              <a:ext cx="16190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2. Free energy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7CA80A2-D55B-48FE-947A-E121479048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9596" y="3316052"/>
            <a:ext cx="1887896" cy="6213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56D0C-B49E-4134-BC5B-AA8E3DC52E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6570" y="3037049"/>
            <a:ext cx="655259" cy="3170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1A5F85-6723-45A2-8385-99612A9A07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3" y="2127929"/>
            <a:ext cx="3059403" cy="34388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6444" y="2170919"/>
            <a:ext cx="1124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Idea gas: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3749501"/>
            <a:ext cx="3024138" cy="4086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278" y="4878019"/>
            <a:ext cx="5878922" cy="89730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6EFFF52-2A63-470E-83C2-39A8B67BBD3B}"/>
              </a:ext>
            </a:extLst>
          </p:cNvPr>
          <p:cNvGrpSpPr/>
          <p:nvPr/>
        </p:nvGrpSpPr>
        <p:grpSpPr>
          <a:xfrm>
            <a:off x="3433522" y="3218796"/>
            <a:ext cx="3348852" cy="1065387"/>
            <a:chOff x="3433522" y="3218796"/>
            <a:chExt cx="3348852" cy="1065387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20830" y="3869640"/>
              <a:ext cx="2161544" cy="414543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433522" y="3218796"/>
              <a:ext cx="24070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On </a:t>
              </a:r>
              <a:r>
                <a:rPr lang="en-US" sz="2000" b="1"/>
                <a:t>the other hand</a:t>
              </a:r>
              <a:endParaRPr lang="en-US" sz="2000" b="1" dirty="0"/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6998" y="1970653"/>
            <a:ext cx="2612591" cy="45935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0830" y="2381598"/>
            <a:ext cx="6790212" cy="8602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B85DAF-6693-465C-91BF-91FAD39141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D7471D-4722-4292-B22B-773D3E828F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242" y="5967749"/>
            <a:ext cx="1829993" cy="7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9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226" y="2330209"/>
            <a:ext cx="8018693" cy="10159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913" y="5566792"/>
            <a:ext cx="3485062" cy="47193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455" y="4473291"/>
            <a:ext cx="3353223" cy="10172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32A3E3B-B7EB-4965-A1C1-D5F28E0B27B4}"/>
              </a:ext>
            </a:extLst>
          </p:cNvPr>
          <p:cNvGrpSpPr/>
          <p:nvPr/>
        </p:nvGrpSpPr>
        <p:grpSpPr>
          <a:xfrm>
            <a:off x="3502312" y="3498901"/>
            <a:ext cx="5932194" cy="951527"/>
            <a:chOff x="3502312" y="3498901"/>
            <a:chExt cx="5932194" cy="951527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02312" y="3498901"/>
              <a:ext cx="3769510" cy="951527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7381315" y="3743831"/>
              <a:ext cx="20531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(Total energy)</a:t>
              </a: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3" y="2127929"/>
            <a:ext cx="3059403" cy="3438863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96444" y="2170919"/>
            <a:ext cx="1124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Idea gas: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5E55417-AFAD-4CD4-8F0A-E744DCFF34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3" y="6119707"/>
            <a:ext cx="5397179" cy="7382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2F56630-CDCC-4989-A2FE-0EF030363A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0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759" y="2281481"/>
            <a:ext cx="1472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Spin system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1026" name="Picture 2" descr="Tens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6F720BC-E092-4066-8B47-5930A05EAF83}"/>
              </a:ext>
            </a:extLst>
          </p:cNvPr>
          <p:cNvGrpSpPr/>
          <p:nvPr/>
        </p:nvGrpSpPr>
        <p:grpSpPr>
          <a:xfrm>
            <a:off x="2848634" y="1858226"/>
            <a:ext cx="9178387" cy="3101154"/>
            <a:chOff x="2848634" y="1858226"/>
            <a:chExt cx="9178387" cy="31011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C2F275F-EAF3-48FF-921A-5DB65E17258A}"/>
                </a:ext>
              </a:extLst>
            </p:cNvPr>
            <p:cNvGrpSpPr/>
            <p:nvPr/>
          </p:nvGrpSpPr>
          <p:grpSpPr>
            <a:xfrm>
              <a:off x="4343399" y="2916639"/>
              <a:ext cx="6263641" cy="1241479"/>
              <a:chOff x="4343399" y="2916639"/>
              <a:chExt cx="6263641" cy="1241479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3399" y="2916639"/>
                <a:ext cx="4655545" cy="1241479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12389" y="3455708"/>
                <a:ext cx="994651" cy="390756"/>
              </a:xfrm>
              <a:prstGeom prst="rect">
                <a:avLst/>
              </a:prstGeom>
            </p:spPr>
          </p:pic>
        </p:grp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97871" y="4225584"/>
              <a:ext cx="4728910" cy="733796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A3FDAF0-02D2-4B4B-807C-429F1E59F21F}"/>
                </a:ext>
              </a:extLst>
            </p:cNvPr>
            <p:cNvGrpSpPr/>
            <p:nvPr/>
          </p:nvGrpSpPr>
          <p:grpSpPr>
            <a:xfrm>
              <a:off x="2848634" y="1858226"/>
              <a:ext cx="9178387" cy="1124103"/>
              <a:chOff x="2848634" y="1858226"/>
              <a:chExt cx="9178387" cy="1124103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06430" y="2100228"/>
                <a:ext cx="5829537" cy="882101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03828" y="2285638"/>
                <a:ext cx="2323193" cy="500380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F3AA6E7-9A80-4DE4-8CF0-5721D07E76B3}"/>
                  </a:ext>
                </a:extLst>
              </p:cNvPr>
              <p:cNvSpPr/>
              <p:nvPr/>
            </p:nvSpPr>
            <p:spPr>
              <a:xfrm>
                <a:off x="2848634" y="1858226"/>
                <a:ext cx="2163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1. Partition function</a:t>
                </a: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5852F2-5558-4274-991A-AB053C506CB5}"/>
              </a:ext>
            </a:extLst>
          </p:cNvPr>
          <p:cNvGrpSpPr/>
          <p:nvPr/>
        </p:nvGrpSpPr>
        <p:grpSpPr>
          <a:xfrm>
            <a:off x="2896913" y="4923126"/>
            <a:ext cx="7344634" cy="1059033"/>
            <a:chOff x="2896913" y="4923126"/>
            <a:chExt cx="7344634" cy="1059033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00849" y="5177637"/>
              <a:ext cx="7240698" cy="80452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FE5CB52-90FD-4A12-BCA0-5CE09C7BC930}"/>
                </a:ext>
              </a:extLst>
            </p:cNvPr>
            <p:cNvSpPr/>
            <p:nvPr/>
          </p:nvSpPr>
          <p:spPr>
            <a:xfrm>
              <a:off x="2896913" y="4923126"/>
              <a:ext cx="16190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2. Free energy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6807A8AD-9256-4D2F-8BDB-6754A3F71D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8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n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759" y="2281481"/>
            <a:ext cx="1472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Spin system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63" y="2431785"/>
            <a:ext cx="1007481" cy="39579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526" y="2947001"/>
            <a:ext cx="6301674" cy="70018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148" y="4486617"/>
            <a:ext cx="3391471" cy="111806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2526" y="2144672"/>
            <a:ext cx="4728910" cy="73379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58356DB-68F2-4D11-8426-30EB1904469C}"/>
              </a:ext>
            </a:extLst>
          </p:cNvPr>
          <p:cNvGrpSpPr/>
          <p:nvPr/>
        </p:nvGrpSpPr>
        <p:grpSpPr>
          <a:xfrm>
            <a:off x="4373946" y="3570331"/>
            <a:ext cx="7874737" cy="900320"/>
            <a:chOff x="4373946" y="3570331"/>
            <a:chExt cx="7874737" cy="900320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73946" y="3570331"/>
              <a:ext cx="4423311" cy="90032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8918541" y="3828560"/>
              <a:ext cx="3330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(</a:t>
              </a:r>
              <a:r>
                <a:rPr lang="en-US" sz="2000"/>
                <a:t>Average magnetic moment</a:t>
              </a:r>
              <a:r>
                <a:rPr lang="en-US" sz="2000" dirty="0"/>
                <a:t>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9268E7A-946D-4B29-9B75-56129E3EA7D6}"/>
              </a:ext>
            </a:extLst>
          </p:cNvPr>
          <p:cNvGrpSpPr/>
          <p:nvPr/>
        </p:nvGrpSpPr>
        <p:grpSpPr>
          <a:xfrm>
            <a:off x="1106832" y="5706831"/>
            <a:ext cx="5379644" cy="479396"/>
            <a:chOff x="1106832" y="5706831"/>
            <a:chExt cx="5379644" cy="479396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48910" y="5718985"/>
              <a:ext cx="3437566" cy="467242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1106832" y="5706831"/>
              <a:ext cx="18255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Total energy</a:t>
              </a: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914264C-DC0C-496B-8052-99E54B227AEB}"/>
              </a:ext>
            </a:extLst>
          </p:cNvPr>
          <p:cNvGrpSpPr/>
          <p:nvPr/>
        </p:nvGrpSpPr>
        <p:grpSpPr>
          <a:xfrm>
            <a:off x="7531270" y="5661111"/>
            <a:ext cx="2679487" cy="996020"/>
            <a:chOff x="7531270" y="5661111"/>
            <a:chExt cx="2679487" cy="99602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31270" y="5661111"/>
              <a:ext cx="2679487" cy="551659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7625619" y="6195466"/>
              <a:ext cx="2048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Heat Capacity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BD9C93E-6D31-438A-8051-464F152C1712}"/>
              </a:ext>
            </a:extLst>
          </p:cNvPr>
          <p:cNvSpPr txBox="1"/>
          <p:nvPr/>
        </p:nvSpPr>
        <p:spPr>
          <a:xfrm>
            <a:off x="8003702" y="4837647"/>
            <a:ext cx="266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(Magnetic susceptibility)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78AAF29-8940-4FC3-9661-E84F5DFED8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8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394" y="2177610"/>
            <a:ext cx="75157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Similarly, the </a:t>
            </a:r>
            <a:r>
              <a:rPr lang="en-US" sz="2400" b="1" dirty="0"/>
              <a:t>total number of particles</a:t>
            </a:r>
            <a:r>
              <a:rPr lang="en-US" sz="2400" dirty="0"/>
              <a:t> can </a:t>
            </a:r>
            <a:r>
              <a:rPr lang="en-US" sz="2400" b="1" dirty="0"/>
              <a:t>fluctuate</a:t>
            </a:r>
            <a:r>
              <a:rPr lang="en-US" sz="2400" dirty="0"/>
              <a:t> just like the </a:t>
            </a:r>
            <a:r>
              <a:rPr lang="en-US" sz="2400" b="1" dirty="0"/>
              <a:t>energy</a:t>
            </a:r>
            <a:r>
              <a:rPr lang="en-US" sz="2400" dirty="0"/>
              <a:t> in Canonical ensemble.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800" y="3193590"/>
            <a:ext cx="4444626" cy="52838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48594" y="3852010"/>
            <a:ext cx="6790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Chemical potential = the energy needs to add a particle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4857" y="4410689"/>
            <a:ext cx="265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 Partition function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0157539" y="5284905"/>
            <a:ext cx="1974771" cy="717625"/>
            <a:chOff x="9822577" y="4954346"/>
            <a:chExt cx="1974771" cy="717625"/>
          </a:xfrm>
        </p:grpSpPr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>
              <a:off x="10561320" y="5276172"/>
              <a:ext cx="0" cy="39579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9822577" y="4954346"/>
              <a:ext cx="197477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Partition function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B8609BA-8B42-4F5E-A34E-AF3C45A12BD2}"/>
              </a:ext>
            </a:extLst>
          </p:cNvPr>
          <p:cNvGrpSpPr/>
          <p:nvPr/>
        </p:nvGrpSpPr>
        <p:grpSpPr>
          <a:xfrm>
            <a:off x="7512844" y="5622679"/>
            <a:ext cx="3688556" cy="1217083"/>
            <a:chOff x="7512844" y="5622679"/>
            <a:chExt cx="3688556" cy="1217083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43754" y="5889906"/>
              <a:ext cx="2757646" cy="949856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7512844" y="5622679"/>
              <a:ext cx="2810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Prob</a:t>
              </a:r>
              <a:r>
                <a:rPr lang="en-US" dirty="0"/>
                <a:t> for finding N particle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223B3EC-1AF6-4776-B020-F2FCDE5D4FFD}"/>
              </a:ext>
            </a:extLst>
          </p:cNvPr>
          <p:cNvGrpSpPr/>
          <p:nvPr/>
        </p:nvGrpSpPr>
        <p:grpSpPr>
          <a:xfrm>
            <a:off x="7575222" y="2484443"/>
            <a:ext cx="2391741" cy="1401757"/>
            <a:chOff x="7575222" y="2484443"/>
            <a:chExt cx="2391741" cy="1401757"/>
          </a:xfrm>
        </p:grpSpPr>
        <p:cxnSp>
          <p:nvCxnSpPr>
            <p:cNvPr id="14" name="Straight Arrow Connector 13"/>
            <p:cNvCxnSpPr/>
            <p:nvPr/>
          </p:nvCxnSpPr>
          <p:spPr>
            <a:xfrm flipV="1">
              <a:off x="7920990" y="3607672"/>
              <a:ext cx="0" cy="2785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31CAF140-4E81-4F51-918F-FF8CF44E75D4}"/>
                </a:ext>
              </a:extLst>
            </p:cNvPr>
            <p:cNvSpPr/>
            <p:nvPr/>
          </p:nvSpPr>
          <p:spPr>
            <a:xfrm rot="16200000">
              <a:off x="8563709" y="1872578"/>
              <a:ext cx="414768" cy="2391741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7FD18B5-7473-47D1-8373-7031D2862886}"/>
                </a:ext>
              </a:extLst>
            </p:cNvPr>
            <p:cNvSpPr txBox="1"/>
            <p:nvPr/>
          </p:nvSpPr>
          <p:spPr>
            <a:xfrm>
              <a:off x="8212137" y="2484443"/>
              <a:ext cx="1411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Total energy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F1F9C565-CC55-4B18-8D69-D0ABE3250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24F74DD-79FF-46F6-841C-A4F724D8E7AE}"/>
              </a:ext>
            </a:extLst>
          </p:cNvPr>
          <p:cNvGrpSpPr/>
          <p:nvPr/>
        </p:nvGrpSpPr>
        <p:grpSpPr>
          <a:xfrm>
            <a:off x="5101710" y="4658041"/>
            <a:ext cx="4571070" cy="1027180"/>
            <a:chOff x="5101710" y="4658041"/>
            <a:chExt cx="4571070" cy="1027180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6"/>
            <a:srcRect l="28910"/>
            <a:stretch/>
          </p:blipFill>
          <p:spPr>
            <a:xfrm>
              <a:off x="6167717" y="4658041"/>
              <a:ext cx="3505063" cy="102718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60DAE4C-A5B0-4512-88D7-9AC7E4339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01710" y="4878035"/>
              <a:ext cx="1168438" cy="5842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023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937" y="1855360"/>
            <a:ext cx="3736340" cy="79159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F4D7B9-8721-4B8C-9E81-215E78CC1E8D}"/>
              </a:ext>
            </a:extLst>
          </p:cNvPr>
          <p:cNvGrpSpPr/>
          <p:nvPr/>
        </p:nvGrpSpPr>
        <p:grpSpPr>
          <a:xfrm>
            <a:off x="4268640" y="2777393"/>
            <a:ext cx="5538300" cy="1022835"/>
            <a:chOff x="4268640" y="2777393"/>
            <a:chExt cx="5538300" cy="102283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2457" y="2941320"/>
              <a:ext cx="3524483" cy="858908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4268640" y="2777393"/>
              <a:ext cx="26739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Average particle number: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179375D-8F71-417E-8120-6D7843837E2E}"/>
              </a:ext>
            </a:extLst>
          </p:cNvPr>
          <p:cNvGrpSpPr/>
          <p:nvPr/>
        </p:nvGrpSpPr>
        <p:grpSpPr>
          <a:xfrm>
            <a:off x="4268640" y="3617348"/>
            <a:ext cx="7252800" cy="1153668"/>
            <a:chOff x="4268640" y="3617348"/>
            <a:chExt cx="7252800" cy="115366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851" b="7851"/>
            <a:stretch/>
          </p:blipFill>
          <p:spPr>
            <a:xfrm>
              <a:off x="4738900" y="3850729"/>
              <a:ext cx="6782540" cy="920287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4268640" y="3617348"/>
              <a:ext cx="31283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particle number fluctuation: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7"/>
          <a:srcRect l="70333" t="-18690" b="-1"/>
          <a:stretch/>
        </p:blipFill>
        <p:spPr>
          <a:xfrm>
            <a:off x="7598422" y="4527154"/>
            <a:ext cx="2871458" cy="109228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0070" y="5070400"/>
            <a:ext cx="682770" cy="26105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EEC5D1C-104E-4C9D-9912-8DC66055E6E1}"/>
              </a:ext>
            </a:extLst>
          </p:cNvPr>
          <p:cNvGrpSpPr/>
          <p:nvPr/>
        </p:nvGrpSpPr>
        <p:grpSpPr>
          <a:xfrm>
            <a:off x="5963998" y="6008636"/>
            <a:ext cx="4607232" cy="372865"/>
            <a:chOff x="5963998" y="6008636"/>
            <a:chExt cx="4607232" cy="372865"/>
          </a:xfrm>
        </p:grpSpPr>
        <p:sp>
          <p:nvSpPr>
            <p:cNvPr id="18" name="TextBox 17"/>
            <p:cNvSpPr txBox="1"/>
            <p:nvPr/>
          </p:nvSpPr>
          <p:spPr>
            <a:xfrm>
              <a:off x="5963998" y="6008636"/>
              <a:ext cx="15190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Relative error</a:t>
              </a: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83003" y="6038365"/>
              <a:ext cx="3088227" cy="343136"/>
            </a:xfrm>
            <a:prstGeom prst="rect">
              <a:avLst/>
            </a:prstGeom>
          </p:spPr>
        </p:pic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883" y="2226865"/>
            <a:ext cx="3589020" cy="346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4150" y="2653009"/>
            <a:ext cx="1619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probable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4337" y="2673863"/>
            <a:ext cx="963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Average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88833" y="3083238"/>
            <a:ext cx="3934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the one that help your calculation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A369A6-E9B5-47EA-9FB9-9DAC2804016A}"/>
              </a:ext>
            </a:extLst>
          </p:cNvPr>
          <p:cNvSpPr/>
          <p:nvPr/>
        </p:nvSpPr>
        <p:spPr>
          <a:xfrm>
            <a:off x="2390622" y="2084832"/>
            <a:ext cx="2034540" cy="631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3200" b="1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9A0177E-AF7D-4C2B-9537-5183EA2C11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7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699" y="2331720"/>
            <a:ext cx="8197702" cy="13716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EC3F0C4-CECF-4203-B788-E4AB73EC8764}"/>
              </a:ext>
            </a:extLst>
          </p:cNvPr>
          <p:cNvGrpSpPr/>
          <p:nvPr/>
        </p:nvGrpSpPr>
        <p:grpSpPr>
          <a:xfrm>
            <a:off x="4183874" y="3826533"/>
            <a:ext cx="6961916" cy="1226074"/>
            <a:chOff x="4183874" y="3826533"/>
            <a:chExt cx="6961916" cy="122607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7497" y="4133088"/>
              <a:ext cx="4800600" cy="57607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83874" y="3826533"/>
              <a:ext cx="2002444" cy="34417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6644750" y="4683275"/>
              <a:ext cx="45010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Connect to </a:t>
              </a:r>
              <a:r>
                <a:rPr lang="en-US">
                  <a:solidFill>
                    <a:srgbClr val="FF0000"/>
                  </a:solidFill>
                </a:rPr>
                <a:t>the thermodynamics </a:t>
              </a:r>
              <a:r>
                <a:rPr lang="en-US" dirty="0">
                  <a:solidFill>
                    <a:srgbClr val="FF0000"/>
                  </a:solidFill>
                </a:rPr>
                <a:t>quantities.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8A09855-C95D-4709-AD49-19D5BE8E3251}"/>
              </a:ext>
            </a:extLst>
          </p:cNvPr>
          <p:cNvGrpSpPr/>
          <p:nvPr/>
        </p:nvGrpSpPr>
        <p:grpSpPr>
          <a:xfrm>
            <a:off x="4215305" y="4930662"/>
            <a:ext cx="3472848" cy="741172"/>
            <a:chOff x="4215305" y="4930662"/>
            <a:chExt cx="3472848" cy="741172"/>
          </a:xfrm>
        </p:grpSpPr>
        <p:sp>
          <p:nvSpPr>
            <p:cNvPr id="12" name="TextBox 11"/>
            <p:cNvSpPr txBox="1"/>
            <p:nvPr/>
          </p:nvSpPr>
          <p:spPr>
            <a:xfrm>
              <a:off x="4215305" y="4930662"/>
              <a:ext cx="18771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Gibb free energy: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96818" y="5399891"/>
              <a:ext cx="3191335" cy="271943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6906450" y="5074197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6818" y="5971769"/>
            <a:ext cx="1849066" cy="30817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9222D4B-3B0E-4BEF-A3B4-BBD0E78AE166}"/>
              </a:ext>
            </a:extLst>
          </p:cNvPr>
          <p:cNvGrpSpPr/>
          <p:nvPr/>
        </p:nvGrpSpPr>
        <p:grpSpPr>
          <a:xfrm>
            <a:off x="7979367" y="5299994"/>
            <a:ext cx="3246199" cy="649359"/>
            <a:chOff x="8474685" y="5072857"/>
            <a:chExt cx="3246199" cy="649359"/>
          </a:xfrm>
        </p:grpSpPr>
        <p:sp>
          <p:nvSpPr>
            <p:cNvPr id="20" name="TextBox 19"/>
            <p:cNvSpPr txBox="1"/>
            <p:nvPr/>
          </p:nvSpPr>
          <p:spPr>
            <a:xfrm>
              <a:off x="8524887" y="5072857"/>
              <a:ext cx="9364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(1</a:t>
              </a:r>
              <a:r>
                <a:rPr lang="en-US" baseline="30000" dirty="0"/>
                <a:t>st</a:t>
              </a:r>
              <a:r>
                <a:rPr lang="en-US" dirty="0"/>
                <a:t> law)</a:t>
              </a: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74685" y="5445597"/>
              <a:ext cx="3246199" cy="276619"/>
            </a:xfrm>
            <a:prstGeom prst="rect">
              <a:avLst/>
            </a:prstGeom>
          </p:spPr>
        </p:pic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5080" y="6062316"/>
            <a:ext cx="1066935" cy="64182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818" y="6415759"/>
            <a:ext cx="1641230" cy="32824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4637" y="5166953"/>
            <a:ext cx="2277631" cy="29993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76DE3F-098C-4706-84EE-BF7F39E22DD6}"/>
              </a:ext>
            </a:extLst>
          </p:cNvPr>
          <p:cNvSpPr txBox="1"/>
          <p:nvPr/>
        </p:nvSpPr>
        <p:spPr>
          <a:xfrm>
            <a:off x="3199892" y="5935991"/>
            <a:ext cx="1296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(Extensive)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0B3418C-E766-4F95-AA6E-6679EE5548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699" y="2331720"/>
            <a:ext cx="8197702" cy="13716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EC3F0C4-CECF-4203-B788-E4AB73EC8764}"/>
              </a:ext>
            </a:extLst>
          </p:cNvPr>
          <p:cNvGrpSpPr/>
          <p:nvPr/>
        </p:nvGrpSpPr>
        <p:grpSpPr>
          <a:xfrm>
            <a:off x="4183874" y="3826533"/>
            <a:ext cx="6961916" cy="1226074"/>
            <a:chOff x="4183874" y="3826533"/>
            <a:chExt cx="6961916" cy="122607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7497" y="4133088"/>
              <a:ext cx="4800600" cy="57607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83874" y="3826533"/>
              <a:ext cx="2002444" cy="34417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6644750" y="4683275"/>
              <a:ext cx="45010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Connect to </a:t>
              </a:r>
              <a:r>
                <a:rPr lang="en-US">
                  <a:solidFill>
                    <a:srgbClr val="FF0000"/>
                  </a:solidFill>
                </a:rPr>
                <a:t>the thermodynamics </a:t>
              </a:r>
              <a:r>
                <a:rPr lang="en-US" dirty="0">
                  <a:solidFill>
                    <a:srgbClr val="FF0000"/>
                  </a:solidFill>
                </a:rPr>
                <a:t>quantities.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70B833C-6275-4305-AA22-721CBBADCAC8}"/>
              </a:ext>
            </a:extLst>
          </p:cNvPr>
          <p:cNvGrpSpPr/>
          <p:nvPr/>
        </p:nvGrpSpPr>
        <p:grpSpPr>
          <a:xfrm>
            <a:off x="4753989" y="5075467"/>
            <a:ext cx="6518291" cy="1383742"/>
            <a:chOff x="4753989" y="5075467"/>
            <a:chExt cx="6518291" cy="138374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53989" y="5075467"/>
              <a:ext cx="677802" cy="43379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00370" y="5138928"/>
              <a:ext cx="2449889" cy="370332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3989" y="5689115"/>
              <a:ext cx="6518291" cy="770094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DBA8BFF-11A2-4BAC-A0DC-A26ED3214C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4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44750" y="4683275"/>
            <a:ext cx="450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Connect to </a:t>
            </a:r>
            <a:r>
              <a:rPr lang="en-US">
                <a:solidFill>
                  <a:srgbClr val="FF0000"/>
                </a:solidFill>
              </a:rPr>
              <a:t>the thermodynamics </a:t>
            </a:r>
            <a:r>
              <a:rPr lang="en-US" dirty="0">
                <a:solidFill>
                  <a:srgbClr val="FF0000"/>
                </a:solidFill>
              </a:rPr>
              <a:t>quantities.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89" y="5075467"/>
            <a:ext cx="677802" cy="4337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370" y="5138928"/>
            <a:ext cx="2449889" cy="37033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989" y="5689115"/>
            <a:ext cx="6518291" cy="7700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2549" y="1846553"/>
            <a:ext cx="7010846" cy="2951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225D04-1FE6-455B-8BF5-26F07C9BF5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05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960F14-1630-419A-B5E4-75EC333CF4D1}"/>
              </a:ext>
            </a:extLst>
          </p:cNvPr>
          <p:cNvGrpSpPr/>
          <p:nvPr/>
        </p:nvGrpSpPr>
        <p:grpSpPr>
          <a:xfrm>
            <a:off x="5769864" y="1945660"/>
            <a:ext cx="6518291" cy="1670121"/>
            <a:chOff x="5769864" y="1945660"/>
            <a:chExt cx="6518291" cy="167012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6317" y="2252215"/>
              <a:ext cx="4800600" cy="57607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2694" y="1945660"/>
              <a:ext cx="2002444" cy="34417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9864" y="2845687"/>
              <a:ext cx="6518291" cy="770094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296444" y="2170919"/>
            <a:ext cx="1124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Idea gas: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372" y="3159541"/>
            <a:ext cx="5204221" cy="221209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479" y="3856990"/>
            <a:ext cx="725263" cy="689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804" y="3678594"/>
            <a:ext cx="2792262" cy="105163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3130" y="4800477"/>
            <a:ext cx="3154893" cy="108789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6609" y="5922101"/>
            <a:ext cx="4234651" cy="79209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9D80E92-DC98-48B5-AB83-A6BC96F908D2}"/>
              </a:ext>
            </a:extLst>
          </p:cNvPr>
          <p:cNvGrpSpPr/>
          <p:nvPr/>
        </p:nvGrpSpPr>
        <p:grpSpPr>
          <a:xfrm>
            <a:off x="9453152" y="4146253"/>
            <a:ext cx="1947204" cy="980281"/>
            <a:chOff x="9453152" y="4146253"/>
            <a:chExt cx="1947204" cy="980281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78410" y="4582587"/>
              <a:ext cx="1921946" cy="543947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9453152" y="4146253"/>
              <a:ext cx="8787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Again: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88E71D7-3B8A-4E2F-B8B0-2D4AC7A1123D}"/>
              </a:ext>
            </a:extLst>
          </p:cNvPr>
          <p:cNvSpPr/>
          <p:nvPr/>
        </p:nvSpPr>
        <p:spPr>
          <a:xfrm>
            <a:off x="189190" y="2716991"/>
            <a:ext cx="2843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Grand partition function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694A91-C0A4-41BF-AE7D-EA1E96591EEF}"/>
              </a:ext>
            </a:extLst>
          </p:cNvPr>
          <p:cNvGrpSpPr/>
          <p:nvPr/>
        </p:nvGrpSpPr>
        <p:grpSpPr>
          <a:xfrm>
            <a:off x="374762" y="5369024"/>
            <a:ext cx="3767981" cy="949123"/>
            <a:chOff x="374762" y="5369024"/>
            <a:chExt cx="3767981" cy="94912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4762" y="5681664"/>
              <a:ext cx="3767981" cy="636483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29C14F7-379E-4847-8CD0-29871B03766E}"/>
                </a:ext>
              </a:extLst>
            </p:cNvPr>
            <p:cNvSpPr/>
            <p:nvPr/>
          </p:nvSpPr>
          <p:spPr>
            <a:xfrm>
              <a:off x="374762" y="5369024"/>
              <a:ext cx="17624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Grand potential</a:t>
              </a:r>
            </a:p>
          </p:txBody>
        </p: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334" y="6478203"/>
            <a:ext cx="2277631" cy="29993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6EEA07-D725-4DAA-ACF7-EC5F6A0AFDC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553C9F-27FD-42C1-83D9-8E573B9C93FC}"/>
              </a:ext>
            </a:extLst>
          </p:cNvPr>
          <p:cNvSpPr/>
          <p:nvPr/>
        </p:nvSpPr>
        <p:spPr>
          <a:xfrm>
            <a:off x="3083912" y="3856990"/>
            <a:ext cx="2109307" cy="783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533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50132</TotalTime>
  <Words>219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Gibbs canonical ensemble</vt:lpstr>
      <vt:lpstr>Gibbs canonical ensemble</vt:lpstr>
      <vt:lpstr>Gibbs canonical ensemble</vt:lpstr>
      <vt:lpstr>Gibbs canonical ensemble</vt:lpstr>
      <vt:lpstr>Gibbs canonical ensemble</vt:lpstr>
      <vt:lpstr>Gibbs canonical ensemble</vt:lpstr>
      <vt:lpstr>Grand canonical ensemble</vt:lpstr>
      <vt:lpstr>Grand canonical ensemble</vt:lpstr>
      <vt:lpstr>Grand canonical ensemble</vt:lpstr>
      <vt:lpstr>Grand canonical ensemble</vt:lpstr>
      <vt:lpstr>Grand canonical ensemble</vt:lpstr>
      <vt:lpstr>Grand canonical ensemble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1692</cp:revision>
  <dcterms:created xsi:type="dcterms:W3CDTF">2024-08-25T23:32:26Z</dcterms:created>
  <dcterms:modified xsi:type="dcterms:W3CDTF">2025-11-27T02:35:35Z</dcterms:modified>
</cp:coreProperties>
</file>