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0"/>
  </p:notesMasterIdLst>
  <p:sldIdLst>
    <p:sldId id="292" r:id="rId2"/>
    <p:sldId id="598" r:id="rId25"/>
    <p:sldId id="599" r:id="rId26"/>
    <p:sldId id="575" r:id="rId3"/>
    <p:sldId id="600" r:id="rId27"/>
    <p:sldId id="601" r:id="rId28"/>
    <p:sldId id="602" r:id="rId29"/>
    <p:sldId id="525" r:id="rId4"/>
    <p:sldId id="603" r:id="rId30"/>
    <p:sldId id="604" r:id="rId31"/>
    <p:sldId id="573" r:id="rId5"/>
    <p:sldId id="605" r:id="rId32"/>
    <p:sldId id="606" r:id="rId33"/>
    <p:sldId id="576" r:id="rId6"/>
    <p:sldId id="607" r:id="rId34"/>
    <p:sldId id="608" r:id="rId35"/>
    <p:sldId id="577" r:id="rId7"/>
    <p:sldId id="609" r:id="rId36"/>
    <p:sldId id="610" r:id="rId37"/>
    <p:sldId id="611" r:id="rId38"/>
    <p:sldId id="590" r:id="rId8"/>
    <p:sldId id="612" r:id="rId39"/>
    <p:sldId id="613" r:id="rId40"/>
    <p:sldId id="614" r:id="rId41"/>
    <p:sldId id="578" r:id="rId9"/>
    <p:sldId id="615" r:id="rId42"/>
    <p:sldId id="616" r:id="rId43"/>
    <p:sldId id="617" r:id="rId44"/>
    <p:sldId id="580" r:id="rId10"/>
    <p:sldId id="618" r:id="rId45"/>
    <p:sldId id="619" r:id="rId46"/>
    <p:sldId id="620" r:id="rId47"/>
    <p:sldId id="581" r:id="rId11"/>
    <p:sldId id="621" r:id="rId48"/>
    <p:sldId id="622" r:id="rId49"/>
    <p:sldId id="623" r:id="rId50"/>
    <p:sldId id="582" r:id="rId12"/>
    <p:sldId id="624" r:id="rId51"/>
    <p:sldId id="625" r:id="rId52"/>
    <p:sldId id="626" r:id="rId53"/>
    <p:sldId id="583" r:id="rId13"/>
    <p:sldId id="627" r:id="rId54"/>
    <p:sldId id="628" r:id="rId55"/>
    <p:sldId id="629" r:id="rId56"/>
    <p:sldId id="585" r:id="rId14"/>
    <p:sldId id="630" r:id="rId57"/>
    <p:sldId id="631" r:id="rId58"/>
    <p:sldId id="632" r:id="rId59"/>
    <p:sldId id="586" r:id="rId15"/>
    <p:sldId id="633" r:id="rId60"/>
    <p:sldId id="634" r:id="rId61"/>
    <p:sldId id="635" r:id="rId62"/>
    <p:sldId id="587" r:id="rId16"/>
    <p:sldId id="636" r:id="rId63"/>
    <p:sldId id="637" r:id="rId64"/>
    <p:sldId id="638" r:id="rId65"/>
    <p:sldId id="595" r:id="rId17"/>
    <p:sldId id="639" r:id="rId66"/>
    <p:sldId id="640" r:id="rId67"/>
    <p:sldId id="596" r:id="rId18"/>
    <p:sldId id="641" r:id="rId68"/>
    <p:sldId id="642" r:id="rId69"/>
    <p:sldId id="597" r:id="rId19"/>
    <p:sldId id="643" r:id="rId70"/>
    <p:sldId id="644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emf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2" Type="http://schemas.openxmlformats.org/officeDocument/2006/relationships/image" Target="../media/image2.emf"/><Relationship Id="rId16" Type="http://schemas.openxmlformats.org/officeDocument/2006/relationships/image" Target="../media/image16.emf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png"/><Relationship Id="rId24" Type="http://schemas.openxmlformats.org/officeDocument/2006/relationships/image" Target="../media/image24.emf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23" Type="http://schemas.openxmlformats.org/officeDocument/2006/relationships/image" Target="../media/image23.sv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5" Type="http://schemas.openxmlformats.org/officeDocument/2006/relationships/image" Target="../media/image55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24" Type="http://schemas.openxmlformats.org/officeDocument/2006/relationships/image" Target="../media/image54.png"/><Relationship Id="rId5" Type="http://schemas.openxmlformats.org/officeDocument/2006/relationships/image" Target="../media/image35.gif"/><Relationship Id="rId15" Type="http://schemas.openxmlformats.org/officeDocument/2006/relationships/image" Target="../media/image45.sv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7.png"/><Relationship Id="rId18" Type="http://schemas.openxmlformats.org/officeDocument/2006/relationships/image" Target="../media/image72.svg"/><Relationship Id="rId3" Type="http://schemas.openxmlformats.org/officeDocument/2006/relationships/image" Target="../media/image57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17" Type="http://schemas.openxmlformats.org/officeDocument/2006/relationships/image" Target="../media/image71.png"/><Relationship Id="rId2" Type="http://schemas.openxmlformats.org/officeDocument/2006/relationships/image" Target="../media/image55.png"/><Relationship Id="rId16" Type="http://schemas.openxmlformats.org/officeDocument/2006/relationships/image" Target="../media/image70.svg"/><Relationship Id="rId20" Type="http://schemas.openxmlformats.org/officeDocument/2006/relationships/image" Target="../media/image7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26.png"/><Relationship Id="rId10" Type="http://schemas.openxmlformats.org/officeDocument/2006/relationships/image" Target="../media/image64.sv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svg"/><Relationship Id="rId22" Type="http://schemas.openxmlformats.org/officeDocument/2006/relationships/image" Target="../media/image7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21" Type="http://schemas.openxmlformats.org/officeDocument/2006/relationships/image" Target="../media/image26.png"/><Relationship Id="rId7" Type="http://schemas.openxmlformats.org/officeDocument/2006/relationships/image" Target="../media/image81.png"/><Relationship Id="rId12" Type="http://schemas.openxmlformats.org/officeDocument/2006/relationships/image" Target="../media/image86.svg"/><Relationship Id="rId17" Type="http://schemas.openxmlformats.org/officeDocument/2006/relationships/image" Target="../media/image91.svg"/><Relationship Id="rId2" Type="http://schemas.openxmlformats.org/officeDocument/2006/relationships/image" Target="../media/image57.png"/><Relationship Id="rId16" Type="http://schemas.openxmlformats.org/officeDocument/2006/relationships/image" Target="../media/image90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jpeg"/><Relationship Id="rId10" Type="http://schemas.openxmlformats.org/officeDocument/2006/relationships/image" Target="../media/image84.svg"/><Relationship Id="rId19" Type="http://schemas.openxmlformats.org/officeDocument/2006/relationships/image" Target="../media/image93.sv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9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sv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image" Target="../media/image96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svg"/><Relationship Id="rId5" Type="http://schemas.openxmlformats.org/officeDocument/2006/relationships/image" Target="../media/image99.png"/><Relationship Id="rId15" Type="http://schemas.openxmlformats.org/officeDocument/2006/relationships/image" Target="../media/image109.sv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svg"/><Relationship Id="rId13" Type="http://schemas.openxmlformats.org/officeDocument/2006/relationships/image" Target="../media/image120.png"/><Relationship Id="rId18" Type="http://schemas.openxmlformats.org/officeDocument/2006/relationships/image" Target="../media/image125.svg"/><Relationship Id="rId26" Type="http://schemas.openxmlformats.org/officeDocument/2006/relationships/image" Target="../media/image133.sv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sv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image" Target="../media/image96.png"/><Relationship Id="rId16" Type="http://schemas.openxmlformats.org/officeDocument/2006/relationships/image" Target="../media/image123.svg"/><Relationship Id="rId20" Type="http://schemas.openxmlformats.org/officeDocument/2006/relationships/image" Target="../media/image1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svg"/><Relationship Id="rId11" Type="http://schemas.openxmlformats.org/officeDocument/2006/relationships/image" Target="../media/image118.png"/><Relationship Id="rId24" Type="http://schemas.openxmlformats.org/officeDocument/2006/relationships/image" Target="../media/image131.sv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10" Type="http://schemas.openxmlformats.org/officeDocument/2006/relationships/image" Target="../media/image117.svg"/><Relationship Id="rId19" Type="http://schemas.openxmlformats.org/officeDocument/2006/relationships/image" Target="../media/image126.png"/><Relationship Id="rId4" Type="http://schemas.openxmlformats.org/officeDocument/2006/relationships/image" Target="../media/image111.svg"/><Relationship Id="rId9" Type="http://schemas.openxmlformats.org/officeDocument/2006/relationships/image" Target="../media/image116.png"/><Relationship Id="rId14" Type="http://schemas.openxmlformats.org/officeDocument/2006/relationships/image" Target="../media/image121.svg"/><Relationship Id="rId22" Type="http://schemas.openxmlformats.org/officeDocument/2006/relationships/image" Target="../media/image129.svg"/><Relationship Id="rId27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26.png"/><Relationship Id="rId3" Type="http://schemas.openxmlformats.org/officeDocument/2006/relationships/image" Target="../media/image137.png"/><Relationship Id="rId7" Type="http://schemas.openxmlformats.org/officeDocument/2006/relationships/image" Target="../media/image141.sv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" Type="http://schemas.openxmlformats.org/officeDocument/2006/relationships/image" Target="../media/image134.png"/><Relationship Id="rId16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svg"/><Relationship Id="rId5" Type="http://schemas.openxmlformats.org/officeDocument/2006/relationships/image" Target="../media/image139.svg"/><Relationship Id="rId15" Type="http://schemas.openxmlformats.org/officeDocument/2006/relationships/image" Target="../media/image149.sv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svg"/><Relationship Id="rId14" Type="http://schemas.openxmlformats.org/officeDocument/2006/relationships/image" Target="../media/image1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svg"/><Relationship Id="rId13" Type="http://schemas.openxmlformats.org/officeDocument/2006/relationships/image" Target="../media/image161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sv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0" Type="http://schemas.openxmlformats.org/officeDocument/2006/relationships/image" Target="../media/image158.sv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svg"/><Relationship Id="rId13" Type="http://schemas.openxmlformats.org/officeDocument/2006/relationships/image" Target="../media/image162.png"/><Relationship Id="rId18" Type="http://schemas.openxmlformats.org/officeDocument/2006/relationships/image" Target="../media/image167.sv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6.png"/><Relationship Id="rId2" Type="http://schemas.openxmlformats.org/officeDocument/2006/relationships/image" Target="../media/image150.png"/><Relationship Id="rId16" Type="http://schemas.openxmlformats.org/officeDocument/2006/relationships/image" Target="../media/image16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sv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5" Type="http://schemas.openxmlformats.org/officeDocument/2006/relationships/image" Target="../media/image164.png"/><Relationship Id="rId10" Type="http://schemas.openxmlformats.org/officeDocument/2006/relationships/image" Target="../media/image158.svg"/><Relationship Id="rId19" Type="http://schemas.openxmlformats.org/officeDocument/2006/relationships/image" Target="../media/image26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</a:t>
            </a:r>
            <a:r>
              <a:rPr lang="en-US"/>
              <a:t>physics phy301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Fluctuation, Brownian motion and diffusion, fluctuation and dissipation</a:t>
            </a:r>
          </a:p>
        </p:txBody>
      </p:sp>
    </p:spTree>
    <p:extLst>
      <p:ext uri="{BB962C8B-B14F-4D97-AF65-F5344CB8AC3E}">
        <p14:creationId xmlns:p14="http://schemas.microsoft.com/office/powerpoint/2010/main" val="35864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ensemble models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62" y="2009000"/>
            <a:ext cx="7958918" cy="20919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1C48E0D-A597-426D-BCEF-B080EA81D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265" y="5888604"/>
            <a:ext cx="1701709" cy="7022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9D82A9-3748-48EC-AFC0-584C4189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170" y="3929102"/>
            <a:ext cx="1832059" cy="3221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10E5ED-A865-457B-8688-5F65A0705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064" y="5529339"/>
            <a:ext cx="1832059" cy="32184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B48F69-4177-49A4-966C-939400259E71}"/>
              </a:ext>
            </a:extLst>
          </p:cNvPr>
          <p:cNvGrpSpPr/>
          <p:nvPr/>
        </p:nvGrpSpPr>
        <p:grpSpPr>
          <a:xfrm>
            <a:off x="2961205" y="5968691"/>
            <a:ext cx="1459988" cy="738294"/>
            <a:chOff x="8580652" y="3243080"/>
            <a:chExt cx="1459988" cy="73829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5A29724-2451-499D-955E-3BB05FAC5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86475"/>
            <a:stretch/>
          </p:blipFill>
          <p:spPr>
            <a:xfrm>
              <a:off x="8580652" y="3243081"/>
              <a:ext cx="729994" cy="73829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B56EE30-CC54-43D4-BCBA-3ADC0C7367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6475"/>
            <a:stretch/>
          </p:blipFill>
          <p:spPr>
            <a:xfrm>
              <a:off x="9310646" y="3243080"/>
              <a:ext cx="729994" cy="73829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85D330-62F2-42D4-8398-102ED45DFE79}"/>
              </a:ext>
            </a:extLst>
          </p:cNvPr>
          <p:cNvSpPr txBox="1"/>
          <p:nvPr/>
        </p:nvSpPr>
        <p:spPr>
          <a:xfrm>
            <a:off x="413886" y="39585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167FAFE-D2B4-4616-A65C-47D836EBA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6413" y="3910825"/>
            <a:ext cx="788621" cy="49069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6F2EBCB-795F-48B7-855F-9548A8122B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71916" y="3999506"/>
            <a:ext cx="2231603" cy="38810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6F90A3-E3BB-43E9-B1F1-A12EC899F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0694" y="4434201"/>
            <a:ext cx="2323673" cy="41707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193AE23-BD58-49AD-BAC3-508A5D46B61E}"/>
              </a:ext>
            </a:extLst>
          </p:cNvPr>
          <p:cNvSpPr txBox="1"/>
          <p:nvPr/>
        </p:nvSpPr>
        <p:spPr>
          <a:xfrm>
            <a:off x="420528" y="4431203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3E4E4AEB-1558-464D-8D5D-DA424D8A2D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06957" y="4431203"/>
            <a:ext cx="1076476" cy="4784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B542344-ABDC-4A1B-8163-FE4EEA9526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9030" y="4383354"/>
            <a:ext cx="2531407" cy="536315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311A117-776A-404C-B1E6-1BF549661620}"/>
              </a:ext>
            </a:extLst>
          </p:cNvPr>
          <p:cNvGrpSpPr/>
          <p:nvPr/>
        </p:nvGrpSpPr>
        <p:grpSpPr>
          <a:xfrm>
            <a:off x="8443741" y="5394650"/>
            <a:ext cx="2775974" cy="828915"/>
            <a:chOff x="7779806" y="5487521"/>
            <a:chExt cx="2775974" cy="828915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8D80917-F0D2-40CF-A6FC-3DEF57DD7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43700" y="6092343"/>
              <a:ext cx="1701709" cy="2240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209DC4-69FE-40E7-9B61-B18119C79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r="32626"/>
            <a:stretch/>
          </p:blipFill>
          <p:spPr>
            <a:xfrm>
              <a:off x="7779806" y="5487521"/>
              <a:ext cx="2775974" cy="494432"/>
            </a:xfrm>
            <a:prstGeom prst="rect">
              <a:avLst/>
            </a:prstGeom>
          </p:spPr>
        </p:pic>
      </p:grpSp>
      <p:pic>
        <p:nvPicPr>
          <p:cNvPr id="54" name="Graphic 53">
            <a:extLst>
              <a:ext uri="{FF2B5EF4-FFF2-40B4-BE49-F238E27FC236}">
                <a16:creationId xmlns:a16="http://schemas.microsoft.com/office/drawing/2014/main" id="{28780D82-5464-41EF-8C11-8481A6D0D4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64504" y="6189694"/>
            <a:ext cx="1401030" cy="708386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1F5ADAA-735A-4779-97DF-9169B3166B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934780" y="5532577"/>
            <a:ext cx="1511875" cy="41706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9F944D7-58B3-4563-A388-0C74D4C085BD}"/>
              </a:ext>
            </a:extLst>
          </p:cNvPr>
          <p:cNvSpPr txBox="1"/>
          <p:nvPr/>
        </p:nvSpPr>
        <p:spPr>
          <a:xfrm>
            <a:off x="3209899" y="5199334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Canonical</a:t>
            </a:r>
            <a:endParaRPr lang="en-MY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401B50-5246-45DD-8DB9-545680EEF188}"/>
              </a:ext>
            </a:extLst>
          </p:cNvPr>
          <p:cNvSpPr txBox="1"/>
          <p:nvPr/>
        </p:nvSpPr>
        <p:spPr>
          <a:xfrm>
            <a:off x="5719064" y="51073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2EFA9F-4B38-47B2-93EC-8A784FE3151D}"/>
              </a:ext>
            </a:extLst>
          </p:cNvPr>
          <p:cNvSpPr txBox="1"/>
          <p:nvPr/>
        </p:nvSpPr>
        <p:spPr>
          <a:xfrm>
            <a:off x="8452471" y="5051801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DB79F3-1345-48A9-9822-10FB17013B66}"/>
              </a:ext>
            </a:extLst>
          </p:cNvPr>
          <p:cNvSpPr txBox="1"/>
          <p:nvPr/>
        </p:nvSpPr>
        <p:spPr>
          <a:xfrm>
            <a:off x="171682" y="4851271"/>
            <a:ext cx="369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Connection to thermodynamics:</a:t>
            </a:r>
            <a:endParaRPr lang="en-MY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D46C30-62DC-46F6-813F-AC4B4F4F595F}"/>
              </a:ext>
            </a:extLst>
          </p:cNvPr>
          <p:cNvSpPr txBox="1"/>
          <p:nvPr/>
        </p:nvSpPr>
        <p:spPr>
          <a:xfrm>
            <a:off x="231017" y="5172408"/>
            <a:ext cx="173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Microcanonical</a:t>
            </a:r>
            <a:endParaRPr lang="en-MY" dirty="0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CDDE88A7-6762-4566-B88E-5ED1AAE9DB1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2510" y="5666080"/>
            <a:ext cx="1017085" cy="6942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6C7683-FA0A-4691-970D-B5868A5B3F6F}"/>
              </a:ext>
            </a:extLst>
          </p:cNvPr>
          <p:cNvSpPr/>
          <p:nvPr/>
        </p:nvSpPr>
        <p:spPr>
          <a:xfrm>
            <a:off x="231018" y="5151872"/>
            <a:ext cx="11280798" cy="16243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536AD-EA06-4ABB-8BE3-BCA1B5CF284C}"/>
              </a:ext>
            </a:extLst>
          </p:cNvPr>
          <p:cNvSpPr txBox="1"/>
          <p:nvPr/>
        </p:nvSpPr>
        <p:spPr>
          <a:xfrm>
            <a:off x="8878346" y="3856432"/>
            <a:ext cx="263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Thermodynamics (quantum or classical) =&gt; </a:t>
            </a:r>
            <a:r>
              <a:rPr lang="en-MY" b="1" dirty="0" err="1">
                <a:solidFill>
                  <a:srgbClr val="FF0000"/>
                </a:solidFill>
              </a:rPr>
              <a:t>Macrostates</a:t>
            </a:r>
            <a:endParaRPr lang="en-MY" b="1" dirty="0">
              <a:solidFill>
                <a:srgbClr val="FF0000"/>
              </a:solidFill>
            </a:endParaRPr>
          </a:p>
          <a:p>
            <a:r>
              <a:rPr lang="en-MY" b="1" dirty="0">
                <a:solidFill>
                  <a:srgbClr val="FF0000"/>
                </a:solidFill>
              </a:rPr>
              <a:t>=&gt;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B7C8A-D9BA-4E17-B4BE-CC8F6D82D875}"/>
              </a:ext>
            </a:extLst>
          </p:cNvPr>
          <p:cNvSpPr txBox="1"/>
          <p:nvPr/>
        </p:nvSpPr>
        <p:spPr>
          <a:xfrm>
            <a:off x="8497714" y="808024"/>
            <a:ext cx="3134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The details of the fluctuation is not important: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635AF2A-49EA-4D6B-B1EB-7BD1A8BFEB6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77603" y="1329063"/>
            <a:ext cx="2645483" cy="19794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0E99916-8294-47EA-891C-D5140CE6DC25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7619" t="-25299" b="-1"/>
          <a:stretch/>
        </p:blipFill>
        <p:spPr>
          <a:xfrm>
            <a:off x="9578846" y="3319086"/>
            <a:ext cx="2330707" cy="351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3E006A-599E-44C7-BF80-A630E7EED69A}"/>
              </a:ext>
            </a:extLst>
          </p:cNvPr>
          <p:cNvSpPr txBox="1"/>
          <p:nvPr/>
        </p:nvSpPr>
        <p:spPr>
          <a:xfrm>
            <a:off x="9574668" y="1549466"/>
            <a:ext cx="144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Energy: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D240E4-3AE7-4A60-89E1-0F633BA50BEB}"/>
              </a:ext>
            </a:extLst>
          </p:cNvPr>
          <p:cNvSpPr txBox="1"/>
          <p:nvPr/>
        </p:nvSpPr>
        <p:spPr>
          <a:xfrm>
            <a:off x="8661787" y="3309987"/>
            <a:ext cx="144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Particles: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607320C-4869-4387-83AF-CD09C1A370D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4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vs Fluctuations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A97E8-2856-42BA-B9AC-B8446B3D2611}"/>
              </a:ext>
            </a:extLst>
          </p:cNvPr>
          <p:cNvSpPr txBox="1"/>
          <p:nvPr/>
        </p:nvSpPr>
        <p:spPr>
          <a:xfrm flipH="1">
            <a:off x="1251284" y="4158113"/>
            <a:ext cx="10520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000" dirty="0"/>
              <a:t>Small scale =&gt; Brownian motions: thermal effects on single particle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000" dirty="0"/>
              <a:t>Out-of-equilibrium =&gt; transport phenomena: thermal motion of the underlying particles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B4004-13E3-4CD3-A7B9-6ED6A3D41E77}"/>
              </a:ext>
            </a:extLst>
          </p:cNvPr>
          <p:cNvSpPr txBox="1"/>
          <p:nvPr/>
        </p:nvSpPr>
        <p:spPr>
          <a:xfrm>
            <a:off x="3751147" y="2786862"/>
            <a:ext cx="468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/>
              <a:t>Fluctuations are important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3B4B3-30DE-49F8-B8E3-D24476DA5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Brownian motion</a:t>
            </a:r>
            <a:endParaRPr lang="en-MY" dirty="0"/>
          </a:p>
        </p:txBody>
      </p:sp>
      <p:pic>
        <p:nvPicPr>
          <p:cNvPr id="1026" name="Picture 2" descr="Brownian Motion in Nanotechnology">
            <a:extLst>
              <a:ext uri="{FF2B5EF4-FFF2-40B4-BE49-F238E27FC236}">
                <a16:creationId xmlns:a16="http://schemas.microsoft.com/office/drawing/2014/main" id="{D232838C-7183-4A1F-8E72-84BDE1A5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1" y="2926431"/>
            <a:ext cx="451485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9F4D46-66CF-4BDF-9E84-C4138894A972}"/>
              </a:ext>
            </a:extLst>
          </p:cNvPr>
          <p:cNvSpPr txBox="1"/>
          <p:nvPr/>
        </p:nvSpPr>
        <p:spPr>
          <a:xfrm>
            <a:off x="796991" y="2320965"/>
            <a:ext cx="5786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Background is the reservoir in thermal equilibrium.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A8D03-D343-4837-9FCC-F59B836BAE6F}"/>
              </a:ext>
            </a:extLst>
          </p:cNvPr>
          <p:cNvSpPr txBox="1"/>
          <p:nvPr/>
        </p:nvSpPr>
        <p:spPr>
          <a:xfrm>
            <a:off x="796990" y="5515240"/>
            <a:ext cx="808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For 1 particle system is obviously not describe by thermodynamics.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Average behaviour is boring and do not tell us much information.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E86DF2-CA17-4E83-AF5D-770F735C42B5}"/>
              </a:ext>
            </a:extLst>
          </p:cNvPr>
          <p:cNvGrpSpPr/>
          <p:nvPr/>
        </p:nvGrpSpPr>
        <p:grpSpPr>
          <a:xfrm>
            <a:off x="4639377" y="2690297"/>
            <a:ext cx="7113069" cy="899926"/>
            <a:chOff x="4639377" y="2690297"/>
            <a:chExt cx="7113069" cy="89992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1EF302-954B-445C-B513-EC42F5FEB80A}"/>
                </a:ext>
              </a:extLst>
            </p:cNvPr>
            <p:cNvSpPr txBox="1"/>
            <p:nvPr/>
          </p:nvSpPr>
          <p:spPr>
            <a:xfrm>
              <a:off x="6400799" y="2690297"/>
              <a:ext cx="53516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We want to model the fluctuation of the motion due to the interaction with the thermal system.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61074A4-0101-483D-B5C8-9020B834627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4639377" y="3013463"/>
              <a:ext cx="1761422" cy="576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1C3AE8B-945C-4013-A30D-0B964A838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1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Renaissance Technologies - The Hedge Fund That's Changing the Game">
            <a:extLst>
              <a:ext uri="{FF2B5EF4-FFF2-40B4-BE49-F238E27FC236}">
                <a16:creationId xmlns:a16="http://schemas.microsoft.com/office/drawing/2014/main" id="{B92A9516-9ECF-4C5E-91D5-18A9D94B86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87" b="32145"/>
          <a:stretch/>
        </p:blipFill>
        <p:spPr bwMode="auto">
          <a:xfrm>
            <a:off x="7116416" y="3266776"/>
            <a:ext cx="3090311" cy="72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81541A-CC91-4950-9DBF-DE53BBDE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Real-world example:</a:t>
            </a:r>
          </a:p>
        </p:txBody>
      </p:sp>
      <p:pic>
        <p:nvPicPr>
          <p:cNvPr id="2056" name="Picture 8" descr="2160x1440 resolution | 100 U.S. dollar banknote lot, money, dollar ...">
            <a:extLst>
              <a:ext uri="{FF2B5EF4-FFF2-40B4-BE49-F238E27FC236}">
                <a16:creationId xmlns:a16="http://schemas.microsoft.com/office/drawing/2014/main" id="{454444CD-1179-4079-A9D2-B45A6BCA6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0" y="4671260"/>
            <a:ext cx="3288632" cy="184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w Jones Market Futures: What To Do In New Stock Market Rally - TechStory">
            <a:extLst>
              <a:ext uri="{FF2B5EF4-FFF2-40B4-BE49-F238E27FC236}">
                <a16:creationId xmlns:a16="http://schemas.microsoft.com/office/drawing/2014/main" id="{442DEF44-794B-4A58-963C-1C6AD4611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100" y="2084832"/>
            <a:ext cx="4182316" cy="278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2662CCC-CEB4-4EBA-8FC7-F4EF13BF24C2}"/>
              </a:ext>
            </a:extLst>
          </p:cNvPr>
          <p:cNvSpPr/>
          <p:nvPr/>
        </p:nvSpPr>
        <p:spPr>
          <a:xfrm rot="19319627">
            <a:off x="1795661" y="3785994"/>
            <a:ext cx="1122306" cy="438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B0DA17F-1AA1-4481-A542-6FFBC6FA198D}"/>
              </a:ext>
            </a:extLst>
          </p:cNvPr>
          <p:cNvSpPr/>
          <p:nvPr/>
        </p:nvSpPr>
        <p:spPr>
          <a:xfrm rot="19319627">
            <a:off x="3973937" y="5166881"/>
            <a:ext cx="1122306" cy="438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A8CF8-F075-4B38-8961-E9AC9F30D356}"/>
              </a:ext>
            </a:extLst>
          </p:cNvPr>
          <p:cNvSpPr txBox="1"/>
          <p:nvPr/>
        </p:nvSpPr>
        <p:spPr>
          <a:xfrm>
            <a:off x="7267074" y="2281187"/>
            <a:ext cx="455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The fluctuations of the stock price is driven by million of transaction in the background.</a:t>
            </a:r>
          </a:p>
        </p:txBody>
      </p:sp>
      <p:pic>
        <p:nvPicPr>
          <p:cNvPr id="2062" name="Picture 14" descr="Renaissance Technologies’ Big Year Should Scare Many | by Doctor Stock ...">
            <a:extLst>
              <a:ext uri="{FF2B5EF4-FFF2-40B4-BE49-F238E27FC236}">
                <a16:creationId xmlns:a16="http://schemas.microsoft.com/office/drawing/2014/main" id="{2AC8B193-5168-498C-8EEC-502093645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374" y="3960332"/>
            <a:ext cx="3520147" cy="233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5E299-6B09-4C1D-8537-995E70AE3EBC}"/>
              </a:ext>
            </a:extLst>
          </p:cNvPr>
          <p:cNvSpPr txBox="1"/>
          <p:nvPr/>
        </p:nvSpPr>
        <p:spPr>
          <a:xfrm flipH="1">
            <a:off x="5564764" y="6455374"/>
            <a:ext cx="652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Black-Scholes price model use the concept of Brownian motion.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0C8C7-F8E2-467F-9AC4-86ADC4065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1C3C46-D6FE-444B-9437-0CA5EBBFF5D2}"/>
              </a:ext>
            </a:extLst>
          </p:cNvPr>
          <p:cNvSpPr txBox="1"/>
          <p:nvPr/>
        </p:nvSpPr>
        <p:spPr>
          <a:xfrm>
            <a:off x="10286553" y="3257151"/>
            <a:ext cx="2013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Y" b="0" i="0" dirty="0">
                <a:solidFill>
                  <a:srgbClr val="101418"/>
                </a:solidFill>
                <a:effectLst/>
                <a:latin typeface="Linux Libertine"/>
              </a:rPr>
              <a:t>Jim Simons</a:t>
            </a:r>
          </a:p>
          <a:p>
            <a:r>
              <a:rPr lang="en-MY" dirty="0"/>
              <a:t>(Mathematician)</a:t>
            </a:r>
          </a:p>
        </p:txBody>
      </p:sp>
    </p:spTree>
    <p:extLst>
      <p:ext uri="{BB962C8B-B14F-4D97-AF65-F5344CB8AC3E}">
        <p14:creationId xmlns:p14="http://schemas.microsoft.com/office/powerpoint/2010/main" val="109709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AB08B2-6858-4260-8691-6A16B3C1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407" y="4985161"/>
            <a:ext cx="2661651" cy="1795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E042CB-25E8-4EEF-B654-CDCFB01C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Einstein-</a:t>
            </a:r>
            <a:r>
              <a:rPr lang="en-MY" dirty="0" err="1"/>
              <a:t>Smoluchowski</a:t>
            </a:r>
            <a:r>
              <a:rPr lang="en-MY" dirty="0"/>
              <a:t> theory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2C307-6C4F-461F-840D-B9E7DAA6F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8" y="4731562"/>
            <a:ext cx="3202686" cy="689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AD0BB8-A4FB-4F1C-A1B4-F1D4DC4C4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63" y="5585424"/>
            <a:ext cx="2029108" cy="428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307361-2C3E-4FB8-AB02-5FD086820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61"/>
          <a:stretch/>
        </p:blipFill>
        <p:spPr bwMode="auto">
          <a:xfrm>
            <a:off x="581861" y="3333750"/>
            <a:ext cx="3698039" cy="681747"/>
          </a:xfrm>
          <a:custGeom>
            <a:avLst/>
            <a:gdLst>
              <a:gd name="connsiteX0" fmla="*/ 429567 w 3698039"/>
              <a:gd name="connsiteY0" fmla="*/ 79375 h 681747"/>
              <a:gd name="connsiteX1" fmla="*/ 429567 w 3698039"/>
              <a:gd name="connsiteY1" fmla="*/ 263525 h 681747"/>
              <a:gd name="connsiteX2" fmla="*/ 1070917 w 3698039"/>
              <a:gd name="connsiteY2" fmla="*/ 263525 h 681747"/>
              <a:gd name="connsiteX3" fmla="*/ 1070917 w 3698039"/>
              <a:gd name="connsiteY3" fmla="*/ 79375 h 681747"/>
              <a:gd name="connsiteX4" fmla="*/ 2218489 w 3698039"/>
              <a:gd name="connsiteY4" fmla="*/ 76200 h 681747"/>
              <a:gd name="connsiteX5" fmla="*/ 2218489 w 3698039"/>
              <a:gd name="connsiteY5" fmla="*/ 260350 h 681747"/>
              <a:gd name="connsiteX6" fmla="*/ 2859839 w 3698039"/>
              <a:gd name="connsiteY6" fmla="*/ 260350 h 681747"/>
              <a:gd name="connsiteX7" fmla="*/ 2859839 w 3698039"/>
              <a:gd name="connsiteY7" fmla="*/ 76200 h 681747"/>
              <a:gd name="connsiteX8" fmla="*/ 0 w 3698039"/>
              <a:gd name="connsiteY8" fmla="*/ 0 h 681747"/>
              <a:gd name="connsiteX9" fmla="*/ 1532689 w 3698039"/>
              <a:gd name="connsiteY9" fmla="*/ 0 h 681747"/>
              <a:gd name="connsiteX10" fmla="*/ 1532689 w 3698039"/>
              <a:gd name="connsiteY10" fmla="*/ 31750 h 681747"/>
              <a:gd name="connsiteX11" fmla="*/ 2174039 w 3698039"/>
              <a:gd name="connsiteY11" fmla="*/ 31750 h 681747"/>
              <a:gd name="connsiteX12" fmla="*/ 2174039 w 3698039"/>
              <a:gd name="connsiteY12" fmla="*/ 0 h 681747"/>
              <a:gd name="connsiteX13" fmla="*/ 3698039 w 3698039"/>
              <a:gd name="connsiteY13" fmla="*/ 0 h 681747"/>
              <a:gd name="connsiteX14" fmla="*/ 3698039 w 3698039"/>
              <a:gd name="connsiteY14" fmla="*/ 681747 h 681747"/>
              <a:gd name="connsiteX15" fmla="*/ 0 w 3698039"/>
              <a:gd name="connsiteY15" fmla="*/ 681747 h 68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98039" h="681747">
                <a:moveTo>
                  <a:pt x="429567" y="79375"/>
                </a:moveTo>
                <a:lnTo>
                  <a:pt x="429567" y="263525"/>
                </a:lnTo>
                <a:lnTo>
                  <a:pt x="1070917" y="263525"/>
                </a:lnTo>
                <a:lnTo>
                  <a:pt x="1070917" y="79375"/>
                </a:lnTo>
                <a:close/>
                <a:moveTo>
                  <a:pt x="2218489" y="76200"/>
                </a:moveTo>
                <a:lnTo>
                  <a:pt x="2218489" y="260350"/>
                </a:lnTo>
                <a:lnTo>
                  <a:pt x="2859839" y="260350"/>
                </a:lnTo>
                <a:lnTo>
                  <a:pt x="2859839" y="76200"/>
                </a:lnTo>
                <a:close/>
                <a:moveTo>
                  <a:pt x="0" y="0"/>
                </a:moveTo>
                <a:lnTo>
                  <a:pt x="1532689" y="0"/>
                </a:lnTo>
                <a:lnTo>
                  <a:pt x="1532689" y="31750"/>
                </a:lnTo>
                <a:lnTo>
                  <a:pt x="2174039" y="31750"/>
                </a:lnTo>
                <a:lnTo>
                  <a:pt x="2174039" y="0"/>
                </a:lnTo>
                <a:lnTo>
                  <a:pt x="3698039" y="0"/>
                </a:lnTo>
                <a:lnTo>
                  <a:pt x="3698039" y="681747"/>
                </a:lnTo>
                <a:lnTo>
                  <a:pt x="0" y="68174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73468E1-7BB4-4EEE-981F-87813F678D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5099" y="3025466"/>
            <a:ext cx="277813" cy="392207"/>
          </a:xfrm>
          <a:prstGeom prst="rect">
            <a:avLst/>
          </a:prstGeom>
        </p:spPr>
      </p:pic>
      <p:sp>
        <p:nvSpPr>
          <p:cNvPr id="21" name="Right Brace 20">
            <a:extLst>
              <a:ext uri="{FF2B5EF4-FFF2-40B4-BE49-F238E27FC236}">
                <a16:creationId xmlns:a16="http://schemas.microsoft.com/office/drawing/2014/main" id="{235395F5-7180-4A54-915C-F6200A43E64D}"/>
              </a:ext>
            </a:extLst>
          </p:cNvPr>
          <p:cNvSpPr/>
          <p:nvPr/>
        </p:nvSpPr>
        <p:spPr>
          <a:xfrm rot="16200000">
            <a:off x="3517901" y="3306027"/>
            <a:ext cx="298450" cy="3515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B69FF0E-2986-4E0B-BDD6-DCED374E2B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812" y="2137862"/>
            <a:ext cx="1496197" cy="3922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4052BE68-2594-4C63-A8AE-0BB515F34C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1812" y="2446146"/>
            <a:ext cx="2222506" cy="39220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307B872-04EF-483C-B4E5-ECDCB55190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43065" y="4015497"/>
            <a:ext cx="623888" cy="30530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B603416-96C0-4946-8BD2-6A6A684365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43065" y="4236165"/>
            <a:ext cx="716686" cy="274729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E2B77F-9B1C-4CA0-AC33-B5B311B4614F}"/>
              </a:ext>
            </a:extLst>
          </p:cNvPr>
          <p:cNvCxnSpPr>
            <a:cxnSpLocks/>
          </p:cNvCxnSpPr>
          <p:nvPr/>
        </p:nvCxnSpPr>
        <p:spPr>
          <a:xfrm>
            <a:off x="1011428" y="3406775"/>
            <a:ext cx="404622" cy="4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8474D7-F2B4-4A17-A73C-6527ADADAE74}"/>
              </a:ext>
            </a:extLst>
          </p:cNvPr>
          <p:cNvCxnSpPr>
            <a:cxnSpLocks/>
          </p:cNvCxnSpPr>
          <p:nvPr/>
        </p:nvCxnSpPr>
        <p:spPr>
          <a:xfrm flipH="1">
            <a:off x="588211" y="3408577"/>
            <a:ext cx="404622" cy="4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888A37-EE1D-4FBF-8651-520CAD5E1B24}"/>
              </a:ext>
            </a:extLst>
          </p:cNvPr>
          <p:cNvSpPr txBox="1"/>
          <p:nvPr/>
        </p:nvSpPr>
        <p:spPr>
          <a:xfrm>
            <a:off x="339490" y="3122819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1/2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7DC95E-0779-46C2-A485-473965DDBD3F}"/>
              </a:ext>
            </a:extLst>
          </p:cNvPr>
          <p:cNvSpPr txBox="1"/>
          <p:nvPr/>
        </p:nvSpPr>
        <p:spPr>
          <a:xfrm>
            <a:off x="1201039" y="3121223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1/2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04BEDE-6350-412C-B1A2-111C448913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4248" y="6300109"/>
            <a:ext cx="818224" cy="35704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139FBB9-B469-4127-A511-122E1AB65AC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82893" y="6352603"/>
            <a:ext cx="782062" cy="33516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0966F81-4F6B-438C-8629-FD57FC3132F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25886" y="2035003"/>
            <a:ext cx="774914" cy="33380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4DF6AE8-EE8D-4850-B34C-6E246993B24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28777" y="1949882"/>
            <a:ext cx="3266115" cy="52679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DF39A3F-17BE-4FD9-922B-B1664987789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9873" y="2601487"/>
            <a:ext cx="3389075" cy="435587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C24DB06-C511-40A6-9FD8-2829C54EE72D}"/>
              </a:ext>
            </a:extLst>
          </p:cNvPr>
          <p:cNvSpPr/>
          <p:nvPr/>
        </p:nvSpPr>
        <p:spPr>
          <a:xfrm>
            <a:off x="6400800" y="2684267"/>
            <a:ext cx="3609457" cy="43558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5989268-B6B1-4476-99C9-CF74A4F73AB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76130" y="3443983"/>
            <a:ext cx="5410955" cy="115268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6E36E60-4A9A-4C6E-AB3F-FCB982432A3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42344" y="4731562"/>
            <a:ext cx="6977128" cy="25313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470BD1E-3081-44E1-B213-9CAB9A8AABB5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r="2852" b="58375"/>
          <a:stretch/>
        </p:blipFill>
        <p:spPr>
          <a:xfrm>
            <a:off x="6728777" y="6059871"/>
            <a:ext cx="2933700" cy="6860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34510DC-E087-403D-81D6-9C876F070115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29505" t="77927" r="26446" b="409"/>
          <a:stretch/>
        </p:blipFill>
        <p:spPr>
          <a:xfrm>
            <a:off x="10213019" y="6224352"/>
            <a:ext cx="1330197" cy="35704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F446047-AC3C-4B7E-BC11-B02885187E15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t="18613"/>
          <a:stretch/>
        </p:blipFill>
        <p:spPr>
          <a:xfrm>
            <a:off x="6491860" y="5165794"/>
            <a:ext cx="3134655" cy="60079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4034156-69B8-4EEA-BB2C-C069CC86E7F6}"/>
              </a:ext>
            </a:extLst>
          </p:cNvPr>
          <p:cNvSpPr txBox="1"/>
          <p:nvPr/>
        </p:nvSpPr>
        <p:spPr>
          <a:xfrm>
            <a:off x="10213019" y="2530069"/>
            <a:ext cx="1727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Grow with time</a:t>
            </a:r>
          </a:p>
          <a:p>
            <a:r>
              <a:rPr lang="en-MY" dirty="0"/>
              <a:t>=&gt; diffusion.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06BC0C-7725-433B-B876-7BD3565EEB6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2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42CB-25E8-4EEF-B654-CDCFB01C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4841"/>
            <a:ext cx="9720072" cy="1499616"/>
          </a:xfrm>
        </p:spPr>
        <p:txBody>
          <a:bodyPr/>
          <a:lstStyle/>
          <a:p>
            <a:r>
              <a:rPr lang="en-MY" dirty="0"/>
              <a:t>Einstein-</a:t>
            </a:r>
            <a:r>
              <a:rPr lang="en-MY" dirty="0" err="1"/>
              <a:t>Smoluchowski</a:t>
            </a:r>
            <a:r>
              <a:rPr lang="en-MY" dirty="0"/>
              <a:t> theory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470BD1E-3081-44E1-B213-9CAB9A8AAB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52" b="58375"/>
          <a:stretch/>
        </p:blipFill>
        <p:spPr>
          <a:xfrm>
            <a:off x="1024128" y="2450397"/>
            <a:ext cx="2933700" cy="6860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34510DC-E087-403D-81D6-9C876F070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505" t="77927" r="26446" b="409"/>
          <a:stretch/>
        </p:blipFill>
        <p:spPr>
          <a:xfrm>
            <a:off x="4418610" y="2601604"/>
            <a:ext cx="1330197" cy="35704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3AA4775-546F-4A87-BC18-F0E653D18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51" y="3596973"/>
            <a:ext cx="2934109" cy="676369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FC0ECB1A-A42F-4258-A5E4-371ABB330ABE}"/>
              </a:ext>
            </a:extLst>
          </p:cNvPr>
          <p:cNvSpPr/>
          <p:nvPr/>
        </p:nvSpPr>
        <p:spPr>
          <a:xfrm>
            <a:off x="2427007" y="3169551"/>
            <a:ext cx="204096" cy="5213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5DD63-25E4-4B02-AB48-6F02E33C9859}"/>
              </a:ext>
            </a:extLst>
          </p:cNvPr>
          <p:cNvSpPr txBox="1"/>
          <p:nvPr/>
        </p:nvSpPr>
        <p:spPr>
          <a:xfrm>
            <a:off x="1953279" y="3177173"/>
            <a:ext cx="55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3D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F9325D-0A3C-4508-9B27-CE21607C3D0F}"/>
              </a:ext>
            </a:extLst>
          </p:cNvPr>
          <p:cNvCxnSpPr>
            <a:cxnSpLocks/>
          </p:cNvCxnSpPr>
          <p:nvPr/>
        </p:nvCxnSpPr>
        <p:spPr>
          <a:xfrm flipV="1">
            <a:off x="1110725" y="4093388"/>
            <a:ext cx="171528" cy="17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EB7716F-56CB-46C9-95F8-25A5A2DABA4E}"/>
              </a:ext>
            </a:extLst>
          </p:cNvPr>
          <p:cNvSpPr txBox="1"/>
          <p:nvPr/>
        </p:nvSpPr>
        <p:spPr>
          <a:xfrm>
            <a:off x="188125" y="4258192"/>
            <a:ext cx="171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Particle density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5D841C-48FF-4A95-9432-7FAC444D2532}"/>
              </a:ext>
            </a:extLst>
          </p:cNvPr>
          <p:cNvSpPr txBox="1"/>
          <p:nvPr/>
        </p:nvSpPr>
        <p:spPr>
          <a:xfrm>
            <a:off x="4397486" y="3627011"/>
            <a:ext cx="1724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Density diluted in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ABF12-2874-41BA-BEAA-25B0C93B3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080"/>
          <a:stretch/>
        </p:blipFill>
        <p:spPr>
          <a:xfrm>
            <a:off x="1021320" y="5467333"/>
            <a:ext cx="2560461" cy="55374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4955A93-F1CB-423F-AF0A-D7319620867E}"/>
              </a:ext>
            </a:extLst>
          </p:cNvPr>
          <p:cNvSpPr txBox="1"/>
          <p:nvPr/>
        </p:nvSpPr>
        <p:spPr>
          <a:xfrm>
            <a:off x="205618" y="4824108"/>
            <a:ext cx="419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Random walk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⇒ </a:t>
            </a:r>
            <a:r>
              <a:rPr lang="en-MY" b="1" dirty="0"/>
              <a:t>Diffusion equation: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D5494-CE05-4D0C-B61E-A52944E0176F}"/>
              </a:ext>
            </a:extLst>
          </p:cNvPr>
          <p:cNvSpPr txBox="1"/>
          <p:nvPr/>
        </p:nvSpPr>
        <p:spPr>
          <a:xfrm>
            <a:off x="6311288" y="2061280"/>
            <a:ext cx="588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Derive diffusion from the perspective of distribution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CD20D-D856-4E01-9A26-E7FE0A8522BD}"/>
              </a:ext>
            </a:extLst>
          </p:cNvPr>
          <p:cNvSpPr txBox="1"/>
          <p:nvPr/>
        </p:nvSpPr>
        <p:spPr>
          <a:xfrm>
            <a:off x="6415113" y="2501248"/>
            <a:ext cx="216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time interval </a:t>
            </a:r>
            <a:endParaRPr lang="en-MY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14E46D1-0DA8-421B-B980-202DA13548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6345" y="2460022"/>
            <a:ext cx="1106486" cy="49177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A5721CC-4A69-48A2-AD57-D12212AD4CDB}"/>
              </a:ext>
            </a:extLst>
          </p:cNvPr>
          <p:cNvSpPr txBox="1"/>
          <p:nvPr/>
        </p:nvSpPr>
        <p:spPr>
          <a:xfrm>
            <a:off x="6379665" y="2998611"/>
            <a:ext cx="291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The particle is displaced by</a:t>
            </a:r>
            <a:endParaRPr lang="en-MY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E156B9F-1375-4D4B-8916-A02A9BE2B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2133" y="2963573"/>
            <a:ext cx="1363295" cy="44845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82F96C1-5A38-4C24-AB44-864542DC66A5}"/>
              </a:ext>
            </a:extLst>
          </p:cNvPr>
          <p:cNvSpPr txBox="1"/>
          <p:nvPr/>
        </p:nvSpPr>
        <p:spPr>
          <a:xfrm>
            <a:off x="6415113" y="3523955"/>
            <a:ext cx="3535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probability to be displaced by</a:t>
            </a:r>
            <a:endParaRPr lang="en-MY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EC96849-366D-47EF-AED1-A6A3B36EBF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91903" y="3507446"/>
            <a:ext cx="1251442" cy="41714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5AEFB4F-7078-4277-83D8-95F450ED8A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95151" y="3983264"/>
            <a:ext cx="1010287" cy="43520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017A8B8-37B0-4316-9486-48A4DEE9DD09}"/>
              </a:ext>
            </a:extLst>
          </p:cNvPr>
          <p:cNvSpPr txBox="1"/>
          <p:nvPr/>
        </p:nvSpPr>
        <p:spPr>
          <a:xfrm>
            <a:off x="6415113" y="4418465"/>
            <a:ext cx="557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Therefore, the time evolution of the particle density is </a:t>
            </a:r>
            <a:endParaRPr lang="en-MY" dirty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615ECA0-25CC-4FFA-9ABC-1076D2DFD9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41779" y="4719759"/>
            <a:ext cx="3986642" cy="75859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CCDD471-CC7D-4AF0-83FE-FFDD2C657112}"/>
              </a:ext>
            </a:extLst>
          </p:cNvPr>
          <p:cNvSpPr txBox="1"/>
          <p:nvPr/>
        </p:nvSpPr>
        <p:spPr>
          <a:xfrm>
            <a:off x="6675119" y="5383470"/>
            <a:ext cx="1839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and      are small</a:t>
            </a:r>
            <a:endParaRPr lang="en-MY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3798CEA0-12D7-45D5-B5A5-B7BD7E0B76B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15113" y="5351764"/>
            <a:ext cx="434423" cy="43442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1F96367-8C79-472C-9FAA-540EE1E0CEA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29980" y="5351764"/>
            <a:ext cx="397034" cy="38115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A2AAC8F-035C-42E5-B6C2-E0E0E840465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29980" y="5762701"/>
            <a:ext cx="3546741" cy="64361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2CD58D2-8AD3-47F6-8FF9-0C89794B6934}"/>
              </a:ext>
            </a:extLst>
          </p:cNvPr>
          <p:cNvSpPr txBox="1"/>
          <p:nvPr/>
        </p:nvSpPr>
        <p:spPr>
          <a:xfrm>
            <a:off x="6632324" y="6431720"/>
            <a:ext cx="385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                     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  Diffusion equation</a:t>
            </a:r>
            <a:endParaRPr lang="en-MY" dirty="0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05B8B2C0-CCA4-4CC6-8442-5EA917F3091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005046" y="6345976"/>
            <a:ext cx="1177891" cy="5071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D9B610D-BEAE-442B-84AD-1371F416A5D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4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42CB-25E8-4EEF-B654-CDCFB01C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4841"/>
            <a:ext cx="9720072" cy="1499616"/>
          </a:xfrm>
        </p:spPr>
        <p:txBody>
          <a:bodyPr/>
          <a:lstStyle/>
          <a:p>
            <a:r>
              <a:rPr lang="en-MY" dirty="0"/>
              <a:t>Einstein-</a:t>
            </a:r>
            <a:r>
              <a:rPr lang="en-MY" dirty="0" err="1"/>
              <a:t>Smoluchowski</a:t>
            </a:r>
            <a:r>
              <a:rPr lang="en-MY" dirty="0"/>
              <a:t> theory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3AA4775-546F-4A87-BC18-F0E653D18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38" y="2395321"/>
            <a:ext cx="2934109" cy="676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45F04D-B93C-4309-8FC8-9A717492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17" y="4650311"/>
            <a:ext cx="2076740" cy="638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CCFC60-62EA-4978-94BD-7D643B74E149}"/>
              </a:ext>
            </a:extLst>
          </p:cNvPr>
          <p:cNvSpPr txBox="1"/>
          <p:nvPr/>
        </p:nvSpPr>
        <p:spPr>
          <a:xfrm>
            <a:off x="0" y="4253215"/>
            <a:ext cx="1855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From continuity: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4C2F1E-F572-476E-B4E3-CA3637234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820" y="4821785"/>
            <a:ext cx="1724266" cy="466790"/>
          </a:xfrm>
          <a:prstGeom prst="rect">
            <a:avLst/>
          </a:prstGeom>
        </p:spPr>
      </p:pic>
      <p:sp>
        <p:nvSpPr>
          <p:cNvPr id="35" name="Arrow: Down 34">
            <a:extLst>
              <a:ext uri="{FF2B5EF4-FFF2-40B4-BE49-F238E27FC236}">
                <a16:creationId xmlns:a16="http://schemas.microsoft.com/office/drawing/2014/main" id="{6B8CEDF8-066C-49BD-9389-B90B81371B6F}"/>
              </a:ext>
            </a:extLst>
          </p:cNvPr>
          <p:cNvSpPr/>
          <p:nvPr/>
        </p:nvSpPr>
        <p:spPr>
          <a:xfrm rot="16200000">
            <a:off x="3576990" y="4775836"/>
            <a:ext cx="204096" cy="5213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CB9EA-6381-43E1-B441-A441C1127357}"/>
              </a:ext>
            </a:extLst>
          </p:cNvPr>
          <p:cNvSpPr txBox="1"/>
          <p:nvPr/>
        </p:nvSpPr>
        <p:spPr>
          <a:xfrm>
            <a:off x="2054067" y="5980535"/>
            <a:ext cx="22817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>
                <a:solidFill>
                  <a:srgbClr val="FF0000"/>
                </a:solidFill>
              </a:rPr>
              <a:t>Einstein relation: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2A8BDF-7AAB-4D97-934D-7A7C4509C4D2}"/>
              </a:ext>
            </a:extLst>
          </p:cNvPr>
          <p:cNvSpPr txBox="1"/>
          <p:nvPr/>
        </p:nvSpPr>
        <p:spPr>
          <a:xfrm>
            <a:off x="6514149" y="4642244"/>
            <a:ext cx="5099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Due to constant interaction with the background. The particle reach a “drift” velocity: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52DB1154-7C9E-40E7-AA1B-B3A7B43E3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8716" y="5222735"/>
            <a:ext cx="1310968" cy="49161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2779F98-42DA-4C6B-9244-DF835B74ECC1}"/>
              </a:ext>
            </a:extLst>
          </p:cNvPr>
          <p:cNvSpPr txBox="1"/>
          <p:nvPr/>
        </p:nvSpPr>
        <p:spPr>
          <a:xfrm>
            <a:off x="682731" y="5493070"/>
            <a:ext cx="921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current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9FFB62-AEE7-4800-8167-01C410AB8398}"/>
              </a:ext>
            </a:extLst>
          </p:cNvPr>
          <p:cNvCxnSpPr>
            <a:cxnSpLocks/>
          </p:cNvCxnSpPr>
          <p:nvPr/>
        </p:nvCxnSpPr>
        <p:spPr>
          <a:xfrm flipV="1">
            <a:off x="1359231" y="5256684"/>
            <a:ext cx="171528" cy="17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F9325D-0A3C-4508-9B27-CE21607C3D0F}"/>
              </a:ext>
            </a:extLst>
          </p:cNvPr>
          <p:cNvCxnSpPr>
            <a:cxnSpLocks/>
          </p:cNvCxnSpPr>
          <p:nvPr/>
        </p:nvCxnSpPr>
        <p:spPr>
          <a:xfrm flipV="1">
            <a:off x="970212" y="2891736"/>
            <a:ext cx="171528" cy="17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EB7716F-56CB-46C9-95F8-25A5A2DABA4E}"/>
              </a:ext>
            </a:extLst>
          </p:cNvPr>
          <p:cNvSpPr txBox="1"/>
          <p:nvPr/>
        </p:nvSpPr>
        <p:spPr>
          <a:xfrm>
            <a:off x="47612" y="3056540"/>
            <a:ext cx="171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Particle density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5D841C-48FF-4A95-9432-7FAC444D2532}"/>
              </a:ext>
            </a:extLst>
          </p:cNvPr>
          <p:cNvSpPr txBox="1"/>
          <p:nvPr/>
        </p:nvSpPr>
        <p:spPr>
          <a:xfrm>
            <a:off x="4256973" y="2425359"/>
            <a:ext cx="1724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Density diluted in time.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50D720-0212-4398-93D1-9F846A439C16}"/>
              </a:ext>
            </a:extLst>
          </p:cNvPr>
          <p:cNvSpPr txBox="1"/>
          <p:nvPr/>
        </p:nvSpPr>
        <p:spPr>
          <a:xfrm>
            <a:off x="6514149" y="5671274"/>
            <a:ext cx="557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reaching equilibrium: drift in + diffusing out=0</a:t>
            </a: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81DC518B-F79F-46B8-A1A0-A8A4AC36D8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3314" y="6060436"/>
            <a:ext cx="1950304" cy="459828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37F3A7D4-279A-4466-9D54-41020C6EA6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34893" y="5268444"/>
            <a:ext cx="1317015" cy="46679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57C230B6-87CC-428D-A549-E968F029A7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5100" y="6070060"/>
            <a:ext cx="1867156" cy="466789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F9B6094A-223C-414F-9B38-3192D6BD27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360951" y="5756139"/>
            <a:ext cx="1066397" cy="700321"/>
          </a:xfrm>
          <a:prstGeom prst="rect">
            <a:avLst/>
          </a:prstGeom>
        </p:spPr>
      </p:pic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73C0672-8422-430B-A606-4921AC6EB51E}"/>
              </a:ext>
            </a:extLst>
          </p:cNvPr>
          <p:cNvSpPr/>
          <p:nvPr/>
        </p:nvSpPr>
        <p:spPr>
          <a:xfrm>
            <a:off x="4341674" y="5800928"/>
            <a:ext cx="1216273" cy="6056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1E0327-0551-450B-A611-D1E6E162C374}"/>
              </a:ext>
            </a:extLst>
          </p:cNvPr>
          <p:cNvSpPr txBox="1"/>
          <p:nvPr/>
        </p:nvSpPr>
        <p:spPr>
          <a:xfrm>
            <a:off x="1523896" y="6413793"/>
            <a:ext cx="363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(Fluctuation-Dissipation theorem)</a:t>
            </a:r>
          </a:p>
        </p:txBody>
      </p:sp>
      <p:pic>
        <p:nvPicPr>
          <p:cNvPr id="4098" name="Picture 2" descr="PPT - Seismic interferometry: Who needs a seismic source? PowerPoint ...">
            <a:extLst>
              <a:ext uri="{FF2B5EF4-FFF2-40B4-BE49-F238E27FC236}">
                <a16:creationId xmlns:a16="http://schemas.microsoft.com/office/drawing/2014/main" id="{204814A0-6A7D-424C-984C-948F4FF57E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5" t="16825" r="10575" b="35204"/>
          <a:stretch/>
        </p:blipFill>
        <p:spPr bwMode="auto">
          <a:xfrm>
            <a:off x="6227839" y="2240133"/>
            <a:ext cx="5466497" cy="2494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EDA84BEB-06FF-4AA6-8CC8-B8858DD117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95006" y="2074259"/>
            <a:ext cx="692669" cy="497301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C45EB722-538C-44D6-87F3-EC0ACCB447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71063" y="2601014"/>
            <a:ext cx="1936528" cy="521373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C5762FC5-C433-44F5-9A55-5D8653E94854}"/>
              </a:ext>
            </a:extLst>
          </p:cNvPr>
          <p:cNvSpPr txBox="1"/>
          <p:nvPr/>
        </p:nvSpPr>
        <p:spPr>
          <a:xfrm>
            <a:off x="9001785" y="2100830"/>
            <a:ext cx="2011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Driving potential: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ABF12-2874-41BA-BEAA-25B0C93B32A8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22080"/>
          <a:stretch/>
        </p:blipFill>
        <p:spPr>
          <a:xfrm>
            <a:off x="1271895" y="3757289"/>
            <a:ext cx="2560461" cy="55374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4955A93-F1CB-423F-AF0A-D7319620867E}"/>
              </a:ext>
            </a:extLst>
          </p:cNvPr>
          <p:cNvSpPr txBox="1"/>
          <p:nvPr/>
        </p:nvSpPr>
        <p:spPr>
          <a:xfrm>
            <a:off x="3902466" y="3781878"/>
            <a:ext cx="2090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Diffusion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D4208-B9C4-4907-88A5-9D6B4459030C}"/>
              </a:ext>
            </a:extLst>
          </p:cNvPr>
          <p:cNvSpPr txBox="1"/>
          <p:nvPr/>
        </p:nvSpPr>
        <p:spPr>
          <a:xfrm>
            <a:off x="5493515" y="6487378"/>
            <a:ext cx="681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is also fine, it is still a dissipative force with different distribution</a:t>
            </a:r>
            <a:endParaRPr lang="en-MY" dirty="0">
              <a:solidFill>
                <a:srgbClr val="FF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402C414-C23B-492E-8B9D-C5C9C7F8C4C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7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Langevin theory</a:t>
            </a:r>
            <a:endParaRPr lang="en-MY" dirty="0"/>
          </a:p>
        </p:txBody>
      </p:sp>
      <p:pic>
        <p:nvPicPr>
          <p:cNvPr id="1026" name="Picture 2" descr="Brownian Motion in Nanotechnology">
            <a:extLst>
              <a:ext uri="{FF2B5EF4-FFF2-40B4-BE49-F238E27FC236}">
                <a16:creationId xmlns:a16="http://schemas.microsoft.com/office/drawing/2014/main" id="{D232838C-7183-4A1F-8E72-84BDE1A5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1" y="2926431"/>
            <a:ext cx="451485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9F4D46-66CF-4BDF-9E84-C4138894A972}"/>
              </a:ext>
            </a:extLst>
          </p:cNvPr>
          <p:cNvSpPr txBox="1"/>
          <p:nvPr/>
        </p:nvSpPr>
        <p:spPr>
          <a:xfrm>
            <a:off x="796991" y="2320965"/>
            <a:ext cx="5786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Background is the reservoir in thermal equilibrium.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A8D03-D343-4837-9FCC-F59B836BAE6F}"/>
              </a:ext>
            </a:extLst>
          </p:cNvPr>
          <p:cNvSpPr txBox="1"/>
          <p:nvPr/>
        </p:nvSpPr>
        <p:spPr>
          <a:xfrm>
            <a:off x="796990" y="5515240"/>
            <a:ext cx="808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For 1 particle system is obviously not describe by thermodynamics.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Average behaviour is boring and do not tell us much information.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E86DF2-CA17-4E83-AF5D-770F735C42B5}"/>
              </a:ext>
            </a:extLst>
          </p:cNvPr>
          <p:cNvGrpSpPr/>
          <p:nvPr/>
        </p:nvGrpSpPr>
        <p:grpSpPr>
          <a:xfrm>
            <a:off x="4639377" y="2556897"/>
            <a:ext cx="7113069" cy="899926"/>
            <a:chOff x="4639377" y="2690297"/>
            <a:chExt cx="7113069" cy="89992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1EF302-954B-445C-B513-EC42F5FEB80A}"/>
                </a:ext>
              </a:extLst>
            </p:cNvPr>
            <p:cNvSpPr txBox="1"/>
            <p:nvPr/>
          </p:nvSpPr>
          <p:spPr>
            <a:xfrm>
              <a:off x="6400799" y="2690297"/>
              <a:ext cx="53516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We want to model the fluctuation of the motion due to the interaction with the thermal system.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61074A4-0101-483D-B5C8-9020B834627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4639377" y="3013463"/>
              <a:ext cx="1761422" cy="576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84D71DD-268B-4CC3-B984-304BBEB93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329" y="3913389"/>
            <a:ext cx="1714114" cy="78923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B0EDD9-77F6-49C3-B538-04F39CBF964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791777" y="4263445"/>
            <a:ext cx="1864552" cy="4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209AFD-4798-446C-9831-CACF80490C73}"/>
              </a:ext>
            </a:extLst>
          </p:cNvPr>
          <p:cNvSpPr txBox="1"/>
          <p:nvPr/>
        </p:nvSpPr>
        <p:spPr>
          <a:xfrm>
            <a:off x="6853186" y="4750842"/>
            <a:ext cx="3891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Random motion originate from a random force in the background.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0DD084-7A30-44F5-80FB-C44FFAC58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440" y="4055033"/>
            <a:ext cx="3101569" cy="60682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A3D2B9-0C24-424F-9017-B8B63E7BE135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9003379" y="3492956"/>
            <a:ext cx="533758" cy="52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8BBBA7-2975-4CEB-89D4-4089B99EDC56}"/>
              </a:ext>
            </a:extLst>
          </p:cNvPr>
          <p:cNvSpPr txBox="1"/>
          <p:nvPr/>
        </p:nvSpPr>
        <p:spPr>
          <a:xfrm>
            <a:off x="9537137" y="3169790"/>
            <a:ext cx="2330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Do not average to zero (drag)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1C1CD8-D61D-4B6B-BC0D-BC3992D49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61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7079-8273-4324-B055-B8C04FE8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Langevin theory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AD1A7-6BA8-4E30-A712-4CDB3842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09" y="2243692"/>
            <a:ext cx="3062630" cy="733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5DC28-7057-4A0A-87F7-C7DF0FAFB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355" y="3954835"/>
            <a:ext cx="2515869" cy="684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3ADABB-14A3-4EC2-94EA-0CEAB9C2B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614" y="2491211"/>
            <a:ext cx="6935168" cy="304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4D9210-1A44-422D-8CB3-07013A760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355" y="5005661"/>
            <a:ext cx="2753109" cy="6858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DD7E93-F4AE-4345-AD59-31297B81AD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734373"/>
            <a:ext cx="1581371" cy="6192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8DDB5C-0631-4099-B7C4-2D352577637B}"/>
              </a:ext>
            </a:extLst>
          </p:cNvPr>
          <p:cNvSpPr txBox="1"/>
          <p:nvPr/>
        </p:nvSpPr>
        <p:spPr>
          <a:xfrm>
            <a:off x="1024128" y="3272589"/>
            <a:ext cx="1778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Average velocity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38A6282-3F82-4695-888A-2E4FDA349D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44200" y="1638459"/>
            <a:ext cx="951548" cy="6935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78FE18-9FBF-4E41-8BFE-B3A786D9AA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4355" y="6048441"/>
            <a:ext cx="2210108" cy="5334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2399E32-0BA3-4424-A8B1-2B38B633C4F1}"/>
              </a:ext>
            </a:extLst>
          </p:cNvPr>
          <p:cNvSpPr txBox="1"/>
          <p:nvPr/>
        </p:nvSpPr>
        <p:spPr>
          <a:xfrm>
            <a:off x="8933188" y="616604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(Diffusion)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632F5477-E74D-4318-BA71-983CDF082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73836" y="3790722"/>
            <a:ext cx="706655" cy="603601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67F8EA-F5B9-48B2-89D5-12E68E3F70D4}"/>
              </a:ext>
            </a:extLst>
          </p:cNvPr>
          <p:cNvCxnSpPr>
            <a:stCxn id="26" idx="1"/>
            <a:endCxn id="7" idx="3"/>
          </p:cNvCxnSpPr>
          <p:nvPr/>
        </p:nvCxnSpPr>
        <p:spPr>
          <a:xfrm flipH="1">
            <a:off x="9150224" y="4092523"/>
            <a:ext cx="1023612" cy="20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480AA0EC-85EB-4AA2-9D89-B22984DCE3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2282" y="5715119"/>
            <a:ext cx="866896" cy="3429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FD2884-CA9E-4042-84F1-6B9AEFB81A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128" y="4639151"/>
            <a:ext cx="3086531" cy="38105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0836D11-7EEA-4CA7-B439-B1EB4B9DA6BF}"/>
              </a:ext>
            </a:extLst>
          </p:cNvPr>
          <p:cNvSpPr txBox="1"/>
          <p:nvPr/>
        </p:nvSpPr>
        <p:spPr>
          <a:xfrm>
            <a:off x="948768" y="5378110"/>
            <a:ext cx="2924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 net drift velocity in t&gt;&gt;0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82DBF8-E7A7-4C28-854A-30BB347983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37661" b="-9279"/>
          <a:stretch/>
        </p:blipFill>
        <p:spPr>
          <a:xfrm>
            <a:off x="6909178" y="3052822"/>
            <a:ext cx="1909203" cy="80184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49980F3-C97E-493C-8219-2C4A5EF621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90512" y="3217847"/>
            <a:ext cx="487685" cy="4240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545AC4-7A5A-43FE-9007-82F758B82D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5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7079-8273-4324-B055-B8C04FE8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Langevin theory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AD1A7-6BA8-4E30-A712-4CDB3842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09" y="2243692"/>
            <a:ext cx="3062630" cy="7337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800EC70-8608-4626-AFF0-1E273653A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4207" y="2243691"/>
            <a:ext cx="2134559" cy="73375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48CD56D-E1AC-46A1-AAF4-F8AD0C883E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2166" y="3193387"/>
            <a:ext cx="2196301" cy="806454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B8AE00F8-21CA-41B3-94E6-CAE10F6046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4129030"/>
            <a:ext cx="3726718" cy="70760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C565982-F07D-46B6-96EA-08BBBA757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261" y="3515626"/>
            <a:ext cx="2805183" cy="45665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7762101-AB74-41AF-BA01-B2A1DDDB5218}"/>
              </a:ext>
            </a:extLst>
          </p:cNvPr>
          <p:cNvSpPr txBox="1"/>
          <p:nvPr/>
        </p:nvSpPr>
        <p:spPr>
          <a:xfrm>
            <a:off x="6297905" y="2906906"/>
            <a:ext cx="4177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Basic assumption: Do not have memory of the past history.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15FFC148-60AA-41B3-8079-057990160C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7905" y="3900733"/>
            <a:ext cx="5987057" cy="740159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EEC5940-4A01-4309-B527-0A597AC3E7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2076" y="4494068"/>
            <a:ext cx="5034236" cy="70097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046BB2B8-E9CA-44A2-BF03-671F337A0F1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62076" y="5210217"/>
            <a:ext cx="3503819" cy="481567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F193CE85-0E1D-4458-A6FF-FE46CAF0040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6096" y="5151424"/>
            <a:ext cx="5327961" cy="719581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759B29EE-1D61-4E72-986A-A8BEBED6110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167739" y="5895979"/>
            <a:ext cx="2832393" cy="719581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5CA64BDD-7EEC-40F0-B157-023F679DF46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75445" y="3512414"/>
            <a:ext cx="1190573" cy="456658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B84A99EF-CE22-4A4E-A682-A871450D249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93776" y="5911481"/>
            <a:ext cx="2544237" cy="456658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66E3C2ED-E1C2-45B5-AEA1-2FBDB0D844E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86820" y="6214285"/>
            <a:ext cx="1551193" cy="646331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299E3ED-5FD6-4596-94D7-89AF07813F58}"/>
              </a:ext>
            </a:extLst>
          </p:cNvPr>
          <p:cNvSpPr txBox="1"/>
          <p:nvPr/>
        </p:nvSpPr>
        <p:spPr>
          <a:xfrm>
            <a:off x="3862913" y="6545809"/>
            <a:ext cx="363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(Fluctuation-Dissipation theorem)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38CEFA8-2D7F-4E6A-B20A-99E69A5E1EB7}"/>
              </a:ext>
            </a:extLst>
          </p:cNvPr>
          <p:cNvSpPr/>
          <p:nvPr/>
        </p:nvSpPr>
        <p:spPr>
          <a:xfrm>
            <a:off x="4167739" y="5911481"/>
            <a:ext cx="2832393" cy="6056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ED7C07-D90F-4FFB-9038-92397BB1DF2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27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D30E7-EFF3-4D6B-A97E-3A49B4FC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05" y="2841085"/>
            <a:ext cx="5096586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4AF13-90C8-4805-A264-97067EE72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335" y="4644333"/>
            <a:ext cx="4223327" cy="353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F739FE-B92F-40A1-8E34-BA1B80ABD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149" y="5798196"/>
            <a:ext cx="2048161" cy="8287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D04773-999A-4340-A058-27141E3E21E1}"/>
              </a:ext>
            </a:extLst>
          </p:cNvPr>
          <p:cNvSpPr txBox="1"/>
          <p:nvPr/>
        </p:nvSpPr>
        <p:spPr>
          <a:xfrm>
            <a:off x="1318661" y="3085104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Master equation: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F872A-D8E6-43AF-8947-814E52C4D20E}"/>
              </a:ext>
            </a:extLst>
          </p:cNvPr>
          <p:cNvSpPr txBox="1"/>
          <p:nvPr/>
        </p:nvSpPr>
        <p:spPr>
          <a:xfrm>
            <a:off x="1318662" y="4710668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In equilibrium: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C0C3E-00B3-4706-AF2A-D2F9E959964A}"/>
              </a:ext>
            </a:extLst>
          </p:cNvPr>
          <p:cNvSpPr txBox="1"/>
          <p:nvPr/>
        </p:nvSpPr>
        <p:spPr>
          <a:xfrm>
            <a:off x="1390729" y="5895446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Details balanced: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26269169-DC06-4212-96FC-160A716C386C}"/>
              </a:ext>
            </a:extLst>
          </p:cNvPr>
          <p:cNvSpPr/>
          <p:nvPr/>
        </p:nvSpPr>
        <p:spPr>
          <a:xfrm rot="5400000">
            <a:off x="5464652" y="3217864"/>
            <a:ext cx="317774" cy="79091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77F754-5CC8-4F65-900D-E91D69D73E6B}"/>
              </a:ext>
            </a:extLst>
          </p:cNvPr>
          <p:cNvSpPr txBox="1"/>
          <p:nvPr/>
        </p:nvSpPr>
        <p:spPr>
          <a:xfrm>
            <a:off x="4186989" y="3764789"/>
            <a:ext cx="271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Transition rate from </a:t>
            </a:r>
            <a:r>
              <a:rPr lang="en-MY" dirty="0" err="1"/>
              <a:t>a’</a:t>
            </a:r>
            <a:r>
              <a:rPr lang="en-MY" dirty="0" err="1"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MY" dirty="0" err="1"/>
              <a:t>a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7DCEAA-37F0-458D-B85A-28862464BEB7}"/>
              </a:ext>
            </a:extLst>
          </p:cNvPr>
          <p:cNvSpPr txBox="1"/>
          <p:nvPr/>
        </p:nvSpPr>
        <p:spPr>
          <a:xfrm>
            <a:off x="8750171" y="2966991"/>
            <a:ext cx="3547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Determine how the system reach equilibrium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BDF66-8CEB-4081-898A-0C1D21EB4FD0}"/>
              </a:ext>
            </a:extLst>
          </p:cNvPr>
          <p:cNvSpPr txBox="1"/>
          <p:nvPr/>
        </p:nvSpPr>
        <p:spPr>
          <a:xfrm>
            <a:off x="1867302" y="2155463"/>
            <a:ext cx="785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Turn the stochastic equation into differential equation of distribution</a:t>
            </a:r>
            <a:endParaRPr lang="en-MY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BE0B1-696D-4D53-9E78-A206820C426E}"/>
              </a:ext>
            </a:extLst>
          </p:cNvPr>
          <p:cNvSpPr txBox="1"/>
          <p:nvPr/>
        </p:nvSpPr>
        <p:spPr>
          <a:xfrm>
            <a:off x="4132446" y="4060799"/>
            <a:ext cx="310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(From the stochastic process)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7A205B-54B9-4BE9-9FE7-6F09876E4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51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D30E7-EFF3-4D6B-A97E-3A49B4FC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07" y="2316920"/>
            <a:ext cx="5096586" cy="857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3407D1-32FA-4ACB-BE5B-EE49DA4B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590" y="3264719"/>
            <a:ext cx="4205539" cy="6539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D04773-999A-4340-A058-27141E3E21E1}"/>
              </a:ext>
            </a:extLst>
          </p:cNvPr>
          <p:cNvSpPr txBox="1"/>
          <p:nvPr/>
        </p:nvSpPr>
        <p:spPr>
          <a:xfrm>
            <a:off x="1395663" y="2560939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Master equation: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67B268D-439F-43D8-A877-1CFF3F805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4128" y="3531992"/>
            <a:ext cx="2034946" cy="4371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89895D5-F011-4EA7-A2FA-3164959C47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6923" y="4018199"/>
            <a:ext cx="1197368" cy="4216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D9BBE81-0A15-4E9A-8EC9-33CD0E8296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72096" y="4137998"/>
            <a:ext cx="3139496" cy="42466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F9AFC5C-6AA2-4C15-8C6F-30724865FD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84828" y="4139854"/>
            <a:ext cx="2429226" cy="450453"/>
          </a:xfrm>
          <a:prstGeom prst="rect">
            <a:avLst/>
          </a:prstGeom>
        </p:spPr>
      </p:pic>
      <p:sp>
        <p:nvSpPr>
          <p:cNvPr id="17" name="Right Brace 16">
            <a:extLst>
              <a:ext uri="{FF2B5EF4-FFF2-40B4-BE49-F238E27FC236}">
                <a16:creationId xmlns:a16="http://schemas.microsoft.com/office/drawing/2014/main" id="{115D0FEC-94A7-4A87-B632-CB9C142EDB08}"/>
              </a:ext>
            </a:extLst>
          </p:cNvPr>
          <p:cNvSpPr/>
          <p:nvPr/>
        </p:nvSpPr>
        <p:spPr>
          <a:xfrm rot="5400000">
            <a:off x="5831541" y="3266423"/>
            <a:ext cx="319383" cy="14274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8388A005-EE76-4AB9-A041-A02B6958F082}"/>
              </a:ext>
            </a:extLst>
          </p:cNvPr>
          <p:cNvSpPr/>
          <p:nvPr/>
        </p:nvSpPr>
        <p:spPr>
          <a:xfrm rot="5400000">
            <a:off x="7266144" y="3503656"/>
            <a:ext cx="380856" cy="8915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879805-037F-4E5D-82A4-F112A5412B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4054" y="5037565"/>
            <a:ext cx="2429214" cy="2857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E6A756-CFC4-4A7F-B20E-F7D15BA3EB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7373" y="5211349"/>
            <a:ext cx="3181794" cy="71447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EADA18-5481-4F19-9248-A7E866EDFA0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38495" y="4522048"/>
            <a:ext cx="4546333" cy="79405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453A531-4076-490B-B469-818BABFB62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4054" y="5385478"/>
            <a:ext cx="2133898" cy="6192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C8DCD2-1689-45CE-AB0A-DD513F17840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2654" y="5951817"/>
            <a:ext cx="3982006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BB57C8-1A27-4D85-898D-3668F197B907}"/>
              </a:ext>
            </a:extLst>
          </p:cNvPr>
          <p:cNvSpPr txBox="1"/>
          <p:nvPr/>
        </p:nvSpPr>
        <p:spPr>
          <a:xfrm>
            <a:off x="878873" y="5977423"/>
            <a:ext cx="291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Fokker-Planck equation: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80BA81-4639-4D2B-A8C8-DDC62A8D142F}"/>
              </a:ext>
            </a:extLst>
          </p:cNvPr>
          <p:cNvSpPr txBox="1"/>
          <p:nvPr/>
        </p:nvSpPr>
        <p:spPr>
          <a:xfrm>
            <a:off x="5499234" y="64886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CDE44D-FDA9-4EB2-B654-F40789E9B611}"/>
              </a:ext>
            </a:extLst>
          </p:cNvPr>
          <p:cNvSpPr txBox="1"/>
          <p:nvPr/>
        </p:nvSpPr>
        <p:spPr>
          <a:xfrm>
            <a:off x="6704973" y="648866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5E0D4E-F66C-4312-BBF3-5017DC8364A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57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53A531-4076-490B-B469-818BABFB6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054" y="2494237"/>
            <a:ext cx="2133898" cy="6192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C8DCD2-1689-45CE-AB0A-DD513F178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281" y="2522817"/>
            <a:ext cx="3982006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BB57C8-1A27-4D85-898D-3668F197B907}"/>
              </a:ext>
            </a:extLst>
          </p:cNvPr>
          <p:cNvSpPr txBox="1"/>
          <p:nvPr/>
        </p:nvSpPr>
        <p:spPr>
          <a:xfrm>
            <a:off x="992500" y="2548423"/>
            <a:ext cx="291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Fokker-Planck equation: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80BA81-4639-4D2B-A8C8-DDC62A8D142F}"/>
              </a:ext>
            </a:extLst>
          </p:cNvPr>
          <p:cNvSpPr txBox="1"/>
          <p:nvPr/>
        </p:nvSpPr>
        <p:spPr>
          <a:xfrm>
            <a:off x="5612861" y="30596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CDE44D-FDA9-4EB2-B654-F40789E9B611}"/>
              </a:ext>
            </a:extLst>
          </p:cNvPr>
          <p:cNvSpPr txBox="1"/>
          <p:nvPr/>
        </p:nvSpPr>
        <p:spPr>
          <a:xfrm>
            <a:off x="6818600" y="305966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AD8D-B5AD-4EE7-88A6-6B60D4762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888" y="3945334"/>
            <a:ext cx="4714791" cy="6617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AEA5C91-2DA5-4B93-80A8-4B0FAB626E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15" y="3543503"/>
            <a:ext cx="937607" cy="40183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76882E9-0201-4372-B820-3E4C0063E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5644" y="3481040"/>
            <a:ext cx="955963" cy="52675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5273D2D-9B57-4392-BE0C-39DA5A5400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7407" y="3553156"/>
            <a:ext cx="937607" cy="4412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078FC6-6C4D-4C8B-A2C1-4F9D5E3060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2526" y="4805798"/>
            <a:ext cx="3391373" cy="7430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59DF932-8E6E-440D-A8BF-E2DA5CF2D7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4133" y="4767693"/>
            <a:ext cx="3115110" cy="7811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0061005-A46F-4326-B38B-CC646847A6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7917" y="5805836"/>
            <a:ext cx="7949876" cy="7690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926049-77CE-4FCB-9698-E52D3739AB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2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53A531-4076-490B-B469-818BABFB6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054" y="2494237"/>
            <a:ext cx="2133898" cy="6192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C8DCD2-1689-45CE-AB0A-DD513F178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281" y="2522817"/>
            <a:ext cx="3982006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BB57C8-1A27-4D85-898D-3668F197B907}"/>
              </a:ext>
            </a:extLst>
          </p:cNvPr>
          <p:cNvSpPr txBox="1"/>
          <p:nvPr/>
        </p:nvSpPr>
        <p:spPr>
          <a:xfrm>
            <a:off x="992500" y="2548423"/>
            <a:ext cx="291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Fokker-Planck equation: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80BA81-4639-4D2B-A8C8-DDC62A8D142F}"/>
              </a:ext>
            </a:extLst>
          </p:cNvPr>
          <p:cNvSpPr txBox="1"/>
          <p:nvPr/>
        </p:nvSpPr>
        <p:spPr>
          <a:xfrm>
            <a:off x="5612861" y="30596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CDE44D-FDA9-4EB2-B654-F40789E9B611}"/>
              </a:ext>
            </a:extLst>
          </p:cNvPr>
          <p:cNvSpPr txBox="1"/>
          <p:nvPr/>
        </p:nvSpPr>
        <p:spPr>
          <a:xfrm>
            <a:off x="6818600" y="305966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AD8D-B5AD-4EE7-88A6-6B60D4762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888" y="3945334"/>
            <a:ext cx="4714791" cy="6617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AEA5C91-2DA5-4B93-80A8-4B0FAB626E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15" y="3543503"/>
            <a:ext cx="937607" cy="40183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76882E9-0201-4372-B820-3E4C0063E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5644" y="3481040"/>
            <a:ext cx="955963" cy="52675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5273D2D-9B57-4392-BE0C-39DA5A5400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7407" y="3553156"/>
            <a:ext cx="937607" cy="4412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078FC6-6C4D-4C8B-A2C1-4F9D5E3060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2526" y="4805798"/>
            <a:ext cx="3391373" cy="7430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59DF932-8E6E-440D-A8BF-E2DA5CF2D7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4133" y="4767693"/>
            <a:ext cx="3115110" cy="78115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48A3F26-AC89-4052-99B9-72561EEC58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1262" y="4815356"/>
            <a:ext cx="1055344" cy="6302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D377AE-AE98-4E13-85FB-061191220144}"/>
              </a:ext>
            </a:extLst>
          </p:cNvPr>
          <p:cNvSpPr txBox="1"/>
          <p:nvPr/>
        </p:nvSpPr>
        <p:spPr>
          <a:xfrm>
            <a:off x="10327244" y="4497082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4D9A3-7BC9-4511-AA99-B8D7A110D4AA}"/>
              </a:ext>
            </a:extLst>
          </p:cNvPr>
          <p:cNvSpPr txBox="1"/>
          <p:nvPr/>
        </p:nvSpPr>
        <p:spPr>
          <a:xfrm>
            <a:off x="1381981" y="444602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1DC2C48-FB2A-40CD-9812-A976A0623F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96512" y="4882049"/>
            <a:ext cx="1815816" cy="48948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B4E9795-5EE8-4C27-AF22-3859EB306D0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38445" y="5891922"/>
            <a:ext cx="3115110" cy="7743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94C115-D595-4315-B619-F1DFE3C234A2}"/>
              </a:ext>
            </a:extLst>
          </p:cNvPr>
          <p:cNvSpPr txBox="1"/>
          <p:nvPr/>
        </p:nvSpPr>
        <p:spPr>
          <a:xfrm>
            <a:off x="1290869" y="6158959"/>
            <a:ext cx="231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Diffusion equation: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BFACCC9-4457-4DB6-B33B-0CF31F7F6C5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A0DC-A084-4122-B7D3-9D183698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topics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2F196-28B2-4EB4-B760-74DDF8D508EC}"/>
              </a:ext>
            </a:extLst>
          </p:cNvPr>
          <p:cNvSpPr txBox="1"/>
          <p:nvPr/>
        </p:nvSpPr>
        <p:spPr>
          <a:xfrm>
            <a:off x="663732" y="2389471"/>
            <a:ext cx="2718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Interacting system:</a:t>
            </a:r>
            <a:endParaRPr lang="en-MY" sz="2400" dirty="0"/>
          </a:p>
        </p:txBody>
      </p:sp>
      <p:pic>
        <p:nvPicPr>
          <p:cNvPr id="1026" name="Picture 2" descr="Image result for condensed matter field theory">
            <a:extLst>
              <a:ext uri="{FF2B5EF4-FFF2-40B4-BE49-F238E27FC236}">
                <a16:creationId xmlns:a16="http://schemas.microsoft.com/office/drawing/2014/main" id="{107E9A3E-C3AC-462F-865E-9323855FE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4306" y="3195586"/>
            <a:ext cx="2437364" cy="342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1D491-DBC8-4939-88D3-0989BE1C97F7}"/>
              </a:ext>
            </a:extLst>
          </p:cNvPr>
          <p:cNvSpPr txBox="1"/>
          <p:nvPr/>
        </p:nvSpPr>
        <p:spPr>
          <a:xfrm>
            <a:off x="1113438" y="2964753"/>
            <a:ext cx="4536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Classical =&gt; Cluster expansion</a:t>
            </a:r>
            <a:endParaRPr lang="en-MY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F5B04-AE3A-4A9F-BDB2-A2525B57C18F}"/>
              </a:ext>
            </a:extLst>
          </p:cNvPr>
          <p:cNvSpPr txBox="1"/>
          <p:nvPr/>
        </p:nvSpPr>
        <p:spPr>
          <a:xfrm>
            <a:off x="1113438" y="3644604"/>
            <a:ext cx="6974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Quantum =&gt; second quantization or field theory</a:t>
            </a:r>
            <a:endParaRPr lang="en-MY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8E9D7-EC79-4E09-9360-51AFE766EC8F}"/>
              </a:ext>
            </a:extLst>
          </p:cNvPr>
          <p:cNvSpPr txBox="1"/>
          <p:nvPr/>
        </p:nvSpPr>
        <p:spPr>
          <a:xfrm>
            <a:off x="8470230" y="2672366"/>
            <a:ext cx="3981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Condensed Matter Field Theory</a:t>
            </a:r>
          </a:p>
          <a:p>
            <a:r>
              <a:rPr lang="en-US" sz="1400" dirty="0"/>
              <a:t>by Alexander </a:t>
            </a:r>
            <a:r>
              <a:rPr lang="en-US" sz="1400" dirty="0" err="1"/>
              <a:t>Altland</a:t>
            </a:r>
            <a:r>
              <a:rPr lang="en-US" sz="1400" dirty="0"/>
              <a:t> (Author), Ben D. Simons</a:t>
            </a:r>
            <a:endParaRPr lang="en-MY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6516CB-D77B-416B-8118-23AA6CA850F5}"/>
              </a:ext>
            </a:extLst>
          </p:cNvPr>
          <p:cNvSpPr txBox="1"/>
          <p:nvPr/>
        </p:nvSpPr>
        <p:spPr>
          <a:xfrm>
            <a:off x="663732" y="4679032"/>
            <a:ext cx="2409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Phase transition:</a:t>
            </a:r>
            <a:endParaRPr lang="en-MY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0EAD9-9150-4D05-9E17-B7DA5CE234CD}"/>
              </a:ext>
            </a:extLst>
          </p:cNvPr>
          <p:cNvSpPr txBox="1"/>
          <p:nvPr/>
        </p:nvSpPr>
        <p:spPr>
          <a:xfrm>
            <a:off x="1113438" y="5358883"/>
            <a:ext cx="6948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Critical phenomena and renormalization group.</a:t>
            </a:r>
            <a:endParaRPr lang="en-MY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15552B-2284-4CAF-BFFE-DB93A692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72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A0DC-A084-4122-B7D3-9D183698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topics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2F196-28B2-4EB4-B760-74DDF8D508EC}"/>
              </a:ext>
            </a:extLst>
          </p:cNvPr>
          <p:cNvSpPr txBox="1"/>
          <p:nvPr/>
        </p:nvSpPr>
        <p:spPr>
          <a:xfrm>
            <a:off x="663732" y="2389471"/>
            <a:ext cx="2767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Out-of-equilibrium</a:t>
            </a:r>
            <a:endParaRPr lang="en-MY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1D491-DBC8-4939-88D3-0989BE1C97F7}"/>
              </a:ext>
            </a:extLst>
          </p:cNvPr>
          <p:cNvSpPr txBox="1"/>
          <p:nvPr/>
        </p:nvSpPr>
        <p:spPr>
          <a:xfrm>
            <a:off x="1481009" y="3222035"/>
            <a:ext cx="66619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Density matrix formalism: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Boltzmann equation (classical/semi-classical),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Lindbladian</a:t>
            </a:r>
            <a:r>
              <a:rPr lang="en-US" sz="2400" dirty="0"/>
              <a:t> (quantum)</a:t>
            </a:r>
            <a:endParaRPr lang="en-MY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A47E9-C409-4A70-BDBE-6C92336BAE10}"/>
              </a:ext>
            </a:extLst>
          </p:cNvPr>
          <p:cNvSpPr txBox="1"/>
          <p:nvPr/>
        </p:nvSpPr>
        <p:spPr>
          <a:xfrm>
            <a:off x="1481009" y="5318344"/>
            <a:ext cx="4530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Keldysh</a:t>
            </a:r>
            <a:r>
              <a:rPr lang="en-US" sz="2400" dirty="0"/>
              <a:t> path integral (quantum)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9222F-C912-4FEB-93FB-0F965F1F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9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EC3F-487A-4A8A-916D-319071AF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topics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64926-0C48-45EA-8C02-40277AAA529D}"/>
              </a:ext>
            </a:extLst>
          </p:cNvPr>
          <p:cNvSpPr txBox="1"/>
          <p:nvPr/>
        </p:nvSpPr>
        <p:spPr>
          <a:xfrm>
            <a:off x="682982" y="2273926"/>
            <a:ext cx="1998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Mathematics:</a:t>
            </a:r>
            <a:endParaRPr lang="en-MY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B35A9-5F71-4D75-811F-FC3461CA9E75}"/>
              </a:ext>
            </a:extLst>
          </p:cNvPr>
          <p:cNvSpPr txBox="1"/>
          <p:nvPr/>
        </p:nvSpPr>
        <p:spPr>
          <a:xfrm>
            <a:off x="1577261" y="2925598"/>
            <a:ext cx="1728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8E578-BCE4-4A97-8B9A-03A6596632A9}"/>
              </a:ext>
            </a:extLst>
          </p:cNvPr>
          <p:cNvSpPr txBox="1"/>
          <p:nvPr/>
        </p:nvSpPr>
        <p:spPr>
          <a:xfrm>
            <a:off x="1552539" y="3615514"/>
            <a:ext cx="5602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Stochastic Calculus (non-equilibrium)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A95F26-848A-4168-BD4F-9106EB7BF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024" y="1491916"/>
            <a:ext cx="2390942" cy="351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DCED47-5CBA-48AE-A580-10B0CCDAC354}"/>
              </a:ext>
            </a:extLst>
          </p:cNvPr>
          <p:cNvSpPr txBox="1"/>
          <p:nvPr/>
        </p:nvSpPr>
        <p:spPr>
          <a:xfrm>
            <a:off x="9123380" y="907141"/>
            <a:ext cx="3400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“Statistical Inference”</a:t>
            </a:r>
          </a:p>
          <a:p>
            <a:r>
              <a:rPr lang="en-US" sz="1600" dirty="0"/>
              <a:t>George Casella, Roger Berger</a:t>
            </a:r>
            <a:endParaRPr lang="en-MY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1D4836-800B-4CDB-8435-B917C1093501}"/>
              </a:ext>
            </a:extLst>
          </p:cNvPr>
          <p:cNvSpPr txBox="1"/>
          <p:nvPr/>
        </p:nvSpPr>
        <p:spPr>
          <a:xfrm>
            <a:off x="743627" y="4690606"/>
            <a:ext cx="3223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Computer simulations:</a:t>
            </a:r>
            <a:endParaRPr lang="en-MY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4E1CD-F681-4128-A9BD-80F10701612C}"/>
              </a:ext>
            </a:extLst>
          </p:cNvPr>
          <p:cNvSpPr txBox="1"/>
          <p:nvPr/>
        </p:nvSpPr>
        <p:spPr>
          <a:xfrm>
            <a:off x="1552539" y="5248578"/>
            <a:ext cx="2188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Monte Carlo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A1435-9165-4DC1-8090-BCE47E6A28BD}"/>
              </a:ext>
            </a:extLst>
          </p:cNvPr>
          <p:cNvSpPr txBox="1"/>
          <p:nvPr/>
        </p:nvSpPr>
        <p:spPr>
          <a:xfrm>
            <a:off x="1552539" y="5922746"/>
            <a:ext cx="3266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Molecular Dynamics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F31994-84A7-46D9-9447-2EFF90300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20914"/>
      </p:ext>
    </p:extLst>
  </p:cSld>
  <p:clrMapOvr>
    <a:masterClrMapping/>
  </p:clrMapOvr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AF81E8F-64AB-45E9-9841-FC680728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2499C6F-0677-41CF-9763-16C5C65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DF374A5-9236-49AD-8360-DF72869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C6A230D-AB77-4C99-B0D4-07ACBFE6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PHY301：涨落、布朗运动与扩散，以及涨落—耗散关系。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fluctuation｜涨落：物理量围绕平均值的随机偏离。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dissipation｜耗散：有序机械能向热运动不可逆转移。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Brownian motion｜布朗运动：粒子受热环境随机碰撞形成的不规则运动。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BB8BAE3-AB3A-4E5F-A0E8-E4885DCB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42877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8898E58-F519-4243-8173-DF2BDB1F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437A47C-CB4F-453E-B7F7-80EFA47B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7EB89D6-AD09-4754-9FB7-B4D1BA3F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10E887E-B004-4B35-AC1E-04F26DB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【从零讲懂】本讲从平衡系综中被平均掉的微小涨落出发，研究单粒子的随机轨迹；依次建立 Einstein–Smoluchowski 随机游走、Langevin 随机力方程和 Fokker–Planck 分布演化方程，并说明噪声强度与摩擦/扩散并非独立。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概率分布、均值与方差。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经典力学、正则系综与热平衡。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随机轨迹不可预测不等于其分布没有确定的演化规律。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0B133A3-9A2C-436F-AFC4-FDFDB9C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326346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E0CA0E8-EEE3-41AD-898C-E635B869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0576AB4-B088-4A8A-AFE5-ABE00FB9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16E184A-EAED-43B5-961E-A4A93591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5A0D4B7-8212-4B03-9A34-52F42687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【忠实翻译】课件回顾微正则、正则、广义 Gibbs 正则和巨正则系综。热力学主要描述宏观态与平均值；大系统中能量与粒子数的相对涨落通常随 1/√N 消失，所以分布细节常不重要，但小系统与非平衡问题必须保留这些细节。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relative fluctuation｜相对涨落：标准差除以平均值。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connected variance ⟨N²⟩c｜连通方差：⟨N²⟩−⟨N⟩²。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EA2808C-51A1-4D15-BDC8-F0411647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252380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4542EC0-26E8-4A3C-A7F7-1910EA9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6AAF26-C5E1-407A-AB0A-E311C220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C97E84E-AA73-4C9B-A915-D317BBF0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1639481-C093-495D-BE82-A2BCBE3E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【从零讲懂】分布峰宽不是零，只是相对平均值变窄。正则系综的能量涨落尺度 δE∼√(kBT²C)，巨正则粒子数相对涨落约1/√N。接下来把这种“背景热涨落”当成驱动单粒子随机运动的来源。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第7讲第5–7页：系综比较。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热容与响应函数。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源表巨正则概率一处写 exp(-βH-βμN)，与 Q=∑exp(βμN-βH) 不一致；标准符号为 exp[-β(H-μN)]。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520AF65-3BFC-47F3-B9B1-490C1A00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200772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484E83E-58B5-462B-8261-803CA61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20173F6-B28E-4FF7-B6F4-88D4AC1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C3B8BE4-B74F-4DA1-A8D0-009BE00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F474A11-466B-4FEE-95CE-8955E2BF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δE∼√(kBT²C_x)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√(⟨N²⟩_c)/⟨N⟩∼1/√N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S=kBlnΩ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F=-kBTlnZ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kBTlnQ=PV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A22333D-A730-4C20-AD22-A8DC0BD6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37047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D1C289B-EDA3-4D7F-9C5F-383F17D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0E95D61-0686-417C-8533-A9E1CFF1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45498A5-261B-4BD0-9DFF-B1A7A4F5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20B5AF9-FE63-4AAB-9C0E-D5C35BBC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【忠实翻译】涨落在两类情形尤其重要：小尺度上，单粒子的热运动表现为布朗运动；非平衡条件下，微观热运动产生扩散等输运现象。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transport phenomenon｜输运现象：粒子、能量或动量因梯度而传递。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out of equilibrium｜非平衡：系统存在时间演化、流或宏观梯度的状态。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519D96D-EAF7-4728-8317-2DBFC11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27933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8CA28C3-4319-4E1C-B1DD-C3C0AB9C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1795FC3-926F-4FA7-8373-F54D4047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6F69377-4D04-461D-B0DD-4DCE63D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C3E319D-23F2-42DC-8332-9137A5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【从零讲懂】热力学平均值适合巨大平衡系统，却会把单粒子的随机路径平均成平淡的零漂移。若问题关心噪声、首达时间、扩散宽度或输运流，就必须研究概率分布与相关函数。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第10讲第2页：宏观平均与涨落尺度。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平均位移为零不表示粒子没有运动；均方位移仍会增长。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68F1F0-CAB5-45D2-A3B6-3B279B0E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259698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C3E3860-A7EC-49BE-AD6C-EAA748A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5845121-8A20-4C5D-BB16-2F0D020C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5B0A5DB-C365-480C-B5B2-7996FB1C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B277600-164F-47AE-9DBE-5189309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【忠实翻译】背景介质被视为处于热平衡的热库。悬浮大粒子不断受到许多小分子的随机碰撞，轨迹因此呈锯齿式波动。单粒子系统不能只用宏观热力学平均描述；我们要建模由热环境相互作用产生的运动涨落。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thermal reservoir｜热库：足够大、交换能量后温度近似不变的环境。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coarse graining｜粗粒化：忽略环境细节，只保留其对目标变量的有效影响。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CDA2170-BB84-4417-BCF3-BC305EE4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327251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1E861F8-ABFC-4395-99C0-D6E5AECC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E14C4E4-9CE7-4B81-87B5-12FC7822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67F6267-4E58-4D0A-9E4C-C833A95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D78ECC7-E0A1-41EA-A587-107A1B37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【从零讲懂】把环境的海量自由度“积分掉”后，它对观察粒子留下两种效果：平均摩擦拖慢运动，以及零均值随机力持续注入波动。二者必须协调，系统才能长期保持温度 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热平衡、牛顿第二定律。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随机力平均为零不表示随机力在每一时刻为零。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EBA12C5-2CC7-4151-8F58-BE274BA0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595911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AB45665-C0D7-4C7D-ACC5-AB14F3D1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D42AE73-6668-4C51-BD1F-E7CAF327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0EBD54C-79E1-4E31-B29F-7A8A501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E647BF2-71B6-476D-972E-5587DC3B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【忠实翻译】课件以股价为类比：大量后台交易共同产生可见价格波动；Black–Scholes 定价模型使用布朗运动概念，并提到数学家 Jim Simons 与 Renaissance。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Black–Scholes model｜Black–Scholes 模型：用几何布朗运动等假设为期权定价的经典模型。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stochastic process｜随机过程：随时间变化的一族随机变量。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B156761-208A-42B8-A4EA-307458B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384029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1786E31-7003-423E-86D9-AA4A8FA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E63C329-AC71-400B-A49D-88C81460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BDA0186-9140-4646-B649-B484F397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3CBC015-6708-4DDE-9E41-83879388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【从零讲懂】这个例子只说明“许多微小随机事件可形成宏观随机过程”。金融价格通常有非平稳性、厚尾与波动率聚集，不应把简单物理布朗运动当成现实市场的完整模型。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第10讲第4页：布朗运动直觉。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这是教学类比，不是投资建议，也不意味着真实股价严格服从普通布朗运动。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C04A54E-0877-4C47-B7CF-68B40BA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931835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EC548CE-10AE-4823-AEA7-9842903F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470C39E-CD57-4AA6-AF46-5AE0E6B7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1974E7-EC5E-483C-9618-725FEE5C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66DDE36-B56C-4104-855C-8CBDE55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【忠实翻译】一维对称随机游走中，n 步、净位移 m 的概率由组合数给出。平均 m̄=0、均方 m²¯=n；课件先写出 x̄=0、x²¯=l²t/τ*。令每步长度 l、时间 τ*，则 x=ml、t=nτ*。长时间用 Stirling 近似得到 p_n(m)≈[2/√(2πn)]exp[-m²/(2n)]，连续极限为 p(x)dx=[dx/√(4πDt)]exp[-x²/(4Dt)]，D=l²/(2τ*)。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random walk｜随机游走：由独立随机步组成的路径。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central limit theorem｜中心极限定理：大量独立增量之和趋于 Gaussian 分布。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diffusion coefficient D｜扩散系数 D：控制均方位移增长率的量。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BEDEE4D-B4C9-4A25-BF7C-9D7F2286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171667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10F3E6-F1E9-436B-B4DE-77B38186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537AF31-0685-4F5D-B7FF-312E4FFC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7703480-FE1E-43BD-AA41-55721F1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E1ABAC8-7FF1-46B7-9C85-DF87356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【从零讲懂】位移本身正负抵消，所以看 ⟨x²⟩。独立步数随 t 增长，方差相加给 ⟨x²⟩=l²t/τ*=2Dt；因此 x_rms=l√(t/τ*)=√(2Dt)∝t^{1/2}，这是扩散而非匀速运动。离散 Gaussian 前面的因子 2 来自只有与 n 同奇偶的 m 才可达；转为连续 x 后由格点间距 2l 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二项分布、均值与方差。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Stirling 近似。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x_rms∝√t，不是平均速度恒定的 x∝t。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只有 n 与 m 同奇偶时组合数对应可达位置。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不要把离散近似 p_n(m) 前的 2 直接照搬到连续密度 p(x)；两者的归一化测度不同。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5F5F60D-483B-4FF0-9869-76CB14B0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903619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4FDD379-A678-4F79-96F1-F70AF09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B3198E6-1107-488F-B88F-5791349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89DACC6-A4F2-4BEB-91B4-499FECBC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14C3BC8-C631-4B45-98BB-F028FC0C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t≫τ*: x̄=0, x²¯=l²t/τ*∝t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x_rms=√(x²¯)=l√(t/τ*)∝t^{1/2}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p_n(m)=n!/{[(n+m)/2]![(n-m)/2]!}(1/2)^n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m̄=0, m²¯=n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p_n(m)≈2/√(2πn) exp[-m²/(2n)]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x=ml, t=nτ*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7. p(x)dx=dx/√(4πDt) exp[-x²/(4Dt)]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8. D=l²/(2τ*)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9. x_rms=√⟨x²⟩=√(2Dt)∝t^{1/2}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08BCA37-CD87-42D6-8B98-E60CE780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935410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2C2DA9A-C1C0-4FAA-91FB-D1CC477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9849755-3283-45B1-8293-C392A1F5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28EC65E-0FEB-4321-9C26-35C0E15F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090922D-1344-48A2-A9B3-BC8379CF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【忠实翻译】三维自由扩散粒子密度为 n(r,t)=N(4πDt)^{-3/2}exp[-r²/(4Dt)]，随时间展宽并稀释，满足 ∂tn=D∇²n。也可从短时位移核 fτ(Δ) 的 Chapman–Kolmogorov 卷积展开，若 ⟨Δ²⟩τ∝τ，保留二阶项即得扩散方程。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diffusion equation｜扩散方程：∂tn=D∇²n。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transition kernel｜跃迁核：短时间位移 Δ 的概率密度 fτ。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Chapman–Kolmogorov relation｜Chapman–Kolmogorov 关系：通过中间状态组合转移概率。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9630CEA-7193-442B-AD46-28576786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9412961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370142D-551F-4F46-993F-52431D84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18D1D35-5C2E-48B7-A262-58840D3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51BECC2-D881-45CF-A315-E32C9D90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EB833CE-AD84-41EC-BF92-1AF602DB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【从零讲懂】卷积表示“到达 x 的粒子可从所有 x+Δ 跳来”。对称随机步使一阶矩为零，二阶矩留下 D；高阶矩在 τ→0 的适当极限消失。Gaussian 是点源初始条件下扩散方程的基本解。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第10讲第6页：Gaussian 随机游走。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Taylor 展开与 Laplacian。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n(r,t) 是粒子数密度而非单粒子概率；除以 N 后才归一化为1。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B589E6C-A389-4598-8CA7-D80C1560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066911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1D0ED8F-6E5D-49CD-A04D-5E4AB68A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B4E6387-906C-405F-BA29-6582369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EDC8103-5922-475D-902E-ECD564FE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23232D3-3CAB-45CB-AC37-58DBCB3D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n(r,t)=N/(4πDt)^{3/2} exp[-r²/(4Dt)]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∇²n-(1/D)∂n/∂t=0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n(x,t+τ)=∫_{-∞}^{∞}dΔ f_τ(-Δ)n(x+Δ,t)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∂tn=(1/2τ)⟨Δ²⟩_τ ∂x²n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⟨Δ²⟩_τ∼τ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0DEAD8F-1E25-431E-A28F-C7DF4961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03152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C5387A5-3A58-4D8B-BBE1-83551C3D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8C4C075-4702-49FE-B074-946E485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13CB275-3EA2-4D04-BE43-06C924A8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ADA0485-455B-468E-B738-CDA93C62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【忠实翻译】连续性方程 ∇·j+∂tn=0 与扩散方程给出扩散流 jdiff=−D∇n。外势 U(r) 产生 Fext=−∇U，粒子以漂移速度 v=ηFext 形成 jdrift=nv。平衡时两流抵消且 n∝e^{-U/(kBT)}，从而 η=D/(kBT)：这是一种涨落—耗散关系。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mobility η｜迁移率 η：稳态漂移速度与外力之比。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Einstein relation｜爱因斯坦关系：D=ηkBT，把扩散与迁移率联系。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fluctuation–dissipation theorem｜涨落—耗散定理：平衡涨落强度由耗散响应确定。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956A76-54CA-4E3A-A983-3F76EEA9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237973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FBD8FB7-7588-4742-9AD9-5FFD5C8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CBA95FA-0647-41F2-B600-165B6BF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FFACFF0-E055-47A5-85BD-784C9E80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6F96514-0B22-42B0-AB43-E0C52D28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【从零讲懂】D 描述热噪声把粒子摊开，η 描述同一环境下外力能推动多快。若二者任意独立，长期分布不会是 Boltzmann 分布。负号 jdiff=−D∇n 表示粒子从高密度流向低密度。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第10讲第7页：扩散方程。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Boltzmann 分布与连续性方程。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课件底部“v² is also fine”语义不够明确；线性迁移率关系 v=ηF 才直接导出所示 Einstein 关系。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A7F0076-6CD5-4F90-9CBF-37CDEE98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44144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F1530A-051B-438B-8C88-465EFCF8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9B5B2A1-1202-4419-9FB3-920E1376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8D2D5D2-B826-48D6-8580-5D02E25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ABF236C-E0E1-4009-AB88-5420D40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∂tn+∇·j=0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j_diff=-D∇n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F_ext=-∇U(r)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v=ηF_ext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j_drift=nv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n=n₀e^{-U/(kBT)}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7. η=D/(kBT)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3B3933E-3DF2-44CB-A2DE-2CB288DF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157448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FF69CFE-31BB-4106-8A3C-CECF23D9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97440DA-9667-4829-B495-3020D05F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D9745A1-8171-43B9-A43B-9F974A5A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7DEE419-32EF-4945-B198-A8C0D2F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【忠实翻译】Langevin 理论把观察粒子的动力学写为 Mdv/dt=−v/B+F(t)，其中 −v/B 是平均阻力，随机力 F(t) 的平均为零。随机运动源于背景热库的快速碰撞。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Langevin equation｜Langevin 方程：含阻尼与随机力的有效运动方程。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drag force｜阻力：与速度反向、耗散动能的平均力。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noise｜噪声：未显式追踪的环境自由度产生的随机驱动。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88E1E69-1641-4EC0-8C04-27275328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8653218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7C14E20-411C-41DF-A7F4-02699D02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7D76B95-7A7F-40B1-B7D4-AB53906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9AF5655-0717-4787-88E2-049D0AC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946F178-F37E-4682-BFDD-979C7F9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【从零讲懂】B 在课件中相当于迁移率，阻力系数为 1/B；速度松弛时间 τ=MB。方程把大量环境自由度压缩成确定性阻尼加随机噪声。只有同时指定噪声相关函数，随机微分方程才完整。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第10讲第4页：热库的两种有效作用。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牛顿第二定律。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F(t) 平均为零不能删除它；它决定速度方差和扩散。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不同教材常用 γv 表示阻力，本页 γ=1/B。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59C6A00-C275-40FC-86C6-C77B1A22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876439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D25B0B3-2281-4234-975F-F16BA947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2D4ADF8-E7E2-41CB-BFEC-9C586127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8F3E900-DB6C-4313-A1AB-3B6B8187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L10-09｜公式与符号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7202F17-23EC-460D-AE34-63CB9EEA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M dv/dt=-v/B+F(t)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⟨F(t)⟩=0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τ=MB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B604B71-5749-4EF2-9757-BCE1C33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18760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E02023-34B0-4463-9AEA-541BD2ED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FC3E1AF-DF64-40C6-8934-CB3143C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89A6346-3E86-42C9-9BBB-858C2F6E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A00D28C-C85D-4620-9389-549D341B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 Langevin 方程取平均得 M d⟨v⟩/dt=−⟨v⟩/B，故 ⟨v(t)⟩=v(0)e^{-t/τ}、τ=MB，长时间无净漂移。课件随后用 r·v=(1/2)d(r²)/dt、r·dv/dt=(1/2)d²(r²)/dt²−v² 和 ⟨r·F⟩=0，把矢量方程化为均方位移方程。结合 ⟨v²⟩=3kBT/M，解得课件所列 ⟨r²⟩。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relaxation time τ｜松弛时间 τ：速度记忆衰减到 e^{-1} 的时间尺度。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ballistic regime｜弹道区：短时 ⟨r²⟩∝t²。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diffusive regime｜扩散区：长时 ⟨r²⟩∝t。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E120E26-ED3E-4C69-8CFB-7AB5DE35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070138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28009CE-5A8F-4016-9CA8-959E11CE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DAE25C5-5E76-4123-885D-A57BCABC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1658D9A-512C-4A7D-A956-8BFAC97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FF07EA1-0992-4821-9027-BF47C059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【从零讲懂】关键中间式是 d²⟨r²⟩/dt²+(1/τ)d⟨r²⟩/dt=2⟨v²⟩：右边不是零，因为没有平均速度仍有热速度方差。短时间 t≪τ 时粒子保留惯性，⟨r²⟩∝t²（弹道区）；长时间转为 ⟨r²⟩≈6BkBTt=6Dt（扩散区），由此再得 D=BkBT。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第10讲第9页：Langevin 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能均分定理。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⟨v⟩→0 与 ⟨v²⟩非零可同时成立；前者是方向平均，后者是热运动强度。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从 r·dv/dt 改写时不要漏掉 −v² 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2804646-E7A4-4E4C-B5E0-2A73AAC1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2821561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BC5E410-F866-4548-B813-01B4CB96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2BD355-D48A-42A7-8F5C-9992733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D6490F6-E6B0-4329-B2FE-9B08E954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9075DC4-1E4E-4F16-BC18-6FE24E2F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⟨v(t)⟩=v(0)e^{-t/τ}, τ=MB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r·v=(1/2)d(r²)/dt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r·dv/dt=(1/2)d²(r²)/dt²-v²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⟨r·F⟩=0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d²⟨r²⟩/dt²+(1/τ)d⟨r²⟩/dt=2⟨v²⟩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⟨v²⟩=3kBT/M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7. ⟨r²⟩=(6kBTτ²/M){t/τ-[1-e^{-t/τ}]}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8. t≫τ: ⟨r²⟩≈6BkBTt=6Dt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9. D=BkBT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2B43F92-D958-4F77-BD13-3D6892F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439044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6AAB586-28A8-4B86-96D8-4BE3852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5712622-8CF1-42AD-8E64-D60700D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E4DA661-C0BC-4D1A-8E91-F65CA78C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1F4B6CE-69F3-4D66-95F0-15E7CE7E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 Langevin 方程作 Fourier 变换，v(ω)=F(ω)/(1/B−iMω)。若噪声平稳，⟨F(t₁)·F(t₂)⟩=K(t₁−t₂)，频域相关为 2πδ(ω+ω′)K(ω)。无记忆白噪声取 K(t)=Cδ(t)，速度方差由噪声谱除以阻尼响应积分得到。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white noise｜白噪声：相关时间理想化为零、功率谱为常数的噪声。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power spectrum｜功率谱：相关函数的 Fourier 变换。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memoryless/Markovian｜无记忆/Markov：未来只依赖当前状态而非完整历史。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6A28C81-76E1-4E71-AFE0-DAF1C8F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1700119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FFE0EF0-FABA-4D74-987C-3135B582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A6C39AF-246C-4FD1-9DAD-08D38E02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DFB8B81-BE92-4E80-8378-96CA19E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6A376BC-143B-4DBD-948D-B85B7492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【从零讲懂】δ 相关表示环境相关时间远短于粒子松弛时间。阻尼会压低高频速度响应，随机力持续补回能量；要求最终满足等分配即可固定 C 与 B、T 的关系，这就是频域涨落—耗散思想。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第10讲第9–10页：Langevin 方程与松弛。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Fourier 变换、Dirac δ 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“无记忆”是时间尺度分离近似，真实噪声通常有有限相关时间。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课件向量点积会带维数因子；用一维或三维等分配时 C 的数值系数要一致。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B2F40E1-29D3-4F29-BF81-A6B91DB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9816972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E125EB3-A4E6-4848-88A3-29F26B4C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1D00062-3D49-4901-848C-061F45D5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10E7EAC-67BA-4145-B3CB-0266EC0E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5DA31D3-2227-4372-99CF-AB97B4AF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v(ω)=∫dt v(t)e^{iωt}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v(ω)=F(ω)/(1/B-iMω)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⟨F(t₁)·F(t₂)⟩=K(t₁-t₂)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⟨F(ω)·F(ω′)⟩=2πδ(ω+ω′)K(ω)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⟨v²(t)⟩=∫dω/(2π) K(ω)/(1/B²+M²ω²)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K(t)=Cδ(t)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2D80815-EEC9-4FB9-B3D6-1617961F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3477452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4449533-D076-44B7-9D13-CFBFB2FC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5D42319-96C8-445C-85DB-AB5FF82F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C5BD19B-FC33-4130-9F6B-8B782E83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24A05CD-A883-49DC-A86D-FC176256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【忠实翻译】主方程 ∂tp(a,t)=∫da′[W(a|a′)p(a′,t)−W(a′|a)p(a,t)]：第一项是从 a′ 流入 a，第二项是从 a 流出到 a′。平衡时总净流为零；更强的细致平衡条件为 W(a|a′)/W(a′|a)=peq(a)/peq(a′)。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master equation｜主方程：离散/跳跃随机过程的概率演化方程。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transition rate W(a｜a′)：跃迁率|单位时间从 a′ 跳到 a 的概率率。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detailed balance｜细致平衡：平衡时每对反向跃迁概率流逐对相等。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C7C928E-2DEF-43A4-A7BF-EBF1522C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4595607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FC79E2C-6247-4A65-989E-075221F7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EAC1F36-5DC0-4DAF-8EF7-05C0E82B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EDEE302-76CC-476A-B680-4027B772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95C2FA2-49D9-4A67-94FE-238050AA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【从零讲懂】主方程是概率守恒的“收入−支出账本”。定态只要求所有流量合计为零，细致平衡还要求每一对状态之间逐对抵消；后者对应没有稳态环流的平衡系统。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概率守恒与条件概率。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第10讲第7页：短时跃迁核。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定态不必一定满足细致平衡；非平衡稳态可有循环概率流。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F488FE0-B6BF-4258-84CF-B76F1519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66950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9A5190D-D4BA-480B-9A24-0CFA4113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B3F5870-C87A-4577-97B6-669BBDFA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9A4423B-B8E9-4950-8F26-F001A37F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63C9F7C-B05C-444A-B102-3E2F4481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∂_t p(a,t)=∫da′[W(a|a′)p(a′,t)-W(a′|a)p(a,t)]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0=∫da′[W(a|a′)p_eq(a′)-W(a′|a)p_eq(a)]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W(a|a′)/W(a′|a)=p_eq(a)/p_eq(a′)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CEA15D2-6224-4828-AB83-313329AB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582608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D1FC213-F78A-4405-9CCD-1345398D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F7D0FEA-CF2B-4696-8097-823A404B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40F8084-BDB3-44A8-A734-6B1B327E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052B1B-0022-4499-9961-06A85ABA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【忠实翻译】令跳跃大小 b=a−a′，把主方程改写为 ∂tp(a)=∫db{[W_b p](a−b)−[W_{−b}p](a)}。课件同时写出概率守恒所需 ∫db[W_b(a)−W_{−b}(a)]=0。把流入项对小 b 作 Taylor 展开并定义 α_n(a)=∫db W_b(a)b^n，即得 Kramers–Moyal 级数；截断到前两阶就是 Fokker–Planck 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Kramers–Moyal expansion｜Kramers–Moyal 展开：按跳跃矩展开主方程。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Fokker–Planck equation｜Fokker–Planck 方程：连续随机变量概率密度的漂移—扩散方程。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drift coefficient｜漂移系数：单位时间平均增量。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A2F7BC6-E28C-44F7-9063-7A2B127E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441019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23CF15E-E3E7-42B8-801A-47C6BA5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1D2F50F-3F43-4EDA-8804-0F466DE3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CC58598-9B50-4306-BD15-733E4C19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EC37AE8-E384-438E-9927-E8465BEA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【从零讲懂】一阶矩 α₁ 决定分布中心怎样移动，二阶矩 α₂ 决定宽度怎样增长。小跳跃且高阶累积量可忽略时二阶截断合理；它把离散跳跃过程转成连续偏微分方程。注意 W_b 与 W_{−b} 分别对应相反方向跳跃，守恒式保证把方程对 a 积分后总概率不变。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第10讲第12页：主方程。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Taylor 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算符应作用在 αn(a)p(a,t) 的乘积上；不能只对 p 求导。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变量替换 a′=a−b 后，流入率要在 a−b 处取值；不要把两个 W 项都误写在 a。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28C88CD-2106-4B67-96B9-ECD52AA3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7372381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73E54D5-3357-4B2D-8C22-327B6EF9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0524F3D-513E-4095-906C-5740CB7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AF70322-A7E0-49FC-9C66-A60FB782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E12A852-68C3-4BDA-B2E9-05C0CC9A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W(a|a′)=W_{a-a′}(a′), b=a-a′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∂_t p(a)=∫db{[W_b p](a-b)-[W_{-b}p](a)}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∫db[W_b(a)-W_{-b}(a)]=0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α_n(a)=∫db W_b(a)b^n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∂_t p(a,t)=∑_{n=1}∞(-1)^n/n! ∂_a^n[α_n(a)p(a,t)]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∂_t p=[-∂_aα₁(a)+(1/2)∂_a²α₂(a)]p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5B25228-11B5-4220-813F-81A8CF8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9709759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AECF074-4CB2-4E6A-AA53-55EC743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2F68798-FD9A-472A-B9D3-B53D2DF4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7FBF139-40CB-4347-B54C-385E007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0850FE5-1F47-4695-AF89-859E5CD8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【忠实翻译】把变量改记为位置 x、概率密度 f、跳跃矩 μ。Fokker–Planck 方程为 ∂tf=−∂x[μ₁(x)f]+(1/2)∂x²[μ₂(x)f]，其中 μ₁=⟨δx⟩/δt=⟨vx⟩，μ₂=⟨(δx)²⟩/δt。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first jump moment｜第一跳跃矩：单位时间平均位移。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second jump moment｜第二跳跃矩：单位时间均方位移。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multiplicative noise｜乘性噪声：扩散系数随状态 x 变化的噪声。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44B268B-6016-4870-B664-A4DB3851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6882423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BA3EC9E-ED94-4A1B-9FD2-67BA8F56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FBED384-7B39-4364-9176-F7D62BD7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4701526-A599-4061-B213-1B4ADAF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FF16992-84B3-4C14-83B4-859789AE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【从零讲懂】μ₁ 控制平均位置移动，μ₂ 控制方差增长。若系数依赖 x，必须把它们留在导数内部；这代表不同位置的漂移或噪声强度不同。课件底部 W(x,x′)δx′δt 的句子是在给跃迁率概率解释。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第10讲第13页：Kramers–Moyal 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当 μ₂(x) 非常数时，(1/2)μ₂∂x²f 与 (1/2)∂x²(μ₂f) 不等价。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0C46983-3015-4F2A-A69A-6AC27128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1839811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55BC081-D4CE-4223-92A0-5242A33E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69049C4-932E-4699-BD81-CE74F33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2C3E566-3668-4409-AC13-496C948F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76B1105-7703-4650-A4D7-BCF1D818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∂f/∂t=-∂x[μ₁(x)f]+(1/2)∂x²[μ₂(x)f]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μ₁(x)=∫dξ ξW(x;ξ)=⟨δx⟩/δt=⟨v_x⟩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μ₂(x)=∫dξ ξ²W(x;ξ)=⟨(δx)²⟩/δt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7237C37-3EA1-42F5-B6DC-700AF025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8887688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1116177-0113-4088-B8DA-15C94F5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5EDB0E7-F613-4FC1-8C50-070E237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E6DECBE-C031-490E-9EC7-797611C3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F9C85C8-AC60-430D-887C-2D7120A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【忠实翻译】课件把漂移写为 Fx=⟨vx⟩/B，并取扩散增量 ⟨δx²⟩=2BkBTδt，所以 μ₁=BFx、μ₂=2BkBT。代入得到 ∂tf=B∂x(Fx f)+BkBT∂x²f（符号取决于 Fx 是势力还是其负梯度的定义）。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drift–diffusion equation｜漂移—扩散方程：同时含外力定向运动与随机扩散的 Fokker–Planck 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stationary distribution｜定态分布：∂tf=0 的概率分布。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38D225D-0718-411F-8CEE-9798CE3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8440340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F2AFAF2-49C3-4A15-A6CC-10AF30C8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A83359B-FA12-4567-A251-3EC1A56D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8505F0D-EA7F-4AC8-BF21-87054BEB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E5165E5-1BE5-4EB5-8520-C74B8936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【从零讲懂】这正是“确定性漂移+热扩散”的概率方程。若 Fx=∂xU，第一项把分布推向低势能；与 Einstein 关系 D=BkBT 配合后，定态是 Boltzmann 分布。检查符号最可靠的方法是验证平衡流是否为零。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第10讲第8页：Einstein 关系。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第10讲第14页：μ₁、μ₂。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本页 Fx 的符号约定与常见物理力 F=-∂xU 可能相反；必须以最终概率流和平衡 Boltzmann 分布检查。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15ACBCE-B3CD-440B-9BE8-E3FA7A9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2598503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6754506-93A6-4C64-AA61-74CB5F0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C0F7FE4-2FBE-4D7C-A5F6-2D1880A9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38DDC26-5CAA-460A-ACC4-0FD65144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2494E5B-8F3B-4311-A9C1-F4CC7625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μ₁=⟨v_x⟩=BF_x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μ₂=⟨δx²⟩/δt=2BkBT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∂f/∂t=B∂x(F_x f)+BkBT∂²f/∂x²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D=BkBT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9F6FFDE-DBCB-4656-8607-0A6FF3DD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1750173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207B2C7-063A-4F31-8BA1-BE60916C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729904F-9ACD-4DBB-835C-3354254C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FD2B46B-A7A1-4DB8-98B8-21DD2D9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666187A-2924-4316-9F27-3FD80E83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【忠实翻译】进一步学习相互作用系统：经典体系可深入集团展开；量子体系需要二次量子化或场论。相变的临界现象需要重整化群。课件推荐 Altland 与 Simons 的《Condensed Matter Field Theory》。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second quantization｜二次量子化：用产生湮灭算符描述可变占据多体态。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renormalization group｜重整化群：逐尺度消去自由度并研究参数流。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universality｜普适性：不同微观系统共享相同临界行为。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13A29BF-953C-4C11-98B7-31F61B0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2653150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B0F8E49-49AC-4D11-93D2-0D92C3DC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4064341-CD4D-4750-9497-BB91BFD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5AEE64F-2795-43E1-8832-595678EC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5F9D455-F9FB-4F1A-80A4-25E98F2C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【从零讲懂】这些主题分别解决本课程近似的边界：集团展开系统组织低密度关联；二次量子化让粒子产生/湮灭与交换统计更自然；重整化群解释为何临界点不同微观模型呈现相同普适指数。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第6讲：平均场、Landau 与临界涨落。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第8–9讲：量子统计。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“场论”不是只用于高能物理；凝聚态多体问题也广泛使用。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E41D291-94FE-4B12-AD98-E159799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250034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7FAAB20-BEB5-414C-AF6E-9C51369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498BB3-33C4-4A6D-B86E-AB765A81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15917C-F98D-4B70-8CA0-64B17394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A6870F9-CA17-41E1-8F5B-BDBA70E3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【忠实翻译】非平衡方向包括密度矩阵形式：经典/半经典 Boltzmann 方程、量子开放系统的 Lindblad 方程，以及量子非平衡的 Keldysh 路径积分。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Boltzmann equation｜Boltzmann 方程：含漂移与碰撞积分的单粒子分布演化方程。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Lindblad equation｜Lindblad 方程：Markov 开放量子系统的完全正、保迹主方程。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Keldysh path integral｜Keldysh 路径积分：沿闭合时间轮廓处理非平衡量子体系的方法。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54EA739-8873-4ECE-B8D3-5B3F813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5651630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B42B4A8-DDA2-43A2-B102-4B52A0F4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472DE3B-23ED-49C5-A8D8-27A6BCE4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B910D51-C0D1-44DB-BF34-A5BB127D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69FC3A0-B5F3-4CF3-BB45-319CBC8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【从零讲懂】Boltzmann 方程追踪相空间分布与碰撞；Lindblad 方程在 Markov 近似下保持密度矩阵的迹与正性；Keldysh 方法用前向/后向时间轮廓计算驱动体系与关联函数。它们都是本讲 Fokker–Planck 思想向更复杂系统的延伸。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第7讲：密度矩阵。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第10讲第12–15页：主方程与 Fokker–Planck。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Lindblad 形式依赖 Markov 等近似，并非所有开放量子动力学都严格适用。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D114C9E-2E47-4767-B58C-FD259629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7134985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520F705-3C90-4CBD-8DF4-9E853691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B572923-3969-4FCE-976D-2C496CC0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4897E3-CE34-4357-AFEC-F3F9C871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4A6CF02-F3F8-4175-B511-345B294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【忠实翻译】建议补充的数学包括统计推断与非平衡随机微积分；计算方法包括 Monte Carlo 与分子动力学。课件推荐 Casella 与 Berger 的《Statistical Inference》。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stochastic calculus｜随机微积分：处理含白噪声微分方程的数学。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Monte Carlo｜蒙特卡洛：用随机采样计算期望或模拟统计系综。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molecular dynamics｜分子动力学：数值积分多粒子运动方程。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statistical inference｜统计推断：从数据估计参数、检验模型与量化不确定性。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6921485-1F95-4392-BF45-3ACEE6C9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3560413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E5611E9-76DC-4EAB-9DA8-DE02A7A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1331F68-E58F-43C8-AC58-64E12A2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C7FFFF6-A3C6-45D9-B133-DC21FFBA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L10-18｜入门讲解与易错点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093D3D7-78B0-4EC3-9F33-92D0245B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【从零讲懂】统计推断帮助从有限数据估计模型参数；随机微积分处理连续时间噪声并区分 Itô/Stratonovich 解释；Monte Carlo 通过随机采样估计平衡平均；分子动力学直接积分运动方程得到轨迹。理论、统计与模拟三者互相校验。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概率论、微积分、基础编程。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Monte Carlo 的“时间步”通常不是物理时间；分子动力学轨迹才直接对应动力学时间（取决于模型与积分器）。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D05291A-9A9E-489F-A283-1E8987A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46267707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50534</TotalTime>
  <Words>578</Words>
  <Application>Microsoft Office PowerPoint</Application>
  <PresentationFormat>Widescreen</PresentationFormat>
  <Paragraphs>120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Linux Libertine</vt:lpstr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Comparison between ensemble models</vt:lpstr>
      <vt:lpstr>Thermodynamics vs Fluctuations</vt:lpstr>
      <vt:lpstr>Brownian motion</vt:lpstr>
      <vt:lpstr>Real-world example:</vt:lpstr>
      <vt:lpstr>Einstein-Smoluchowski theory</vt:lpstr>
      <vt:lpstr>Einstein-Smoluchowski theory</vt:lpstr>
      <vt:lpstr>Einstein-Smoluchowski theory</vt:lpstr>
      <vt:lpstr>Langevin theory</vt:lpstr>
      <vt:lpstr>Langevin theory</vt:lpstr>
      <vt:lpstr>Langevin theory</vt:lpstr>
      <vt:lpstr>Fokker-Planck equation: evolution of distribution</vt:lpstr>
      <vt:lpstr>Fokker-Planck equation: evolution of distribution</vt:lpstr>
      <vt:lpstr>Fokker-Planck equation: evolution of distribution</vt:lpstr>
      <vt:lpstr>Fokker-Planck equation: evolution of distribution</vt:lpstr>
      <vt:lpstr>Further topics</vt:lpstr>
      <vt:lpstr>Further topics</vt:lpstr>
      <vt:lpstr>Further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1673</cp:revision>
  <dcterms:created xsi:type="dcterms:W3CDTF">2024-08-25T23:32:26Z</dcterms:created>
  <dcterms:modified xsi:type="dcterms:W3CDTF">2025-10-29T12:04:36Z</dcterms:modified>
</cp:coreProperties>
</file>