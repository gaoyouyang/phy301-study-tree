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</p:sldMasterIdLst>
  <p:notesMasterIdLst>
    <p:notesMasterId r:id="rId21"/>
  </p:notesMasterIdLst>
  <p:sldIdLst>
    <p:sldId id="287" r:id="rId2"/>
    <p:sldId id="495" r:id="rId3"/>
    <p:sldId id="499" r:id="rId4"/>
    <p:sldId id="500" r:id="rId5"/>
    <p:sldId id="537" r:id="rId6"/>
    <p:sldId id="501" r:id="rId7"/>
    <p:sldId id="502" r:id="rId8"/>
    <p:sldId id="503" r:id="rId9"/>
    <p:sldId id="504" r:id="rId10"/>
    <p:sldId id="536" r:id="rId11"/>
    <p:sldId id="505" r:id="rId12"/>
    <p:sldId id="507" r:id="rId13"/>
    <p:sldId id="509" r:id="rId14"/>
    <p:sldId id="510" r:id="rId15"/>
    <p:sldId id="557" r:id="rId16"/>
    <p:sldId id="558" r:id="rId17"/>
    <p:sldId id="556" r:id="rId18"/>
    <p:sldId id="555" r:id="rId19"/>
    <p:sldId id="550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ADE4"/>
    <a:srgbClr val="0432FF"/>
    <a:srgbClr val="1AA0D3"/>
    <a:srgbClr val="FFFFFF"/>
    <a:srgbClr val="DFE3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712"/>
  </p:normalViewPr>
  <p:slideViewPr>
    <p:cSldViewPr snapToGrid="0" snapToObjects="1">
      <p:cViewPr varScale="1">
        <p:scale>
          <a:sx n="65" d="100"/>
          <a:sy n="65" d="100"/>
        </p:scale>
        <p:origin x="6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0C4CF7-F995-064A-A609-EA130F94374C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F87CB1-692F-4249-B4E0-C0426D9B9C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230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6371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726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7768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08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881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9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540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950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4918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558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9586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smtClean="0"/>
              <a:pPr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0306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svg"/><Relationship Id="rId18" Type="http://schemas.openxmlformats.org/officeDocument/2006/relationships/image" Target="../media/image1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17" Type="http://schemas.openxmlformats.org/officeDocument/2006/relationships/image" Target="../media/image17.sv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5" Type="http://schemas.openxmlformats.org/officeDocument/2006/relationships/image" Target="../media/image15.svg"/><Relationship Id="rId10" Type="http://schemas.openxmlformats.org/officeDocument/2006/relationships/image" Target="../media/image10.png"/><Relationship Id="rId19" Type="http://schemas.openxmlformats.org/officeDocument/2006/relationships/image" Target="../media/image19.sv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20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sv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svg"/><Relationship Id="rId9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13" Type="http://schemas.openxmlformats.org/officeDocument/2006/relationships/image" Target="../media/image25.svg"/><Relationship Id="rId18" Type="http://schemas.openxmlformats.org/officeDocument/2006/relationships/image" Target="../media/image32.png"/><Relationship Id="rId3" Type="http://schemas.openxmlformats.org/officeDocument/2006/relationships/image" Target="../media/image35.svg"/><Relationship Id="rId21" Type="http://schemas.openxmlformats.org/officeDocument/2006/relationships/image" Target="../media/image44.png"/><Relationship Id="rId7" Type="http://schemas.openxmlformats.org/officeDocument/2006/relationships/image" Target="../media/image39.png"/><Relationship Id="rId12" Type="http://schemas.openxmlformats.org/officeDocument/2006/relationships/image" Target="../media/image24.png"/><Relationship Id="rId17" Type="http://schemas.openxmlformats.org/officeDocument/2006/relationships/image" Target="../media/image31.png"/><Relationship Id="rId2" Type="http://schemas.openxmlformats.org/officeDocument/2006/relationships/image" Target="../media/image34.png"/><Relationship Id="rId16" Type="http://schemas.openxmlformats.org/officeDocument/2006/relationships/image" Target="../media/image28.png"/><Relationship Id="rId20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23.png"/><Relationship Id="rId5" Type="http://schemas.openxmlformats.org/officeDocument/2006/relationships/image" Target="../media/image37.svg"/><Relationship Id="rId15" Type="http://schemas.openxmlformats.org/officeDocument/2006/relationships/image" Target="../media/image27.svg"/><Relationship Id="rId23" Type="http://schemas.openxmlformats.org/officeDocument/2006/relationships/image" Target="../media/image20.png"/><Relationship Id="rId10" Type="http://schemas.openxmlformats.org/officeDocument/2006/relationships/image" Target="../media/image42.svg"/><Relationship Id="rId19" Type="http://schemas.openxmlformats.org/officeDocument/2006/relationships/image" Target="../media/image33.svg"/><Relationship Id="rId4" Type="http://schemas.openxmlformats.org/officeDocument/2006/relationships/image" Target="../media/image36.png"/><Relationship Id="rId9" Type="http://schemas.openxmlformats.org/officeDocument/2006/relationships/image" Target="../media/image41.png"/><Relationship Id="rId14" Type="http://schemas.openxmlformats.org/officeDocument/2006/relationships/image" Target="../media/image26.png"/><Relationship Id="rId22" Type="http://schemas.openxmlformats.org/officeDocument/2006/relationships/image" Target="../media/image4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13" Type="http://schemas.openxmlformats.org/officeDocument/2006/relationships/image" Target="../media/image38.png"/><Relationship Id="rId3" Type="http://schemas.openxmlformats.org/officeDocument/2006/relationships/image" Target="../media/image24.png"/><Relationship Id="rId7" Type="http://schemas.openxmlformats.org/officeDocument/2006/relationships/image" Target="../media/image36.png"/><Relationship Id="rId12" Type="http://schemas.openxmlformats.org/officeDocument/2006/relationships/image" Target="../media/image49.svg"/><Relationship Id="rId2" Type="http://schemas.openxmlformats.org/officeDocument/2006/relationships/image" Target="../media/image23.pn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svg"/><Relationship Id="rId11" Type="http://schemas.openxmlformats.org/officeDocument/2006/relationships/image" Target="../media/image48.png"/><Relationship Id="rId5" Type="http://schemas.openxmlformats.org/officeDocument/2006/relationships/image" Target="../media/image34.png"/><Relationship Id="rId15" Type="http://schemas.openxmlformats.org/officeDocument/2006/relationships/image" Target="../media/image51.svg"/><Relationship Id="rId10" Type="http://schemas.openxmlformats.org/officeDocument/2006/relationships/image" Target="../media/image47.png"/><Relationship Id="rId4" Type="http://schemas.openxmlformats.org/officeDocument/2006/relationships/image" Target="../media/image25.svg"/><Relationship Id="rId9" Type="http://schemas.openxmlformats.org/officeDocument/2006/relationships/image" Target="../media/image46.png"/><Relationship Id="rId14" Type="http://schemas.openxmlformats.org/officeDocument/2006/relationships/image" Target="../media/image5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2.png"/><Relationship Id="rId7" Type="http://schemas.openxmlformats.org/officeDocument/2006/relationships/image" Target="../media/image54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20.png"/><Relationship Id="rId5" Type="http://schemas.openxmlformats.org/officeDocument/2006/relationships/image" Target="../media/image28.png"/><Relationship Id="rId10" Type="http://schemas.openxmlformats.org/officeDocument/2006/relationships/image" Target="../media/image43.png"/><Relationship Id="rId4" Type="http://schemas.openxmlformats.org/officeDocument/2006/relationships/image" Target="../media/image53.png"/><Relationship Id="rId9" Type="http://schemas.openxmlformats.org/officeDocument/2006/relationships/image" Target="../media/image5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svg"/><Relationship Id="rId13" Type="http://schemas.openxmlformats.org/officeDocument/2006/relationships/image" Target="../media/image64.svg"/><Relationship Id="rId18" Type="http://schemas.openxmlformats.org/officeDocument/2006/relationships/image" Target="../media/image69.png"/><Relationship Id="rId3" Type="http://schemas.openxmlformats.org/officeDocument/2006/relationships/image" Target="../media/image24.png"/><Relationship Id="rId21" Type="http://schemas.openxmlformats.org/officeDocument/2006/relationships/image" Target="../media/image72.svg"/><Relationship Id="rId7" Type="http://schemas.openxmlformats.org/officeDocument/2006/relationships/image" Target="../media/image58.png"/><Relationship Id="rId12" Type="http://schemas.openxmlformats.org/officeDocument/2006/relationships/image" Target="../media/image63.png"/><Relationship Id="rId17" Type="http://schemas.openxmlformats.org/officeDocument/2006/relationships/image" Target="../media/image68.svg"/><Relationship Id="rId2" Type="http://schemas.openxmlformats.org/officeDocument/2006/relationships/image" Target="../media/image23.png"/><Relationship Id="rId16" Type="http://schemas.openxmlformats.org/officeDocument/2006/relationships/image" Target="../media/image67.png"/><Relationship Id="rId20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11" Type="http://schemas.openxmlformats.org/officeDocument/2006/relationships/image" Target="../media/image62.svg"/><Relationship Id="rId24" Type="http://schemas.openxmlformats.org/officeDocument/2006/relationships/image" Target="../media/image20.png"/><Relationship Id="rId5" Type="http://schemas.openxmlformats.org/officeDocument/2006/relationships/image" Target="../media/image57.png"/><Relationship Id="rId15" Type="http://schemas.openxmlformats.org/officeDocument/2006/relationships/image" Target="../media/image66.svg"/><Relationship Id="rId23" Type="http://schemas.openxmlformats.org/officeDocument/2006/relationships/image" Target="../media/image51.svg"/><Relationship Id="rId10" Type="http://schemas.openxmlformats.org/officeDocument/2006/relationships/image" Target="../media/image61.png"/><Relationship Id="rId19" Type="http://schemas.openxmlformats.org/officeDocument/2006/relationships/image" Target="../media/image70.svg"/><Relationship Id="rId4" Type="http://schemas.openxmlformats.org/officeDocument/2006/relationships/image" Target="../media/image25.svg"/><Relationship Id="rId9" Type="http://schemas.openxmlformats.org/officeDocument/2006/relationships/image" Target="../media/image60.png"/><Relationship Id="rId14" Type="http://schemas.openxmlformats.org/officeDocument/2006/relationships/image" Target="../media/image65.png"/><Relationship Id="rId22" Type="http://schemas.openxmlformats.org/officeDocument/2006/relationships/image" Target="../media/image5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svg"/><Relationship Id="rId13" Type="http://schemas.openxmlformats.org/officeDocument/2006/relationships/image" Target="../media/image50.png"/><Relationship Id="rId18" Type="http://schemas.openxmlformats.org/officeDocument/2006/relationships/image" Target="../media/image79.png"/><Relationship Id="rId3" Type="http://schemas.openxmlformats.org/officeDocument/2006/relationships/image" Target="../media/image24.png"/><Relationship Id="rId7" Type="http://schemas.openxmlformats.org/officeDocument/2006/relationships/image" Target="../media/image58.png"/><Relationship Id="rId12" Type="http://schemas.openxmlformats.org/officeDocument/2006/relationships/image" Target="../media/image75.png"/><Relationship Id="rId17" Type="http://schemas.openxmlformats.org/officeDocument/2006/relationships/image" Target="../media/image78.png"/><Relationship Id="rId2" Type="http://schemas.openxmlformats.org/officeDocument/2006/relationships/image" Target="../media/image23.png"/><Relationship Id="rId16" Type="http://schemas.openxmlformats.org/officeDocument/2006/relationships/image" Target="../media/image77.sv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5" Type="http://schemas.openxmlformats.org/officeDocument/2006/relationships/image" Target="../media/image57.png"/><Relationship Id="rId15" Type="http://schemas.openxmlformats.org/officeDocument/2006/relationships/image" Target="../media/image76.png"/><Relationship Id="rId10" Type="http://schemas.openxmlformats.org/officeDocument/2006/relationships/image" Target="../media/image74.png"/><Relationship Id="rId19" Type="http://schemas.openxmlformats.org/officeDocument/2006/relationships/image" Target="../media/image80.svg"/><Relationship Id="rId4" Type="http://schemas.openxmlformats.org/officeDocument/2006/relationships/image" Target="../media/image25.svg"/><Relationship Id="rId9" Type="http://schemas.openxmlformats.org/officeDocument/2006/relationships/image" Target="../media/image73.png"/><Relationship Id="rId14" Type="http://schemas.openxmlformats.org/officeDocument/2006/relationships/image" Target="../media/image51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svg"/><Relationship Id="rId13" Type="http://schemas.openxmlformats.org/officeDocument/2006/relationships/image" Target="../media/image81.png"/><Relationship Id="rId18" Type="http://schemas.openxmlformats.org/officeDocument/2006/relationships/image" Target="../media/image60.png"/><Relationship Id="rId3" Type="http://schemas.openxmlformats.org/officeDocument/2006/relationships/image" Target="../media/image24.png"/><Relationship Id="rId21" Type="http://schemas.openxmlformats.org/officeDocument/2006/relationships/image" Target="../media/image82.png"/><Relationship Id="rId7" Type="http://schemas.openxmlformats.org/officeDocument/2006/relationships/image" Target="../media/image58.png"/><Relationship Id="rId12" Type="http://schemas.openxmlformats.org/officeDocument/2006/relationships/image" Target="../media/image51.svg"/><Relationship Id="rId17" Type="http://schemas.openxmlformats.org/officeDocument/2006/relationships/image" Target="../media/image64.svg"/><Relationship Id="rId2" Type="http://schemas.openxmlformats.org/officeDocument/2006/relationships/image" Target="../media/image23.png"/><Relationship Id="rId16" Type="http://schemas.openxmlformats.org/officeDocument/2006/relationships/image" Target="../media/image63.png"/><Relationship Id="rId20" Type="http://schemas.openxmlformats.org/officeDocument/2006/relationships/image" Target="../media/image77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11" Type="http://schemas.openxmlformats.org/officeDocument/2006/relationships/image" Target="../media/image50.png"/><Relationship Id="rId5" Type="http://schemas.openxmlformats.org/officeDocument/2006/relationships/image" Target="../media/image57.png"/><Relationship Id="rId15" Type="http://schemas.openxmlformats.org/officeDocument/2006/relationships/image" Target="../media/image62.svg"/><Relationship Id="rId23" Type="http://schemas.openxmlformats.org/officeDocument/2006/relationships/image" Target="../media/image20.png"/><Relationship Id="rId10" Type="http://schemas.openxmlformats.org/officeDocument/2006/relationships/image" Target="../media/image74.png"/><Relationship Id="rId19" Type="http://schemas.openxmlformats.org/officeDocument/2006/relationships/image" Target="../media/image76.png"/><Relationship Id="rId4" Type="http://schemas.openxmlformats.org/officeDocument/2006/relationships/image" Target="../media/image25.svg"/><Relationship Id="rId9" Type="http://schemas.openxmlformats.org/officeDocument/2006/relationships/image" Target="../media/image73.png"/><Relationship Id="rId14" Type="http://schemas.openxmlformats.org/officeDocument/2006/relationships/image" Target="../media/image61.png"/><Relationship Id="rId22" Type="http://schemas.openxmlformats.org/officeDocument/2006/relationships/image" Target="../media/image83.sv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2.png"/><Relationship Id="rId18" Type="http://schemas.openxmlformats.org/officeDocument/2006/relationships/image" Target="../media/image97.svg"/><Relationship Id="rId26" Type="http://schemas.openxmlformats.org/officeDocument/2006/relationships/image" Target="../media/image105.svg"/><Relationship Id="rId3" Type="http://schemas.openxmlformats.org/officeDocument/2006/relationships/image" Target="../media/image24.png"/><Relationship Id="rId21" Type="http://schemas.openxmlformats.org/officeDocument/2006/relationships/image" Target="../media/image100.png"/><Relationship Id="rId34" Type="http://schemas.openxmlformats.org/officeDocument/2006/relationships/image" Target="../media/image113.svg"/><Relationship Id="rId7" Type="http://schemas.openxmlformats.org/officeDocument/2006/relationships/image" Target="../media/image86.png"/><Relationship Id="rId12" Type="http://schemas.openxmlformats.org/officeDocument/2006/relationships/image" Target="../media/image91.svg"/><Relationship Id="rId17" Type="http://schemas.openxmlformats.org/officeDocument/2006/relationships/image" Target="../media/image96.png"/><Relationship Id="rId25" Type="http://schemas.openxmlformats.org/officeDocument/2006/relationships/image" Target="../media/image104.png"/><Relationship Id="rId33" Type="http://schemas.openxmlformats.org/officeDocument/2006/relationships/image" Target="../media/image112.png"/><Relationship Id="rId2" Type="http://schemas.openxmlformats.org/officeDocument/2006/relationships/image" Target="../media/image23.png"/><Relationship Id="rId16" Type="http://schemas.openxmlformats.org/officeDocument/2006/relationships/image" Target="../media/image95.svg"/><Relationship Id="rId20" Type="http://schemas.openxmlformats.org/officeDocument/2006/relationships/image" Target="../media/image99.svg"/><Relationship Id="rId29" Type="http://schemas.openxmlformats.org/officeDocument/2006/relationships/image" Target="../media/image10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svg"/><Relationship Id="rId11" Type="http://schemas.openxmlformats.org/officeDocument/2006/relationships/image" Target="../media/image90.png"/><Relationship Id="rId24" Type="http://schemas.openxmlformats.org/officeDocument/2006/relationships/image" Target="../media/image103.svg"/><Relationship Id="rId32" Type="http://schemas.openxmlformats.org/officeDocument/2006/relationships/image" Target="../media/image111.svg"/><Relationship Id="rId5" Type="http://schemas.openxmlformats.org/officeDocument/2006/relationships/image" Target="../media/image84.png"/><Relationship Id="rId15" Type="http://schemas.openxmlformats.org/officeDocument/2006/relationships/image" Target="../media/image94.png"/><Relationship Id="rId23" Type="http://schemas.openxmlformats.org/officeDocument/2006/relationships/image" Target="../media/image102.png"/><Relationship Id="rId28" Type="http://schemas.openxmlformats.org/officeDocument/2006/relationships/image" Target="../media/image107.png"/><Relationship Id="rId10" Type="http://schemas.openxmlformats.org/officeDocument/2006/relationships/image" Target="../media/image89.svg"/><Relationship Id="rId19" Type="http://schemas.openxmlformats.org/officeDocument/2006/relationships/image" Target="../media/image98.png"/><Relationship Id="rId31" Type="http://schemas.openxmlformats.org/officeDocument/2006/relationships/image" Target="../media/image110.png"/><Relationship Id="rId4" Type="http://schemas.openxmlformats.org/officeDocument/2006/relationships/image" Target="../media/image25.svg"/><Relationship Id="rId9" Type="http://schemas.openxmlformats.org/officeDocument/2006/relationships/image" Target="../media/image88.png"/><Relationship Id="rId14" Type="http://schemas.openxmlformats.org/officeDocument/2006/relationships/image" Target="../media/image93.svg"/><Relationship Id="rId22" Type="http://schemas.openxmlformats.org/officeDocument/2006/relationships/image" Target="../media/image101.svg"/><Relationship Id="rId27" Type="http://schemas.openxmlformats.org/officeDocument/2006/relationships/image" Target="../media/image106.png"/><Relationship Id="rId30" Type="http://schemas.openxmlformats.org/officeDocument/2006/relationships/image" Target="../media/image109.svg"/><Relationship Id="rId35" Type="http://schemas.openxmlformats.org/officeDocument/2006/relationships/image" Target="../media/image20.png"/><Relationship Id="rId8" Type="http://schemas.openxmlformats.org/officeDocument/2006/relationships/image" Target="../media/image87.sv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9.svg"/><Relationship Id="rId18" Type="http://schemas.openxmlformats.org/officeDocument/2006/relationships/image" Target="../media/image48.png"/><Relationship Id="rId26" Type="http://schemas.openxmlformats.org/officeDocument/2006/relationships/image" Target="../media/image126.png"/><Relationship Id="rId21" Type="http://schemas.openxmlformats.org/officeDocument/2006/relationships/image" Target="../media/image124.png"/><Relationship Id="rId34" Type="http://schemas.openxmlformats.org/officeDocument/2006/relationships/image" Target="../media/image132.emf"/><Relationship Id="rId7" Type="http://schemas.openxmlformats.org/officeDocument/2006/relationships/image" Target="../media/image103.svg"/><Relationship Id="rId12" Type="http://schemas.openxmlformats.org/officeDocument/2006/relationships/image" Target="../media/image118.png"/><Relationship Id="rId17" Type="http://schemas.openxmlformats.org/officeDocument/2006/relationships/image" Target="../media/image123.png"/><Relationship Id="rId25" Type="http://schemas.openxmlformats.org/officeDocument/2006/relationships/image" Target="../media/image31.png"/><Relationship Id="rId33" Type="http://schemas.openxmlformats.org/officeDocument/2006/relationships/image" Target="../media/image131.svg"/><Relationship Id="rId38" Type="http://schemas.openxmlformats.org/officeDocument/2006/relationships/image" Target="../media/image20.png"/><Relationship Id="rId2" Type="http://schemas.openxmlformats.org/officeDocument/2006/relationships/image" Target="../media/image94.png"/><Relationship Id="rId16" Type="http://schemas.openxmlformats.org/officeDocument/2006/relationships/image" Target="../media/image122.png"/><Relationship Id="rId20" Type="http://schemas.openxmlformats.org/officeDocument/2006/relationships/image" Target="../media/image55.png"/><Relationship Id="rId29" Type="http://schemas.openxmlformats.org/officeDocument/2006/relationships/image" Target="../media/image99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2.png"/><Relationship Id="rId11" Type="http://schemas.openxmlformats.org/officeDocument/2006/relationships/image" Target="../media/image117.svg"/><Relationship Id="rId24" Type="http://schemas.openxmlformats.org/officeDocument/2006/relationships/image" Target="../media/image28.png"/><Relationship Id="rId32" Type="http://schemas.openxmlformats.org/officeDocument/2006/relationships/image" Target="../media/image130.png"/><Relationship Id="rId37" Type="http://schemas.openxmlformats.org/officeDocument/2006/relationships/image" Target="../media/image135.png"/><Relationship Id="rId5" Type="http://schemas.openxmlformats.org/officeDocument/2006/relationships/image" Target="../media/image115.svg"/><Relationship Id="rId15" Type="http://schemas.openxmlformats.org/officeDocument/2006/relationships/image" Target="../media/image121.png"/><Relationship Id="rId23" Type="http://schemas.openxmlformats.org/officeDocument/2006/relationships/image" Target="../media/image38.png"/><Relationship Id="rId28" Type="http://schemas.openxmlformats.org/officeDocument/2006/relationships/image" Target="../media/image98.png"/><Relationship Id="rId36" Type="http://schemas.openxmlformats.org/officeDocument/2006/relationships/image" Target="../media/image134.svg"/><Relationship Id="rId10" Type="http://schemas.openxmlformats.org/officeDocument/2006/relationships/image" Target="../media/image116.png"/><Relationship Id="rId19" Type="http://schemas.openxmlformats.org/officeDocument/2006/relationships/image" Target="../media/image49.svg"/><Relationship Id="rId31" Type="http://schemas.openxmlformats.org/officeDocument/2006/relationships/image" Target="../media/image129.svg"/><Relationship Id="rId4" Type="http://schemas.openxmlformats.org/officeDocument/2006/relationships/image" Target="../media/image114.png"/><Relationship Id="rId9" Type="http://schemas.openxmlformats.org/officeDocument/2006/relationships/image" Target="../media/image97.svg"/><Relationship Id="rId14" Type="http://schemas.openxmlformats.org/officeDocument/2006/relationships/image" Target="../media/image120.png"/><Relationship Id="rId22" Type="http://schemas.openxmlformats.org/officeDocument/2006/relationships/image" Target="../media/image125.svg"/><Relationship Id="rId27" Type="http://schemas.openxmlformats.org/officeDocument/2006/relationships/image" Target="../media/image127.svg"/><Relationship Id="rId30" Type="http://schemas.openxmlformats.org/officeDocument/2006/relationships/image" Target="../media/image128.png"/><Relationship Id="rId35" Type="http://schemas.openxmlformats.org/officeDocument/2006/relationships/image" Target="../media/image133.png"/><Relationship Id="rId8" Type="http://schemas.openxmlformats.org/officeDocument/2006/relationships/image" Target="../media/image96.png"/><Relationship Id="rId3" Type="http://schemas.openxmlformats.org/officeDocument/2006/relationships/image" Target="../media/image95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13" Type="http://schemas.openxmlformats.org/officeDocument/2006/relationships/image" Target="../media/image119.svg"/><Relationship Id="rId18" Type="http://schemas.openxmlformats.org/officeDocument/2006/relationships/image" Target="../media/image104.png"/><Relationship Id="rId26" Type="http://schemas.openxmlformats.org/officeDocument/2006/relationships/image" Target="../media/image20.png"/><Relationship Id="rId3" Type="http://schemas.openxmlformats.org/officeDocument/2006/relationships/image" Target="../media/image103.svg"/><Relationship Id="rId21" Type="http://schemas.openxmlformats.org/officeDocument/2006/relationships/image" Target="../media/image107.png"/><Relationship Id="rId7" Type="http://schemas.openxmlformats.org/officeDocument/2006/relationships/image" Target="../media/image139.svg"/><Relationship Id="rId12" Type="http://schemas.openxmlformats.org/officeDocument/2006/relationships/image" Target="../media/image118.png"/><Relationship Id="rId17" Type="http://schemas.openxmlformats.org/officeDocument/2006/relationships/image" Target="../media/image99.svg"/><Relationship Id="rId25" Type="http://schemas.openxmlformats.org/officeDocument/2006/relationships/image" Target="../media/image113.svg"/><Relationship Id="rId2" Type="http://schemas.openxmlformats.org/officeDocument/2006/relationships/image" Target="../media/image102.png"/><Relationship Id="rId16" Type="http://schemas.openxmlformats.org/officeDocument/2006/relationships/image" Target="../media/image98.png"/><Relationship Id="rId20" Type="http://schemas.openxmlformats.org/officeDocument/2006/relationships/image" Target="../media/image10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8.png"/><Relationship Id="rId11" Type="http://schemas.openxmlformats.org/officeDocument/2006/relationships/image" Target="../media/image143.svg"/><Relationship Id="rId24" Type="http://schemas.openxmlformats.org/officeDocument/2006/relationships/image" Target="../media/image112.png"/><Relationship Id="rId5" Type="http://schemas.openxmlformats.org/officeDocument/2006/relationships/image" Target="../media/image137.svg"/><Relationship Id="rId15" Type="http://schemas.openxmlformats.org/officeDocument/2006/relationships/image" Target="../media/image97.svg"/><Relationship Id="rId23" Type="http://schemas.openxmlformats.org/officeDocument/2006/relationships/image" Target="../media/image125.svg"/><Relationship Id="rId10" Type="http://schemas.openxmlformats.org/officeDocument/2006/relationships/image" Target="../media/image142.png"/><Relationship Id="rId19" Type="http://schemas.openxmlformats.org/officeDocument/2006/relationships/image" Target="../media/image105.svg"/><Relationship Id="rId4" Type="http://schemas.openxmlformats.org/officeDocument/2006/relationships/image" Target="../media/image136.png"/><Relationship Id="rId9" Type="http://schemas.openxmlformats.org/officeDocument/2006/relationships/image" Target="../media/image141.svg"/><Relationship Id="rId14" Type="http://schemas.openxmlformats.org/officeDocument/2006/relationships/image" Target="../media/image96.png"/><Relationship Id="rId22" Type="http://schemas.openxmlformats.org/officeDocument/2006/relationships/image" Target="../media/image12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png"/><Relationship Id="rId13" Type="http://schemas.openxmlformats.org/officeDocument/2006/relationships/image" Target="../media/image97.svg"/><Relationship Id="rId18" Type="http://schemas.openxmlformats.org/officeDocument/2006/relationships/image" Target="../media/image124.png"/><Relationship Id="rId3" Type="http://schemas.openxmlformats.org/officeDocument/2006/relationships/image" Target="../media/image101.svg"/><Relationship Id="rId21" Type="http://schemas.openxmlformats.org/officeDocument/2006/relationships/image" Target="../media/image112.png"/><Relationship Id="rId7" Type="http://schemas.openxmlformats.org/officeDocument/2006/relationships/image" Target="../media/image119.svg"/><Relationship Id="rId12" Type="http://schemas.openxmlformats.org/officeDocument/2006/relationships/image" Target="../media/image96.png"/><Relationship Id="rId17" Type="http://schemas.openxmlformats.org/officeDocument/2006/relationships/image" Target="../media/image149.svg"/><Relationship Id="rId2" Type="http://schemas.openxmlformats.org/officeDocument/2006/relationships/image" Target="../media/image100.png"/><Relationship Id="rId16" Type="http://schemas.openxmlformats.org/officeDocument/2006/relationships/image" Target="../media/image148.png"/><Relationship Id="rId20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8.png"/><Relationship Id="rId11" Type="http://schemas.openxmlformats.org/officeDocument/2006/relationships/image" Target="../media/image103.svg"/><Relationship Id="rId5" Type="http://schemas.openxmlformats.org/officeDocument/2006/relationships/image" Target="../media/image145.svg"/><Relationship Id="rId15" Type="http://schemas.openxmlformats.org/officeDocument/2006/relationships/image" Target="../media/image99.svg"/><Relationship Id="rId23" Type="http://schemas.openxmlformats.org/officeDocument/2006/relationships/image" Target="../media/image20.png"/><Relationship Id="rId10" Type="http://schemas.openxmlformats.org/officeDocument/2006/relationships/image" Target="../media/image102.png"/><Relationship Id="rId19" Type="http://schemas.openxmlformats.org/officeDocument/2006/relationships/image" Target="../media/image125.svg"/><Relationship Id="rId4" Type="http://schemas.openxmlformats.org/officeDocument/2006/relationships/image" Target="../media/image144.png"/><Relationship Id="rId9" Type="http://schemas.openxmlformats.org/officeDocument/2006/relationships/image" Target="../media/image147.svg"/><Relationship Id="rId14" Type="http://schemas.openxmlformats.org/officeDocument/2006/relationships/image" Target="../media/image98.png"/><Relationship Id="rId22" Type="http://schemas.openxmlformats.org/officeDocument/2006/relationships/image" Target="../media/image113.sv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2.svg"/><Relationship Id="rId18" Type="http://schemas.openxmlformats.org/officeDocument/2006/relationships/image" Target="../media/image167.png"/><Relationship Id="rId26" Type="http://schemas.openxmlformats.org/officeDocument/2006/relationships/image" Target="../media/image175.png"/><Relationship Id="rId39" Type="http://schemas.openxmlformats.org/officeDocument/2006/relationships/image" Target="../media/image188.svg"/><Relationship Id="rId21" Type="http://schemas.openxmlformats.org/officeDocument/2006/relationships/image" Target="../media/image170.svg"/><Relationship Id="rId34" Type="http://schemas.openxmlformats.org/officeDocument/2006/relationships/image" Target="../media/image183.png"/><Relationship Id="rId42" Type="http://schemas.openxmlformats.org/officeDocument/2006/relationships/image" Target="../media/image20.png"/><Relationship Id="rId7" Type="http://schemas.openxmlformats.org/officeDocument/2006/relationships/image" Target="../media/image156.svg"/><Relationship Id="rId2" Type="http://schemas.openxmlformats.org/officeDocument/2006/relationships/image" Target="../media/image151.png"/><Relationship Id="rId16" Type="http://schemas.openxmlformats.org/officeDocument/2006/relationships/image" Target="../media/image165.png"/><Relationship Id="rId20" Type="http://schemas.openxmlformats.org/officeDocument/2006/relationships/image" Target="../media/image169.png"/><Relationship Id="rId29" Type="http://schemas.openxmlformats.org/officeDocument/2006/relationships/image" Target="../media/image178.svg"/><Relationship Id="rId41" Type="http://schemas.openxmlformats.org/officeDocument/2006/relationships/image" Target="../media/image190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5.png"/><Relationship Id="rId11" Type="http://schemas.openxmlformats.org/officeDocument/2006/relationships/image" Target="../media/image160.svg"/><Relationship Id="rId24" Type="http://schemas.openxmlformats.org/officeDocument/2006/relationships/image" Target="../media/image173.png"/><Relationship Id="rId32" Type="http://schemas.openxmlformats.org/officeDocument/2006/relationships/image" Target="../media/image181.png"/><Relationship Id="rId37" Type="http://schemas.openxmlformats.org/officeDocument/2006/relationships/image" Target="../media/image186.svg"/><Relationship Id="rId40" Type="http://schemas.openxmlformats.org/officeDocument/2006/relationships/image" Target="../media/image189.png"/><Relationship Id="rId5" Type="http://schemas.openxmlformats.org/officeDocument/2006/relationships/image" Target="../media/image154.svg"/><Relationship Id="rId15" Type="http://schemas.openxmlformats.org/officeDocument/2006/relationships/image" Target="../media/image164.svg"/><Relationship Id="rId23" Type="http://schemas.openxmlformats.org/officeDocument/2006/relationships/image" Target="../media/image172.svg"/><Relationship Id="rId28" Type="http://schemas.openxmlformats.org/officeDocument/2006/relationships/image" Target="../media/image177.png"/><Relationship Id="rId36" Type="http://schemas.openxmlformats.org/officeDocument/2006/relationships/image" Target="../media/image185.png"/><Relationship Id="rId10" Type="http://schemas.openxmlformats.org/officeDocument/2006/relationships/image" Target="../media/image159.png"/><Relationship Id="rId19" Type="http://schemas.openxmlformats.org/officeDocument/2006/relationships/image" Target="../media/image168.svg"/><Relationship Id="rId31" Type="http://schemas.openxmlformats.org/officeDocument/2006/relationships/image" Target="../media/image180.svg"/><Relationship Id="rId4" Type="http://schemas.openxmlformats.org/officeDocument/2006/relationships/image" Target="../media/image153.png"/><Relationship Id="rId9" Type="http://schemas.openxmlformats.org/officeDocument/2006/relationships/image" Target="../media/image158.svg"/><Relationship Id="rId14" Type="http://schemas.openxmlformats.org/officeDocument/2006/relationships/image" Target="../media/image163.png"/><Relationship Id="rId22" Type="http://schemas.openxmlformats.org/officeDocument/2006/relationships/image" Target="../media/image171.png"/><Relationship Id="rId27" Type="http://schemas.openxmlformats.org/officeDocument/2006/relationships/image" Target="../media/image176.svg"/><Relationship Id="rId30" Type="http://schemas.openxmlformats.org/officeDocument/2006/relationships/image" Target="../media/image179.png"/><Relationship Id="rId35" Type="http://schemas.openxmlformats.org/officeDocument/2006/relationships/image" Target="../media/image184.svg"/><Relationship Id="rId8" Type="http://schemas.openxmlformats.org/officeDocument/2006/relationships/image" Target="../media/image157.png"/><Relationship Id="rId3" Type="http://schemas.openxmlformats.org/officeDocument/2006/relationships/image" Target="../media/image152.svg"/><Relationship Id="rId12" Type="http://schemas.openxmlformats.org/officeDocument/2006/relationships/image" Target="../media/image161.png"/><Relationship Id="rId17" Type="http://schemas.openxmlformats.org/officeDocument/2006/relationships/image" Target="../media/image166.svg"/><Relationship Id="rId25" Type="http://schemas.openxmlformats.org/officeDocument/2006/relationships/image" Target="../media/image174.svg"/><Relationship Id="rId33" Type="http://schemas.openxmlformats.org/officeDocument/2006/relationships/image" Target="../media/image182.svg"/><Relationship Id="rId38" Type="http://schemas.openxmlformats.org/officeDocument/2006/relationships/image" Target="../media/image18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3.png"/><Relationship Id="rId13" Type="http://schemas.openxmlformats.org/officeDocument/2006/relationships/image" Target="../media/image196.png"/><Relationship Id="rId18" Type="http://schemas.openxmlformats.org/officeDocument/2006/relationships/image" Target="../media/image201.svg"/><Relationship Id="rId3" Type="http://schemas.openxmlformats.org/officeDocument/2006/relationships/image" Target="../media/image172.svg"/><Relationship Id="rId21" Type="http://schemas.openxmlformats.org/officeDocument/2006/relationships/image" Target="../media/image20.png"/><Relationship Id="rId7" Type="http://schemas.openxmlformats.org/officeDocument/2006/relationships/image" Target="../media/image192.svg"/><Relationship Id="rId12" Type="http://schemas.openxmlformats.org/officeDocument/2006/relationships/image" Target="../media/image188.svg"/><Relationship Id="rId17" Type="http://schemas.openxmlformats.org/officeDocument/2006/relationships/image" Target="../media/image200.png"/><Relationship Id="rId2" Type="http://schemas.openxmlformats.org/officeDocument/2006/relationships/image" Target="../media/image171.png"/><Relationship Id="rId16" Type="http://schemas.openxmlformats.org/officeDocument/2006/relationships/image" Target="../media/image199.svg"/><Relationship Id="rId20" Type="http://schemas.openxmlformats.org/officeDocument/2006/relationships/image" Target="../media/image203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1.png"/><Relationship Id="rId11" Type="http://schemas.openxmlformats.org/officeDocument/2006/relationships/image" Target="../media/image187.png"/><Relationship Id="rId5" Type="http://schemas.openxmlformats.org/officeDocument/2006/relationships/image" Target="../media/image158.svg"/><Relationship Id="rId15" Type="http://schemas.openxmlformats.org/officeDocument/2006/relationships/image" Target="../media/image198.png"/><Relationship Id="rId10" Type="http://schemas.openxmlformats.org/officeDocument/2006/relationships/image" Target="../media/image195.png"/><Relationship Id="rId19" Type="http://schemas.openxmlformats.org/officeDocument/2006/relationships/image" Target="../media/image202.png"/><Relationship Id="rId4" Type="http://schemas.openxmlformats.org/officeDocument/2006/relationships/image" Target="../media/image157.png"/><Relationship Id="rId9" Type="http://schemas.openxmlformats.org/officeDocument/2006/relationships/image" Target="../media/image194.svg"/><Relationship Id="rId14" Type="http://schemas.openxmlformats.org/officeDocument/2006/relationships/image" Target="../media/image197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6.png"/><Relationship Id="rId13" Type="http://schemas.openxmlformats.org/officeDocument/2006/relationships/image" Target="../media/image211.svg"/><Relationship Id="rId18" Type="http://schemas.openxmlformats.org/officeDocument/2006/relationships/image" Target="../media/image216.png"/><Relationship Id="rId3" Type="http://schemas.openxmlformats.org/officeDocument/2006/relationships/image" Target="../media/image197.svg"/><Relationship Id="rId21" Type="http://schemas.openxmlformats.org/officeDocument/2006/relationships/image" Target="../media/image20.png"/><Relationship Id="rId7" Type="http://schemas.openxmlformats.org/officeDocument/2006/relationships/image" Target="../media/image205.svg"/><Relationship Id="rId12" Type="http://schemas.openxmlformats.org/officeDocument/2006/relationships/image" Target="../media/image210.png"/><Relationship Id="rId17" Type="http://schemas.openxmlformats.org/officeDocument/2006/relationships/image" Target="../media/image215.png"/><Relationship Id="rId2" Type="http://schemas.openxmlformats.org/officeDocument/2006/relationships/image" Target="../media/image196.png"/><Relationship Id="rId16" Type="http://schemas.openxmlformats.org/officeDocument/2006/relationships/image" Target="../media/image214.png"/><Relationship Id="rId20" Type="http://schemas.openxmlformats.org/officeDocument/2006/relationships/image" Target="../media/image2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4.png"/><Relationship Id="rId11" Type="http://schemas.openxmlformats.org/officeDocument/2006/relationships/image" Target="../media/image209.svg"/><Relationship Id="rId5" Type="http://schemas.openxmlformats.org/officeDocument/2006/relationships/image" Target="../media/image199.svg"/><Relationship Id="rId15" Type="http://schemas.openxmlformats.org/officeDocument/2006/relationships/image" Target="../media/image213.svg"/><Relationship Id="rId10" Type="http://schemas.openxmlformats.org/officeDocument/2006/relationships/image" Target="../media/image208.png"/><Relationship Id="rId19" Type="http://schemas.openxmlformats.org/officeDocument/2006/relationships/image" Target="../media/image217.png"/><Relationship Id="rId4" Type="http://schemas.openxmlformats.org/officeDocument/2006/relationships/image" Target="../media/image198.png"/><Relationship Id="rId9" Type="http://schemas.openxmlformats.org/officeDocument/2006/relationships/image" Target="../media/image207.svg"/><Relationship Id="rId14" Type="http://schemas.openxmlformats.org/officeDocument/2006/relationships/image" Target="../media/image21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4.svg"/><Relationship Id="rId13" Type="http://schemas.openxmlformats.org/officeDocument/2006/relationships/image" Target="../media/image227.png"/><Relationship Id="rId18" Type="http://schemas.openxmlformats.org/officeDocument/2006/relationships/image" Target="../media/image230.svg"/><Relationship Id="rId26" Type="http://schemas.openxmlformats.org/officeDocument/2006/relationships/image" Target="../media/image236.svg"/><Relationship Id="rId3" Type="http://schemas.openxmlformats.org/officeDocument/2006/relationships/image" Target="../media/image219.png"/><Relationship Id="rId21" Type="http://schemas.openxmlformats.org/officeDocument/2006/relationships/image" Target="../media/image231.png"/><Relationship Id="rId7" Type="http://schemas.openxmlformats.org/officeDocument/2006/relationships/image" Target="../media/image223.png"/><Relationship Id="rId12" Type="http://schemas.openxmlformats.org/officeDocument/2006/relationships/image" Target="../media/image27.svg"/><Relationship Id="rId17" Type="http://schemas.openxmlformats.org/officeDocument/2006/relationships/image" Target="../media/image229.png"/><Relationship Id="rId25" Type="http://schemas.openxmlformats.org/officeDocument/2006/relationships/image" Target="../media/image235.png"/><Relationship Id="rId2" Type="http://schemas.openxmlformats.org/officeDocument/2006/relationships/image" Target="../media/image218.png"/><Relationship Id="rId16" Type="http://schemas.openxmlformats.org/officeDocument/2006/relationships/image" Target="../media/image85.svg"/><Relationship Id="rId20" Type="http://schemas.openxmlformats.org/officeDocument/2006/relationships/image" Target="../media/image9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2.svg"/><Relationship Id="rId11" Type="http://schemas.openxmlformats.org/officeDocument/2006/relationships/image" Target="../media/image26.png"/><Relationship Id="rId24" Type="http://schemas.openxmlformats.org/officeDocument/2006/relationships/image" Target="../media/image234.svg"/><Relationship Id="rId5" Type="http://schemas.openxmlformats.org/officeDocument/2006/relationships/image" Target="../media/image221.png"/><Relationship Id="rId15" Type="http://schemas.openxmlformats.org/officeDocument/2006/relationships/image" Target="../media/image84.png"/><Relationship Id="rId23" Type="http://schemas.openxmlformats.org/officeDocument/2006/relationships/image" Target="../media/image233.png"/><Relationship Id="rId10" Type="http://schemas.openxmlformats.org/officeDocument/2006/relationships/image" Target="../media/image226.svg"/><Relationship Id="rId19" Type="http://schemas.openxmlformats.org/officeDocument/2006/relationships/image" Target="../media/image90.png"/><Relationship Id="rId4" Type="http://schemas.openxmlformats.org/officeDocument/2006/relationships/image" Target="../media/image220.svg"/><Relationship Id="rId9" Type="http://schemas.openxmlformats.org/officeDocument/2006/relationships/image" Target="../media/image225.png"/><Relationship Id="rId14" Type="http://schemas.openxmlformats.org/officeDocument/2006/relationships/image" Target="../media/image228.svg"/><Relationship Id="rId22" Type="http://schemas.openxmlformats.org/officeDocument/2006/relationships/image" Target="../media/image232.svg"/><Relationship Id="rId27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13" Type="http://schemas.openxmlformats.org/officeDocument/2006/relationships/image" Target="../media/image119.svg"/><Relationship Id="rId18" Type="http://schemas.openxmlformats.org/officeDocument/2006/relationships/image" Target="../media/image125.svg"/><Relationship Id="rId26" Type="http://schemas.openxmlformats.org/officeDocument/2006/relationships/image" Target="../media/image20.png"/><Relationship Id="rId3" Type="http://schemas.openxmlformats.org/officeDocument/2006/relationships/image" Target="../media/image95.svg"/><Relationship Id="rId21" Type="http://schemas.openxmlformats.org/officeDocument/2006/relationships/image" Target="../media/image31.png"/><Relationship Id="rId7" Type="http://schemas.openxmlformats.org/officeDocument/2006/relationships/image" Target="../media/image103.svg"/><Relationship Id="rId12" Type="http://schemas.openxmlformats.org/officeDocument/2006/relationships/image" Target="../media/image118.png"/><Relationship Id="rId17" Type="http://schemas.openxmlformats.org/officeDocument/2006/relationships/image" Target="../media/image124.png"/><Relationship Id="rId25" Type="http://schemas.openxmlformats.org/officeDocument/2006/relationships/image" Target="../media/image99.svg"/><Relationship Id="rId2" Type="http://schemas.openxmlformats.org/officeDocument/2006/relationships/image" Target="../media/image94.png"/><Relationship Id="rId16" Type="http://schemas.openxmlformats.org/officeDocument/2006/relationships/image" Target="../media/image55.pn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2.png"/><Relationship Id="rId11" Type="http://schemas.openxmlformats.org/officeDocument/2006/relationships/image" Target="../media/image117.svg"/><Relationship Id="rId24" Type="http://schemas.openxmlformats.org/officeDocument/2006/relationships/image" Target="../media/image98.png"/><Relationship Id="rId5" Type="http://schemas.openxmlformats.org/officeDocument/2006/relationships/image" Target="../media/image115.svg"/><Relationship Id="rId15" Type="http://schemas.openxmlformats.org/officeDocument/2006/relationships/image" Target="../media/image49.svg"/><Relationship Id="rId23" Type="http://schemas.openxmlformats.org/officeDocument/2006/relationships/image" Target="../media/image127.svg"/><Relationship Id="rId10" Type="http://schemas.openxmlformats.org/officeDocument/2006/relationships/image" Target="../media/image116.png"/><Relationship Id="rId19" Type="http://schemas.openxmlformats.org/officeDocument/2006/relationships/image" Target="../media/image38.png"/><Relationship Id="rId4" Type="http://schemas.openxmlformats.org/officeDocument/2006/relationships/image" Target="../media/image114.png"/><Relationship Id="rId9" Type="http://schemas.openxmlformats.org/officeDocument/2006/relationships/image" Target="../media/image97.svg"/><Relationship Id="rId14" Type="http://schemas.openxmlformats.org/officeDocument/2006/relationships/image" Target="../media/image48.png"/><Relationship Id="rId22" Type="http://schemas.openxmlformats.org/officeDocument/2006/relationships/image" Target="../media/image1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Statistical physics phy301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Quantum statistics with identical particles</a:t>
            </a:r>
          </a:p>
          <a:p>
            <a:endParaRPr lang="en-US" dirty="0"/>
          </a:p>
          <a:p>
            <a:r>
              <a:rPr lang="en-US" dirty="0"/>
              <a:t>Fermi and Bose statistics</a:t>
            </a:r>
          </a:p>
          <a:p>
            <a:r>
              <a:rPr lang="en-US" dirty="0"/>
              <a:t>Lecturer: Kok Wee Song</a:t>
            </a:r>
          </a:p>
        </p:txBody>
      </p:sp>
    </p:spTree>
    <p:extLst>
      <p:ext uri="{BB962C8B-B14F-4D97-AF65-F5344CB8AC3E}">
        <p14:creationId xmlns:p14="http://schemas.microsoft.com/office/powerpoint/2010/main" val="1252794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9D407-E4C0-4D8E-A04A-D420DEE34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Quantum mechanics with N-particles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7757F7-496D-4F40-B17D-40B8E7BF611A}"/>
              </a:ext>
            </a:extLst>
          </p:cNvPr>
          <p:cNvSpPr txBox="1"/>
          <p:nvPr/>
        </p:nvSpPr>
        <p:spPr>
          <a:xfrm>
            <a:off x="4238966" y="2002055"/>
            <a:ext cx="25222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400" b="1" dirty="0"/>
              <a:t>Boson </a:t>
            </a:r>
            <a:r>
              <a:rPr lang="en-MY" sz="2400" b="1" dirty="0" err="1"/>
              <a:t>v.s</a:t>
            </a:r>
            <a:r>
              <a:rPr lang="en-MY" sz="2400" b="1" dirty="0"/>
              <a:t>. Fermi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AC98AC-3092-4DDD-96B3-746402E15BB9}"/>
              </a:ext>
            </a:extLst>
          </p:cNvPr>
          <p:cNvSpPr txBox="1"/>
          <p:nvPr/>
        </p:nvSpPr>
        <p:spPr>
          <a:xfrm flipH="1">
            <a:off x="536607" y="2874382"/>
            <a:ext cx="4391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Consider a two identical particle system: 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B631505-B119-480D-B56C-173A396AF9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46907" y="2874382"/>
            <a:ext cx="3062489" cy="48999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518A1BE7-5C73-4CE8-90EC-DEB697D316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32370" y="3531914"/>
            <a:ext cx="1547913" cy="646889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25A48908-B136-4F27-8DE8-E1C53A56570A}"/>
              </a:ext>
            </a:extLst>
          </p:cNvPr>
          <p:cNvGrpSpPr/>
          <p:nvPr/>
        </p:nvGrpSpPr>
        <p:grpSpPr>
          <a:xfrm>
            <a:off x="2955046" y="4056447"/>
            <a:ext cx="4254275" cy="785517"/>
            <a:chOff x="2955046" y="4056447"/>
            <a:chExt cx="4254275" cy="785517"/>
          </a:xfrm>
        </p:grpSpPr>
        <p:sp>
          <p:nvSpPr>
            <p:cNvPr id="17" name="Right Brace 16">
              <a:extLst>
                <a:ext uri="{FF2B5EF4-FFF2-40B4-BE49-F238E27FC236}">
                  <a16:creationId xmlns:a16="http://schemas.microsoft.com/office/drawing/2014/main" id="{8719AE33-1971-48A7-BBCD-0B510CD4001D}"/>
                </a:ext>
              </a:extLst>
            </p:cNvPr>
            <p:cNvSpPr/>
            <p:nvPr/>
          </p:nvSpPr>
          <p:spPr>
            <a:xfrm rot="5400000">
              <a:off x="4965048" y="2100931"/>
              <a:ext cx="288758" cy="4199789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4B5B012-15E2-40C7-B0CF-0FE03E21E45F}"/>
                </a:ext>
              </a:extLst>
            </p:cNvPr>
            <p:cNvSpPr txBox="1"/>
            <p:nvPr/>
          </p:nvSpPr>
          <p:spPr>
            <a:xfrm>
              <a:off x="2955046" y="4472632"/>
              <a:ext cx="25367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Must be the same state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78F97373-3BA8-4115-A1C3-6CBD8C40AFAB}"/>
              </a:ext>
            </a:extLst>
          </p:cNvPr>
          <p:cNvSpPr txBox="1"/>
          <p:nvPr/>
        </p:nvSpPr>
        <p:spPr>
          <a:xfrm>
            <a:off x="3128044" y="6424587"/>
            <a:ext cx="2415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(+) Boson is symmetry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C618C67-CA68-4113-89AB-2659C7082811}"/>
              </a:ext>
            </a:extLst>
          </p:cNvPr>
          <p:cNvSpPr txBox="1"/>
          <p:nvPr/>
        </p:nvSpPr>
        <p:spPr>
          <a:xfrm>
            <a:off x="6005985" y="6435477"/>
            <a:ext cx="3072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(-) Fermion is anti-symmetry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64DEE7E-F501-472C-AEB7-190B6D87B217}"/>
              </a:ext>
            </a:extLst>
          </p:cNvPr>
          <p:cNvSpPr txBox="1"/>
          <p:nvPr/>
        </p:nvSpPr>
        <p:spPr>
          <a:xfrm>
            <a:off x="9302138" y="6317177"/>
            <a:ext cx="2884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 err="1"/>
              <a:t>Anyon</a:t>
            </a:r>
            <a:r>
              <a:rPr lang="en-MY" dirty="0"/>
              <a:t>. (only in 2D system)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98005D7-B3F9-473F-BCC2-3BBE87B7A5E5}"/>
              </a:ext>
            </a:extLst>
          </p:cNvPr>
          <p:cNvGrpSpPr/>
          <p:nvPr/>
        </p:nvGrpSpPr>
        <p:grpSpPr>
          <a:xfrm>
            <a:off x="5430165" y="3226698"/>
            <a:ext cx="3151720" cy="894179"/>
            <a:chOff x="5430165" y="3226698"/>
            <a:chExt cx="3151720" cy="894179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D2AC0BB-EB5E-41A4-95A1-4A6E1DAE4AAD}"/>
                </a:ext>
              </a:extLst>
            </p:cNvPr>
            <p:cNvSpPr txBox="1"/>
            <p:nvPr/>
          </p:nvSpPr>
          <p:spPr>
            <a:xfrm>
              <a:off x="5690501" y="3226698"/>
              <a:ext cx="18532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Exchange 1 and 2</a:t>
              </a:r>
            </a:p>
          </p:txBody>
        </p:sp>
        <p:pic>
          <p:nvPicPr>
            <p:cNvPr id="43" name="Graphic 42">
              <a:extLst>
                <a:ext uri="{FF2B5EF4-FFF2-40B4-BE49-F238E27FC236}">
                  <a16:creationId xmlns:a16="http://schemas.microsoft.com/office/drawing/2014/main" id="{EABF31F8-4ED9-42CD-A49B-DCC9D6E93C7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430165" y="3524606"/>
              <a:ext cx="3151720" cy="596271"/>
            </a:xfrm>
            <a:prstGeom prst="rect">
              <a:avLst/>
            </a:prstGeom>
          </p:spPr>
        </p:pic>
      </p:grpSp>
      <p:pic>
        <p:nvPicPr>
          <p:cNvPr id="45" name="Graphic 44">
            <a:extLst>
              <a:ext uri="{FF2B5EF4-FFF2-40B4-BE49-F238E27FC236}">
                <a16:creationId xmlns:a16="http://schemas.microsoft.com/office/drawing/2014/main" id="{7853BAF9-42CF-48D9-9CD1-08DDFD89B37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069396" y="4820065"/>
            <a:ext cx="3474369" cy="622575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3A213D40-6783-45D7-82F6-55D543BAD296}"/>
              </a:ext>
            </a:extLst>
          </p:cNvPr>
          <p:cNvGrpSpPr/>
          <p:nvPr/>
        </p:nvGrpSpPr>
        <p:grpSpPr>
          <a:xfrm>
            <a:off x="7859661" y="5329151"/>
            <a:ext cx="1656194" cy="519617"/>
            <a:chOff x="7859661" y="5329151"/>
            <a:chExt cx="1656194" cy="519617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ADAE26E-0D52-411E-8C6E-4C3738200BE7}"/>
                </a:ext>
              </a:extLst>
            </p:cNvPr>
            <p:cNvSpPr txBox="1"/>
            <p:nvPr/>
          </p:nvSpPr>
          <p:spPr>
            <a:xfrm>
              <a:off x="7859661" y="5448064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But</a:t>
              </a:r>
            </a:p>
          </p:txBody>
        </p:sp>
        <p:pic>
          <p:nvPicPr>
            <p:cNvPr id="49" name="Graphic 48">
              <a:extLst>
                <a:ext uri="{FF2B5EF4-FFF2-40B4-BE49-F238E27FC236}">
                  <a16:creationId xmlns:a16="http://schemas.microsoft.com/office/drawing/2014/main" id="{ACD0E04F-FF61-4101-B575-D407807F29A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457375" y="5329151"/>
              <a:ext cx="1058480" cy="519617"/>
            </a:xfrm>
            <a:prstGeom prst="rect">
              <a:avLst/>
            </a:prstGeom>
          </p:spPr>
        </p:pic>
      </p:grpSp>
      <p:pic>
        <p:nvPicPr>
          <p:cNvPr id="51" name="Graphic 50">
            <a:extLst>
              <a:ext uri="{FF2B5EF4-FFF2-40B4-BE49-F238E27FC236}">
                <a16:creationId xmlns:a16="http://schemas.microsoft.com/office/drawing/2014/main" id="{0C6BA77B-7918-43C9-8F5C-749647BF7C5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557524" y="5396858"/>
            <a:ext cx="1441254" cy="512024"/>
          </a:xfrm>
          <a:prstGeom prst="rect">
            <a:avLst/>
          </a:prstGeom>
        </p:spPr>
      </p:pic>
      <p:pic>
        <p:nvPicPr>
          <p:cNvPr id="53" name="Graphic 52">
            <a:extLst>
              <a:ext uri="{FF2B5EF4-FFF2-40B4-BE49-F238E27FC236}">
                <a16:creationId xmlns:a16="http://schemas.microsoft.com/office/drawing/2014/main" id="{FA99C78D-4AAD-4ED2-BFC2-903FADC847F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280283" y="5999961"/>
            <a:ext cx="2884124" cy="545645"/>
          </a:xfrm>
          <a:prstGeom prst="rect">
            <a:avLst/>
          </a:pr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4B81C054-D717-4E46-B0F8-1A5B2D799B5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062982" y="5371052"/>
            <a:ext cx="3611564" cy="605181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505D628A-6AC8-46AE-B051-09561896BC85}"/>
              </a:ext>
            </a:extLst>
          </p:cNvPr>
          <p:cNvGrpSpPr/>
          <p:nvPr/>
        </p:nvGrpSpPr>
        <p:grpSpPr>
          <a:xfrm>
            <a:off x="5594492" y="4352061"/>
            <a:ext cx="3390956" cy="588576"/>
            <a:chOff x="5594492" y="4352061"/>
            <a:chExt cx="3390956" cy="588576"/>
          </a:xfrm>
        </p:grpSpPr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id="{501C81EB-925B-4982-83E3-673CEB8EC11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6042568" y="4352061"/>
              <a:ext cx="2942880" cy="588576"/>
            </a:xfrm>
            <a:prstGeom prst="rect">
              <a:avLst/>
            </a:prstGeom>
          </p:spPr>
        </p:pic>
        <p:sp>
          <p:nvSpPr>
            <p:cNvPr id="5" name="Arrow: Right 4">
              <a:extLst>
                <a:ext uri="{FF2B5EF4-FFF2-40B4-BE49-F238E27FC236}">
                  <a16:creationId xmlns:a16="http://schemas.microsoft.com/office/drawing/2014/main" id="{6A6F21D9-ED88-46F2-855C-FA665FBB8141}"/>
                </a:ext>
              </a:extLst>
            </p:cNvPr>
            <p:cNvSpPr/>
            <p:nvPr/>
          </p:nvSpPr>
          <p:spPr>
            <a:xfrm>
              <a:off x="5594492" y="4548112"/>
              <a:ext cx="462856" cy="19655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2D2357B-11C8-45D8-B9CF-BF383C30B7F9}"/>
              </a:ext>
            </a:extLst>
          </p:cNvPr>
          <p:cNvSpPr txBox="1"/>
          <p:nvPr/>
        </p:nvSpPr>
        <p:spPr>
          <a:xfrm>
            <a:off x="2399208" y="5444897"/>
            <a:ext cx="1774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Exchange again: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6D61B7D-A4D3-41CF-BDE7-19CEECE8D5DC}"/>
              </a:ext>
            </a:extLst>
          </p:cNvPr>
          <p:cNvGrpSpPr/>
          <p:nvPr/>
        </p:nvGrpSpPr>
        <p:grpSpPr>
          <a:xfrm>
            <a:off x="8457375" y="3630510"/>
            <a:ext cx="2466041" cy="1228710"/>
            <a:chOff x="8457375" y="3630510"/>
            <a:chExt cx="2466041" cy="1228710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C8A6FAC-6388-441F-A1A5-96E5A4ECC254}"/>
                </a:ext>
              </a:extLst>
            </p:cNvPr>
            <p:cNvSpPr txBox="1"/>
            <p:nvPr/>
          </p:nvSpPr>
          <p:spPr>
            <a:xfrm>
              <a:off x="8969483" y="4489888"/>
              <a:ext cx="19539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Substitute into (1)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55D9E05-E5BD-4B2E-99FC-4EF3DAF8A45B}"/>
                </a:ext>
              </a:extLst>
            </p:cNvPr>
            <p:cNvSpPr txBox="1"/>
            <p:nvPr/>
          </p:nvSpPr>
          <p:spPr>
            <a:xfrm>
              <a:off x="8457375" y="3630510"/>
              <a:ext cx="47885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MY" dirty="0"/>
                <a:t>(1)</a:t>
              </a:r>
            </a:p>
          </p:txBody>
        </p:sp>
      </p:grpSp>
      <p:pic>
        <p:nvPicPr>
          <p:cNvPr id="30" name="Picture 29">
            <a:extLst>
              <a:ext uri="{FF2B5EF4-FFF2-40B4-BE49-F238E27FC236}">
                <a16:creationId xmlns:a16="http://schemas.microsoft.com/office/drawing/2014/main" id="{B2D56DCA-6B3B-4E03-B9C4-46B270EE664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941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  <p:bldP spid="39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9D407-E4C0-4D8E-A04A-D420DEE34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Quantum mechanics with N-particles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7757F7-496D-4F40-B17D-40B8E7BF611A}"/>
              </a:ext>
            </a:extLst>
          </p:cNvPr>
          <p:cNvSpPr txBox="1"/>
          <p:nvPr/>
        </p:nvSpPr>
        <p:spPr>
          <a:xfrm>
            <a:off x="4238966" y="2002055"/>
            <a:ext cx="25222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400" b="1" dirty="0"/>
              <a:t>Boson </a:t>
            </a:r>
            <a:r>
              <a:rPr lang="en-MY" sz="2400" b="1" dirty="0" err="1"/>
              <a:t>v.s</a:t>
            </a:r>
            <a:r>
              <a:rPr lang="en-MY" sz="2400" b="1" dirty="0"/>
              <a:t>. Fermi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8F97373-3BA8-4115-A1C3-6CBD8C40AFAB}"/>
              </a:ext>
            </a:extLst>
          </p:cNvPr>
          <p:cNvSpPr txBox="1"/>
          <p:nvPr/>
        </p:nvSpPr>
        <p:spPr>
          <a:xfrm>
            <a:off x="3133783" y="3380652"/>
            <a:ext cx="2415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(+) Boson is symmetry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C618C67-CA68-4113-89AB-2659C7082811}"/>
              </a:ext>
            </a:extLst>
          </p:cNvPr>
          <p:cNvSpPr txBox="1"/>
          <p:nvPr/>
        </p:nvSpPr>
        <p:spPr>
          <a:xfrm>
            <a:off x="6011724" y="3391542"/>
            <a:ext cx="3072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(-) Fermion is anti-symmetry</a:t>
            </a:r>
          </a:p>
        </p:txBody>
      </p:sp>
      <p:pic>
        <p:nvPicPr>
          <p:cNvPr id="53" name="Graphic 52">
            <a:extLst>
              <a:ext uri="{FF2B5EF4-FFF2-40B4-BE49-F238E27FC236}">
                <a16:creationId xmlns:a16="http://schemas.microsoft.com/office/drawing/2014/main" id="{FA99C78D-4AAD-4ED2-BFC2-903FADC847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86022" y="2845897"/>
            <a:ext cx="2884124" cy="545645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1E2C6D17-6BC1-48DC-9EF0-BC218820C92F}"/>
              </a:ext>
            </a:extLst>
          </p:cNvPr>
          <p:cNvGrpSpPr/>
          <p:nvPr/>
        </p:nvGrpSpPr>
        <p:grpSpPr>
          <a:xfrm>
            <a:off x="1722922" y="3728638"/>
            <a:ext cx="3598357" cy="1770959"/>
            <a:chOff x="1722922" y="3728638"/>
            <a:chExt cx="3598357" cy="177095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2199111-CF5C-4327-8C68-AC83ED1BF0B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" r="56523" b="-2266"/>
            <a:stretch/>
          </p:blipFill>
          <p:spPr>
            <a:xfrm>
              <a:off x="2341718" y="3728638"/>
              <a:ext cx="2979561" cy="579836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B0B1A1F-0204-4DE5-BE5F-ECE36268EBE1}"/>
                </a:ext>
              </a:extLst>
            </p:cNvPr>
            <p:cNvSpPr txBox="1"/>
            <p:nvPr/>
          </p:nvSpPr>
          <p:spPr>
            <a:xfrm>
              <a:off x="1722922" y="4418599"/>
              <a:ext cx="35983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Boson like to share the same state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8343A52-3C98-4A16-86E2-478D0DB68925}"/>
                </a:ext>
              </a:extLst>
            </p:cNvPr>
            <p:cNvSpPr txBox="1"/>
            <p:nvPr/>
          </p:nvSpPr>
          <p:spPr>
            <a:xfrm>
              <a:off x="2030931" y="5130265"/>
              <a:ext cx="24736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Bose-Einstein statistics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2504B3E5-D234-41AD-8E36-C40154CF2B20}"/>
              </a:ext>
            </a:extLst>
          </p:cNvPr>
          <p:cNvGrpSpPr/>
          <p:nvPr/>
        </p:nvGrpSpPr>
        <p:grpSpPr>
          <a:xfrm>
            <a:off x="5727032" y="3717748"/>
            <a:ext cx="4573374" cy="1780126"/>
            <a:chOff x="5727032" y="3717748"/>
            <a:chExt cx="4573374" cy="1780126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3B6EB4A-930C-4656-8FD7-D3B44D218B82}"/>
                </a:ext>
              </a:extLst>
            </p:cNvPr>
            <p:cNvSpPr txBox="1"/>
            <p:nvPr/>
          </p:nvSpPr>
          <p:spPr>
            <a:xfrm>
              <a:off x="6331819" y="4409935"/>
              <a:ext cx="39685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Fermion does not share the same state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194344F-1E5B-46BB-AAAE-B9B4470E33F5}"/>
                </a:ext>
              </a:extLst>
            </p:cNvPr>
            <p:cNvSpPr txBox="1"/>
            <p:nvPr/>
          </p:nvSpPr>
          <p:spPr>
            <a:xfrm>
              <a:off x="7016154" y="5128542"/>
              <a:ext cx="23090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Fermi-Dirac statistics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A93A5CB-58E5-46DF-84D2-2CDE182286E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47496" t="1" b="-22081"/>
            <a:stretch/>
          </p:blipFill>
          <p:spPr>
            <a:xfrm>
              <a:off x="5727032" y="3717748"/>
              <a:ext cx="3598216" cy="692187"/>
            </a:xfrm>
            <a:prstGeom prst="rect">
              <a:avLst/>
            </a:prstGeom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51931F3A-9D25-4D0D-9E01-6534E97A94F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52860"/>
          <a:stretch/>
        </p:blipFill>
        <p:spPr>
          <a:xfrm>
            <a:off x="148792" y="5663869"/>
            <a:ext cx="5969982" cy="102984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7890599-2F6E-442C-B393-C4E2F4B715F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54836" b="-1976"/>
          <a:stretch/>
        </p:blipFill>
        <p:spPr>
          <a:xfrm>
            <a:off x="6258887" y="5705194"/>
            <a:ext cx="5969982" cy="102984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5C2D7B8-FFCA-454F-97C0-F87F9FAFDA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426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F4BF5-DDAB-458D-B6E8-8E61A76ED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Quantum statistics of non-interacting particles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9272B8-802E-4FD3-A27C-31B2CAACE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07" y="1895034"/>
            <a:ext cx="3067478" cy="4877481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5280B6C1-69CA-4E8F-928B-6FFBCD12F433}"/>
              </a:ext>
            </a:extLst>
          </p:cNvPr>
          <p:cNvGrpSpPr/>
          <p:nvPr/>
        </p:nvGrpSpPr>
        <p:grpSpPr>
          <a:xfrm>
            <a:off x="40175" y="2935705"/>
            <a:ext cx="738665" cy="3590224"/>
            <a:chOff x="40175" y="2935705"/>
            <a:chExt cx="738665" cy="359022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990E3B3-FE1D-4564-8365-922A4E503C9D}"/>
                </a:ext>
              </a:extLst>
            </p:cNvPr>
            <p:cNvSpPr txBox="1"/>
            <p:nvPr/>
          </p:nvSpPr>
          <p:spPr>
            <a:xfrm rot="16200000">
              <a:off x="-664153" y="4514249"/>
              <a:ext cx="17779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Quantum states</a:t>
              </a:r>
            </a:p>
          </p:txBody>
        </p:sp>
        <p:sp>
          <p:nvSpPr>
            <p:cNvPr id="7" name="Left Brace 6">
              <a:extLst>
                <a:ext uri="{FF2B5EF4-FFF2-40B4-BE49-F238E27FC236}">
                  <a16:creationId xmlns:a16="http://schemas.microsoft.com/office/drawing/2014/main" id="{3302D394-6902-4550-A610-69F3F8A8CF2A}"/>
                </a:ext>
              </a:extLst>
            </p:cNvPr>
            <p:cNvSpPr/>
            <p:nvPr/>
          </p:nvSpPr>
          <p:spPr>
            <a:xfrm>
              <a:off x="409507" y="2935705"/>
              <a:ext cx="369333" cy="3590224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BB7206B6-A844-44C9-BE65-14CB00EB721A}"/>
              </a:ext>
            </a:extLst>
          </p:cNvPr>
          <p:cNvGrpSpPr/>
          <p:nvPr/>
        </p:nvGrpSpPr>
        <p:grpSpPr>
          <a:xfrm>
            <a:off x="1887754" y="2606661"/>
            <a:ext cx="1307409" cy="1203260"/>
            <a:chOff x="2242686" y="2751039"/>
            <a:chExt cx="1307409" cy="1088691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E512667-D149-4BE5-8179-FE662BD57326}"/>
                </a:ext>
              </a:extLst>
            </p:cNvPr>
            <p:cNvSpPr txBox="1"/>
            <p:nvPr/>
          </p:nvSpPr>
          <p:spPr>
            <a:xfrm>
              <a:off x="2242686" y="2751039"/>
              <a:ext cx="13074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degeneracy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3BF387AA-9F09-48EB-A9FE-A3F96406ABD9}"/>
                </a:ext>
              </a:extLst>
            </p:cNvPr>
            <p:cNvCxnSpPr>
              <a:cxnSpLocks/>
            </p:cNvCxnSpPr>
            <p:nvPr/>
          </p:nvCxnSpPr>
          <p:spPr>
            <a:xfrm>
              <a:off x="2887579" y="3243714"/>
              <a:ext cx="312153" cy="5960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74B0CBB-1381-41B4-91BA-157BFCADF935}"/>
              </a:ext>
            </a:extLst>
          </p:cNvPr>
          <p:cNvGrpSpPr/>
          <p:nvPr/>
        </p:nvGrpSpPr>
        <p:grpSpPr>
          <a:xfrm>
            <a:off x="2577797" y="2919470"/>
            <a:ext cx="2262271" cy="900156"/>
            <a:chOff x="2577797" y="2919470"/>
            <a:chExt cx="2262271" cy="900156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41B3B7C-6568-4AA2-BA1F-4AC40EF44B5A}"/>
                </a:ext>
              </a:extLst>
            </p:cNvPr>
            <p:cNvCxnSpPr>
              <a:cxnSpLocks/>
            </p:cNvCxnSpPr>
            <p:nvPr/>
          </p:nvCxnSpPr>
          <p:spPr>
            <a:xfrm>
              <a:off x="3252788" y="3240088"/>
              <a:ext cx="18198" cy="57953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327D0F2-40B0-4D95-BAF5-44CEBD512175}"/>
                </a:ext>
              </a:extLst>
            </p:cNvPr>
            <p:cNvGrpSpPr/>
            <p:nvPr/>
          </p:nvGrpSpPr>
          <p:grpSpPr>
            <a:xfrm>
              <a:off x="2577797" y="2919470"/>
              <a:ext cx="2262271" cy="496042"/>
              <a:chOff x="2577797" y="2919470"/>
              <a:chExt cx="2262271" cy="496042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2CA7131-B538-45B5-AC7C-506D9E37D4CA}"/>
                  </a:ext>
                </a:extLst>
              </p:cNvPr>
              <p:cNvSpPr txBox="1"/>
              <p:nvPr/>
            </p:nvSpPr>
            <p:spPr>
              <a:xfrm>
                <a:off x="2577797" y="2927437"/>
                <a:ext cx="20208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MY" dirty="0"/>
                  <a:t># of particles with </a:t>
                </a:r>
              </a:p>
            </p:txBody>
          </p:sp>
          <p:pic>
            <p:nvPicPr>
              <p:cNvPr id="15" name="Graphic 14">
                <a:extLst>
                  <a:ext uri="{FF2B5EF4-FFF2-40B4-BE49-F238E27FC236}">
                    <a16:creationId xmlns:a16="http://schemas.microsoft.com/office/drawing/2014/main" id="{8D6F94D0-4051-41CD-8EBC-4842C44BAE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322459" y="2919470"/>
                <a:ext cx="517609" cy="496042"/>
              </a:xfrm>
              <a:prstGeom prst="rect">
                <a:avLst/>
              </a:prstGeom>
            </p:spPr>
          </p:pic>
        </p:grp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0A2E822-AFCA-4988-BF23-A8C158368610}"/>
              </a:ext>
            </a:extLst>
          </p:cNvPr>
          <p:cNvGrpSpPr/>
          <p:nvPr/>
        </p:nvGrpSpPr>
        <p:grpSpPr>
          <a:xfrm>
            <a:off x="1613224" y="2059752"/>
            <a:ext cx="5432469" cy="778641"/>
            <a:chOff x="5699226" y="2356821"/>
            <a:chExt cx="5432469" cy="77864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BB82320-751D-47BA-9965-8F3FEF8F3849}"/>
                </a:ext>
              </a:extLst>
            </p:cNvPr>
            <p:cNvSpPr txBox="1"/>
            <p:nvPr/>
          </p:nvSpPr>
          <p:spPr>
            <a:xfrm>
              <a:off x="5699226" y="2396819"/>
              <a:ext cx="30530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b="1" dirty="0"/>
                <a:t>Microcanonical ensemble:</a:t>
              </a:r>
            </a:p>
          </p:txBody>
        </p:sp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19ABFC08-E18C-4201-9BC5-23D69717F88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8940637" y="2356821"/>
              <a:ext cx="2191058" cy="778641"/>
            </a:xfrm>
            <a:prstGeom prst="rect">
              <a:avLst/>
            </a:prstGeom>
          </p:spPr>
        </p:pic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0389DBDA-04D7-4296-A84A-58EE5D3E4D15}"/>
              </a:ext>
            </a:extLst>
          </p:cNvPr>
          <p:cNvSpPr txBox="1"/>
          <p:nvPr/>
        </p:nvSpPr>
        <p:spPr>
          <a:xfrm>
            <a:off x="4220750" y="4335992"/>
            <a:ext cx="2309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Fermi-Dirac statistics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A554115-8347-4A73-A694-4DB4C7C46441}"/>
              </a:ext>
            </a:extLst>
          </p:cNvPr>
          <p:cNvGrpSpPr/>
          <p:nvPr/>
        </p:nvGrpSpPr>
        <p:grpSpPr>
          <a:xfrm>
            <a:off x="3476830" y="3234673"/>
            <a:ext cx="3090354" cy="1306707"/>
            <a:chOff x="3476830" y="3234673"/>
            <a:chExt cx="3090354" cy="1306707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77ABA877-DD8F-49BC-B0FB-B7C2564B5D8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t="13582"/>
            <a:stretch/>
          </p:blipFill>
          <p:spPr>
            <a:xfrm>
              <a:off x="4135433" y="3644218"/>
              <a:ext cx="2297130" cy="590174"/>
            </a:xfrm>
            <a:prstGeom prst="rect">
              <a:avLst/>
            </a:prstGeom>
          </p:spPr>
        </p:pic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55DE4A03-BD8F-4C5E-B385-78A608922DD3}"/>
                </a:ext>
              </a:extLst>
            </p:cNvPr>
            <p:cNvCxnSpPr>
              <a:cxnSpLocks/>
              <a:endCxn id="20" idx="1"/>
            </p:cNvCxnSpPr>
            <p:nvPr/>
          </p:nvCxnSpPr>
          <p:spPr>
            <a:xfrm flipV="1">
              <a:off x="3476830" y="3939305"/>
              <a:ext cx="658603" cy="6020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487C678-27A2-4CC2-A764-8BDCFA96267B}"/>
                </a:ext>
              </a:extLst>
            </p:cNvPr>
            <p:cNvSpPr txBox="1"/>
            <p:nvPr/>
          </p:nvSpPr>
          <p:spPr>
            <a:xfrm>
              <a:off x="4093493" y="3234673"/>
              <a:ext cx="24736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Bose-Einstein statistics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5A8530E-AD74-4A1E-AD27-E5E594880B6D}"/>
              </a:ext>
            </a:extLst>
          </p:cNvPr>
          <p:cNvGrpSpPr/>
          <p:nvPr/>
        </p:nvGrpSpPr>
        <p:grpSpPr>
          <a:xfrm>
            <a:off x="7477533" y="3125220"/>
            <a:ext cx="4140655" cy="1109172"/>
            <a:chOff x="7001893" y="3613420"/>
            <a:chExt cx="4140655" cy="1109172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0F43C4D4-370F-44EC-BB7D-F35916D9BC8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091012" y="3958164"/>
              <a:ext cx="2918340" cy="764428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03222EE4-AC4C-4F82-9394-83DF083398C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040550" y="4122416"/>
              <a:ext cx="1101998" cy="554747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39706E7-8D7D-4985-B6B3-134CDF0B0466}"/>
                </a:ext>
              </a:extLst>
            </p:cNvPr>
            <p:cNvSpPr txBox="1"/>
            <p:nvPr/>
          </p:nvSpPr>
          <p:spPr>
            <a:xfrm>
              <a:off x="7001893" y="3613420"/>
              <a:ext cx="28160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dirty="0"/>
                <a:t>R balls in N boxes problem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B046252-9E78-43CC-8169-9D171287E6A0}"/>
              </a:ext>
            </a:extLst>
          </p:cNvPr>
          <p:cNvGrpSpPr/>
          <p:nvPr/>
        </p:nvGrpSpPr>
        <p:grpSpPr>
          <a:xfrm>
            <a:off x="3509899" y="4589589"/>
            <a:ext cx="3967634" cy="908665"/>
            <a:chOff x="3509899" y="4611979"/>
            <a:chExt cx="3967634" cy="908665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2AA8865C-5DE1-4B16-AB43-28A63B7939E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181774" y="4798002"/>
              <a:ext cx="2297130" cy="556147"/>
            </a:xfrm>
            <a:prstGeom prst="rect">
              <a:avLst/>
            </a:prstGeom>
          </p:spPr>
        </p:pic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1D5462DD-1AFE-4FD5-A0F8-2A56CD9706FB}"/>
                </a:ext>
              </a:extLst>
            </p:cNvPr>
            <p:cNvCxnSpPr>
              <a:cxnSpLocks/>
            </p:cNvCxnSpPr>
            <p:nvPr/>
          </p:nvCxnSpPr>
          <p:spPr>
            <a:xfrm>
              <a:off x="3509899" y="4798002"/>
              <a:ext cx="625534" cy="2779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2D114934-7138-44DF-AAF5-3D99B068F1A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>
            <a:xfrm>
              <a:off x="6375536" y="4611979"/>
              <a:ext cx="1101997" cy="908665"/>
            </a:xfrm>
            <a:prstGeom prst="rect">
              <a:avLst/>
            </a:prstGeom>
          </p:spPr>
        </p:pic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3A4C9B86-31D8-41C8-8CB8-92F941D7F2E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977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F4BF5-DDAB-458D-B6E8-8E61A76ED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Quantum statistics of non-interacting particles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993B034-A1F6-4107-983D-1F879274E612}"/>
              </a:ext>
            </a:extLst>
          </p:cNvPr>
          <p:cNvGrpSpPr/>
          <p:nvPr/>
        </p:nvGrpSpPr>
        <p:grpSpPr>
          <a:xfrm>
            <a:off x="9695611" y="1865653"/>
            <a:ext cx="2547277" cy="1301838"/>
            <a:chOff x="9323213" y="5607849"/>
            <a:chExt cx="2547277" cy="1301838"/>
          </a:xfrm>
        </p:grpSpPr>
        <p:pic>
          <p:nvPicPr>
            <p:cNvPr id="42" name="Graphic 41">
              <a:extLst>
                <a:ext uri="{FF2B5EF4-FFF2-40B4-BE49-F238E27FC236}">
                  <a16:creationId xmlns:a16="http://schemas.microsoft.com/office/drawing/2014/main" id="{77AC50FD-9B14-46F8-92E4-921EF41A51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323213" y="5607849"/>
              <a:ext cx="1225082" cy="684136"/>
            </a:xfrm>
            <a:prstGeom prst="rect">
              <a:avLst/>
            </a:prstGeom>
          </p:spPr>
        </p:pic>
        <p:pic>
          <p:nvPicPr>
            <p:cNvPr id="44" name="Graphic 43">
              <a:extLst>
                <a:ext uri="{FF2B5EF4-FFF2-40B4-BE49-F238E27FC236}">
                  <a16:creationId xmlns:a16="http://schemas.microsoft.com/office/drawing/2014/main" id="{4D104475-B8CC-414E-8DF4-738C1E58F0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323213" y="6233558"/>
              <a:ext cx="1273638" cy="676129"/>
            </a:xfrm>
            <a:prstGeom prst="rect">
              <a:avLst/>
            </a:prstGeom>
          </p:spPr>
        </p:pic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902DBAFF-8DCD-421C-BF92-57B99D7DC573}"/>
                </a:ext>
              </a:extLst>
            </p:cNvPr>
            <p:cNvSpPr txBox="1"/>
            <p:nvPr/>
          </p:nvSpPr>
          <p:spPr>
            <a:xfrm>
              <a:off x="10596851" y="6126184"/>
              <a:ext cx="127363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dirty="0"/>
                <a:t>Constraint</a:t>
              </a:r>
            </a:p>
            <a:p>
              <a:r>
                <a:rPr lang="en-MY" dirty="0"/>
                <a:t>(difficulty)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BC0CDCD2-353A-4C20-84EE-0322EC00F1DE}"/>
              </a:ext>
            </a:extLst>
          </p:cNvPr>
          <p:cNvGrpSpPr/>
          <p:nvPr/>
        </p:nvGrpSpPr>
        <p:grpSpPr>
          <a:xfrm>
            <a:off x="7325014" y="2264443"/>
            <a:ext cx="2196657" cy="1144602"/>
            <a:chOff x="7677016" y="2178921"/>
            <a:chExt cx="2196657" cy="1144602"/>
          </a:xfrm>
        </p:grpSpPr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25D467A6-D86E-473A-A841-883986142F19}"/>
                </a:ext>
              </a:extLst>
            </p:cNvPr>
            <p:cNvCxnSpPr>
              <a:cxnSpLocks/>
              <a:endCxn id="60" idx="2"/>
            </p:cNvCxnSpPr>
            <p:nvPr/>
          </p:nvCxnSpPr>
          <p:spPr>
            <a:xfrm flipV="1">
              <a:off x="8773974" y="2782813"/>
              <a:ext cx="1371" cy="54071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18101237-BF89-42BC-A382-8BA4D2FD01C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677016" y="2178921"/>
              <a:ext cx="2196657" cy="603892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B1ABA8E-FE0F-443B-8777-597A63266829}"/>
              </a:ext>
            </a:extLst>
          </p:cNvPr>
          <p:cNvGrpSpPr/>
          <p:nvPr/>
        </p:nvGrpSpPr>
        <p:grpSpPr>
          <a:xfrm>
            <a:off x="8093210" y="3448955"/>
            <a:ext cx="2856922" cy="1715267"/>
            <a:chOff x="7579412" y="3625255"/>
            <a:chExt cx="2856922" cy="1715267"/>
          </a:xfrm>
        </p:grpSpPr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10F5385E-05F4-4E56-9BDD-E1610994B05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615736" y="4656386"/>
              <a:ext cx="2784273" cy="684136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AE15FE5-EEBB-4527-94C4-C1D451EAA829}"/>
                </a:ext>
              </a:extLst>
            </p:cNvPr>
            <p:cNvGrpSpPr/>
            <p:nvPr/>
          </p:nvGrpSpPr>
          <p:grpSpPr>
            <a:xfrm>
              <a:off x="7579412" y="3625255"/>
              <a:ext cx="2856922" cy="1061787"/>
              <a:chOff x="7579412" y="3625255"/>
              <a:chExt cx="2856922" cy="1061787"/>
            </a:xfrm>
          </p:grpSpPr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20A3FB9-B9A2-48FF-B1EE-2A90D2A6EAFF}"/>
                  </a:ext>
                </a:extLst>
              </p:cNvPr>
              <p:cNvSpPr txBox="1"/>
              <p:nvPr/>
            </p:nvSpPr>
            <p:spPr>
              <a:xfrm>
                <a:off x="7676218" y="3625255"/>
                <a:ext cx="24649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MY" dirty="0"/>
                  <a:t>Total number of states:</a:t>
                </a:r>
              </a:p>
            </p:txBody>
          </p:sp>
          <p:pic>
            <p:nvPicPr>
              <p:cNvPr id="50" name="Graphic 49">
                <a:extLst>
                  <a:ext uri="{FF2B5EF4-FFF2-40B4-BE49-F238E27FC236}">
                    <a16:creationId xmlns:a16="http://schemas.microsoft.com/office/drawing/2014/main" id="{89F23134-B050-40CA-AD43-48820ADC89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7579412" y="3976940"/>
                <a:ext cx="2856922" cy="710102"/>
              </a:xfrm>
              <a:prstGeom prst="rect">
                <a:avLst/>
              </a:prstGeom>
            </p:spPr>
          </p:pic>
        </p:grp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ABC73B8-6481-46AE-A989-67513FF05668}"/>
              </a:ext>
            </a:extLst>
          </p:cNvPr>
          <p:cNvGrpSpPr/>
          <p:nvPr/>
        </p:nvGrpSpPr>
        <p:grpSpPr>
          <a:xfrm>
            <a:off x="40175" y="1895034"/>
            <a:ext cx="7437358" cy="4877481"/>
            <a:chOff x="40175" y="1895034"/>
            <a:chExt cx="7437358" cy="4877481"/>
          </a:xfrm>
        </p:grpSpPr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7363DAFD-E0FF-4237-8890-231D65FC462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09507" y="1895034"/>
              <a:ext cx="3067478" cy="4877481"/>
            </a:xfrm>
            <a:prstGeom prst="rect">
              <a:avLst/>
            </a:prstGeom>
          </p:spPr>
        </p:pic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BB567B12-F056-420D-AD87-207D0B3FD8F1}"/>
                </a:ext>
              </a:extLst>
            </p:cNvPr>
            <p:cNvGrpSpPr/>
            <p:nvPr/>
          </p:nvGrpSpPr>
          <p:grpSpPr>
            <a:xfrm>
              <a:off x="40175" y="2935705"/>
              <a:ext cx="738665" cy="3590224"/>
              <a:chOff x="40175" y="2935705"/>
              <a:chExt cx="738665" cy="3590224"/>
            </a:xfrm>
          </p:grpSpPr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5F1831C6-D699-42D0-9D9B-40C5AA166AC3}"/>
                  </a:ext>
                </a:extLst>
              </p:cNvPr>
              <p:cNvSpPr txBox="1"/>
              <p:nvPr/>
            </p:nvSpPr>
            <p:spPr>
              <a:xfrm rot="16200000">
                <a:off x="-664153" y="4514249"/>
                <a:ext cx="17779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MY" dirty="0"/>
                  <a:t>Quantum states</a:t>
                </a:r>
              </a:p>
            </p:txBody>
          </p:sp>
          <p:sp>
            <p:nvSpPr>
              <p:cNvPr id="82" name="Left Brace 81">
                <a:extLst>
                  <a:ext uri="{FF2B5EF4-FFF2-40B4-BE49-F238E27FC236}">
                    <a16:creationId xmlns:a16="http://schemas.microsoft.com/office/drawing/2014/main" id="{E6346AB9-9308-489D-AB2D-CD3673D0A4CF}"/>
                  </a:ext>
                </a:extLst>
              </p:cNvPr>
              <p:cNvSpPr/>
              <p:nvPr/>
            </p:nvSpPr>
            <p:spPr>
              <a:xfrm>
                <a:off x="409507" y="2935705"/>
                <a:ext cx="369333" cy="3590224"/>
              </a:xfrm>
              <a:prstGeom prst="leftBrac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MY"/>
              </a:p>
            </p:txBody>
          </p: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31BE6B4A-81EC-4134-B030-FFC20AA53A29}"/>
                </a:ext>
              </a:extLst>
            </p:cNvPr>
            <p:cNvGrpSpPr/>
            <p:nvPr/>
          </p:nvGrpSpPr>
          <p:grpSpPr>
            <a:xfrm>
              <a:off x="1887754" y="2606661"/>
              <a:ext cx="1307409" cy="1203260"/>
              <a:chOff x="2242686" y="2751039"/>
              <a:chExt cx="1307409" cy="1088691"/>
            </a:xfrm>
          </p:grpSpPr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75445F5F-1BA7-45CC-A0B3-4406734A36B1}"/>
                  </a:ext>
                </a:extLst>
              </p:cNvPr>
              <p:cNvSpPr txBox="1"/>
              <p:nvPr/>
            </p:nvSpPr>
            <p:spPr>
              <a:xfrm>
                <a:off x="2242686" y="2751039"/>
                <a:ext cx="13074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MY" dirty="0"/>
                  <a:t>degeneracy</a:t>
                </a:r>
              </a:p>
            </p:txBody>
          </p: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DF5F7DC3-2E9A-42BB-A87B-48D2846AFF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87579" y="3243714"/>
                <a:ext cx="312153" cy="59601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76694933-D8F5-4172-ABA0-B58A8D1F87BE}"/>
                </a:ext>
              </a:extLst>
            </p:cNvPr>
            <p:cNvGrpSpPr/>
            <p:nvPr/>
          </p:nvGrpSpPr>
          <p:grpSpPr>
            <a:xfrm>
              <a:off x="2577797" y="2919470"/>
              <a:ext cx="2262271" cy="900156"/>
              <a:chOff x="2577797" y="2919470"/>
              <a:chExt cx="2262271" cy="900156"/>
            </a:xfrm>
          </p:grpSpPr>
          <p:cxnSp>
            <p:nvCxnSpPr>
              <p:cNvPr id="87" name="Straight Arrow Connector 86">
                <a:extLst>
                  <a:ext uri="{FF2B5EF4-FFF2-40B4-BE49-F238E27FC236}">
                    <a16:creationId xmlns:a16="http://schemas.microsoft.com/office/drawing/2014/main" id="{94B24528-87F1-480B-B1BE-FC49FAB40C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52788" y="3240088"/>
                <a:ext cx="18198" cy="57953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8" name="Group 87">
                <a:extLst>
                  <a:ext uri="{FF2B5EF4-FFF2-40B4-BE49-F238E27FC236}">
                    <a16:creationId xmlns:a16="http://schemas.microsoft.com/office/drawing/2014/main" id="{1B18E3EC-C11D-4822-8A23-DFDD04E7E77C}"/>
                  </a:ext>
                </a:extLst>
              </p:cNvPr>
              <p:cNvGrpSpPr/>
              <p:nvPr/>
            </p:nvGrpSpPr>
            <p:grpSpPr>
              <a:xfrm>
                <a:off x="2577797" y="2919470"/>
                <a:ext cx="2262271" cy="496042"/>
                <a:chOff x="2577797" y="2919470"/>
                <a:chExt cx="2262271" cy="496042"/>
              </a:xfrm>
            </p:grpSpPr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93AB5E9D-4DD8-4736-B12E-D9488A2FAA11}"/>
                    </a:ext>
                  </a:extLst>
                </p:cNvPr>
                <p:cNvSpPr txBox="1"/>
                <p:nvPr/>
              </p:nvSpPr>
              <p:spPr>
                <a:xfrm>
                  <a:off x="2577797" y="2927437"/>
                  <a:ext cx="202081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MY" dirty="0"/>
                    <a:t># of particles with </a:t>
                  </a:r>
                </a:p>
              </p:txBody>
            </p:sp>
            <p:pic>
              <p:nvPicPr>
                <p:cNvPr id="90" name="Graphic 89">
                  <a:extLst>
                    <a:ext uri="{FF2B5EF4-FFF2-40B4-BE49-F238E27FC236}">
                      <a16:creationId xmlns:a16="http://schemas.microsoft.com/office/drawing/2014/main" id="{A0115C33-9C1B-4598-AA47-5A37D7D64CF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>
                  <a:extLs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322459" y="2919470"/>
                  <a:ext cx="517609" cy="496042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D18A437E-DED5-4D9F-ADBF-F608A581F0B0}"/>
                </a:ext>
              </a:extLst>
            </p:cNvPr>
            <p:cNvGrpSpPr/>
            <p:nvPr/>
          </p:nvGrpSpPr>
          <p:grpSpPr>
            <a:xfrm>
              <a:off x="1613224" y="2059752"/>
              <a:ext cx="5432469" cy="778641"/>
              <a:chOff x="5699226" y="2356821"/>
              <a:chExt cx="5432469" cy="778641"/>
            </a:xfrm>
          </p:grpSpPr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C4820648-59DA-405D-A564-59265F2BCE9D}"/>
                  </a:ext>
                </a:extLst>
              </p:cNvPr>
              <p:cNvSpPr txBox="1"/>
              <p:nvPr/>
            </p:nvSpPr>
            <p:spPr>
              <a:xfrm>
                <a:off x="5699226" y="2396819"/>
                <a:ext cx="30530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MY" b="1" dirty="0"/>
                  <a:t>Microcanonical ensemble:</a:t>
                </a:r>
              </a:p>
            </p:txBody>
          </p:sp>
          <p:pic>
            <p:nvPicPr>
              <p:cNvPr id="93" name="Graphic 92">
                <a:extLst>
                  <a:ext uri="{FF2B5EF4-FFF2-40B4-BE49-F238E27FC236}">
                    <a16:creationId xmlns:a16="http://schemas.microsoft.com/office/drawing/2014/main" id="{B056F13A-5D1B-406F-A5D8-755DFB22CB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rcRect/>
              <a:stretch/>
            </p:blipFill>
            <p:spPr>
              <a:xfrm>
                <a:off x="8940637" y="2356821"/>
                <a:ext cx="2191058" cy="778641"/>
              </a:xfrm>
              <a:prstGeom prst="rect">
                <a:avLst/>
              </a:prstGeom>
            </p:spPr>
          </p:pic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2F5D3814-BB91-4112-9E88-76A5263F5A59}"/>
                </a:ext>
              </a:extLst>
            </p:cNvPr>
            <p:cNvSpPr txBox="1"/>
            <p:nvPr/>
          </p:nvSpPr>
          <p:spPr>
            <a:xfrm>
              <a:off x="4220750" y="4335992"/>
              <a:ext cx="23090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Fermi-Dirac statistics</a:t>
              </a:r>
            </a:p>
          </p:txBody>
        </p: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6C15D60E-0574-4E14-934A-C77A54DAE548}"/>
                </a:ext>
              </a:extLst>
            </p:cNvPr>
            <p:cNvGrpSpPr/>
            <p:nvPr/>
          </p:nvGrpSpPr>
          <p:grpSpPr>
            <a:xfrm>
              <a:off x="3476830" y="3234673"/>
              <a:ext cx="3090354" cy="1306707"/>
              <a:chOff x="3476830" y="3234673"/>
              <a:chExt cx="3090354" cy="1306707"/>
            </a:xfrm>
          </p:grpSpPr>
          <p:pic>
            <p:nvPicPr>
              <p:cNvPr id="96" name="Picture 95">
                <a:extLst>
                  <a:ext uri="{FF2B5EF4-FFF2-40B4-BE49-F238E27FC236}">
                    <a16:creationId xmlns:a16="http://schemas.microsoft.com/office/drawing/2014/main" id="{E5C0E3F5-36C6-49B5-AA8A-610D43998CF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6"/>
              <a:srcRect t="13582"/>
              <a:stretch/>
            </p:blipFill>
            <p:spPr>
              <a:xfrm>
                <a:off x="4135433" y="3644218"/>
                <a:ext cx="2297130" cy="590174"/>
              </a:xfrm>
              <a:prstGeom prst="rect">
                <a:avLst/>
              </a:prstGeom>
            </p:spPr>
          </p:pic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12A60AFB-E6A4-479C-9783-997B7116F1EC}"/>
                  </a:ext>
                </a:extLst>
              </p:cNvPr>
              <p:cNvCxnSpPr>
                <a:cxnSpLocks/>
                <a:endCxn id="96" idx="1"/>
              </p:cNvCxnSpPr>
              <p:nvPr/>
            </p:nvCxnSpPr>
            <p:spPr>
              <a:xfrm flipV="1">
                <a:off x="3476830" y="3939305"/>
                <a:ext cx="658603" cy="60207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A30DDBA8-C5C2-47CB-9928-D4FB74124588}"/>
                  </a:ext>
                </a:extLst>
              </p:cNvPr>
              <p:cNvSpPr txBox="1"/>
              <p:nvPr/>
            </p:nvSpPr>
            <p:spPr>
              <a:xfrm>
                <a:off x="4093493" y="3234673"/>
                <a:ext cx="24736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MY" dirty="0"/>
                  <a:t>Bose-Einstein statistics</a:t>
                </a:r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9B8361D1-43CF-4F33-BAC5-8AE291D2428D}"/>
                </a:ext>
              </a:extLst>
            </p:cNvPr>
            <p:cNvGrpSpPr/>
            <p:nvPr/>
          </p:nvGrpSpPr>
          <p:grpSpPr>
            <a:xfrm>
              <a:off x="3509899" y="4589589"/>
              <a:ext cx="3967634" cy="908665"/>
              <a:chOff x="3509899" y="4611979"/>
              <a:chExt cx="3967634" cy="908665"/>
            </a:xfrm>
          </p:grpSpPr>
          <p:pic>
            <p:nvPicPr>
              <p:cNvPr id="100" name="Picture 99">
                <a:extLst>
                  <a:ext uri="{FF2B5EF4-FFF2-40B4-BE49-F238E27FC236}">
                    <a16:creationId xmlns:a16="http://schemas.microsoft.com/office/drawing/2014/main" id="{587C9A7E-10B6-4389-930E-2D121C2816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181774" y="4798002"/>
                <a:ext cx="2297130" cy="556147"/>
              </a:xfrm>
              <a:prstGeom prst="rect">
                <a:avLst/>
              </a:prstGeom>
            </p:spPr>
          </p:pic>
          <p:cxnSp>
            <p:nvCxnSpPr>
              <p:cNvPr id="101" name="Straight Arrow Connector 100">
                <a:extLst>
                  <a:ext uri="{FF2B5EF4-FFF2-40B4-BE49-F238E27FC236}">
                    <a16:creationId xmlns:a16="http://schemas.microsoft.com/office/drawing/2014/main" id="{319EAD9E-7FB4-4F4C-A6B5-AB0725DFF5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09899" y="4798002"/>
                <a:ext cx="625534" cy="27793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02" name="Graphic 101">
                <a:extLst>
                  <a:ext uri="{FF2B5EF4-FFF2-40B4-BE49-F238E27FC236}">
                    <a16:creationId xmlns:a16="http://schemas.microsoft.com/office/drawing/2014/main" id="{2534724D-6C2C-492C-9110-768568D239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rcRect/>
              <a:stretch/>
            </p:blipFill>
            <p:spPr>
              <a:xfrm>
                <a:off x="6375536" y="4611979"/>
                <a:ext cx="1101997" cy="908665"/>
              </a:xfrm>
              <a:prstGeom prst="rect">
                <a:avLst/>
              </a:prstGeom>
            </p:spPr>
          </p:pic>
        </p:grpSp>
      </p:grpSp>
      <p:pic>
        <p:nvPicPr>
          <p:cNvPr id="133" name="Picture 132">
            <a:extLst>
              <a:ext uri="{FF2B5EF4-FFF2-40B4-BE49-F238E27FC236}">
                <a16:creationId xmlns:a16="http://schemas.microsoft.com/office/drawing/2014/main" id="{144E5EA0-9898-4B9E-8634-5B48B45D38B3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223567" y="4897502"/>
            <a:ext cx="2229988" cy="702177"/>
          </a:xfrm>
          <a:prstGeom prst="rect">
            <a:avLst/>
          </a:prstGeom>
        </p:spPr>
      </p:pic>
      <p:sp>
        <p:nvSpPr>
          <p:cNvPr id="134" name="TextBox 133">
            <a:extLst>
              <a:ext uri="{FF2B5EF4-FFF2-40B4-BE49-F238E27FC236}">
                <a16:creationId xmlns:a16="http://schemas.microsoft.com/office/drawing/2014/main" id="{B65D9249-E702-4E6C-A1B8-D3D6EB508DD3}"/>
              </a:ext>
            </a:extLst>
          </p:cNvPr>
          <p:cNvSpPr txBox="1"/>
          <p:nvPr/>
        </p:nvSpPr>
        <p:spPr>
          <a:xfrm>
            <a:off x="4064780" y="5420505"/>
            <a:ext cx="3118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Maxwell-Boltzmann statistics</a:t>
            </a:r>
          </a:p>
        </p:txBody>
      </p: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2E25193D-C6B8-48C8-8AA4-CFDDBEA30C14}"/>
              </a:ext>
            </a:extLst>
          </p:cNvPr>
          <p:cNvGrpSpPr/>
          <p:nvPr/>
        </p:nvGrpSpPr>
        <p:grpSpPr>
          <a:xfrm>
            <a:off x="4389840" y="6112306"/>
            <a:ext cx="3070478" cy="243374"/>
            <a:chOff x="4389840" y="6112306"/>
            <a:chExt cx="3070478" cy="243374"/>
          </a:xfrm>
        </p:grpSpPr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E1BF60F6-48E1-49B4-B2A7-FC5FF5A4555F}"/>
                </a:ext>
              </a:extLst>
            </p:cNvPr>
            <p:cNvSpPr/>
            <p:nvPr/>
          </p:nvSpPr>
          <p:spPr>
            <a:xfrm>
              <a:off x="4389840" y="6112306"/>
              <a:ext cx="270609" cy="24337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1</a:t>
              </a:r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AE8EDD5B-5CB1-457F-8222-0A3CA0C8D164}"/>
                </a:ext>
              </a:extLst>
            </p:cNvPr>
            <p:cNvSpPr/>
            <p:nvPr/>
          </p:nvSpPr>
          <p:spPr>
            <a:xfrm>
              <a:off x="4739824" y="6112306"/>
              <a:ext cx="270609" cy="24337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2</a:t>
              </a:r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14F84F5E-FCCE-4B34-AD14-E6A41F9743D4}"/>
                </a:ext>
              </a:extLst>
            </p:cNvPr>
            <p:cNvSpPr/>
            <p:nvPr/>
          </p:nvSpPr>
          <p:spPr>
            <a:xfrm>
              <a:off x="5089808" y="6112306"/>
              <a:ext cx="270609" cy="24337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3</a:t>
              </a:r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0A9CCD00-E5BA-498A-AB32-7D50B6F7C981}"/>
                </a:ext>
              </a:extLst>
            </p:cNvPr>
            <p:cNvSpPr/>
            <p:nvPr/>
          </p:nvSpPr>
          <p:spPr>
            <a:xfrm>
              <a:off x="5439792" y="6112306"/>
              <a:ext cx="270609" cy="24337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4</a:t>
              </a:r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D2B319B8-6102-4634-AADD-1609066F9CB8}"/>
                </a:ext>
              </a:extLst>
            </p:cNvPr>
            <p:cNvSpPr/>
            <p:nvPr/>
          </p:nvSpPr>
          <p:spPr>
            <a:xfrm>
              <a:off x="5789776" y="6112306"/>
              <a:ext cx="270609" cy="24337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5</a:t>
              </a:r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7D09C6CC-FE31-4DC4-A334-DBB603DB6B01}"/>
                </a:ext>
              </a:extLst>
            </p:cNvPr>
            <p:cNvSpPr/>
            <p:nvPr/>
          </p:nvSpPr>
          <p:spPr>
            <a:xfrm>
              <a:off x="6139760" y="6112306"/>
              <a:ext cx="270609" cy="24337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6</a:t>
              </a:r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CD33A2F4-1542-4455-B839-29D9F4AB72CF}"/>
                </a:ext>
              </a:extLst>
            </p:cNvPr>
            <p:cNvSpPr/>
            <p:nvPr/>
          </p:nvSpPr>
          <p:spPr>
            <a:xfrm>
              <a:off x="6489744" y="6112306"/>
              <a:ext cx="270609" cy="24337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7</a:t>
              </a:r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AA6A6D24-2812-4B9D-A269-88281CE090DF}"/>
                </a:ext>
              </a:extLst>
            </p:cNvPr>
            <p:cNvSpPr/>
            <p:nvPr/>
          </p:nvSpPr>
          <p:spPr>
            <a:xfrm>
              <a:off x="6839728" y="6112306"/>
              <a:ext cx="270609" cy="24337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8</a:t>
              </a:r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8D614E99-BDB4-4AE9-81CC-C6CCF2BC6BD8}"/>
                </a:ext>
              </a:extLst>
            </p:cNvPr>
            <p:cNvSpPr/>
            <p:nvPr/>
          </p:nvSpPr>
          <p:spPr>
            <a:xfrm>
              <a:off x="7189709" y="6112306"/>
              <a:ext cx="270609" cy="24337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9</a:t>
              </a:r>
            </a:p>
          </p:txBody>
        </p:sp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6491278F-4813-4B0F-A4BA-BAFDB14B6FA6}"/>
              </a:ext>
            </a:extLst>
          </p:cNvPr>
          <p:cNvGrpSpPr/>
          <p:nvPr/>
        </p:nvGrpSpPr>
        <p:grpSpPr>
          <a:xfrm>
            <a:off x="1799931" y="4584735"/>
            <a:ext cx="669550" cy="267769"/>
            <a:chOff x="1799931" y="4584735"/>
            <a:chExt cx="669550" cy="267769"/>
          </a:xfrm>
        </p:grpSpPr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B3266A7F-D5FB-46B8-8506-99FFBEB85916}"/>
                </a:ext>
              </a:extLst>
            </p:cNvPr>
            <p:cNvSpPr/>
            <p:nvPr/>
          </p:nvSpPr>
          <p:spPr>
            <a:xfrm>
              <a:off x="2198872" y="4584735"/>
              <a:ext cx="270609" cy="24337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2</a:t>
              </a:r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B7E7BF01-A29B-4C91-A918-CCF43BAF885E}"/>
                </a:ext>
              </a:extLst>
            </p:cNvPr>
            <p:cNvSpPr/>
            <p:nvPr/>
          </p:nvSpPr>
          <p:spPr>
            <a:xfrm>
              <a:off x="1799931" y="4609130"/>
              <a:ext cx="270609" cy="24337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3</a:t>
              </a:r>
            </a:p>
          </p:txBody>
        </p:sp>
      </p:grpSp>
      <p:sp>
        <p:nvSpPr>
          <p:cNvPr id="161" name="Oval 160">
            <a:extLst>
              <a:ext uri="{FF2B5EF4-FFF2-40B4-BE49-F238E27FC236}">
                <a16:creationId xmlns:a16="http://schemas.microsoft.com/office/drawing/2014/main" id="{67B7FA39-DAFB-4511-AF46-30B20BB3B29C}"/>
              </a:ext>
            </a:extLst>
          </p:cNvPr>
          <p:cNvSpPr/>
          <p:nvPr/>
        </p:nvSpPr>
        <p:spPr>
          <a:xfrm>
            <a:off x="2014610" y="6112306"/>
            <a:ext cx="270609" cy="2433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/>
              <a:t>6</a:t>
            </a:r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E5DE0575-9653-4F70-9832-3D69D044CB3C}"/>
              </a:ext>
            </a:extLst>
          </p:cNvPr>
          <p:cNvGrpSpPr/>
          <p:nvPr/>
        </p:nvGrpSpPr>
        <p:grpSpPr>
          <a:xfrm>
            <a:off x="1799931" y="5105147"/>
            <a:ext cx="849679" cy="636481"/>
            <a:chOff x="1799931" y="5105147"/>
            <a:chExt cx="849679" cy="636481"/>
          </a:xfrm>
        </p:grpSpPr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3B074A47-412A-4E16-8B71-387ACA6D8456}"/>
                </a:ext>
              </a:extLst>
            </p:cNvPr>
            <p:cNvSpPr/>
            <p:nvPr/>
          </p:nvSpPr>
          <p:spPr>
            <a:xfrm>
              <a:off x="2379001" y="5498254"/>
              <a:ext cx="270609" cy="24337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1</a:t>
              </a:r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B7CA81C8-7A48-4191-8355-A541BFC21D07}"/>
                </a:ext>
              </a:extLst>
            </p:cNvPr>
            <p:cNvSpPr/>
            <p:nvPr/>
          </p:nvSpPr>
          <p:spPr>
            <a:xfrm>
              <a:off x="2334176" y="5159409"/>
              <a:ext cx="270609" cy="24337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4</a:t>
              </a:r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FAE513A9-2E76-46D4-A820-A892EDC57D20}"/>
                </a:ext>
              </a:extLst>
            </p:cNvPr>
            <p:cNvSpPr/>
            <p:nvPr/>
          </p:nvSpPr>
          <p:spPr>
            <a:xfrm>
              <a:off x="1995259" y="5331759"/>
              <a:ext cx="270609" cy="24337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5</a:t>
              </a:r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188E18E9-DF22-4154-81A0-3799C6CFE66A}"/>
                </a:ext>
              </a:extLst>
            </p:cNvPr>
            <p:cNvSpPr/>
            <p:nvPr/>
          </p:nvSpPr>
          <p:spPr>
            <a:xfrm>
              <a:off x="1799931" y="5105147"/>
              <a:ext cx="270609" cy="24337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7</a:t>
              </a:r>
            </a:p>
          </p:txBody>
        </p:sp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9FAC28C1-8384-4CB9-AEB9-154C4FA9676A}"/>
              </a:ext>
            </a:extLst>
          </p:cNvPr>
          <p:cNvGrpSpPr/>
          <p:nvPr/>
        </p:nvGrpSpPr>
        <p:grpSpPr>
          <a:xfrm>
            <a:off x="1930716" y="3678110"/>
            <a:ext cx="466703" cy="530711"/>
            <a:chOff x="1930716" y="3678110"/>
            <a:chExt cx="466703" cy="530711"/>
          </a:xfrm>
        </p:grpSpPr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015D2EA0-ADFD-4802-B722-AF2305155C4C}"/>
                </a:ext>
              </a:extLst>
            </p:cNvPr>
            <p:cNvSpPr/>
            <p:nvPr/>
          </p:nvSpPr>
          <p:spPr>
            <a:xfrm>
              <a:off x="1930716" y="3965447"/>
              <a:ext cx="270609" cy="24337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8</a:t>
              </a:r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2C3A1F4B-0562-41B2-A4FE-3A069F589BA4}"/>
                </a:ext>
              </a:extLst>
            </p:cNvPr>
            <p:cNvSpPr/>
            <p:nvPr/>
          </p:nvSpPr>
          <p:spPr>
            <a:xfrm>
              <a:off x="2126810" y="3678110"/>
              <a:ext cx="270609" cy="24337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MY" dirty="0"/>
                <a:t>9</a:t>
              </a:r>
            </a:p>
          </p:txBody>
        </p:sp>
      </p:grpSp>
      <p:pic>
        <p:nvPicPr>
          <p:cNvPr id="170" name="Picture 169">
            <a:extLst>
              <a:ext uri="{FF2B5EF4-FFF2-40B4-BE49-F238E27FC236}">
                <a16:creationId xmlns:a16="http://schemas.microsoft.com/office/drawing/2014/main" id="{601CE20E-A1F6-4C76-8F5C-AC3FE72FE86A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147646" y="6036639"/>
            <a:ext cx="510304" cy="357213"/>
          </a:xfrm>
          <a:prstGeom prst="rect">
            <a:avLst/>
          </a:prstGeom>
        </p:spPr>
      </p:pic>
      <p:pic>
        <p:nvPicPr>
          <p:cNvPr id="172" name="Picture 171">
            <a:extLst>
              <a:ext uri="{FF2B5EF4-FFF2-40B4-BE49-F238E27FC236}">
                <a16:creationId xmlns:a16="http://schemas.microsoft.com/office/drawing/2014/main" id="{19F6FB70-8642-4D67-B64C-9A8BEA75D115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964182" y="5826021"/>
            <a:ext cx="1114977" cy="678343"/>
          </a:xfrm>
          <a:prstGeom prst="rect">
            <a:avLst/>
          </a:prstGeom>
        </p:spPr>
      </p:pic>
      <p:grpSp>
        <p:nvGrpSpPr>
          <p:cNvPr id="179" name="Group 178">
            <a:extLst>
              <a:ext uri="{FF2B5EF4-FFF2-40B4-BE49-F238E27FC236}">
                <a16:creationId xmlns:a16="http://schemas.microsoft.com/office/drawing/2014/main" id="{99F56435-8F7E-4A5E-9F50-E06D8C62A12F}"/>
              </a:ext>
            </a:extLst>
          </p:cNvPr>
          <p:cNvGrpSpPr/>
          <p:nvPr/>
        </p:nvGrpSpPr>
        <p:grpSpPr>
          <a:xfrm>
            <a:off x="8680226" y="5880868"/>
            <a:ext cx="391048" cy="623496"/>
            <a:chOff x="8680226" y="5880868"/>
            <a:chExt cx="391048" cy="623496"/>
          </a:xfrm>
        </p:grpSpPr>
        <p:pic>
          <p:nvPicPr>
            <p:cNvPr id="173" name="Picture 172">
              <a:extLst>
                <a:ext uri="{FF2B5EF4-FFF2-40B4-BE49-F238E27FC236}">
                  <a16:creationId xmlns:a16="http://schemas.microsoft.com/office/drawing/2014/main" id="{5A4D2F35-ABDD-4DC2-B43E-CA3AF6A7D8A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2"/>
            <a:srcRect l="40180" t="9478" r="28189" b="47537"/>
            <a:stretch/>
          </p:blipFill>
          <p:spPr>
            <a:xfrm>
              <a:off x="8718594" y="6212781"/>
              <a:ext cx="352680" cy="291583"/>
            </a:xfrm>
            <a:prstGeom prst="rect">
              <a:avLst/>
            </a:prstGeom>
          </p:spPr>
        </p:pic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19A3505B-83FB-4DEB-9F3A-0892B992BF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80226" y="6212781"/>
              <a:ext cx="391048" cy="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F8DF61EE-C1F2-4940-929F-B55A5F05AB27}"/>
                </a:ext>
              </a:extLst>
            </p:cNvPr>
            <p:cNvSpPr txBox="1"/>
            <p:nvPr/>
          </p:nvSpPr>
          <p:spPr>
            <a:xfrm>
              <a:off x="8734883" y="588086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</p:grpSp>
      <p:pic>
        <p:nvPicPr>
          <p:cNvPr id="70" name="Picture 69">
            <a:extLst>
              <a:ext uri="{FF2B5EF4-FFF2-40B4-BE49-F238E27FC236}">
                <a16:creationId xmlns:a16="http://schemas.microsoft.com/office/drawing/2014/main" id="{DBB01B29-A4D5-49AB-9971-3E015698BD98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347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F4BF5-DDAB-458D-B6E8-8E61A76ED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Quantum statistics of non-interacting particles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9272B8-802E-4FD3-A27C-31B2CAACE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07" y="1895034"/>
            <a:ext cx="3067478" cy="48774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90E3B3-FE1D-4564-8365-922A4E503C9D}"/>
              </a:ext>
            </a:extLst>
          </p:cNvPr>
          <p:cNvSpPr txBox="1"/>
          <p:nvPr/>
        </p:nvSpPr>
        <p:spPr>
          <a:xfrm rot="16200000">
            <a:off x="-664153" y="4514249"/>
            <a:ext cx="1777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Quantum states</a:t>
            </a: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3302D394-6902-4550-A610-69F3F8A8CF2A}"/>
              </a:ext>
            </a:extLst>
          </p:cNvPr>
          <p:cNvSpPr/>
          <p:nvPr/>
        </p:nvSpPr>
        <p:spPr>
          <a:xfrm>
            <a:off x="409507" y="2935705"/>
            <a:ext cx="369333" cy="359022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512667-D149-4BE5-8179-FE662BD57326}"/>
              </a:ext>
            </a:extLst>
          </p:cNvPr>
          <p:cNvSpPr txBox="1"/>
          <p:nvPr/>
        </p:nvSpPr>
        <p:spPr>
          <a:xfrm>
            <a:off x="2242686" y="2751039"/>
            <a:ext cx="1307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degeneracy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BF387AA-9F09-48EB-A9FE-A3F96406ABD9}"/>
              </a:ext>
            </a:extLst>
          </p:cNvPr>
          <p:cNvCxnSpPr/>
          <p:nvPr/>
        </p:nvCxnSpPr>
        <p:spPr>
          <a:xfrm>
            <a:off x="2887579" y="3243714"/>
            <a:ext cx="0" cy="4523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41B3B7C-6568-4AA2-BA1F-4AC40EF44B5A}"/>
              </a:ext>
            </a:extLst>
          </p:cNvPr>
          <p:cNvCxnSpPr>
            <a:cxnSpLocks/>
          </p:cNvCxnSpPr>
          <p:nvPr/>
        </p:nvCxnSpPr>
        <p:spPr>
          <a:xfrm>
            <a:off x="3270986" y="3551723"/>
            <a:ext cx="0" cy="2679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327D0F2-40B0-4D95-BAF5-44CEBD512175}"/>
              </a:ext>
            </a:extLst>
          </p:cNvPr>
          <p:cNvGrpSpPr/>
          <p:nvPr/>
        </p:nvGrpSpPr>
        <p:grpSpPr>
          <a:xfrm>
            <a:off x="3014984" y="3132131"/>
            <a:ext cx="2269014" cy="496042"/>
            <a:chOff x="3014984" y="3132131"/>
            <a:chExt cx="2269014" cy="496042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2CA7131-B538-45B5-AC7C-506D9E37D4CA}"/>
                </a:ext>
              </a:extLst>
            </p:cNvPr>
            <p:cNvSpPr txBox="1"/>
            <p:nvPr/>
          </p:nvSpPr>
          <p:spPr>
            <a:xfrm>
              <a:off x="3014984" y="3151381"/>
              <a:ext cx="20208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# of particles with </a:t>
              </a:r>
            </a:p>
          </p:txBody>
        </p: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8D6F94D0-4051-41CD-8EBC-4842C44BAE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766389" y="3132131"/>
              <a:ext cx="517609" cy="496042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B87A4CC2-5ABA-4A22-8A71-BE0E6EABFE14}"/>
              </a:ext>
            </a:extLst>
          </p:cNvPr>
          <p:cNvGrpSpPr/>
          <p:nvPr/>
        </p:nvGrpSpPr>
        <p:grpSpPr>
          <a:xfrm>
            <a:off x="9571674" y="2872254"/>
            <a:ext cx="2580152" cy="1329609"/>
            <a:chOff x="9571674" y="2872254"/>
            <a:chExt cx="2580152" cy="1329609"/>
          </a:xfrm>
        </p:grpSpPr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57F7B1BA-A596-4F06-8E9A-F2AFB27751B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571675" y="2872254"/>
              <a:ext cx="1225082" cy="68413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27CD888E-3A66-4BF4-BB3C-71A07968EF0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571674" y="3525734"/>
              <a:ext cx="1273638" cy="676129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5833E98-1A17-42BE-908A-369FD816FCDD}"/>
                </a:ext>
              </a:extLst>
            </p:cNvPr>
            <p:cNvSpPr txBox="1"/>
            <p:nvPr/>
          </p:nvSpPr>
          <p:spPr>
            <a:xfrm>
              <a:off x="10878187" y="3326769"/>
              <a:ext cx="12736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dirty="0"/>
                <a:t>Constraint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576307F-5D22-428E-A7E4-7261C7960E29}"/>
              </a:ext>
            </a:extLst>
          </p:cNvPr>
          <p:cNvGrpSpPr/>
          <p:nvPr/>
        </p:nvGrpSpPr>
        <p:grpSpPr>
          <a:xfrm>
            <a:off x="4120428" y="4325390"/>
            <a:ext cx="3298595" cy="852008"/>
            <a:chOff x="4120428" y="4325390"/>
            <a:chExt cx="3298595" cy="85200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AF230CA-20EA-48AC-9D52-A773F02CE792}"/>
                </a:ext>
              </a:extLst>
            </p:cNvPr>
            <p:cNvSpPr txBox="1"/>
            <p:nvPr/>
          </p:nvSpPr>
          <p:spPr>
            <a:xfrm>
              <a:off x="4120428" y="4325390"/>
              <a:ext cx="32985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Method of Lagrange multiplier:</a:t>
              </a: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6D20037E-0171-4B8D-9210-3B5B74B7F86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t="3018" b="3018"/>
            <a:stretch/>
          </p:blipFill>
          <p:spPr>
            <a:xfrm>
              <a:off x="4301035" y="4758053"/>
              <a:ext cx="2660473" cy="419345"/>
            </a:xfrm>
            <a:prstGeom prst="rect">
              <a:avLst/>
            </a:prstGeom>
          </p:spPr>
        </p:pic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24CA7916-F219-4674-9406-CB4F065FAF3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69717" y="5582179"/>
            <a:ext cx="3965879" cy="79636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03E39A79-2AED-4B63-811D-E1DE5779907B}"/>
              </a:ext>
            </a:extLst>
          </p:cNvPr>
          <p:cNvGrpSpPr/>
          <p:nvPr/>
        </p:nvGrpSpPr>
        <p:grpSpPr>
          <a:xfrm>
            <a:off x="5631272" y="2998264"/>
            <a:ext cx="3503170" cy="931855"/>
            <a:chOff x="5631272" y="2998264"/>
            <a:chExt cx="3503170" cy="931855"/>
          </a:xfrm>
        </p:grpSpPr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3201F4EE-F9B2-48E6-A489-EF6CD99BD58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 l="20394"/>
            <a:stretch/>
          </p:blipFill>
          <p:spPr>
            <a:xfrm>
              <a:off x="7860804" y="3396119"/>
              <a:ext cx="1273638" cy="486933"/>
            </a:xfrm>
            <a:prstGeom prst="rect">
              <a:avLst/>
            </a:prstGeom>
          </p:spPr>
        </p:pic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5F32DDA7-7ACD-4227-82D6-3DE46DCCF13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631272" y="3326227"/>
              <a:ext cx="2196657" cy="603892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FEFD40F-03C9-4146-9273-E4EB466873D8}"/>
                </a:ext>
              </a:extLst>
            </p:cNvPr>
            <p:cNvSpPr txBox="1"/>
            <p:nvPr/>
          </p:nvSpPr>
          <p:spPr>
            <a:xfrm>
              <a:off x="5714985" y="2998264"/>
              <a:ext cx="312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Keep the most probable term: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7A9F7C7-5F60-4D04-815A-6D58C56560A3}"/>
              </a:ext>
            </a:extLst>
          </p:cNvPr>
          <p:cNvGrpSpPr/>
          <p:nvPr/>
        </p:nvGrpSpPr>
        <p:grpSpPr>
          <a:xfrm>
            <a:off x="1613224" y="2059753"/>
            <a:ext cx="4823559" cy="482072"/>
            <a:chOff x="5699226" y="2356822"/>
            <a:chExt cx="4823559" cy="482072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2D950B8-6FEF-40D3-835B-2FB3CEB904FE}"/>
                </a:ext>
              </a:extLst>
            </p:cNvPr>
            <p:cNvSpPr txBox="1"/>
            <p:nvPr/>
          </p:nvSpPr>
          <p:spPr>
            <a:xfrm>
              <a:off x="5699226" y="2396819"/>
              <a:ext cx="30530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b="1" dirty="0"/>
                <a:t>Microcanonical ensemble:</a:t>
              </a:r>
            </a:p>
          </p:txBody>
        </p:sp>
        <p:pic>
          <p:nvPicPr>
            <p:cNvPr id="32" name="Graphic 31">
              <a:extLst>
                <a:ext uri="{FF2B5EF4-FFF2-40B4-BE49-F238E27FC236}">
                  <a16:creationId xmlns:a16="http://schemas.microsoft.com/office/drawing/2014/main" id="{7678B4FD-6AE5-4ED9-B4E6-4BD95A6F3BB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715017" y="2356822"/>
              <a:ext cx="1807768" cy="482072"/>
            </a:xfrm>
            <a:prstGeom prst="rect">
              <a:avLst/>
            </a:prstGeom>
          </p:spPr>
        </p:pic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6676C134-47AB-4229-BCE7-937A67EBD57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265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F4BF5-DDAB-458D-B6E8-8E61A76ED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Quantum statistics of non-interacting particles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4CA7916-F219-4674-9406-CB4F065FA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156" y="2164634"/>
            <a:ext cx="3568466" cy="71655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7B29F6B3-47E9-4F2E-9ABB-E2224B7B3C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156" y="4516543"/>
            <a:ext cx="6653412" cy="27636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CC84A09-5262-4335-8194-A406C0B3F5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206" y="3079420"/>
            <a:ext cx="4426322" cy="137707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3FFB78E-F921-4BDA-B351-D22FF6BC138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3582"/>
          <a:stretch/>
        </p:blipFill>
        <p:spPr>
          <a:xfrm>
            <a:off x="9069664" y="1878302"/>
            <a:ext cx="2297130" cy="590174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2B96185-CB40-4084-BA16-1F0358149C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6005" y="2619336"/>
            <a:ext cx="2297130" cy="55614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1280E9B-B591-4EBC-9604-9515E1E70E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39306" y="5232487"/>
            <a:ext cx="3712222" cy="618704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6EE3D83F-EB2B-4CE0-B0CF-7CC6AE6145B0}"/>
              </a:ext>
            </a:extLst>
          </p:cNvPr>
          <p:cNvGrpSpPr/>
          <p:nvPr/>
        </p:nvGrpSpPr>
        <p:grpSpPr>
          <a:xfrm>
            <a:off x="4590873" y="5851191"/>
            <a:ext cx="2262314" cy="781159"/>
            <a:chOff x="4590873" y="5851191"/>
            <a:chExt cx="2262314" cy="781159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7ED1C27D-8D26-404D-A48D-9292397F841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590873" y="5851191"/>
              <a:ext cx="2105319" cy="781159"/>
            </a:xfrm>
            <a:prstGeom prst="rect">
              <a:avLst/>
            </a:prstGeom>
          </p:spPr>
        </p:pic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528AC993-A631-4EAB-8242-9C9EB2A6BC57}"/>
                </a:ext>
              </a:extLst>
            </p:cNvPr>
            <p:cNvSpPr/>
            <p:nvPr/>
          </p:nvSpPr>
          <p:spPr>
            <a:xfrm>
              <a:off x="4590873" y="5958038"/>
              <a:ext cx="2262314" cy="674312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3924DB63-2D68-4384-966E-67F651BFE07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7107" y="3717534"/>
            <a:ext cx="6777891" cy="650678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9FD2F58-45A0-4AB0-B0A2-9594FCE9D026}"/>
              </a:ext>
            </a:extLst>
          </p:cNvPr>
          <p:cNvSpPr/>
          <p:nvPr/>
        </p:nvSpPr>
        <p:spPr>
          <a:xfrm>
            <a:off x="7217878" y="3909448"/>
            <a:ext cx="3159760" cy="27636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E040E5-3AF4-4AF0-BFFD-21AD82A279EB}"/>
              </a:ext>
            </a:extLst>
          </p:cNvPr>
          <p:cNvSpPr txBox="1"/>
          <p:nvPr/>
        </p:nvSpPr>
        <p:spPr>
          <a:xfrm>
            <a:off x="7421078" y="6189044"/>
            <a:ext cx="4109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(Non-interacting particles)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F5D684D-8C09-4C35-991E-1535E29881B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73066" y="2471854"/>
            <a:ext cx="2229988" cy="70217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8152F97-631D-45FC-B18E-62A35BD2A32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992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F4BF5-DDAB-458D-B6E8-8E61A76ED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Quantum statistics of non-interacting particles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9272B8-802E-4FD3-A27C-31B2CAACE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07" y="1895034"/>
            <a:ext cx="3067478" cy="48774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90E3B3-FE1D-4564-8365-922A4E503C9D}"/>
              </a:ext>
            </a:extLst>
          </p:cNvPr>
          <p:cNvSpPr txBox="1"/>
          <p:nvPr/>
        </p:nvSpPr>
        <p:spPr>
          <a:xfrm rot="16200000">
            <a:off x="-664153" y="4514249"/>
            <a:ext cx="1777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Quantum states</a:t>
            </a: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3302D394-6902-4550-A610-69F3F8A8CF2A}"/>
              </a:ext>
            </a:extLst>
          </p:cNvPr>
          <p:cNvSpPr/>
          <p:nvPr/>
        </p:nvSpPr>
        <p:spPr>
          <a:xfrm>
            <a:off x="409507" y="2935705"/>
            <a:ext cx="369333" cy="359022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512667-D149-4BE5-8179-FE662BD57326}"/>
              </a:ext>
            </a:extLst>
          </p:cNvPr>
          <p:cNvSpPr txBox="1"/>
          <p:nvPr/>
        </p:nvSpPr>
        <p:spPr>
          <a:xfrm>
            <a:off x="2242686" y="2751039"/>
            <a:ext cx="1307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degeneracy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BF387AA-9F09-48EB-A9FE-A3F96406ABD9}"/>
              </a:ext>
            </a:extLst>
          </p:cNvPr>
          <p:cNvCxnSpPr/>
          <p:nvPr/>
        </p:nvCxnSpPr>
        <p:spPr>
          <a:xfrm>
            <a:off x="2887579" y="3243714"/>
            <a:ext cx="0" cy="4523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41B3B7C-6568-4AA2-BA1F-4AC40EF44B5A}"/>
              </a:ext>
            </a:extLst>
          </p:cNvPr>
          <p:cNvCxnSpPr>
            <a:cxnSpLocks/>
          </p:cNvCxnSpPr>
          <p:nvPr/>
        </p:nvCxnSpPr>
        <p:spPr>
          <a:xfrm>
            <a:off x="3270986" y="3551723"/>
            <a:ext cx="0" cy="2679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327D0F2-40B0-4D95-BAF5-44CEBD512175}"/>
              </a:ext>
            </a:extLst>
          </p:cNvPr>
          <p:cNvGrpSpPr/>
          <p:nvPr/>
        </p:nvGrpSpPr>
        <p:grpSpPr>
          <a:xfrm>
            <a:off x="3014984" y="3132131"/>
            <a:ext cx="2269014" cy="496042"/>
            <a:chOff x="3014984" y="3132131"/>
            <a:chExt cx="2269014" cy="496042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2CA7131-B538-45B5-AC7C-506D9E37D4CA}"/>
                </a:ext>
              </a:extLst>
            </p:cNvPr>
            <p:cNvSpPr txBox="1"/>
            <p:nvPr/>
          </p:nvSpPr>
          <p:spPr>
            <a:xfrm>
              <a:off x="3014984" y="3151381"/>
              <a:ext cx="20208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# of particles with </a:t>
              </a:r>
            </a:p>
          </p:txBody>
        </p: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8D6F94D0-4051-41CD-8EBC-4842C44BAE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766389" y="3132131"/>
              <a:ext cx="517609" cy="496042"/>
            </a:xfrm>
            <a:prstGeom prst="rect">
              <a:avLst/>
            </a:prstGeom>
          </p:spPr>
        </p:pic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4AB89A91-1F3A-47C0-9393-7A41509F06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9293" y="3122138"/>
            <a:ext cx="2425567" cy="37316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AD4CD10-9D6A-403B-876D-3B3A7A1841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13043" y="2863016"/>
            <a:ext cx="2105319" cy="781159"/>
          </a:xfrm>
          <a:prstGeom prst="rect">
            <a:avLst/>
          </a:prstGeom>
        </p:spPr>
      </p:pic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7EA9F3C-FDF9-493B-9BFD-DAB22F78D92B}"/>
              </a:ext>
            </a:extLst>
          </p:cNvPr>
          <p:cNvSpPr/>
          <p:nvPr/>
        </p:nvSpPr>
        <p:spPr>
          <a:xfrm>
            <a:off x="9613043" y="2969863"/>
            <a:ext cx="2262314" cy="67431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865D22A-7875-48B9-A347-06FA93F806A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9662404" y="3703074"/>
            <a:ext cx="2163591" cy="874982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40C0CC14-BE24-494F-ACD2-512458C3FC7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17572" y="6053072"/>
            <a:ext cx="1970562" cy="575404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00130988-A194-414C-AB23-AC5479494DE4}"/>
              </a:ext>
            </a:extLst>
          </p:cNvPr>
          <p:cNvGrpSpPr/>
          <p:nvPr/>
        </p:nvGrpSpPr>
        <p:grpSpPr>
          <a:xfrm>
            <a:off x="3804708" y="3577617"/>
            <a:ext cx="3570708" cy="1740090"/>
            <a:chOff x="3804708" y="3577617"/>
            <a:chExt cx="3570708" cy="1740090"/>
          </a:xfrm>
        </p:grpSpPr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4814AFF3-999E-43F7-A29E-59809895852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223272" y="3819626"/>
              <a:ext cx="3152144" cy="783682"/>
            </a:xfrm>
            <a:prstGeom prst="rect">
              <a:avLst/>
            </a:prstGeom>
          </p:spPr>
        </p:pic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B561C5A0-DEB7-412F-B808-EFEA9F76C4F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223273" y="4575055"/>
              <a:ext cx="3152143" cy="742652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7F1D870-6892-4F9D-8BB4-5A6FE3EF7086}"/>
                </a:ext>
              </a:extLst>
            </p:cNvPr>
            <p:cNvSpPr txBox="1"/>
            <p:nvPr/>
          </p:nvSpPr>
          <p:spPr>
            <a:xfrm>
              <a:off x="3804708" y="3577617"/>
              <a:ext cx="13031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Constraint: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C2CDA062-EA66-405F-B544-2B36E363B175}"/>
              </a:ext>
            </a:extLst>
          </p:cNvPr>
          <p:cNvGrpSpPr/>
          <p:nvPr/>
        </p:nvGrpSpPr>
        <p:grpSpPr>
          <a:xfrm>
            <a:off x="3846318" y="5130617"/>
            <a:ext cx="4902141" cy="738085"/>
            <a:chOff x="3846318" y="5130617"/>
            <a:chExt cx="4902141" cy="738085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F562F62-2331-49BE-A26A-05FB323A073B}"/>
                </a:ext>
              </a:extLst>
            </p:cNvPr>
            <p:cNvSpPr txBox="1"/>
            <p:nvPr/>
          </p:nvSpPr>
          <p:spPr>
            <a:xfrm>
              <a:off x="3846318" y="5312280"/>
              <a:ext cx="34437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In continuous quantum number:</a:t>
              </a:r>
            </a:p>
          </p:txBody>
        </p:sp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EB45E67A-47EB-46FE-831F-F313E76344F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289453" y="5130617"/>
              <a:ext cx="1459006" cy="738085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58D76C6-EA49-442F-A2DE-6F587E70C6F7}"/>
              </a:ext>
            </a:extLst>
          </p:cNvPr>
          <p:cNvGrpSpPr/>
          <p:nvPr/>
        </p:nvGrpSpPr>
        <p:grpSpPr>
          <a:xfrm>
            <a:off x="3947569" y="5675096"/>
            <a:ext cx="4504648" cy="438625"/>
            <a:chOff x="3947569" y="5675096"/>
            <a:chExt cx="4504648" cy="438625"/>
          </a:xfrm>
        </p:grpSpPr>
        <p:pic>
          <p:nvPicPr>
            <p:cNvPr id="43" name="Graphic 42">
              <a:extLst>
                <a:ext uri="{FF2B5EF4-FFF2-40B4-BE49-F238E27FC236}">
                  <a16:creationId xmlns:a16="http://schemas.microsoft.com/office/drawing/2014/main" id="{C39BCE9A-C37E-4A76-8E4E-4259892850B5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232191" y="5675096"/>
              <a:ext cx="893495" cy="438625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2C93DD9-9C43-44E1-8BB4-4BAF7B9AA753}"/>
                </a:ext>
              </a:extLst>
            </p:cNvPr>
            <p:cNvSpPr txBox="1"/>
            <p:nvPr/>
          </p:nvSpPr>
          <p:spPr>
            <a:xfrm>
              <a:off x="3947569" y="5703804"/>
              <a:ext cx="3353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If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3C400C2-33FC-4743-9477-A7F98B715F42}"/>
                </a:ext>
              </a:extLst>
            </p:cNvPr>
            <p:cNvSpPr txBox="1"/>
            <p:nvPr/>
          </p:nvSpPr>
          <p:spPr>
            <a:xfrm>
              <a:off x="5048272" y="5683740"/>
              <a:ext cx="34039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, we recover Maxwell-Boltzmann</a:t>
              </a:r>
            </a:p>
          </p:txBody>
        </p:sp>
      </p:grpSp>
      <p:pic>
        <p:nvPicPr>
          <p:cNvPr id="48" name="Graphic 47">
            <a:extLst>
              <a:ext uri="{FF2B5EF4-FFF2-40B4-BE49-F238E27FC236}">
                <a16:creationId xmlns:a16="http://schemas.microsoft.com/office/drawing/2014/main" id="{AE7D23D2-A9E7-46AF-A3FE-AEF97D60238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162791" y="6154307"/>
            <a:ext cx="1579460" cy="634736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0F94E220-5380-4219-BC46-A36684226DF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249531" y="5032065"/>
            <a:ext cx="1826733" cy="780352"/>
          </a:xfrm>
          <a:prstGeom prst="rect">
            <a:avLst/>
          </a:pr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AFC48659-429D-4A51-9160-A8EE263CC079}"/>
              </a:ext>
            </a:extLst>
          </p:cNvPr>
          <p:cNvGrpSpPr/>
          <p:nvPr/>
        </p:nvGrpSpPr>
        <p:grpSpPr>
          <a:xfrm>
            <a:off x="1613224" y="2059753"/>
            <a:ext cx="4823559" cy="482072"/>
            <a:chOff x="5699226" y="2356822"/>
            <a:chExt cx="4823559" cy="482072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22D8345-6B80-4F4C-8AD6-52D31BCF3115}"/>
                </a:ext>
              </a:extLst>
            </p:cNvPr>
            <p:cNvSpPr txBox="1"/>
            <p:nvPr/>
          </p:nvSpPr>
          <p:spPr>
            <a:xfrm>
              <a:off x="5699226" y="2396819"/>
              <a:ext cx="30530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b="1" dirty="0"/>
                <a:t>Microcanonical ensemble:</a:t>
              </a:r>
            </a:p>
          </p:txBody>
        </p:sp>
        <p:pic>
          <p:nvPicPr>
            <p:cNvPr id="42" name="Graphic 41">
              <a:extLst>
                <a:ext uri="{FF2B5EF4-FFF2-40B4-BE49-F238E27FC236}">
                  <a16:creationId xmlns:a16="http://schemas.microsoft.com/office/drawing/2014/main" id="{9C319FB1-8076-4FCA-8667-49EEC8A9F8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8715017" y="2356822"/>
              <a:ext cx="1807768" cy="482072"/>
            </a:xfrm>
            <a:prstGeom prst="rect">
              <a:avLst/>
            </a:prstGeom>
          </p:spPr>
        </p:pic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3949911-09FA-42F5-90C2-6819F8C7B3D8}"/>
              </a:ext>
            </a:extLst>
          </p:cNvPr>
          <p:cNvCxnSpPr>
            <a:cxnSpLocks/>
          </p:cNvCxnSpPr>
          <p:nvPr/>
        </p:nvCxnSpPr>
        <p:spPr>
          <a:xfrm>
            <a:off x="3947569" y="5425440"/>
            <a:ext cx="6986730" cy="110048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0BDF392-786E-4671-82DE-A0164543CFC0}"/>
              </a:ext>
            </a:extLst>
          </p:cNvPr>
          <p:cNvSpPr txBox="1"/>
          <p:nvPr/>
        </p:nvSpPr>
        <p:spPr>
          <a:xfrm>
            <a:off x="5948413" y="6506996"/>
            <a:ext cx="3484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From K. Huang, not good for me.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113844F0-3D7E-4676-B926-C88D98AFD6A4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186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F4BF5-DDAB-458D-B6E8-8E61A76ED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Quantum statistics of non-interacting particles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9272B8-802E-4FD3-A27C-31B2CAACE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07" y="1895034"/>
            <a:ext cx="3067478" cy="48774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90E3B3-FE1D-4564-8365-922A4E503C9D}"/>
              </a:ext>
            </a:extLst>
          </p:cNvPr>
          <p:cNvSpPr txBox="1"/>
          <p:nvPr/>
        </p:nvSpPr>
        <p:spPr>
          <a:xfrm rot="16200000">
            <a:off x="-664153" y="4514249"/>
            <a:ext cx="1777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Quantum states</a:t>
            </a: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3302D394-6902-4550-A610-69F3F8A8CF2A}"/>
              </a:ext>
            </a:extLst>
          </p:cNvPr>
          <p:cNvSpPr/>
          <p:nvPr/>
        </p:nvSpPr>
        <p:spPr>
          <a:xfrm>
            <a:off x="409507" y="2935705"/>
            <a:ext cx="369333" cy="359022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512667-D149-4BE5-8179-FE662BD57326}"/>
              </a:ext>
            </a:extLst>
          </p:cNvPr>
          <p:cNvSpPr txBox="1"/>
          <p:nvPr/>
        </p:nvSpPr>
        <p:spPr>
          <a:xfrm>
            <a:off x="2242686" y="2751039"/>
            <a:ext cx="1307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degeneracy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BF387AA-9F09-48EB-A9FE-A3F96406ABD9}"/>
              </a:ext>
            </a:extLst>
          </p:cNvPr>
          <p:cNvCxnSpPr/>
          <p:nvPr/>
        </p:nvCxnSpPr>
        <p:spPr>
          <a:xfrm>
            <a:off x="2887579" y="3243714"/>
            <a:ext cx="0" cy="4523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41B3B7C-6568-4AA2-BA1F-4AC40EF44B5A}"/>
              </a:ext>
            </a:extLst>
          </p:cNvPr>
          <p:cNvCxnSpPr>
            <a:cxnSpLocks/>
          </p:cNvCxnSpPr>
          <p:nvPr/>
        </p:nvCxnSpPr>
        <p:spPr>
          <a:xfrm>
            <a:off x="3270986" y="3551723"/>
            <a:ext cx="0" cy="2679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327D0F2-40B0-4D95-BAF5-44CEBD512175}"/>
              </a:ext>
            </a:extLst>
          </p:cNvPr>
          <p:cNvGrpSpPr/>
          <p:nvPr/>
        </p:nvGrpSpPr>
        <p:grpSpPr>
          <a:xfrm>
            <a:off x="3014984" y="3132131"/>
            <a:ext cx="2269014" cy="496042"/>
            <a:chOff x="3014984" y="3132131"/>
            <a:chExt cx="2269014" cy="496042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2CA7131-B538-45B5-AC7C-506D9E37D4CA}"/>
                </a:ext>
              </a:extLst>
            </p:cNvPr>
            <p:cNvSpPr txBox="1"/>
            <p:nvPr/>
          </p:nvSpPr>
          <p:spPr>
            <a:xfrm>
              <a:off x="3014984" y="3151381"/>
              <a:ext cx="20208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# of particles with </a:t>
              </a:r>
            </a:p>
          </p:txBody>
        </p: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8D6F94D0-4051-41CD-8EBC-4842C44BAE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766389" y="3132131"/>
              <a:ext cx="517609" cy="496042"/>
            </a:xfrm>
            <a:prstGeom prst="rect">
              <a:avLst/>
            </a:prstGeom>
          </p:spPr>
        </p:pic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4AB89A91-1F3A-47C0-9393-7A41509F06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9293" y="3122138"/>
            <a:ext cx="2425567" cy="37316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AD4CD10-9D6A-403B-876D-3B3A7A1841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13043" y="2863016"/>
            <a:ext cx="2105319" cy="781159"/>
          </a:xfrm>
          <a:prstGeom prst="rect">
            <a:avLst/>
          </a:prstGeom>
        </p:spPr>
      </p:pic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7EA9F3C-FDF9-493B-9BFD-DAB22F78D92B}"/>
              </a:ext>
            </a:extLst>
          </p:cNvPr>
          <p:cNvSpPr/>
          <p:nvPr/>
        </p:nvSpPr>
        <p:spPr>
          <a:xfrm>
            <a:off x="9613043" y="2969863"/>
            <a:ext cx="2262314" cy="67431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865D22A-7875-48B9-A347-06FA93F806A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9662404" y="3703074"/>
            <a:ext cx="2163591" cy="87498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73062E6-7682-4D4C-8E67-CB15BCD59B94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b="43677"/>
          <a:stretch/>
        </p:blipFill>
        <p:spPr>
          <a:xfrm>
            <a:off x="3839023" y="3717221"/>
            <a:ext cx="5411981" cy="84463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6C07916-C2E5-4A85-835D-1013C025041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99801" y="4744819"/>
            <a:ext cx="3915911" cy="75276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05421FD-19AF-4FD3-B20C-9583D8300F1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17460" y="4567597"/>
            <a:ext cx="2277155" cy="664929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79E9157C-1F45-4258-BFA0-DE2DBD59CDD8}"/>
              </a:ext>
            </a:extLst>
          </p:cNvPr>
          <p:cNvGrpSpPr/>
          <p:nvPr/>
        </p:nvGrpSpPr>
        <p:grpSpPr>
          <a:xfrm>
            <a:off x="9035676" y="5178559"/>
            <a:ext cx="3156324" cy="1117375"/>
            <a:chOff x="8932896" y="5689123"/>
            <a:chExt cx="3156324" cy="1117375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0F79D69C-31F8-436B-8764-75762BABE9D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/>
            <a:srcRect t="7731"/>
            <a:stretch/>
          </p:blipFill>
          <p:spPr>
            <a:xfrm>
              <a:off x="8932896" y="6093415"/>
              <a:ext cx="3156324" cy="713083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DA411C2-912C-4F05-A37E-E794FD735EAA}"/>
                </a:ext>
              </a:extLst>
            </p:cNvPr>
            <p:cNvSpPr txBox="1"/>
            <p:nvPr/>
          </p:nvSpPr>
          <p:spPr>
            <a:xfrm>
              <a:off x="9282791" y="5689123"/>
              <a:ext cx="26694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b="1" dirty="0"/>
                <a:t>Quantum gas equation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0FE19566-F565-4D34-AA17-4821659042FE}"/>
              </a:ext>
            </a:extLst>
          </p:cNvPr>
          <p:cNvSpPr txBox="1"/>
          <p:nvPr/>
        </p:nvSpPr>
        <p:spPr>
          <a:xfrm>
            <a:off x="3495616" y="6341263"/>
            <a:ext cx="1821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Grand potential: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1B2263C-7F16-4C5D-A132-F68FB4EC82C1}"/>
              </a:ext>
            </a:extLst>
          </p:cNvPr>
          <p:cNvGrpSpPr/>
          <p:nvPr/>
        </p:nvGrpSpPr>
        <p:grpSpPr>
          <a:xfrm>
            <a:off x="1613224" y="2059753"/>
            <a:ext cx="4823559" cy="482072"/>
            <a:chOff x="5699226" y="2356822"/>
            <a:chExt cx="4823559" cy="482072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C69F3F2-A0D4-4F61-BB02-8E3426599ADF}"/>
                </a:ext>
              </a:extLst>
            </p:cNvPr>
            <p:cNvSpPr txBox="1"/>
            <p:nvPr/>
          </p:nvSpPr>
          <p:spPr>
            <a:xfrm>
              <a:off x="5699226" y="2396819"/>
              <a:ext cx="30530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b="1" dirty="0"/>
                <a:t>Microcanonical ensemble:</a:t>
              </a:r>
            </a:p>
          </p:txBody>
        </p:sp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A7784614-0A11-4A6D-BABA-1200AB0A1EE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8715017" y="2356822"/>
              <a:ext cx="1807768" cy="482072"/>
            </a:xfrm>
            <a:prstGeom prst="rect">
              <a:avLst/>
            </a:prstGeom>
          </p:spPr>
        </p:pic>
      </p:grpSp>
      <p:pic>
        <p:nvPicPr>
          <p:cNvPr id="18" name="Graphic 17">
            <a:extLst>
              <a:ext uri="{FF2B5EF4-FFF2-40B4-BE49-F238E27FC236}">
                <a16:creationId xmlns:a16="http://schemas.microsoft.com/office/drawing/2014/main" id="{A79BD355-7D02-450A-9C9A-8AA1A998DC7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4709920" y="5596382"/>
            <a:ext cx="797401" cy="674724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5A087D2-D374-4B0C-9320-9D81A28C1BF0}"/>
              </a:ext>
            </a:extLst>
          </p:cNvPr>
          <p:cNvPicPr>
            <a:picLocks noChangeAspect="1"/>
          </p:cNvPicPr>
          <p:nvPr/>
        </p:nvPicPr>
        <p:blipFill rotWithShape="1">
          <a:blip r:embed="rId17"/>
          <a:srcRect r="59209"/>
          <a:stretch/>
        </p:blipFill>
        <p:spPr>
          <a:xfrm>
            <a:off x="7214054" y="6111290"/>
            <a:ext cx="1381944" cy="654802"/>
          </a:xfrm>
          <a:prstGeom prst="rect">
            <a:avLst/>
          </a:prstGeom>
        </p:spPr>
      </p:pic>
      <p:sp>
        <p:nvSpPr>
          <p:cNvPr id="22" name="Left Brace 21">
            <a:extLst>
              <a:ext uri="{FF2B5EF4-FFF2-40B4-BE49-F238E27FC236}">
                <a16:creationId xmlns:a16="http://schemas.microsoft.com/office/drawing/2014/main" id="{3FC306D9-DA41-4DB4-A864-CC8C600D9FEA}"/>
              </a:ext>
            </a:extLst>
          </p:cNvPr>
          <p:cNvSpPr/>
          <p:nvPr/>
        </p:nvSpPr>
        <p:spPr>
          <a:xfrm rot="16200000">
            <a:off x="5010091" y="4312011"/>
            <a:ext cx="272431" cy="239020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36" name="Graphic 35">
            <a:extLst>
              <a:ext uri="{FF2B5EF4-FFF2-40B4-BE49-F238E27FC236}">
                <a16:creationId xmlns:a16="http://schemas.microsoft.com/office/drawing/2014/main" id="{D3BAE36C-03B5-429F-9A3A-505F5639881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202349" y="6313026"/>
            <a:ext cx="1908243" cy="42580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0C9A72F-8CBE-4D3C-9C7E-05FA0F768F40}"/>
              </a:ext>
            </a:extLst>
          </p:cNvPr>
          <p:cNvPicPr>
            <a:picLocks noChangeAspect="1"/>
          </p:cNvPicPr>
          <p:nvPr/>
        </p:nvPicPr>
        <p:blipFill rotWithShape="1">
          <a:blip r:embed="rId17"/>
          <a:srcRect l="80519" t="1" b="-12541"/>
          <a:stretch/>
        </p:blipFill>
        <p:spPr>
          <a:xfrm>
            <a:off x="8605250" y="6111290"/>
            <a:ext cx="660015" cy="736919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F1B64978-AA05-4284-A5A6-F0F34CCFD543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008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F4BF5-DDAB-458D-B6E8-8E61A76ED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Quantum statistics of non-interacting particles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9272B8-802E-4FD3-A27C-31B2CAACE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07" y="1895034"/>
            <a:ext cx="3067478" cy="48774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90E3B3-FE1D-4564-8365-922A4E503C9D}"/>
              </a:ext>
            </a:extLst>
          </p:cNvPr>
          <p:cNvSpPr txBox="1"/>
          <p:nvPr/>
        </p:nvSpPr>
        <p:spPr>
          <a:xfrm rot="16200000">
            <a:off x="-664153" y="4514249"/>
            <a:ext cx="1777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Quantum states</a:t>
            </a: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3302D394-6902-4550-A610-69F3F8A8CF2A}"/>
              </a:ext>
            </a:extLst>
          </p:cNvPr>
          <p:cNvSpPr/>
          <p:nvPr/>
        </p:nvSpPr>
        <p:spPr>
          <a:xfrm>
            <a:off x="409507" y="2935705"/>
            <a:ext cx="369333" cy="359022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512667-D149-4BE5-8179-FE662BD57326}"/>
              </a:ext>
            </a:extLst>
          </p:cNvPr>
          <p:cNvSpPr txBox="1"/>
          <p:nvPr/>
        </p:nvSpPr>
        <p:spPr>
          <a:xfrm>
            <a:off x="2242686" y="2751039"/>
            <a:ext cx="1307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degeneracy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BF387AA-9F09-48EB-A9FE-A3F96406ABD9}"/>
              </a:ext>
            </a:extLst>
          </p:cNvPr>
          <p:cNvCxnSpPr/>
          <p:nvPr/>
        </p:nvCxnSpPr>
        <p:spPr>
          <a:xfrm>
            <a:off x="2887579" y="3243714"/>
            <a:ext cx="0" cy="4523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41B3B7C-6568-4AA2-BA1F-4AC40EF44B5A}"/>
              </a:ext>
            </a:extLst>
          </p:cNvPr>
          <p:cNvCxnSpPr>
            <a:cxnSpLocks/>
          </p:cNvCxnSpPr>
          <p:nvPr/>
        </p:nvCxnSpPr>
        <p:spPr>
          <a:xfrm>
            <a:off x="3270986" y="3551723"/>
            <a:ext cx="0" cy="2679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327D0F2-40B0-4D95-BAF5-44CEBD512175}"/>
              </a:ext>
            </a:extLst>
          </p:cNvPr>
          <p:cNvGrpSpPr/>
          <p:nvPr/>
        </p:nvGrpSpPr>
        <p:grpSpPr>
          <a:xfrm>
            <a:off x="3014984" y="3132131"/>
            <a:ext cx="2269014" cy="496042"/>
            <a:chOff x="3014984" y="3132131"/>
            <a:chExt cx="2269014" cy="496042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2CA7131-B538-45B5-AC7C-506D9E37D4CA}"/>
                </a:ext>
              </a:extLst>
            </p:cNvPr>
            <p:cNvSpPr txBox="1"/>
            <p:nvPr/>
          </p:nvSpPr>
          <p:spPr>
            <a:xfrm>
              <a:off x="3014984" y="3151381"/>
              <a:ext cx="20208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# of particles with </a:t>
              </a:r>
            </a:p>
          </p:txBody>
        </p: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8D6F94D0-4051-41CD-8EBC-4842C44BAE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766389" y="3132131"/>
              <a:ext cx="517609" cy="496042"/>
            </a:xfrm>
            <a:prstGeom prst="rect">
              <a:avLst/>
            </a:prstGeom>
          </p:spPr>
        </p:pic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4AB89A91-1F3A-47C0-9393-7A41509F06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9293" y="3122138"/>
            <a:ext cx="2425567" cy="37316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AD4CD10-9D6A-403B-876D-3B3A7A1841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13043" y="2863016"/>
            <a:ext cx="2105319" cy="781159"/>
          </a:xfrm>
          <a:prstGeom prst="rect">
            <a:avLst/>
          </a:prstGeom>
        </p:spPr>
      </p:pic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7EA9F3C-FDF9-493B-9BFD-DAB22F78D92B}"/>
              </a:ext>
            </a:extLst>
          </p:cNvPr>
          <p:cNvSpPr/>
          <p:nvPr/>
        </p:nvSpPr>
        <p:spPr>
          <a:xfrm>
            <a:off x="9613043" y="2969863"/>
            <a:ext cx="2262314" cy="67431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865D22A-7875-48B9-A347-06FA93F806A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9662404" y="3703074"/>
            <a:ext cx="2163591" cy="87498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73062E6-7682-4D4C-8E67-CB15BCD59B94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b="43677"/>
          <a:stretch/>
        </p:blipFill>
        <p:spPr>
          <a:xfrm>
            <a:off x="3839023" y="3717221"/>
            <a:ext cx="5411981" cy="84463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6C07916-C2E5-4A85-835D-1013C025041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99801" y="4744819"/>
            <a:ext cx="3915911" cy="75276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DA411C2-912C-4F05-A37E-E794FD735EAA}"/>
              </a:ext>
            </a:extLst>
          </p:cNvPr>
          <p:cNvSpPr txBox="1"/>
          <p:nvPr/>
        </p:nvSpPr>
        <p:spPr>
          <a:xfrm>
            <a:off x="8899081" y="5250233"/>
            <a:ext cx="2429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b="1" dirty="0"/>
              <a:t>Maxwell-Boltzmann: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1B2263C-7F16-4C5D-A132-F68FB4EC82C1}"/>
              </a:ext>
            </a:extLst>
          </p:cNvPr>
          <p:cNvGrpSpPr/>
          <p:nvPr/>
        </p:nvGrpSpPr>
        <p:grpSpPr>
          <a:xfrm>
            <a:off x="1613224" y="2059753"/>
            <a:ext cx="4823559" cy="482072"/>
            <a:chOff x="5699226" y="2356822"/>
            <a:chExt cx="4823559" cy="482072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C69F3F2-A0D4-4F61-BB02-8E3426599ADF}"/>
                </a:ext>
              </a:extLst>
            </p:cNvPr>
            <p:cNvSpPr txBox="1"/>
            <p:nvPr/>
          </p:nvSpPr>
          <p:spPr>
            <a:xfrm>
              <a:off x="5699226" y="2396819"/>
              <a:ext cx="30530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b="1" dirty="0"/>
                <a:t>Microcanonical ensemble:</a:t>
              </a:r>
            </a:p>
          </p:txBody>
        </p:sp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A7784614-0A11-4A6D-BABA-1200AB0A1EE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715017" y="2356822"/>
              <a:ext cx="1807768" cy="482072"/>
            </a:xfrm>
            <a:prstGeom prst="rect">
              <a:avLst/>
            </a:prstGeom>
          </p:spPr>
        </p:pic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500CBF74-5AEE-4EAD-BF92-E6F750B18AD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38466" y="5628295"/>
            <a:ext cx="4153534" cy="672014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53E5811D-2FF5-4BB1-A28A-5CA37D7C21A2}"/>
              </a:ext>
            </a:extLst>
          </p:cNvPr>
          <p:cNvGrpSpPr/>
          <p:nvPr/>
        </p:nvGrpSpPr>
        <p:grpSpPr>
          <a:xfrm>
            <a:off x="8419612" y="1229705"/>
            <a:ext cx="3570708" cy="1740090"/>
            <a:chOff x="3804708" y="3577617"/>
            <a:chExt cx="3570708" cy="1740090"/>
          </a:xfrm>
        </p:grpSpPr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DC2464AB-9636-4A7C-AA59-48A68C5C567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223272" y="3819626"/>
              <a:ext cx="3152144" cy="783682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9AD38EE4-2004-477B-8D4B-1D7AACE0144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223273" y="4575055"/>
              <a:ext cx="3152143" cy="742652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158EB71-7B1F-4687-9609-DB07862F47D1}"/>
                </a:ext>
              </a:extLst>
            </p:cNvPr>
            <p:cNvSpPr txBox="1"/>
            <p:nvPr/>
          </p:nvSpPr>
          <p:spPr>
            <a:xfrm>
              <a:off x="3804708" y="3577617"/>
              <a:ext cx="13031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Constraint:</a:t>
              </a:r>
            </a:p>
          </p:txBody>
        </p:sp>
      </p:grpSp>
      <p:pic>
        <p:nvPicPr>
          <p:cNvPr id="38" name="Picture 37">
            <a:extLst>
              <a:ext uri="{FF2B5EF4-FFF2-40B4-BE49-F238E27FC236}">
                <a16:creationId xmlns:a16="http://schemas.microsoft.com/office/drawing/2014/main" id="{4CC7B2E7-DC38-4931-ACD3-01CC3409F712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617460" y="4567597"/>
            <a:ext cx="2277155" cy="664929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52806E0C-21E9-42C7-AD72-939156EEDA73}"/>
              </a:ext>
            </a:extLst>
          </p:cNvPr>
          <p:cNvGrpSpPr/>
          <p:nvPr/>
        </p:nvGrpSpPr>
        <p:grpSpPr>
          <a:xfrm>
            <a:off x="3495616" y="5370896"/>
            <a:ext cx="3614975" cy="1367936"/>
            <a:chOff x="3495616" y="5370896"/>
            <a:chExt cx="3614975" cy="1367936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7867501E-0BA0-4BD8-9218-860BD38E076E}"/>
                </a:ext>
              </a:extLst>
            </p:cNvPr>
            <p:cNvGrpSpPr/>
            <p:nvPr/>
          </p:nvGrpSpPr>
          <p:grpSpPr>
            <a:xfrm>
              <a:off x="3495616" y="5370896"/>
              <a:ext cx="2845792" cy="1339699"/>
              <a:chOff x="3495616" y="5370896"/>
              <a:chExt cx="2845792" cy="1339699"/>
            </a:xfrm>
          </p:grpSpPr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5571131-1A51-4B98-9E3A-A6FD30F01E58}"/>
                  </a:ext>
                </a:extLst>
              </p:cNvPr>
              <p:cNvSpPr txBox="1"/>
              <p:nvPr/>
            </p:nvSpPr>
            <p:spPr>
              <a:xfrm>
                <a:off x="3495616" y="6341263"/>
                <a:ext cx="18217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MY" dirty="0"/>
                  <a:t>Grand potential:</a:t>
                </a:r>
              </a:p>
            </p:txBody>
          </p:sp>
          <p:pic>
            <p:nvPicPr>
              <p:cNvPr id="43" name="Graphic 42">
                <a:extLst>
                  <a:ext uri="{FF2B5EF4-FFF2-40B4-BE49-F238E27FC236}">
                    <a16:creationId xmlns:a16="http://schemas.microsoft.com/office/drawing/2014/main" id="{76161C90-315C-403E-AAB2-F517C690F5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rcRect/>
              <a:stretch/>
            </p:blipFill>
            <p:spPr>
              <a:xfrm>
                <a:off x="4709920" y="5596382"/>
                <a:ext cx="797401" cy="674724"/>
              </a:xfrm>
              <a:prstGeom prst="rect">
                <a:avLst/>
              </a:prstGeom>
            </p:spPr>
          </p:pic>
          <p:sp>
            <p:nvSpPr>
              <p:cNvPr id="44" name="Left Brace 43">
                <a:extLst>
                  <a:ext uri="{FF2B5EF4-FFF2-40B4-BE49-F238E27FC236}">
                    <a16:creationId xmlns:a16="http://schemas.microsoft.com/office/drawing/2014/main" id="{CD4C7522-8C5C-4391-81E8-5036D9429127}"/>
                  </a:ext>
                </a:extLst>
              </p:cNvPr>
              <p:cNvSpPr/>
              <p:nvPr/>
            </p:nvSpPr>
            <p:spPr>
              <a:xfrm rot="16200000">
                <a:off x="5010091" y="4312011"/>
                <a:ext cx="272431" cy="2390202"/>
              </a:xfrm>
              <a:prstGeom prst="leftBrac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MY"/>
              </a:p>
            </p:txBody>
          </p:sp>
        </p:grpSp>
        <p:pic>
          <p:nvPicPr>
            <p:cNvPr id="45" name="Graphic 44">
              <a:extLst>
                <a:ext uri="{FF2B5EF4-FFF2-40B4-BE49-F238E27FC236}">
                  <a16:creationId xmlns:a16="http://schemas.microsoft.com/office/drawing/2014/main" id="{31258528-9EA2-4EE3-83D5-20375ECC42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rcRect/>
            <a:stretch/>
          </p:blipFill>
          <p:spPr>
            <a:xfrm>
              <a:off x="5202350" y="6313026"/>
              <a:ext cx="1908241" cy="425806"/>
            </a:xfrm>
            <a:prstGeom prst="rect">
              <a:avLst/>
            </a:prstGeom>
          </p:spPr>
        </p:pic>
      </p:grpSp>
      <p:pic>
        <p:nvPicPr>
          <p:cNvPr id="39" name="Picture 38">
            <a:extLst>
              <a:ext uri="{FF2B5EF4-FFF2-40B4-BE49-F238E27FC236}">
                <a16:creationId xmlns:a16="http://schemas.microsoft.com/office/drawing/2014/main" id="{44309CD6-6277-450D-8D23-C9F9A388227B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503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F4BF5-DDAB-458D-B6E8-8E61A76ED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Quantum statistics of non-interacting particles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9272B8-802E-4FD3-A27C-31B2CAACE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07" y="1895034"/>
            <a:ext cx="3067478" cy="48774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90E3B3-FE1D-4564-8365-922A4E503C9D}"/>
              </a:ext>
            </a:extLst>
          </p:cNvPr>
          <p:cNvSpPr txBox="1"/>
          <p:nvPr/>
        </p:nvSpPr>
        <p:spPr>
          <a:xfrm rot="16200000">
            <a:off x="-664153" y="4514249"/>
            <a:ext cx="1777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Quantum states</a:t>
            </a: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3302D394-6902-4550-A610-69F3F8A8CF2A}"/>
              </a:ext>
            </a:extLst>
          </p:cNvPr>
          <p:cNvSpPr/>
          <p:nvPr/>
        </p:nvSpPr>
        <p:spPr>
          <a:xfrm>
            <a:off x="409507" y="2935705"/>
            <a:ext cx="369333" cy="359022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512667-D149-4BE5-8179-FE662BD57326}"/>
              </a:ext>
            </a:extLst>
          </p:cNvPr>
          <p:cNvSpPr txBox="1"/>
          <p:nvPr/>
        </p:nvSpPr>
        <p:spPr>
          <a:xfrm>
            <a:off x="2242686" y="2751039"/>
            <a:ext cx="1307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degeneracy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BF387AA-9F09-48EB-A9FE-A3F96406ABD9}"/>
              </a:ext>
            </a:extLst>
          </p:cNvPr>
          <p:cNvCxnSpPr/>
          <p:nvPr/>
        </p:nvCxnSpPr>
        <p:spPr>
          <a:xfrm>
            <a:off x="2887579" y="3243714"/>
            <a:ext cx="0" cy="4523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41B3B7C-6568-4AA2-BA1F-4AC40EF44B5A}"/>
              </a:ext>
            </a:extLst>
          </p:cNvPr>
          <p:cNvCxnSpPr>
            <a:cxnSpLocks/>
          </p:cNvCxnSpPr>
          <p:nvPr/>
        </p:nvCxnSpPr>
        <p:spPr>
          <a:xfrm>
            <a:off x="3270986" y="3551723"/>
            <a:ext cx="0" cy="2679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327D0F2-40B0-4D95-BAF5-44CEBD512175}"/>
              </a:ext>
            </a:extLst>
          </p:cNvPr>
          <p:cNvGrpSpPr/>
          <p:nvPr/>
        </p:nvGrpSpPr>
        <p:grpSpPr>
          <a:xfrm>
            <a:off x="3014984" y="3132131"/>
            <a:ext cx="2269014" cy="496042"/>
            <a:chOff x="3014984" y="3132131"/>
            <a:chExt cx="2269014" cy="496042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2CA7131-B538-45B5-AC7C-506D9E37D4CA}"/>
                </a:ext>
              </a:extLst>
            </p:cNvPr>
            <p:cNvSpPr txBox="1"/>
            <p:nvPr/>
          </p:nvSpPr>
          <p:spPr>
            <a:xfrm>
              <a:off x="3014984" y="3151381"/>
              <a:ext cx="20208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# of particles with </a:t>
              </a:r>
            </a:p>
          </p:txBody>
        </p: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8D6F94D0-4051-41CD-8EBC-4842C44BAE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766389" y="3132131"/>
              <a:ext cx="517609" cy="496042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7A7289A-33EC-421C-AD2B-EB0BEF83C8D1}"/>
              </a:ext>
            </a:extLst>
          </p:cNvPr>
          <p:cNvGrpSpPr/>
          <p:nvPr/>
        </p:nvGrpSpPr>
        <p:grpSpPr>
          <a:xfrm>
            <a:off x="1574690" y="2043101"/>
            <a:ext cx="3807793" cy="482072"/>
            <a:chOff x="5361819" y="2267133"/>
            <a:chExt cx="3807793" cy="48207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BB82320-751D-47BA-9965-8F3FEF8F3849}"/>
                </a:ext>
              </a:extLst>
            </p:cNvPr>
            <p:cNvSpPr txBox="1"/>
            <p:nvPr/>
          </p:nvSpPr>
          <p:spPr>
            <a:xfrm>
              <a:off x="5361819" y="2356822"/>
              <a:ext cx="24522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b="1" dirty="0"/>
                <a:t>Canonical ensemble:</a:t>
              </a:r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CD811CA5-1A68-492D-80DD-748C29E8BD1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687687" y="2267133"/>
              <a:ext cx="1481925" cy="482072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822EEFDF-4FC9-41B9-BFF1-85AAEB7A3AB3}"/>
              </a:ext>
            </a:extLst>
          </p:cNvPr>
          <p:cNvGrpSpPr/>
          <p:nvPr/>
        </p:nvGrpSpPr>
        <p:grpSpPr>
          <a:xfrm>
            <a:off x="5220525" y="2780733"/>
            <a:ext cx="4776140" cy="2133458"/>
            <a:chOff x="5231261" y="2683276"/>
            <a:chExt cx="4776140" cy="2133458"/>
          </a:xfrm>
        </p:grpSpPr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33DBB8F0-5755-4172-AE57-BAD3255ED02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231261" y="2683276"/>
              <a:ext cx="2426503" cy="936210"/>
            </a:xfrm>
            <a:prstGeom prst="rect">
              <a:avLst/>
            </a:prstGeom>
          </p:spPr>
        </p:pic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5BD00160-7D32-423A-A491-FDFC7FB1565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699992" y="4088557"/>
              <a:ext cx="1307409" cy="728177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654BAC1-5919-4162-83EE-F5AA2396824D}"/>
              </a:ext>
            </a:extLst>
          </p:cNvPr>
          <p:cNvGrpSpPr/>
          <p:nvPr/>
        </p:nvGrpSpPr>
        <p:grpSpPr>
          <a:xfrm>
            <a:off x="3324423" y="4214708"/>
            <a:ext cx="4934013" cy="482072"/>
            <a:chOff x="3335159" y="4117251"/>
            <a:chExt cx="4934013" cy="482072"/>
          </a:xfrm>
        </p:grpSpPr>
        <p:pic>
          <p:nvPicPr>
            <p:cNvPr id="34" name="Graphic 33">
              <a:extLst>
                <a:ext uri="{FF2B5EF4-FFF2-40B4-BE49-F238E27FC236}">
                  <a16:creationId xmlns:a16="http://schemas.microsoft.com/office/drawing/2014/main" id="{8822DC73-5C66-4321-98AC-4C3C3787B9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6323665" y="4117251"/>
              <a:ext cx="1945507" cy="482072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1733EC7-1362-431A-A0E3-C7A29C91169D}"/>
                </a:ext>
              </a:extLst>
            </p:cNvPr>
            <p:cNvSpPr txBox="1"/>
            <p:nvPr/>
          </p:nvSpPr>
          <p:spPr>
            <a:xfrm>
              <a:off x="3335159" y="4199817"/>
              <a:ext cx="31432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b="1" dirty="0"/>
                <a:t>Grand canonical ensemble:</a:t>
              </a:r>
            </a:p>
          </p:txBody>
        </p:sp>
      </p:grpSp>
      <p:pic>
        <p:nvPicPr>
          <p:cNvPr id="39" name="Graphic 38">
            <a:extLst>
              <a:ext uri="{FF2B5EF4-FFF2-40B4-BE49-F238E27FC236}">
                <a16:creationId xmlns:a16="http://schemas.microsoft.com/office/drawing/2014/main" id="{3152FF8B-72C5-4ADC-9EDF-D7ADAB05D29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826536" y="4550103"/>
            <a:ext cx="2268800" cy="921701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2DACFB40-2D35-4A4C-B8E3-D2F275D1695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192875" y="3435736"/>
            <a:ext cx="2382541" cy="858415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D68620C7-E2D3-4137-998A-9E5ED17B23E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797582" y="5314222"/>
            <a:ext cx="2880084" cy="948530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AD8F9D13-3212-4410-89EE-823239A015A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763545" y="5457810"/>
            <a:ext cx="989783" cy="468845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0401A996-C31E-4BCF-A71F-DB58DD25D6FA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4755653" y="6125923"/>
            <a:ext cx="3927327" cy="800011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E2CBFE42-94F4-4394-9B7F-18C6CB250680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779595" y="5501546"/>
            <a:ext cx="3305397" cy="1312193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AE2386E1-BFDA-4455-A4BA-6BFF89F76525}"/>
              </a:ext>
            </a:extLst>
          </p:cNvPr>
          <p:cNvPicPr>
            <a:picLocks noChangeAspect="1"/>
          </p:cNvPicPr>
          <p:nvPr/>
        </p:nvPicPr>
        <p:blipFill rotWithShape="1"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 r="79737"/>
          <a:stretch/>
        </p:blipFill>
        <p:spPr>
          <a:xfrm>
            <a:off x="7732497" y="2614421"/>
            <a:ext cx="677829" cy="103542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9EB98EC-F726-4743-BC9B-239FC23DEC7A}"/>
              </a:ext>
            </a:extLst>
          </p:cNvPr>
          <p:cNvPicPr>
            <a:picLocks noChangeAspect="1"/>
          </p:cNvPicPr>
          <p:nvPr/>
        </p:nvPicPr>
        <p:blipFill rotWithShape="1">
          <a:blip r:embed="rId27"/>
          <a:srcRect l="7973"/>
          <a:stretch/>
        </p:blipFill>
        <p:spPr>
          <a:xfrm>
            <a:off x="8410326" y="2645926"/>
            <a:ext cx="2354645" cy="72817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65EDD79A-9DB3-4E80-8B26-D3E26759FF01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738915" y="2714258"/>
            <a:ext cx="1452956" cy="621789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7DB0D9D5-5E1D-4A8E-BABC-06DDC9764A4B}"/>
              </a:ext>
            </a:extLst>
          </p:cNvPr>
          <p:cNvSpPr txBox="1"/>
          <p:nvPr/>
        </p:nvSpPr>
        <p:spPr>
          <a:xfrm>
            <a:off x="7889189" y="2287973"/>
            <a:ext cx="1135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b="1" dirty="0"/>
              <a:t>Classical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F39312C-7389-4B08-B2EB-4AFCA5BE5582}"/>
              </a:ext>
            </a:extLst>
          </p:cNvPr>
          <p:cNvSpPr txBox="1"/>
          <p:nvPr/>
        </p:nvSpPr>
        <p:spPr>
          <a:xfrm>
            <a:off x="10021969" y="4199684"/>
            <a:ext cx="2177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Difficult to proceed.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71EBBA4-78D9-47FB-9CF6-DD0DE5CB7CB5}"/>
              </a:ext>
            </a:extLst>
          </p:cNvPr>
          <p:cNvSpPr txBox="1"/>
          <p:nvPr/>
        </p:nvSpPr>
        <p:spPr>
          <a:xfrm>
            <a:off x="5385882" y="2300659"/>
            <a:ext cx="1241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b="1" dirty="0"/>
              <a:t>Quantum</a:t>
            </a:r>
          </a:p>
        </p:txBody>
      </p:sp>
      <p:pic>
        <p:nvPicPr>
          <p:cNvPr id="47" name="Graphic 46">
            <a:extLst>
              <a:ext uri="{FF2B5EF4-FFF2-40B4-BE49-F238E27FC236}">
                <a16:creationId xmlns:a16="http://schemas.microsoft.com/office/drawing/2014/main" id="{C8C9C45D-069D-4C10-84AC-430AE7BFC0AC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7814845" y="3363046"/>
            <a:ext cx="2950126" cy="806139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6115D94F-8A71-46AD-B73C-86C7ECF2DB93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0778425" y="3307103"/>
            <a:ext cx="1238958" cy="757141"/>
          </a:xfrm>
          <a:prstGeom prst="rect">
            <a:avLst/>
          </a:prstGeom>
        </p:spPr>
      </p:pic>
      <p:grpSp>
        <p:nvGrpSpPr>
          <p:cNvPr id="54" name="Group 53">
            <a:extLst>
              <a:ext uri="{FF2B5EF4-FFF2-40B4-BE49-F238E27FC236}">
                <a16:creationId xmlns:a16="http://schemas.microsoft.com/office/drawing/2014/main" id="{101E2C5A-C050-40AB-954E-2B51173C82E1}"/>
              </a:ext>
            </a:extLst>
          </p:cNvPr>
          <p:cNvGrpSpPr/>
          <p:nvPr/>
        </p:nvGrpSpPr>
        <p:grpSpPr>
          <a:xfrm>
            <a:off x="8682980" y="4767648"/>
            <a:ext cx="3577313" cy="804289"/>
            <a:chOff x="8682980" y="4767648"/>
            <a:chExt cx="3577313" cy="804289"/>
          </a:xfrm>
        </p:grpSpPr>
        <p:pic>
          <p:nvPicPr>
            <p:cNvPr id="52" name="Graphic 51">
              <a:extLst>
                <a:ext uri="{FF2B5EF4-FFF2-40B4-BE49-F238E27FC236}">
                  <a16:creationId xmlns:a16="http://schemas.microsoft.com/office/drawing/2014/main" id="{3A154F2C-E6C1-48AA-8B39-6090A39F80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8682980" y="4767648"/>
              <a:ext cx="2737679" cy="804289"/>
            </a:xfrm>
            <a:prstGeom prst="rect">
              <a:avLst/>
            </a:prstGeom>
          </p:spPr>
        </p:pic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30522BDE-224B-42B0-96C0-04C32557328F}"/>
                </a:ext>
              </a:extLst>
            </p:cNvPr>
            <p:cNvSpPr txBox="1"/>
            <p:nvPr/>
          </p:nvSpPr>
          <p:spPr>
            <a:xfrm>
              <a:off x="11262904" y="4944890"/>
              <a:ext cx="9973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classical</a:t>
              </a:r>
            </a:p>
          </p:txBody>
        </p:sp>
      </p:grp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233490C4-AF57-411F-9C0C-0982BE68A8E1}"/>
              </a:ext>
            </a:extLst>
          </p:cNvPr>
          <p:cNvSpPr/>
          <p:nvPr/>
        </p:nvSpPr>
        <p:spPr>
          <a:xfrm>
            <a:off x="8724909" y="4812870"/>
            <a:ext cx="3466962" cy="1959645"/>
          </a:xfrm>
          <a:prstGeom prst="roundRect">
            <a:avLst>
              <a:gd name="adj" fmla="val 9588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407CA669-789F-452B-8755-595643B5AC29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34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A51DE-29FA-4675-A191-C96A4F76D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Quantum statistics of non-interacting particles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45A5BE1-254E-4A0A-8ADB-1438C49468CA}"/>
              </a:ext>
            </a:extLst>
          </p:cNvPr>
          <p:cNvGrpSpPr/>
          <p:nvPr/>
        </p:nvGrpSpPr>
        <p:grpSpPr>
          <a:xfrm>
            <a:off x="4719623" y="2039803"/>
            <a:ext cx="2544341" cy="1510019"/>
            <a:chOff x="4719623" y="2039803"/>
            <a:chExt cx="2544341" cy="1510019"/>
          </a:xfrm>
        </p:grpSpPr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8917B587-68E7-4183-9715-855D3C3E29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19623" y="2408207"/>
              <a:ext cx="2382541" cy="858415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6AF06C4-3597-4329-B403-581420C34502}"/>
                </a:ext>
              </a:extLst>
            </p:cNvPr>
            <p:cNvSpPr txBox="1"/>
            <p:nvPr/>
          </p:nvSpPr>
          <p:spPr>
            <a:xfrm>
              <a:off x="4884786" y="3180490"/>
              <a:ext cx="21770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Difficult to proceed.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194C571-2A4A-4501-AFC7-4811F7511250}"/>
                </a:ext>
              </a:extLst>
            </p:cNvPr>
            <p:cNvSpPr txBox="1"/>
            <p:nvPr/>
          </p:nvSpPr>
          <p:spPr>
            <a:xfrm>
              <a:off x="4811754" y="2039803"/>
              <a:ext cx="24522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b="1" dirty="0"/>
                <a:t>Canonical ensemble:</a:t>
              </a:r>
            </a:p>
          </p:txBody>
        </p:sp>
      </p:grpSp>
      <p:pic>
        <p:nvPicPr>
          <p:cNvPr id="18" name="Graphic 17">
            <a:extLst>
              <a:ext uri="{FF2B5EF4-FFF2-40B4-BE49-F238E27FC236}">
                <a16:creationId xmlns:a16="http://schemas.microsoft.com/office/drawing/2014/main" id="{4C614752-0594-41F9-9767-89C9C84EA0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56912" y="4742321"/>
            <a:ext cx="491340" cy="512703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57B9491C-0BB4-4114-9E46-5D75DF1AE8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4718" y="3496403"/>
            <a:ext cx="2880084" cy="1143350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77694E19-50E2-419B-92E2-D5B35449BB42}"/>
              </a:ext>
            </a:extLst>
          </p:cNvPr>
          <p:cNvGrpSpPr/>
          <p:nvPr/>
        </p:nvGrpSpPr>
        <p:grpSpPr>
          <a:xfrm>
            <a:off x="8395703" y="1984271"/>
            <a:ext cx="3143233" cy="1363061"/>
            <a:chOff x="8395703" y="1984271"/>
            <a:chExt cx="3143233" cy="1363061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3EB5469-FFF3-4F89-8C06-DA8DD48D8229}"/>
                </a:ext>
              </a:extLst>
            </p:cNvPr>
            <p:cNvSpPr txBox="1"/>
            <p:nvPr/>
          </p:nvSpPr>
          <p:spPr>
            <a:xfrm>
              <a:off x="8395703" y="1984271"/>
              <a:ext cx="31432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b="1" dirty="0"/>
                <a:t>Grand canonical ensemble:</a:t>
              </a:r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454550B2-C911-422E-9169-3AF030A5979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395703" y="2524122"/>
              <a:ext cx="2499567" cy="823210"/>
            </a:xfrm>
            <a:prstGeom prst="rect">
              <a:avLst/>
            </a:prstGeom>
          </p:spPr>
        </p:pic>
      </p:grpSp>
      <p:pic>
        <p:nvPicPr>
          <p:cNvPr id="20" name="Graphic 19">
            <a:extLst>
              <a:ext uri="{FF2B5EF4-FFF2-40B4-BE49-F238E27FC236}">
                <a16:creationId xmlns:a16="http://schemas.microsoft.com/office/drawing/2014/main" id="{66BC2EE6-AEAE-49CE-9FC7-45C061C2882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785476" y="4547052"/>
            <a:ext cx="1827898" cy="734424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22288D98-4D1B-4B8A-AAF7-B4569363DFA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787477" y="5233789"/>
            <a:ext cx="1994566" cy="72072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1A1D1A5-5BE2-4A47-B6ED-4CB150EE14D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03035" y="4083665"/>
            <a:ext cx="4089841" cy="250585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09B924B-B05C-4B38-AEF0-7B78EA6F54A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63029" y="5111991"/>
            <a:ext cx="790263" cy="22460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3ACB314-9D74-4B39-B785-67A91CD795C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638041" y="4435005"/>
            <a:ext cx="600251" cy="22409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E83B160-49D9-4EE5-BEA2-A2EAB43BD8D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796544" y="3899253"/>
            <a:ext cx="1713495" cy="184412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B9E59BDE-424B-4D88-A48F-86633463DBDD}"/>
              </a:ext>
            </a:extLst>
          </p:cNvPr>
          <p:cNvGrpSpPr/>
          <p:nvPr/>
        </p:nvGrpSpPr>
        <p:grpSpPr>
          <a:xfrm>
            <a:off x="223846" y="4432948"/>
            <a:ext cx="2973039" cy="2533831"/>
            <a:chOff x="223846" y="4432948"/>
            <a:chExt cx="2973039" cy="2533831"/>
          </a:xfrm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446772EE-7B30-46E5-AA28-2D51BF61090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rcRect l="20394"/>
            <a:stretch/>
          </p:blipFill>
          <p:spPr>
            <a:xfrm>
              <a:off x="1791605" y="4794542"/>
              <a:ext cx="1273638" cy="486933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BFBD501C-2C76-4B07-8A90-17DA9C7E04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337354" y="5289331"/>
              <a:ext cx="1727889" cy="641117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D39E6A0-AA39-44F2-A95E-7A0E7A366C82}"/>
                </a:ext>
              </a:extLst>
            </p:cNvPr>
            <p:cNvSpPr txBox="1"/>
            <p:nvPr/>
          </p:nvSpPr>
          <p:spPr>
            <a:xfrm>
              <a:off x="223846" y="4432948"/>
              <a:ext cx="22045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Occupation number</a:t>
              </a:r>
            </a:p>
          </p:txBody>
        </p:sp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7AD2C15B-7C02-45BA-A064-A9440A1D8D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rcRect/>
            <a:stretch/>
          </p:blipFill>
          <p:spPr>
            <a:xfrm>
              <a:off x="1165659" y="5865885"/>
              <a:ext cx="2031226" cy="1100894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0D457CF-48D6-4B9D-84E8-A93DFCAF5139}"/>
              </a:ext>
            </a:extLst>
          </p:cNvPr>
          <p:cNvGrpSpPr/>
          <p:nvPr/>
        </p:nvGrpSpPr>
        <p:grpSpPr>
          <a:xfrm>
            <a:off x="624626" y="2039803"/>
            <a:ext cx="3713298" cy="2237474"/>
            <a:chOff x="624626" y="2039803"/>
            <a:chExt cx="3713298" cy="223747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46054B8-33C4-482A-B82B-915D39139ECE}"/>
                </a:ext>
              </a:extLst>
            </p:cNvPr>
            <p:cNvSpPr txBox="1"/>
            <p:nvPr/>
          </p:nvSpPr>
          <p:spPr>
            <a:xfrm>
              <a:off x="881452" y="2039803"/>
              <a:ext cx="30530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b="1" dirty="0"/>
                <a:t>Microcanonical ensemble:</a:t>
              </a: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88582914-C07F-44DC-8ADE-E6E6F5C1B1BA}"/>
                </a:ext>
              </a:extLst>
            </p:cNvPr>
            <p:cNvGrpSpPr/>
            <p:nvPr/>
          </p:nvGrpSpPr>
          <p:grpSpPr>
            <a:xfrm>
              <a:off x="624626" y="2543177"/>
              <a:ext cx="3713298" cy="1734100"/>
              <a:chOff x="624626" y="2543177"/>
              <a:chExt cx="3713298" cy="1734100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FA20AE5A-3E1A-4BA6-B81C-C7414039ADA8}"/>
                  </a:ext>
                </a:extLst>
              </p:cNvPr>
              <p:cNvGrpSpPr/>
              <p:nvPr/>
            </p:nvGrpSpPr>
            <p:grpSpPr>
              <a:xfrm>
                <a:off x="624626" y="2543177"/>
                <a:ext cx="2625618" cy="1734100"/>
                <a:chOff x="624626" y="2543177"/>
                <a:chExt cx="2625618" cy="1734100"/>
              </a:xfrm>
            </p:grpSpPr>
            <p:pic>
              <p:nvPicPr>
                <p:cNvPr id="8" name="Picture 7">
                  <a:extLst>
                    <a:ext uri="{FF2B5EF4-FFF2-40B4-BE49-F238E27FC236}">
                      <a16:creationId xmlns:a16="http://schemas.microsoft.com/office/drawing/2014/main" id="{A109E37A-AC0F-41D5-A3DD-CDFBF658C1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3"/>
                <a:srcRect l="1" t="2" r="-1343" b="-5536"/>
                <a:stretch/>
              </p:blipFill>
              <p:spPr>
                <a:xfrm>
                  <a:off x="1024128" y="2543177"/>
                  <a:ext cx="2226116" cy="637313"/>
                </a:xfrm>
                <a:prstGeom prst="rect">
                  <a:avLst/>
                </a:prstGeom>
              </p:spPr>
            </p:pic>
            <p:pic>
              <p:nvPicPr>
                <p:cNvPr id="12" name="Picture 11">
                  <a:extLst>
                    <a:ext uri="{FF2B5EF4-FFF2-40B4-BE49-F238E27FC236}">
                      <a16:creationId xmlns:a16="http://schemas.microsoft.com/office/drawing/2014/main" id="{29DC75A5-C6C8-4965-94AB-A7C3CFC4C18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4"/>
                <a:srcRect t="13582"/>
                <a:stretch/>
              </p:blipFill>
              <p:spPr>
                <a:xfrm>
                  <a:off x="624626" y="3225519"/>
                  <a:ext cx="1834575" cy="471335"/>
                </a:xfrm>
                <a:prstGeom prst="rect">
                  <a:avLst/>
                </a:prstGeom>
              </p:spPr>
            </p:pic>
            <p:pic>
              <p:nvPicPr>
                <p:cNvPr id="13" name="Picture 12">
                  <a:extLst>
                    <a:ext uri="{FF2B5EF4-FFF2-40B4-BE49-F238E27FC236}">
                      <a16:creationId xmlns:a16="http://schemas.microsoft.com/office/drawing/2014/main" id="{611200CE-4BE1-4FAA-98B3-F75BC4DA78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20879" y="3833117"/>
                  <a:ext cx="1834575" cy="444160"/>
                </a:xfrm>
                <a:prstGeom prst="rect">
                  <a:avLst/>
                </a:prstGeom>
              </p:spPr>
            </p:pic>
          </p:grpSp>
          <p:pic>
            <p:nvPicPr>
              <p:cNvPr id="19" name="Graphic 18">
                <a:extLst>
                  <a:ext uri="{FF2B5EF4-FFF2-40B4-BE49-F238E27FC236}">
                    <a16:creationId xmlns:a16="http://schemas.microsoft.com/office/drawing/2014/main" id="{EF595EAD-99DA-4584-B995-8E4C02DC61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/>
              </a:stretch>
            </p:blipFill>
            <p:spPr>
              <a:xfrm>
                <a:off x="2624429" y="3474737"/>
                <a:ext cx="1713495" cy="608928"/>
              </a:xfrm>
              <a:prstGeom prst="rect">
                <a:avLst/>
              </a:prstGeom>
            </p:spPr>
          </p:pic>
        </p:grpSp>
      </p:grpSp>
      <p:pic>
        <p:nvPicPr>
          <p:cNvPr id="35" name="Graphic 34">
            <a:extLst>
              <a:ext uri="{FF2B5EF4-FFF2-40B4-BE49-F238E27FC236}">
                <a16:creationId xmlns:a16="http://schemas.microsoft.com/office/drawing/2014/main" id="{43B7EFA3-BB86-4B55-AFAF-32D53F4ED2DC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1044044" y="2627410"/>
            <a:ext cx="989783" cy="468845"/>
          </a:xfrm>
          <a:prstGeom prst="rect">
            <a:avLst/>
          </a:prstGeom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3019859F-60D7-4F01-8101-B543819E9A60}"/>
              </a:ext>
            </a:extLst>
          </p:cNvPr>
          <p:cNvGrpSpPr/>
          <p:nvPr/>
        </p:nvGrpSpPr>
        <p:grpSpPr>
          <a:xfrm>
            <a:off x="7237745" y="5874747"/>
            <a:ext cx="3651517" cy="1172604"/>
            <a:chOff x="7237745" y="5874747"/>
            <a:chExt cx="3651517" cy="1172604"/>
          </a:xfrm>
        </p:grpSpPr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C02AC294-E1F6-4F6D-B8C1-ED7C55C2D8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8151952" y="6299803"/>
              <a:ext cx="1686329" cy="747548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256E56A-95BA-46CE-B0D2-CDEE15D475E6}"/>
                </a:ext>
              </a:extLst>
            </p:cNvPr>
            <p:cNvSpPr txBox="1"/>
            <p:nvPr/>
          </p:nvSpPr>
          <p:spPr>
            <a:xfrm>
              <a:off x="7850076" y="5874747"/>
              <a:ext cx="30391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dirty="0"/>
                <a:t>In classical regime</a:t>
              </a: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01ADB43B-99CB-4290-B437-2A0C609DCC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7237745" y="6354239"/>
              <a:ext cx="891347" cy="455156"/>
            </a:xfrm>
            <a:prstGeom prst="rect">
              <a:avLst/>
            </a:prstGeom>
          </p:spPr>
        </p:pic>
      </p:grpSp>
      <p:pic>
        <p:nvPicPr>
          <p:cNvPr id="41" name="Picture 40">
            <a:extLst>
              <a:ext uri="{FF2B5EF4-FFF2-40B4-BE49-F238E27FC236}">
                <a16:creationId xmlns:a16="http://schemas.microsoft.com/office/drawing/2014/main" id="{DD575DB5-4469-4A3D-9230-33C38B24564A}"/>
              </a:ext>
            </a:extLst>
          </p:cNvPr>
          <p:cNvPicPr>
            <a:picLocks noChangeAspect="1"/>
          </p:cNvPicPr>
          <p:nvPr/>
        </p:nvPicPr>
        <p:blipFill rotWithShape="1">
          <a:blip r:embed="rId34"/>
          <a:srcRect l="66246"/>
          <a:stretch/>
        </p:blipFill>
        <p:spPr>
          <a:xfrm>
            <a:off x="9807801" y="6168087"/>
            <a:ext cx="731750" cy="747548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47D6763C-5517-404F-B60C-97E51C1CFF6B}"/>
              </a:ext>
            </a:extLst>
          </p:cNvPr>
          <p:cNvGrpSpPr/>
          <p:nvPr/>
        </p:nvGrpSpPr>
        <p:grpSpPr>
          <a:xfrm>
            <a:off x="10582894" y="6244079"/>
            <a:ext cx="1639610" cy="468845"/>
            <a:chOff x="10582894" y="6244079"/>
            <a:chExt cx="1639610" cy="468845"/>
          </a:xfrm>
        </p:grpSpPr>
        <p:pic>
          <p:nvPicPr>
            <p:cNvPr id="44" name="Graphic 43">
              <a:extLst>
                <a:ext uri="{FF2B5EF4-FFF2-40B4-BE49-F238E27FC236}">
                  <a16:creationId xmlns:a16="http://schemas.microsoft.com/office/drawing/2014/main" id="{4C3322A9-6CBB-414A-ADAF-73B273EFAA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10770597" y="6244079"/>
              <a:ext cx="1451907" cy="468845"/>
            </a:xfrm>
            <a:prstGeom prst="rect">
              <a:avLst/>
            </a:prstGeom>
          </p:spPr>
        </p:pic>
        <p:sp>
          <p:nvSpPr>
            <p:cNvPr id="45" name="Arrow: Right 44">
              <a:extLst>
                <a:ext uri="{FF2B5EF4-FFF2-40B4-BE49-F238E27FC236}">
                  <a16:creationId xmlns:a16="http://schemas.microsoft.com/office/drawing/2014/main" id="{7F26A1F3-3FAF-40D2-8DA9-C7F937073C6E}"/>
                </a:ext>
              </a:extLst>
            </p:cNvPr>
            <p:cNvSpPr/>
            <p:nvPr/>
          </p:nvSpPr>
          <p:spPr>
            <a:xfrm>
              <a:off x="10582894" y="6416332"/>
              <a:ext cx="241994" cy="173188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pic>
        <p:nvPicPr>
          <p:cNvPr id="40" name="Picture 39">
            <a:extLst>
              <a:ext uri="{FF2B5EF4-FFF2-40B4-BE49-F238E27FC236}">
                <a16:creationId xmlns:a16="http://schemas.microsoft.com/office/drawing/2014/main" id="{4E49301E-432F-416C-AD3F-20171A004637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0435473" y="5817387"/>
            <a:ext cx="1713495" cy="356407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27E007DB-F72D-40DC-BD07-CB3B30CA2CC2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044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D08F6-5AFB-41C4-90A2-7A40F93BC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Quantum statistics of non-interacting particles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E05A94A-2C2F-4FEA-8D22-3DCB245C31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44718" y="3496403"/>
            <a:ext cx="2880084" cy="114335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F649815-E10F-4CB4-8143-D22631F073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4381" y="3129039"/>
            <a:ext cx="3186840" cy="758771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A68C0FCE-D6FF-4622-98E0-DB14A7042CC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1748" y="3976700"/>
            <a:ext cx="1466956" cy="758771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339B1EB8-3D7A-4196-8DCF-872855A2AA1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879033" y="3969975"/>
            <a:ext cx="2196537" cy="772221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DE960B99-A375-4C08-A3A9-BAECB297FE4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5914" y="4783222"/>
            <a:ext cx="3609656" cy="804046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A4A4B7AD-0D63-4CC0-B40F-10CE4843C095}"/>
              </a:ext>
            </a:extLst>
          </p:cNvPr>
          <p:cNvGrpSpPr/>
          <p:nvPr/>
        </p:nvGrpSpPr>
        <p:grpSpPr>
          <a:xfrm>
            <a:off x="1556665" y="5490760"/>
            <a:ext cx="1536615" cy="457076"/>
            <a:chOff x="4931562" y="6429800"/>
            <a:chExt cx="1536615" cy="457076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9B6CD47-09AC-42B1-BC5A-F062A0682D84}"/>
                </a:ext>
              </a:extLst>
            </p:cNvPr>
            <p:cNvSpPr txBox="1"/>
            <p:nvPr/>
          </p:nvSpPr>
          <p:spPr>
            <a:xfrm>
              <a:off x="4931562" y="6517544"/>
              <a:ext cx="10422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Classical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FE7034D2-C6A6-4313-BFD1-E7B457BCEFA8}"/>
                </a:ext>
              </a:extLst>
            </p:cNvPr>
            <p:cNvCxnSpPr>
              <a:cxnSpLocks/>
              <a:stCxn id="22" idx="3"/>
            </p:cNvCxnSpPr>
            <p:nvPr/>
          </p:nvCxnSpPr>
          <p:spPr>
            <a:xfrm flipV="1">
              <a:off x="5973835" y="6429800"/>
              <a:ext cx="494342" cy="27241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9" name="Graphic 28">
            <a:extLst>
              <a:ext uri="{FF2B5EF4-FFF2-40B4-BE49-F238E27FC236}">
                <a16:creationId xmlns:a16="http://schemas.microsoft.com/office/drawing/2014/main" id="{7553352C-A326-4332-A216-4C09730917A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900704" y="4927007"/>
            <a:ext cx="1994566" cy="720726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8C18D9A9-0098-41BC-B1A0-6B54C318F22A}"/>
              </a:ext>
            </a:extLst>
          </p:cNvPr>
          <p:cNvSpPr txBox="1"/>
          <p:nvPr/>
        </p:nvSpPr>
        <p:spPr>
          <a:xfrm>
            <a:off x="8369140" y="4574756"/>
            <a:ext cx="220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Occupation number</a:t>
            </a:r>
          </a:p>
        </p:txBody>
      </p:sp>
      <p:pic>
        <p:nvPicPr>
          <p:cNvPr id="49" name="Graphic 48">
            <a:extLst>
              <a:ext uri="{FF2B5EF4-FFF2-40B4-BE49-F238E27FC236}">
                <a16:creationId xmlns:a16="http://schemas.microsoft.com/office/drawing/2014/main" id="{B04D7156-A731-44F0-A031-2F4A02723EC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395703" y="2524122"/>
            <a:ext cx="2499567" cy="823210"/>
          </a:xfrm>
          <a:prstGeom prst="rect">
            <a:avLst/>
          </a:prstGeom>
        </p:spPr>
      </p:pic>
      <p:pic>
        <p:nvPicPr>
          <p:cNvPr id="59" name="Graphic 58">
            <a:extLst>
              <a:ext uri="{FF2B5EF4-FFF2-40B4-BE49-F238E27FC236}">
                <a16:creationId xmlns:a16="http://schemas.microsoft.com/office/drawing/2014/main" id="{88D420CA-21FF-4662-A2F7-56D765EFD2E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1044044" y="2627410"/>
            <a:ext cx="989783" cy="468845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5E3C7066-7F95-4C0E-B3B4-91806A9FA145}"/>
              </a:ext>
            </a:extLst>
          </p:cNvPr>
          <p:cNvPicPr>
            <a:picLocks noChangeAspect="1"/>
          </p:cNvPicPr>
          <p:nvPr/>
        </p:nvPicPr>
        <p:blipFill rotWithShape="1"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 r="79737"/>
          <a:stretch/>
        </p:blipFill>
        <p:spPr>
          <a:xfrm>
            <a:off x="5078714" y="2667500"/>
            <a:ext cx="677829" cy="103542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E089740F-65F9-4A05-9F60-9996D249EF93}"/>
              </a:ext>
            </a:extLst>
          </p:cNvPr>
          <p:cNvPicPr>
            <a:picLocks noChangeAspect="1"/>
          </p:cNvPicPr>
          <p:nvPr/>
        </p:nvPicPr>
        <p:blipFill rotWithShape="1">
          <a:blip r:embed="rId20"/>
          <a:srcRect l="7973"/>
          <a:stretch/>
        </p:blipFill>
        <p:spPr>
          <a:xfrm>
            <a:off x="5824115" y="2667500"/>
            <a:ext cx="2354645" cy="728178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0C216F76-9961-4BE9-BBEE-CF6A2AED3664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548481" y="3571906"/>
            <a:ext cx="1452956" cy="621789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9755A9C-F155-4538-8B4A-3357B8F44777}"/>
              </a:ext>
            </a:extLst>
          </p:cNvPr>
          <p:cNvSpPr txBox="1"/>
          <p:nvPr/>
        </p:nvSpPr>
        <p:spPr>
          <a:xfrm>
            <a:off x="5858754" y="2308916"/>
            <a:ext cx="1042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Classical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CD28D55-6EFC-4735-B3D5-124D8BAEEC9E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795483" y="5708466"/>
            <a:ext cx="1978553" cy="1072346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288AF12B-42AC-4F51-8C60-E3A6D45A36AF}"/>
              </a:ext>
            </a:extLst>
          </p:cNvPr>
          <p:cNvSpPr txBox="1"/>
          <p:nvPr/>
        </p:nvSpPr>
        <p:spPr>
          <a:xfrm>
            <a:off x="241526" y="2684468"/>
            <a:ext cx="3181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Occupation number statistics:</a:t>
            </a:r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385844BA-1F64-4719-9C50-957DDC085AE6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202690" y="4385618"/>
            <a:ext cx="2737679" cy="804289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39991401-8382-42F1-B9BA-220926339321}"/>
              </a:ext>
            </a:extLst>
          </p:cNvPr>
          <p:cNvSpPr txBox="1"/>
          <p:nvPr/>
        </p:nvSpPr>
        <p:spPr>
          <a:xfrm>
            <a:off x="6953668" y="1954716"/>
            <a:ext cx="3143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b="1" dirty="0"/>
              <a:t>Grand canonical ensemble: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561013F-DECA-4354-9791-7B517E2EC7A1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397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D08F6-5AFB-41C4-90A2-7A40F93BC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Quantum statistics of non-interacting particles</a:t>
            </a:r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83CBFA9C-C13E-4A86-BCA3-5F7906C5D8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4855" y="6201124"/>
            <a:ext cx="3481137" cy="709120"/>
          </a:xfrm>
          <a:prstGeom prst="rect">
            <a:avLst/>
          </a:prstGeom>
        </p:spPr>
      </p:pic>
      <p:grpSp>
        <p:nvGrpSpPr>
          <p:cNvPr id="48" name="Group 47">
            <a:extLst>
              <a:ext uri="{FF2B5EF4-FFF2-40B4-BE49-F238E27FC236}">
                <a16:creationId xmlns:a16="http://schemas.microsoft.com/office/drawing/2014/main" id="{98CDD76A-5391-4D1A-A943-5D74C08A3F0F}"/>
              </a:ext>
            </a:extLst>
          </p:cNvPr>
          <p:cNvGrpSpPr/>
          <p:nvPr/>
        </p:nvGrpSpPr>
        <p:grpSpPr>
          <a:xfrm>
            <a:off x="93115" y="2672953"/>
            <a:ext cx="5637956" cy="1292153"/>
            <a:chOff x="3125275" y="4079534"/>
            <a:chExt cx="5637956" cy="1292153"/>
          </a:xfrm>
        </p:grpSpPr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ED500E9A-DADD-4AEA-9FBF-6F91A9532F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125275" y="4493252"/>
              <a:ext cx="5637956" cy="878435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5E602E4-3A83-4C39-AA30-D3D024B0DCFB}"/>
                </a:ext>
              </a:extLst>
            </p:cNvPr>
            <p:cNvSpPr txBox="1"/>
            <p:nvPr/>
          </p:nvSpPr>
          <p:spPr>
            <a:xfrm>
              <a:off x="3200508" y="4079534"/>
              <a:ext cx="39578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Probability for finding </a:t>
              </a:r>
              <a:r>
                <a:rPr lang="en-MY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MY" i="1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MY" dirty="0"/>
                <a:t> particle in</a:t>
              </a:r>
              <a:r>
                <a:rPr lang="en-MY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MY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MY" i="1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MY" dirty="0"/>
                <a:t>:</a:t>
              </a:r>
            </a:p>
          </p:txBody>
        </p:sp>
      </p:grpSp>
      <p:pic>
        <p:nvPicPr>
          <p:cNvPr id="25" name="Graphic 24">
            <a:extLst>
              <a:ext uri="{FF2B5EF4-FFF2-40B4-BE49-F238E27FC236}">
                <a16:creationId xmlns:a16="http://schemas.microsoft.com/office/drawing/2014/main" id="{AFD36D99-7B86-4C0A-BBB5-8C1E1B5BC6F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10863" y="4619589"/>
            <a:ext cx="1994566" cy="720726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E127FF89-C270-4586-9C45-4EE9DEF048D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852626" y="3837969"/>
            <a:ext cx="3724099" cy="935200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28E1C2EA-9DF4-4C31-8A43-DC78753B7248}"/>
              </a:ext>
            </a:extLst>
          </p:cNvPr>
          <p:cNvGrpSpPr/>
          <p:nvPr/>
        </p:nvGrpSpPr>
        <p:grpSpPr>
          <a:xfrm>
            <a:off x="8743609" y="5318486"/>
            <a:ext cx="3216282" cy="1425978"/>
            <a:chOff x="8817545" y="5128182"/>
            <a:chExt cx="3216282" cy="142597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A67283A-0922-4153-A2B5-04CD39243DE9}"/>
                </a:ext>
              </a:extLst>
            </p:cNvPr>
            <p:cNvSpPr txBox="1"/>
            <p:nvPr/>
          </p:nvSpPr>
          <p:spPr>
            <a:xfrm>
              <a:off x="8817545" y="5907829"/>
              <a:ext cx="321628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b="1" dirty="0"/>
                <a:t>General result for noninteracting particles.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0E2CDA6F-B75C-4737-80FA-ABB72BC9F7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23133" y="5128182"/>
              <a:ext cx="0" cy="77964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4" name="Graphic 43">
            <a:extLst>
              <a:ext uri="{FF2B5EF4-FFF2-40B4-BE49-F238E27FC236}">
                <a16:creationId xmlns:a16="http://schemas.microsoft.com/office/drawing/2014/main" id="{34D62F59-4017-42D3-BA57-E34F94CD600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344718" y="3496403"/>
            <a:ext cx="2880084" cy="1143350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DB6CCF69-B773-42C5-9051-1DCFB737522B}"/>
              </a:ext>
            </a:extLst>
          </p:cNvPr>
          <p:cNvSpPr txBox="1"/>
          <p:nvPr/>
        </p:nvSpPr>
        <p:spPr>
          <a:xfrm>
            <a:off x="6953668" y="1954716"/>
            <a:ext cx="3143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b="1" dirty="0"/>
              <a:t>Grand canonical ensemble:</a:t>
            </a:r>
          </a:p>
        </p:txBody>
      </p:sp>
      <p:pic>
        <p:nvPicPr>
          <p:cNvPr id="46" name="Graphic 45">
            <a:extLst>
              <a:ext uri="{FF2B5EF4-FFF2-40B4-BE49-F238E27FC236}">
                <a16:creationId xmlns:a16="http://schemas.microsoft.com/office/drawing/2014/main" id="{DE1BC71F-9FF3-4C55-A960-535FD53AC69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395703" y="2524122"/>
            <a:ext cx="2499567" cy="823210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0A6ACE8A-D5D3-416A-B0A4-20D78E67AF5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044044" y="2627410"/>
            <a:ext cx="989783" cy="468845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9CBD463C-1A6D-4FAE-B0A6-44974772B9F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195441" y="6434823"/>
            <a:ext cx="2947466" cy="436662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765C0292-C3CC-4997-A55A-D2FF965E374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235525" y="5128778"/>
            <a:ext cx="1978553" cy="10723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BF0580-53AA-42A7-A743-E6F9F4DFDE0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98315" y="5052415"/>
            <a:ext cx="4185076" cy="681292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7BF10AA3-2A99-469D-BD8D-E251F732BFD8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607039" y="2593339"/>
            <a:ext cx="2737679" cy="804289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BC27B19E-694F-44A0-BF81-172EF4590B6A}"/>
              </a:ext>
            </a:extLst>
          </p:cNvPr>
          <p:cNvSpPr txBox="1"/>
          <p:nvPr/>
        </p:nvSpPr>
        <p:spPr>
          <a:xfrm>
            <a:off x="6377303" y="2315679"/>
            <a:ext cx="1042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Classical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C0C86E5-13FA-4CC8-8CDF-B5BE6450D90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891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1C015-02EF-4FA7-9F62-6FCBE3220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Quantum Mechanics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951BE5A-6709-4637-9F40-0AE044A607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1443" y="1992296"/>
            <a:ext cx="3812056" cy="93971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9E709B2C-A22F-4B23-AE17-C66645E423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44153" y="2147475"/>
            <a:ext cx="1876926" cy="721893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4DBF0CE1-6443-4FB5-840E-2C432A5A86E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15652" y="2226271"/>
            <a:ext cx="908585" cy="47176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249F00B-CAC8-4723-BF37-6FB69F203F98}"/>
              </a:ext>
            </a:extLst>
          </p:cNvPr>
          <p:cNvSpPr txBox="1"/>
          <p:nvPr/>
        </p:nvSpPr>
        <p:spPr>
          <a:xfrm>
            <a:off x="9187596" y="2264644"/>
            <a:ext cx="2887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(Real space representation)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876803-4F67-41EF-8A6C-505861825D34}"/>
              </a:ext>
            </a:extLst>
          </p:cNvPr>
          <p:cNvSpPr txBox="1"/>
          <p:nvPr/>
        </p:nvSpPr>
        <p:spPr>
          <a:xfrm>
            <a:off x="721443" y="3004883"/>
            <a:ext cx="4071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Energy eigenstates of the Hamiltonian: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9C5CC74-A2CD-48F5-A2DE-6DE1B96087BF}"/>
              </a:ext>
            </a:extLst>
          </p:cNvPr>
          <p:cNvGrpSpPr/>
          <p:nvPr/>
        </p:nvGrpSpPr>
        <p:grpSpPr>
          <a:xfrm>
            <a:off x="8301887" y="3365264"/>
            <a:ext cx="1915428" cy="1713297"/>
            <a:chOff x="6699183" y="4995512"/>
            <a:chExt cx="1915428" cy="1713297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614C2818-2CAA-40E4-BA14-271F5E68BF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09322" y="4995512"/>
              <a:ext cx="0" cy="119235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7489A997-50BD-43D1-80F2-6CCF3CEFC48B}"/>
                </a:ext>
              </a:extLst>
            </p:cNvPr>
            <p:cNvCxnSpPr>
              <a:cxnSpLocks/>
            </p:cNvCxnSpPr>
            <p:nvPr/>
          </p:nvCxnSpPr>
          <p:spPr>
            <a:xfrm>
              <a:off x="7209322" y="6189295"/>
              <a:ext cx="140528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26D1E1C3-FA87-4742-8FA8-87E740F73A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99183" y="6179420"/>
              <a:ext cx="510139" cy="52938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C97E9F57-33AD-4B33-9195-510A54E7A8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09322" y="5544847"/>
              <a:ext cx="778845" cy="64302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93A8277A-7B36-43BF-B417-607A4114155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945427" y="5266242"/>
              <a:ext cx="557667" cy="503699"/>
            </a:xfrm>
            <a:prstGeom prst="rect">
              <a:avLst/>
            </a:prstGeom>
          </p:spPr>
        </p:pic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5BAE2D7-397C-4167-8678-12792F6E158A}"/>
                </a:ext>
              </a:extLst>
            </p:cNvPr>
            <p:cNvCxnSpPr>
              <a:cxnSpLocks/>
            </p:cNvCxnSpPr>
            <p:nvPr/>
          </p:nvCxnSpPr>
          <p:spPr>
            <a:xfrm>
              <a:off x="7974302" y="5556592"/>
              <a:ext cx="0" cy="953799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68BBB6F-9BD6-428C-97BE-4DAD25802A86}"/>
                </a:ext>
              </a:extLst>
            </p:cNvPr>
            <p:cNvCxnSpPr>
              <a:cxnSpLocks/>
            </p:cNvCxnSpPr>
            <p:nvPr/>
          </p:nvCxnSpPr>
          <p:spPr>
            <a:xfrm>
              <a:off x="6931962" y="6529339"/>
              <a:ext cx="1027330" cy="19552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3CE33F8-F93C-4210-A28F-6F09B39A87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07589" y="6179420"/>
              <a:ext cx="294298" cy="369471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6" name="Graphic 35">
            <a:extLst>
              <a:ext uri="{FF2B5EF4-FFF2-40B4-BE49-F238E27FC236}">
                <a16:creationId xmlns:a16="http://schemas.microsoft.com/office/drawing/2014/main" id="{82963727-6D40-44BC-9211-62A6A7B3B85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534667" y="2950305"/>
            <a:ext cx="540026" cy="540026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D50A9AD6-975E-45B0-92FE-A37C77F3072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227937" y="4300167"/>
            <a:ext cx="498010" cy="498010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3D8D22F1-2791-4C4E-A30E-4B1FC61FC92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994641" y="4998549"/>
            <a:ext cx="540025" cy="5400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C5F5964-5953-4762-B019-A22F9CC8A59E}"/>
              </a:ext>
            </a:extLst>
          </p:cNvPr>
          <p:cNvSpPr txBox="1"/>
          <p:nvPr/>
        </p:nvSpPr>
        <p:spPr>
          <a:xfrm>
            <a:off x="721426" y="4773295"/>
            <a:ext cx="1370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Observable 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CEC56BC-E3C3-4EDB-9B69-2E4D2C151CB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843346" y="4733907"/>
            <a:ext cx="472318" cy="47231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A9D96D6-D78B-44FF-99EC-4E8B287C48F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60496" y="5267889"/>
            <a:ext cx="1921812" cy="513588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2F9F9E87-957B-4BF9-9341-114C6458A0D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199755" y="5303377"/>
            <a:ext cx="2544176" cy="478100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08E08E61-59A1-4CFC-9766-E2FEF7E4A53E}"/>
              </a:ext>
            </a:extLst>
          </p:cNvPr>
          <p:cNvSpPr txBox="1"/>
          <p:nvPr/>
        </p:nvSpPr>
        <p:spPr>
          <a:xfrm>
            <a:off x="3242205" y="5049776"/>
            <a:ext cx="2471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Measure in experiment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300FC91-D781-4B9A-9E0F-EB15A8722F05}"/>
              </a:ext>
            </a:extLst>
          </p:cNvPr>
          <p:cNvSpPr txBox="1"/>
          <p:nvPr/>
        </p:nvSpPr>
        <p:spPr>
          <a:xfrm>
            <a:off x="323689" y="2236371"/>
            <a:ext cx="540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b="1" dirty="0"/>
              <a:t>1)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673B2A6-E3A7-4786-9618-EE4626AA04A5}"/>
              </a:ext>
            </a:extLst>
          </p:cNvPr>
          <p:cNvSpPr txBox="1"/>
          <p:nvPr/>
        </p:nvSpPr>
        <p:spPr>
          <a:xfrm>
            <a:off x="312751" y="2952285"/>
            <a:ext cx="540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b="1" dirty="0"/>
              <a:t>2)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5C91437-0FFF-4B13-A8E3-D1581B99F231}"/>
              </a:ext>
            </a:extLst>
          </p:cNvPr>
          <p:cNvSpPr txBox="1"/>
          <p:nvPr/>
        </p:nvSpPr>
        <p:spPr>
          <a:xfrm>
            <a:off x="289740" y="4678467"/>
            <a:ext cx="540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b="1" dirty="0"/>
              <a:t>3)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78271A8-94A9-4176-8157-31A6263EF011}"/>
              </a:ext>
            </a:extLst>
          </p:cNvPr>
          <p:cNvGrpSpPr/>
          <p:nvPr/>
        </p:nvGrpSpPr>
        <p:grpSpPr>
          <a:xfrm>
            <a:off x="317741" y="5755780"/>
            <a:ext cx="1604556" cy="461665"/>
            <a:chOff x="317741" y="5755780"/>
            <a:chExt cx="1604556" cy="461665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9967DCF-3BAF-4D43-A079-D0181220D601}"/>
                </a:ext>
              </a:extLst>
            </p:cNvPr>
            <p:cNvSpPr txBox="1"/>
            <p:nvPr/>
          </p:nvSpPr>
          <p:spPr>
            <a:xfrm>
              <a:off x="317741" y="5755780"/>
              <a:ext cx="54002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sz="2400" b="1" dirty="0"/>
                <a:t>4)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DB1C865-898D-4904-B70D-76D6DA2F1D9D}"/>
                </a:ext>
              </a:extLst>
            </p:cNvPr>
            <p:cNvSpPr txBox="1"/>
            <p:nvPr/>
          </p:nvSpPr>
          <p:spPr>
            <a:xfrm>
              <a:off x="690550" y="5848113"/>
              <a:ext cx="12317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Dynamics </a:t>
              </a:r>
            </a:p>
          </p:txBody>
        </p:sp>
      </p:grpSp>
      <p:pic>
        <p:nvPicPr>
          <p:cNvPr id="51" name="Graphic 50">
            <a:extLst>
              <a:ext uri="{FF2B5EF4-FFF2-40B4-BE49-F238E27FC236}">
                <a16:creationId xmlns:a16="http://schemas.microsoft.com/office/drawing/2014/main" id="{5F7E3133-A349-458A-BA0F-D19C38B7FD9D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34686" y="6131479"/>
            <a:ext cx="2544176" cy="75448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1D5188B1-185C-4B73-A20A-5A4E75F82333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2556036" y="6324414"/>
            <a:ext cx="2988117" cy="478099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C197E636-0BFD-472D-BEE2-AA60973D8EC7}"/>
              </a:ext>
            </a:extLst>
          </p:cNvPr>
          <p:cNvGrpSpPr/>
          <p:nvPr/>
        </p:nvGrpSpPr>
        <p:grpSpPr>
          <a:xfrm>
            <a:off x="5628809" y="5882651"/>
            <a:ext cx="2876031" cy="961287"/>
            <a:chOff x="5628809" y="5882651"/>
            <a:chExt cx="2876031" cy="961287"/>
          </a:xfrm>
        </p:grpSpPr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A86449FA-17FF-40FB-B2A8-9EA28CF7A3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5628809" y="6212972"/>
              <a:ext cx="2876031" cy="630966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B9B66CA-1C6B-4908-BB32-A68DC9C0CEE0}"/>
                </a:ext>
              </a:extLst>
            </p:cNvPr>
            <p:cNvSpPr txBox="1"/>
            <p:nvPr/>
          </p:nvSpPr>
          <p:spPr>
            <a:xfrm>
              <a:off x="5763198" y="5882651"/>
              <a:ext cx="1121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Formally:</a:t>
              </a:r>
            </a:p>
          </p:txBody>
        </p:sp>
      </p:grpSp>
      <p:pic>
        <p:nvPicPr>
          <p:cNvPr id="23" name="Graphic 22">
            <a:extLst>
              <a:ext uri="{FF2B5EF4-FFF2-40B4-BE49-F238E27FC236}">
                <a16:creationId xmlns:a16="http://schemas.microsoft.com/office/drawing/2014/main" id="{8FABF666-3352-49EF-AAE9-90817636FEEE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9073965" y="5026194"/>
            <a:ext cx="1121910" cy="535064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8D6045B3-3470-456A-99F9-26078D3271C8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9084020" y="5561258"/>
            <a:ext cx="2701156" cy="565783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445CFC61-8975-4E8C-AA6E-FF554F4F32E6}"/>
              </a:ext>
            </a:extLst>
          </p:cNvPr>
          <p:cNvSpPr txBox="1"/>
          <p:nvPr/>
        </p:nvSpPr>
        <p:spPr>
          <a:xfrm>
            <a:off x="8904170" y="6060062"/>
            <a:ext cx="3284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Unitary: preserving probability</a:t>
            </a:r>
          </a:p>
        </p:txBody>
      </p:sp>
      <p:pic>
        <p:nvPicPr>
          <p:cNvPr id="65" name="Graphic 64">
            <a:extLst>
              <a:ext uri="{FF2B5EF4-FFF2-40B4-BE49-F238E27FC236}">
                <a16:creationId xmlns:a16="http://schemas.microsoft.com/office/drawing/2014/main" id="{390BC2DF-22B7-4910-A7EE-14743DB8432B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218824" y="3483786"/>
            <a:ext cx="1793657" cy="540026"/>
          </a:xfrm>
          <a:prstGeom prst="rect">
            <a:avLst/>
          </a:prstGeom>
        </p:spPr>
      </p:pic>
      <p:pic>
        <p:nvPicPr>
          <p:cNvPr id="66" name="Graphic 65">
            <a:extLst>
              <a:ext uri="{FF2B5EF4-FFF2-40B4-BE49-F238E27FC236}">
                <a16:creationId xmlns:a16="http://schemas.microsoft.com/office/drawing/2014/main" id="{152A0FEA-20C2-4218-8ACE-88FDE3737548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024128" y="4063614"/>
            <a:ext cx="2034100" cy="754019"/>
          </a:xfrm>
          <a:prstGeom prst="rect">
            <a:avLst/>
          </a:prstGeom>
        </p:spPr>
      </p:pic>
      <p:pic>
        <p:nvPicPr>
          <p:cNvPr id="67" name="Graphic 66">
            <a:extLst>
              <a:ext uri="{FF2B5EF4-FFF2-40B4-BE49-F238E27FC236}">
                <a16:creationId xmlns:a16="http://schemas.microsoft.com/office/drawing/2014/main" id="{1ADA7EC5-F833-4363-AF6C-931437FF6C43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3609144" y="3906393"/>
            <a:ext cx="1027330" cy="558724"/>
          </a:xfrm>
          <a:prstGeom prst="rect">
            <a:avLst/>
          </a:prstGeom>
        </p:spPr>
      </p:pic>
      <p:grpSp>
        <p:nvGrpSpPr>
          <p:cNvPr id="69" name="Group 68">
            <a:extLst>
              <a:ext uri="{FF2B5EF4-FFF2-40B4-BE49-F238E27FC236}">
                <a16:creationId xmlns:a16="http://schemas.microsoft.com/office/drawing/2014/main" id="{E649B057-AD3A-417D-AE42-1C3323D1B6E6}"/>
              </a:ext>
            </a:extLst>
          </p:cNvPr>
          <p:cNvGrpSpPr/>
          <p:nvPr/>
        </p:nvGrpSpPr>
        <p:grpSpPr>
          <a:xfrm>
            <a:off x="4525124" y="3937901"/>
            <a:ext cx="3682425" cy="557667"/>
            <a:chOff x="9971767" y="5779885"/>
            <a:chExt cx="3682425" cy="557667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ADFDA3A2-4C4F-4315-878C-44E70D8F1124}"/>
                </a:ext>
              </a:extLst>
            </p:cNvPr>
            <p:cNvSpPr txBox="1"/>
            <p:nvPr/>
          </p:nvSpPr>
          <p:spPr>
            <a:xfrm>
              <a:off x="9971767" y="5862470"/>
              <a:ext cx="34122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= probability to find        in state </a:t>
              </a:r>
            </a:p>
          </p:txBody>
        </p:sp>
        <p:pic>
          <p:nvPicPr>
            <p:cNvPr id="71" name="Graphic 70">
              <a:extLst>
                <a:ext uri="{FF2B5EF4-FFF2-40B4-BE49-F238E27FC236}">
                  <a16:creationId xmlns:a16="http://schemas.microsoft.com/office/drawing/2014/main" id="{35CA5BBF-632C-4E2C-8446-3080F1D346B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1997787" y="5797526"/>
              <a:ext cx="557667" cy="503699"/>
            </a:xfrm>
            <a:prstGeom prst="rect">
              <a:avLst/>
            </a:prstGeom>
          </p:spPr>
        </p:pic>
        <p:pic>
          <p:nvPicPr>
            <p:cNvPr id="72" name="Graphic 71">
              <a:extLst>
                <a:ext uri="{FF2B5EF4-FFF2-40B4-BE49-F238E27FC236}">
                  <a16:creationId xmlns:a16="http://schemas.microsoft.com/office/drawing/2014/main" id="{8B1E03EB-1F09-4141-829D-D926CD5DEE0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3096525" y="5779885"/>
              <a:ext cx="557667" cy="557667"/>
            </a:xfrm>
            <a:prstGeom prst="rect">
              <a:avLst/>
            </a:prstGeom>
          </p:spPr>
        </p:pic>
      </p:grpSp>
      <p:pic>
        <p:nvPicPr>
          <p:cNvPr id="73" name="Graphic 72">
            <a:extLst>
              <a:ext uri="{FF2B5EF4-FFF2-40B4-BE49-F238E27FC236}">
                <a16:creationId xmlns:a16="http://schemas.microsoft.com/office/drawing/2014/main" id="{D298D096-664B-4931-AADE-C6E3B58BE83C}"/>
              </a:ext>
            </a:extLst>
          </p:cNvPr>
          <p:cNvPicPr>
            <a:picLocks noChangeAspect="1"/>
          </p:cNvPicPr>
          <p:nvPr/>
        </p:nvPicPr>
        <p:blipFill rotWithShape="1"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 l="17157" t="4345"/>
          <a:stretch/>
        </p:blipFill>
        <p:spPr>
          <a:xfrm>
            <a:off x="3655639" y="3383091"/>
            <a:ext cx="1554909" cy="695502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044BD569-C027-416C-AEDC-52DC6763FAA0}"/>
              </a:ext>
            </a:extLst>
          </p:cNvPr>
          <p:cNvSpPr txBox="1"/>
          <p:nvPr/>
        </p:nvSpPr>
        <p:spPr>
          <a:xfrm>
            <a:off x="5089489" y="3426869"/>
            <a:ext cx="17831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dirty="0"/>
              <a:t>(Completeness)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55F83F9-29DE-4369-8FFB-7D37F35C0101}"/>
              </a:ext>
            </a:extLst>
          </p:cNvPr>
          <p:cNvSpPr txBox="1"/>
          <p:nvPr/>
        </p:nvSpPr>
        <p:spPr>
          <a:xfrm>
            <a:off x="4737652" y="4446206"/>
            <a:ext cx="1921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dirty="0"/>
              <a:t>(Normalization)</a:t>
            </a:r>
          </a:p>
        </p:txBody>
      </p:sp>
      <p:pic>
        <p:nvPicPr>
          <p:cNvPr id="52" name="Graphic 51">
            <a:extLst>
              <a:ext uri="{FF2B5EF4-FFF2-40B4-BE49-F238E27FC236}">
                <a16:creationId xmlns:a16="http://schemas.microsoft.com/office/drawing/2014/main" id="{E1618FC8-F610-4C57-AC59-B2980B512184}"/>
              </a:ext>
            </a:extLst>
          </p:cNvPr>
          <p:cNvPicPr>
            <a:picLocks noChangeAspect="1"/>
          </p:cNvPicPr>
          <p:nvPr/>
        </p:nvPicPr>
        <p:blipFill rotWithShape="1"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 l="63742" b="27638"/>
          <a:stretch/>
        </p:blipFill>
        <p:spPr>
          <a:xfrm>
            <a:off x="10067128" y="6398809"/>
            <a:ext cx="1128906" cy="529389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F6BB92C6-1DCA-47B9-A101-A17C3A0B0F41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755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Density matrix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07C6BD-31ED-4E6F-B792-B46A8C0EAD69}"/>
              </a:ext>
            </a:extLst>
          </p:cNvPr>
          <p:cNvSpPr txBox="1"/>
          <p:nvPr/>
        </p:nvSpPr>
        <p:spPr>
          <a:xfrm>
            <a:off x="121078" y="1670115"/>
            <a:ext cx="32896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Schrodinger equation:</a:t>
            </a:r>
            <a:endParaRPr lang="en-MY" sz="2400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F597EE2-48D3-430E-B453-F0B200E817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7257" y="2362613"/>
            <a:ext cx="2767157" cy="82060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5AD272C-4C97-494D-97B6-FC7471BBA067}"/>
              </a:ext>
            </a:extLst>
          </p:cNvPr>
          <p:cNvSpPr txBox="1"/>
          <p:nvPr/>
        </p:nvSpPr>
        <p:spPr>
          <a:xfrm>
            <a:off x="5544305" y="1715500"/>
            <a:ext cx="5515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Hilbert space</a:t>
            </a:r>
            <a:r>
              <a:rPr lang="en-US" dirty="0"/>
              <a:t> (n-dimensional complex vector space):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7903636-2C7B-408D-B6E4-C1915E8ABCDA}"/>
              </a:ext>
            </a:extLst>
          </p:cNvPr>
          <p:cNvGrpSpPr/>
          <p:nvPr/>
        </p:nvGrpSpPr>
        <p:grpSpPr>
          <a:xfrm>
            <a:off x="6616973" y="2223580"/>
            <a:ext cx="1915428" cy="1713297"/>
            <a:chOff x="6699183" y="4995512"/>
            <a:chExt cx="1915428" cy="1713297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58F825C1-BEB4-439D-8BC0-A7B5B55213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09322" y="4995512"/>
              <a:ext cx="0" cy="119235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209E56C4-D4D0-497B-8EAB-B4FD6FF1440B}"/>
                </a:ext>
              </a:extLst>
            </p:cNvPr>
            <p:cNvCxnSpPr>
              <a:cxnSpLocks/>
            </p:cNvCxnSpPr>
            <p:nvPr/>
          </p:nvCxnSpPr>
          <p:spPr>
            <a:xfrm>
              <a:off x="7209322" y="6189295"/>
              <a:ext cx="140528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5955B815-6D02-47BF-9A4C-D86FA26107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99183" y="6179420"/>
              <a:ext cx="510139" cy="52938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A7108BB0-0573-4937-8819-6E8FB5689F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09322" y="5544847"/>
              <a:ext cx="778845" cy="64302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A381BF8-AD45-4B7A-800F-8297CD4D30A4}"/>
                </a:ext>
              </a:extLst>
            </p:cNvPr>
            <p:cNvCxnSpPr>
              <a:cxnSpLocks/>
            </p:cNvCxnSpPr>
            <p:nvPr/>
          </p:nvCxnSpPr>
          <p:spPr>
            <a:xfrm>
              <a:off x="7974302" y="5556592"/>
              <a:ext cx="0" cy="953799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3F56DF6-4E7C-4B3B-8F98-95889C59478C}"/>
                </a:ext>
              </a:extLst>
            </p:cNvPr>
            <p:cNvCxnSpPr>
              <a:cxnSpLocks/>
            </p:cNvCxnSpPr>
            <p:nvPr/>
          </p:nvCxnSpPr>
          <p:spPr>
            <a:xfrm>
              <a:off x="6931962" y="6529339"/>
              <a:ext cx="1027330" cy="19552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BA9BCE8-1C2F-4414-B54C-FA86A6CA2D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07589" y="6179420"/>
              <a:ext cx="294298" cy="369471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EFA01BC-FD1D-43A2-A9B0-36211BC52E10}"/>
              </a:ext>
            </a:extLst>
          </p:cNvPr>
          <p:cNvGrpSpPr/>
          <p:nvPr/>
        </p:nvGrpSpPr>
        <p:grpSpPr>
          <a:xfrm>
            <a:off x="484554" y="3155638"/>
            <a:ext cx="5850269" cy="714479"/>
            <a:chOff x="8772568" y="5953158"/>
            <a:chExt cx="5850269" cy="714479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F49EEE9-56EC-4103-9AF2-835917171A4F}"/>
                </a:ext>
              </a:extLst>
            </p:cNvPr>
            <p:cNvSpPr txBox="1"/>
            <p:nvPr/>
          </p:nvSpPr>
          <p:spPr>
            <a:xfrm>
              <a:off x="8772568" y="6021306"/>
              <a:ext cx="5850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dirty="0"/>
                <a:t>How to model the quantum microstates         statistically that is compatible with quantum mechanics?</a:t>
              </a:r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3E029B42-957B-405E-94DF-85F56E65A1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770630" y="5953158"/>
              <a:ext cx="557667" cy="503699"/>
            </a:xfrm>
            <a:prstGeom prst="rect">
              <a:avLst/>
            </a:prstGeom>
          </p:spPr>
        </p:pic>
      </p:grpSp>
      <p:pic>
        <p:nvPicPr>
          <p:cNvPr id="26" name="Graphic 25">
            <a:extLst>
              <a:ext uri="{FF2B5EF4-FFF2-40B4-BE49-F238E27FC236}">
                <a16:creationId xmlns:a16="http://schemas.microsoft.com/office/drawing/2014/main" id="{BAC4DFFC-2FC6-461E-B8BA-847E207435A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38437" y="2561192"/>
            <a:ext cx="623385" cy="447558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3AD5F3F4-E4FB-46FD-9BEE-2E03271C67E9}"/>
              </a:ext>
            </a:extLst>
          </p:cNvPr>
          <p:cNvGrpSpPr/>
          <p:nvPr/>
        </p:nvGrpSpPr>
        <p:grpSpPr>
          <a:xfrm>
            <a:off x="8353935" y="2536639"/>
            <a:ext cx="2113903" cy="419041"/>
            <a:chOff x="8353935" y="2536639"/>
            <a:chExt cx="2113903" cy="419041"/>
          </a:xfrm>
        </p:grpSpPr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4B83E04F-2870-4BE3-BF89-BFD7C1CFFCC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957701" y="2536639"/>
              <a:ext cx="510137" cy="419041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7102A3D-532E-4AA2-BEF5-B2962BF68450}"/>
                </a:ext>
              </a:extLst>
            </p:cNvPr>
            <p:cNvSpPr txBox="1"/>
            <p:nvPr/>
          </p:nvSpPr>
          <p:spPr>
            <a:xfrm>
              <a:off x="8353935" y="2567486"/>
              <a:ext cx="18464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with probability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3F571D8-ED79-46A5-88EE-2AD757F7C704}"/>
              </a:ext>
            </a:extLst>
          </p:cNvPr>
          <p:cNvGrpSpPr/>
          <p:nvPr/>
        </p:nvGrpSpPr>
        <p:grpSpPr>
          <a:xfrm>
            <a:off x="673523" y="4045027"/>
            <a:ext cx="3224709" cy="964045"/>
            <a:chOff x="673523" y="4045027"/>
            <a:chExt cx="3224709" cy="964045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DA6792AE-9CFF-400F-A988-977CD134518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/>
            <a:srcRect r="57791" b="50000"/>
            <a:stretch/>
          </p:blipFill>
          <p:spPr>
            <a:xfrm>
              <a:off x="1617649" y="4414360"/>
              <a:ext cx="2280583" cy="594712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AC1E4BA-10DA-46A5-B890-FAD01AA704AC}"/>
                </a:ext>
              </a:extLst>
            </p:cNvPr>
            <p:cNvSpPr txBox="1"/>
            <p:nvPr/>
          </p:nvSpPr>
          <p:spPr>
            <a:xfrm>
              <a:off x="673523" y="4045027"/>
              <a:ext cx="28295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Experiment measurement:</a:t>
              </a:r>
            </a:p>
          </p:txBody>
        </p:sp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EA70631B-68D9-4CA6-8F96-F794474CC13B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42806" r="1001" b="45660"/>
          <a:stretch/>
        </p:blipFill>
        <p:spPr>
          <a:xfrm>
            <a:off x="4023607" y="4389677"/>
            <a:ext cx="3036130" cy="646331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43391C5F-2A7A-4890-94D3-3E4462B21795}"/>
              </a:ext>
            </a:extLst>
          </p:cNvPr>
          <p:cNvGrpSpPr/>
          <p:nvPr/>
        </p:nvGrpSpPr>
        <p:grpSpPr>
          <a:xfrm>
            <a:off x="7836635" y="4375500"/>
            <a:ext cx="3306297" cy="695502"/>
            <a:chOff x="7836635" y="4375500"/>
            <a:chExt cx="3306297" cy="695502"/>
          </a:xfrm>
        </p:grpSpPr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E793E4CD-8590-48FF-A334-4258D3809D3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 l="17157" t="4345"/>
            <a:stretch/>
          </p:blipFill>
          <p:spPr>
            <a:xfrm>
              <a:off x="7836635" y="4375500"/>
              <a:ext cx="1554909" cy="695502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50470C8-916A-4F8F-B207-BE4A6C837AFB}"/>
                </a:ext>
              </a:extLst>
            </p:cNvPr>
            <p:cNvSpPr txBox="1"/>
            <p:nvPr/>
          </p:nvSpPr>
          <p:spPr>
            <a:xfrm>
              <a:off x="9359814" y="4419393"/>
              <a:ext cx="178311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MY" dirty="0"/>
                <a:t>(Completeness)</a:t>
              </a:r>
            </a:p>
          </p:txBody>
        </p:sp>
      </p:grpSp>
      <p:pic>
        <p:nvPicPr>
          <p:cNvPr id="35" name="Picture 34">
            <a:extLst>
              <a:ext uri="{FF2B5EF4-FFF2-40B4-BE49-F238E27FC236}">
                <a16:creationId xmlns:a16="http://schemas.microsoft.com/office/drawing/2014/main" id="{34526664-5C53-4525-933C-24D3366D84EB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6383" t="48579" r="54584" b="-2919"/>
          <a:stretch/>
        </p:blipFill>
        <p:spPr>
          <a:xfrm>
            <a:off x="1876129" y="4958602"/>
            <a:ext cx="2108977" cy="646331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F952CB74-E914-4AA3-8107-D2688055CEC3}"/>
              </a:ext>
            </a:extLst>
          </p:cNvPr>
          <p:cNvGrpSpPr/>
          <p:nvPr/>
        </p:nvGrpSpPr>
        <p:grpSpPr>
          <a:xfrm>
            <a:off x="793952" y="5418560"/>
            <a:ext cx="2407088" cy="678997"/>
            <a:chOff x="793952" y="5418560"/>
            <a:chExt cx="2407088" cy="678997"/>
          </a:xfrm>
        </p:grpSpPr>
        <p:sp>
          <p:nvSpPr>
            <p:cNvPr id="36" name="Right Brace 35">
              <a:extLst>
                <a:ext uri="{FF2B5EF4-FFF2-40B4-BE49-F238E27FC236}">
                  <a16:creationId xmlns:a16="http://schemas.microsoft.com/office/drawing/2014/main" id="{831F525A-E69A-440E-8D24-1CA1402F9422}"/>
                </a:ext>
              </a:extLst>
            </p:cNvPr>
            <p:cNvSpPr/>
            <p:nvPr/>
          </p:nvSpPr>
          <p:spPr>
            <a:xfrm rot="5400000">
              <a:off x="2748354" y="5235381"/>
              <a:ext cx="269507" cy="635865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A5F333E-19CF-47A2-B664-573870D3E723}"/>
                </a:ext>
              </a:extLst>
            </p:cNvPr>
            <p:cNvSpPr txBox="1"/>
            <p:nvPr/>
          </p:nvSpPr>
          <p:spPr>
            <a:xfrm>
              <a:off x="793952" y="5728225"/>
              <a:ext cx="1722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Density matrix</a:t>
              </a:r>
            </a:p>
          </p:txBody>
        </p:sp>
      </p:grpSp>
      <p:pic>
        <p:nvPicPr>
          <p:cNvPr id="43" name="Graphic 42">
            <a:extLst>
              <a:ext uri="{FF2B5EF4-FFF2-40B4-BE49-F238E27FC236}">
                <a16:creationId xmlns:a16="http://schemas.microsoft.com/office/drawing/2014/main" id="{03F95746-7647-4157-BF9E-9A9E24D6D6A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448521" y="5674909"/>
            <a:ext cx="3272269" cy="729054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FDD77B3D-2A41-42C8-AEE8-CBFFFD296CE5}"/>
              </a:ext>
            </a:extLst>
          </p:cNvPr>
          <p:cNvGrpSpPr/>
          <p:nvPr/>
        </p:nvGrpSpPr>
        <p:grpSpPr>
          <a:xfrm>
            <a:off x="6398528" y="5785893"/>
            <a:ext cx="3137406" cy="1079281"/>
            <a:chOff x="6398528" y="5785893"/>
            <a:chExt cx="3137406" cy="1079281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EF0999C-3D7C-463A-AC14-F6EE3A22A127}"/>
                </a:ext>
              </a:extLst>
            </p:cNvPr>
            <p:cNvSpPr txBox="1"/>
            <p:nvPr/>
          </p:nvSpPr>
          <p:spPr>
            <a:xfrm>
              <a:off x="6398528" y="5785893"/>
              <a:ext cx="19856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In basis-free form:</a:t>
              </a:r>
            </a:p>
          </p:txBody>
        </p:sp>
        <p:pic>
          <p:nvPicPr>
            <p:cNvPr id="45" name="Graphic 44">
              <a:extLst>
                <a:ext uri="{FF2B5EF4-FFF2-40B4-BE49-F238E27FC236}">
                  <a16:creationId xmlns:a16="http://schemas.microsoft.com/office/drawing/2014/main" id="{EA610D47-AF15-46A9-8946-9BE664DA458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6600435" y="6131300"/>
              <a:ext cx="2935499" cy="733874"/>
            </a:xfrm>
            <a:prstGeom prst="rect">
              <a:avLst/>
            </a:prstGeom>
          </p:spPr>
        </p:pic>
      </p:grp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D74CB65A-914D-4EAF-A671-5200F5E16B29}"/>
              </a:ext>
            </a:extLst>
          </p:cNvPr>
          <p:cNvSpPr/>
          <p:nvPr/>
        </p:nvSpPr>
        <p:spPr>
          <a:xfrm>
            <a:off x="6600436" y="6175005"/>
            <a:ext cx="2935497" cy="64243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48" name="Graphic 47">
            <a:extLst>
              <a:ext uri="{FF2B5EF4-FFF2-40B4-BE49-F238E27FC236}">
                <a16:creationId xmlns:a16="http://schemas.microsoft.com/office/drawing/2014/main" id="{694271F8-10EE-4B9F-9838-6065453CA76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737841" y="6155225"/>
            <a:ext cx="1576649" cy="603409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407E0F65-3653-470A-9438-4AA7A7D85025}"/>
              </a:ext>
            </a:extLst>
          </p:cNvPr>
          <p:cNvGrpSpPr/>
          <p:nvPr/>
        </p:nvGrpSpPr>
        <p:grpSpPr>
          <a:xfrm>
            <a:off x="3985106" y="6403964"/>
            <a:ext cx="2723702" cy="436836"/>
            <a:chOff x="3985106" y="6403964"/>
            <a:chExt cx="2723702" cy="436836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31621A4-AA7D-4007-A83C-C7E2C708A263}"/>
                </a:ext>
              </a:extLst>
            </p:cNvPr>
            <p:cNvSpPr txBox="1"/>
            <p:nvPr/>
          </p:nvSpPr>
          <p:spPr>
            <a:xfrm>
              <a:off x="3985106" y="6471468"/>
              <a:ext cx="21699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>
                  <a:solidFill>
                    <a:srgbClr val="FF0000"/>
                  </a:solidFill>
                </a:rPr>
                <a:t>What form is allow?</a:t>
              </a:r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FD30C4F4-5D73-4972-90D2-B2073A5534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7545" y="6403964"/>
              <a:ext cx="481263" cy="13623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3F3D1C3-1E71-40A8-BA18-78AAC457A7B8}"/>
              </a:ext>
            </a:extLst>
          </p:cNvPr>
          <p:cNvGrpSpPr/>
          <p:nvPr/>
        </p:nvGrpSpPr>
        <p:grpSpPr>
          <a:xfrm>
            <a:off x="7829756" y="5436846"/>
            <a:ext cx="4474558" cy="903414"/>
            <a:chOff x="7829756" y="5436846"/>
            <a:chExt cx="4474558" cy="903414"/>
          </a:xfrm>
        </p:grpSpPr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F659E939-5459-4D13-BE7F-F2E9E61A6C01}"/>
                </a:ext>
              </a:extLst>
            </p:cNvPr>
            <p:cNvCxnSpPr>
              <a:cxnSpLocks/>
            </p:cNvCxnSpPr>
            <p:nvPr/>
          </p:nvCxnSpPr>
          <p:spPr>
            <a:xfrm>
              <a:off x="10866923" y="5970559"/>
              <a:ext cx="0" cy="36970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EAD15785-7F63-461A-905C-C6B15A1E68E0}"/>
                </a:ext>
              </a:extLst>
            </p:cNvPr>
            <p:cNvGrpSpPr/>
            <p:nvPr/>
          </p:nvGrpSpPr>
          <p:grpSpPr>
            <a:xfrm>
              <a:off x="7829756" y="5436846"/>
              <a:ext cx="4474558" cy="465393"/>
              <a:chOff x="7646306" y="5407704"/>
              <a:chExt cx="4474558" cy="465393"/>
            </a:xfrm>
          </p:grpSpPr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94EB3FD0-B743-487E-92E6-299BE4201ACC}"/>
                  </a:ext>
                </a:extLst>
              </p:cNvPr>
              <p:cNvSpPr txBox="1"/>
              <p:nvPr/>
            </p:nvSpPr>
            <p:spPr>
              <a:xfrm>
                <a:off x="7646306" y="5466233"/>
                <a:ext cx="44745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MY" dirty="0">
                    <a:solidFill>
                      <a:srgbClr val="FF0000"/>
                    </a:solidFill>
                  </a:rPr>
                  <a:t>play the role like                  in classical case.</a:t>
                </a:r>
              </a:p>
            </p:txBody>
          </p:sp>
          <p:pic>
            <p:nvPicPr>
              <p:cNvPr id="60" name="Graphic 59">
                <a:extLst>
                  <a:ext uri="{FF2B5EF4-FFF2-40B4-BE49-F238E27FC236}">
                    <a16:creationId xmlns:a16="http://schemas.microsoft.com/office/drawing/2014/main" id="{54DDFEA5-F001-4689-9314-9A7586886BD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rcRect r="65547" b="918"/>
              <a:stretch/>
            </p:blipFill>
            <p:spPr>
              <a:xfrm>
                <a:off x="9348295" y="5407704"/>
                <a:ext cx="931904" cy="465393"/>
              </a:xfrm>
              <a:prstGeom prst="rect">
                <a:avLst/>
              </a:prstGeom>
            </p:spPr>
          </p:pic>
        </p:grp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39D54EF-7CCC-4AEB-B62B-5007EA7E1B0B}"/>
              </a:ext>
            </a:extLst>
          </p:cNvPr>
          <p:cNvGrpSpPr/>
          <p:nvPr/>
        </p:nvGrpSpPr>
        <p:grpSpPr>
          <a:xfrm>
            <a:off x="197847" y="6097557"/>
            <a:ext cx="3289600" cy="782775"/>
            <a:chOff x="197847" y="6097557"/>
            <a:chExt cx="3289600" cy="782775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DD86115-63FE-4AAB-BA26-769F09872262}"/>
                </a:ext>
              </a:extLst>
            </p:cNvPr>
            <p:cNvSpPr txBox="1"/>
            <p:nvPr/>
          </p:nvSpPr>
          <p:spPr>
            <a:xfrm>
              <a:off x="197847" y="6234001"/>
              <a:ext cx="32896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dirty="0">
                  <a:solidFill>
                    <a:srgbClr val="FF0000"/>
                  </a:solidFill>
                </a:rPr>
                <a:t>Is the tool to build statistical model in quantum mechanics</a:t>
              </a:r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4011B32C-8954-41E7-B670-21D3EDAD24A2}"/>
                </a:ext>
              </a:extLst>
            </p:cNvPr>
            <p:cNvCxnSpPr>
              <a:cxnSpLocks/>
              <a:endCxn id="39" idx="2"/>
            </p:cNvCxnSpPr>
            <p:nvPr/>
          </p:nvCxnSpPr>
          <p:spPr>
            <a:xfrm flipV="1">
              <a:off x="1490203" y="6097557"/>
              <a:ext cx="165107" cy="17522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1" name="Picture 50">
            <a:extLst>
              <a:ext uri="{FF2B5EF4-FFF2-40B4-BE49-F238E27FC236}">
                <a16:creationId xmlns:a16="http://schemas.microsoft.com/office/drawing/2014/main" id="{38624FE0-277C-4A0A-A7A4-1E9861E26456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405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Density matrix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A5F333E-19CF-47A2-B664-573870D3E723}"/>
              </a:ext>
            </a:extLst>
          </p:cNvPr>
          <p:cNvSpPr txBox="1"/>
          <p:nvPr/>
        </p:nvSpPr>
        <p:spPr>
          <a:xfrm>
            <a:off x="640718" y="2070911"/>
            <a:ext cx="1722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Density matrix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EF0999C-3D7C-463A-AC14-F6EE3A22A127}"/>
              </a:ext>
            </a:extLst>
          </p:cNvPr>
          <p:cNvSpPr txBox="1"/>
          <p:nvPr/>
        </p:nvSpPr>
        <p:spPr>
          <a:xfrm>
            <a:off x="7014545" y="2012790"/>
            <a:ext cx="1985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In basis-free form:</a:t>
            </a: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03F95746-7647-4157-BF9E-9A9E24D6D6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95287" y="2017595"/>
            <a:ext cx="3272269" cy="729054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EA610D47-AF15-46A9-8946-9BE664DA45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10141" y="2299917"/>
            <a:ext cx="2935499" cy="733874"/>
          </a:xfrm>
          <a:prstGeom prst="rect">
            <a:avLst/>
          </a:prstGeom>
        </p:spPr>
      </p:pic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D74CB65A-914D-4EAF-A671-5200F5E16B29}"/>
              </a:ext>
            </a:extLst>
          </p:cNvPr>
          <p:cNvSpPr/>
          <p:nvPr/>
        </p:nvSpPr>
        <p:spPr>
          <a:xfrm>
            <a:off x="8210142" y="2343622"/>
            <a:ext cx="2935497" cy="64243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BB87B49-8240-4B37-A73C-AB830BE4CCC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r="86163" b="11061"/>
          <a:stretch/>
        </p:blipFill>
        <p:spPr>
          <a:xfrm>
            <a:off x="866082" y="2551309"/>
            <a:ext cx="431142" cy="647604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0DB2170B-F29F-44E9-B5CC-6A7560C83B8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72383" y="2601044"/>
            <a:ext cx="606342" cy="422602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C4B51372-C313-4ACC-B634-9FDE512D2F31}"/>
              </a:ext>
            </a:extLst>
          </p:cNvPr>
          <p:cNvSpPr txBox="1"/>
          <p:nvPr/>
        </p:nvSpPr>
        <p:spPr>
          <a:xfrm>
            <a:off x="475933" y="2575088"/>
            <a:ext cx="540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b="1" dirty="0"/>
              <a:t>1)</a:t>
            </a:r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2E088CF4-0DE5-4DE3-A894-6DCC4D038E6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440972" y="2652022"/>
            <a:ext cx="4011331" cy="865189"/>
          </a:xfrm>
          <a:prstGeom prst="rect">
            <a:avLst/>
          </a:prstGeom>
        </p:spPr>
      </p:pic>
      <p:pic>
        <p:nvPicPr>
          <p:cNvPr id="56" name="Graphic 55">
            <a:extLst>
              <a:ext uri="{FF2B5EF4-FFF2-40B4-BE49-F238E27FC236}">
                <a16:creationId xmlns:a16="http://schemas.microsoft.com/office/drawing/2014/main" id="{C76FEAE5-449F-4FAE-82AF-37537B51491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321990" y="3658453"/>
            <a:ext cx="959257" cy="53497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99DB9B7-4643-458C-B09D-4D16D121C78B}"/>
              </a:ext>
            </a:extLst>
          </p:cNvPr>
          <p:cNvSpPr txBox="1"/>
          <p:nvPr/>
        </p:nvSpPr>
        <p:spPr>
          <a:xfrm>
            <a:off x="475933" y="4064980"/>
            <a:ext cx="540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b="1" dirty="0"/>
              <a:t>3)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159A34-3B93-40B5-92F7-68CA98B8BA62}"/>
              </a:ext>
            </a:extLst>
          </p:cNvPr>
          <p:cNvSpPr txBox="1"/>
          <p:nvPr/>
        </p:nvSpPr>
        <p:spPr>
          <a:xfrm>
            <a:off x="877355" y="4157313"/>
            <a:ext cx="1108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Positivity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D1D9878-1234-4B56-81C4-12ED1F2ED63F}"/>
              </a:ext>
            </a:extLst>
          </p:cNvPr>
          <p:cNvGrpSpPr/>
          <p:nvPr/>
        </p:nvGrpSpPr>
        <p:grpSpPr>
          <a:xfrm>
            <a:off x="3920229" y="4399566"/>
            <a:ext cx="3927870" cy="573836"/>
            <a:chOff x="8201250" y="6040069"/>
            <a:chExt cx="3927870" cy="57383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670A58B-A21E-4F14-827F-51A9710F4492}"/>
                </a:ext>
              </a:extLst>
            </p:cNvPr>
            <p:cNvSpPr txBox="1"/>
            <p:nvPr/>
          </p:nvSpPr>
          <p:spPr>
            <a:xfrm>
              <a:off x="8201250" y="6142320"/>
              <a:ext cx="39278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For any states        in the Hilbert space</a:t>
              </a:r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DEEC9821-831D-4DB6-BA08-8721178430D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500310" y="6040069"/>
              <a:ext cx="635319" cy="573836"/>
            </a:xfrm>
            <a:prstGeom prst="rect">
              <a:avLst/>
            </a:prstGeom>
          </p:spPr>
        </p:pic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B9EE6E2F-74DC-40FB-AD86-26771CCE43A3}"/>
              </a:ext>
            </a:extLst>
          </p:cNvPr>
          <p:cNvSpPr txBox="1"/>
          <p:nvPr/>
        </p:nvSpPr>
        <p:spPr>
          <a:xfrm>
            <a:off x="460901" y="3311108"/>
            <a:ext cx="540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b="1" dirty="0"/>
              <a:t>2)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B6A9F7C-636C-422B-B4A0-C73423571858}"/>
              </a:ext>
            </a:extLst>
          </p:cNvPr>
          <p:cNvSpPr txBox="1"/>
          <p:nvPr/>
        </p:nvSpPr>
        <p:spPr>
          <a:xfrm>
            <a:off x="862323" y="3403441"/>
            <a:ext cx="133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Hermiticity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9866904-0958-442B-805E-DBB18B53B124}"/>
              </a:ext>
            </a:extLst>
          </p:cNvPr>
          <p:cNvGrpSpPr/>
          <p:nvPr/>
        </p:nvGrpSpPr>
        <p:grpSpPr>
          <a:xfrm>
            <a:off x="2363434" y="4429015"/>
            <a:ext cx="1176645" cy="514940"/>
            <a:chOff x="2856992" y="5192813"/>
            <a:chExt cx="1176645" cy="51494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A209A59-C152-4D1F-AC24-70EA01FA0F9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6"/>
            <a:srcRect r="83209" b="2616"/>
            <a:stretch/>
          </p:blipFill>
          <p:spPr>
            <a:xfrm>
              <a:off x="2856992" y="5192814"/>
              <a:ext cx="762107" cy="514939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F52CF908-9057-49CA-A062-2BF53CBF18F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6"/>
            <a:srcRect l="92929" t="-1915" r="-1325" b="4531"/>
            <a:stretch/>
          </p:blipFill>
          <p:spPr>
            <a:xfrm>
              <a:off x="3652583" y="5192813"/>
              <a:ext cx="381054" cy="514939"/>
            </a:xfrm>
            <a:prstGeom prst="rect">
              <a:avLst/>
            </a:prstGeom>
          </p:spPr>
        </p:pic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7BAB22D3-B414-42C5-B125-8D2FEA77BFF5}"/>
              </a:ext>
            </a:extLst>
          </p:cNvPr>
          <p:cNvSpPr txBox="1"/>
          <p:nvPr/>
        </p:nvSpPr>
        <p:spPr>
          <a:xfrm>
            <a:off x="488081" y="4956923"/>
            <a:ext cx="540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b="1" dirty="0"/>
              <a:t>4)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4C6D6F0-C910-46FC-B77C-12A75598349D}"/>
              </a:ext>
            </a:extLst>
          </p:cNvPr>
          <p:cNvSpPr txBox="1"/>
          <p:nvPr/>
        </p:nvSpPr>
        <p:spPr>
          <a:xfrm>
            <a:off x="889503" y="5049256"/>
            <a:ext cx="57345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Time evolution: Liouville’s theorem for quantum system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C342D0B-FADE-47E3-9CE9-98C93F11C0E9}"/>
              </a:ext>
            </a:extLst>
          </p:cNvPr>
          <p:cNvPicPr>
            <a:picLocks noChangeAspect="1"/>
          </p:cNvPicPr>
          <p:nvPr/>
        </p:nvPicPr>
        <p:blipFill rotWithShape="1">
          <a:blip r:embed="rId17"/>
          <a:srcRect t="9529"/>
          <a:stretch/>
        </p:blipFill>
        <p:spPr>
          <a:xfrm>
            <a:off x="862323" y="5446940"/>
            <a:ext cx="4124326" cy="55705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A12F216-9EE3-4A66-9550-7600EF4605B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201472" y="6121693"/>
            <a:ext cx="2855711" cy="52018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4DB417B-A8F3-45AC-BE91-7FF4953275D9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057183" y="6206620"/>
            <a:ext cx="1815341" cy="350329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D9846018-80C7-4BF5-9965-119FCE6B79CD}"/>
              </a:ext>
            </a:extLst>
          </p:cNvPr>
          <p:cNvGrpSpPr/>
          <p:nvPr/>
        </p:nvGrpSpPr>
        <p:grpSpPr>
          <a:xfrm>
            <a:off x="8624236" y="5637693"/>
            <a:ext cx="1713886" cy="733874"/>
            <a:chOff x="8624236" y="5637693"/>
            <a:chExt cx="1713886" cy="733874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734A11AE-41BD-45D4-837F-732BA012AE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8693461" y="5687848"/>
              <a:ext cx="1567070" cy="592279"/>
            </a:xfrm>
            <a:prstGeom prst="rect">
              <a:avLst/>
            </a:prstGeom>
          </p:spPr>
        </p:pic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55826A78-16AE-4C0B-95BC-96EDCDD46806}"/>
                </a:ext>
              </a:extLst>
            </p:cNvPr>
            <p:cNvSpPr/>
            <p:nvPr/>
          </p:nvSpPr>
          <p:spPr>
            <a:xfrm>
              <a:off x="8624236" y="5637693"/>
              <a:ext cx="1713886" cy="733874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3409B1D-8901-474C-892F-6677F5B44737}"/>
              </a:ext>
            </a:extLst>
          </p:cNvPr>
          <p:cNvSpPr txBox="1"/>
          <p:nvPr/>
        </p:nvSpPr>
        <p:spPr>
          <a:xfrm>
            <a:off x="8518359" y="6381996"/>
            <a:ext cx="3089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(Conservation of probability)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26C6D49D-F1EF-4A4F-9A97-61E6A6ABE0B9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878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59C92-4E56-44FE-8D4C-924ECA984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Equilibrium in quantum system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6E321C8-3774-4CB7-BF0E-5BB462CF942A}"/>
              </a:ext>
            </a:extLst>
          </p:cNvPr>
          <p:cNvGrpSpPr/>
          <p:nvPr/>
        </p:nvGrpSpPr>
        <p:grpSpPr>
          <a:xfrm>
            <a:off x="933650" y="2307352"/>
            <a:ext cx="1713886" cy="733874"/>
            <a:chOff x="8624236" y="5637693"/>
            <a:chExt cx="1713886" cy="73387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FFDFB5D-C1A7-4CD4-9AAC-C3F3E7D4BA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93461" y="5687848"/>
              <a:ext cx="1567070" cy="592279"/>
            </a:xfrm>
            <a:prstGeom prst="rect">
              <a:avLst/>
            </a:prstGeom>
          </p:spPr>
        </p:pic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A23BCAC3-C7E6-4180-9B0C-561F68698B4E}"/>
                </a:ext>
              </a:extLst>
            </p:cNvPr>
            <p:cNvSpPr/>
            <p:nvPr/>
          </p:nvSpPr>
          <p:spPr>
            <a:xfrm>
              <a:off x="8624236" y="5637693"/>
              <a:ext cx="1713886" cy="733874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pic>
        <p:nvPicPr>
          <p:cNvPr id="9" name="Graphic 8">
            <a:extLst>
              <a:ext uri="{FF2B5EF4-FFF2-40B4-BE49-F238E27FC236}">
                <a16:creationId xmlns:a16="http://schemas.microsoft.com/office/drawing/2014/main" id="{07017330-7A01-45F1-8168-C63C20A09B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2270954"/>
            <a:ext cx="1033513" cy="7935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308EB75-9C5B-4074-9D36-AEFD0EEC2079}"/>
              </a:ext>
            </a:extLst>
          </p:cNvPr>
          <p:cNvSpPr txBox="1"/>
          <p:nvPr/>
        </p:nvSpPr>
        <p:spPr>
          <a:xfrm>
            <a:off x="3268601" y="2468980"/>
            <a:ext cx="25297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In thermal equilibrium: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1F9F472C-0331-4B15-83D5-54C4586CDC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74243" y="3222459"/>
            <a:ext cx="2916164" cy="57099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9278CA63-11AC-46D9-9E61-A07E59D54C5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98656" y="5958919"/>
            <a:ext cx="1945506" cy="879219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949D62BA-CCE2-449A-9D93-D8046AFD7173}"/>
              </a:ext>
            </a:extLst>
          </p:cNvPr>
          <p:cNvGrpSpPr/>
          <p:nvPr/>
        </p:nvGrpSpPr>
        <p:grpSpPr>
          <a:xfrm>
            <a:off x="977655" y="3992868"/>
            <a:ext cx="4484405" cy="1117584"/>
            <a:chOff x="977655" y="3992868"/>
            <a:chExt cx="4484405" cy="111758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BF4EFF5-86EA-45AD-B322-A89BC671D610}"/>
                </a:ext>
              </a:extLst>
            </p:cNvPr>
            <p:cNvSpPr txBox="1"/>
            <p:nvPr/>
          </p:nvSpPr>
          <p:spPr>
            <a:xfrm>
              <a:off x="977655" y="4476535"/>
              <a:ext cx="27949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Microcanonical ensemble:</a:t>
              </a:r>
            </a:p>
          </p:txBody>
        </p:sp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C9DA634E-9749-420D-A88C-74D10F0B51D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772587" y="4283980"/>
              <a:ext cx="1688114" cy="826472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0DC44F4-8E7C-4018-9E16-7F4D36B00F7E}"/>
                </a:ext>
              </a:extLst>
            </p:cNvPr>
            <p:cNvSpPr txBox="1"/>
            <p:nvPr/>
          </p:nvSpPr>
          <p:spPr>
            <a:xfrm>
              <a:off x="3798656" y="3992868"/>
              <a:ext cx="16634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Density matrix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7E4458D4-E92F-4650-BB1D-F05D4BE64613}"/>
              </a:ext>
            </a:extLst>
          </p:cNvPr>
          <p:cNvGrpSpPr/>
          <p:nvPr/>
        </p:nvGrpSpPr>
        <p:grpSpPr>
          <a:xfrm>
            <a:off x="5896551" y="4033951"/>
            <a:ext cx="1957607" cy="1138262"/>
            <a:chOff x="5896551" y="4033951"/>
            <a:chExt cx="1957607" cy="1138262"/>
          </a:xfrm>
        </p:grpSpPr>
        <p:pic>
          <p:nvPicPr>
            <p:cNvPr id="27" name="Graphic 26">
              <a:extLst>
                <a:ext uri="{FF2B5EF4-FFF2-40B4-BE49-F238E27FC236}">
                  <a16:creationId xmlns:a16="http://schemas.microsoft.com/office/drawing/2014/main" id="{EB32E4A2-BFE3-4EAF-A632-D68925C052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>
            <a:xfrm>
              <a:off x="5896551" y="4476534"/>
              <a:ext cx="1957607" cy="695679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E8D82A6-476B-47AA-BBC9-811FE754C9FC}"/>
                </a:ext>
              </a:extLst>
            </p:cNvPr>
            <p:cNvSpPr txBox="1"/>
            <p:nvPr/>
          </p:nvSpPr>
          <p:spPr>
            <a:xfrm>
              <a:off x="6045067" y="4033951"/>
              <a:ext cx="16367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Normalization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A636542-C3DE-4D2E-A0EC-DB57CABCF18C}"/>
              </a:ext>
            </a:extLst>
          </p:cNvPr>
          <p:cNvGrpSpPr/>
          <p:nvPr/>
        </p:nvGrpSpPr>
        <p:grpSpPr>
          <a:xfrm>
            <a:off x="5183441" y="2881834"/>
            <a:ext cx="4836950" cy="432584"/>
            <a:chOff x="5316709" y="2958836"/>
            <a:chExt cx="4836950" cy="432584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4EC5719-F545-4130-BBE7-0CE21BADB164}"/>
                </a:ext>
              </a:extLst>
            </p:cNvPr>
            <p:cNvSpPr txBox="1"/>
            <p:nvPr/>
          </p:nvSpPr>
          <p:spPr>
            <a:xfrm>
              <a:off x="5826321" y="2958836"/>
              <a:ext cx="43273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>
                  <a:solidFill>
                    <a:srgbClr val="FF0000"/>
                  </a:solidFill>
                </a:rPr>
                <a:t>Independent random phases assumption.</a:t>
              </a: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590E139E-2788-48E7-8B2C-E7ED4E3EF832}"/>
                </a:ext>
              </a:extLst>
            </p:cNvPr>
            <p:cNvCxnSpPr>
              <a:cxnSpLocks/>
              <a:stCxn id="37" idx="1"/>
            </p:cNvCxnSpPr>
            <p:nvPr/>
          </p:nvCxnSpPr>
          <p:spPr>
            <a:xfrm flipH="1">
              <a:off x="5316709" y="3143502"/>
              <a:ext cx="509612" cy="24791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3D7F640-20B2-4E37-B910-BFA80D102900}"/>
              </a:ext>
            </a:extLst>
          </p:cNvPr>
          <p:cNvGrpSpPr/>
          <p:nvPr/>
        </p:nvGrpSpPr>
        <p:grpSpPr>
          <a:xfrm>
            <a:off x="1444893" y="5110160"/>
            <a:ext cx="8575498" cy="805562"/>
            <a:chOff x="1444893" y="5110160"/>
            <a:chExt cx="8575498" cy="805562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E1F1ED8-7491-489D-8458-378FBD840345}"/>
                </a:ext>
              </a:extLst>
            </p:cNvPr>
            <p:cNvSpPr txBox="1"/>
            <p:nvPr/>
          </p:nvSpPr>
          <p:spPr>
            <a:xfrm>
              <a:off x="1444893" y="5437221"/>
              <a:ext cx="22501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Canonical ensemble:</a:t>
              </a:r>
            </a:p>
          </p:txBody>
        </p:sp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365EBA3D-C7EE-4071-B25C-1B2D8C1F8C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3883556" y="5110160"/>
              <a:ext cx="1299884" cy="805562"/>
            </a:xfrm>
            <a:prstGeom prst="rect">
              <a:avLst/>
            </a:prstGeom>
          </p:spPr>
        </p:pic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C2CFD091-3AB4-475F-97E5-C01667BBA05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5884164" y="5271905"/>
              <a:ext cx="1481925" cy="482072"/>
            </a:xfrm>
            <a:prstGeom prst="rect">
              <a:avLst/>
            </a:prstGeom>
          </p:spPr>
        </p:pic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5D01C4AE-EF15-47BB-B538-8A6AF620806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 r="26027" b="4429"/>
            <a:stretch/>
          </p:blipFill>
          <p:spPr>
            <a:xfrm>
              <a:off x="8004961" y="5113679"/>
              <a:ext cx="2015430" cy="768930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E397498-FE77-4690-A7A0-097D2C31E680}"/>
              </a:ext>
            </a:extLst>
          </p:cNvPr>
          <p:cNvGrpSpPr/>
          <p:nvPr/>
        </p:nvGrpSpPr>
        <p:grpSpPr>
          <a:xfrm>
            <a:off x="892503" y="5996308"/>
            <a:ext cx="9714538" cy="733096"/>
            <a:chOff x="892503" y="5996308"/>
            <a:chExt cx="9714538" cy="733096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4DC9D9C-F569-4AA4-8882-CEEB0DA7C73C}"/>
                </a:ext>
              </a:extLst>
            </p:cNvPr>
            <p:cNvSpPr txBox="1"/>
            <p:nvPr/>
          </p:nvSpPr>
          <p:spPr>
            <a:xfrm>
              <a:off x="892503" y="6247331"/>
              <a:ext cx="28800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Grand canonical ensemble:</a:t>
              </a:r>
            </a:p>
          </p:txBody>
        </p:sp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E564249D-0F7A-4B56-8EBC-5E81EF83EA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5896552" y="6247331"/>
              <a:ext cx="1945507" cy="482072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A990F16D-BFFC-478D-861B-71B22AD0E43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rcRect r="21359" b="12916"/>
            <a:stretch/>
          </p:blipFill>
          <p:spPr>
            <a:xfrm>
              <a:off x="8057553" y="5996308"/>
              <a:ext cx="2549488" cy="733096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702B6DD-4387-4CB6-8ADA-BA2CAB5B595F}"/>
              </a:ext>
            </a:extLst>
          </p:cNvPr>
          <p:cNvGrpSpPr/>
          <p:nvPr/>
        </p:nvGrpSpPr>
        <p:grpSpPr>
          <a:xfrm>
            <a:off x="7979295" y="4033951"/>
            <a:ext cx="3727735" cy="990180"/>
            <a:chOff x="7979295" y="4033951"/>
            <a:chExt cx="3727735" cy="990180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3B44DC7-4A1B-419C-9AEE-40B5912E9D40}"/>
                </a:ext>
              </a:extLst>
            </p:cNvPr>
            <p:cNvSpPr txBox="1"/>
            <p:nvPr/>
          </p:nvSpPr>
          <p:spPr>
            <a:xfrm>
              <a:off x="8264869" y="4033951"/>
              <a:ext cx="34421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Energy eigenstate representation</a:t>
              </a:r>
            </a:p>
          </p:txBody>
        </p:sp>
        <p:pic>
          <p:nvPicPr>
            <p:cNvPr id="52" name="Graphic 51">
              <a:extLst>
                <a:ext uri="{FF2B5EF4-FFF2-40B4-BE49-F238E27FC236}">
                  <a16:creationId xmlns:a16="http://schemas.microsoft.com/office/drawing/2014/main" id="{038D4FA5-61C9-4DEA-86EB-0BC268B0728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rcRect t="1" r="22474" b="6070"/>
            <a:stretch/>
          </p:blipFill>
          <p:spPr>
            <a:xfrm>
              <a:off x="7979295" y="4328451"/>
              <a:ext cx="2310112" cy="695680"/>
            </a:xfrm>
            <a:prstGeom prst="rect">
              <a:avLst/>
            </a:prstGeom>
          </p:spPr>
        </p:pic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BB15115D-579E-495A-9C2B-79E0B8272155}"/>
              </a:ext>
            </a:extLst>
          </p:cNvPr>
          <p:cNvGrpSpPr/>
          <p:nvPr/>
        </p:nvGrpSpPr>
        <p:grpSpPr>
          <a:xfrm>
            <a:off x="7129513" y="3162116"/>
            <a:ext cx="3732176" cy="743203"/>
            <a:chOff x="7129513" y="3162116"/>
            <a:chExt cx="3732176" cy="743203"/>
          </a:xfrm>
        </p:grpSpPr>
        <p:pic>
          <p:nvPicPr>
            <p:cNvPr id="54" name="Graphic 53">
              <a:extLst>
                <a:ext uri="{FF2B5EF4-FFF2-40B4-BE49-F238E27FC236}">
                  <a16:creationId xmlns:a16="http://schemas.microsoft.com/office/drawing/2014/main" id="{9CA4A5EF-6D7A-44AC-8D25-6AFBA9424A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8099605" y="3162116"/>
              <a:ext cx="1934632" cy="462989"/>
            </a:xfrm>
            <a:prstGeom prst="rect">
              <a:avLst/>
            </a:prstGeom>
          </p:spPr>
        </p:pic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CAAA09A-52D7-4B81-B3A9-9100C5247003}"/>
                </a:ext>
              </a:extLst>
            </p:cNvPr>
            <p:cNvSpPr txBox="1"/>
            <p:nvPr/>
          </p:nvSpPr>
          <p:spPr>
            <a:xfrm>
              <a:off x="7129513" y="3535987"/>
              <a:ext cx="37321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>
                  <a:solidFill>
                    <a:srgbClr val="FF0000"/>
                  </a:solidFill>
                </a:rPr>
                <a:t>It is okay to have off diagonal terms.</a:t>
              </a:r>
            </a:p>
          </p:txBody>
        </p:sp>
      </p:grp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667C1351-D649-4775-8126-F9A0DC08F2F6}"/>
              </a:ext>
            </a:extLst>
          </p:cNvPr>
          <p:cNvSpPr/>
          <p:nvPr/>
        </p:nvSpPr>
        <p:spPr>
          <a:xfrm>
            <a:off x="5798396" y="4403283"/>
            <a:ext cx="2043663" cy="243485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B7671ABD-4BF9-4888-B782-658A3794A02D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388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A51DE-29FA-4675-A191-C96A4F76D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Quantum statistics of non-interacting particles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45A5BE1-254E-4A0A-8ADB-1438C49468CA}"/>
              </a:ext>
            </a:extLst>
          </p:cNvPr>
          <p:cNvGrpSpPr/>
          <p:nvPr/>
        </p:nvGrpSpPr>
        <p:grpSpPr>
          <a:xfrm>
            <a:off x="4719623" y="2039803"/>
            <a:ext cx="2544341" cy="1510019"/>
            <a:chOff x="4719623" y="2039803"/>
            <a:chExt cx="2544341" cy="1510019"/>
          </a:xfrm>
        </p:grpSpPr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8917B587-68E7-4183-9715-855D3C3E29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19623" y="2408207"/>
              <a:ext cx="2382541" cy="858415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6AF06C4-3597-4329-B403-581420C34502}"/>
                </a:ext>
              </a:extLst>
            </p:cNvPr>
            <p:cNvSpPr txBox="1"/>
            <p:nvPr/>
          </p:nvSpPr>
          <p:spPr>
            <a:xfrm>
              <a:off x="4884786" y="3180490"/>
              <a:ext cx="18844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Too complicated.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194C571-2A4A-4501-AFC7-4811F7511250}"/>
                </a:ext>
              </a:extLst>
            </p:cNvPr>
            <p:cNvSpPr txBox="1"/>
            <p:nvPr/>
          </p:nvSpPr>
          <p:spPr>
            <a:xfrm>
              <a:off x="4811754" y="2039803"/>
              <a:ext cx="24522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b="1" dirty="0"/>
                <a:t>Canonical ensemble:</a:t>
              </a:r>
            </a:p>
          </p:txBody>
        </p:sp>
      </p:grpSp>
      <p:pic>
        <p:nvPicPr>
          <p:cNvPr id="18" name="Graphic 17">
            <a:extLst>
              <a:ext uri="{FF2B5EF4-FFF2-40B4-BE49-F238E27FC236}">
                <a16:creationId xmlns:a16="http://schemas.microsoft.com/office/drawing/2014/main" id="{4C614752-0594-41F9-9767-89C9C84EA0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56912" y="4742321"/>
            <a:ext cx="491340" cy="512703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57B9491C-0BB4-4114-9E46-5D75DF1AE8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4718" y="3496403"/>
            <a:ext cx="2880084" cy="1143350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77694E19-50E2-419B-92E2-D5B35449BB42}"/>
              </a:ext>
            </a:extLst>
          </p:cNvPr>
          <p:cNvGrpSpPr/>
          <p:nvPr/>
        </p:nvGrpSpPr>
        <p:grpSpPr>
          <a:xfrm>
            <a:off x="8395703" y="1984271"/>
            <a:ext cx="3143233" cy="1363061"/>
            <a:chOff x="8395703" y="1984271"/>
            <a:chExt cx="3143233" cy="1363061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3EB5469-FFF3-4F89-8C06-DA8DD48D8229}"/>
                </a:ext>
              </a:extLst>
            </p:cNvPr>
            <p:cNvSpPr txBox="1"/>
            <p:nvPr/>
          </p:nvSpPr>
          <p:spPr>
            <a:xfrm>
              <a:off x="8395703" y="1984271"/>
              <a:ext cx="31432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b="1" dirty="0"/>
                <a:t>Grand canonical ensemble:</a:t>
              </a:r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454550B2-C911-422E-9169-3AF030A5979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395703" y="2524122"/>
              <a:ext cx="2499567" cy="823210"/>
            </a:xfrm>
            <a:prstGeom prst="rect">
              <a:avLst/>
            </a:prstGeom>
          </p:spPr>
        </p:pic>
      </p:grpSp>
      <p:pic>
        <p:nvPicPr>
          <p:cNvPr id="20" name="Graphic 19">
            <a:extLst>
              <a:ext uri="{FF2B5EF4-FFF2-40B4-BE49-F238E27FC236}">
                <a16:creationId xmlns:a16="http://schemas.microsoft.com/office/drawing/2014/main" id="{66BC2EE6-AEAE-49CE-9FC7-45C061C2882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785476" y="4547052"/>
            <a:ext cx="1827898" cy="734424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22288D98-4D1B-4B8A-AAF7-B4569363DFA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787477" y="5233789"/>
            <a:ext cx="1994566" cy="720726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B9E59BDE-424B-4D88-A48F-86633463DBDD}"/>
              </a:ext>
            </a:extLst>
          </p:cNvPr>
          <p:cNvGrpSpPr/>
          <p:nvPr/>
        </p:nvGrpSpPr>
        <p:grpSpPr>
          <a:xfrm>
            <a:off x="223846" y="4432948"/>
            <a:ext cx="2973039" cy="2533831"/>
            <a:chOff x="223846" y="4432948"/>
            <a:chExt cx="2973039" cy="2533831"/>
          </a:xfrm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446772EE-7B30-46E5-AA28-2D51BF61090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 l="20394"/>
            <a:stretch/>
          </p:blipFill>
          <p:spPr>
            <a:xfrm>
              <a:off x="1791605" y="4794542"/>
              <a:ext cx="1273638" cy="486933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BFBD501C-2C76-4B07-8A90-17DA9C7E04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337354" y="5289331"/>
              <a:ext cx="1727889" cy="641117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D39E6A0-AA39-44F2-A95E-7A0E7A366C82}"/>
                </a:ext>
              </a:extLst>
            </p:cNvPr>
            <p:cNvSpPr txBox="1"/>
            <p:nvPr/>
          </p:nvSpPr>
          <p:spPr>
            <a:xfrm>
              <a:off x="223846" y="4432948"/>
              <a:ext cx="22045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Occupation number</a:t>
              </a:r>
            </a:p>
          </p:txBody>
        </p:sp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7AD2C15B-7C02-45BA-A064-A9440A1D8D4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p:blipFill>
          <p:spPr>
            <a:xfrm>
              <a:off x="1165659" y="5865885"/>
              <a:ext cx="2031226" cy="1100894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0D457CF-48D6-4B9D-84E8-A93DFCAF5139}"/>
              </a:ext>
            </a:extLst>
          </p:cNvPr>
          <p:cNvGrpSpPr/>
          <p:nvPr/>
        </p:nvGrpSpPr>
        <p:grpSpPr>
          <a:xfrm>
            <a:off x="624626" y="2039803"/>
            <a:ext cx="3713298" cy="2237474"/>
            <a:chOff x="624626" y="2039803"/>
            <a:chExt cx="3713298" cy="223747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46054B8-33C4-482A-B82B-915D39139ECE}"/>
                </a:ext>
              </a:extLst>
            </p:cNvPr>
            <p:cNvSpPr txBox="1"/>
            <p:nvPr/>
          </p:nvSpPr>
          <p:spPr>
            <a:xfrm>
              <a:off x="881452" y="2039803"/>
              <a:ext cx="30530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b="1" dirty="0"/>
                <a:t>Microcanonical ensemble:</a:t>
              </a: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88582914-C07F-44DC-8ADE-E6E6F5C1B1BA}"/>
                </a:ext>
              </a:extLst>
            </p:cNvPr>
            <p:cNvGrpSpPr/>
            <p:nvPr/>
          </p:nvGrpSpPr>
          <p:grpSpPr>
            <a:xfrm>
              <a:off x="624626" y="2543177"/>
              <a:ext cx="3713298" cy="1734100"/>
              <a:chOff x="624626" y="2543177"/>
              <a:chExt cx="3713298" cy="1734100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FA20AE5A-3E1A-4BA6-B81C-C7414039ADA8}"/>
                  </a:ext>
                </a:extLst>
              </p:cNvPr>
              <p:cNvGrpSpPr/>
              <p:nvPr/>
            </p:nvGrpSpPr>
            <p:grpSpPr>
              <a:xfrm>
                <a:off x="624626" y="2543177"/>
                <a:ext cx="2625618" cy="1734100"/>
                <a:chOff x="624626" y="2543177"/>
                <a:chExt cx="2625618" cy="1734100"/>
              </a:xfrm>
            </p:grpSpPr>
            <p:pic>
              <p:nvPicPr>
                <p:cNvPr id="8" name="Picture 7">
                  <a:extLst>
                    <a:ext uri="{FF2B5EF4-FFF2-40B4-BE49-F238E27FC236}">
                      <a16:creationId xmlns:a16="http://schemas.microsoft.com/office/drawing/2014/main" id="{A109E37A-AC0F-41D5-A3DD-CDFBF658C1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9"/>
                <a:srcRect l="1" t="2" r="-1343" b="-5536"/>
                <a:stretch/>
              </p:blipFill>
              <p:spPr>
                <a:xfrm>
                  <a:off x="1024128" y="2543177"/>
                  <a:ext cx="2226116" cy="637313"/>
                </a:xfrm>
                <a:prstGeom prst="rect">
                  <a:avLst/>
                </a:prstGeom>
              </p:spPr>
            </p:pic>
            <p:pic>
              <p:nvPicPr>
                <p:cNvPr id="12" name="Picture 11">
                  <a:extLst>
                    <a:ext uri="{FF2B5EF4-FFF2-40B4-BE49-F238E27FC236}">
                      <a16:creationId xmlns:a16="http://schemas.microsoft.com/office/drawing/2014/main" id="{29DC75A5-C6C8-4965-94AB-A7C3CFC4C18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0"/>
                <a:srcRect t="13582"/>
                <a:stretch/>
              </p:blipFill>
              <p:spPr>
                <a:xfrm>
                  <a:off x="624626" y="3225519"/>
                  <a:ext cx="1834575" cy="471335"/>
                </a:xfrm>
                <a:prstGeom prst="rect">
                  <a:avLst/>
                </a:prstGeom>
              </p:spPr>
            </p:pic>
            <p:pic>
              <p:nvPicPr>
                <p:cNvPr id="13" name="Picture 12">
                  <a:extLst>
                    <a:ext uri="{FF2B5EF4-FFF2-40B4-BE49-F238E27FC236}">
                      <a16:creationId xmlns:a16="http://schemas.microsoft.com/office/drawing/2014/main" id="{611200CE-4BE1-4FAA-98B3-F75BC4DA78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20879" y="3833117"/>
                  <a:ext cx="1834575" cy="444160"/>
                </a:xfrm>
                <a:prstGeom prst="rect">
                  <a:avLst/>
                </a:prstGeom>
              </p:spPr>
            </p:pic>
          </p:grpSp>
          <p:pic>
            <p:nvPicPr>
              <p:cNvPr id="19" name="Graphic 18">
                <a:extLst>
                  <a:ext uri="{FF2B5EF4-FFF2-40B4-BE49-F238E27FC236}">
                    <a16:creationId xmlns:a16="http://schemas.microsoft.com/office/drawing/2014/main" id="{EF595EAD-99DA-4584-B995-8E4C02DC61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/>
              </a:stretch>
            </p:blipFill>
            <p:spPr>
              <a:xfrm>
                <a:off x="2624429" y="3474737"/>
                <a:ext cx="1713495" cy="608928"/>
              </a:xfrm>
              <a:prstGeom prst="rect">
                <a:avLst/>
              </a:prstGeom>
            </p:spPr>
          </p:pic>
        </p:grpSp>
      </p:grpSp>
      <p:pic>
        <p:nvPicPr>
          <p:cNvPr id="35" name="Graphic 34">
            <a:extLst>
              <a:ext uri="{FF2B5EF4-FFF2-40B4-BE49-F238E27FC236}">
                <a16:creationId xmlns:a16="http://schemas.microsoft.com/office/drawing/2014/main" id="{43B7EFA3-BB86-4B55-AFAF-32D53F4ED2DC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1044044" y="2627410"/>
            <a:ext cx="989783" cy="468845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11DEB06-46E7-4CF8-9202-DCCA8441A588}"/>
              </a:ext>
            </a:extLst>
          </p:cNvPr>
          <p:cNvSpPr/>
          <p:nvPr/>
        </p:nvSpPr>
        <p:spPr>
          <a:xfrm>
            <a:off x="1356911" y="5333696"/>
            <a:ext cx="1839973" cy="556708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49CC5F18-AED9-4D6C-8ED8-BEB194C02030}"/>
              </a:ext>
            </a:extLst>
          </p:cNvPr>
          <p:cNvSpPr/>
          <p:nvPr/>
        </p:nvSpPr>
        <p:spPr>
          <a:xfrm>
            <a:off x="8863918" y="5326390"/>
            <a:ext cx="1960970" cy="556708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8BDE8CA-0FA3-4B81-AE61-51E9BD7DA867}"/>
              </a:ext>
            </a:extLst>
          </p:cNvPr>
          <p:cNvSpPr txBox="1"/>
          <p:nvPr/>
        </p:nvSpPr>
        <p:spPr>
          <a:xfrm>
            <a:off x="3196885" y="5409486"/>
            <a:ext cx="1614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Most probable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077BC37-1EAB-4260-9D74-FE1DAE8C72E1}"/>
              </a:ext>
            </a:extLst>
          </p:cNvPr>
          <p:cNvSpPr txBox="1"/>
          <p:nvPr/>
        </p:nvSpPr>
        <p:spPr>
          <a:xfrm>
            <a:off x="9036968" y="5890404"/>
            <a:ext cx="1614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Average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2C9220B-4CC8-4562-9CEA-162526DFC17D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9572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Custom 1">
      <a:majorFont>
        <a:latin typeface="Cambria"/>
        <a:ea typeface=""/>
        <a:cs typeface=""/>
      </a:majorFont>
      <a:minorFont>
        <a:latin typeface="Constantia"/>
        <a:ea typeface=""/>
        <a:cs typeface="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50535</TotalTime>
  <Words>595</Words>
  <Application>Microsoft Office PowerPoint</Application>
  <PresentationFormat>Widescreen</PresentationFormat>
  <Paragraphs>183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Calibri</vt:lpstr>
      <vt:lpstr>Cambria</vt:lpstr>
      <vt:lpstr>Constantia</vt:lpstr>
      <vt:lpstr>Times New Roman</vt:lpstr>
      <vt:lpstr>Tw Cen MT</vt:lpstr>
      <vt:lpstr>Wingdings 3</vt:lpstr>
      <vt:lpstr>Integral</vt:lpstr>
      <vt:lpstr>Statistical physics phy301</vt:lpstr>
      <vt:lpstr>Quantum mechanics with N-particles</vt:lpstr>
      <vt:lpstr>Quantum mechanics with N-particles</vt:lpstr>
      <vt:lpstr>Quantum statistics of non-interacting particles</vt:lpstr>
      <vt:lpstr>Quantum statistics of non-interacting particles</vt:lpstr>
      <vt:lpstr>Quantum statistics of non-interacting particles</vt:lpstr>
      <vt:lpstr>Quantum statistics of non-interacting particles</vt:lpstr>
      <vt:lpstr>Quantum statistics of non-interacting particles</vt:lpstr>
      <vt:lpstr>Quantum statistics of non-interacting particles</vt:lpstr>
      <vt:lpstr>Quantum statistics of non-interacting particles</vt:lpstr>
      <vt:lpstr>Quantum statistics of non-interacting particles</vt:lpstr>
      <vt:lpstr>Quantum statistics of non-interacting particles</vt:lpstr>
      <vt:lpstr>Quantum statistics of non-interacting particles</vt:lpstr>
      <vt:lpstr>Quantum statistics of non-interacting particles</vt:lpstr>
      <vt:lpstr>Quantum Mechanics</vt:lpstr>
      <vt:lpstr>Density matrix</vt:lpstr>
      <vt:lpstr>Density matrix</vt:lpstr>
      <vt:lpstr>Equilibrium in quantum system</vt:lpstr>
      <vt:lpstr>Quantum statistics of non-interacting particles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Mechanics phy101</dc:title>
  <dc:creator>Kok Wee Song</dc:creator>
  <cp:lastModifiedBy>Song Kok Wee</cp:lastModifiedBy>
  <cp:revision>1672</cp:revision>
  <dcterms:created xsi:type="dcterms:W3CDTF">2024-08-25T23:32:26Z</dcterms:created>
  <dcterms:modified xsi:type="dcterms:W3CDTF">2025-10-29T12:02:28Z</dcterms:modified>
</cp:coreProperties>
</file>