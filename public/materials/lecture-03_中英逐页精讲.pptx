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9"/>
  </p:notesMasterIdLst>
  <p:sldIdLst>
    <p:sldId id="266" r:id="rId2"/>
    <p:sldId id="430" r:id="rId34"/>
    <p:sldId id="431" r:id="rId35"/>
    <p:sldId id="298" r:id="rId3"/>
    <p:sldId id="432" r:id="rId36"/>
    <p:sldId id="433" r:id="rId37"/>
    <p:sldId id="434" r:id="rId38"/>
    <p:sldId id="313" r:id="rId4"/>
    <p:sldId id="435" r:id="rId39"/>
    <p:sldId id="436" r:id="rId40"/>
    <p:sldId id="437" r:id="rId41"/>
    <p:sldId id="315" r:id="rId5"/>
    <p:sldId id="438" r:id="rId42"/>
    <p:sldId id="439" r:id="rId43"/>
    <p:sldId id="440" r:id="rId44"/>
    <p:sldId id="316" r:id="rId6"/>
    <p:sldId id="441" r:id="rId45"/>
    <p:sldId id="442" r:id="rId46"/>
    <p:sldId id="443" r:id="rId47"/>
    <p:sldId id="321" r:id="rId7"/>
    <p:sldId id="444" r:id="rId48"/>
    <p:sldId id="445" r:id="rId49"/>
    <p:sldId id="446" r:id="rId50"/>
    <p:sldId id="317" r:id="rId8"/>
    <p:sldId id="447" r:id="rId51"/>
    <p:sldId id="448" r:id="rId52"/>
    <p:sldId id="449" r:id="rId53"/>
    <p:sldId id="322" r:id="rId9"/>
    <p:sldId id="450" r:id="rId54"/>
    <p:sldId id="451" r:id="rId55"/>
    <p:sldId id="452" r:id="rId56"/>
    <p:sldId id="323" r:id="rId10"/>
    <p:sldId id="453" r:id="rId57"/>
    <p:sldId id="454" r:id="rId58"/>
    <p:sldId id="455" r:id="rId59"/>
    <p:sldId id="320" r:id="rId11"/>
    <p:sldId id="456" r:id="rId60"/>
    <p:sldId id="457" r:id="rId61"/>
    <p:sldId id="458" r:id="rId62"/>
    <p:sldId id="324" r:id="rId12"/>
    <p:sldId id="459" r:id="rId63"/>
    <p:sldId id="460" r:id="rId64"/>
    <p:sldId id="461" r:id="rId65"/>
    <p:sldId id="325" r:id="rId13"/>
    <p:sldId id="462" r:id="rId66"/>
    <p:sldId id="463" r:id="rId67"/>
    <p:sldId id="464" r:id="rId68"/>
    <p:sldId id="326" r:id="rId14"/>
    <p:sldId id="465" r:id="rId69"/>
    <p:sldId id="466" r:id="rId70"/>
    <p:sldId id="467" r:id="rId71"/>
    <p:sldId id="428" r:id="rId15"/>
    <p:sldId id="468" r:id="rId72"/>
    <p:sldId id="469" r:id="rId73"/>
    <p:sldId id="429" r:id="rId16"/>
    <p:sldId id="470" r:id="rId74"/>
    <p:sldId id="471" r:id="rId75"/>
    <p:sldId id="327" r:id="rId17"/>
    <p:sldId id="472" r:id="rId76"/>
    <p:sldId id="473" r:id="rId77"/>
    <p:sldId id="474" r:id="rId78"/>
    <p:sldId id="329" r:id="rId18"/>
    <p:sldId id="475" r:id="rId79"/>
    <p:sldId id="476" r:id="rId80"/>
    <p:sldId id="477" r:id="rId81"/>
    <p:sldId id="330" r:id="rId19"/>
    <p:sldId id="478" r:id="rId82"/>
    <p:sldId id="479" r:id="rId83"/>
    <p:sldId id="480" r:id="rId84"/>
    <p:sldId id="331" r:id="rId20"/>
    <p:sldId id="481" r:id="rId85"/>
    <p:sldId id="482" r:id="rId86"/>
    <p:sldId id="483" r:id="rId87"/>
    <p:sldId id="332" r:id="rId21"/>
    <p:sldId id="484" r:id="rId88"/>
    <p:sldId id="485" r:id="rId89"/>
    <p:sldId id="486" r:id="rId90"/>
    <p:sldId id="333" r:id="rId22"/>
    <p:sldId id="487" r:id="rId91"/>
    <p:sldId id="488" r:id="rId92"/>
    <p:sldId id="489" r:id="rId93"/>
    <p:sldId id="328" r:id="rId23"/>
    <p:sldId id="490" r:id="rId94"/>
    <p:sldId id="491" r:id="rId95"/>
    <p:sldId id="492" r:id="rId96"/>
    <p:sldId id="414" r:id="rId24"/>
    <p:sldId id="493" r:id="rId97"/>
    <p:sldId id="494" r:id="rId98"/>
    <p:sldId id="495" r:id="rId99"/>
    <p:sldId id="334" r:id="rId25"/>
    <p:sldId id="496" r:id="rId100"/>
    <p:sldId id="497" r:id="rId101"/>
    <p:sldId id="498" r:id="rId102"/>
    <p:sldId id="411" r:id="rId26"/>
    <p:sldId id="499" r:id="rId103"/>
    <p:sldId id="500" r:id="rId104"/>
    <p:sldId id="501" r:id="rId105"/>
    <p:sldId id="412" r:id="rId27"/>
    <p:sldId id="502" r:id="rId106"/>
    <p:sldId id="503" r:id="rId107"/>
    <p:sldId id="504" r:id="rId108"/>
    <p:sldId id="413" r:id="rId28"/>
    <p:sldId id="505" r:id="rId109"/>
    <p:sldId id="506" r:id="rId110"/>
    <p:sldId id="507" r:id="rId1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svg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svg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image" Target="../media/image14.emf"/><Relationship Id="rId9" Type="http://schemas.openxmlformats.org/officeDocument/2006/relationships/image" Target="../media/image19.emf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11.png"/><Relationship Id="rId3" Type="http://schemas.openxmlformats.org/officeDocument/2006/relationships/image" Target="../media/image12.emf"/><Relationship Id="rId7" Type="http://schemas.openxmlformats.org/officeDocument/2006/relationships/image" Target="../media/image25.emf"/><Relationship Id="rId12" Type="http://schemas.openxmlformats.org/officeDocument/2006/relationships/image" Target="../media/image29.sv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11" Type="http://schemas.openxmlformats.org/officeDocument/2006/relationships/image" Target="../media/image28.png"/><Relationship Id="rId5" Type="http://schemas.openxmlformats.org/officeDocument/2006/relationships/image" Target="../media/image16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13.emf"/><Relationship Id="rId7" Type="http://schemas.openxmlformats.org/officeDocument/2006/relationships/image" Target="../media/image30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image" Target="../media/image11.png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6.emf"/><Relationship Id="rId9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12" Type="http://schemas.openxmlformats.org/officeDocument/2006/relationships/image" Target="../media/image37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36.png"/><Relationship Id="rId5" Type="http://schemas.openxmlformats.org/officeDocument/2006/relationships/image" Target="../media/image3.emf"/><Relationship Id="rId10" Type="http://schemas.openxmlformats.org/officeDocument/2006/relationships/image" Target="../media/image35.emf"/><Relationship Id="rId4" Type="http://schemas.openxmlformats.org/officeDocument/2006/relationships/image" Target="../media/image7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1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8.emf"/><Relationship Id="rId7" Type="http://schemas.openxmlformats.org/officeDocument/2006/relationships/image" Target="../media/image25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18.emf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10" Type="http://schemas.openxmlformats.org/officeDocument/2006/relationships/image" Target="../media/image11.png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11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7.emf"/><Relationship Id="rId5" Type="http://schemas.openxmlformats.org/officeDocument/2006/relationships/image" Target="../media/image61.emf"/><Relationship Id="rId10" Type="http://schemas.openxmlformats.org/officeDocument/2006/relationships/image" Target="../media/image66.emf"/><Relationship Id="rId4" Type="http://schemas.openxmlformats.org/officeDocument/2006/relationships/image" Target="../media/image60.emf"/><Relationship Id="rId9" Type="http://schemas.openxmlformats.org/officeDocument/2006/relationships/image" Target="../media/image6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image" Target="../media/image61.emf"/><Relationship Id="rId3" Type="http://schemas.openxmlformats.org/officeDocument/2006/relationships/image" Target="../media/image59.emf"/><Relationship Id="rId7" Type="http://schemas.openxmlformats.org/officeDocument/2006/relationships/image" Target="../media/image68.emf"/><Relationship Id="rId12" Type="http://schemas.openxmlformats.org/officeDocument/2006/relationships/image" Target="../media/image67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image" Target="../media/image66.emf"/><Relationship Id="rId5" Type="http://schemas.openxmlformats.org/officeDocument/2006/relationships/image" Target="../media/image62.emf"/><Relationship Id="rId15" Type="http://schemas.openxmlformats.org/officeDocument/2006/relationships/image" Target="../media/image11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70.emf"/><Relationship Id="rId14" Type="http://schemas.openxmlformats.org/officeDocument/2006/relationships/image" Target="../media/image7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image" Target="../media/image75.emf"/><Relationship Id="rId3" Type="http://schemas.openxmlformats.org/officeDocument/2006/relationships/image" Target="../media/image59.emf"/><Relationship Id="rId7" Type="http://schemas.openxmlformats.org/officeDocument/2006/relationships/image" Target="../media/image72.emf"/><Relationship Id="rId12" Type="http://schemas.openxmlformats.org/officeDocument/2006/relationships/image" Target="../media/image74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3.emf"/><Relationship Id="rId5" Type="http://schemas.openxmlformats.org/officeDocument/2006/relationships/image" Target="../media/image60.emf"/><Relationship Id="rId15" Type="http://schemas.openxmlformats.org/officeDocument/2006/relationships/image" Target="../media/image11.png"/><Relationship Id="rId10" Type="http://schemas.openxmlformats.org/officeDocument/2006/relationships/image" Target="../media/image66.emf"/><Relationship Id="rId4" Type="http://schemas.openxmlformats.org/officeDocument/2006/relationships/image" Target="../media/image61.emf"/><Relationship Id="rId9" Type="http://schemas.openxmlformats.org/officeDocument/2006/relationships/image" Target="../media/image58.emf"/><Relationship Id="rId14" Type="http://schemas.openxmlformats.org/officeDocument/2006/relationships/image" Target="../media/image7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78.emf"/><Relationship Id="rId18" Type="http://schemas.openxmlformats.org/officeDocument/2006/relationships/image" Target="../media/image11.png"/><Relationship Id="rId3" Type="http://schemas.openxmlformats.org/officeDocument/2006/relationships/image" Target="../media/image59.emf"/><Relationship Id="rId7" Type="http://schemas.openxmlformats.org/officeDocument/2006/relationships/image" Target="../media/image66.emf"/><Relationship Id="rId12" Type="http://schemas.openxmlformats.org/officeDocument/2006/relationships/image" Target="../media/image77.emf"/><Relationship Id="rId17" Type="http://schemas.openxmlformats.org/officeDocument/2006/relationships/image" Target="../media/image82.emf"/><Relationship Id="rId2" Type="http://schemas.openxmlformats.org/officeDocument/2006/relationships/image" Target="../media/image58.emf"/><Relationship Id="rId16" Type="http://schemas.openxmlformats.org/officeDocument/2006/relationships/image" Target="../media/image8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76.emf"/><Relationship Id="rId5" Type="http://schemas.openxmlformats.org/officeDocument/2006/relationships/image" Target="../media/image61.emf"/><Relationship Id="rId15" Type="http://schemas.openxmlformats.org/officeDocument/2006/relationships/image" Target="../media/image80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63.emf"/><Relationship Id="rId14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21" Type="http://schemas.openxmlformats.org/officeDocument/2006/relationships/image" Target="../media/image102.svg"/><Relationship Id="rId34" Type="http://schemas.openxmlformats.org/officeDocument/2006/relationships/image" Target="../media/image115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14.svg"/><Relationship Id="rId38" Type="http://schemas.openxmlformats.org/officeDocument/2006/relationships/image" Target="../media/image11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3.png"/><Relationship Id="rId37" Type="http://schemas.openxmlformats.org/officeDocument/2006/relationships/image" Target="../media/image118.sv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7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16.svg"/><Relationship Id="rId8" Type="http://schemas.openxmlformats.org/officeDocument/2006/relationships/image" Target="../media/image89.png"/><Relationship Id="rId3" Type="http://schemas.openxmlformats.org/officeDocument/2006/relationships/image" Target="../media/image84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84.svg"/><Relationship Id="rId21" Type="http://schemas.openxmlformats.org/officeDocument/2006/relationships/image" Target="../media/image102.svg"/><Relationship Id="rId34" Type="http://schemas.openxmlformats.org/officeDocument/2006/relationships/image" Target="../media/image121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20.sv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9.pn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22.svg"/><Relationship Id="rId8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32.svg"/><Relationship Id="rId5" Type="http://schemas.openxmlformats.org/officeDocument/2006/relationships/image" Target="../media/image126.emf"/><Relationship Id="rId10" Type="http://schemas.openxmlformats.org/officeDocument/2006/relationships/image" Target="../media/image131.png"/><Relationship Id="rId4" Type="http://schemas.openxmlformats.org/officeDocument/2006/relationships/image" Target="../media/image125.emf"/><Relationship Id="rId9" Type="http://schemas.openxmlformats.org/officeDocument/2006/relationships/image" Target="../media/image13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image" Target="../media/image138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37.svg"/><Relationship Id="rId17" Type="http://schemas.openxmlformats.org/officeDocument/2006/relationships/image" Target="../media/image11.png"/><Relationship Id="rId2" Type="http://schemas.openxmlformats.org/officeDocument/2006/relationships/image" Target="../media/image123.emf"/><Relationship Id="rId16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36.png"/><Relationship Id="rId5" Type="http://schemas.openxmlformats.org/officeDocument/2006/relationships/image" Target="../media/image127.emf"/><Relationship Id="rId15" Type="http://schemas.openxmlformats.org/officeDocument/2006/relationships/image" Target="../media/image140.png"/><Relationship Id="rId10" Type="http://schemas.openxmlformats.org/officeDocument/2006/relationships/image" Target="../media/image135.svg"/><Relationship Id="rId4" Type="http://schemas.openxmlformats.org/officeDocument/2006/relationships/image" Target="../media/image125.emf"/><Relationship Id="rId9" Type="http://schemas.openxmlformats.org/officeDocument/2006/relationships/image" Target="../media/image134.png"/><Relationship Id="rId14" Type="http://schemas.openxmlformats.org/officeDocument/2006/relationships/image" Target="../media/image13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svg"/><Relationship Id="rId3" Type="http://schemas.openxmlformats.org/officeDocument/2006/relationships/image" Target="../media/image143.emf"/><Relationship Id="rId7" Type="http://schemas.openxmlformats.org/officeDocument/2006/relationships/image" Target="../media/image147.png"/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svg"/><Relationship Id="rId11" Type="http://schemas.openxmlformats.org/officeDocument/2006/relationships/image" Target="../media/image11.png"/><Relationship Id="rId5" Type="http://schemas.openxmlformats.org/officeDocument/2006/relationships/image" Target="../media/image145.png"/><Relationship Id="rId10" Type="http://schemas.openxmlformats.org/officeDocument/2006/relationships/image" Target="../media/image150.svg"/><Relationship Id="rId4" Type="http://schemas.openxmlformats.org/officeDocument/2006/relationships/image" Target="../media/image144.emf"/><Relationship Id="rId9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svg"/><Relationship Id="rId13" Type="http://schemas.openxmlformats.org/officeDocument/2006/relationships/image" Target="../media/image68.emf"/><Relationship Id="rId3" Type="http://schemas.openxmlformats.org/officeDocument/2006/relationships/image" Target="../media/image124.emf"/><Relationship Id="rId7" Type="http://schemas.openxmlformats.org/officeDocument/2006/relationships/image" Target="../media/image136.png"/><Relationship Id="rId12" Type="http://schemas.openxmlformats.org/officeDocument/2006/relationships/image" Target="../media/image152.emf"/><Relationship Id="rId2" Type="http://schemas.openxmlformats.org/officeDocument/2006/relationships/image" Target="../media/image123.emf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1.emf"/><Relationship Id="rId5" Type="http://schemas.openxmlformats.org/officeDocument/2006/relationships/image" Target="../media/image127.emf"/><Relationship Id="rId15" Type="http://schemas.openxmlformats.org/officeDocument/2006/relationships/image" Target="../media/image154.emf"/><Relationship Id="rId10" Type="http://schemas.openxmlformats.org/officeDocument/2006/relationships/image" Target="../media/image150.svg"/><Relationship Id="rId4" Type="http://schemas.openxmlformats.org/officeDocument/2006/relationships/image" Target="../media/image125.emf"/><Relationship Id="rId9" Type="http://schemas.openxmlformats.org/officeDocument/2006/relationships/image" Target="../media/image149.png"/><Relationship Id="rId14" Type="http://schemas.openxmlformats.org/officeDocument/2006/relationships/image" Target="../media/image1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36.png"/><Relationship Id="rId3" Type="http://schemas.openxmlformats.org/officeDocument/2006/relationships/image" Target="../media/image124.emf"/><Relationship Id="rId7" Type="http://schemas.openxmlformats.org/officeDocument/2006/relationships/image" Target="../media/image152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6.emf"/><Relationship Id="rId5" Type="http://schemas.openxmlformats.org/officeDocument/2006/relationships/image" Target="../media/image127.emf"/><Relationship Id="rId15" Type="http://schemas.openxmlformats.org/officeDocument/2006/relationships/image" Target="../media/image151.emf"/><Relationship Id="rId10" Type="http://schemas.openxmlformats.org/officeDocument/2006/relationships/image" Target="../media/image155.emf"/><Relationship Id="rId4" Type="http://schemas.openxmlformats.org/officeDocument/2006/relationships/image" Target="../media/image125.emf"/><Relationship Id="rId9" Type="http://schemas.openxmlformats.org/officeDocument/2006/relationships/image" Target="../media/image154.emf"/><Relationship Id="rId14" Type="http://schemas.openxmlformats.org/officeDocument/2006/relationships/image" Target="../media/image13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image" Target="../media/image162.emf"/><Relationship Id="rId3" Type="http://schemas.openxmlformats.org/officeDocument/2006/relationships/image" Target="../media/image123.emf"/><Relationship Id="rId7" Type="http://schemas.openxmlformats.org/officeDocument/2006/relationships/image" Target="../media/image126.emf"/><Relationship Id="rId12" Type="http://schemas.openxmlformats.org/officeDocument/2006/relationships/image" Target="../media/image161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60.emf"/><Relationship Id="rId5" Type="http://schemas.openxmlformats.org/officeDocument/2006/relationships/image" Target="../media/image125.emf"/><Relationship Id="rId15" Type="http://schemas.openxmlformats.org/officeDocument/2006/relationships/image" Target="../media/image11.png"/><Relationship Id="rId10" Type="http://schemas.openxmlformats.org/officeDocument/2006/relationships/image" Target="../media/image159.emf"/><Relationship Id="rId4" Type="http://schemas.openxmlformats.org/officeDocument/2006/relationships/image" Target="../media/image124.emf"/><Relationship Id="rId9" Type="http://schemas.openxmlformats.org/officeDocument/2006/relationships/image" Target="../media/image158.emf"/><Relationship Id="rId14" Type="http://schemas.openxmlformats.org/officeDocument/2006/relationships/image" Target="../media/image1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svg"/><Relationship Id="rId5" Type="http://schemas.openxmlformats.org/officeDocument/2006/relationships/image" Target="../media/image164.png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1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6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68.png"/><Relationship Id="rId5" Type="http://schemas.openxmlformats.org/officeDocument/2006/relationships/image" Target="../media/image5.emf"/><Relationship Id="rId10" Type="http://schemas.openxmlformats.org/officeDocument/2006/relationships/image" Target="../media/image167.png"/><Relationship Id="rId4" Type="http://schemas.openxmlformats.org/officeDocument/2006/relationships/image" Target="../media/image4.emf"/><Relationship Id="rId9" Type="http://schemas.openxmlformats.org/officeDocument/2006/relationships/image" Target="../media/image1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13" Type="http://schemas.openxmlformats.org/officeDocument/2006/relationships/image" Target="../media/image179.emf"/><Relationship Id="rId18" Type="http://schemas.openxmlformats.org/officeDocument/2006/relationships/image" Target="../media/image184.png"/><Relationship Id="rId3" Type="http://schemas.openxmlformats.org/officeDocument/2006/relationships/image" Target="../media/image170.emf"/><Relationship Id="rId7" Type="http://schemas.openxmlformats.org/officeDocument/2006/relationships/image" Target="../media/image160.emf"/><Relationship Id="rId12" Type="http://schemas.openxmlformats.org/officeDocument/2006/relationships/image" Target="../media/image178.emf"/><Relationship Id="rId17" Type="http://schemas.openxmlformats.org/officeDocument/2006/relationships/image" Target="../media/image183.svg"/><Relationship Id="rId2" Type="http://schemas.openxmlformats.org/officeDocument/2006/relationships/image" Target="../media/image152.emf"/><Relationship Id="rId16" Type="http://schemas.openxmlformats.org/officeDocument/2006/relationships/image" Target="../media/image182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emf"/><Relationship Id="rId11" Type="http://schemas.openxmlformats.org/officeDocument/2006/relationships/image" Target="../media/image177.emf"/><Relationship Id="rId5" Type="http://schemas.openxmlformats.org/officeDocument/2006/relationships/image" Target="../media/image172.emf"/><Relationship Id="rId15" Type="http://schemas.openxmlformats.org/officeDocument/2006/relationships/image" Target="../media/image181.emf"/><Relationship Id="rId10" Type="http://schemas.openxmlformats.org/officeDocument/2006/relationships/image" Target="../media/image176.emf"/><Relationship Id="rId19" Type="http://schemas.openxmlformats.org/officeDocument/2006/relationships/image" Target="../media/image185.svg"/><Relationship Id="rId4" Type="http://schemas.openxmlformats.org/officeDocument/2006/relationships/image" Target="../media/image171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image" Target="../media/image181.emf"/><Relationship Id="rId3" Type="http://schemas.openxmlformats.org/officeDocument/2006/relationships/image" Target="../media/image183.svg"/><Relationship Id="rId7" Type="http://schemas.openxmlformats.org/officeDocument/2006/relationships/image" Target="../media/image180.emf"/><Relationship Id="rId12" Type="http://schemas.openxmlformats.org/officeDocument/2006/relationships/image" Target="../media/image188.emf"/><Relationship Id="rId2" Type="http://schemas.openxmlformats.org/officeDocument/2006/relationships/image" Target="../media/image182.png"/><Relationship Id="rId16" Type="http://schemas.openxmlformats.org/officeDocument/2006/relationships/image" Target="../media/image17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emf"/><Relationship Id="rId11" Type="http://schemas.openxmlformats.org/officeDocument/2006/relationships/image" Target="../media/image127.emf"/><Relationship Id="rId5" Type="http://schemas.openxmlformats.org/officeDocument/2006/relationships/image" Target="../media/image185.svg"/><Relationship Id="rId15" Type="http://schemas.openxmlformats.org/officeDocument/2006/relationships/image" Target="../media/image176.emf"/><Relationship Id="rId10" Type="http://schemas.openxmlformats.org/officeDocument/2006/relationships/image" Target="../media/image151.emf"/><Relationship Id="rId4" Type="http://schemas.openxmlformats.org/officeDocument/2006/relationships/image" Target="../media/image184.png"/><Relationship Id="rId9" Type="http://schemas.openxmlformats.org/officeDocument/2006/relationships/image" Target="../media/image187.emf"/><Relationship Id="rId1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image" Target="../media/image192.emf"/><Relationship Id="rId18" Type="http://schemas.openxmlformats.org/officeDocument/2006/relationships/image" Target="../media/image184.png"/><Relationship Id="rId3" Type="http://schemas.openxmlformats.org/officeDocument/2006/relationships/image" Target="../media/image180.emf"/><Relationship Id="rId21" Type="http://schemas.openxmlformats.org/officeDocument/2006/relationships/image" Target="../media/image177.emf"/><Relationship Id="rId7" Type="http://schemas.openxmlformats.org/officeDocument/2006/relationships/image" Target="../media/image152.emf"/><Relationship Id="rId12" Type="http://schemas.openxmlformats.org/officeDocument/2006/relationships/image" Target="../media/image191.emf"/><Relationship Id="rId17" Type="http://schemas.openxmlformats.org/officeDocument/2006/relationships/image" Target="../media/image183.svg"/><Relationship Id="rId2" Type="http://schemas.openxmlformats.org/officeDocument/2006/relationships/image" Target="../media/image179.emf"/><Relationship Id="rId16" Type="http://schemas.openxmlformats.org/officeDocument/2006/relationships/image" Target="../media/image182.png"/><Relationship Id="rId20" Type="http://schemas.openxmlformats.org/officeDocument/2006/relationships/image" Target="../media/image1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emf"/><Relationship Id="rId11" Type="http://schemas.openxmlformats.org/officeDocument/2006/relationships/image" Target="../media/image190.emf"/><Relationship Id="rId5" Type="http://schemas.openxmlformats.org/officeDocument/2006/relationships/image" Target="../media/image127.emf"/><Relationship Id="rId15" Type="http://schemas.openxmlformats.org/officeDocument/2006/relationships/image" Target="../media/image11.png"/><Relationship Id="rId10" Type="http://schemas.openxmlformats.org/officeDocument/2006/relationships/image" Target="../media/image181.emf"/><Relationship Id="rId19" Type="http://schemas.openxmlformats.org/officeDocument/2006/relationships/image" Target="../media/image185.svg"/><Relationship Id="rId4" Type="http://schemas.openxmlformats.org/officeDocument/2006/relationships/image" Target="../media/image151.emf"/><Relationship Id="rId9" Type="http://schemas.openxmlformats.org/officeDocument/2006/relationships/image" Target="../media/image189.emf"/><Relationship Id="rId14" Type="http://schemas.openxmlformats.org/officeDocument/2006/relationships/image" Target="../media/image19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image" Target="../media/image195.emf"/><Relationship Id="rId18" Type="http://schemas.openxmlformats.org/officeDocument/2006/relationships/image" Target="../media/image199.png"/><Relationship Id="rId26" Type="http://schemas.openxmlformats.org/officeDocument/2006/relationships/image" Target="../media/image185.svg"/><Relationship Id="rId3" Type="http://schemas.openxmlformats.org/officeDocument/2006/relationships/image" Target="../media/image180.emf"/><Relationship Id="rId21" Type="http://schemas.openxmlformats.org/officeDocument/2006/relationships/image" Target="../media/image202.svg"/><Relationship Id="rId7" Type="http://schemas.openxmlformats.org/officeDocument/2006/relationships/image" Target="../media/image173.emf"/><Relationship Id="rId12" Type="http://schemas.openxmlformats.org/officeDocument/2006/relationships/image" Target="../media/image194.emf"/><Relationship Id="rId17" Type="http://schemas.openxmlformats.org/officeDocument/2006/relationships/image" Target="../media/image198.emf"/><Relationship Id="rId25" Type="http://schemas.openxmlformats.org/officeDocument/2006/relationships/image" Target="../media/image184.png"/><Relationship Id="rId2" Type="http://schemas.openxmlformats.org/officeDocument/2006/relationships/image" Target="../media/image179.emf"/><Relationship Id="rId16" Type="http://schemas.openxmlformats.org/officeDocument/2006/relationships/image" Target="../media/image197.emf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emf"/><Relationship Id="rId11" Type="http://schemas.openxmlformats.org/officeDocument/2006/relationships/image" Target="../media/image193.emf"/><Relationship Id="rId24" Type="http://schemas.openxmlformats.org/officeDocument/2006/relationships/image" Target="../media/image183.svg"/><Relationship Id="rId5" Type="http://schemas.openxmlformats.org/officeDocument/2006/relationships/image" Target="../media/image127.emf"/><Relationship Id="rId15" Type="http://schemas.openxmlformats.org/officeDocument/2006/relationships/image" Target="../media/image191.emf"/><Relationship Id="rId23" Type="http://schemas.openxmlformats.org/officeDocument/2006/relationships/image" Target="../media/image182.png"/><Relationship Id="rId28" Type="http://schemas.openxmlformats.org/officeDocument/2006/relationships/image" Target="../media/image177.emf"/><Relationship Id="rId10" Type="http://schemas.openxmlformats.org/officeDocument/2006/relationships/image" Target="../media/image190.emf"/><Relationship Id="rId19" Type="http://schemas.openxmlformats.org/officeDocument/2006/relationships/image" Target="../media/image200.svg"/><Relationship Id="rId4" Type="http://schemas.openxmlformats.org/officeDocument/2006/relationships/image" Target="../media/image151.emf"/><Relationship Id="rId9" Type="http://schemas.openxmlformats.org/officeDocument/2006/relationships/image" Target="../media/image181.emf"/><Relationship Id="rId14" Type="http://schemas.openxmlformats.org/officeDocument/2006/relationships/image" Target="../media/image196.emf"/><Relationship Id="rId22" Type="http://schemas.openxmlformats.org/officeDocument/2006/relationships/image" Target="../media/image11.png"/><Relationship Id="rId27" Type="http://schemas.openxmlformats.org/officeDocument/2006/relationships/image" Target="../media/image176.emf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Microcanonical</a:t>
            </a:r>
            <a:r>
              <a:rPr lang="en-US" dirty="0"/>
              <a:t>, canonical, grand canonical ensemble</a:t>
            </a:r>
          </a:p>
          <a:p>
            <a:endParaRPr lang="en-US" dirty="0"/>
          </a:p>
          <a:p>
            <a:r>
              <a:rPr lang="en-US" dirty="0"/>
              <a:t>Laws of thermodynamic and idea gas</a:t>
            </a:r>
          </a:p>
        </p:txBody>
      </p:sp>
    </p:spTree>
    <p:extLst>
      <p:ext uri="{BB962C8B-B14F-4D97-AF65-F5344CB8AC3E}">
        <p14:creationId xmlns:p14="http://schemas.microsoft.com/office/powerpoint/2010/main" val="94445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46971" y="4943905"/>
            <a:ext cx="5416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postulate uniform probability distribution. All microstates with E are equally probable.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369781" y="4980711"/>
            <a:ext cx="3323960" cy="794191"/>
            <a:chOff x="7369781" y="4980711"/>
            <a:chExt cx="3323960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369781" y="5313237"/>
              <a:ext cx="3323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44612" y="6293259"/>
            <a:ext cx="754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get the laws of thermodynamic from this model?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858" y="6293258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YES!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01A2CD-04DD-4058-A10B-127330B240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4221" y="5359404"/>
            <a:ext cx="1792129" cy="6420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616CA0-F31F-4A25-9AF9-49CE3A7E52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8529" y="6066331"/>
            <a:ext cx="2220810" cy="7645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24C5F8-C0BA-4002-ABA2-E8E754451F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of thermodynamic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818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temperature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2E035-6524-4D98-B03A-B7B0E0D545E4}"/>
              </a:ext>
            </a:extLst>
          </p:cNvPr>
          <p:cNvGrpSpPr/>
          <p:nvPr/>
        </p:nvGrpSpPr>
        <p:grpSpPr>
          <a:xfrm>
            <a:off x="636306" y="2879973"/>
            <a:ext cx="7025276" cy="1539998"/>
            <a:chOff x="636306" y="2879973"/>
            <a:chExt cx="7025276" cy="15399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6BD59A-3484-4F6B-8A7D-A5129B4AACAC}"/>
              </a:ext>
            </a:extLst>
          </p:cNvPr>
          <p:cNvGrpSpPr/>
          <p:nvPr/>
        </p:nvGrpSpPr>
        <p:grpSpPr>
          <a:xfrm>
            <a:off x="176356" y="4293715"/>
            <a:ext cx="8960256" cy="1377244"/>
            <a:chOff x="176356" y="4293715"/>
            <a:chExt cx="8960256" cy="137724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3007" y="4755465"/>
              <a:ext cx="6083605" cy="91549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76356" y="4293715"/>
              <a:ext cx="4521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The distribution for the total system: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7973F5-CBF1-4752-838A-C1C8984CF855}"/>
              </a:ext>
            </a:extLst>
          </p:cNvPr>
          <p:cNvGrpSpPr/>
          <p:nvPr/>
        </p:nvGrpSpPr>
        <p:grpSpPr>
          <a:xfrm>
            <a:off x="7716446" y="3608291"/>
            <a:ext cx="4160934" cy="369332"/>
            <a:chOff x="7716446" y="3608291"/>
            <a:chExt cx="4160934" cy="36933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0112" y="3675542"/>
              <a:ext cx="1837268" cy="25762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7716446" y="3608291"/>
              <a:ext cx="21961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Separate microstates: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FD431D-B966-4B27-8F69-CB10944BC9D5}"/>
              </a:ext>
            </a:extLst>
          </p:cNvPr>
          <p:cNvGrpSpPr/>
          <p:nvPr/>
        </p:nvGrpSpPr>
        <p:grpSpPr>
          <a:xfrm>
            <a:off x="8384028" y="2983491"/>
            <a:ext cx="2861592" cy="369332"/>
            <a:chOff x="8384028" y="2983491"/>
            <a:chExt cx="2861592" cy="36933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57761" y="3081769"/>
              <a:ext cx="1387859" cy="212989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8384028" y="2983491"/>
              <a:ext cx="1384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energy: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FDB6E5-A3F1-44BA-92F5-8C691EDC5002}"/>
              </a:ext>
            </a:extLst>
          </p:cNvPr>
          <p:cNvGrpSpPr/>
          <p:nvPr/>
        </p:nvGrpSpPr>
        <p:grpSpPr>
          <a:xfrm>
            <a:off x="7152535" y="4100752"/>
            <a:ext cx="4793205" cy="369332"/>
            <a:chOff x="7152535" y="4100752"/>
            <a:chExt cx="4793205" cy="369332"/>
          </a:xfrm>
        </p:grpSpPr>
        <p:sp>
          <p:nvSpPr>
            <p:cNvPr id="16" name="Rectangle 15"/>
            <p:cNvSpPr/>
            <p:nvPr/>
          </p:nvSpPr>
          <p:spPr>
            <a:xfrm>
              <a:off x="7152535" y="4100752"/>
              <a:ext cx="17405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microstates: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21596" y="4148917"/>
              <a:ext cx="2824144" cy="26656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904371-F2B4-4F77-B4ED-7F429CA476B1}"/>
              </a:ext>
            </a:extLst>
          </p:cNvPr>
          <p:cNvGrpSpPr/>
          <p:nvPr/>
        </p:nvGrpSpPr>
        <p:grpSpPr>
          <a:xfrm>
            <a:off x="945414" y="5476952"/>
            <a:ext cx="3731086" cy="663566"/>
            <a:chOff x="945414" y="5476952"/>
            <a:chExt cx="3731086" cy="663566"/>
          </a:xfrm>
        </p:grpSpPr>
        <p:sp>
          <p:nvSpPr>
            <p:cNvPr id="18" name="TextBox 17"/>
            <p:cNvSpPr txBox="1"/>
            <p:nvPr/>
          </p:nvSpPr>
          <p:spPr>
            <a:xfrm>
              <a:off x="945414" y="5678853"/>
              <a:ext cx="3731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</a:t>
              </a:r>
              <a:r>
                <a:rPr lang="en-US" sz="2400"/>
                <a:t>of microstates? </a:t>
              </a:r>
              <a:endParaRPr lang="en-US" sz="24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4184152" y="5476952"/>
              <a:ext cx="492348" cy="32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34B811E-50BC-434F-A344-345ACAD6E1F0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D020B2-EA82-4943-8DCB-06DCDC5B532B}"/>
              </a:ext>
            </a:extLst>
          </p:cNvPr>
          <p:cNvGrpSpPr/>
          <p:nvPr/>
        </p:nvGrpSpPr>
        <p:grpSpPr>
          <a:xfrm>
            <a:off x="10040112" y="4408039"/>
            <a:ext cx="1128708" cy="734885"/>
            <a:chOff x="10040112" y="4408039"/>
            <a:chExt cx="1128708" cy="734885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68CEC3D-0DDC-4E0C-8C1C-D7183A5EB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40112" y="4568309"/>
              <a:ext cx="1128708" cy="574615"/>
            </a:xfrm>
            <a:prstGeom prst="rect">
              <a:avLst/>
            </a:prstGeom>
          </p:spPr>
        </p:pic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F95A2539-B83D-4482-AE2B-5CF2CD0C53D8}"/>
                </a:ext>
              </a:extLst>
            </p:cNvPr>
            <p:cNvSpPr/>
            <p:nvPr/>
          </p:nvSpPr>
          <p:spPr>
            <a:xfrm rot="5400000">
              <a:off x="10517894" y="4198647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5291A6-82B3-4DA7-A6E9-89E0E07BE4A4}"/>
              </a:ext>
            </a:extLst>
          </p:cNvPr>
          <p:cNvGrpSpPr/>
          <p:nvPr/>
        </p:nvGrpSpPr>
        <p:grpSpPr>
          <a:xfrm>
            <a:off x="11127984" y="4423934"/>
            <a:ext cx="1115711" cy="702816"/>
            <a:chOff x="11127984" y="4423934"/>
            <a:chExt cx="1115711" cy="702816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CD1CF87D-DADD-44BC-A62D-0BC484C65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27984" y="4558751"/>
              <a:ext cx="1115711" cy="567999"/>
            </a:xfrm>
            <a:prstGeom prst="rect">
              <a:avLst/>
            </a:prstGeom>
          </p:spPr>
        </p:pic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6FF705C6-B1C6-490E-975D-69A56966015E}"/>
                </a:ext>
              </a:extLst>
            </p:cNvPr>
            <p:cNvSpPr/>
            <p:nvPr/>
          </p:nvSpPr>
          <p:spPr>
            <a:xfrm rot="5400000">
              <a:off x="11398167" y="4214542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BE16FB56-F30D-4D3D-B986-64FC84AA27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D654A03-2D25-41FD-8342-3BE22B7F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95735" y="5012045"/>
            <a:ext cx="32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major contribution is from saddle point: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070" y="5872309"/>
            <a:ext cx="3472591" cy="5284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225" y="6221035"/>
            <a:ext cx="4263026" cy="48720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573" y="5068785"/>
            <a:ext cx="3280547" cy="5723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42FBBD-6E66-4250-8C6D-01A5DFB891AC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29" name="TextBox 28"/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FEAF00-176A-456B-9721-3A4E51B3ECB2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964FCF0-DF60-46F6-B107-C2606124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7E048E-D207-49A7-B5A1-639001316A93}"/>
                </a:ext>
              </a:extLst>
            </p:cNvPr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6594950-9DCE-4395-9642-65FAF51F6D63}"/>
              </a:ext>
            </a:extLst>
          </p:cNvPr>
          <p:cNvSpPr txBox="1"/>
          <p:nvPr/>
        </p:nvSpPr>
        <p:spPr>
          <a:xfrm>
            <a:off x="4656225" y="5850633"/>
            <a:ext cx="2149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Maximum entropy</a:t>
            </a:r>
            <a:endParaRPr lang="en-MY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62129-2624-49E1-99AE-209BD4B052C7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0522CFD-5257-488E-B1F4-1ADF144993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557" y="6379459"/>
            <a:ext cx="3903615" cy="528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E490EE-208C-416F-9F70-8080131A17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03971 -0.27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2" y="-135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48148E-6 L 0.02213 -0.2682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7" y="-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149" y="3471997"/>
            <a:ext cx="2215551" cy="2635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76887" y="3745141"/>
            <a:ext cx="99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(Entropy)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 flipH="1">
            <a:off x="10803735" y="4582763"/>
            <a:ext cx="368733" cy="27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228" y="5466054"/>
            <a:ext cx="3638972" cy="5825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5550" y="6464218"/>
            <a:ext cx="1851406" cy="31890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F44F274-2630-4039-B8CC-7EB95B0176A5}"/>
              </a:ext>
            </a:extLst>
          </p:cNvPr>
          <p:cNvGrpSpPr/>
          <p:nvPr/>
        </p:nvGrpSpPr>
        <p:grpSpPr>
          <a:xfrm>
            <a:off x="3613206" y="6048564"/>
            <a:ext cx="3731194" cy="762463"/>
            <a:chOff x="3613206" y="6048564"/>
            <a:chExt cx="3731194" cy="762463"/>
          </a:xfrm>
        </p:grpSpPr>
        <p:sp>
          <p:nvSpPr>
            <p:cNvPr id="13" name="Left Brace 12"/>
            <p:cNvSpPr/>
            <p:nvPr/>
          </p:nvSpPr>
          <p:spPr>
            <a:xfrm rot="16200000">
              <a:off x="5297639" y="4364131"/>
              <a:ext cx="362327" cy="373119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54469" y="6349362"/>
              <a:ext cx="1721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Temperature</a:t>
              </a:r>
              <a:endParaRPr lang="en-US" sz="2400" dirty="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1854" y="5386018"/>
            <a:ext cx="550198" cy="6076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D2D828C-CB3F-43BE-82CC-91DEB72590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087" y="6039773"/>
            <a:ext cx="3472591" cy="5284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8227C-2674-48CF-89B3-078F9D896393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6934A1-DEE7-451E-9D04-B3A2237DA990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6240CE-BFB2-4E04-89A7-220D5C0F8E67}"/>
                </a:ext>
              </a:extLst>
            </p:cNvPr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5AD75B-83ED-42A9-AE1F-37231BDB625E}"/>
                </a:ext>
              </a:extLst>
            </p:cNvPr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DF4D4AB-BB18-4934-AE6B-4E01F56EC1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27253 -0.2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2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19072" y="3988372"/>
            <a:ext cx="1499616" cy="15894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58" y="3527350"/>
            <a:ext cx="1274918" cy="26131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012" y="5145285"/>
            <a:ext cx="699929" cy="31582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524" y="4274206"/>
            <a:ext cx="311658" cy="2885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8CC1B22-879D-4AF4-B506-9D90710AF4EE}"/>
              </a:ext>
            </a:extLst>
          </p:cNvPr>
          <p:cNvGrpSpPr/>
          <p:nvPr/>
        </p:nvGrpSpPr>
        <p:grpSpPr>
          <a:xfrm>
            <a:off x="334452" y="3399126"/>
            <a:ext cx="6086073" cy="461665"/>
            <a:chOff x="334452" y="3388616"/>
            <a:chExt cx="6086073" cy="461665"/>
          </a:xfrm>
        </p:grpSpPr>
        <p:sp>
          <p:nvSpPr>
            <p:cNvPr id="32" name="TextBox 31"/>
            <p:cNvSpPr txBox="1"/>
            <p:nvPr/>
          </p:nvSpPr>
          <p:spPr>
            <a:xfrm>
              <a:off x="334452" y="3388616"/>
              <a:ext cx="573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Isolated                  system with total energy 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867" y="3507836"/>
              <a:ext cx="311658" cy="288572"/>
            </a:xfrm>
            <a:prstGeom prst="rect">
              <a:avLst/>
            </a:prstGeom>
          </p:spPr>
        </p:pic>
      </p:grpSp>
      <p:cxnSp>
        <p:nvCxnSpPr>
          <p:cNvPr id="35" name="Straight Arrow Connector 34"/>
          <p:cNvCxnSpPr/>
          <p:nvPr/>
        </p:nvCxnSpPr>
        <p:spPr>
          <a:xfrm flipV="1">
            <a:off x="1445058" y="4418492"/>
            <a:ext cx="449466" cy="144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6613" y="4507914"/>
            <a:ext cx="1312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8261" y="4187659"/>
            <a:ext cx="3679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number of microstates: 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296" y="4121512"/>
            <a:ext cx="4215420" cy="68823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0041" y="5815584"/>
            <a:ext cx="1721875" cy="36350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857" y="5526854"/>
            <a:ext cx="5416508" cy="9522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720881" y="4933864"/>
            <a:ext cx="735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very 1</a:t>
            </a:r>
            <a:r>
              <a:rPr lang="en-US" sz="2400" b="1" baseline="30000" dirty="0"/>
              <a:t>st</a:t>
            </a:r>
            <a:r>
              <a:rPr lang="en-US" sz="2400" b="1" dirty="0"/>
              <a:t> statistical model (microcanonical ensemble)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715" y="4303578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3099" y="6047034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F3828F-8C96-4BC8-9878-9038A6799ABB}"/>
              </a:ext>
            </a:extLst>
          </p:cNvPr>
          <p:cNvGrpSpPr/>
          <p:nvPr/>
        </p:nvGrpSpPr>
        <p:grpSpPr>
          <a:xfrm>
            <a:off x="-18288" y="5547499"/>
            <a:ext cx="4982849" cy="1235775"/>
            <a:chOff x="-18288" y="5547499"/>
            <a:chExt cx="4982849" cy="12357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29DCA4-0E4A-41F3-AFF9-6E66E9D9CCCF}"/>
                </a:ext>
              </a:extLst>
            </p:cNvPr>
            <p:cNvGrpSpPr/>
            <p:nvPr/>
          </p:nvGrpSpPr>
          <p:grpSpPr>
            <a:xfrm>
              <a:off x="-18288" y="5547499"/>
              <a:ext cx="4575548" cy="1235775"/>
              <a:chOff x="-18288" y="5547499"/>
              <a:chExt cx="4575548" cy="1235775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-18288" y="6321609"/>
                <a:ext cx="45755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The available positions depends on 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V="1">
                <a:off x="2269486" y="5547499"/>
                <a:ext cx="620018" cy="9316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7686" y="6433468"/>
              <a:ext cx="266875" cy="266875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3C8B9ADD-787D-4D8C-BF0C-89DCA810FC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3314" y="4465628"/>
            <a:ext cx="611605" cy="611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79DC602-6AB9-4C90-8C9C-50DE5BC73B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9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852" y="3406242"/>
            <a:ext cx="2887540" cy="2804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942" y="3222428"/>
            <a:ext cx="1355896" cy="5246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08D8512-AF93-4A45-902E-BE45BDA2E79D}"/>
              </a:ext>
            </a:extLst>
          </p:cNvPr>
          <p:cNvGrpSpPr/>
          <p:nvPr/>
        </p:nvGrpSpPr>
        <p:grpSpPr>
          <a:xfrm>
            <a:off x="993513" y="4445216"/>
            <a:ext cx="7130222" cy="369332"/>
            <a:chOff x="993513" y="4445216"/>
            <a:chExt cx="7130222" cy="3693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6DF5263-AC65-459C-BCE5-10134F187CEF}"/>
                </a:ext>
              </a:extLst>
            </p:cNvPr>
            <p:cNvGrpSpPr/>
            <p:nvPr/>
          </p:nvGrpSpPr>
          <p:grpSpPr>
            <a:xfrm>
              <a:off x="993513" y="4445216"/>
              <a:ext cx="7130222" cy="369332"/>
              <a:chOff x="993513" y="4445216"/>
              <a:chExt cx="7130222" cy="36933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993513" y="4445216"/>
                <a:ext cx="5461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the work done                    on the system turn into:</a:t>
                </a:r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5008" y="4536863"/>
                <a:ext cx="1738727" cy="220188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3295" y="4574621"/>
              <a:ext cx="1042760" cy="18363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472D6F6-F4E8-48C3-A839-FF2D6F1ACC90}"/>
              </a:ext>
            </a:extLst>
          </p:cNvPr>
          <p:cNvGrpSpPr/>
          <p:nvPr/>
        </p:nvGrpSpPr>
        <p:grpSpPr>
          <a:xfrm>
            <a:off x="276753" y="5485967"/>
            <a:ext cx="1252459" cy="528949"/>
            <a:chOff x="276753" y="5485967"/>
            <a:chExt cx="1252459" cy="528949"/>
          </a:xfrm>
        </p:grpSpPr>
        <p:sp>
          <p:nvSpPr>
            <p:cNvPr id="50" name="Rectangle 49"/>
            <p:cNvSpPr/>
            <p:nvPr/>
          </p:nvSpPr>
          <p:spPr>
            <a:xfrm>
              <a:off x="276753" y="5645584"/>
              <a:ext cx="12524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reversibility</a:t>
              </a:r>
              <a:endParaRPr lang="en-US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V="1">
              <a:off x="902983" y="5485967"/>
              <a:ext cx="460696" cy="196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70" y="6014916"/>
            <a:ext cx="4491977" cy="59634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7254372" y="6370279"/>
            <a:ext cx="944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(Heat)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66249" y="5970012"/>
            <a:ext cx="1059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b="1" baseline="30000" dirty="0"/>
              <a:t>st</a:t>
            </a:r>
            <a:r>
              <a:rPr lang="en-US" sz="2400" b="1" dirty="0"/>
              <a:t> law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DA0B0-E86C-4F86-BEB2-982EB10D097A}"/>
              </a:ext>
            </a:extLst>
          </p:cNvPr>
          <p:cNvGrpSpPr/>
          <p:nvPr/>
        </p:nvGrpSpPr>
        <p:grpSpPr>
          <a:xfrm>
            <a:off x="1127346" y="3931920"/>
            <a:ext cx="4784318" cy="369332"/>
            <a:chOff x="1127346" y="3931920"/>
            <a:chExt cx="4784318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127346" y="3931920"/>
              <a:ext cx="2868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a REVERSIBLE process with </a:t>
              </a: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4493" y="4008482"/>
              <a:ext cx="1567171" cy="218312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346" y="5063069"/>
            <a:ext cx="7143148" cy="61455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8837" y="6110807"/>
            <a:ext cx="3011434" cy="267069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9384" y="4993618"/>
            <a:ext cx="2095838" cy="645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16EB00-84F4-44B4-A27E-1266666142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6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45" y="2817900"/>
            <a:ext cx="1102868" cy="2990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4526777"/>
            <a:ext cx="5541264" cy="2883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r="89478" b="25018"/>
          <a:stretch/>
        </p:blipFill>
        <p:spPr>
          <a:xfrm>
            <a:off x="3941513" y="3305033"/>
            <a:ext cx="994314" cy="721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827" y="3430167"/>
            <a:ext cx="3280547" cy="57235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83" y="3359268"/>
            <a:ext cx="2896762" cy="236314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977C66-9258-449A-A452-D25799005AAF}"/>
              </a:ext>
            </a:extLst>
          </p:cNvPr>
          <p:cNvGrpSpPr/>
          <p:nvPr/>
        </p:nvGrpSpPr>
        <p:grpSpPr>
          <a:xfrm>
            <a:off x="10481627" y="3207591"/>
            <a:ext cx="1404552" cy="593309"/>
            <a:chOff x="10691833" y="3207591"/>
            <a:chExt cx="1404552" cy="593309"/>
          </a:xfrm>
        </p:grpSpPr>
        <p:sp>
          <p:nvSpPr>
            <p:cNvPr id="28" name="TextBox 27"/>
            <p:cNvSpPr txBox="1"/>
            <p:nvPr/>
          </p:nvSpPr>
          <p:spPr>
            <a:xfrm>
              <a:off x="10691833" y="3207591"/>
              <a:ext cx="1404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equilibrium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10803735" y="3522059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418158-3E5F-49B4-A3AE-DD8B6E53BDA1}"/>
              </a:ext>
            </a:extLst>
          </p:cNvPr>
          <p:cNvGrpSpPr/>
          <p:nvPr/>
        </p:nvGrpSpPr>
        <p:grpSpPr>
          <a:xfrm>
            <a:off x="637454" y="5446961"/>
            <a:ext cx="7676009" cy="550154"/>
            <a:chOff x="637454" y="5446961"/>
            <a:chExt cx="7676009" cy="55015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7"/>
            <a:srcRect l="56041" r="507" b="-8648"/>
            <a:stretch/>
          </p:blipFill>
          <p:spPr>
            <a:xfrm>
              <a:off x="3783751" y="5446961"/>
              <a:ext cx="1925203" cy="55015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4164" y="5558336"/>
              <a:ext cx="2429299" cy="306772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7"/>
            <a:srcRect r="49676"/>
            <a:stretch/>
          </p:blipFill>
          <p:spPr>
            <a:xfrm>
              <a:off x="637454" y="5458541"/>
              <a:ext cx="2229699" cy="506361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3F369D3-8D3B-4AC2-BB13-97809040E5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4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346" y="2261956"/>
            <a:ext cx="259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Law of thermodynamic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8083166" cy="7028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10" y="3688421"/>
            <a:ext cx="1607717" cy="3831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416" y="3663256"/>
            <a:ext cx="2485831" cy="4695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939" y="4487881"/>
            <a:ext cx="3224588" cy="57742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728C98-6BEC-4F3B-9825-4153859833C1}"/>
              </a:ext>
            </a:extLst>
          </p:cNvPr>
          <p:cNvGrpSpPr/>
          <p:nvPr/>
        </p:nvGrpSpPr>
        <p:grpSpPr>
          <a:xfrm>
            <a:off x="6415574" y="4029528"/>
            <a:ext cx="1981977" cy="1035779"/>
            <a:chOff x="6415574" y="4029528"/>
            <a:chExt cx="1981977" cy="10357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5574" y="4698641"/>
              <a:ext cx="1981977" cy="366666"/>
            </a:xfrm>
            <a:prstGeom prst="rect">
              <a:avLst/>
            </a:prstGeom>
          </p:spPr>
        </p:pic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V="1">
              <a:off x="8154955" y="4029528"/>
              <a:ext cx="0" cy="458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650" y="3644595"/>
            <a:ext cx="2578472" cy="38781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4340" y="6105700"/>
            <a:ext cx="7382174" cy="34057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7952" y="5402997"/>
            <a:ext cx="9695243" cy="3645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38886" y="6231364"/>
            <a:ext cx="2162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More Examples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F04276-33E2-4F5E-8EE1-1F6FA67CA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63" name="Group 62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7" name="Group 66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0" name="Group 69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3" name="Group 72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5" name="Picture 7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78" name="Straight Arrow Connector 77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80" name="Straight Arrow Connector 79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9571DA7-67B1-4758-A668-EDE54649F5AC}"/>
              </a:ext>
            </a:extLst>
          </p:cNvPr>
          <p:cNvGrpSpPr/>
          <p:nvPr/>
        </p:nvGrpSpPr>
        <p:grpSpPr>
          <a:xfrm>
            <a:off x="521203" y="3967935"/>
            <a:ext cx="5241938" cy="461665"/>
            <a:chOff x="521203" y="3967935"/>
            <a:chExt cx="5241938" cy="461665"/>
          </a:xfrm>
        </p:grpSpPr>
        <p:sp>
          <p:nvSpPr>
            <p:cNvPr id="83" name="TextBox 82"/>
            <p:cNvSpPr txBox="1"/>
            <p:nvPr/>
          </p:nvSpPr>
          <p:spPr>
            <a:xfrm>
              <a:off x="521203" y="3967935"/>
              <a:ext cx="162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Microstates:</a:t>
              </a:r>
            </a:p>
          </p:txBody>
        </p:sp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4155" y="4042843"/>
              <a:ext cx="3488986" cy="35958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47935" y="4359933"/>
            <a:ext cx="8295957" cy="1139409"/>
            <a:chOff x="247935" y="4359933"/>
            <a:chExt cx="8295957" cy="1139409"/>
          </a:xfrm>
        </p:grpSpPr>
        <p:sp>
          <p:nvSpPr>
            <p:cNvPr id="85" name="TextBox 84"/>
            <p:cNvSpPr txBox="1"/>
            <p:nvPr/>
          </p:nvSpPr>
          <p:spPr>
            <a:xfrm>
              <a:off x="247935" y="4878674"/>
              <a:ext cx="31280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 distribution: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959338" y="4359933"/>
              <a:ext cx="2584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Microcanonical</a:t>
              </a:r>
              <a:r>
                <a:rPr lang="en-US" dirty="0"/>
                <a:t> ensemble)</a:t>
              </a:r>
            </a:p>
          </p:txBody>
        </p:sp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7B703C0-6A10-4F5C-B85A-7A68A7CCEE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106" y="4319648"/>
            <a:ext cx="1655856" cy="2927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/>
          <a:srcRect r="81861" b="50938"/>
          <a:stretch/>
        </p:blipFill>
        <p:spPr>
          <a:xfrm>
            <a:off x="158389" y="4719101"/>
            <a:ext cx="1402095" cy="87517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8"/>
          <a:srcRect l="17550" t="47050"/>
          <a:stretch/>
        </p:blipFill>
        <p:spPr>
          <a:xfrm>
            <a:off x="1613318" y="4628008"/>
            <a:ext cx="6373175" cy="944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7768" y="5761300"/>
            <a:ext cx="4177204" cy="9867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9037" y="5926979"/>
            <a:ext cx="3494975" cy="682548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Group 13"/>
          <p:cNvGrpSpPr/>
          <p:nvPr/>
        </p:nvGrpSpPr>
        <p:grpSpPr>
          <a:xfrm>
            <a:off x="8617486" y="5480892"/>
            <a:ext cx="1682247" cy="488890"/>
            <a:chOff x="8617486" y="5480892"/>
            <a:chExt cx="1682247" cy="488890"/>
          </a:xfrm>
        </p:grpSpPr>
        <p:sp>
          <p:nvSpPr>
            <p:cNvPr id="9" name="TextBox 8"/>
            <p:cNvSpPr txBox="1"/>
            <p:nvPr/>
          </p:nvSpPr>
          <p:spPr>
            <a:xfrm>
              <a:off x="9126463" y="5508117"/>
              <a:ext cx="117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</a:rPr>
                <a:t>3</a:t>
              </a:r>
              <a:r>
                <a:rPr lang="en-US" sz="2400" b="1" baseline="30000">
                  <a:solidFill>
                    <a:srgbClr val="FF0000"/>
                  </a:solidFill>
                </a:rPr>
                <a:t>rd</a:t>
              </a:r>
              <a:r>
                <a:rPr lang="en-US" sz="2400" b="1">
                  <a:solidFill>
                    <a:srgbClr val="FF0000"/>
                  </a:solidFill>
                </a:rPr>
                <a:t> law 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8617486" y="5480892"/>
              <a:ext cx="487144" cy="2181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5C3AFF04-EDBB-4630-A01F-1574EFAF88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-0.08816 -0.37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4" y="-186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09466 -0.365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857270" y="2997332"/>
            <a:ext cx="5590022" cy="2633548"/>
            <a:chOff x="5857270" y="2997332"/>
            <a:chExt cx="5590022" cy="2633548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7270" y="2997332"/>
              <a:ext cx="2760216" cy="266612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8191276" y="3063239"/>
              <a:ext cx="3256016" cy="2567641"/>
              <a:chOff x="8191276" y="3063239"/>
              <a:chExt cx="3256016" cy="2567641"/>
            </a:xfrm>
          </p:grpSpPr>
          <p:grpSp>
            <p:nvGrpSpPr>
              <p:cNvPr id="48" name="Group 47"/>
              <p:cNvGrpSpPr/>
              <p:nvPr/>
            </p:nvGrpSpPr>
            <p:grpSpPr>
              <a:xfrm rot="16200000">
                <a:off x="8828880" y="3012468"/>
                <a:ext cx="2567641" cy="2669183"/>
                <a:chOff x="8616462" y="3192098"/>
                <a:chExt cx="2661390" cy="2985796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flipH="1">
                  <a:off x="861646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H="1">
                  <a:off x="9148338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 flipH="1">
                  <a:off x="9680214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 flipH="1">
                  <a:off x="10212090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10743966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1127584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Freeform 55"/>
              <p:cNvSpPr/>
              <p:nvPr/>
            </p:nvSpPr>
            <p:spPr>
              <a:xfrm>
                <a:off x="8191276" y="3371180"/>
                <a:ext cx="1234440" cy="971550"/>
              </a:xfrm>
              <a:custGeom>
                <a:avLst/>
                <a:gdLst>
                  <a:gd name="connsiteX0" fmla="*/ 0 w 1234440"/>
                  <a:gd name="connsiteY0" fmla="*/ 0 h 971550"/>
                  <a:gd name="connsiteX1" fmla="*/ 388620 w 1234440"/>
                  <a:gd name="connsiteY1" fmla="*/ 697230 h 971550"/>
                  <a:gd name="connsiteX2" fmla="*/ 708660 w 1234440"/>
                  <a:gd name="connsiteY2" fmla="*/ 34290 h 971550"/>
                  <a:gd name="connsiteX3" fmla="*/ 1234440 w 1234440"/>
                  <a:gd name="connsiteY3" fmla="*/ 971550 h 971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4440" h="971550">
                    <a:moveTo>
                      <a:pt x="0" y="0"/>
                    </a:moveTo>
                    <a:cubicBezTo>
                      <a:pt x="135255" y="345757"/>
                      <a:pt x="270510" y="691515"/>
                      <a:pt x="388620" y="697230"/>
                    </a:cubicBezTo>
                    <a:cubicBezTo>
                      <a:pt x="506730" y="702945"/>
                      <a:pt x="567690" y="-11430"/>
                      <a:pt x="708660" y="34290"/>
                    </a:cubicBezTo>
                    <a:cubicBezTo>
                      <a:pt x="849630" y="80010"/>
                      <a:pt x="1234440" y="971550"/>
                      <a:pt x="1234440" y="971550"/>
                    </a:cubicBezTo>
                  </a:path>
                </a:pathLst>
              </a:cu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22044" y="4321286"/>
                <a:ext cx="759966" cy="178010"/>
              </a:xfrm>
              <a:prstGeom prst="rect">
                <a:avLst/>
              </a:prstGeom>
            </p:spPr>
          </p:pic>
          <p:grpSp>
            <p:nvGrpSpPr>
              <p:cNvPr id="63" name="Group 62"/>
              <p:cNvGrpSpPr/>
              <p:nvPr/>
            </p:nvGrpSpPr>
            <p:grpSpPr>
              <a:xfrm>
                <a:off x="10933794" y="30677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2" name="Picture 6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4" name="Group 63"/>
              <p:cNvGrpSpPr/>
              <p:nvPr/>
            </p:nvGrpSpPr>
            <p:grpSpPr>
              <a:xfrm>
                <a:off x="10932841" y="35930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5" name="Rectangle 64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6" name="Picture 65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oup 66"/>
              <p:cNvGrpSpPr/>
              <p:nvPr/>
            </p:nvGrpSpPr>
            <p:grpSpPr>
              <a:xfrm>
                <a:off x="10400509" y="4100347"/>
                <a:ext cx="507006" cy="503341"/>
                <a:chOff x="10933794" y="3067719"/>
                <a:chExt cx="507006" cy="503341"/>
              </a:xfrm>
            </p:grpSpPr>
            <p:sp>
              <p:nvSpPr>
                <p:cNvPr id="68" name="Rectangle 67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0" name="Group 69"/>
              <p:cNvGrpSpPr/>
              <p:nvPr/>
            </p:nvGrpSpPr>
            <p:grpSpPr>
              <a:xfrm>
                <a:off x="9336191" y="3579571"/>
                <a:ext cx="507006" cy="503341"/>
                <a:chOff x="10933794" y="3067719"/>
                <a:chExt cx="507006" cy="503341"/>
              </a:xfrm>
            </p:grpSpPr>
            <p:sp>
              <p:nvSpPr>
                <p:cNvPr id="71" name="Rectangle 7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2" name="Picture 7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/>
              <p:cNvGrpSpPr/>
              <p:nvPr/>
            </p:nvGrpSpPr>
            <p:grpSpPr>
              <a:xfrm>
                <a:off x="8806758" y="5125439"/>
                <a:ext cx="507006" cy="503341"/>
                <a:chOff x="10933794" y="3067719"/>
                <a:chExt cx="507006" cy="503341"/>
              </a:xfrm>
            </p:grpSpPr>
            <p:sp>
              <p:nvSpPr>
                <p:cNvPr id="74" name="Rectangle 73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5" name="Picture 74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6" name="Picture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040" y="2469341"/>
            <a:ext cx="5640792" cy="28661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05381" y="4915746"/>
            <a:ext cx="7331827" cy="1360702"/>
            <a:chOff x="505381" y="4915746"/>
            <a:chExt cx="7331827" cy="136070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46905" y="5307292"/>
              <a:ext cx="6690303" cy="96915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505381" y="4915746"/>
              <a:ext cx="1699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Heat capacity: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365614" y="2815092"/>
            <a:ext cx="3748594" cy="441322"/>
            <a:chOff x="8365614" y="2815092"/>
            <a:chExt cx="3748594" cy="441322"/>
          </a:xfrm>
        </p:grpSpPr>
        <p:sp>
          <p:nvSpPr>
            <p:cNvPr id="21" name="TextBox 20"/>
            <p:cNvSpPr txBox="1"/>
            <p:nvPr/>
          </p:nvSpPr>
          <p:spPr>
            <a:xfrm>
              <a:off x="8563492" y="2815092"/>
              <a:ext cx="3550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Started to deplete </a:t>
              </a:r>
              <a:r>
                <a:rPr lang="en-US"/>
                <a:t>the excited states</a:t>
              </a:r>
              <a:endParaRPr lang="en-US" dirty="0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8365614" y="3010946"/>
              <a:ext cx="187558" cy="245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977630" y="2496722"/>
            <a:ext cx="3896497" cy="2234498"/>
            <a:chOff x="6977630" y="2496722"/>
            <a:chExt cx="3896497" cy="2234498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6977630" y="3193772"/>
              <a:ext cx="260341" cy="15374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61552" y="2909813"/>
              <a:ext cx="847769" cy="19658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005439" y="2496722"/>
              <a:ext cx="3868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Energy gap (minimum excitation energy)</a:t>
              </a:r>
            </a:p>
          </p:txBody>
        </p:sp>
      </p:grpSp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14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9BE32C3-14F1-4C41-972E-3567643584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7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 rotWithShape="1">
          <a:blip r:embed="rId10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2890" y="5852794"/>
            <a:ext cx="3615081" cy="480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2731" y="2470493"/>
            <a:ext cx="4293926" cy="29918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3" name="Group 22"/>
          <p:cNvGrpSpPr/>
          <p:nvPr/>
        </p:nvGrpSpPr>
        <p:grpSpPr>
          <a:xfrm>
            <a:off x="7920337" y="2063378"/>
            <a:ext cx="2302424" cy="754993"/>
            <a:chOff x="7920337" y="2063378"/>
            <a:chExt cx="2302424" cy="754993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7920337" y="2429328"/>
              <a:ext cx="505877" cy="38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218558" y="2063378"/>
              <a:ext cx="200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Lowest energy state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956675" y="4418772"/>
            <a:ext cx="1635062" cy="490189"/>
            <a:chOff x="9956675" y="4418772"/>
            <a:chExt cx="1635062" cy="490189"/>
          </a:xfrm>
        </p:grpSpPr>
        <p:sp>
          <p:nvSpPr>
            <p:cNvPr id="7" name="TextBox 6"/>
            <p:cNvSpPr txBox="1"/>
            <p:nvPr/>
          </p:nvSpPr>
          <p:spPr>
            <a:xfrm>
              <a:off x="9956675" y="4418772"/>
              <a:ext cx="11821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Randomize</a:t>
              </a:r>
            </a:p>
          </p:txBody>
        </p:sp>
        <p:sp>
          <p:nvSpPr>
            <p:cNvPr id="81" name="Right Arrow 80"/>
            <p:cNvSpPr/>
            <p:nvPr/>
          </p:nvSpPr>
          <p:spPr>
            <a:xfrm>
              <a:off x="10873138" y="4657363"/>
              <a:ext cx="718599" cy="251598"/>
            </a:xfrm>
            <a:prstGeom prst="rightArrow">
              <a:avLst/>
            </a:prstGeom>
            <a:gradFill>
              <a:gsLst>
                <a:gs pos="0">
                  <a:schemeClr val="bg1">
                    <a:alpha val="60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59A8FA-53EC-4D63-8C31-86CE957E5552}"/>
              </a:ext>
            </a:extLst>
          </p:cNvPr>
          <p:cNvGrpSpPr/>
          <p:nvPr/>
        </p:nvGrpSpPr>
        <p:grpSpPr>
          <a:xfrm>
            <a:off x="505381" y="4822390"/>
            <a:ext cx="6328276" cy="1525189"/>
            <a:chOff x="505381" y="4822390"/>
            <a:chExt cx="6328276" cy="1525189"/>
          </a:xfrm>
        </p:grpSpPr>
        <p:grpSp>
          <p:nvGrpSpPr>
            <p:cNvPr id="9" name="Group 8"/>
            <p:cNvGrpSpPr/>
            <p:nvPr/>
          </p:nvGrpSpPr>
          <p:grpSpPr>
            <a:xfrm>
              <a:off x="505381" y="4915746"/>
              <a:ext cx="6113981" cy="1431833"/>
              <a:chOff x="505381" y="4915746"/>
              <a:chExt cx="6113981" cy="143183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05381" y="4915746"/>
                <a:ext cx="6113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At each site, what is the probability to find a     or  </a:t>
                </a:r>
              </a:p>
              <a:p>
                <a:r>
                  <a:rPr lang="en-US" sz="2000" b="1" dirty="0"/>
                  <a:t>energy state:</a:t>
                </a:r>
              </a:p>
            </p:txBody>
          </p:sp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63413" y="5020412"/>
                <a:ext cx="125042" cy="203193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2695" y="5864634"/>
                <a:ext cx="2347336" cy="482945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E86A7E2-A04B-4B75-B916-D4DF63062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242956" y="4822390"/>
              <a:ext cx="590701" cy="590701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1465" y="5702990"/>
            <a:ext cx="4282717" cy="86838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46A2CD8-F870-4795-8718-9A366607CE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2326342" cy="807766"/>
            <a:chOff x="853425" y="2209768"/>
            <a:chExt cx="2326342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2326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 in K levels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ACC0C7A3-0FD6-4814-8670-3F7A3509621D}"/>
              </a:ext>
            </a:extLst>
          </p:cNvPr>
          <p:cNvGrpSpPr/>
          <p:nvPr/>
        </p:nvGrpSpPr>
        <p:grpSpPr>
          <a:xfrm>
            <a:off x="4277900" y="4937444"/>
            <a:ext cx="2184957" cy="775025"/>
            <a:chOff x="3623050" y="4688544"/>
            <a:chExt cx="2184957" cy="775025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77A9A70-79F7-4D11-9C92-1A0A1AB51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472" y="4992498"/>
              <a:ext cx="307743" cy="47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585773-655D-4022-987E-921CCA48E622}"/>
                </a:ext>
              </a:extLst>
            </p:cNvPr>
            <p:cNvSpPr txBox="1"/>
            <p:nvPr/>
          </p:nvSpPr>
          <p:spPr>
            <a:xfrm>
              <a:off x="3623050" y="4688544"/>
              <a:ext cx="2184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Monotonic function</a:t>
              </a:r>
              <a:endParaRPr lang="en-MY" dirty="0"/>
            </a:p>
          </p:txBody>
        </p:sp>
      </p:grpSp>
      <p:pic>
        <p:nvPicPr>
          <p:cNvPr id="63" name="Graphic 62">
            <a:extLst>
              <a:ext uri="{FF2B5EF4-FFF2-40B4-BE49-F238E27FC236}">
                <a16:creationId xmlns:a16="http://schemas.microsoft.com/office/drawing/2014/main" id="{351F1747-45A0-4D64-8FBB-9480E3814B0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81270" y="5526077"/>
            <a:ext cx="5716046" cy="765542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97EEAA8-2126-42DC-8607-B1C13640CC65}"/>
              </a:ext>
            </a:extLst>
          </p:cNvPr>
          <p:cNvGrpSpPr/>
          <p:nvPr/>
        </p:nvGrpSpPr>
        <p:grpSpPr>
          <a:xfrm>
            <a:off x="5053566" y="6028024"/>
            <a:ext cx="2243371" cy="774186"/>
            <a:chOff x="4398716" y="5779124"/>
            <a:chExt cx="2243371" cy="774186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ABB1830-5BED-43F0-A8A9-4AE77295B9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1701" y="5779124"/>
              <a:ext cx="393466" cy="49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F056C85-1003-4560-B2C1-F1B821A0C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779124"/>
              <a:ext cx="189186" cy="3841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2E363FF-3B8D-4A7D-8858-5AA628DBADD8}"/>
                </a:ext>
              </a:extLst>
            </p:cNvPr>
            <p:cNvSpPr txBox="1"/>
            <p:nvPr/>
          </p:nvSpPr>
          <p:spPr>
            <a:xfrm>
              <a:off x="4398716" y="6183978"/>
              <a:ext cx="2243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Lagrange multipliers</a:t>
              </a:r>
              <a:endParaRPr lang="en-MY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F9758C-3FD3-463C-B7BE-41252FFEEFC6}"/>
              </a:ext>
            </a:extLst>
          </p:cNvPr>
          <p:cNvGrpSpPr/>
          <p:nvPr/>
        </p:nvGrpSpPr>
        <p:grpSpPr>
          <a:xfrm>
            <a:off x="1792014" y="5920669"/>
            <a:ext cx="2743636" cy="983539"/>
            <a:chOff x="1137164" y="5671769"/>
            <a:chExt cx="2743636" cy="983539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5C84864-47A7-4333-819B-BE6FEBA4E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158" y="5671769"/>
              <a:ext cx="363333" cy="501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AD26337-7BCE-4541-B3FC-84EF902FB31A}"/>
                </a:ext>
              </a:extLst>
            </p:cNvPr>
            <p:cNvGrpSpPr/>
            <p:nvPr/>
          </p:nvGrpSpPr>
          <p:grpSpPr>
            <a:xfrm>
              <a:off x="1137164" y="6188936"/>
              <a:ext cx="2743636" cy="466372"/>
              <a:chOff x="1160302" y="6272784"/>
              <a:chExt cx="2743636" cy="46637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23E24FD-A536-4CD8-9821-D9676694CAC7}"/>
                  </a:ext>
                </a:extLst>
              </p:cNvPr>
              <p:cNvSpPr txBox="1"/>
              <p:nvPr/>
            </p:nvSpPr>
            <p:spPr>
              <a:xfrm>
                <a:off x="1160302" y="6285976"/>
                <a:ext cx="2743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Varying     independently </a:t>
                </a:r>
                <a:endParaRPr lang="en-MY" dirty="0"/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90CE68BA-2FCF-4340-9C79-A8F5B29B3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932017" y="6272784"/>
                <a:ext cx="506926" cy="466372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2491A7A-5E1F-48D4-A683-58CD4B71AE03}"/>
              </a:ext>
            </a:extLst>
          </p:cNvPr>
          <p:cNvGrpSpPr/>
          <p:nvPr/>
        </p:nvGrpSpPr>
        <p:grpSpPr>
          <a:xfrm>
            <a:off x="294585" y="5039715"/>
            <a:ext cx="3404394" cy="445189"/>
            <a:chOff x="294585" y="5039715"/>
            <a:chExt cx="3404394" cy="44518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65E9BC2-2116-4F80-846A-1905CEC7D819}"/>
                </a:ext>
              </a:extLst>
            </p:cNvPr>
            <p:cNvSpPr txBox="1"/>
            <p:nvPr/>
          </p:nvSpPr>
          <p:spPr>
            <a:xfrm>
              <a:off x="294585" y="5105583"/>
              <a:ext cx="340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Maximize      without constraint:</a:t>
              </a:r>
              <a:endParaRPr lang="en-MY" dirty="0"/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E9FCC93B-398B-4C06-99F1-2317357B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304601" y="5039715"/>
              <a:ext cx="426639" cy="445189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112E82D7-6448-48C6-B2F3-13D5E62B10F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2E71C3-3BFA-4408-AA7B-D12CBB5F88AB}"/>
              </a:ext>
            </a:extLst>
          </p:cNvPr>
          <p:cNvSpPr txBox="1"/>
          <p:nvPr/>
        </p:nvSpPr>
        <p:spPr>
          <a:xfrm>
            <a:off x="4293322" y="2218646"/>
            <a:ext cx="348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 level it is easy to fix the energy </a:t>
            </a:r>
          </a:p>
        </p:txBody>
      </p:sp>
    </p:spTree>
    <p:extLst>
      <p:ext uri="{BB962C8B-B14F-4D97-AF65-F5344CB8AC3E}">
        <p14:creationId xmlns:p14="http://schemas.microsoft.com/office/powerpoint/2010/main" val="6066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1521168" cy="807766"/>
            <a:chOff x="853425" y="2209768"/>
            <a:chExt cx="1521168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1261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EE158959-2BD0-4150-AB4C-6E44926169F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23050" y="5129226"/>
            <a:ext cx="3233552" cy="77246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C839F68-8A20-49D0-BF0C-A702DF560A2B}"/>
              </a:ext>
            </a:extLst>
          </p:cNvPr>
          <p:cNvGrpSpPr/>
          <p:nvPr/>
        </p:nvGrpSpPr>
        <p:grpSpPr>
          <a:xfrm>
            <a:off x="5884164" y="4828644"/>
            <a:ext cx="4387517" cy="1151742"/>
            <a:chOff x="5884164" y="4828644"/>
            <a:chExt cx="4387517" cy="11517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E434930-0CFB-4362-8F57-27304259427A}"/>
                </a:ext>
              </a:extLst>
            </p:cNvPr>
            <p:cNvGrpSpPr/>
            <p:nvPr/>
          </p:nvGrpSpPr>
          <p:grpSpPr>
            <a:xfrm>
              <a:off x="5884164" y="4828644"/>
              <a:ext cx="4387517" cy="1151742"/>
              <a:chOff x="5884164" y="4828644"/>
              <a:chExt cx="4387517" cy="1151742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3FDF3B7-83A2-4373-95F2-08AFAEFCC7DE}"/>
                  </a:ext>
                </a:extLst>
              </p:cNvPr>
              <p:cNvCxnSpPr/>
              <p:nvPr/>
            </p:nvCxnSpPr>
            <p:spPr>
              <a:xfrm flipV="1">
                <a:off x="5884164" y="4881326"/>
                <a:ext cx="2807817" cy="1099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B44612B-D6D8-455C-B657-B64701FD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0965" y="4828644"/>
                <a:ext cx="4290716" cy="11367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503708-0BFA-47D6-BC54-8420E0F50DC9}"/>
                </a:ext>
              </a:extLst>
            </p:cNvPr>
            <p:cNvSpPr txBox="1"/>
            <p:nvPr/>
          </p:nvSpPr>
          <p:spPr>
            <a:xfrm rot="20700482">
              <a:off x="7164408" y="5410652"/>
              <a:ext cx="2560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Solve for the multipliers</a:t>
              </a:r>
              <a:endParaRPr lang="en-MY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28A6DD-B7C6-43F5-9327-BF631A0B8798}"/>
              </a:ext>
            </a:extLst>
          </p:cNvPr>
          <p:cNvGrpSpPr/>
          <p:nvPr/>
        </p:nvGrpSpPr>
        <p:grpSpPr>
          <a:xfrm>
            <a:off x="3977479" y="5885564"/>
            <a:ext cx="3027432" cy="830667"/>
            <a:chOff x="3977479" y="5885564"/>
            <a:chExt cx="3027432" cy="83066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35C1510-885B-47A4-AE29-8F39C7CDB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4373409" y="5885564"/>
              <a:ext cx="1607556" cy="58273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17AE58D-19E3-4C6D-BC6E-9FD2FF716DC6}"/>
                </a:ext>
              </a:extLst>
            </p:cNvPr>
            <p:cNvSpPr txBox="1"/>
            <p:nvPr/>
          </p:nvSpPr>
          <p:spPr>
            <a:xfrm>
              <a:off x="3977479" y="6346899"/>
              <a:ext cx="3027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(Most probable distribution)</a:t>
              </a:r>
              <a:endParaRPr lang="en-MY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6DD4696-0FBA-4555-8B73-022DB3D32539}"/>
              </a:ext>
            </a:extLst>
          </p:cNvPr>
          <p:cNvSpPr txBox="1"/>
          <p:nvPr/>
        </p:nvSpPr>
        <p:spPr>
          <a:xfrm>
            <a:off x="8439399" y="6309310"/>
            <a:ext cx="353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may want this technique later.</a:t>
            </a:r>
            <a:endParaRPr lang="en-MY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9542317-54B5-4359-9EC9-661B88E1445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770185" y="4076835"/>
            <a:ext cx="9806247" cy="1478755"/>
            <a:chOff x="1770185" y="4076835"/>
            <a:chExt cx="9806247" cy="1478755"/>
          </a:xfrm>
        </p:grpSpPr>
        <p:grpSp>
          <p:nvGrpSpPr>
            <p:cNvPr id="3" name="Group 2"/>
            <p:cNvGrpSpPr/>
            <p:nvPr/>
          </p:nvGrpSpPr>
          <p:grpSpPr>
            <a:xfrm>
              <a:off x="1770185" y="4076835"/>
              <a:ext cx="8760792" cy="1157501"/>
              <a:chOff x="1770185" y="4076835"/>
              <a:chExt cx="8760792" cy="1157501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0185" y="4076835"/>
                <a:ext cx="3727033" cy="1157501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5649704" y="4525079"/>
                <a:ext cx="4881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Hypersurface of a 3N-dimensial sphere with radius</a:t>
                </a:r>
              </a:p>
            </p:txBody>
          </p:sp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43047" y="4911999"/>
              <a:ext cx="2133385" cy="643591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171965" y="5295871"/>
            <a:ext cx="6002925" cy="1173893"/>
            <a:chOff x="1171965" y="5295871"/>
            <a:chExt cx="6002925" cy="1173893"/>
          </a:xfrm>
        </p:grpSpPr>
        <p:grpSp>
          <p:nvGrpSpPr>
            <p:cNvPr id="5" name="Group 4"/>
            <p:cNvGrpSpPr/>
            <p:nvPr/>
          </p:nvGrpSpPr>
          <p:grpSpPr>
            <a:xfrm>
              <a:off x="1171965" y="5295871"/>
              <a:ext cx="6002925" cy="1173893"/>
              <a:chOff x="1171965" y="5295871"/>
              <a:chExt cx="6002925" cy="117389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171965" y="5295871"/>
                <a:ext cx="6002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Similar to 3D, we write the differential volume using solid angle:</a:t>
                </a:r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617408" y="5645918"/>
                <a:ext cx="1614064" cy="823846"/>
              </a:xfrm>
              <a:prstGeom prst="rect">
                <a:avLst/>
              </a:prstGeom>
            </p:spPr>
          </p:pic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838330" y="5745890"/>
              <a:ext cx="2171893" cy="477159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96ACAA9-C499-43A7-A9F4-A98529917D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6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185" y="4076835"/>
            <a:ext cx="3727033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49704" y="4525079"/>
            <a:ext cx="488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Hypersurface of a 3N-dimensial sphere with radius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047" y="4911999"/>
            <a:ext cx="2133385" cy="643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b="49463"/>
          <a:stretch/>
        </p:blipFill>
        <p:spPr>
          <a:xfrm>
            <a:off x="6858000" y="5036948"/>
            <a:ext cx="2758083" cy="6522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01849" y="5235902"/>
            <a:ext cx="3568385" cy="8496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831130" y="6096014"/>
            <a:ext cx="3439105" cy="70381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413C706-76BB-4BF9-A3F2-7A34F167DC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29209" y="5647670"/>
            <a:ext cx="1804345" cy="4920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B802C8-782C-49B2-923F-B374D49844B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026" b="14026"/>
          <a:stretch/>
        </p:blipFill>
        <p:spPr>
          <a:xfrm>
            <a:off x="6857999" y="6111842"/>
            <a:ext cx="2758083" cy="643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6511A9-51C3-47F8-AA9C-BC18390517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4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2084831"/>
            <a:ext cx="3169443" cy="80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8738" y="2320606"/>
            <a:ext cx="179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Gaussian integral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24128" y="2892143"/>
            <a:ext cx="3246415" cy="1288281"/>
            <a:chOff x="1024128" y="2892143"/>
            <a:chExt cx="3246415" cy="12882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55" y="3166395"/>
              <a:ext cx="3146988" cy="101402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24128" y="2892143"/>
              <a:ext cx="1861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the other hand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25416" y="4156115"/>
            <a:ext cx="6010821" cy="1051548"/>
            <a:chOff x="1125416" y="4156115"/>
            <a:chExt cx="6010821" cy="105154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7336" y="4539560"/>
              <a:ext cx="1427970" cy="50772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125416" y="4557181"/>
              <a:ext cx="685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Let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521" y="4518563"/>
              <a:ext cx="686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and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870" b="870"/>
            <a:stretch/>
          </p:blipFill>
          <p:spPr>
            <a:xfrm>
              <a:off x="4369970" y="4156115"/>
              <a:ext cx="2766267" cy="1051548"/>
            </a:xfrm>
            <a:prstGeom prst="rect">
              <a:avLst/>
            </a:prstGeom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22773" y="5189285"/>
            <a:ext cx="5813463" cy="9369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149700" y="3429000"/>
            <a:ext cx="2766267" cy="11469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DD0104-9FE7-4F03-A929-CF86716123F6}"/>
              </a:ext>
            </a:extLst>
          </p:cNvPr>
          <p:cNvGrpSpPr/>
          <p:nvPr/>
        </p:nvGrpSpPr>
        <p:grpSpPr>
          <a:xfrm>
            <a:off x="2495608" y="5896303"/>
            <a:ext cx="2947808" cy="987182"/>
            <a:chOff x="2495608" y="5896303"/>
            <a:chExt cx="2947808" cy="98718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74185A-F3B8-449B-8EBC-DD85349D903A}"/>
                </a:ext>
              </a:extLst>
            </p:cNvPr>
            <p:cNvSpPr txBox="1"/>
            <p:nvPr/>
          </p:nvSpPr>
          <p:spPr>
            <a:xfrm>
              <a:off x="2495608" y="6421820"/>
              <a:ext cx="2947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(Gamma function)</a:t>
              </a:r>
              <a:endParaRPr lang="en-MY" sz="2400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62DE7C-2D4D-4A5C-9ED8-A46D821169D0}"/>
                </a:ext>
              </a:extLst>
            </p:cNvPr>
            <p:cNvCxnSpPr/>
            <p:nvPr/>
          </p:nvCxnSpPr>
          <p:spPr>
            <a:xfrm flipH="1" flipV="1">
              <a:off x="2974428" y="5896303"/>
              <a:ext cx="599089" cy="525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5EE5D87-71C5-4A72-922A-27CAC1535A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7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811288" y="3950234"/>
            <a:ext cx="3833197" cy="7844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98781" y="3687545"/>
            <a:ext cx="2114202" cy="8766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1"/>
          <a:srcRect l="65951" t="-13914" b="-1"/>
          <a:stretch/>
        </p:blipFill>
        <p:spPr>
          <a:xfrm>
            <a:off x="5701553" y="4012987"/>
            <a:ext cx="1129218" cy="62507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/>
          <p:cNvGrpSpPr/>
          <p:nvPr/>
        </p:nvGrpSpPr>
        <p:grpSpPr>
          <a:xfrm>
            <a:off x="148462" y="4835770"/>
            <a:ext cx="8151476" cy="1460499"/>
            <a:chOff x="148462" y="4835770"/>
            <a:chExt cx="8151476" cy="146049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11288" y="4835770"/>
              <a:ext cx="5488650" cy="1460499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488488" y="5008605"/>
              <a:ext cx="921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Entropy: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8462" y="5128331"/>
              <a:ext cx="1199177" cy="212009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262" y="5978397"/>
            <a:ext cx="926122" cy="54023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8708" y="6139483"/>
            <a:ext cx="1950489" cy="2633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418708" y="5540709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equipartition </a:t>
            </a:r>
            <a:r>
              <a:rPr lang="en-US" b="1" dirty="0">
                <a:solidFill>
                  <a:srgbClr val="FF0000"/>
                </a:solidFill>
              </a:rPr>
              <a:t>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5E0FBC-46A5-4CF2-8ED8-4439FDF81D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9CE233-C976-4464-8C77-2C85A284550C}"/>
              </a:ext>
            </a:extLst>
          </p:cNvPr>
          <p:cNvSpPr txBox="1"/>
          <p:nvPr/>
        </p:nvSpPr>
        <p:spPr>
          <a:xfrm>
            <a:off x="8312600" y="4976859"/>
            <a:ext cx="219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(assume N is large)</a:t>
            </a:r>
          </a:p>
        </p:txBody>
      </p:sp>
    </p:spTree>
    <p:extLst>
      <p:ext uri="{BB962C8B-B14F-4D97-AF65-F5344CB8AC3E}">
        <p14:creationId xmlns:p14="http://schemas.microsoft.com/office/powerpoint/2010/main" val="176745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r="81715"/>
          <a:stretch/>
        </p:blipFill>
        <p:spPr>
          <a:xfrm>
            <a:off x="2811288" y="4835770"/>
            <a:ext cx="1003596" cy="14604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3911208" y="4835770"/>
            <a:ext cx="2609486" cy="73024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593029" y="2877819"/>
            <a:ext cx="3151171" cy="998882"/>
            <a:chOff x="7593029" y="2877819"/>
            <a:chExt cx="3151171" cy="99888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1265" y="3336463"/>
              <a:ext cx="926122" cy="54023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93711" y="3497549"/>
              <a:ext cx="1950489" cy="263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7593029" y="2877819"/>
              <a:ext cx="16372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Internal energy</a:t>
              </a: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69571" y="3986048"/>
            <a:ext cx="2271598" cy="862980"/>
            <a:chOff x="7669571" y="3986048"/>
            <a:chExt cx="2271598" cy="862980"/>
          </a:xfrm>
        </p:grpSpPr>
        <p:sp>
          <p:nvSpPr>
            <p:cNvPr id="22" name="Rectangle 21"/>
            <p:cNvSpPr/>
            <p:nvPr/>
          </p:nvSpPr>
          <p:spPr>
            <a:xfrm>
              <a:off x="7669571" y="3986048"/>
              <a:ext cx="147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Heat capacity</a:t>
              </a:r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80927" y="4400676"/>
              <a:ext cx="2160242" cy="448352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680234" y="4865004"/>
            <a:ext cx="4455967" cy="954003"/>
            <a:chOff x="7680234" y="4865004"/>
            <a:chExt cx="4455967" cy="954003"/>
          </a:xfrm>
        </p:grpSpPr>
        <p:sp>
          <p:nvSpPr>
            <p:cNvPr id="23" name="Rectangle 22"/>
            <p:cNvSpPr/>
            <p:nvPr/>
          </p:nvSpPr>
          <p:spPr>
            <a:xfrm>
              <a:off x="7680234" y="4865004"/>
              <a:ext cx="1486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Ideal gas law</a:t>
              </a:r>
              <a:endParaRPr lang="en-US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91957" y="5250312"/>
              <a:ext cx="4444244" cy="568695"/>
            </a:xfrm>
            <a:prstGeom prst="rect">
              <a:avLst/>
            </a:prstGeom>
          </p:spPr>
        </p:pic>
      </p:grpSp>
      <p:sp>
        <p:nvSpPr>
          <p:cNvPr id="25" name="Rectangle 24"/>
          <p:cNvSpPr/>
          <p:nvPr/>
        </p:nvSpPr>
        <p:spPr>
          <a:xfrm>
            <a:off x="7662517" y="5834983"/>
            <a:ext cx="3462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Maxwell–Boltzmann distribution ?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8234328" y="4900173"/>
            <a:ext cx="3497998" cy="588595"/>
            <a:chOff x="8234328" y="4900173"/>
            <a:chExt cx="3497998" cy="588595"/>
          </a:xfrm>
        </p:grpSpPr>
        <p:sp>
          <p:nvSpPr>
            <p:cNvPr id="26" name="TextBox 25"/>
            <p:cNvSpPr txBox="1"/>
            <p:nvPr/>
          </p:nvSpPr>
          <p:spPr>
            <a:xfrm>
              <a:off x="9206826" y="4900173"/>
              <a:ext cx="2525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From the proof of 1</a:t>
              </a:r>
              <a:r>
                <a:rPr lang="en-US" baseline="30000" dirty="0"/>
                <a:t>st</a:t>
              </a:r>
              <a:r>
                <a:rPr lang="en-US" dirty="0"/>
                <a:t> Law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H="1">
              <a:off x="8234328" y="5199167"/>
              <a:ext cx="932660" cy="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09F33E59-428C-44C5-99D2-AB7168EFEE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05FD7E-BA7C-4C67-AEDF-89A88D4FF328}"/>
              </a:ext>
            </a:extLst>
          </p:cNvPr>
          <p:cNvGrpSpPr/>
          <p:nvPr/>
        </p:nvGrpSpPr>
        <p:grpSpPr>
          <a:xfrm>
            <a:off x="2811288" y="3950234"/>
            <a:ext cx="4019483" cy="784468"/>
            <a:chOff x="2811288" y="3950234"/>
            <a:chExt cx="4019483" cy="784468"/>
          </a:xfrm>
        </p:grpSpPr>
        <p:pic>
          <p:nvPicPr>
            <p:cNvPr id="31" name="Picture 10">
              <a:extLst>
                <a:ext uri="{FF2B5EF4-FFF2-40B4-BE49-F238E27FC236}">
                  <a16:creationId xmlns:a16="http://schemas.microsoft.com/office/drawing/2014/main" id="{C78651AF-9CEA-40D3-AE08-14324937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811288" y="3950234"/>
              <a:ext cx="3833197" cy="78446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0BBB03B-1AD5-489E-96BB-5D03232201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65951" t="-13914" b="-1"/>
            <a:stretch/>
          </p:blipFill>
          <p:spPr>
            <a:xfrm>
              <a:off x="5701553" y="4012987"/>
              <a:ext cx="1129218" cy="62507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4497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72" y="4025530"/>
            <a:ext cx="3601236" cy="5958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69591" y="5948240"/>
            <a:ext cx="3790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Maxwell–Boltzmann distribution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767" y="5032051"/>
            <a:ext cx="3177397" cy="123068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37651" y="4630321"/>
            <a:ext cx="5157949" cy="369332"/>
            <a:chOff x="437651" y="4630321"/>
            <a:chExt cx="5157949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437651" y="4630321"/>
              <a:ext cx="5016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of getting a particle with momentum      :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9229" y="4654022"/>
              <a:ext cx="256371" cy="264140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6749" y="6194281"/>
            <a:ext cx="4225682" cy="66372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318131" y="4172767"/>
            <a:ext cx="4152086" cy="1898195"/>
            <a:chOff x="7318131" y="4172767"/>
            <a:chExt cx="4152086" cy="18981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18131" y="4172767"/>
              <a:ext cx="3987769" cy="23420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41775" y="5310556"/>
              <a:ext cx="3728442" cy="760406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2424" y="6457972"/>
            <a:ext cx="4127500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7D617D-474F-4DF5-BAE8-D57E3264A1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848" y="4535038"/>
            <a:ext cx="1948514" cy="541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C164BA-A471-44ED-AB1C-564356E6A2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7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87" y="3859954"/>
            <a:ext cx="3917887" cy="6396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050" y="2858518"/>
            <a:ext cx="1721875" cy="3635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866" y="2569788"/>
            <a:ext cx="5416508" cy="9522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3676" y="2412445"/>
            <a:ext cx="428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Microcanonical</a:t>
            </a:r>
            <a:r>
              <a:rPr lang="en-US" sz="2400" b="1" dirty="0"/>
              <a:t> ensemble: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483676" y="4615724"/>
            <a:ext cx="6124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Study cases: 2 level system and Ideal gas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EF2C26-1417-4628-B708-83A132A73AF0}"/>
              </a:ext>
            </a:extLst>
          </p:cNvPr>
          <p:cNvGrpSpPr/>
          <p:nvPr/>
        </p:nvGrpSpPr>
        <p:grpSpPr>
          <a:xfrm>
            <a:off x="764411" y="5575920"/>
            <a:ext cx="11041549" cy="1182706"/>
            <a:chOff x="575225" y="5593289"/>
            <a:chExt cx="11041549" cy="1182706"/>
          </a:xfrm>
        </p:grpSpPr>
        <p:sp>
          <p:nvSpPr>
            <p:cNvPr id="4" name="TextBox 3"/>
            <p:cNvSpPr txBox="1"/>
            <p:nvPr/>
          </p:nvSpPr>
          <p:spPr>
            <a:xfrm>
              <a:off x="575225" y="5593289"/>
              <a:ext cx="110415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All the thermodynamic phenomena can be understand as statistical (thermal) fluctuation.</a:t>
              </a:r>
            </a:p>
            <a:p>
              <a:endParaRPr lang="en-US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The energy fluctuation of each particles is                                 </a:t>
              </a: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B7FA38D-0C85-436C-9A57-E262914CE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20292" y="6100931"/>
              <a:ext cx="1725163" cy="675064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AC8C8-27FB-4815-B0D6-A10A4F4F0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50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234583" y="4980711"/>
            <a:ext cx="4551524" cy="794191"/>
            <a:chOff x="7234583" y="4980711"/>
            <a:chExt cx="4551524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34583" y="5313237"/>
              <a:ext cx="45515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D3F287-D13D-4C04-921A-D3AEE0DDD59F}"/>
              </a:ext>
            </a:extLst>
          </p:cNvPr>
          <p:cNvSpPr txBox="1"/>
          <p:nvPr/>
        </p:nvSpPr>
        <p:spPr>
          <a:xfrm>
            <a:off x="7750219" y="2264432"/>
            <a:ext cx="14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Unique</a:t>
            </a:r>
            <a:endParaRPr lang="en-MY" b="1" dirty="0">
              <a:solidFill>
                <a:srgbClr val="FF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838853-F136-458C-89C1-4AA0F3C054FE}"/>
              </a:ext>
            </a:extLst>
          </p:cNvPr>
          <p:cNvGrpSpPr/>
          <p:nvPr/>
        </p:nvGrpSpPr>
        <p:grpSpPr>
          <a:xfrm>
            <a:off x="63448" y="4735207"/>
            <a:ext cx="10002971" cy="2081951"/>
            <a:chOff x="63448" y="4735207"/>
            <a:chExt cx="10002971" cy="208195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38FB8C9-DF73-482D-88DF-774D43218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60989" y="6168799"/>
              <a:ext cx="2871304" cy="648359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3448" y="4735207"/>
              <a:ext cx="3272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Up to an unimportant constant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22B7809-5444-410D-A455-3D6D0C32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6613" y="5032691"/>
              <a:ext cx="2286637" cy="1652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12308D-77EB-419B-B6A0-86E84FF8A00E}"/>
                </a:ext>
              </a:extLst>
            </p:cNvPr>
            <p:cNvSpPr txBox="1"/>
            <p:nvPr/>
          </p:nvSpPr>
          <p:spPr>
            <a:xfrm>
              <a:off x="5850999" y="5849506"/>
              <a:ext cx="4215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 Kerson Huang, Statistical Mechanics, Wiley (1991)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41E0A48-A768-471A-9265-8A9F86800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44992" y="5329975"/>
              <a:ext cx="2002815" cy="918939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F54D315-9ED3-40FD-B5F3-97B49B5E6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8745" y="4927586"/>
              <a:ext cx="2116818" cy="557516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DB08821-B093-4FD1-AB03-49693D651FC9}"/>
              </a:ext>
            </a:extLst>
          </p:cNvPr>
          <p:cNvSpPr txBox="1"/>
          <p:nvPr/>
        </p:nvSpPr>
        <p:spPr>
          <a:xfrm>
            <a:off x="8374309" y="6466294"/>
            <a:ext cx="3934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laws of thermodynamic?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EB83E0C-5DA0-44F7-BFB1-6A9732D138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1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18156" t="50000" r="34300"/>
          <a:stretch/>
        </p:blipFill>
        <p:spPr>
          <a:xfrm>
            <a:off x="1483496" y="2063913"/>
            <a:ext cx="3537015" cy="9898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4A4A075-9730-4CC7-9349-A7AEC6672ADD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397C2-54B1-4097-AF0D-EFA84AAA95D0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BE1E7A-B36B-4F50-B329-F677C1C603BF}"/>
              </a:ext>
            </a:extLst>
          </p:cNvPr>
          <p:cNvSpPr/>
          <p:nvPr/>
        </p:nvSpPr>
        <p:spPr>
          <a:xfrm>
            <a:off x="9252406" y="977001"/>
            <a:ext cx="114556" cy="1331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F03EE0-846F-4397-BC7F-3340037EFD21}"/>
              </a:ext>
            </a:extLst>
          </p:cNvPr>
          <p:cNvGrpSpPr/>
          <p:nvPr/>
        </p:nvGrpSpPr>
        <p:grpSpPr>
          <a:xfrm>
            <a:off x="8283459" y="1049189"/>
            <a:ext cx="2494446" cy="1213259"/>
            <a:chOff x="8283459" y="818361"/>
            <a:chExt cx="2494446" cy="1213259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459" y="1719453"/>
              <a:ext cx="907238" cy="312167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4077" y="1692452"/>
              <a:ext cx="903828" cy="307686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3529" y="818361"/>
              <a:ext cx="273765" cy="26323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898" y="818361"/>
              <a:ext cx="273765" cy="263236"/>
            </a:xfrm>
            <a:prstGeom prst="rect">
              <a:avLst/>
            </a:prstGeom>
          </p:spPr>
        </p:pic>
      </p:grp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9" y="2074131"/>
            <a:ext cx="1359917" cy="77463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5209" t="-4159" r="46570" b="-15692"/>
          <a:stretch/>
        </p:blipFill>
        <p:spPr>
          <a:xfrm>
            <a:off x="2451769" y="5709188"/>
            <a:ext cx="1805819" cy="33255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72" y="5545023"/>
            <a:ext cx="2120787" cy="50368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40" y="4764752"/>
            <a:ext cx="3289290" cy="2753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C6E593E-3358-4201-91A6-2D8E4868C34A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42" name="TextBox 41"/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1F1C83-E878-4472-9A15-C0ABBA257030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45" name="TextBox 44"/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021F5C8-1251-4CB2-ACA3-2CADDAA348CF}"/>
              </a:ext>
            </a:extLst>
          </p:cNvPr>
          <p:cNvGrpSpPr/>
          <p:nvPr/>
        </p:nvGrpSpPr>
        <p:grpSpPr>
          <a:xfrm>
            <a:off x="450684" y="3085910"/>
            <a:ext cx="3782103" cy="786097"/>
            <a:chOff x="450684" y="3085910"/>
            <a:chExt cx="3782103" cy="786097"/>
          </a:xfrm>
        </p:grpSpPr>
        <p:sp>
          <p:nvSpPr>
            <p:cNvPr id="48" name="TextBox 47"/>
            <p:cNvSpPr txBox="1"/>
            <p:nvPr/>
          </p:nvSpPr>
          <p:spPr>
            <a:xfrm>
              <a:off x="450684" y="3085910"/>
              <a:ext cx="31550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Not a extensive quantity:</a:t>
              </a:r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4128" y="3615591"/>
              <a:ext cx="3208659" cy="256416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have problem!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(increase)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2325F33-F72E-4456-9446-1D6A7FDC4372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501818B-8FDD-4B41-8A50-B16BE2F5C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82DAD7A1-FBD8-498F-97E2-F3082D384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30C3842-217C-4011-A85E-CCBE2807226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0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 animBg="1"/>
      <p:bldP spid="26" grpId="0" animBg="1"/>
      <p:bldP spid="27" grpId="0" animBg="1"/>
      <p:bldP spid="27" grpId="1" animBg="1"/>
      <p:bldP spid="56" grpId="0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870F44F-A5BA-44B1-86CB-79283A3EDA55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6910C7B-FD84-4213-ACB0-6137D2385EFC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171FE806-4400-4AA6-9903-B4ADDD4F4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6E1A03C1-76AB-4800-B6DE-06D68D26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C6F38C-4A44-4298-B6CB-F4624C326B5C}"/>
              </a:ext>
            </a:extLst>
          </p:cNvPr>
          <p:cNvGrpSpPr/>
          <p:nvPr/>
        </p:nvGrpSpPr>
        <p:grpSpPr>
          <a:xfrm>
            <a:off x="964288" y="1932655"/>
            <a:ext cx="2870334" cy="1178051"/>
            <a:chOff x="964288" y="1932655"/>
            <a:chExt cx="2870334" cy="117805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4288" y="2332765"/>
              <a:ext cx="2870334" cy="777941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021926" y="1932655"/>
              <a:ext cx="2117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Distinguishable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99AD7F-0DFF-46B9-91F5-83AF29FBF0B6}"/>
              </a:ext>
            </a:extLst>
          </p:cNvPr>
          <p:cNvGrpSpPr/>
          <p:nvPr/>
        </p:nvGrpSpPr>
        <p:grpSpPr>
          <a:xfrm>
            <a:off x="964288" y="3499130"/>
            <a:ext cx="2787172" cy="1666741"/>
            <a:chOff x="964288" y="3499130"/>
            <a:chExt cx="2787172" cy="16667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D50B39-72B9-43F8-B31F-90CAAD34289D}"/>
                </a:ext>
              </a:extLst>
            </p:cNvPr>
            <p:cNvGrpSpPr/>
            <p:nvPr/>
          </p:nvGrpSpPr>
          <p:grpSpPr>
            <a:xfrm>
              <a:off x="964288" y="3499130"/>
              <a:ext cx="2787172" cy="1223569"/>
              <a:chOff x="964288" y="3499130"/>
              <a:chExt cx="2787172" cy="122356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705" y="3942302"/>
                <a:ext cx="2771755" cy="780397"/>
              </a:xfrm>
              <a:prstGeom prst="rect">
                <a:avLst/>
              </a:prstGeom>
            </p:spPr>
          </p:pic>
          <p:sp>
            <p:nvSpPr>
              <p:cNvPr id="30" name="TextBox 29"/>
              <p:cNvSpPr txBox="1"/>
              <p:nvPr/>
            </p:nvSpPr>
            <p:spPr>
              <a:xfrm>
                <a:off x="964288" y="3499130"/>
                <a:ext cx="23391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Indistinguishable</a:t>
                </a:r>
                <a:endParaRPr lang="en-US" sz="2000" b="1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1288826" y="4765761"/>
              <a:ext cx="2252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 i="1" dirty="0"/>
                <a:t>Identical</a:t>
              </a:r>
              <a:r>
                <a:rPr lang="en-US" sz="2000" dirty="0"/>
                <a:t> particle)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980479" y="2546366"/>
            <a:ext cx="1797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 configurations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850039" y="4147834"/>
            <a:ext cx="166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configuration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17F36F-2E89-44A3-80FE-9D4250F3CD25}"/>
              </a:ext>
            </a:extLst>
          </p:cNvPr>
          <p:cNvGrpSpPr/>
          <p:nvPr/>
        </p:nvGrpSpPr>
        <p:grpSpPr>
          <a:xfrm>
            <a:off x="153306" y="5511526"/>
            <a:ext cx="5562394" cy="704572"/>
            <a:chOff x="153306" y="5511526"/>
            <a:chExt cx="5562394" cy="704572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7290" y="5511526"/>
              <a:ext cx="4258410" cy="70457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11"/>
            <a:srcRect r="72066" b="66351"/>
            <a:stretch/>
          </p:blipFill>
          <p:spPr>
            <a:xfrm>
              <a:off x="153306" y="5571061"/>
              <a:ext cx="1251382" cy="46815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611221-59D2-429B-8C21-BB97DE3F054F}"/>
              </a:ext>
            </a:extLst>
          </p:cNvPr>
          <p:cNvGrpSpPr/>
          <p:nvPr/>
        </p:nvGrpSpPr>
        <p:grpSpPr>
          <a:xfrm>
            <a:off x="44752" y="5025768"/>
            <a:ext cx="1839071" cy="681857"/>
            <a:chOff x="44752" y="5025768"/>
            <a:chExt cx="1839071" cy="681857"/>
          </a:xfrm>
        </p:grpSpPr>
        <p:sp>
          <p:nvSpPr>
            <p:cNvPr id="6" name="TextBox 5"/>
            <p:cNvSpPr txBox="1"/>
            <p:nvPr/>
          </p:nvSpPr>
          <p:spPr>
            <a:xfrm>
              <a:off x="44752" y="5025768"/>
              <a:ext cx="18390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FF0000"/>
                  </a:solidFill>
                </a:rPr>
                <a:t>Overcounting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024128" y="5357361"/>
              <a:ext cx="433162" cy="350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60AE0B-BD62-40DC-B9FD-5664EFB4262F}"/>
              </a:ext>
            </a:extLst>
          </p:cNvPr>
          <p:cNvGrpSpPr/>
          <p:nvPr/>
        </p:nvGrpSpPr>
        <p:grpSpPr>
          <a:xfrm>
            <a:off x="1806597" y="6216098"/>
            <a:ext cx="3909103" cy="458802"/>
            <a:chOff x="1806597" y="6216098"/>
            <a:chExt cx="3909103" cy="458802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06597" y="6216098"/>
              <a:ext cx="39091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40917" y="6387002"/>
              <a:ext cx="415853" cy="287898"/>
            </a:xfrm>
            <a:prstGeom prst="rect">
              <a:avLst/>
            </a:prstGeom>
          </p:spPr>
        </p:pic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4ADF666-56DE-4ACF-8E33-56403D3FFF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94A4D3B-6B88-4F2E-90A3-4FC1FFE4F91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60E29C-9BC4-4D04-813E-652B6B7B1E59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DAAE0DB-4505-4B9F-8FAD-6EE36160DB9F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6AC729-3CE5-4443-BF41-0471256811FC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2F264D0-76EC-47B9-A5AE-BDD404832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8CF14AA-8D6E-46D1-8DA6-7CF4BF4D06B2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A349BC-0915-43B7-B667-960B9BECA853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A5FD954-BB4D-4D29-88CC-F92EC758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15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7" grpId="0"/>
      <p:bldP spid="40" grpId="0"/>
      <p:bldP spid="48" grpId="0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917" y="6387002"/>
            <a:ext cx="415853" cy="28789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1968" y="2679675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215" y="3361642"/>
            <a:ext cx="2569702" cy="61001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6533" y="4105473"/>
            <a:ext cx="2570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Density is the same.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CE9757-4FDE-4E71-B401-BB743F6D6EE7}"/>
              </a:ext>
            </a:extLst>
          </p:cNvPr>
          <p:cNvCxnSpPr>
            <a:endCxn id="56" idx="3"/>
          </p:cNvCxnSpPr>
          <p:nvPr/>
        </p:nvCxnSpPr>
        <p:spPr>
          <a:xfrm>
            <a:off x="6371924" y="6382077"/>
            <a:ext cx="42862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82D0605-80E3-4680-A946-8A48B65BF6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6CE779C-F67F-4F03-BA82-5305ACF7F846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BFBFCE-5367-4EB4-A769-44366FE746D3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F0AD88C-BE75-4BD7-8EE0-4A1DED2D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D7E530FB-D496-4796-8DB1-6BFB164E5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353B79A-8104-44B2-A3C1-5BBF81F430B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066CBCC-5BA9-49BB-A1DA-C2F8ABA37197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BA61BC-75BD-4F9A-83E8-BB008FFDB16E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2DFD3B-5B6F-4B4C-9D96-A83729F1E5EE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3FF12C6-6A68-444A-AF2D-86F93D7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116609-50EB-49AA-8B0F-DAC1EE13E23D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218848D-802F-4897-B8F1-096CBCDAC0F0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D07B6A0-4312-48EE-A86B-E18A33585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5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5" grpId="0" animBg="1"/>
      <p:bldP spid="51" grpId="0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6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478" y="2715443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1968" y="6414030"/>
            <a:ext cx="1079930" cy="336204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7962" y="5101400"/>
            <a:ext cx="956166" cy="628289"/>
            <a:chOff x="67962" y="5101400"/>
            <a:chExt cx="956166" cy="6282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962" y="5101400"/>
              <a:ext cx="956166" cy="260010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>
              <a:stCxn id="4" idx="2"/>
            </p:cNvCxnSpPr>
            <p:nvPr/>
          </p:nvCxnSpPr>
          <p:spPr>
            <a:xfrm>
              <a:off x="546045" y="5361410"/>
              <a:ext cx="232952" cy="368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024128" y="4826881"/>
            <a:ext cx="1086210" cy="837039"/>
            <a:chOff x="1024128" y="4826881"/>
            <a:chExt cx="1086210" cy="83703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24128" y="4826881"/>
              <a:ext cx="1086210" cy="259019"/>
            </a:xfrm>
            <a:prstGeom prst="rect">
              <a:avLst/>
            </a:prstGeom>
          </p:spPr>
        </p:pic>
        <p:cxnSp>
          <p:nvCxnSpPr>
            <p:cNvPr id="40" name="Straight Arrow Connector 39"/>
            <p:cNvCxnSpPr/>
            <p:nvPr/>
          </p:nvCxnSpPr>
          <p:spPr>
            <a:xfrm flipH="1">
              <a:off x="1190342" y="5144341"/>
              <a:ext cx="250539" cy="519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4518" y="4912189"/>
            <a:ext cx="751085" cy="2707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0030" y="5187180"/>
            <a:ext cx="1967875" cy="94001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1" name="TextBox 50"/>
          <p:cNvSpPr txBox="1"/>
          <p:nvPr/>
        </p:nvSpPr>
        <p:spPr>
          <a:xfrm>
            <a:off x="2474357" y="4394672"/>
            <a:ext cx="1676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gas 1 ≠ gas 2?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BDE1EAA-80F6-46A4-B497-A4AF458623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124" y="2574304"/>
            <a:ext cx="423004" cy="33047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6E567D3-97A7-42D8-9EA1-480BCC94E699}"/>
              </a:ext>
            </a:extLst>
          </p:cNvPr>
          <p:cNvGrpSpPr/>
          <p:nvPr/>
        </p:nvGrpSpPr>
        <p:grpSpPr>
          <a:xfrm>
            <a:off x="411799" y="3150742"/>
            <a:ext cx="4896932" cy="989812"/>
            <a:chOff x="411799" y="3150742"/>
            <a:chExt cx="4896932" cy="98981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62323" y="3824031"/>
              <a:ext cx="751085" cy="2707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2E244B8-7198-46B6-B800-B45D1E22F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8156" t="50000" r="34300"/>
            <a:stretch/>
          </p:blipFill>
          <p:spPr>
            <a:xfrm>
              <a:off x="1771716" y="3150742"/>
              <a:ext cx="3537015" cy="98981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FEA58BB-FF19-44B0-94D5-73F1517BC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799" y="3160960"/>
              <a:ext cx="1359917" cy="774636"/>
            </a:xfrm>
            <a:prstGeom prst="rect">
              <a:avLst/>
            </a:prstGeom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0E2107A-D175-4B71-93AC-B67208E83D53}"/>
                </a:ext>
              </a:extLst>
            </p:cNvPr>
            <p:cNvCxnSpPr/>
            <p:nvPr/>
          </p:nvCxnSpPr>
          <p:spPr>
            <a:xfrm>
              <a:off x="3131768" y="3752921"/>
              <a:ext cx="2646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3A60370-8303-4119-8172-3BBF9312E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10649" y="3645648"/>
              <a:ext cx="494965" cy="367232"/>
            </a:xfrm>
            <a:prstGeom prst="rect">
              <a:avLst/>
            </a:prstGeom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04786E41-D471-4DD5-BDF5-8CA57C46562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564C2DC7-55AC-40BE-96EC-CAA4FBDCFB5A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EF9D4A6-2685-4075-8DE6-A60B16DB8AB6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1A4FDA1C-C41D-4D14-8A01-46B6F9253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CF627AB6-9D32-4B31-9631-B50D6E711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83338CE-36B5-444C-A293-1505E67E26FF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9A92D8-1089-42BD-8D3B-BF4698EEAFC1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2FCE240-C6E7-4DF6-A642-D21F82AAD138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1B0736E-B182-41F5-B86B-EC37E647BE21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83B8A0AC-2935-45E2-A182-440910087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D1AF164-D622-4AB7-A252-ADFB5B9B0968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2559749-AB47-4AFE-9CBE-E02FC517E67F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DD31693-030A-4623-8DC4-89B8BA07B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35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3" grpId="0" animBg="1"/>
      <p:bldP spid="67" grpId="0"/>
      <p:bldP spid="68" grpId="0" animBg="1"/>
    </p:bldLst>
  </p:timing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FC5DC14-2B6B-4E3A-9134-76DC0E3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98345CE-472A-4169-8959-D2299714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CB4CAEE-E33B-4FA7-A9A7-80FBCB9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页｜Microcanonical, canonical, grand canonical ense…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D9A2B3-128B-42BD-AB27-C7245F8B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本讲主题：微正则、正则与巨正则系综；热力学定律与理想气体。原页写成 “idea gas”，按上下文应理解为 “ideal gas（理想气体）”。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B5D241E-03DA-4E5E-8AED-E5CD007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90034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4EF5BED-CE7F-4B27-A5A7-EA756D22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CF4FF30-E6CF-49D5-8D2D-07E09DD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3A9E73D-6312-4E27-904F-A99A41FE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54AAE3-6E7D-4939-AFF3-205BEEA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这一讲真正展开的是微正则系综：先从孤立系统的等概率假设得到熵与温度，再计算二能级系统和经典理想气体。正则与巨正则只在标题中预告，后续讲次再系统推导。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90B696E-DF23-4B1E-866B-CA57F9A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98787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CB3A8AE-5B2A-443F-B839-26A6A34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B544142-E0A3-4B95-A462-D068B46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F5C254-8305-4B4F-8DA3-C359307C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38DA0A0-D33D-4594-8458-1F75DC1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微正则系综描述总能量严格等于 E 的孤立系统。平衡概率密度为 ρeq(p,q)=δ(H(p,q)−E)/Ω(E)，其中 Ω(E)=∫δ(H(p,q)−E)dpdq 是能量壳的相空间“面积”。离散写法是：若 H(p,q)=E，则 pE=1/Ω(E)；否则为 0。相空间体积元为 dpdq=∏i=1^N d³qi d³pi。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6F583D1-D5AB-4544-AD6A-41CABD8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585455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75E4C3E-CD56-4683-88BE-13C80FC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2B5A08D-39A5-4008-AB68-2C7CA5F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B158C8C-AFF2-482F-B01B-3415D615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9FA234C-EACA-424E-9E6F-D0CF274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ρeq(p,q)=δ(H(p,q)−E)/Ω(E)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微正则平衡密度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Ω(E)=∫δ(H(p,q)−E)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能量壳态数或相空间测度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pE=1/Ω(E) if H(p,q)=E;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课件的分段离散表述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dpdq=∏i=1^N d³qi d³pi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粒子相空间体积元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FA8564B-9E5B-4C8D-8E54-07C31EBC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212064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0BBE725-5994-451C-B986-41EE3C2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F8EEABE-13F0-459B-B4AA-44971BA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B214C44-78A8-457E-99F1-807450A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0CCBAA-DABF-48AE-9B91-0F754CF4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 函数把概率限制在 H=E 的能量壳上，除以 Ω(E) 才能归一化。“等概率”不是整个相空间均匀，而是所有满足宏观约束的可达微观态等权。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9929891-0CA7-4DE3-B3FD-C775D23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90213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02F36DE-8DA0-4A7D-8604-8516B79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ADA5A54-1171-4848-BAC8-6B71D45E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E4D8B5-260E-43EB-83B3-46B5D9F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页｜Two weakly coupled systems in a microcanonical…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0FF2699-8F7C-4EB8-8605-7999793B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把两个弱耦合子系统 1、2 合成总能量固定的系统，E=E1+E2。各自微观态记为 μ1=(p1,q1)、μ2=(p2,q2)，联合微观态是 μ1⊗μ2。联合概率在 H1(μ1)+H2(μ2)=E 时为 1/Ω(E)，否则为 0。定义 Si(Ei)=kB ln Ωi(Ei)，则总态数 Ω(E)=∫dE1 Ω1(E1)Ω2(E−E1)=∫dE1 exp{[S1(E1)+S2(E−E1)]/kB}。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C73F1CA-2C1F-4ADD-89C0-4AAA26FA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181510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724C8D6-1F97-45C9-81BA-3C9B5C9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2FD65DB-898D-41AB-813F-D4B992C0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2F254C1-2203-42F7-9ED4-0FD2F7F7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4CC599F-AC89-4D88-9E41-3FF97060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E=E1+E2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总能量守恒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μ1,2=(p1,2,q1,2)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两个子系统的微观态记号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pE(μ1⊗μ2)=1/Ω(E) if H1(μ1)+H2(μ2)=E;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联合微正则概率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Si(Ei)=kB ln Ωi(Ei)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Ω(E)=∫dE1 Ω1(E1)Ω2(E−E1)=∫dE1 exp([S1(E1)+S2(E−E1)]/kB)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对能量分配的态数卷积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FDEE79B-7B79-4131-94FE-ECFE44D6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613548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3F41AB2-E1C4-4D85-BDBA-8CA7C9D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3882424-67F5-4C8D-9745-789C13D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9D81B38-61D9-4C7B-893B-611901DB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8930631-8F3E-47AA-BDE9-532E09D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给定能量分配 E1，两个子系统的组合数相乘；再对所有可能 E1 求和或积分。宏观平衡会被组合数最大的能量分配压倒，这是“最大熵”的计数来源。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EFC19E4-7ACD-46A2-8734-4C723F04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326282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50B11C0-A30D-4FA0-8F34-77886C3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4FBA9A8-0DF7-4902-AF1B-605C209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4EE625D-F2A9-4FFA-A03D-D6195E2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页｜Most probable energy division and maximum entro…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87E2A75-01FA-46CB-AA59-443D7655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当粒子数很大时，能量分配积分由尖锐峰值 E1* 主导。峰值条件为 ∂/∂E1[S1(E1)+S2(E−E1)]|E1*=0。于是 Ω(E)≈exp{[S1(E1*)+S2(E−E1*)]/kB}，平衡能量分配使总熵最大。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9D0AE82-1379-45B1-98F5-99C946C1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01315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69AA8D6-02F4-4253-ACD0-C703C9D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46ABE37-AE5D-4183-98D3-0950FF00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3742770-DB8A-49C2-9188-6F752D3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F60FBB9-719A-4D4D-9F75-4BB91EB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∂/∂E1 [S1(E1)+S2(E−E1)]|E1*=0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平衡能量分配的驻点条件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Ω(E)≈exp([S1(E1*)+S2(E−E1*)]/kB)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最大项近似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BD5B19C-A0FF-4A0B-8EDE-34CAD55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192000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96E373-1FE0-411E-B5A1-AA91013D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D7F5E47-3A5D-40E8-8F55-69C2F6B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D69F0A4-E632-4516-B568-02CE9D7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914A6F6-273D-4BF0-A773-99DD7349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这是鞍点近似或最大项近似：宏观系统的指数因子极尖，偏离 E1* 的分配相对权重指数级小。先求一阶导数为零，再检查它是最大值。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EA06C66-F8E2-4DC3-BA12-A3869E3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041630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57C16C-BC83-44FC-9B8F-5D3481B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D2F90F0-CD52-46EE-9B6C-2CBE42DE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B59220F-B1F0-4F34-BA95-7BAE4EFC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页｜Thermal equilibrium condition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1E6E46-4D18-49DC-880D-24E84226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对上一页的峰值条件用链式法则，得到 (∂S1/∂E1)*=(∂S2/∂E2)*=1/T，并有 E1*+E2*=E。也就是说，能量交换达到平衡时两个子系统温度相同。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95DFB57-CA0A-43F4-9AC3-7C9AEEA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820791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DB306B4-0EFA-4A1F-AE71-756E3FA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970DD7A-46EF-4522-ABB1-6E3D5D1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F7CA9AF-7292-45BE-936D-DE3180EE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25C0072-8CB7-4ADB-992A-B60E03D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∂S1/∂E1|*=∂S2/∂E2|*=1/T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热平衡与温度定义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E1*+E2*=E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平衡时仍满足总能量守恒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271CC22-A95B-4540-8A20-87D781B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398702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53C8DC-9202-4169-B1B3-A0814BC4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8DBB125-0059-4F21-8301-BDDCF5AD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97D813-910A-4FB6-B6C2-D63C8B1F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30F0D1C-43F3-469B-B1E9-B2BC42BE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温度在统计力学中可由熵对能量的斜率定义：1/T=∂S/∂E。斜率较大的一方得到少量能量所增加的态数更多，因此能量会重分配，直到两边斜率相等。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090867-99E6-40B6-9890-F02ED7A5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81149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8880317-06EC-44EA-A879-CF316441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D1DAFCC-09DD-4472-884F-700930D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CAABF1-1193-4612-8387-8EC449A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页｜Microcanonical ensemble with volume dependence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6E82D78-32C8-4D7C-9371-6420F2D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再次写出微正则分布：ρeq(p,q)=δ(H(p,q)−E)/Ω(E)，Ω(E)=∫δ(H(p,q)−E)dpdq。这里进一步强调，可达位置 q 的范围还取决于容器体积 V，因此态数和熵应写成 Ω(E,V) 与 S(E,V)。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6DBBB90-410D-482B-AAB2-E3E43C9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6907693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EE31AAA-6AA4-41D6-97FC-4F410998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203DCFD-D486-4EC9-8858-52EC0FA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003DFDB-B7D7-4ED3-A54F-CDEE627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63FCB4-63A7-44F2-BACD-90F7CDCA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ρeq(p,q)=δ(H(p,q)−E)/Ω(E)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Ω(E)=∫δ(H(p,q)−E)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能量壳测度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DF2F4F7-E316-4B93-8021-C5D9220B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8987108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926F09E-F5B2-4BD9-8D1C-5BFE57D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FDD3426-2530-4A10-A6EE-D9CB1ED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CDD16A1-8C4C-494F-949F-E7288DB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47DD0A-74EF-4A8E-9CB9-750B696B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体积不是在 Hamiltonian 公式外无关的标签；它通过边界条件限制位置积分范围。改变 V 会改变可达微观态数，从而改变熵与压强。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ADA418C-E616-4B7A-A484-06328E1F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3697261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C4910D-E667-4F30-817B-2D3F261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710414C-6A90-420E-96AD-1203962B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5D9C6D-6CF5-478E-B63F-91A180B5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页｜Statistical derivation of the first law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6A4C41-EB17-407D-889A-CB49E07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定义 S(E,V)=kB ln Ω(E,V)，并有 (∂S/∂E)V=1/T。让容器发生可逆微小变化 V→V−δV；课件采用功 W=PδV，因此能量 E→E+PδV。熵的全微分给出 (∂S/∂V)E=P/T，最终得到 dS=(∂S/∂E)VdE+(∂S/∂V)EdV，以及 TdS=dE+PdV。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26997D7-BA5B-446A-974E-338E046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047223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F4A3D96-FEA2-4AEF-A6C1-9770756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43BE403-98A4-4CB9-A861-C73939E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549D732-5661-43D2-87FB-F4BE39C6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337A6B-DB00-47AC-97E7-D070A842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S(E,V)=kB ln Ω(E,V)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(∂S/∂E)V=1/T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温度的统计定义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V→V−δV; E→E+PδV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课件采用的压缩过程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(∂S/∂V)E=P/T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压强的熵偏导定义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dS=(∂S/∂E)V dE+(∂S/∂V)E 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熵的全微分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TdS=dE+PdV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原页得到的热力学恒等式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2497411-3081-4DBD-A50F-408F1A6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815019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257BCE0-A511-49B4-9E60-25023317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33F8310-6441-4E7B-BC4E-C8532E5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00806B9-4F00-4269-9FBD-BCF48ABA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FAFBF43-B40D-4A6F-9B25-0C922A7F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统计定义把温度和压强都变成熵的偏导数。符号来自课件选取的体积变化方向；做题时先写完整微分，再核对“系统对外做功”还是“外界对系统做功”。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B926709-D49B-4255-9DBF-90A394AD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3929120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00A0485-DCCB-43F4-AD4A-03771E2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314D38A-9E11-4B37-9364-B4DADE2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ECA4B6D-7541-4AC9-9963-6673427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页｜Statistical interpretation of the second law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5145EB-4DD0-40DC-9A74-4A3FF5E7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第二定律的统计解释是 ΔS≥0。对两个交换能量的子系统，平衡分配 E1*、E2* 的组合态数不小于任意非平衡分配：Ω1(E1*,V1)Ω2(E2*,V2)≥Ω1(E1,V1)Ω2(E2,V2)。取对数即 S1(E1*)+S2(E2*)≥S1(E1)+S2(E2)。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45749DC-D380-4BD7-A285-3FAC684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0025858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A4D33BE-5602-48DA-970C-E64C5A0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6157C4E-C384-4407-948C-8E732ED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05F4774-59C5-4FC2-98B4-52994EB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6AAE2A8-88A7-49CB-906F-4007F3E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ΔS≥0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孤立系统的第二定律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Ω(E)≈exp([S1(E1*)+S2(E−E1*)]/kB)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大系统峰值权重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Ω1(E1*,V1)Ω2(E2*,V2)≥Ω1(E1,V1)Ω2(E2,V2)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平衡组合态数最大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S1(E1*)+S2(E2*)≥S1(E1)+S2(E2)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取对数后的最大熵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D4AA2D0-3F67-4521-BE10-EB3CC6A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883589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9A2C43C-4005-4794-9915-EDE4638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EFB8832-93FB-49F2-845F-ADB2C42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88EC7CC-48EF-4511-8F93-971918F4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C8B0DB8-9F83-4327-9D1C-576BF3D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孤立总系统不是被一条新力“推”向高熵，而是高熵宏观态对应压倒性更多的微观态。大系统离开峰值的概率极小，所以宏观上呈现不可逆方向。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FDF2D3C-24C0-4F78-B415-79C5827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9647570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B80608-A789-4D51-8C01-D9ADF4EE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93A3D22-65AD-48B8-A200-40244B4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14230D9-361B-4A71-A362-5BD4F23E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页｜Third law from the ground-state degeneracy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6EFCEA7-BC8C-4490-B1D9-782277F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第三定律的统计表述：lim(T→0)S(E)=lim(T→0)kB ln Ω(E)=kB ln Ω(E(0))。由 ∂S/∂E=kB∂lnΩ/∂E=1/T 可把能量写成 E(T)。E(0) 是基态能量，Ω(E(0)) 是基态简并度。若基态唯一，T→0 时 S→0；若有简并，残余熵为 kB ln Ω(E(0))。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9EA5648-9F8E-4BD6-9913-CF22139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2265278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4BA6B0B-2E65-4115-85D7-96F57956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DF5EB7D-5937-48C6-A311-B26D3745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50F5F5F-EF55-4CD8-812C-CF7A4A27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2B1C437-86A6-4BE2-AD0B-67213259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lim(T→0)S(E)=kB ln Ω(E(0))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零温熵与基态简并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∂S/∂E=kB∂lnΩ/∂E=1/T ⇒ E=E(T)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温度和能量的关系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E(0)=ground state energy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Ω(E(0))=ground-state degeneracy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基态简并度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E211B4-FE85-4600-A21B-1B79FEE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8973182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5FB2F0A-5DEF-42A8-BD4F-3CBE8145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4D5344-BD74-43F3-B68F-5FE88B8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FF5EA2-46D2-4FF2-B1AA-873E26D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DDFE928-55C4-4BDD-B17D-795B991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“熵趋零”需要唯一基态这一额外条件。存在冻结无序或基态简并时，零温仍可能有残余熵，因此不要把第三定律背成无条件等号 S(0)=0。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9726830-987B-4090-8559-082BF8A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135544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ECB82E8-2210-4E6B-B8AE-38CFC268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6A5A020-A0DE-4036-A6AE-AE5FA3A2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D731CF8-1AD4-470D-839D-5DEE22A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页｜Two-level system in the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B3CAA2F-048C-4026-A112-AD660BEF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考虑 N 个相互独立的二能级单元，每个占据数 ni=0 或 1，Hamiltonian 为 H({ni})=εΣi ni=εN1，其中 N1 是激发单元数。微正则概率仅在 E=εΣni 时非零。满足该能量的微观态数是 Ω(E,N)=N!/[N1!(N−N1)!]，并且 N1(E)=E/ε。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9BFC8C8-9812-4C3E-B353-AFC5A32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981742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6BD7240-35AF-4780-831F-1FB0BE0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1985340-C730-49B3-A798-BDCAA8FA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45072BD-02BC-427D-8BBA-0C84A26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F087E45-F3F0-4CF2-A98D-3F2CBAAA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ni=0 or 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每个单元的两种状态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H({ni})=εΣi ni=εN1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p({ni})=1/Ω(E,N) if E=εΣni;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Ω(E,N)=N!/[N1!(N−N1)!]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给定激发数的组合数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N1(E)=E/ε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能量对应的激发数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262D7A8-C7B0-4954-B47A-3425573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981213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84462D-55A3-4D90-AF77-ADB1A136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3FC6DD7-1A07-47BC-A020-6E07BA90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B58806E-EABA-47E9-9C81-5CB8622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1DF4775-B2B4-4BC4-A3E4-D0BB675F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宏观条件只规定“有 N1 个激发”，没有规定是哪 N1 个。因此态数就是从 N 个位置中选 N1 个的组合数。能量只能取 0、ε、2ε……Nε。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B811996-7136-40E2-910A-7B5EB7C2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0099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1FC0A0E-F953-4577-9A13-F35A64A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B878FE-2D4C-425D-8CF4-335440FE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18237A2-8AEA-4633-8CA0-EF3AF67A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页｜Entropy and caloric curve of the two-level sys…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01BEDD-647E-4EE6-8906-7D0AF61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 S=kB ln Ω，并对大 N 使用 Stirling 近似，课件得到 S(E,N)≈−NkB[(E/Nε)ln(E/Nε)+(1−E/Nε)ln(1−E/Nε)]。温度关系是 1/T=∂S/∂E=(kB/ε)ln[(Nε−E)/E]，反解得 E(T)=Nε/[exp(ε/kBT)+1]。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C553EF-BDCF-40CC-BF3B-80B2839C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708552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9C26785-8023-405B-A617-1BAE30F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305E86C-8940-4521-8BD9-BE5F55DC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099E2E0-088F-433F-9BA9-F24CBCD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9864259-2850-43A3-8BA4-C28E8B29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S=kB ln 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S(E,N)≈−NkB[(E/Nε)ln(E/Nε)+(1−E/Nε)ln(1−E/Nε)]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二能级系统熵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1/T=∂S/∂E=(kB/ε)ln[(Nε−E)/E]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微正则温度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E(T)=Nε/[exp(ε/kBT)+1]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能量—温度关系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623A0BC-0C9B-404C-8A19-96A5190A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1562678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773EB44-B632-4292-8A33-52EB853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5EF6FDE-8F21-4A7A-AE3A-457C4A90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FE0B134-EA17-486F-8DF7-34D1110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B5CDB90-FAD4-4B01-B12F-7CAFA89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令 x=E/(Nε) 是激发比例。熵在 x=1/2 最大；正温区对应 x&lt;1/2。公式也展示能量随温度从 0 上升并趋近 Nε/2。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8F2A1B-891B-4CAF-BBBD-88F30FB4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385969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67831A9-5A72-4B60-9FC3-529EA0D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E0774D-B2E6-4741-B392-03258DF1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AFE0D12-1085-4272-872F-8D76D60A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页｜Heat capacity of the two-level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FE6CEA4-16A9-485C-B189-010105F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二能级系统的能量为 E(T)=Nε/[exp(ε/kBT)+1]。定容热容 C=dE/dT=NkB(ε/kBT)² exp(ε/kBT)[exp(ε/kBT)+1]⁻²。低温时由能隙导致指数抑制 e^(−ε/kBT)；高温时热容按 (ε/2kBT)² 衰减。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C42794-4C30-40BB-85E3-706B6A5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0963008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467A8C6-A386-45FE-A40D-B874DFD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207F33F-1E40-4AE6-94D5-B09AB62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5EF8FB1-1D46-4060-B2E5-8A97069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439BDC0-1A25-4D29-A573-51A9B8B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E(T)=Nε/[exp(ε/kBT)+1]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C=dE/dT=NkB(ε/kBT)² exp(ε/kBT)[exp(ε/kBT)+1]⁻²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C∝e^(−ε/kBT) at low 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课件指出的低温指数行为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C∼(ε/2kBT)² at high 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课件指出的高温行为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0E04BF6-E527-4DBE-B635-CDAD923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1474668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5E104B4-692C-4F90-BFDF-6E0532DE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DD6F4AB-0CF5-460C-A979-B33EF04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B577409-EB5D-40F2-A548-04574599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759E46E-E2B9-4B57-B3D5-45EA8AE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热容在低温和高温都趋零，中间出现峰值。低温下很少有单元能跨越能隙 ε；高温下两能级占据接近各半，能量趋于饱和，再升温也难以增加能量。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B507D93-BF3F-4BD4-8659-9BE7147E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9608333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267FCA0-1C4D-44B5-828B-69AE583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38B20A5-E714-4D08-961C-8C93830E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A7123B5-8AAB-4AD5-925C-47254FC5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页｜Single-site occupation probability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644D5CF-EEF4-4D63-83F0-2F11092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固定总能量时，第一个单元处于 ni 状态的概率可由剩余 N−1 个单元的态数比得到：p(ni)=Ω(E−niε,N−1)/Ω(E,N)。因此 p(0)=1−N1/N，p(1)=1−p(0)。写成温度形式，p(0)=1/[1+exp(−ε/kBT)]，p(1)=exp(−ε/kBT)/[1+exp(−ε/kBT)]。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DB358A9-3A60-4160-88FC-777F78C1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6269220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01C0B57-B969-4079-94DE-F096ED36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8A79EEF-14B1-4161-A65B-A8A55D9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407F0F-EE5C-4C8F-A7A5-339D836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7D6CD16-8F2A-4089-84BF-88610843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p(ni)=Ω(E−niε,N−1)/Ω(E,N)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单个单元概率的态数比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p(0)=1−N1/N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p(1)=1−p(0)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激发态概率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p(0)=1/[1+exp(−ε/kBT)]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温度形式的基态概率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p(1)=exp(−ε/kBT)/[1+exp(−ε/kBT)]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温度形式的激发态概率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E27D517-8CD4-42DA-B353-5176666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2426264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0738A4-1956-447C-AEBC-E060341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08FB0C-01A3-4331-A47A-189A3B7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4970DF5-AFC4-4E22-8014-E89C39D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6ACD805-9076-4F03-AB16-B685A324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虽然总系统处在微正则系综，单个小单元把其余部分看作热库后呈现 Boltzmann 型权重。这里已经预示正则分布从“大系统的一小部分”自然出现。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85A01C5-4E95-4B82-9F6B-EB27AAB6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5918075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6A5C58-DA0C-4957-8BA6-B831F612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6DEA13C-AD4D-444F-B4C2-F5C80E6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E8473C-BEC7-423E-905D-B1E4AAF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页｜Classical particles with K energy levels: cons…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A5DF0AB-6348-483C-A96D-88C1D33E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本页开始把二能级推广到 N 个经典粒子和 K 个能级：用各能级占据数描述宏观分布，并在总粒子数、总能量约束下寻找微观态数最大的分布。课件说明将使用 Lagrange 乘子法。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C3DA9EE-714A-4F61-B35C-114D058A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5289556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8309AA8-97BC-4997-9016-F6095C01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4BC0F6D-A35A-4D22-AF4C-89B5ED1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F5680F0-59C6-4BBA-8B3D-81B4C11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B03ED6D-B8B2-4866-A372-EA4B8A1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先分清三个层次：单粒子能级、每级有多少粒子、满足同一组占据数的排列数。极值问题的目标是最大化组合数（或其对数），约束是粒子数守恒和能量守恒。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0EFBD92-18F8-427E-B4DA-660F680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7901123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81FCBC8-0B47-4C9B-A700-5E186AA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11144DB-C3D9-47B4-95D6-B77BFAFA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373084-84DF-4A06-A66C-BAA3511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页｜Most probable distribution from Lagrange multi…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16E6A2A-BE81-42C3-BEB1-9D6AEC7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本页延续约束极值计算：对占据数使用 Lagrange 乘子，解出最概然的能级分布，并把乘子与归一化、能量约束联系起来。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353DBAB-24B3-4E7C-927F-E1C5BE03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319294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2982DF4-2624-4A8D-AEFF-58248C13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8A31EC5-4784-42AB-A8BF-3C80C76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D734C01-5933-4FEE-9887-9564C753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0D48A24-D5FD-4547-99CC-10C5819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学习时应能复述流程：写 ln(组合数)；对每个占据数求偏导；加入两个约束；解出指数形式；最后用约束确定常数。原页关键公式对象未正常渲染，因此这里不把标准结果冒充为课件原式。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2B355DA-C38D-431E-9688-C0A26A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773945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217F3CB-1B22-4EFC-B69F-A722BB0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25C14FC-7ED7-4B3D-B5E6-10423AA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FAF9E8B-09E4-46F7-A0CB-EF00EC6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页｜Classical ideal gas in the microcanonical ense…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EAEC379-DE5C-4238-8C26-B3F3CC6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 Hamiltonian 为 H=Σ[p_i²/(2m)+U(q_i)]。硬壁容器内 U=0，容器外 U=∞。因此 Ω(E,V,N)=∫δ(H−E)dpdq=V^N∫δ(Σp_i²/2m−E)dp。动量约束对应 3N 维空间中的球面，半径 R=√(Σ_i p_i²)=√(2mE)。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B1CF65A-5C4E-4ED2-979F-D066DE0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8071013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97714B-9400-4528-8979-3AEA4163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9E15E15-7611-4DFD-9B5E-92CC0BF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F4088FE-493C-40E1-B9FE-BB68ADA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5644BFF-4E93-4B97-B707-5C8D80E0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H=Σ[p_i²/(2m)+U(q_i)]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 Hamiltonian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U(q)=0 inside; ∞ outside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硬壁边界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Ω(E,V,N)=∫δ(H−E)dpdq=V^N∫δ(Σp_i²/2m−E)dp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位置积分后的态数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R=√(Σ_i p_i²)=√(2mE)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动量球面半径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E249FE7-C466-4A6B-A55B-BDD43D0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5188765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C566D0-AAE1-415A-B092-6AF58E1B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FC0F59-7D2A-41D9-A1BD-E1BAE4C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2152DE9-5D52-4EF9-90E0-AD6FA5B0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99CB9E1-8C11-44E0-8A76-A444905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位置积分每个粒子给一个 V，所以得到 V^N；剩余问题是计算 3N 维动量球壳的面积。高维几何是这里最容易卡住的前置知识。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DDB595-8C43-427F-A61E-D5C3665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9084126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E840C4D-AEE5-4315-9647-81DFD02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E49EA86-3DE9-40EB-94EE-E51701F7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D8FC76C-49D1-43AC-90DF-22C1232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页｜Surface area of a high-dimensional sphere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BF4B967-C509-4711-BF9E-748E0BE7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本页用二维球面（普通球面）面积 ∫₂-sphere dS₂=4π 作为检查，随后把结果推广到高维动量球面，以便计算理想气体的 Ω(E,V,N)。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667630C-431A-4A54-BF90-2E7A39E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2117827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040FE57-F803-47B5-A6D3-883EB0E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C2E4E3C-92AC-4BF9-B7E2-A3383EC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CAACC5D-028E-4F9D-BD99-C21881A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9F0FC85-D5CF-41C1-BF4E-836B7BAF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∫₂-sphere dS₂=4π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原页可辨认的单位二维球面面积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5EA61BE-A0AD-4B55-A699-EAC67017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464669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F2C984A-6450-4DCA-BD9F-655950F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FB373CB-5FD1-4954-8212-41BB82C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53A665C-6F81-4B84-82DA-F3547AC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48AB93-B165-4373-8A1A-CB92D07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普通三维空间中半径为 1 的球面面积是 4π；统计力学需要的是 3N 维动量空间的球面测度。要特别区分“d 维球体的体积”和“其边界 (d−1) 维球面的面积”。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9F6F8E-FC34-4536-8590-141EAEB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2372862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1C85F56-4DD6-4AD7-8233-0176D06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F406B9-B9E6-4203-B51D-0E97F67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273BA6-EF1C-44F0-BA6D-9EE19E1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页｜Gaussian integral and Gamma function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999D8BE-D7DD-462A-A1D0-14C25DE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为求高维球面因子，课件引入 d 维 Gaussian 积分：I_d≡(∫_{−∞}^{∞}dx e^{−x²})^d=π^{d/2}，也可写成 I_d=∫∏_{i=1}^d dx_i exp(−Σ_i x_i²)，并令 R²=Σ_i x_i²。随后用径向积分与 Gamma 函数比较系数。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8D8FDBA-2539-4A6C-8D28-8529AB5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5917907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006D28-293F-42B8-B620-97E3AE5E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FFCCB72-10CC-4ED0-8538-85E2E489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39229E1-4F5A-4A7C-8F26-8CAFA13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9245381-4F50-450D-8BE5-BBEA545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I_d≡(∫_{−∞}^{∞} dx e^{−x²})^d=π^{d/2}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 个独立一维 Gaussian 积分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I_d=∫∏_{i=1}^d dx_i exp(−Σ_i x_i²)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 维直角坐标形式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R²=Σ_i x_i²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高维径向坐标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B20A8D-89E1-4E9E-A8B6-0994313D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924327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4F885A-FA50-4E92-AB2C-03EEB6D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05A9FFC-C5DA-4E57-B0F2-4DFF6AD4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6BC401-B980-45E6-936D-425C6CA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E44CBE2-C6A5-4EE6-9AF7-CB1BF42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同一个积分用直角坐标算一次、用高维球坐标再算一次，就能反推出球面面积常数。Gamma 函数把阶乘推广到非整数，尤其处理 d/2 为半整数的情形。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0257D8C-6C9D-42D0-B27F-B447523B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210341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1883573-2F35-4523-B2E1-3038D4B8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EDD825-43D9-4CD6-BC4D-8AC87078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47D6BB8-5512-4718-916F-F242DB1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页｜Entropy of a classical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6F4053-E35E-4967-9338-A955DA3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代入高维球面结果后，课件写出理想气体态数的系数，其中可辨部分包含 2π^(3N/2)/(3N/2−1)!。使用 Stirling 近似后，S(E,V,N)=kB[N ln V+(3N/2)ln(2πmE)−(3N/2)ln(3N/2)+3N/2]=NkB ln[V(4πemE/3N)^(3/2)]。由 ∂S/∂E=1/T 得 E=3NkBT/2。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F9FFF5-7C8F-4A3A-9DDC-A1111AD2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0534107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4503AC-D93B-4678-83A2-5E2CBBAF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D80926E-12CB-4773-B0B8-5BF013B9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DC7D69F-6A29-480A-B46C-092DA6A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E23899-3815-4B42-B8D7-FD013CF2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2π^(3N/2)/(3N/2−1)!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原页态数表达式中可辨认的高维球面系数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S(E,V,N)=kB[N ln V+(3N/2)ln(2πmE)−(3N/2)ln(3N/2)+3N/2]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Stirling 近似后的熵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S(E,V,N)=NkB ln[V(4πemE/3N)^(3/2)]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原页合并形式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∂S/∂E=1/T ⇒ 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BCFA082-6361-4615-B142-FD5C91D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3943887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BAF7C97-3CE9-47FC-8CAD-9A1B54C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39721B1-0900-4787-ACE0-C59C6EF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9C6DBF-223D-406B-B18D-CC2E524C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18A5DAD-A400-4C32-B823-D304D374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这版熵暂未除以 N!，所以还不是最终的广延形式；后面讨论 Gibbs paradox 时会修正。此处先看能量依赖：3N 个二次动量自由度各贡献平均能量 kBT/2。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1C9DE10-2FF2-408E-95E1-4808947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2775288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6DA3CC8-229B-4FDD-81B5-B80BD3E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F665A9A-5D97-448D-BDC0-C944479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1CC8839-BE42-4648-965B-BA5B22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页｜Ideal-gas energy, heat capacity, and equation…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2F9F97-96F8-4075-933D-6E0BCAF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由上一页得到 E=3NkBT/2，因此定容热容 CV=(∂E/∂T)V=3NkB/2。再由 P/T=(∂S/∂V)E,N=NkB/V，得到理想气体状态方程 PV=NkBT。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5B22F49-5E7B-4A83-9887-033C01A9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441364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069F0E5-8F12-4206-8211-C25306E6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106016-D718-442F-96F9-5CCA6111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9723F98-74AA-41E7-A302-B4EA141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FB12226-9C80-4261-8002-C232911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CV=(∂E/∂T)V=3NkB/2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定容热容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P/T=(∂S/∂V)E,N=NkB/V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压强的熵导数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D3F28EE-FF5A-45D8-B17C-5160520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6121222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7C07569-280D-4E68-AC78-2181601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D125D85-3C67-4194-B222-1242FE3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B8A0087-1875-47DA-A158-46949AA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A11502-BD68-4D64-9DC2-C3B34D1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同一个微正则熵同时产生量热关系和力学状态方程：对 E 求偏导定义 T，对 V 求偏导定义 P/T。这正是“从态数导出热力学”的核心范例。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009B41-8BB5-4D37-B73C-FF48495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9086242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25F0E39-BE20-492F-A815-F129947B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053764-EA40-4800-B196-FF3B5F6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B50EB57-F717-4278-8C46-A9A0071E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页｜Maxwell–Boltzmann momentum distribution from t…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2424C5B-5292-4242-864A-A39AB43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抽取第一个粒子的动量 p⃗1，其余 N−1 个粒子承担能量 E−p⃗1²/(2m)。态数比给出中间因子 VΩ(E−p⃗1²/2m,V,N−1)/Ω(E,V,N)，大 N 极限使用 (1−p⃗1²/2mE)^(3N/2−2)，最终得到 p(p⃗1)=1/(2πmkBT)^(3/2) exp[−p⃗1²/(2mkBT)]。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3CEF37C-A22D-46D6-8742-B062BCF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7066488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375073-BBE7-42A0-8A70-FB7C11E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1374613-8105-4755-A817-7A6133D6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B0E54D-F8D7-42B3-85D1-9BFFC0A5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CD58B3B-B27E-4D6D-9E59-99F6A490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 Ω(E−p⃗1²/2m,V,N−1)/Ω(E,V,N)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单粒子动量的态数比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(1−p⃗1²/2mE)^(3N/2−2)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大 N 极限前的因子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p(p⃗1)=1/(2πmkBT)^(3/2) exp(−p⃗1²/(2mkBT))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三维动量分布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1D3A41-D4BD-4532-8865-E66D232F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4730732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A75ED64-D20E-4734-A91B-3C47221C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E911B66-B4CF-4AEB-9775-DF893266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840DD55-4044-4EA3-A16F-8DEE76B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5AFBF4-1ED7-4E79-8A87-466CD95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总系统能量固定，但一个粒子与其余粒子交换能量，因此单粒子呈现正则的 Gaussian 动量分布。关键近似是 N 大且单粒子能量远小于总能量。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43A080-F489-4BD6-BFC6-4FCFB3D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7525068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F05805C-389F-4669-87E7-9AC8A4DA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584EF66-34A4-4709-AC57-7AD7B69D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1370B22-75C6-4AE7-8103-515E547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页｜Microcanonical ensemble summary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A7EE6E7-B2A4-44B1-914D-7D7EDF37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总结：微正则系综适用于固定 E、V、N 的孤立系统，能量壳上等概率；熵为 S=kB ln Ω；温度和压强由熵的偏导得到。本讲用二能级系统与理想气体检验这些关系，并得到单粒子 Maxwell–Boltzmann 分布。原页最后一句 “energy fluctuation of each particles is” 后没有给出完整内容。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6ED6412-64D2-4467-A592-02E63482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0819152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38A5857-4888-4131-805C-4783240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32B8B86-52F6-4936-99E1-925EF7B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EB9D381-4FFF-4326-9CAA-5C438E0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218C6A-5E8D-4701-93B1-EDAB61C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ρeq=δ(H−E)/Ω(E)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微正则分布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S=kB ln 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2CC7C6-9B99-4E10-AEC5-06FE0720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142602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19F2A11-A166-4BB2-8DF6-5FF6D91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8542080-914B-4D42-9B15-2D81B957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523577D-FA85-4041-A443-A3EC237A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8FB5673-80D6-47A0-997F-A2BB002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复习时按一条链记忆：约束 → ρ 与 Ω → S → 偏导定义 T、P → 具体模型积分或计数。若这条链能独立写出，就不容易把各公式孤立背诵。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36514D2-193C-4455-98F6-6390A91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6511398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60FE416-F2E2-4EA1-A2C4-6B2114D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19E3DC-44CB-4403-AC6C-E8101CB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9ADDA69-02E4-4EDD-85AD-D2A5467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页｜Different definitions of the microcanonical en…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97C85B3-CE17-425C-B454-3409D87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微正则态数有多种接近但不完全相同的定义。能量窗态数 Γ(E)=ω(E)Δ；态密度 ω(E)=∂Σ(E)/∂E；累积相空间体积 Σ(E)=∫_{H(p,q)&lt;E}d^{3N}p d^{3N}q。相应熵可写作 S∼k log Γ(E)、S=k log ω(E) 或 S=k log Σ(E)，并可能相差常数。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6747FB4-B734-4570-BAA0-56A6CD39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5626317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A5E15B4-C8BA-4615-9177-7C66FC3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C319B5D-8537-4D48-8F4E-776C734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4FA858-7506-4AB8-AA4D-99B539E3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56CF0DD-637F-4086-BB8B-0A27EEF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Γ(E)=ω(E)Δ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窄能量窗中的态数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ω(E)=∂Σ(E)/∂E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态密度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Σ(E)=∫_{H(p,q)&lt;E} d^{3N}p d^{3N}q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能量壳内部的累积相空间体积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S∼k log Γ(E)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能量窗熵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 log 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态密度熵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 log Σ(E)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累积体积熵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2042A91-8264-4F08-A461-29ADE40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27943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B4782AE-45EE-4937-9D43-F8E6859A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EB6E047-1C3A-482C-821C-55A3A355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D708AC3-401D-4090-8901-21259FBE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E21F403-9C94-4019-8B65-3652722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有限系统中这些定义可产生细微差别；热力学极限下常给出相同的主导行为。做题必须先看老师把 Ω 指能量壳、能量窗还是壳内体积，不能只凭字母猜。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B46B24-0951-4F22-8903-ADECEF6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885025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F1AA0D3-ED9B-4225-BD89-D456CE3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B06C3EB-39BF-4F19-925D-825B78B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C847043-2F39-490E-A15F-AD17754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页｜Gibbs paradox: mixing identical gases without…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2EEA762-4F20-42D1-B841-BB28486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课件先使用未作不可区分性修正的熵 S(E,V,N)=NkB ln[V(4πemE/3N)^(3/2)]，并写成 S(T,V,N)=NkB ln[Vσ(T)]，σ(T)=(2πemT)^(3/2)，且 E=3NkBT/2。两份气体混合后，得到 ΔS=kB ln[(V1+V2)^(N1+N2)/(V1^N1 V2^N2)]，即使气体完全相同也预测正混合熵，这就是 Gibbs 悖论。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75EA475-1C60-45ED-B8E9-656141F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391219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75A85F-712B-4829-95C4-E5EB512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3F9C6F2-45AF-469E-8257-61F18023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66F7ABF-0C85-4172-B88C-7874C35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3AA6B5A-CD56-45CF-8495-68BE9A1E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S(E,V,N)=NkB ln[V(4πemE/3N)^(3/2)]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未除 N! 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S(T,V,N)=NkB ln[Vσ(T)]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σ(T)=(2πemT)^(3/2)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原页定义；按原式保留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ΔS=kB ln[(V1+V2)^(N1+N2)/(V1^N1 V2^N2)]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未修正计数得到的混合熵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4C53424-5C32-48A5-9E66-3AECAB6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6507006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181045F-6B2B-4EE6-92D5-EDDE649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B3F269-43E2-4C9E-8C46-A85C035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5986E1E-4E89-4C88-8D9C-A04FAB7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4716E22-5BE9-4CC5-9B4C-DFBDED8C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悖论来自把同种粒子的交换误计为新微观态。移去隔板前后，若气体相同、密度相同，宏观上没有可区分变化，熵不应跳增。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F235C3-5000-4D02-B842-48C1CF6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2550619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68F094-CF3F-4CC4-995A-E4DD4EEC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B9F4DE2-100F-4BAB-B0C3-746AE1BF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BDD85D5-8432-443F-A249-5A27E3D9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页｜Indistinguishable particles and the N! correct…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4F2180F-E302-41E7-BA29-5D244F8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对相同粒子，交换两个粒子标签不产生新的物理微观态。因此经典相空间计数要把原来的 Ω 除以 N!，消除由标签排列造成的重复计数。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6BF2EF5-1E31-4AFD-9402-EFFEC465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76483284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3982652-88A0-4E5A-AEC4-F715FD7B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3128551-3BA2-49FC-9DEF-43D943F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815BD7-D6BE-405D-86DC-DB1AFB9D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475FEE9-7F35-45A6-9578-AED079CF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Ωcorrected=Ω/N!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不可区分粒子的计数修正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EAB5FC8-7EA8-4C3B-BDAC-F683D787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56305502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1E10A1F-23AC-40B4-906A-F618A9A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B40515A-3F43-4095-B3A0-A0ABF4B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F3374DC-A8A7-46CB-9CD6-2DB50DF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7B5301C-3B6D-4D74-BE9D-D5FDD98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N! 修正不是随意“修公式”，而是在承认相同粒子的标签不可观测。用 Stirling 近似 ln N!≈N ln N−N 后，熵中会出现 V/N，使其恢复广延性。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A943F7F-6445-4427-B24A-0D3E7AB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573928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666B8CE-34E1-4265-918C-2A3087D8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8C4AC07-C9B9-4000-B46C-213111D3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0E6213E-7ACA-4DCE-8C1E-58923BC5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页｜Resolution of Gibbs paradox for identical gases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DF73C5C-CCBA-455D-90A0-A38ADF9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除以 N! 后，熵改为 S=NkB ln[(V/N)(4πemE/3N)^(3/2)]。若两侧同种气体密度相同，N1/V1=N2/V2=(N1+N2)/(V1+V2)，移除隔板后每一项的 V/N 不变，因此 ΔS 变为 ln1=0。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74A57A6-AAD7-40BF-9D94-484C14C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9517290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B1C8909-2482-4621-A694-2F22F649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75D139A-69D3-491F-BDCB-22634CC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111D8CF-AE41-4969-B2FD-E511E532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4B2983A-227D-4F64-A374-9AF564A1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S=NkB ln[(V/N)(4πemE/3N)^(3/2)]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N! 修正后的熵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N1/V1=N2/V2=(N1+N2)/(V1+V2)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同种气体等密度条件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ΔS=kB ln 1=0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同种气体混合无熵变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6DBD23-452D-4890-999E-9AA3B3F4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4744651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2D6E56E-41C2-49E5-AC70-9E2A48F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D951846-DC6D-46FA-BEBF-565AD0D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5F7AB44-62C6-48EA-9253-048B578E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0735E75-8C9D-4D59-A14B-34211B44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这里的取消依赖“同种气体且初始密度相同”。修正后的熵只依赖每粒子可用体积 V/N，而不是独立依赖 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B9C8EC-1588-41BD-819C-D399199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9492293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487BAD-50A3-4645-868B-CE137D81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CD43E2B-502A-4376-9229-331393B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D306CC-8DCA-4587-97BF-3487D29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页｜Mixing different gases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D448187-EEED-4AEB-B53F-23674C6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若两侧是不同种气体，交换不同种类的粒子是可辨别的。计数只能分别除以 N1! 与 N2!，不能除以 (N1+N2)!。移除隔板后每种气体都可进入更大体积，因此仍有真实的正混合熵。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FAB74AA-87BC-4D54-AE28-ED37707C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8707096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94C20A7-957A-4933-B47C-364942B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3C3F975-0287-4002-8F6A-F10AB71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F8E768-1B46-4430-B82D-E070221C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7EC07CA-DE97-4B25-9363-624BDC37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divide by N1!N2!, not by (N1+N2)!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不同组分分别做不可区分修正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7B7D01D-8491-43A1-B2B8-C48A86D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51927025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87EFFE4-01CB-4563-8096-F4AD86A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122B9EC-7F3E-4BB5-B396-CC046FB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F3FC77-CC18-4C49-8CB3-48CB2A1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A84D6DD-853E-4F4F-A505-1154AD8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判断该除哪个阶乘：只对“交换后不可观测”的同种粒子标签做商除。不同气体的种类标签可观测，所以混合前后的组分分布确实改变。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72F45C3-85EB-4816-A236-5DF8BB9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34704117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700</Words>
  <Application>Microsoft Office PowerPoint</Application>
  <PresentationFormat>Widescreen</PresentationFormat>
  <Paragraphs>171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ensemble: two level system</vt:lpstr>
      <vt:lpstr>Microcanonical ensemble: two level system</vt:lpstr>
      <vt:lpstr>Microcanonical ensemble: two level system</vt:lpstr>
      <vt:lpstr>Microcanonical ensemble: two level system</vt:lpstr>
      <vt:lpstr>Lagrange Multiplier and the most probable distribution.</vt:lpstr>
      <vt:lpstr>Lagrange Multiplier and the most probable distribution.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Questions</vt:lpstr>
      <vt:lpstr>Microcanonical ensemble</vt:lpstr>
      <vt:lpstr>Gibbs paradox</vt:lpstr>
      <vt:lpstr>Gibbs paradox</vt:lpstr>
      <vt:lpstr>Gibbs paradox</vt:lpstr>
      <vt:lpstr>Gibbs paradox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1662</cp:revision>
  <dcterms:created xsi:type="dcterms:W3CDTF">2024-08-25T23:32:26Z</dcterms:created>
  <dcterms:modified xsi:type="dcterms:W3CDTF">2025-09-29T12:34:38Z</dcterms:modified>
</cp:coreProperties>
</file>