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5"/>
  </p:notesMasterIdLst>
  <p:sldIdLst>
    <p:sldId id="336" r:id="rId2"/>
    <p:sldId id="434" r:id="rId20"/>
    <p:sldId id="435" r:id="rId21"/>
    <p:sldId id="318" r:id="rId3"/>
    <p:sldId id="436" r:id="rId22"/>
    <p:sldId id="437" r:id="rId23"/>
    <p:sldId id="438" r:id="rId24"/>
    <p:sldId id="417" r:id="rId4"/>
    <p:sldId id="439" r:id="rId25"/>
    <p:sldId id="440" r:id="rId26"/>
    <p:sldId id="441" r:id="rId27"/>
    <p:sldId id="420" r:id="rId5"/>
    <p:sldId id="442" r:id="rId28"/>
    <p:sldId id="443" r:id="rId29"/>
    <p:sldId id="444" r:id="rId30"/>
    <p:sldId id="421" r:id="rId6"/>
    <p:sldId id="445" r:id="rId31"/>
    <p:sldId id="446" r:id="rId32"/>
    <p:sldId id="447" r:id="rId33"/>
    <p:sldId id="433" r:id="rId7"/>
    <p:sldId id="448" r:id="rId34"/>
    <p:sldId id="449" r:id="rId35"/>
    <p:sldId id="450" r:id="rId36"/>
    <p:sldId id="418" r:id="rId8"/>
    <p:sldId id="451" r:id="rId37"/>
    <p:sldId id="452" r:id="rId38"/>
    <p:sldId id="453" r:id="rId39"/>
    <p:sldId id="423" r:id="rId9"/>
    <p:sldId id="454" r:id="rId40"/>
    <p:sldId id="455" r:id="rId41"/>
    <p:sldId id="456" r:id="rId42"/>
    <p:sldId id="422" r:id="rId10"/>
    <p:sldId id="457" r:id="rId43"/>
    <p:sldId id="458" r:id="rId44"/>
    <p:sldId id="424" r:id="rId11"/>
    <p:sldId id="459" r:id="rId45"/>
    <p:sldId id="460" r:id="rId46"/>
    <p:sldId id="461" r:id="rId47"/>
    <p:sldId id="425" r:id="rId12"/>
    <p:sldId id="462" r:id="rId48"/>
    <p:sldId id="463" r:id="rId49"/>
    <p:sldId id="464" r:id="rId50"/>
    <p:sldId id="426" r:id="rId13"/>
    <p:sldId id="465" r:id="rId51"/>
    <p:sldId id="466" r:id="rId52"/>
    <p:sldId id="467" r:id="rId53"/>
    <p:sldId id="431" r:id="rId14"/>
    <p:sldId id="468" r:id="rId54"/>
    <p:sldId id="469" r:id="rId55"/>
    <p:sldId id="47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3" Type="http://schemas.openxmlformats.org/officeDocument/2006/relationships/image" Target="../media/image3.emf"/><Relationship Id="rId7" Type="http://schemas.openxmlformats.org/officeDocument/2006/relationships/image" Target="../media/image7.svg"/><Relationship Id="rId12" Type="http://schemas.openxmlformats.org/officeDocument/2006/relationships/image" Target="../media/image12.emf"/><Relationship Id="rId17" Type="http://schemas.openxmlformats.org/officeDocument/2006/relationships/image" Target="../media/image17.png"/><Relationship Id="rId2" Type="http://schemas.openxmlformats.org/officeDocument/2006/relationships/image" Target="../media/image2.emf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emf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emf"/><Relationship Id="rId4" Type="http://schemas.openxmlformats.org/officeDocument/2006/relationships/image" Target="../media/image4.png"/><Relationship Id="rId9" Type="http://schemas.openxmlformats.org/officeDocument/2006/relationships/image" Target="../media/image9.emf"/><Relationship Id="rId14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13" Type="http://schemas.openxmlformats.org/officeDocument/2006/relationships/image" Target="../media/image21.emf"/><Relationship Id="rId3" Type="http://schemas.openxmlformats.org/officeDocument/2006/relationships/image" Target="../media/image5.svg"/><Relationship Id="rId7" Type="http://schemas.openxmlformats.org/officeDocument/2006/relationships/image" Target="../media/image19.emf"/><Relationship Id="rId12" Type="http://schemas.openxmlformats.org/officeDocument/2006/relationships/image" Target="../media/image20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11" Type="http://schemas.openxmlformats.org/officeDocument/2006/relationships/image" Target="../media/image10.emf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9.emf"/><Relationship Id="rId4" Type="http://schemas.openxmlformats.org/officeDocument/2006/relationships/image" Target="../media/image6.png"/><Relationship Id="rId9" Type="http://schemas.openxmlformats.org/officeDocument/2006/relationships/image" Target="../media/image8.emf"/><Relationship Id="rId14" Type="http://schemas.openxmlformats.org/officeDocument/2006/relationships/image" Target="../media/image2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18" Type="http://schemas.openxmlformats.org/officeDocument/2006/relationships/image" Target="../media/image32.emf"/><Relationship Id="rId3" Type="http://schemas.openxmlformats.org/officeDocument/2006/relationships/image" Target="../media/image5.svg"/><Relationship Id="rId7" Type="http://schemas.openxmlformats.org/officeDocument/2006/relationships/image" Target="../media/image8.emf"/><Relationship Id="rId12" Type="http://schemas.openxmlformats.org/officeDocument/2006/relationships/image" Target="../media/image26.emf"/><Relationship Id="rId17" Type="http://schemas.openxmlformats.org/officeDocument/2006/relationships/image" Target="../media/image31.emf"/><Relationship Id="rId2" Type="http://schemas.openxmlformats.org/officeDocument/2006/relationships/image" Target="../media/image4.png"/><Relationship Id="rId16" Type="http://schemas.openxmlformats.org/officeDocument/2006/relationships/image" Target="../media/image30.emf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5.emf"/><Relationship Id="rId5" Type="http://schemas.openxmlformats.org/officeDocument/2006/relationships/image" Target="../media/image7.svg"/><Relationship Id="rId15" Type="http://schemas.openxmlformats.org/officeDocument/2006/relationships/image" Target="../media/image29.emf"/><Relationship Id="rId10" Type="http://schemas.openxmlformats.org/officeDocument/2006/relationships/image" Target="../media/image24.emf"/><Relationship Id="rId19" Type="http://schemas.openxmlformats.org/officeDocument/2006/relationships/image" Target="../media/image33.emf"/><Relationship Id="rId4" Type="http://schemas.openxmlformats.org/officeDocument/2006/relationships/image" Target="../media/image6.png"/><Relationship Id="rId9" Type="http://schemas.openxmlformats.org/officeDocument/2006/relationships/image" Target="../media/image23.emf"/><Relationship Id="rId1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18" Type="http://schemas.openxmlformats.org/officeDocument/2006/relationships/image" Target="../media/image37.emf"/><Relationship Id="rId3" Type="http://schemas.openxmlformats.org/officeDocument/2006/relationships/image" Target="../media/image5.svg"/><Relationship Id="rId21" Type="http://schemas.openxmlformats.org/officeDocument/2006/relationships/image" Target="../media/image17.png"/><Relationship Id="rId7" Type="http://schemas.openxmlformats.org/officeDocument/2006/relationships/image" Target="../media/image8.emf"/><Relationship Id="rId12" Type="http://schemas.openxmlformats.org/officeDocument/2006/relationships/image" Target="../media/image24.emf"/><Relationship Id="rId17" Type="http://schemas.openxmlformats.org/officeDocument/2006/relationships/image" Target="../media/image36.emf"/><Relationship Id="rId2" Type="http://schemas.openxmlformats.org/officeDocument/2006/relationships/image" Target="../media/image4.png"/><Relationship Id="rId16" Type="http://schemas.openxmlformats.org/officeDocument/2006/relationships/image" Target="../media/image35.emf"/><Relationship Id="rId20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7.svg"/><Relationship Id="rId15" Type="http://schemas.openxmlformats.org/officeDocument/2006/relationships/image" Target="../media/image34.emf"/><Relationship Id="rId10" Type="http://schemas.openxmlformats.org/officeDocument/2006/relationships/image" Target="../media/image26.emf"/><Relationship Id="rId19" Type="http://schemas.openxmlformats.org/officeDocument/2006/relationships/image" Target="../media/image32.emf"/><Relationship Id="rId4" Type="http://schemas.openxmlformats.org/officeDocument/2006/relationships/image" Target="../media/image6.png"/><Relationship Id="rId9" Type="http://schemas.openxmlformats.org/officeDocument/2006/relationships/image" Target="../media/image25.emf"/><Relationship Id="rId14" Type="http://schemas.openxmlformats.org/officeDocument/2006/relationships/image" Target="../media/image3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13" Type="http://schemas.openxmlformats.org/officeDocument/2006/relationships/image" Target="../media/image10.emf"/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12" Type="http://schemas.openxmlformats.org/officeDocument/2006/relationships/image" Target="../media/image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11" Type="http://schemas.openxmlformats.org/officeDocument/2006/relationships/image" Target="../media/image8.emf"/><Relationship Id="rId5" Type="http://schemas.openxmlformats.org/officeDocument/2006/relationships/image" Target="../media/image41.emf"/><Relationship Id="rId10" Type="http://schemas.openxmlformats.org/officeDocument/2006/relationships/image" Target="../media/image2.emf"/><Relationship Id="rId4" Type="http://schemas.openxmlformats.org/officeDocument/2006/relationships/image" Target="../media/image40.emf"/><Relationship Id="rId9" Type="http://schemas.openxmlformats.org/officeDocument/2006/relationships/image" Target="../media/image45.jpe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48.png"/><Relationship Id="rId18" Type="http://schemas.openxmlformats.org/officeDocument/2006/relationships/image" Target="../media/image52.svg"/><Relationship Id="rId3" Type="http://schemas.openxmlformats.org/officeDocument/2006/relationships/image" Target="../media/image5.svg"/><Relationship Id="rId7" Type="http://schemas.openxmlformats.org/officeDocument/2006/relationships/image" Target="../media/image8.emf"/><Relationship Id="rId12" Type="http://schemas.openxmlformats.org/officeDocument/2006/relationships/image" Target="../media/image24.emf"/><Relationship Id="rId17" Type="http://schemas.openxmlformats.org/officeDocument/2006/relationships/image" Target="../media/image51.png"/><Relationship Id="rId2" Type="http://schemas.openxmlformats.org/officeDocument/2006/relationships/image" Target="../media/image4.png"/><Relationship Id="rId16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47.emf"/><Relationship Id="rId4" Type="http://schemas.openxmlformats.org/officeDocument/2006/relationships/image" Target="../media/image6.png"/><Relationship Id="rId9" Type="http://schemas.openxmlformats.org/officeDocument/2006/relationships/image" Target="../media/image46.emf"/><Relationship Id="rId14" Type="http://schemas.openxmlformats.org/officeDocument/2006/relationships/image" Target="../media/image4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17.png"/><Relationship Id="rId3" Type="http://schemas.openxmlformats.org/officeDocument/2006/relationships/image" Target="../media/image5.svg"/><Relationship Id="rId7" Type="http://schemas.openxmlformats.org/officeDocument/2006/relationships/image" Target="../media/image8.emf"/><Relationship Id="rId12" Type="http://schemas.openxmlformats.org/officeDocument/2006/relationships/image" Target="../media/image2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../media/image23.emf"/><Relationship Id="rId5" Type="http://schemas.openxmlformats.org/officeDocument/2006/relationships/image" Target="../media/image7.svg"/><Relationship Id="rId10" Type="http://schemas.openxmlformats.org/officeDocument/2006/relationships/image" Target="../media/image53.emf"/><Relationship Id="rId4" Type="http://schemas.openxmlformats.org/officeDocument/2006/relationships/image" Target="../media/image6.png"/><Relationship Id="rId9" Type="http://schemas.openxmlformats.org/officeDocument/2006/relationships/image" Target="../media/image4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10" Type="http://schemas.openxmlformats.org/officeDocument/2006/relationships/image" Target="../media/image17.png"/><Relationship Id="rId4" Type="http://schemas.openxmlformats.org/officeDocument/2006/relationships/image" Target="../media/image56.emf"/><Relationship Id="rId9" Type="http://schemas.openxmlformats.org/officeDocument/2006/relationships/image" Target="../media/image61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image" Target="../media/image56.emf"/><Relationship Id="rId7" Type="http://schemas.openxmlformats.org/officeDocument/2006/relationships/image" Target="../media/image64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10" Type="http://schemas.openxmlformats.org/officeDocument/2006/relationships/image" Target="../media/image17.png"/><Relationship Id="rId4" Type="http://schemas.openxmlformats.org/officeDocument/2006/relationships/image" Target="../media/image59.emf"/><Relationship Id="rId9" Type="http://schemas.openxmlformats.org/officeDocument/2006/relationships/image" Target="../media/image6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17.png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emf"/><Relationship Id="rId5" Type="http://schemas.openxmlformats.org/officeDocument/2006/relationships/image" Target="../media/image65.emf"/><Relationship Id="rId4" Type="http://schemas.openxmlformats.org/officeDocument/2006/relationships/image" Target="../media/image6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image" Target="../media/image70.emf"/><Relationship Id="rId7" Type="http://schemas.openxmlformats.org/officeDocument/2006/relationships/image" Target="../media/image74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emf"/><Relationship Id="rId11" Type="http://schemas.openxmlformats.org/officeDocument/2006/relationships/image" Target="../media/image17.png"/><Relationship Id="rId5" Type="http://schemas.openxmlformats.org/officeDocument/2006/relationships/image" Target="../media/image72.emf"/><Relationship Id="rId10" Type="http://schemas.openxmlformats.org/officeDocument/2006/relationships/image" Target="../media/image77.emf"/><Relationship Id="rId4" Type="http://schemas.openxmlformats.org/officeDocument/2006/relationships/image" Target="../media/image71.emf"/><Relationship Id="rId9" Type="http://schemas.openxmlformats.org/officeDocument/2006/relationships/image" Target="../media/image7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emf"/><Relationship Id="rId3" Type="http://schemas.openxmlformats.org/officeDocument/2006/relationships/image" Target="../media/image79.svg"/><Relationship Id="rId7" Type="http://schemas.openxmlformats.org/officeDocument/2006/relationships/image" Target="../media/image83.svg"/><Relationship Id="rId12" Type="http://schemas.openxmlformats.org/officeDocument/2006/relationships/image" Target="../media/image88.emf"/><Relationship Id="rId2" Type="http://schemas.openxmlformats.org/officeDocument/2006/relationships/image" Target="../media/image78.png"/><Relationship Id="rId16" Type="http://schemas.openxmlformats.org/officeDocument/2006/relationships/image" Target="../media/image9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svg"/><Relationship Id="rId5" Type="http://schemas.openxmlformats.org/officeDocument/2006/relationships/image" Target="../media/image81.svg"/><Relationship Id="rId15" Type="http://schemas.openxmlformats.org/officeDocument/2006/relationships/image" Target="../media/image90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svg"/><Relationship Id="rId14" Type="http://schemas.openxmlformats.org/officeDocument/2006/relationships/image" Target="../media/image1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canonical, grand canonical ensemble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146076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150" y="2071996"/>
            <a:ext cx="6086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Microcanonical ensemble is not convenient, </a:t>
            </a:r>
          </a:p>
          <a:p>
            <a:r>
              <a:rPr lang="en-US" sz="2400" dirty="0"/>
              <a:t>we can easily measure T but not 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81" y="3127257"/>
            <a:ext cx="3225922" cy="22717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477" y="2622250"/>
            <a:ext cx="5872672" cy="8424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53840" y="5454176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</a:t>
            </a:r>
            <a:r>
              <a:rPr lang="en-US" sz="2000" b="1"/>
              <a:t>the microstates in S:</a:t>
            </a:r>
            <a:endParaRPr lang="en-US" sz="20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6838" y="5854286"/>
            <a:ext cx="2218086" cy="942196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8292901" y="5866320"/>
            <a:ext cx="2465891" cy="1076162"/>
            <a:chOff x="8292901" y="5866320"/>
            <a:chExt cx="2465891" cy="107616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8292901" y="6068742"/>
              <a:ext cx="2465891" cy="87374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8292901" y="5866320"/>
              <a:ext cx="1974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Partition function</a:t>
              </a:r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9714" y="3822587"/>
            <a:ext cx="182591" cy="2434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3955" y="3804171"/>
            <a:ext cx="843596" cy="1999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9714" y="3241761"/>
            <a:ext cx="673637" cy="307099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458260" y="5737801"/>
            <a:ext cx="3469476" cy="646331"/>
            <a:chOff x="458260" y="5737801"/>
            <a:chExt cx="3469476" cy="646331"/>
          </a:xfrm>
        </p:grpSpPr>
        <p:sp>
          <p:nvSpPr>
            <p:cNvPr id="12" name="TextBox 11"/>
            <p:cNvSpPr txBox="1"/>
            <p:nvPr/>
          </p:nvSpPr>
          <p:spPr>
            <a:xfrm>
              <a:off x="458260" y="5737801"/>
              <a:ext cx="346947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       is not a constant.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It fluctuates as a random variable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8017" y="5737801"/>
              <a:ext cx="231924" cy="309232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6196535" y="4712024"/>
            <a:ext cx="4323003" cy="759146"/>
            <a:chOff x="6196535" y="4712024"/>
            <a:chExt cx="4323003" cy="75914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12"/>
            <a:srcRect l="71279" b="-1090"/>
            <a:stretch/>
          </p:blipFill>
          <p:spPr>
            <a:xfrm>
              <a:off x="8532154" y="4712024"/>
              <a:ext cx="1987384" cy="759146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12"/>
            <a:srcRect t="-1" r="67467" b="18688"/>
            <a:stretch/>
          </p:blipFill>
          <p:spPr>
            <a:xfrm>
              <a:off x="6196535" y="4714856"/>
              <a:ext cx="2251115" cy="610623"/>
            </a:xfrm>
            <a:prstGeom prst="rect">
              <a:avLst/>
            </a:prstGeom>
          </p:spPr>
        </p:pic>
      </p:grpSp>
      <p:grpSp>
        <p:nvGrpSpPr>
          <p:cNvPr id="20" name="Group 19"/>
          <p:cNvGrpSpPr/>
          <p:nvPr/>
        </p:nvGrpSpPr>
        <p:grpSpPr>
          <a:xfrm>
            <a:off x="6050604" y="3581240"/>
            <a:ext cx="5544246" cy="1039238"/>
            <a:chOff x="6050604" y="3581240"/>
            <a:chExt cx="5544246" cy="103923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050604" y="3581240"/>
              <a:ext cx="5544246" cy="740826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108642" y="4401666"/>
              <a:ext cx="3410896" cy="218812"/>
            </a:xfrm>
            <a:prstGeom prst="rect">
              <a:avLst/>
            </a:prstGeom>
          </p:spPr>
        </p:pic>
      </p:grpSp>
      <p:pic>
        <p:nvPicPr>
          <p:cNvPr id="24" name="Graphic 23">
            <a:extLst>
              <a:ext uri="{FF2B5EF4-FFF2-40B4-BE49-F238E27FC236}">
                <a16:creationId xmlns:a16="http://schemas.microsoft.com/office/drawing/2014/main" id="{C54BA6B2-F4D6-46F4-B7EC-BD124FAD61B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49940" y="5949345"/>
            <a:ext cx="1071160" cy="70344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A74DE87-ACF4-4D4C-9E47-29762F724DB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150" y="2071996"/>
            <a:ext cx="60861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Microcanonical ensemble is not convenient, </a:t>
            </a:r>
          </a:p>
          <a:p>
            <a:r>
              <a:rPr lang="en-US" sz="2400" dirty="0"/>
              <a:t>we can easily measure T but not 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90776" y="2551631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774" y="2951741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429837" y="3166197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29837" y="2963775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562076" y="3992819"/>
            <a:ext cx="5608764" cy="1257044"/>
            <a:chOff x="5562076" y="3992819"/>
            <a:chExt cx="5608764" cy="1257044"/>
          </a:xfrm>
        </p:grpSpPr>
        <p:sp>
          <p:nvSpPr>
            <p:cNvPr id="13" name="Rectangle 12"/>
            <p:cNvSpPr/>
            <p:nvPr/>
          </p:nvSpPr>
          <p:spPr>
            <a:xfrm>
              <a:off x="5562076" y="3992819"/>
              <a:ext cx="33241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Canonical distribution of     :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18270" y="4422933"/>
              <a:ext cx="5452570" cy="826930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4164" y="5258606"/>
            <a:ext cx="1744979" cy="72292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693081" y="3127257"/>
            <a:ext cx="3225922" cy="2271776"/>
            <a:chOff x="693081" y="3127257"/>
            <a:chExt cx="3225922" cy="227177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3081" y="3127257"/>
              <a:ext cx="3225922" cy="227177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79714" y="3822587"/>
              <a:ext cx="182591" cy="243454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73955" y="3804171"/>
              <a:ext cx="843596" cy="199963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79714" y="3241761"/>
              <a:ext cx="673637" cy="307099"/>
            </a:xfrm>
            <a:prstGeom prst="rect">
              <a:avLst/>
            </a:prstGeom>
          </p:spPr>
        </p:pic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4555" y="4022496"/>
            <a:ext cx="182591" cy="243454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9609393" y="4113512"/>
            <a:ext cx="1458413" cy="458487"/>
            <a:chOff x="9609393" y="4113512"/>
            <a:chExt cx="1458413" cy="458487"/>
          </a:xfrm>
        </p:grpSpPr>
        <p:sp>
          <p:nvSpPr>
            <p:cNvPr id="21" name="Right Brace 20"/>
            <p:cNvSpPr/>
            <p:nvPr/>
          </p:nvSpPr>
          <p:spPr>
            <a:xfrm rot="16200000">
              <a:off x="10217206" y="3721399"/>
              <a:ext cx="242787" cy="1458413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153406" y="4113512"/>
              <a:ext cx="541265" cy="278150"/>
            </a:xfrm>
            <a:prstGeom prst="rect">
              <a:avLst/>
            </a:prstGeom>
          </p:spPr>
        </p:pic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6430" y="6096372"/>
            <a:ext cx="1952773" cy="486633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9351213" y="5249863"/>
            <a:ext cx="2327884" cy="1099206"/>
            <a:chOff x="9351213" y="5249863"/>
            <a:chExt cx="2327884" cy="1099206"/>
          </a:xfrm>
        </p:grpSpPr>
        <p:sp>
          <p:nvSpPr>
            <p:cNvPr id="26" name="TextBox 25"/>
            <p:cNvSpPr txBox="1"/>
            <p:nvPr/>
          </p:nvSpPr>
          <p:spPr>
            <a:xfrm>
              <a:off x="9351213" y="5249863"/>
              <a:ext cx="1974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Partition function</a:t>
              </a: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361261" y="5804517"/>
              <a:ext cx="2317836" cy="544552"/>
            </a:xfrm>
            <a:prstGeom prst="rect">
              <a:avLst/>
            </a:prstGeom>
          </p:spPr>
        </p:pic>
      </p:grpSp>
      <p:sp>
        <p:nvSpPr>
          <p:cNvPr id="29" name="TextBox 28"/>
          <p:cNvSpPr txBox="1"/>
          <p:nvPr/>
        </p:nvSpPr>
        <p:spPr>
          <a:xfrm>
            <a:off x="227510" y="5680984"/>
            <a:ext cx="5227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How are these distributions related to thermodynamic?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4C489-BFD3-486F-A2A5-021954BD64F0}"/>
              </a:ext>
            </a:extLst>
          </p:cNvPr>
          <p:cNvSpPr txBox="1"/>
          <p:nvPr/>
        </p:nvSpPr>
        <p:spPr>
          <a:xfrm>
            <a:off x="2558551" y="6142649"/>
            <a:ext cx="2997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What is the internal energy?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F45ED3E-5269-48A0-B179-B98AB606EC6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4880" y="1580629"/>
            <a:ext cx="24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Helmholtz free energy: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6E47B8-D426-46C4-A8D9-2BC5217D040B}"/>
              </a:ext>
            </a:extLst>
          </p:cNvPr>
          <p:cNvGrpSpPr/>
          <p:nvPr/>
        </p:nvGrpSpPr>
        <p:grpSpPr>
          <a:xfrm>
            <a:off x="651866" y="5762041"/>
            <a:ext cx="5410279" cy="1083923"/>
            <a:chOff x="651866" y="5762041"/>
            <a:chExt cx="5410279" cy="1083923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99351" y="5762041"/>
              <a:ext cx="1347223" cy="513229"/>
            </a:xfrm>
            <a:prstGeom prst="rect">
              <a:avLst/>
            </a:prstGeom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4966" y="6107671"/>
              <a:ext cx="5397179" cy="738293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651866" y="57673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The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15FFF8A-9E54-4393-A3E7-6DB07908C832}"/>
              </a:ext>
            </a:extLst>
          </p:cNvPr>
          <p:cNvGrpSpPr/>
          <p:nvPr/>
        </p:nvGrpSpPr>
        <p:grpSpPr>
          <a:xfrm>
            <a:off x="561553" y="4752640"/>
            <a:ext cx="4760646" cy="970131"/>
            <a:chOff x="561553" y="4752640"/>
            <a:chExt cx="4760646" cy="970131"/>
          </a:xfrm>
        </p:grpSpPr>
        <p:grpSp>
          <p:nvGrpSpPr>
            <p:cNvPr id="27" name="Group 26"/>
            <p:cNvGrpSpPr/>
            <p:nvPr/>
          </p:nvGrpSpPr>
          <p:grpSpPr>
            <a:xfrm>
              <a:off x="1041148" y="4752640"/>
              <a:ext cx="4281051" cy="369332"/>
              <a:chOff x="1864076" y="4949618"/>
              <a:chExt cx="4281051" cy="369332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64076" y="5036932"/>
                <a:ext cx="1889274" cy="249135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26361" y="4978627"/>
                <a:ext cx="311315" cy="311315"/>
              </a:xfrm>
              <a:prstGeom prst="rect">
                <a:avLst/>
              </a:prstGeom>
            </p:spPr>
          </p:pic>
          <p:sp>
            <p:nvSpPr>
              <p:cNvPr id="29" name="TextBox 28"/>
              <p:cNvSpPr txBox="1"/>
              <p:nvPr/>
            </p:nvSpPr>
            <p:spPr>
              <a:xfrm>
                <a:off x="4210687" y="4949618"/>
                <a:ext cx="19344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gives minimum A</a:t>
                </a: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561553" y="4764515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</a:t>
              </a:r>
            </a:p>
          </p:txBody>
        </p: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747261" y="5209751"/>
              <a:ext cx="2696646" cy="513020"/>
            </a:xfrm>
            <a:prstGeom prst="rect">
              <a:avLst/>
            </a:prstGeom>
          </p:spPr>
        </p:pic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0491" y="3509701"/>
            <a:ext cx="2311974" cy="9146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4252" y="4187809"/>
            <a:ext cx="3510491" cy="824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75316" y="4855301"/>
            <a:ext cx="1907176" cy="7678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6530" y="6147793"/>
            <a:ext cx="5405195" cy="698171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10694671" y="5649323"/>
            <a:ext cx="1533433" cy="652955"/>
            <a:chOff x="10694671" y="5649323"/>
            <a:chExt cx="1533433" cy="652955"/>
          </a:xfrm>
        </p:grpSpPr>
        <p:sp>
          <p:nvSpPr>
            <p:cNvPr id="14" name="TextBox 13"/>
            <p:cNvSpPr txBox="1"/>
            <p:nvPr/>
          </p:nvSpPr>
          <p:spPr>
            <a:xfrm>
              <a:off x="10694671" y="5649323"/>
              <a:ext cx="1533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Heat capacity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11927229" y="6018655"/>
              <a:ext cx="0" cy="283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871798" y="3707590"/>
            <a:ext cx="5721067" cy="1016301"/>
            <a:chOff x="871798" y="3628078"/>
            <a:chExt cx="5721067" cy="1016301"/>
          </a:xfrm>
        </p:grpSpPr>
        <p:sp>
          <p:nvSpPr>
            <p:cNvPr id="52" name="TextBox 51"/>
            <p:cNvSpPr txBox="1"/>
            <p:nvPr/>
          </p:nvSpPr>
          <p:spPr>
            <a:xfrm>
              <a:off x="881699" y="4275047"/>
              <a:ext cx="766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let</a:t>
              </a:r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71798" y="3628078"/>
              <a:ext cx="5721067" cy="506185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758114" y="4344816"/>
              <a:ext cx="1471917" cy="22979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AEB531F-3A5C-40EC-9EDD-C10428A1A37B}"/>
              </a:ext>
            </a:extLst>
          </p:cNvPr>
          <p:cNvGrpSpPr/>
          <p:nvPr/>
        </p:nvGrpSpPr>
        <p:grpSpPr>
          <a:xfrm>
            <a:off x="1067710" y="5073764"/>
            <a:ext cx="6204056" cy="1243091"/>
            <a:chOff x="1067710" y="5073764"/>
            <a:chExt cx="6204056" cy="124309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729932F-2E71-49A3-BB8C-BB7CD176248A}"/>
                </a:ext>
              </a:extLst>
            </p:cNvPr>
            <p:cNvSpPr txBox="1"/>
            <p:nvPr/>
          </p:nvSpPr>
          <p:spPr>
            <a:xfrm>
              <a:off x="4642648" y="5462343"/>
              <a:ext cx="262911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Which one should I use?</a:t>
              </a:r>
            </a:p>
            <a:p>
              <a:r>
                <a:rPr lang="en-US" dirty="0"/>
                <a:t>Is that really matter?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E111AF6-A205-40CE-B157-4E0DA908DC7A}"/>
                </a:ext>
              </a:extLst>
            </p:cNvPr>
            <p:cNvCxnSpPr/>
            <p:nvPr/>
          </p:nvCxnSpPr>
          <p:spPr>
            <a:xfrm flipH="1" flipV="1">
              <a:off x="3314748" y="5073764"/>
              <a:ext cx="1327900" cy="52787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6BB5EB6-9F74-4BBB-BC5E-2F83145A7691}"/>
                </a:ext>
              </a:extLst>
            </p:cNvPr>
            <p:cNvCxnSpPr/>
            <p:nvPr/>
          </p:nvCxnSpPr>
          <p:spPr>
            <a:xfrm flipH="1">
              <a:off x="1067710" y="5601635"/>
              <a:ext cx="3574938" cy="71522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D8ACC406-ED1E-4C7A-90F2-66C7751CFFE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8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4880" y="1580629"/>
            <a:ext cx="24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Helmholtz free energy: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041148" y="4752640"/>
            <a:ext cx="4281051" cy="369332"/>
            <a:chOff x="1864076" y="4949618"/>
            <a:chExt cx="4281051" cy="369332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64076" y="5036932"/>
              <a:ext cx="1889274" cy="249135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26361" y="4978627"/>
              <a:ext cx="311315" cy="311315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4210687" y="4949618"/>
              <a:ext cx="1934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gives minimum A</a:t>
              </a:r>
            </a:p>
          </p:txBody>
        </p:sp>
      </p:grpSp>
      <p:pic>
        <p:nvPicPr>
          <p:cNvPr id="33" name="Picture 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9351" y="5762041"/>
            <a:ext cx="1347223" cy="513229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966" y="6107671"/>
            <a:ext cx="5397179" cy="73829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1553" y="476451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866" y="576730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47261" y="5209751"/>
            <a:ext cx="2696646" cy="5130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6530" y="6147793"/>
            <a:ext cx="5405195" cy="69817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5804" y="3945682"/>
            <a:ext cx="3113374" cy="2329588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8289135" y="3652224"/>
            <a:ext cx="2307643" cy="838995"/>
            <a:chOff x="9371768" y="4533458"/>
            <a:chExt cx="2307643" cy="838995"/>
          </a:xfrm>
        </p:grpSpPr>
        <p:grpSp>
          <p:nvGrpSpPr>
            <p:cNvPr id="17" name="Group 16"/>
            <p:cNvGrpSpPr/>
            <p:nvPr/>
          </p:nvGrpSpPr>
          <p:grpSpPr>
            <a:xfrm>
              <a:off x="9371768" y="4893191"/>
              <a:ext cx="2307643" cy="479262"/>
              <a:chOff x="9371768" y="4893191"/>
              <a:chExt cx="2307643" cy="479262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 rotWithShape="1">
              <a:blip r:embed="rId16"/>
              <a:srcRect r="5324"/>
              <a:stretch/>
            </p:blipFill>
            <p:spPr>
              <a:xfrm>
                <a:off x="9371768" y="4893191"/>
                <a:ext cx="1299365" cy="479262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73803" y="5012603"/>
                <a:ext cx="297349" cy="270317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71152" y="4969895"/>
                <a:ext cx="608259" cy="325853"/>
              </a:xfrm>
              <a:prstGeom prst="rect">
                <a:avLst/>
              </a:prstGeom>
            </p:spPr>
          </p:pic>
        </p:grpSp>
        <p:sp>
          <p:nvSpPr>
            <p:cNvPr id="18" name="TextBox 17"/>
            <p:cNvSpPr txBox="1"/>
            <p:nvPr/>
          </p:nvSpPr>
          <p:spPr>
            <a:xfrm>
              <a:off x="9452288" y="4533458"/>
              <a:ext cx="1578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Relative error: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694671" y="5649323"/>
            <a:ext cx="1533433" cy="652955"/>
            <a:chOff x="10694671" y="5649323"/>
            <a:chExt cx="1533433" cy="652955"/>
          </a:xfrm>
        </p:grpSpPr>
        <p:sp>
          <p:nvSpPr>
            <p:cNvPr id="43" name="TextBox 42"/>
            <p:cNvSpPr txBox="1"/>
            <p:nvPr/>
          </p:nvSpPr>
          <p:spPr>
            <a:xfrm>
              <a:off x="10694671" y="5649323"/>
              <a:ext cx="1533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Heat capacity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11927229" y="6018655"/>
              <a:ext cx="0" cy="2836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CE9BD17-513A-46AE-AC44-09053F0F9A3E}"/>
              </a:ext>
            </a:extLst>
          </p:cNvPr>
          <p:cNvGrpSpPr/>
          <p:nvPr/>
        </p:nvGrpSpPr>
        <p:grpSpPr>
          <a:xfrm>
            <a:off x="871798" y="3707590"/>
            <a:ext cx="5721067" cy="1016301"/>
            <a:chOff x="871798" y="3628078"/>
            <a:chExt cx="5721067" cy="1016301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5AD20ED-6EC7-48F9-82AD-70706E9CCD64}"/>
                </a:ext>
              </a:extLst>
            </p:cNvPr>
            <p:cNvSpPr txBox="1"/>
            <p:nvPr/>
          </p:nvSpPr>
          <p:spPr>
            <a:xfrm>
              <a:off x="881699" y="4275047"/>
              <a:ext cx="7667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let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F60A4B1-405E-4592-898E-242E62DDB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71798" y="3628078"/>
              <a:ext cx="5721067" cy="50618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CBFB055-412F-4C3A-9A84-EB87548D2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758114" y="4344816"/>
              <a:ext cx="1471917" cy="22979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739FA63-015F-4781-BA24-3C6B3E61BB01}"/>
              </a:ext>
            </a:extLst>
          </p:cNvPr>
          <p:cNvSpPr/>
          <p:nvPr/>
        </p:nvSpPr>
        <p:spPr>
          <a:xfrm>
            <a:off x="483476" y="3551563"/>
            <a:ext cx="6138128" cy="2215737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3813A979-E2B2-4DD5-BC63-980EAC389D6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2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2084832"/>
            <a:ext cx="4030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to reach equilibrium?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0351" y="2620190"/>
            <a:ext cx="7572953" cy="964258"/>
          </a:xfrm>
          <a:custGeom>
            <a:avLst/>
            <a:gdLst>
              <a:gd name="connsiteX0" fmla="*/ 0 w 6568973"/>
              <a:gd name="connsiteY0" fmla="*/ 0 h 836422"/>
              <a:gd name="connsiteX1" fmla="*/ 6568973 w 6568973"/>
              <a:gd name="connsiteY1" fmla="*/ 0 h 836422"/>
              <a:gd name="connsiteX2" fmla="*/ 6568973 w 6568973"/>
              <a:gd name="connsiteY2" fmla="*/ 580210 h 836422"/>
              <a:gd name="connsiteX3" fmla="*/ 548641 w 6568973"/>
              <a:gd name="connsiteY3" fmla="*/ 580210 h 836422"/>
              <a:gd name="connsiteX4" fmla="*/ 548641 w 6568973"/>
              <a:gd name="connsiteY4" fmla="*/ 836422 h 836422"/>
              <a:gd name="connsiteX5" fmla="*/ 0 w 6568973"/>
              <a:gd name="connsiteY5" fmla="*/ 836422 h 836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8973" h="836422">
                <a:moveTo>
                  <a:pt x="0" y="0"/>
                </a:moveTo>
                <a:lnTo>
                  <a:pt x="6568973" y="0"/>
                </a:lnTo>
                <a:lnTo>
                  <a:pt x="6568973" y="580210"/>
                </a:lnTo>
                <a:lnTo>
                  <a:pt x="548641" y="580210"/>
                </a:lnTo>
                <a:lnTo>
                  <a:pt x="548641" y="836422"/>
                </a:lnTo>
                <a:lnTo>
                  <a:pt x="0" y="836422"/>
                </a:lnTo>
                <a:close/>
              </a:path>
            </a:pathLst>
          </a:cu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848" y="3328090"/>
            <a:ext cx="1971757" cy="56877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42D889A-2022-47F8-BE8B-C9C1D2576A1B}"/>
              </a:ext>
            </a:extLst>
          </p:cNvPr>
          <p:cNvGrpSpPr/>
          <p:nvPr/>
        </p:nvGrpSpPr>
        <p:grpSpPr>
          <a:xfrm>
            <a:off x="530351" y="4015641"/>
            <a:ext cx="7395573" cy="814853"/>
            <a:chOff x="530351" y="3676429"/>
            <a:chExt cx="7395573" cy="81485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4A0154E-7C74-4C95-86A4-420701A59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30351" y="3676429"/>
              <a:ext cx="7395573" cy="577779"/>
            </a:xfrm>
            <a:custGeom>
              <a:avLst/>
              <a:gdLst>
                <a:gd name="connsiteX0" fmla="*/ 0 w 7395573"/>
                <a:gd name="connsiteY0" fmla="*/ 0 h 577779"/>
                <a:gd name="connsiteX1" fmla="*/ 7395573 w 7395573"/>
                <a:gd name="connsiteY1" fmla="*/ 0 h 577779"/>
                <a:gd name="connsiteX2" fmla="*/ 7395573 w 7395573"/>
                <a:gd name="connsiteY2" fmla="*/ 297115 h 577779"/>
                <a:gd name="connsiteX3" fmla="*/ 3894504 w 7395573"/>
                <a:gd name="connsiteY3" fmla="*/ 297115 h 577779"/>
                <a:gd name="connsiteX4" fmla="*/ 3894504 w 7395573"/>
                <a:gd name="connsiteY4" fmla="*/ 365219 h 577779"/>
                <a:gd name="connsiteX5" fmla="*/ 3840481 w 7395573"/>
                <a:gd name="connsiteY5" fmla="*/ 365219 h 577779"/>
                <a:gd name="connsiteX6" fmla="*/ 3840481 w 7395573"/>
                <a:gd name="connsiteY6" fmla="*/ 577779 h 577779"/>
                <a:gd name="connsiteX7" fmla="*/ 0 w 7395573"/>
                <a:gd name="connsiteY7" fmla="*/ 577779 h 5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95573" h="577779">
                  <a:moveTo>
                    <a:pt x="0" y="0"/>
                  </a:moveTo>
                  <a:lnTo>
                    <a:pt x="7395573" y="0"/>
                  </a:lnTo>
                  <a:lnTo>
                    <a:pt x="7395573" y="297115"/>
                  </a:lnTo>
                  <a:lnTo>
                    <a:pt x="3894504" y="297115"/>
                  </a:lnTo>
                  <a:lnTo>
                    <a:pt x="3894504" y="365219"/>
                  </a:lnTo>
                  <a:lnTo>
                    <a:pt x="3840481" y="365219"/>
                  </a:lnTo>
                  <a:lnTo>
                    <a:pt x="3840481" y="577779"/>
                  </a:lnTo>
                  <a:lnTo>
                    <a:pt x="0" y="577779"/>
                  </a:lnTo>
                  <a:close/>
                </a:path>
              </a:pathLst>
            </a:cu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848" y="3944585"/>
              <a:ext cx="1796289" cy="54669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BD4A39-3CEB-40D1-9191-F1E8E709319D}"/>
              </a:ext>
            </a:extLst>
          </p:cNvPr>
          <p:cNvGrpSpPr/>
          <p:nvPr/>
        </p:nvGrpSpPr>
        <p:grpSpPr>
          <a:xfrm>
            <a:off x="530351" y="4980649"/>
            <a:ext cx="7242050" cy="1004623"/>
            <a:chOff x="530351" y="4449707"/>
            <a:chExt cx="7242050" cy="100462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E0D975A-5FB4-4D00-BF6A-24F2D4234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530351" y="4449707"/>
              <a:ext cx="7242050" cy="607253"/>
            </a:xfrm>
            <a:custGeom>
              <a:avLst/>
              <a:gdLst>
                <a:gd name="connsiteX0" fmla="*/ 0 w 7242050"/>
                <a:gd name="connsiteY0" fmla="*/ 0 h 607253"/>
                <a:gd name="connsiteX1" fmla="*/ 7242050 w 7242050"/>
                <a:gd name="connsiteY1" fmla="*/ 0 h 607253"/>
                <a:gd name="connsiteX2" fmla="*/ 7242050 w 7242050"/>
                <a:gd name="connsiteY2" fmla="*/ 294498 h 607253"/>
                <a:gd name="connsiteX3" fmla="*/ 3579194 w 7242050"/>
                <a:gd name="connsiteY3" fmla="*/ 294498 h 607253"/>
                <a:gd name="connsiteX4" fmla="*/ 3579194 w 7242050"/>
                <a:gd name="connsiteY4" fmla="*/ 607253 h 607253"/>
                <a:gd name="connsiteX5" fmla="*/ 0 w 7242050"/>
                <a:gd name="connsiteY5" fmla="*/ 607253 h 60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2050" h="607253">
                  <a:moveTo>
                    <a:pt x="0" y="0"/>
                  </a:moveTo>
                  <a:lnTo>
                    <a:pt x="7242050" y="0"/>
                  </a:lnTo>
                  <a:lnTo>
                    <a:pt x="7242050" y="294498"/>
                  </a:lnTo>
                  <a:lnTo>
                    <a:pt x="3579194" y="294498"/>
                  </a:lnTo>
                  <a:lnTo>
                    <a:pt x="3579194" y="607253"/>
                  </a:lnTo>
                  <a:lnTo>
                    <a:pt x="0" y="607253"/>
                  </a:lnTo>
                  <a:close/>
                </a:path>
              </a:pathLst>
            </a:cu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95115" y="4959900"/>
              <a:ext cx="2578098" cy="494430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1335024" y="612196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……</a:t>
            </a:r>
            <a:r>
              <a:rPr lang="en-US" dirty="0"/>
              <a:t>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A55AC8-27F9-49AB-8593-A015D9E96522}"/>
              </a:ext>
            </a:extLst>
          </p:cNvPr>
          <p:cNvGrpSpPr/>
          <p:nvPr/>
        </p:nvGrpSpPr>
        <p:grpSpPr>
          <a:xfrm>
            <a:off x="9583735" y="1293640"/>
            <a:ext cx="2942721" cy="2918497"/>
            <a:chOff x="2486113" y="3307097"/>
            <a:chExt cx="2942721" cy="291849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A405FC-D54B-4C85-AF61-605B4AA46FE0}"/>
                </a:ext>
              </a:extLst>
            </p:cNvPr>
            <p:cNvGrpSpPr/>
            <p:nvPr/>
          </p:nvGrpSpPr>
          <p:grpSpPr>
            <a:xfrm>
              <a:off x="2486113" y="3307097"/>
              <a:ext cx="2942721" cy="2343730"/>
              <a:chOff x="2486113" y="3307097"/>
              <a:chExt cx="2942721" cy="2343730"/>
            </a:xfrm>
          </p:grpSpPr>
          <p:pic>
            <p:nvPicPr>
              <p:cNvPr id="12" name="Picture 2" descr="Isentrophic Compression | Glenn Research Center | NASA">
                <a:extLst>
                  <a:ext uri="{FF2B5EF4-FFF2-40B4-BE49-F238E27FC236}">
                    <a16:creationId xmlns:a16="http://schemas.microsoft.com/office/drawing/2014/main" id="{1F4F6621-EE43-4DDB-96B4-29B3B22580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39" r="68822" b="38266"/>
              <a:stretch/>
            </p:blipFill>
            <p:spPr bwMode="auto">
              <a:xfrm>
                <a:off x="2486113" y="3676429"/>
                <a:ext cx="1830714" cy="1974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D6DD2BE-5FA2-47EA-91A1-ECE3EBDD4BCE}"/>
                  </a:ext>
                </a:extLst>
              </p:cNvPr>
              <p:cNvGrpSpPr/>
              <p:nvPr/>
            </p:nvGrpSpPr>
            <p:grpSpPr>
              <a:xfrm>
                <a:off x="3677896" y="3307097"/>
                <a:ext cx="1750938" cy="987174"/>
                <a:chOff x="3677896" y="3307097"/>
                <a:chExt cx="1750938" cy="987174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906817-67E8-43C8-BBB3-87466B463BF8}"/>
                    </a:ext>
                  </a:extLst>
                </p:cNvPr>
                <p:cNvSpPr txBox="1"/>
                <p:nvPr/>
              </p:nvSpPr>
              <p:spPr>
                <a:xfrm>
                  <a:off x="3863662" y="3307097"/>
                  <a:ext cx="15651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External force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AF014CFC-41D6-4056-A1B8-C84C18207388}"/>
                    </a:ext>
                  </a:extLst>
                </p:cNvPr>
                <p:cNvCxnSpPr>
                  <a:cxnSpLocks/>
                  <a:stCxn id="13" idx="1"/>
                </p:cNvCxnSpPr>
                <p:nvPr/>
              </p:nvCxnSpPr>
              <p:spPr>
                <a:xfrm flipH="1">
                  <a:off x="3677896" y="3491763"/>
                  <a:ext cx="185766" cy="8025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9" name="Picture 2" descr="Isentrophic Compression | Glenn Research Center | NASA">
              <a:extLst>
                <a:ext uri="{FF2B5EF4-FFF2-40B4-BE49-F238E27FC236}">
                  <a16:creationId xmlns:a16="http://schemas.microsoft.com/office/drawing/2014/main" id="{9B9BD89F-D06E-4C96-B4C0-899B5606ED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14" t="1217" r="639" b="85792"/>
            <a:stretch/>
          </p:blipFill>
          <p:spPr bwMode="auto">
            <a:xfrm>
              <a:off x="3434133" y="5654278"/>
              <a:ext cx="936352" cy="571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4" descr="Helmholtz Free Energy: Definition and Equation">
            <a:extLst>
              <a:ext uri="{FF2B5EF4-FFF2-40B4-BE49-F238E27FC236}">
                <a16:creationId xmlns:a16="http://schemas.microsoft.com/office/drawing/2014/main" id="{CD4B8BCC-BABF-4626-9BB6-88117A0E1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334" y="4139255"/>
            <a:ext cx="2757732" cy="24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Group 30"/>
          <p:cNvGrpSpPr/>
          <p:nvPr/>
        </p:nvGrpSpPr>
        <p:grpSpPr>
          <a:xfrm>
            <a:off x="582984" y="1725213"/>
            <a:ext cx="3225922" cy="2271776"/>
            <a:chOff x="693081" y="3127257"/>
            <a:chExt cx="3225922" cy="2271776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3081" y="3127257"/>
              <a:ext cx="3225922" cy="2271776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79714" y="3822587"/>
              <a:ext cx="182591" cy="243454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73955" y="3804171"/>
              <a:ext cx="843596" cy="199963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079714" y="3241761"/>
              <a:ext cx="673637" cy="307099"/>
            </a:xfrm>
            <a:prstGeom prst="rect">
              <a:avLst/>
            </a:prstGeom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DFAC93-0174-4F77-814F-D0D7F49A4DAE}"/>
              </a:ext>
            </a:extLst>
          </p:cNvPr>
          <p:cNvSpPr/>
          <p:nvPr/>
        </p:nvSpPr>
        <p:spPr>
          <a:xfrm>
            <a:off x="530351" y="3996989"/>
            <a:ext cx="7572953" cy="9642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5BEC51A-F17B-4952-907F-6FEA9E936E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3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2796" y="5003473"/>
            <a:ext cx="2246597" cy="60377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4316" y="6041265"/>
            <a:ext cx="2479243" cy="33056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690960" y="6459639"/>
            <a:ext cx="450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to </a:t>
            </a:r>
            <a:r>
              <a:rPr lang="en-US">
                <a:solidFill>
                  <a:srgbClr val="FF0000"/>
                </a:solidFill>
              </a:rPr>
              <a:t>the thermodynamics </a:t>
            </a:r>
            <a:r>
              <a:rPr lang="en-US" dirty="0">
                <a:solidFill>
                  <a:srgbClr val="FF0000"/>
                </a:solidFill>
              </a:rPr>
              <a:t>quantities.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DFA4354-0545-4788-B9B7-29261BD58758}"/>
              </a:ext>
            </a:extLst>
          </p:cNvPr>
          <p:cNvGrpSpPr/>
          <p:nvPr/>
        </p:nvGrpSpPr>
        <p:grpSpPr>
          <a:xfrm>
            <a:off x="867241" y="3519675"/>
            <a:ext cx="5410279" cy="1083923"/>
            <a:chOff x="651866" y="5762041"/>
            <a:chExt cx="5410279" cy="1083923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8025DC2F-2A54-40A0-8925-96FC2589E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99351" y="5762041"/>
              <a:ext cx="1347223" cy="513229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CC81778-2BF0-4560-91FA-16362A126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4966" y="6107671"/>
              <a:ext cx="5397179" cy="738293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8A6C36B-43F1-4970-8A24-EC5D8EA969DF}"/>
                </a:ext>
              </a:extLst>
            </p:cNvPr>
            <p:cNvSpPr txBox="1"/>
            <p:nvPr/>
          </p:nvSpPr>
          <p:spPr>
            <a:xfrm>
              <a:off x="651866" y="57673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The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8F4BFD-01FE-4DDD-84D3-2153CFA996E4}"/>
              </a:ext>
            </a:extLst>
          </p:cNvPr>
          <p:cNvGrpSpPr/>
          <p:nvPr/>
        </p:nvGrpSpPr>
        <p:grpSpPr>
          <a:xfrm>
            <a:off x="724172" y="4746203"/>
            <a:ext cx="3091083" cy="957658"/>
            <a:chOff x="724172" y="4746203"/>
            <a:chExt cx="3091083" cy="957658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762CDC3E-6532-44FC-A3EA-D5B7510DF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36034" y="4974384"/>
              <a:ext cx="2579221" cy="729477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C1CAB6A-20D7-49C4-80AE-CE93851F77BE}"/>
                </a:ext>
              </a:extLst>
            </p:cNvPr>
            <p:cNvSpPr txBox="1"/>
            <p:nvPr/>
          </p:nvSpPr>
          <p:spPr>
            <a:xfrm>
              <a:off x="724172" y="4746203"/>
              <a:ext cx="26810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Helmholtz free energy: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4ABB1D36-270C-4D7E-8699-C7E21F4F9C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98E1941-D61A-4C54-B946-0DF560434F62}"/>
              </a:ext>
            </a:extLst>
          </p:cNvPr>
          <p:cNvGrpSpPr/>
          <p:nvPr/>
        </p:nvGrpSpPr>
        <p:grpSpPr>
          <a:xfrm>
            <a:off x="3815255" y="5115535"/>
            <a:ext cx="3489095" cy="981701"/>
            <a:chOff x="3815255" y="5115535"/>
            <a:chExt cx="3489095" cy="981701"/>
          </a:xfrm>
        </p:grpSpPr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624373" y="5559378"/>
              <a:ext cx="1679977" cy="537858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3815255" y="5674418"/>
              <a:ext cx="1603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(using 1</a:t>
              </a:r>
              <a:r>
                <a:rPr lang="en-US" sz="1400" baseline="30000" dirty="0"/>
                <a:t>st</a:t>
              </a:r>
              <a:r>
                <a:rPr lang="en-US" sz="1400" dirty="0"/>
                <a:t> law in F.)</a:t>
              </a: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5AC2AE7F-143D-4BFE-B784-782ED5A0F8C3}"/>
                </a:ext>
              </a:extLst>
            </p:cNvPr>
            <p:cNvSpPr/>
            <p:nvPr/>
          </p:nvSpPr>
          <p:spPr>
            <a:xfrm>
              <a:off x="4164759" y="5115535"/>
              <a:ext cx="2675312" cy="3204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AAEA73-0334-4FDC-A6A7-F7B7F16A2AE5}"/>
              </a:ext>
            </a:extLst>
          </p:cNvPr>
          <p:cNvGrpSpPr/>
          <p:nvPr/>
        </p:nvGrpSpPr>
        <p:grpSpPr>
          <a:xfrm>
            <a:off x="8025153" y="4215225"/>
            <a:ext cx="1245832" cy="734432"/>
            <a:chOff x="8025153" y="4215225"/>
            <a:chExt cx="1245832" cy="734432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8EF28A45-813E-4698-B234-92064558027A}"/>
                </a:ext>
              </a:extLst>
            </p:cNvPr>
            <p:cNvSpPr/>
            <p:nvPr/>
          </p:nvSpPr>
          <p:spPr>
            <a:xfrm rot="16200000">
              <a:off x="8626570" y="4543646"/>
              <a:ext cx="250463" cy="56155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42222DA-9C88-4D06-8D75-7453FE7BC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025153" y="4215225"/>
              <a:ext cx="1245832" cy="517499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B3412DE-0E42-4EAA-AD26-3DE9E884D991}"/>
              </a:ext>
            </a:extLst>
          </p:cNvPr>
          <p:cNvSpPr txBox="1"/>
          <p:nvPr/>
        </p:nvSpPr>
        <p:spPr>
          <a:xfrm>
            <a:off x="1151934" y="6413572"/>
            <a:ext cx="3953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Average energy == Internal Energy </a:t>
            </a:r>
            <a:endParaRPr lang="en-MY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23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85097" y="2158504"/>
            <a:ext cx="57365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Canonical distribution of the microstates in S: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58095" y="2558614"/>
            <a:ext cx="2218086" cy="9421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035389" y="2773070"/>
            <a:ext cx="2465891" cy="8737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5389" y="2570648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491" y="2132990"/>
            <a:ext cx="3324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 distribution of     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02" y="2562584"/>
            <a:ext cx="1744979" cy="7229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447" y="2195929"/>
            <a:ext cx="182591" cy="2434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9393" y="2512033"/>
            <a:ext cx="1974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Partition function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393" y="2882350"/>
            <a:ext cx="2317836" cy="544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04880" y="1580629"/>
            <a:ext cx="246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Helmholtz free energy: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6384" y="4081552"/>
            <a:ext cx="2479243" cy="33056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74572" y="3603800"/>
            <a:ext cx="2681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Helmholtz free energy: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962" y="4851946"/>
            <a:ext cx="7958918" cy="209192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281844B-C79C-491E-B0A5-11A563F10975}"/>
              </a:ext>
            </a:extLst>
          </p:cNvPr>
          <p:cNvGrpSpPr/>
          <p:nvPr/>
        </p:nvGrpSpPr>
        <p:grpSpPr>
          <a:xfrm>
            <a:off x="867241" y="3519675"/>
            <a:ext cx="5410279" cy="1083923"/>
            <a:chOff x="651866" y="5762041"/>
            <a:chExt cx="5410279" cy="1083923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3ACA4FC-F5AB-4BB4-AC1C-3760AEC0D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99351" y="5762041"/>
              <a:ext cx="1347223" cy="51322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A315965-CB3E-469D-92CE-81C4DBFE0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4966" y="6107671"/>
              <a:ext cx="5397179" cy="738293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6867D82-0B19-4A78-BA8C-2E8C1FAA0AE3}"/>
                </a:ext>
              </a:extLst>
            </p:cNvPr>
            <p:cNvSpPr txBox="1"/>
            <p:nvPr/>
          </p:nvSpPr>
          <p:spPr>
            <a:xfrm>
              <a:off x="651866" y="576730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The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BDBA9BC-93D5-40B5-8DB5-04754F4F5CC5}"/>
              </a:ext>
            </a:extLst>
          </p:cNvPr>
          <p:cNvGrpSpPr/>
          <p:nvPr/>
        </p:nvGrpSpPr>
        <p:grpSpPr>
          <a:xfrm>
            <a:off x="8160091" y="5897906"/>
            <a:ext cx="4085019" cy="807544"/>
            <a:chOff x="8160091" y="5897906"/>
            <a:chExt cx="4085019" cy="807544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3705AEF0-CD7C-4A31-8A3B-202E5C0250E2}"/>
                </a:ext>
              </a:extLst>
            </p:cNvPr>
            <p:cNvSpPr/>
            <p:nvPr/>
          </p:nvSpPr>
          <p:spPr>
            <a:xfrm>
              <a:off x="8160091" y="5897906"/>
              <a:ext cx="458129" cy="807544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A085EF9-05C8-4005-A0B5-C74C2BC89B4C}"/>
                </a:ext>
              </a:extLst>
            </p:cNvPr>
            <p:cNvSpPr txBox="1"/>
            <p:nvPr/>
          </p:nvSpPr>
          <p:spPr>
            <a:xfrm>
              <a:off x="8618220" y="6117012"/>
              <a:ext cx="36268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Connection to the thermodynamic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E790376-6F45-4C8E-83EA-D800A0F495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8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two level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952" y="5060255"/>
            <a:ext cx="2785707" cy="7888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39" y="2279417"/>
            <a:ext cx="3183310" cy="91435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sp>
        <p:nvSpPr>
          <p:cNvPr id="22" name="Freeform 21"/>
          <p:cNvSpPr/>
          <p:nvPr/>
        </p:nvSpPr>
        <p:spPr>
          <a:xfrm>
            <a:off x="8191276" y="3371180"/>
            <a:ext cx="1234440" cy="971550"/>
          </a:xfrm>
          <a:custGeom>
            <a:avLst/>
            <a:gdLst>
              <a:gd name="connsiteX0" fmla="*/ 0 w 1234440"/>
              <a:gd name="connsiteY0" fmla="*/ 0 h 971550"/>
              <a:gd name="connsiteX1" fmla="*/ 388620 w 1234440"/>
              <a:gd name="connsiteY1" fmla="*/ 697230 h 971550"/>
              <a:gd name="connsiteX2" fmla="*/ 708660 w 1234440"/>
              <a:gd name="connsiteY2" fmla="*/ 34290 h 971550"/>
              <a:gd name="connsiteX3" fmla="*/ 1234440 w 1234440"/>
              <a:gd name="connsiteY3" fmla="*/ 971550 h 97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4440" h="971550">
                <a:moveTo>
                  <a:pt x="0" y="0"/>
                </a:moveTo>
                <a:cubicBezTo>
                  <a:pt x="135255" y="345757"/>
                  <a:pt x="270510" y="691515"/>
                  <a:pt x="388620" y="697230"/>
                </a:cubicBezTo>
                <a:cubicBezTo>
                  <a:pt x="506730" y="702945"/>
                  <a:pt x="567690" y="-11430"/>
                  <a:pt x="708660" y="34290"/>
                </a:cubicBezTo>
                <a:cubicBezTo>
                  <a:pt x="849630" y="80010"/>
                  <a:pt x="1234440" y="971550"/>
                  <a:pt x="1234440" y="971550"/>
                </a:cubicBezTo>
              </a:path>
            </a:pathLst>
          </a:custGeom>
          <a:noFill/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044" y="4321286"/>
            <a:ext cx="759966" cy="17801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270" y="2997332"/>
            <a:ext cx="2760216" cy="26661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06DEC65-6D20-4DC9-83BD-31F04E925826}"/>
              </a:ext>
            </a:extLst>
          </p:cNvPr>
          <p:cNvGrpSpPr/>
          <p:nvPr/>
        </p:nvGrpSpPr>
        <p:grpSpPr>
          <a:xfrm>
            <a:off x="8806758" y="3067719"/>
            <a:ext cx="2634042" cy="2561061"/>
            <a:chOff x="8806758" y="3067719"/>
            <a:chExt cx="2634042" cy="2561061"/>
          </a:xfrm>
        </p:grpSpPr>
        <p:grpSp>
          <p:nvGrpSpPr>
            <p:cNvPr id="26" name="Group 25"/>
            <p:cNvGrpSpPr/>
            <p:nvPr/>
          </p:nvGrpSpPr>
          <p:grpSpPr>
            <a:xfrm>
              <a:off x="10933794" y="3067719"/>
              <a:ext cx="507006" cy="503341"/>
              <a:chOff x="10933794" y="3067719"/>
              <a:chExt cx="507006" cy="503341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7" name="Group 26"/>
            <p:cNvGrpSpPr/>
            <p:nvPr/>
          </p:nvGrpSpPr>
          <p:grpSpPr>
            <a:xfrm>
              <a:off x="10932841" y="3593019"/>
              <a:ext cx="507006" cy="503341"/>
              <a:chOff x="10933794" y="3067719"/>
              <a:chExt cx="507006" cy="503341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10400509" y="4100347"/>
              <a:ext cx="507006" cy="503341"/>
              <a:chOff x="10933794" y="3067719"/>
              <a:chExt cx="507006" cy="503341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9336191" y="3579571"/>
              <a:ext cx="507006" cy="503341"/>
              <a:chOff x="10933794" y="3067719"/>
              <a:chExt cx="507006" cy="503341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30" name="Group 29"/>
            <p:cNvGrpSpPr/>
            <p:nvPr/>
          </p:nvGrpSpPr>
          <p:grpSpPr>
            <a:xfrm>
              <a:off x="8806758" y="5125439"/>
              <a:ext cx="507006" cy="503341"/>
              <a:chOff x="10933794" y="3067719"/>
              <a:chExt cx="507006" cy="503341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87DD0B-6C3B-4139-A595-D06F18613C37}"/>
              </a:ext>
            </a:extLst>
          </p:cNvPr>
          <p:cNvGrpSpPr/>
          <p:nvPr/>
        </p:nvGrpSpPr>
        <p:grpSpPr>
          <a:xfrm>
            <a:off x="3668427" y="1962194"/>
            <a:ext cx="1302381" cy="617045"/>
            <a:chOff x="3668427" y="1962194"/>
            <a:chExt cx="1302381" cy="617045"/>
          </a:xfrm>
        </p:grpSpPr>
        <p:cxnSp>
          <p:nvCxnSpPr>
            <p:cNvPr id="42" name="Straight Arrow Connector 41"/>
            <p:cNvCxnSpPr/>
            <p:nvPr/>
          </p:nvCxnSpPr>
          <p:spPr>
            <a:xfrm>
              <a:off x="4141694" y="2279417"/>
              <a:ext cx="13448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68427" y="1962194"/>
              <a:ext cx="1302381" cy="23749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4BB6C3-BD1B-4A4C-9B3B-81CC0C439408}"/>
              </a:ext>
            </a:extLst>
          </p:cNvPr>
          <p:cNvGrpSpPr/>
          <p:nvPr/>
        </p:nvGrpSpPr>
        <p:grpSpPr>
          <a:xfrm>
            <a:off x="5088285" y="2063378"/>
            <a:ext cx="2929023" cy="515861"/>
            <a:chOff x="5088285" y="2063378"/>
            <a:chExt cx="2929023" cy="515861"/>
          </a:xfrm>
        </p:grpSpPr>
        <p:cxnSp>
          <p:nvCxnSpPr>
            <p:cNvPr id="45" name="Straight Arrow Connector 44"/>
            <p:cNvCxnSpPr/>
            <p:nvPr/>
          </p:nvCxnSpPr>
          <p:spPr>
            <a:xfrm flipH="1">
              <a:off x="5088285" y="2279417"/>
              <a:ext cx="440649" cy="299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528934" y="2063378"/>
              <a:ext cx="2488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Number of excited states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369015-D614-4885-9680-3CA65613DA29}"/>
              </a:ext>
            </a:extLst>
          </p:cNvPr>
          <p:cNvGrpSpPr/>
          <p:nvPr/>
        </p:nvGrpSpPr>
        <p:grpSpPr>
          <a:xfrm>
            <a:off x="2810949" y="3602255"/>
            <a:ext cx="3902267" cy="1139409"/>
            <a:chOff x="3668427" y="4359933"/>
            <a:chExt cx="3902267" cy="1139409"/>
          </a:xfrm>
        </p:grpSpPr>
        <p:sp>
          <p:nvSpPr>
            <p:cNvPr id="49" name="Rectangle 48"/>
            <p:cNvSpPr/>
            <p:nvPr/>
          </p:nvSpPr>
          <p:spPr>
            <a:xfrm>
              <a:off x="5959338" y="4359933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en-US" dirty="0"/>
            </a:p>
          </p:txBody>
        </p:sp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68427" y="4773494"/>
              <a:ext cx="3902267" cy="725848"/>
            </a:xfrm>
            <a:prstGeom prst="rect">
              <a:avLst/>
            </a:prstGeom>
          </p:spPr>
        </p:pic>
      </p:grpSp>
      <p:sp>
        <p:nvSpPr>
          <p:cNvPr id="51" name="Rectangle 50"/>
          <p:cNvSpPr/>
          <p:nvPr/>
        </p:nvSpPr>
        <p:spPr>
          <a:xfrm>
            <a:off x="849648" y="4171960"/>
            <a:ext cx="1790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Microcanonical</a:t>
            </a:r>
            <a:r>
              <a:rPr lang="en-US" dirty="0"/>
              <a:t>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5725" y="5271351"/>
            <a:ext cx="1245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Canonical: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5F8B7E0-41F5-424D-B04F-27F41955EA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two level system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59" y="2388189"/>
            <a:ext cx="2785707" cy="788873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787912" y="3063238"/>
            <a:ext cx="2661390" cy="2577445"/>
            <a:chOff x="8616462" y="3192098"/>
            <a:chExt cx="2661390" cy="2985796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6200000">
            <a:off x="8828880" y="3012468"/>
            <a:ext cx="2567641" cy="2669183"/>
            <a:chOff x="8616462" y="3192098"/>
            <a:chExt cx="2661390" cy="2985796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861646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9148338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9680214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0212090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0743966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11275842" y="3192098"/>
              <a:ext cx="2010" cy="298579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912" y="2552036"/>
            <a:ext cx="1073555" cy="251463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06DEC65-6D20-4DC9-83BD-31F04E925826}"/>
              </a:ext>
            </a:extLst>
          </p:cNvPr>
          <p:cNvGrpSpPr/>
          <p:nvPr/>
        </p:nvGrpSpPr>
        <p:grpSpPr>
          <a:xfrm>
            <a:off x="8806758" y="3067719"/>
            <a:ext cx="2634042" cy="2561061"/>
            <a:chOff x="8806758" y="3067719"/>
            <a:chExt cx="2634042" cy="2561061"/>
          </a:xfrm>
        </p:grpSpPr>
        <p:grpSp>
          <p:nvGrpSpPr>
            <p:cNvPr id="26" name="Group 25"/>
            <p:cNvGrpSpPr/>
            <p:nvPr/>
          </p:nvGrpSpPr>
          <p:grpSpPr>
            <a:xfrm>
              <a:off x="10933794" y="3067719"/>
              <a:ext cx="507006" cy="503341"/>
              <a:chOff x="10933794" y="3067719"/>
              <a:chExt cx="507006" cy="503341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7" name="Group 26"/>
            <p:cNvGrpSpPr/>
            <p:nvPr/>
          </p:nvGrpSpPr>
          <p:grpSpPr>
            <a:xfrm>
              <a:off x="10932841" y="3593019"/>
              <a:ext cx="507006" cy="503341"/>
              <a:chOff x="10933794" y="3067719"/>
              <a:chExt cx="507006" cy="503341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10400509" y="4100347"/>
              <a:ext cx="507006" cy="503341"/>
              <a:chOff x="10933794" y="3067719"/>
              <a:chExt cx="507006" cy="503341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9336191" y="3579571"/>
              <a:ext cx="507006" cy="503341"/>
              <a:chOff x="10933794" y="3067719"/>
              <a:chExt cx="507006" cy="503341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  <p:grpSp>
          <p:nvGrpSpPr>
            <p:cNvPr id="30" name="Group 29"/>
            <p:cNvGrpSpPr/>
            <p:nvPr/>
          </p:nvGrpSpPr>
          <p:grpSpPr>
            <a:xfrm>
              <a:off x="8806758" y="5125439"/>
              <a:ext cx="507006" cy="503341"/>
              <a:chOff x="10933794" y="3067719"/>
              <a:chExt cx="507006" cy="503341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10933794" y="3067719"/>
                <a:ext cx="507006" cy="50334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5327" y="3193772"/>
                <a:ext cx="165100" cy="203200"/>
              </a:xfrm>
              <a:prstGeom prst="rect">
                <a:avLst/>
              </a:prstGeom>
            </p:spPr>
          </p:pic>
        </p:grpSp>
      </p:grpSp>
      <p:sp>
        <p:nvSpPr>
          <p:cNvPr id="52" name="Rectangle 51"/>
          <p:cNvSpPr/>
          <p:nvPr/>
        </p:nvSpPr>
        <p:spPr>
          <a:xfrm>
            <a:off x="330524" y="203057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886" y="3193772"/>
            <a:ext cx="4877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Much straightforward than </a:t>
            </a:r>
            <a:r>
              <a:rPr lang="en-US" sz="1600" dirty="0" err="1"/>
              <a:t>microcanonical</a:t>
            </a:r>
            <a:r>
              <a:rPr lang="en-US" sz="1600" dirty="0"/>
              <a:t> ensemble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21B450-2EF8-41AF-9B27-07BC0431857C}"/>
              </a:ext>
            </a:extLst>
          </p:cNvPr>
          <p:cNvGrpSpPr/>
          <p:nvPr/>
        </p:nvGrpSpPr>
        <p:grpSpPr>
          <a:xfrm>
            <a:off x="205593" y="3577092"/>
            <a:ext cx="5631491" cy="1383095"/>
            <a:chOff x="205593" y="3577092"/>
            <a:chExt cx="5631491" cy="138309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899" y="3761297"/>
              <a:ext cx="5352185" cy="1198890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205593" y="3577092"/>
              <a:ext cx="21639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1. Partition function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CFB9D62-914B-4794-94FF-69D4EE7161FC}"/>
              </a:ext>
            </a:extLst>
          </p:cNvPr>
          <p:cNvGrpSpPr/>
          <p:nvPr/>
        </p:nvGrpSpPr>
        <p:grpSpPr>
          <a:xfrm>
            <a:off x="205593" y="4882160"/>
            <a:ext cx="4495976" cy="829872"/>
            <a:chOff x="205593" y="4882160"/>
            <a:chExt cx="4495976" cy="829872"/>
          </a:xfrm>
        </p:grpSpPr>
        <p:sp>
          <p:nvSpPr>
            <p:cNvPr id="54" name="Rectangle 53"/>
            <p:cNvSpPr/>
            <p:nvPr/>
          </p:nvSpPr>
          <p:spPr>
            <a:xfrm>
              <a:off x="205593" y="4882160"/>
              <a:ext cx="161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2. Free energy</a:t>
              </a:r>
            </a:p>
          </p:txBody>
        </p: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082" y="5274666"/>
              <a:ext cx="4166487" cy="43736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7F21C8-8274-4C7D-9D49-4890D1A79296}"/>
              </a:ext>
            </a:extLst>
          </p:cNvPr>
          <p:cNvGrpSpPr/>
          <p:nvPr/>
        </p:nvGrpSpPr>
        <p:grpSpPr>
          <a:xfrm>
            <a:off x="205592" y="5698059"/>
            <a:ext cx="6159580" cy="1167461"/>
            <a:chOff x="205592" y="5698059"/>
            <a:chExt cx="6159580" cy="1167461"/>
          </a:xfrm>
        </p:grpSpPr>
        <p:sp>
          <p:nvSpPr>
            <p:cNvPr id="55" name="Rectangle 54"/>
            <p:cNvSpPr/>
            <p:nvPr/>
          </p:nvSpPr>
          <p:spPr>
            <a:xfrm>
              <a:off x="205592" y="5698059"/>
              <a:ext cx="383374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3. Get the thermodynamic quantities</a:t>
              </a:r>
            </a:p>
          </p:txBody>
        </p:sp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1361" y="5991219"/>
              <a:ext cx="5883811" cy="874301"/>
            </a:xfrm>
            <a:prstGeom prst="rect">
              <a:avLst/>
            </a:prstGeom>
          </p:spPr>
        </p:pic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3630" y="5973243"/>
            <a:ext cx="2554093" cy="714048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0644" y="5964099"/>
            <a:ext cx="1647459" cy="63931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3732C38-043D-4B46-9264-1CEAE69FF9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7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two level system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49684" y="4738099"/>
            <a:ext cx="5534480" cy="677212"/>
            <a:chOff x="579905" y="3294428"/>
            <a:chExt cx="5534480" cy="67721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r="81861" b="50938"/>
            <a:stretch/>
          </p:blipFill>
          <p:spPr>
            <a:xfrm>
              <a:off x="579905" y="3353127"/>
              <a:ext cx="990906" cy="618513"/>
            </a:xfrm>
            <a:prstGeom prst="rect">
              <a:avLst/>
            </a:prstGeom>
          </p:spPr>
        </p:pic>
        <p:pic>
          <p:nvPicPr>
            <p:cNvPr id="76" name="Picture 75"/>
            <p:cNvPicPr>
              <a:picLocks noChangeAspect="1"/>
            </p:cNvPicPr>
            <p:nvPr/>
          </p:nvPicPr>
          <p:blipFill rotWithShape="1">
            <a:blip r:embed="rId2"/>
            <a:srcRect l="17550" t="47050"/>
            <a:stretch/>
          </p:blipFill>
          <p:spPr>
            <a:xfrm>
              <a:off x="1610257" y="3294428"/>
              <a:ext cx="4504128" cy="667527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330524" y="203057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59" y="2558499"/>
            <a:ext cx="5883811" cy="87430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3216B6A-867C-4F06-909C-C633DE610AF0}"/>
              </a:ext>
            </a:extLst>
          </p:cNvPr>
          <p:cNvGrpSpPr/>
          <p:nvPr/>
        </p:nvGrpSpPr>
        <p:grpSpPr>
          <a:xfrm>
            <a:off x="7341116" y="2455191"/>
            <a:ext cx="3022824" cy="3000622"/>
            <a:chOff x="7341116" y="2455191"/>
            <a:chExt cx="3022824" cy="3000622"/>
          </a:xfrm>
        </p:grpSpPr>
        <p:pic>
          <p:nvPicPr>
            <p:cNvPr id="84" name="Picture 83"/>
            <p:cNvPicPr>
              <a:picLocks noChangeAspect="1"/>
            </p:cNvPicPr>
            <p:nvPr/>
          </p:nvPicPr>
          <p:blipFill rotWithShape="1">
            <a:blip r:embed="rId4"/>
            <a:srcRect l="10553"/>
            <a:stretch/>
          </p:blipFill>
          <p:spPr>
            <a:xfrm>
              <a:off x="7341116" y="4904509"/>
              <a:ext cx="2525036" cy="551304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28436" y="2455191"/>
              <a:ext cx="2935504" cy="820679"/>
            </a:xfrm>
            <a:prstGeom prst="rect">
              <a:avLst/>
            </a:prstGeom>
          </p:spPr>
        </p:pic>
      </p:grpSp>
      <p:sp>
        <p:nvSpPr>
          <p:cNvPr id="14" name="Rectangle 13"/>
          <p:cNvSpPr/>
          <p:nvPr/>
        </p:nvSpPr>
        <p:spPr>
          <a:xfrm>
            <a:off x="289671" y="4249922"/>
            <a:ext cx="1943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Mircocanonical</a:t>
            </a:r>
            <a:r>
              <a:rPr lang="en-US" b="1" dirty="0"/>
              <a:t>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C34EC7-FF19-418F-BAFA-8FF166D2A6C7}"/>
              </a:ext>
            </a:extLst>
          </p:cNvPr>
          <p:cNvGrpSpPr/>
          <p:nvPr/>
        </p:nvGrpSpPr>
        <p:grpSpPr>
          <a:xfrm>
            <a:off x="7428436" y="3432800"/>
            <a:ext cx="1784144" cy="2982403"/>
            <a:chOff x="7428436" y="3432800"/>
            <a:chExt cx="1784144" cy="2982403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28436" y="3432800"/>
              <a:ext cx="1784144" cy="692354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39126" y="5775891"/>
              <a:ext cx="1647459" cy="639312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D81CCA6-566F-4C7D-82CF-DA92F194C5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3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Ensemble: Idea gas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0524" y="2030578"/>
            <a:ext cx="1346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Canonical: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593" y="3358432"/>
            <a:ext cx="2163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Partition function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593" y="5771448"/>
            <a:ext cx="1619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2. Free energy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1848" y="2538548"/>
            <a:ext cx="3833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3. Get the thermodynamic quantities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2332420"/>
            <a:ext cx="4572000" cy="75460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27" y="3727764"/>
            <a:ext cx="4592265" cy="143508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571" y="5162847"/>
            <a:ext cx="1887896" cy="62133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21" y="5255607"/>
            <a:ext cx="655259" cy="31706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684" y="6219775"/>
            <a:ext cx="1327942" cy="442647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5799" y="6129108"/>
            <a:ext cx="3343833" cy="596352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1848" y="3095181"/>
            <a:ext cx="6077036" cy="64554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9726" y="3928028"/>
            <a:ext cx="1495143" cy="36722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8380434" y="3891477"/>
            <a:ext cx="2714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equipartition of energy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0360" y="4751076"/>
            <a:ext cx="4534831" cy="767433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0115271" y="5333843"/>
            <a:ext cx="1479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Idea gas law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68609" y="6083537"/>
            <a:ext cx="50315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Microcanonical</a:t>
            </a:r>
            <a:r>
              <a:rPr lang="en-US" b="1" dirty="0">
                <a:solidFill>
                  <a:srgbClr val="FF0000"/>
                </a:solidFill>
              </a:rPr>
              <a:t> and Canonical ensemble gives the same thermodynamic properties.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C1D357-0D93-4144-8F92-A5DA514B12FF}"/>
              </a:ext>
            </a:extLst>
          </p:cNvPr>
          <p:cNvSpPr/>
          <p:nvPr/>
        </p:nvSpPr>
        <p:spPr>
          <a:xfrm>
            <a:off x="2914650" y="4080173"/>
            <a:ext cx="410247" cy="2746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F71AAE-2902-4636-B950-6DEB7B06A80D}"/>
              </a:ext>
            </a:extLst>
          </p:cNvPr>
          <p:cNvSpPr/>
          <p:nvPr/>
        </p:nvSpPr>
        <p:spPr>
          <a:xfrm>
            <a:off x="2081090" y="4087730"/>
            <a:ext cx="410247" cy="2746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654470-1B70-4B7F-8F62-479E3F95720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2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7" grpId="0"/>
      <p:bldP spid="60" grpId="0"/>
      <p:bldP spid="61" grpId="0"/>
      <p:bldP spid="3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86D9-5DA7-41D8-8EEF-C51A80D3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Virial theorem and equipartition of energy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3820C-7CDF-4E9E-8621-06700695D718}"/>
              </a:ext>
            </a:extLst>
          </p:cNvPr>
          <p:cNvSpPr txBox="1"/>
          <p:nvPr/>
        </p:nvSpPr>
        <p:spPr>
          <a:xfrm>
            <a:off x="1024128" y="2632668"/>
            <a:ext cx="2398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Virial theorem:</a:t>
            </a:r>
            <a:endParaRPr lang="en-MY" sz="2400" b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9D43F3E-0CF7-42DD-A22B-527D1643FAED}"/>
              </a:ext>
            </a:extLst>
          </p:cNvPr>
          <p:cNvGrpSpPr/>
          <p:nvPr/>
        </p:nvGrpSpPr>
        <p:grpSpPr>
          <a:xfrm>
            <a:off x="872770" y="5292778"/>
            <a:ext cx="2550092" cy="1352844"/>
            <a:chOff x="935421" y="4482657"/>
            <a:chExt cx="2550092" cy="13528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CFC887-D3E2-44C5-94CA-B3E22FC27005}"/>
                </a:ext>
              </a:extLst>
            </p:cNvPr>
            <p:cNvSpPr txBox="1"/>
            <p:nvPr/>
          </p:nvSpPr>
          <p:spPr>
            <a:xfrm>
              <a:off x="935421" y="4482657"/>
              <a:ext cx="21032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Integrating by part,</a:t>
              </a:r>
              <a:endParaRPr lang="en-MY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4056BCB-344E-4E91-B70C-AD98F9275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28" y="4931711"/>
              <a:ext cx="2461385" cy="90379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D68668B-CC0B-4D35-A3F1-8C203A8AD7CB}"/>
              </a:ext>
            </a:extLst>
          </p:cNvPr>
          <p:cNvGrpSpPr/>
          <p:nvPr/>
        </p:nvGrpSpPr>
        <p:grpSpPr>
          <a:xfrm>
            <a:off x="4745421" y="4333777"/>
            <a:ext cx="4100685" cy="2275313"/>
            <a:chOff x="4745421" y="4333777"/>
            <a:chExt cx="4100685" cy="227531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BED3898-A3B7-4A75-8B48-264208700DFE}"/>
                </a:ext>
              </a:extLst>
            </p:cNvPr>
            <p:cNvSpPr txBox="1"/>
            <p:nvPr/>
          </p:nvSpPr>
          <p:spPr>
            <a:xfrm>
              <a:off x="4745421" y="6239758"/>
              <a:ext cx="3762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Generalized equipartition of energy.</a:t>
              </a:r>
              <a:endParaRPr lang="en-MY" dirty="0"/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1A95EE9F-79A8-4E67-8002-8D5A78164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45421" y="4333777"/>
              <a:ext cx="3850723" cy="908969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F601CF91-1212-4C91-B2CB-BC7076E03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97063" y="5266182"/>
              <a:ext cx="4049043" cy="908969"/>
            </a:xfrm>
            <a:prstGeom prst="rect">
              <a:avLst/>
            </a:prstGeom>
          </p:spPr>
        </p:pic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66ABF782-C8D3-4AA3-8162-94A9F42F84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8796" y="3505940"/>
            <a:ext cx="1699163" cy="48247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952BCEA-8856-4623-A5B1-CFBEF8A1DD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94636" y="2993016"/>
            <a:ext cx="4552750" cy="157748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B1C9E14-D1E7-469F-9F28-CB8703E49E71}"/>
              </a:ext>
            </a:extLst>
          </p:cNvPr>
          <p:cNvGrpSpPr/>
          <p:nvPr/>
        </p:nvGrpSpPr>
        <p:grpSpPr>
          <a:xfrm>
            <a:off x="8214336" y="2382783"/>
            <a:ext cx="3801615" cy="1956632"/>
            <a:chOff x="8214336" y="2382783"/>
            <a:chExt cx="3801615" cy="195663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073A5E-B375-48D3-B708-80B9B245C57E}"/>
                </a:ext>
              </a:extLst>
            </p:cNvPr>
            <p:cNvGrpSpPr/>
            <p:nvPr/>
          </p:nvGrpSpPr>
          <p:grpSpPr>
            <a:xfrm>
              <a:off x="8589882" y="2775551"/>
              <a:ext cx="3426069" cy="1563864"/>
              <a:chOff x="8589882" y="2775551"/>
              <a:chExt cx="3426069" cy="156386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F20EC73-399C-4852-97D2-AE043A81E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89882" y="2775551"/>
                <a:ext cx="2406632" cy="867507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8391460-E112-4A09-8C45-915DBF6EF4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89882" y="3671363"/>
                <a:ext cx="3426069" cy="668052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887F38-27ED-4D83-B87F-23D0C92C2510}"/>
                </a:ext>
              </a:extLst>
            </p:cNvPr>
            <p:cNvSpPr txBox="1"/>
            <p:nvPr/>
          </p:nvSpPr>
          <p:spPr>
            <a:xfrm>
              <a:off x="8214336" y="2382783"/>
              <a:ext cx="3157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Easy to check with ideal gas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74D5E7D-B929-4884-83F6-28156E7CD9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BD8646E-0024-41EB-8640-AB6E70A43EC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5987" y="4473553"/>
            <a:ext cx="2872364" cy="9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2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55A171E-6D64-4F24-90E8-66C72F86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E125A04-55B1-47B0-A8E8-2792F3E7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4D5CD7F-A97A-44E3-AFB6-5606EE46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页｜Canonical and grand canonical ensembles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D71F216-6746-473C-95E2-0027AF42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本讲主题：正则系综与巨正则系综。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40A0B1E-5055-493B-8498-7F92C53B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615697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D2DE010-DD0E-4E8C-BE2A-659B8AAB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9341F6C-40F2-453F-95A2-8D63CB37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919E845-AAA5-451B-971A-62BB09D9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9F93702-F599-45EB-9454-AA513E94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这一讲先完整建立正则系综：系统可与热库交换能量，控制量从 E 改为 T；最后用二能级系统与经典理想气体作例题。巨正则系综将在下一讲继续。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5041D25-A58D-43B5-BF48-3BE5AB1C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549281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C4B1171-6A36-4A8B-9491-A28E885F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51D5293-BADC-4CDE-B2CB-0EA9CEA9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A993948-4F1A-47C0-81FE-3CFAEA5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页｜Canonical ensemble from a system plus reservoir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420CE37-C111-4153-A08B-11BC058B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把小系统 S 与巨大热库 R 合成能量固定的总系统。小系统处于微观态 μS 时，其概率正比于热库剩余能量 ETot−HS(μS) 的态数：p(μS)=ΩR(ETot−HS(μS))/ΩS⊕R(ETot)。用 SR=kB lnΩR 并在 ETot 附近展开，SR(ETot−HS)≈SR(ETot)−HS(μS)/T，于是得到 Boltzmann 型权重。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50DBC9F-B502-4138-8683-D9DE519C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106222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4842A22-E935-4878-ABEC-7388352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9E329D9-6CAB-44DA-8C36-333C503E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40C19ED-1A18-471E-ACE2-D53E359D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F19B2CA-9A45-4D30-B632-08D2F906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p(μS)=ΩR(ETot−HS(μS))/ΩS⊕R(ETot)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小系统微观态概率的态数比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SR(ETot−HS)≈SR(ETot)−HS(μS)/T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热库熵的一阶展开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99C1696-18FB-4519-B152-2296CE6F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14075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5D51319-B877-43AD-AD35-7C7E409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2FA4ACB-FF71-499F-AD79-C5F52709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FECF823-1D86-4C56-89CB-A1EA1555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5F7F7BD-8FF7-4C8C-A063-8F12FA01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正则分布不是凭空假设：它是总系统微正则分布的边缘概率。热库很大，所以小系统交换有限能量时热库温度近似不变；展开的一阶系数正是 1/T。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2258489-3B56-4374-9D0B-02E64A82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301493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A4FA697-46DF-43CB-8F76-70FC3237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45B2425-2066-4E7A-A29B-C6917C1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A195FBE-670E-4B08-A932-096DF0EB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页｜Probability of an energy level in the 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5309F22-3B4F-4527-AAFA-254F65BC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微观态概率按能量加总后，能级 ε 的概率为 p(ε)=Σμ p(μ)δ(H(μ)−ε)=e^(−βε)/Z Σμδ(H(μ)−ε)=Ω(ε)e^(−βε)/Z。配分函数 Z(T)=Σε Ω(ε)e^(−βε)，它保证 Σμp(μ)=1。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75724DC-E3C4-4E11-A9C5-2F9D2C40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538754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1563AF4-AC01-43D7-B998-CEC1C277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153545B-0800-4FD1-9A2D-0F63BBA0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1837CA5-CE33-4C1A-9FE7-2CDC8558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59F0CE8-1602-4A77-BCDC-2EC91224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p(ε)=Σμ p(μ)δ(H(μ)−ε)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从微观态概率得到能量概率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p(ε)=Ω(ε)e^(−βε)/Z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Z(T)=Σε Ω(ε)e^(−βε)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能级形式的配分函数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Σμ p(μ)=1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归一化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EF35645-1307-4ECC-A4E6-62AC8786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272972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E0BA27A-6D54-4C90-B6C5-006C2857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0C2FFBB-C5D8-4AAE-BCBC-F835D39C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A4CE0A2-DDA1-4CE1-8050-84812286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CD046C5-33CD-47D0-823E-345B66B4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必须区分“一个微观态的概率”和“一个能级的概率”。同一能量若有 Ω(ε) 个微观态，能级总概率要多乘简并度 Ω(ε)。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710F64B-02C8-44D2-843C-86200499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44713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A4C934C-C4E2-4E00-A782-D5A60297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8F5ADDD-9B77-4FA7-AD69-4BEE8D89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F9BB46A-1DA7-402F-B9C5-6DFBF42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页｜Free-energy weighting and energy fluctuations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FA8D06E-0636-45DE-8C38-76D371FF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能级概率可重写为 p(ε)=Ωe^(−βε)/Z=(1/Z)exp[S(ε)/kB−ε/kBT]=(1/Z)exp[−A(ε)/kBT]，其中 A=ε−TS(ε)。最概然能量 E* 使 A 最小。平均能量满足 ⟨H⟩=−∂lnZ/∂β；能量方差 ⟨H²⟩c=⟨H²⟩−⟨H⟩²=∂²lnZ/∂β²=−∂⟨H⟩/∂β=kBT²Cx。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5E6E88F-5767-4DB4-A29D-1200CB79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272284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E8C04B7-B94E-4BA5-B9AA-0CC81A90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A5D1C48-F2D1-4FF7-B534-1FA4653A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709A30E-6326-4455-B8D2-17743133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C1EE781-8ED6-441D-AB50-4E880EE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p(ε)=Ωe^(−βε)/Z=(1/Z)exp[S(ε)/kB−ε/kBT]=(1/Z)exp[−A(ε)/kBT]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能级概率与自由能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A=ε−TS(ε)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本页自由能定义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Z=Σ_ε e^(βA(ε))≈e^(−βA(E*))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按原页可见符号转录；前一式指数正号与同页其他式不一致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⟨H⟩=−∂lnZ/∂β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⟨H²⟩c=⟨H²⟩−⟨H⟩²=∂²lnZ/∂β²=−∂⟨H⟩/∂β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能量方差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⟨H²⟩c=kBT² Cx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涨落—响应关系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758B015-7274-4444-BBFE-EB20C97C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935915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C0B8572-A1A1-436B-9338-93A384B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42840C9-0AB1-4FE8-98F0-5C5D8B6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B2CF327-7083-4671-B866-F27E7EB0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03ACE90-4502-48C9-9AD2-6C78C79A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Ω(ε) 偏爱高熵能量，e^(−βε) 惩罚高能量，两者竞争等价于最小化自由能 A。配分函数的 β 导数会“拉下”一个 H，因此能同时生成均值与涨落。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D84C553-086B-4C75-B881-D5D4EA2A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748274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6FAD6B2-BD72-4D4C-9767-5AD8EEDC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7B298E8-6AEA-499B-8EB5-C6246D57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51B044F-1B7F-48B2-B1B3-A368DCC5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页｜Thermodynamic limit of energy fluctuations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08BFDF2-0A5E-4F41-91BB-6A297D18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正则系综能量分布的宽度约为 δε∼√(kBT²Cx)。由于平均能量和热容都随粒子数 N 成正比，相对涨落 √⟨H²⟩c/⟨H⟩∝1/√N。因此宏观极限 N→∞ 时，能量相对涨落消失。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62E9AE9-91FA-441E-A21C-AB86E77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54483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C844A73-911B-41F5-A9C8-01CED44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0B97800-13A6-4CE9-858B-078EE5A2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BF1494F-75F2-4BD1-954D-2F3513A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C083881-65E1-469B-80CE-F10AF463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δε∼√(kBT² Cx)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能量分布宽度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√⟨H²⟩c/⟨H⟩∝1/√N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相对能量涨落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F58653C-EA85-41CF-9E33-86DF5219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455570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6788CFB-BCFC-4A34-9A14-81B9BC4D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7FF82E2-BD22-48EF-962F-B165F77B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677DD35-117D-4DC3-BDD7-74C7638B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830F184-29B7-4CFF-BB0D-2B743961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正则系综虽然允许能量变化，但宏观系统的分布极尖，所以它与固定能量的微正则系综给出相同热力学结果。绝对涨落通常随 √N 增大，相对涨落却按 1/√N 变小。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F1653A3-68D7-42CD-8CDB-BE616AD7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387879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6893FF6-9077-4058-B3D1-BBA7049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95E7CEF-5DD9-47AF-AC26-E73EC3AD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2180652-88DF-46C9-8A99-45045546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页｜Thermodynamic potentials and natural variables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DA758E2-D76B-4A8A-99BC-250E45A6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课件回顾热力学势。一般写 H=E−J·x；Helmholtz 自由能 F=E−TS；Gibbs 自由能 G=E−TS−J·x。课件说明 J 是广义力、x 是相应广义位移，并用这些 Legendre 变换改变自然控制变量。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7F3126C-79D3-43F5-8AAB-17A6375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351829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91193A5-A041-473F-92A1-5BC1B2C2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FDD8A58-11F6-438C-AEA2-9363E983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79E9557-5544-47D0-8710-605939DE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709BDD1-3F1C-4C39-A288-9CBF6F6B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H=E−J·x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课件的一般势记号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F=E−TS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Helmholtz 自由能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G=E−TS−J·x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加入广义力项的势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6FBFA68-D770-4525-AA0A-EDC190D8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92815202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F501FC7-2D54-4DE0-95F7-4D9497D5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AAD0E3D-80A5-4C9F-8EAD-6953E05F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BAEC11F-72D7-4281-B839-39414B42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0FE9B90-5C18-4267-9F33-7C1B95E5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热力学势的选择取决于实验控制什么：固定 E 用熵或内能表述，固定 T 用 F，若再固定广义力 J 则使用 G。不要把本页记号 H 与力学 Hamiltonian 混为一谈，需由上下文判断。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CF80D57-C66D-48FC-A817-BAF3C954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974038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FC26DF9-6FA2-48F1-AC9F-6D3AC3A8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D3EF0DB-83C5-44C3-A39F-EC513A5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2CF1B05-58F1-4805-AFAD-A579FCFA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页｜Thermodynamics from the canonical partition function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CB431DE-36D2-4FCB-AED8-C8250B48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正则系综的能级概率与配分函数为 p(ε)=Ωe^(−βε)/Z、Z=ΣΩe^(−βε)。平均能量 ⟨H⟩=−∂lnZ/∂β，也写成 ⟨H⟩=(∂(F/T)/∂(1/T))N,V。熵满足 S=−(∂F/∂T)N,V，而自由能由 F=−kBT lnZ 给出。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05F91EF-13B0-491E-8355-65ABA1AE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958228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5C95948-BF1E-419C-B1D5-6E28F46A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7F41036-1B95-4490-B9B2-2D1A56DC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A985F8F-464F-41A6-B2DC-7E19EEEC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C3E379F-E498-4037-B973-8C03207C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p(ε)=Ωe^(−βε)/Z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能级概率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Z=ΣΩe^(−βε)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⟨H⟩=−∂lnZ/∂β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⟨H⟩=(∂(F/T)/∂(1/T))N,V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自由能导数形式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S=−(∂F/∂T)N,V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F=−kBT ln 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自由能—配分函数关系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E184AC7-BD0C-42E7-B11C-523C67AE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7811918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233695E-C2EE-4024-BFB9-F69E1247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D0ABBC0-EBBC-4F92-AED4-87FDBD49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A7B3B21-977A-4FB7-9CF5-D9A2198A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5D59E38-5B91-4A1E-9545-1E4BDDBF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 是正则系综的“生成器”：先求 Z，再取 ln 并求导，能得到 E、S、P 等宏观量。最重要的流程是先确认 Z 的自然变量，再注明偏导中固定哪些量。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D892626-EB37-4C4C-ACA0-1EA69465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015411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556E9E4-2CF2-4F9F-B450-1BC41A66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6A3577A-55A5-43AB-9251-4D91D434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D8FE6DB-9507-4915-9005-D096F579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页｜Microcanonical versus 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D0BFD35-CA0D-4E89-81C7-A74A00CD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微正则系综的控制变量是 (E,x)，分布为 δ(H−E)/Ω，热力学势是 S=kB lnΩ。正则系综的控制变量是 (T,x)，分布为 exp(−βH)/Z，热力学势是 F=−kBT lnZ。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7AFDAD6-2A2D-45FF-83E0-300EA9B9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368614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B84B491-67C9-4C79-B8A1-8076D14C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B8279D1-F407-4F2F-A390-A4D5F772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EE4B82F-448E-471C-8C5C-8904B989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6D73BC9-D182-4E4D-9A14-E165F308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ρmicro=δ(H−E)/Ω; S=kB lnΩ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微正则一行总结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ρcanonical=exp(−βH)/Z; F=−kBT lnZ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正则一行总结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797BFAB-F5D7-4943-B45C-F777F096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6791664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60EC059-411D-4F12-A3D2-6B84258D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87E6D3F5-CECC-481B-BD25-904D1E41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D259E7E-BB3F-498C-BCB0-C967734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993A336-B587-4AC8-9D43-FCC9FBB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两个系综不是互相矛盾，而是适用于不同边界条件：孤立系统固定 E；接触热库固定 T。宏观极限下，只要没有特殊长程相互作用等问题，它们通常给出等价的状态方程。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CCE5B15-3460-43CD-8545-07C73BAC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608200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59A03AF-1E42-44FA-845E-16D46A98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3FD2481-26F9-4645-963D-57EDEB8C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E11492E-8F07-4017-A6A3-84123A8E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页｜Two-level system: microcanonical and canonical descriptions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6A5EFF8-BA45-4656-BB71-1827B467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本页把二能级系统的微正则与正则描述并列。微正则固定总激发数或总能量并对允许配置等权；正则允许总能量涨落，每个配置按 e^(−βH) 加权。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2A4C9E4-351E-4E5B-99E1-B0C0D442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025286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B6FC23A-5631-46A0-AE92-967638FD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D661952-F7D8-4F24-B665-5D5FCFEE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DC050CF-B982-445E-B490-BBC54F1C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826B2E5-2BB0-45E3-9924-980AC345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微正则计算依赖组合数，正则计算可因独立单元而把配分函数因子化。两条路线最后应得到相同的宏观 E(T)、S(T) 和热容，可用于互相校验。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C834A8A1-D170-42EF-A555-B333C30A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439692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E49FAAD-666F-4331-A66A-45BDC5F4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97F6C9B-74AF-45FC-AD65-52BC1846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B2EA71F-E000-4CBD-80C3-7D8907EB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页｜Canonical solution of the two-level system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885E3C3F-1FFB-4BFF-A272-198E5CF7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每个单元能量为 0 或 ε，独立 N 单元的配分函数是 Z=(1+e^(−βε))^N。自由能 F=−NkBT ln[1+e^(−ε/kBT)]。平均能量 E=−∂lnZ/∂β=Nεe^(−βε)/(1+e^(−βε))。单元占据概率 pi(ni)=e^(−βεni)/(1+e^(−βε))。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E2CAF9A-F7AF-41E2-A0E9-BAD41557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7515426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35419A4-5D18-456A-80DD-EBE2735C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EBEEE3F-8CD8-4016-9956-E7672130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A1B0DE7-FE90-4C27-8A4F-4C043A37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E407B4D-4285-4F17-8D1C-C62CF26B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Z=(1+e^(−βε))^N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 个独立二能级单元的配分函数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F=−NkBT ln[1+e^(−ε/kBT)]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自由能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E=−∂lnZ/∂β=Nεe^(−βε)/(1+e^(−βε))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平均能量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pi(ni)=e^(−βεni)/(1+e^(−βε))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单元占据概率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D039C7C-1B2C-4EF0-870A-3ACA297A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9804853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FF70CE1-F90D-4C5D-B24B-BA667F9F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3E7D72A-75C0-4AED-A41C-9F9E6C2B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CA2A365-E3B5-402B-96D7-423E3D3F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CD069F5-A569-4710-876D-490E5DB7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先求单个单元 z1=1+e^(−βε)，独立性给 Z=z1^N。这样不需要枚举 2^N 个配置。ni=0 时权重为 1，ni=1 时权重为 e^(−βε)。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BDFB9A8-01A7-4A96-BAAB-EB83A618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0684168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4131A46-7F94-4985-81C3-C26E439F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46A1106-2CB8-45B8-BA77-77DB3570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9949AE9-7C66-483F-913E-879E0B93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页｜Agreement of the two-level ensembles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C00A8AA-D260-4258-B264-A7C9D0F8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本页把微正则方法得到的熵、能量和占据概率，与正则方法由 Z 得到的结果进行比较。宏观极限下两者一致；正则路线通常更短，微正则路线更直接展示态数与熵。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8B8BD43-9F1D-40F1-938F-0963F18C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674426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AAC050F-1BEA-4E70-A986-E7EDCDDB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14DD741-08D2-4100-99C1-EE357A1B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D8A0FAE-6A44-46A9-AE98-E2FA810B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1DEDAF0-2227-4889-A9D0-CDEC92F0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E(T)=Nε/[e^(βε)+1]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两种系综共同得到的能量关系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F4A45CD-8878-4470-BC76-3363EB6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08916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12ECD5A-DAD3-47BF-A058-CAEDE535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6851C24-3CF8-4054-B03A-57D00B0F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D99E312-249F-4809-9EA7-0F818DE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954ABA9-70C0-4429-A72E-42CFEE36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复习时至少用一个量做交叉检查：把正则 E(T)=Nε/[e^(βε)+1] 代回微正则的 1/T=(kB/ε)ln[(Nε−E)/E]，应得到恒等式。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AF70290C-579F-4C46-99E8-CAC6F5A2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9253698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2B9E0B9-1506-4CF3-9D78-BC2821D5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FD004FA-6EFB-4C62-A071-D42B86BB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E4427D6-6517-4CD9-BA06-8BBFCC49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页｜Canonical ensemble of a classical ideal gas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C877D46-6896-4BD3-B58E-D5DBB2E8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经典理想气体的正则配分函数为 Z=V^N/N! (2πmkBT/h²)^(3N/2)=1/N!(V/λ³)^N，其中 λ=h/√(2πmkBT)。由此 F=−NkBT[ln(Ve/N)+(3/2)ln(2πmkBT/h²)]。原页写 −S=∂F/∂T=…=(F−E)/T；并给出 E=3NkBT/2、P=−∂F/∂V=NkBT/V、PV=NkBT。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16D60B5-D416-44BA-8A67-9D61D170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1780850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9EFC2433-D0A5-44D4-B5FE-EFA5871E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5FF44B0-3726-45E4-8EC5-D39B6401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B2AED5D-1221-4302-9496-E06D6B75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31D9A0E-CD38-4BBB-AE41-102439B6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Z=V^N/N! (2πmkBT/h²)^(3N/2)=1/N!(V/λ³)^N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λ=h/√(2πmkBT)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热德布罗意波长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F=−NkBT[ln(Ve/N)+(3/2)ln(2πmkBT/h²)]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自由能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−S=∂F/∂T=…=(F−E)/T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按原页可见关系保留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E=3NkBT/2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内能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P=−∂F/∂V=NkBT/V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PV=NkBT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状态方程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EA5A0B1-40D4-4166-B8EA-F0D98AC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7893727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65E8B2C-E108-4E82-BE98-55BD1BA0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B70D92D-8801-40E6-8DF1-2AA4D426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F8401FC-B6C5-49D8-A10D-BD41F018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74B27723-AA33-4FF5-B713-C39B3031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 使经典相空间计数无量纲，1/N! 修正相同粒子不可区分。λ 是热德布罗意波长；当 Nλ³/V 不再很小时，经典 Maxwell–Boltzmann 近似会失效。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3AB29D2-D3D8-4C99-9BC6-540978B7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4305752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3785000-4E78-4C22-81C9-FF9E92C4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5C310A7-233D-4B96-B50B-AB2783C8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0C12F7D-C799-4C9B-A093-67BACC78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页｜Virial theorem and equipartition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D67F8C7-6DBA-4EF0-BB19-35EF1842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本页标题为 Virial Theorem（位力定理），并回到理想气体 Hamiltonian H=Σ[p_i²/(2m)+U(q_i)] 与硬壁势 U。课件意图是从正则平均连接位力关系与经典能量均分。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CB0FA4D-3037-418F-8407-9A550AB1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5629141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E72948A-058B-48AB-AE16-05BC3C8C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F23DD77-1F44-4D71-A85C-BE0933B6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83B4259-9FD7-4687-BE4F-FA1FBAAD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DA2446F-EFC8-4E9A-B02E-2B768266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H=Σ[p_i²/(2m)+U(q_i)]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原页可辨认的理想气体 Hamiltonian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U(q)=0 inside; ∞ outside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硬壁势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8270B58-CC32-4E49-8838-30599B0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5439500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7DD2B8A-A6CE-44A0-BCF5-D17CA11C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ABFAA45-40AD-45D1-A9BE-26BDB02D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0F3983C-98D1-45C4-9F35-77FEA343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1219C32-42E9-4C7C-9E96-8C8864C7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位力定理把动能平均与位置—力的平均联系起来；能量均分则说明经典平衡中每个二次项贡献 kBT/2。二者都要求注意势能形式和边界条件。由于本页核心公式对象未正常渲染，下面解释只作为学习导向，不冒充原页逐字公式。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DBFE207-D441-48B3-87AC-9935778B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71108455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50270</TotalTime>
  <Words>370</Words>
  <Application>Microsoft Office PowerPoint</Application>
  <PresentationFormat>Widescreen</PresentationFormat>
  <Paragraphs>94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canonical ensemble</vt:lpstr>
      <vt:lpstr>canonical ensemble</vt:lpstr>
      <vt:lpstr>canonical ensemble</vt:lpstr>
      <vt:lpstr>canonical ensemble</vt:lpstr>
      <vt:lpstr>Thermodynamics potential</vt:lpstr>
      <vt:lpstr>canonical ensemble</vt:lpstr>
      <vt:lpstr>canonical ensemble</vt:lpstr>
      <vt:lpstr>canonical ensemble: two level system</vt:lpstr>
      <vt:lpstr>canonical ensemble: two level system</vt:lpstr>
      <vt:lpstr>canonical ensemble: two level system</vt:lpstr>
      <vt:lpstr>Canonical Ensemble: Idea gas</vt:lpstr>
      <vt:lpstr>Virial theorem and equipartition of energy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1666</cp:revision>
  <dcterms:created xsi:type="dcterms:W3CDTF">2024-08-25T23:32:26Z</dcterms:created>
  <dcterms:modified xsi:type="dcterms:W3CDTF">2025-10-21T08:25:05Z</dcterms:modified>
</cp:coreProperties>
</file>