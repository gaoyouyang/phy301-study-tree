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0"/>
  </p:notesMasterIdLst>
  <p:sldIdLst>
    <p:sldId id="292" r:id="rId2"/>
    <p:sldId id="575" r:id="rId3"/>
    <p:sldId id="525" r:id="rId4"/>
    <p:sldId id="573" r:id="rId5"/>
    <p:sldId id="576" r:id="rId6"/>
    <p:sldId id="577" r:id="rId7"/>
    <p:sldId id="590" r:id="rId8"/>
    <p:sldId id="578" r:id="rId9"/>
    <p:sldId id="580" r:id="rId10"/>
    <p:sldId id="581" r:id="rId11"/>
    <p:sldId id="582" r:id="rId12"/>
    <p:sldId id="583" r:id="rId13"/>
    <p:sldId id="585" r:id="rId14"/>
    <p:sldId id="586" r:id="rId15"/>
    <p:sldId id="587" r:id="rId16"/>
    <p:sldId id="595" r:id="rId17"/>
    <p:sldId id="596" r:id="rId18"/>
    <p:sldId id="59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emf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2" Type="http://schemas.openxmlformats.org/officeDocument/2006/relationships/image" Target="../media/image2.emf"/><Relationship Id="rId16" Type="http://schemas.openxmlformats.org/officeDocument/2006/relationships/image" Target="../media/image16.emf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24" Type="http://schemas.openxmlformats.org/officeDocument/2006/relationships/image" Target="../media/image24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23" Type="http://schemas.openxmlformats.org/officeDocument/2006/relationships/image" Target="../media/image23.sv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5" Type="http://schemas.openxmlformats.org/officeDocument/2006/relationships/image" Target="../media/image55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24" Type="http://schemas.openxmlformats.org/officeDocument/2006/relationships/image" Target="../media/image54.png"/><Relationship Id="rId5" Type="http://schemas.openxmlformats.org/officeDocument/2006/relationships/image" Target="../media/image35.gif"/><Relationship Id="rId15" Type="http://schemas.openxmlformats.org/officeDocument/2006/relationships/image" Target="../media/image45.sv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png"/><Relationship Id="rId18" Type="http://schemas.openxmlformats.org/officeDocument/2006/relationships/image" Target="../media/image72.sv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17" Type="http://schemas.openxmlformats.org/officeDocument/2006/relationships/image" Target="../media/image71.png"/><Relationship Id="rId2" Type="http://schemas.openxmlformats.org/officeDocument/2006/relationships/image" Target="../media/image55.png"/><Relationship Id="rId16" Type="http://schemas.openxmlformats.org/officeDocument/2006/relationships/image" Target="../media/image70.svg"/><Relationship Id="rId20" Type="http://schemas.openxmlformats.org/officeDocument/2006/relationships/image" Target="../media/image7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26.png"/><Relationship Id="rId10" Type="http://schemas.openxmlformats.org/officeDocument/2006/relationships/image" Target="../media/image64.sv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svg"/><Relationship Id="rId22" Type="http://schemas.openxmlformats.org/officeDocument/2006/relationships/image" Target="../media/image7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26.png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17" Type="http://schemas.openxmlformats.org/officeDocument/2006/relationships/image" Target="../media/image91.svg"/><Relationship Id="rId2" Type="http://schemas.openxmlformats.org/officeDocument/2006/relationships/image" Target="../media/image57.png"/><Relationship Id="rId16" Type="http://schemas.openxmlformats.org/officeDocument/2006/relationships/image" Target="../media/image90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jpeg"/><Relationship Id="rId10" Type="http://schemas.openxmlformats.org/officeDocument/2006/relationships/image" Target="../media/image84.svg"/><Relationship Id="rId19" Type="http://schemas.openxmlformats.org/officeDocument/2006/relationships/image" Target="../media/image93.sv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9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96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svg"/><Relationship Id="rId5" Type="http://schemas.openxmlformats.org/officeDocument/2006/relationships/image" Target="../media/image99.png"/><Relationship Id="rId15" Type="http://schemas.openxmlformats.org/officeDocument/2006/relationships/image" Target="../media/image109.sv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svg"/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26" Type="http://schemas.openxmlformats.org/officeDocument/2006/relationships/image" Target="../media/image133.sv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image" Target="../media/image96.png"/><Relationship Id="rId16" Type="http://schemas.openxmlformats.org/officeDocument/2006/relationships/image" Target="../media/image123.svg"/><Relationship Id="rId20" Type="http://schemas.openxmlformats.org/officeDocument/2006/relationships/image" Target="../media/image1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svg"/><Relationship Id="rId11" Type="http://schemas.openxmlformats.org/officeDocument/2006/relationships/image" Target="../media/image118.png"/><Relationship Id="rId24" Type="http://schemas.openxmlformats.org/officeDocument/2006/relationships/image" Target="../media/image131.sv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10" Type="http://schemas.openxmlformats.org/officeDocument/2006/relationships/image" Target="../media/image117.svg"/><Relationship Id="rId19" Type="http://schemas.openxmlformats.org/officeDocument/2006/relationships/image" Target="../media/image126.png"/><Relationship Id="rId4" Type="http://schemas.openxmlformats.org/officeDocument/2006/relationships/image" Target="../media/image111.svg"/><Relationship Id="rId9" Type="http://schemas.openxmlformats.org/officeDocument/2006/relationships/image" Target="../media/image116.png"/><Relationship Id="rId14" Type="http://schemas.openxmlformats.org/officeDocument/2006/relationships/image" Target="../media/image121.svg"/><Relationship Id="rId22" Type="http://schemas.openxmlformats.org/officeDocument/2006/relationships/image" Target="../media/image129.svg"/><Relationship Id="rId27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26.png"/><Relationship Id="rId3" Type="http://schemas.openxmlformats.org/officeDocument/2006/relationships/image" Target="../media/image137.png"/><Relationship Id="rId7" Type="http://schemas.openxmlformats.org/officeDocument/2006/relationships/image" Target="../media/image141.sv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image" Target="../media/image134.png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svg"/><Relationship Id="rId5" Type="http://schemas.openxmlformats.org/officeDocument/2006/relationships/image" Target="../media/image139.svg"/><Relationship Id="rId15" Type="http://schemas.openxmlformats.org/officeDocument/2006/relationships/image" Target="../media/image149.sv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svg"/><Relationship Id="rId14" Type="http://schemas.openxmlformats.org/officeDocument/2006/relationships/image" Target="../media/image1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svg"/><Relationship Id="rId13" Type="http://schemas.openxmlformats.org/officeDocument/2006/relationships/image" Target="../media/image161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sv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0" Type="http://schemas.openxmlformats.org/officeDocument/2006/relationships/image" Target="../media/image158.sv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svg"/><Relationship Id="rId13" Type="http://schemas.openxmlformats.org/officeDocument/2006/relationships/image" Target="../media/image162.png"/><Relationship Id="rId18" Type="http://schemas.openxmlformats.org/officeDocument/2006/relationships/image" Target="../media/image167.sv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6.png"/><Relationship Id="rId2" Type="http://schemas.openxmlformats.org/officeDocument/2006/relationships/image" Target="../media/image150.png"/><Relationship Id="rId16" Type="http://schemas.openxmlformats.org/officeDocument/2006/relationships/image" Target="../media/image16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sv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5" Type="http://schemas.openxmlformats.org/officeDocument/2006/relationships/image" Target="../media/image164.png"/><Relationship Id="rId10" Type="http://schemas.openxmlformats.org/officeDocument/2006/relationships/image" Target="../media/image158.svg"/><Relationship Id="rId19" Type="http://schemas.openxmlformats.org/officeDocument/2006/relationships/image" Target="../media/image26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</a:t>
            </a:r>
            <a:r>
              <a:rPr lang="en-US"/>
              <a:t>physics phy301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Fluctuation, Brownian motion and diffusion, fluctuation and dissipation</a:t>
            </a:r>
          </a:p>
        </p:txBody>
      </p:sp>
    </p:spTree>
    <p:extLst>
      <p:ext uri="{BB962C8B-B14F-4D97-AF65-F5344CB8AC3E}">
        <p14:creationId xmlns:p14="http://schemas.microsoft.com/office/powerpoint/2010/main" val="35864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ensemble models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62" y="2009000"/>
            <a:ext cx="7958918" cy="20919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C48E0D-A597-426D-BCEF-B080EA81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265" y="5888604"/>
            <a:ext cx="1701709" cy="7022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9D82A9-3748-48EC-AFC0-584C4189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70" y="3929102"/>
            <a:ext cx="1832059" cy="3221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10E5ED-A865-457B-8688-5F65A0705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064" y="5529339"/>
            <a:ext cx="1832059" cy="32184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B48F69-4177-49A4-966C-939400259E71}"/>
              </a:ext>
            </a:extLst>
          </p:cNvPr>
          <p:cNvGrpSpPr/>
          <p:nvPr/>
        </p:nvGrpSpPr>
        <p:grpSpPr>
          <a:xfrm>
            <a:off x="2961205" y="5968691"/>
            <a:ext cx="1459988" cy="738294"/>
            <a:chOff x="8580652" y="3243080"/>
            <a:chExt cx="1459988" cy="73829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5A29724-2451-499D-955E-3BB05FAC5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86475"/>
            <a:stretch/>
          </p:blipFill>
          <p:spPr>
            <a:xfrm>
              <a:off x="8580652" y="3243081"/>
              <a:ext cx="729994" cy="73829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B56EE30-CC54-43D4-BCBA-3ADC0C736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6475"/>
            <a:stretch/>
          </p:blipFill>
          <p:spPr>
            <a:xfrm>
              <a:off x="9310646" y="3243080"/>
              <a:ext cx="729994" cy="73829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85D330-62F2-42D4-8398-102ED45DFE79}"/>
              </a:ext>
            </a:extLst>
          </p:cNvPr>
          <p:cNvSpPr txBox="1"/>
          <p:nvPr/>
        </p:nvSpPr>
        <p:spPr>
          <a:xfrm>
            <a:off x="413886" y="39585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167FAFE-D2B4-4616-A65C-47D836EBA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413" y="3910825"/>
            <a:ext cx="788621" cy="49069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6F2EBCB-795F-48B7-855F-9548A8122B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71916" y="3999506"/>
            <a:ext cx="2231603" cy="38810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6F90A3-E3BB-43E9-B1F1-A12EC899F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0694" y="4434201"/>
            <a:ext cx="2323673" cy="4170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193AE23-BD58-49AD-BAC3-508A5D46B61E}"/>
              </a:ext>
            </a:extLst>
          </p:cNvPr>
          <p:cNvSpPr txBox="1"/>
          <p:nvPr/>
        </p:nvSpPr>
        <p:spPr>
          <a:xfrm>
            <a:off x="420528" y="4431203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3E4E4AEB-1558-464D-8D5D-DA424D8A2D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06957" y="4431203"/>
            <a:ext cx="1076476" cy="4784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542344-ABDC-4A1B-8163-FE4EEA9526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9030" y="4383354"/>
            <a:ext cx="2531407" cy="536315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311A117-776A-404C-B1E6-1BF549661620}"/>
              </a:ext>
            </a:extLst>
          </p:cNvPr>
          <p:cNvGrpSpPr/>
          <p:nvPr/>
        </p:nvGrpSpPr>
        <p:grpSpPr>
          <a:xfrm>
            <a:off x="8443741" y="5394650"/>
            <a:ext cx="2775974" cy="828915"/>
            <a:chOff x="7779806" y="5487521"/>
            <a:chExt cx="2775974" cy="828915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8D80917-F0D2-40CF-A6FC-3DEF57DD7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43700" y="6092343"/>
              <a:ext cx="1701709" cy="2240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209DC4-69FE-40E7-9B61-B18119C79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r="32626"/>
            <a:stretch/>
          </p:blipFill>
          <p:spPr>
            <a:xfrm>
              <a:off x="7779806" y="5487521"/>
              <a:ext cx="2775974" cy="494432"/>
            </a:xfrm>
            <a:prstGeom prst="rect">
              <a:avLst/>
            </a:prstGeom>
          </p:spPr>
        </p:pic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28780D82-5464-41EF-8C11-8481A6D0D4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64504" y="6189694"/>
            <a:ext cx="1401030" cy="708386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1F5ADAA-735A-4779-97DF-9169B3166B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34780" y="5532577"/>
            <a:ext cx="1511875" cy="41706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9F944D7-58B3-4563-A388-0C74D4C085BD}"/>
              </a:ext>
            </a:extLst>
          </p:cNvPr>
          <p:cNvSpPr txBox="1"/>
          <p:nvPr/>
        </p:nvSpPr>
        <p:spPr>
          <a:xfrm>
            <a:off x="3209899" y="5199334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Canonical</a:t>
            </a:r>
            <a:endParaRPr lang="en-MY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401B50-5246-45DD-8DB9-545680EEF188}"/>
              </a:ext>
            </a:extLst>
          </p:cNvPr>
          <p:cNvSpPr txBox="1"/>
          <p:nvPr/>
        </p:nvSpPr>
        <p:spPr>
          <a:xfrm>
            <a:off x="5719064" y="51073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2EFA9F-4B38-47B2-93EC-8A784FE3151D}"/>
              </a:ext>
            </a:extLst>
          </p:cNvPr>
          <p:cNvSpPr txBox="1"/>
          <p:nvPr/>
        </p:nvSpPr>
        <p:spPr>
          <a:xfrm>
            <a:off x="8452471" y="5051801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DB79F3-1345-48A9-9822-10FB17013B66}"/>
              </a:ext>
            </a:extLst>
          </p:cNvPr>
          <p:cNvSpPr txBox="1"/>
          <p:nvPr/>
        </p:nvSpPr>
        <p:spPr>
          <a:xfrm>
            <a:off x="171682" y="4851271"/>
            <a:ext cx="369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Connection to thermodynamics:</a:t>
            </a:r>
            <a:endParaRPr lang="en-MY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D46C30-62DC-46F6-813F-AC4B4F4F595F}"/>
              </a:ext>
            </a:extLst>
          </p:cNvPr>
          <p:cNvSpPr txBox="1"/>
          <p:nvPr/>
        </p:nvSpPr>
        <p:spPr>
          <a:xfrm>
            <a:off x="231017" y="5172408"/>
            <a:ext cx="173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Microcanonical</a:t>
            </a:r>
            <a:endParaRPr lang="en-MY" dirty="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CDDE88A7-6762-4566-B88E-5ED1AAE9DB1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2510" y="5666080"/>
            <a:ext cx="1017085" cy="6942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6C7683-FA0A-4691-970D-B5868A5B3F6F}"/>
              </a:ext>
            </a:extLst>
          </p:cNvPr>
          <p:cNvSpPr/>
          <p:nvPr/>
        </p:nvSpPr>
        <p:spPr>
          <a:xfrm>
            <a:off x="231018" y="5151872"/>
            <a:ext cx="11280798" cy="16243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536AD-EA06-4ABB-8BE3-BCA1B5CF284C}"/>
              </a:ext>
            </a:extLst>
          </p:cNvPr>
          <p:cNvSpPr txBox="1"/>
          <p:nvPr/>
        </p:nvSpPr>
        <p:spPr>
          <a:xfrm>
            <a:off x="8878346" y="3856432"/>
            <a:ext cx="263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Thermodynamics (quantum or classical) =&gt; </a:t>
            </a:r>
            <a:r>
              <a:rPr lang="en-MY" b="1" dirty="0" err="1">
                <a:solidFill>
                  <a:srgbClr val="FF0000"/>
                </a:solidFill>
              </a:rPr>
              <a:t>Macrostates</a:t>
            </a:r>
            <a:endParaRPr lang="en-MY" b="1" dirty="0">
              <a:solidFill>
                <a:srgbClr val="FF0000"/>
              </a:solidFill>
            </a:endParaRPr>
          </a:p>
          <a:p>
            <a:r>
              <a:rPr lang="en-MY" b="1" dirty="0">
                <a:solidFill>
                  <a:srgbClr val="FF0000"/>
                </a:solidFill>
              </a:rPr>
              <a:t>=&gt;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B7C8A-D9BA-4E17-B4BE-CC8F6D82D875}"/>
              </a:ext>
            </a:extLst>
          </p:cNvPr>
          <p:cNvSpPr txBox="1"/>
          <p:nvPr/>
        </p:nvSpPr>
        <p:spPr>
          <a:xfrm>
            <a:off x="8497714" y="808024"/>
            <a:ext cx="3134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The details of the fluctuation is not important: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635AF2A-49EA-4D6B-B1EB-7BD1A8BFEB6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77603" y="1329063"/>
            <a:ext cx="2645483" cy="19794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0E99916-8294-47EA-891C-D5140CE6DC2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7619" t="-25299" b="-1"/>
          <a:stretch/>
        </p:blipFill>
        <p:spPr>
          <a:xfrm>
            <a:off x="9578846" y="3319086"/>
            <a:ext cx="2330707" cy="351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3E006A-599E-44C7-BF80-A630E7EED69A}"/>
              </a:ext>
            </a:extLst>
          </p:cNvPr>
          <p:cNvSpPr txBox="1"/>
          <p:nvPr/>
        </p:nvSpPr>
        <p:spPr>
          <a:xfrm>
            <a:off x="9574668" y="1549466"/>
            <a:ext cx="144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Energy: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D240E4-3AE7-4A60-89E1-0F633BA50BEB}"/>
              </a:ext>
            </a:extLst>
          </p:cNvPr>
          <p:cNvSpPr txBox="1"/>
          <p:nvPr/>
        </p:nvSpPr>
        <p:spPr>
          <a:xfrm>
            <a:off x="8661787" y="3309987"/>
            <a:ext cx="144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Particles: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607320C-4869-4387-83AF-CD09C1A370D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4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vs Fluctuations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97E8-2856-42BA-B9AC-B8446B3D2611}"/>
              </a:ext>
            </a:extLst>
          </p:cNvPr>
          <p:cNvSpPr txBox="1"/>
          <p:nvPr/>
        </p:nvSpPr>
        <p:spPr>
          <a:xfrm flipH="1">
            <a:off x="1251284" y="4158113"/>
            <a:ext cx="10520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 dirty="0"/>
              <a:t>Small scale =&gt; Brownian motions: thermal effects on single particle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 dirty="0"/>
              <a:t>Out-of-equilibrium =&gt; transport phenomena: thermal motion of the underlying particles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B4004-13E3-4CD3-A7B9-6ED6A3D41E77}"/>
              </a:ext>
            </a:extLst>
          </p:cNvPr>
          <p:cNvSpPr txBox="1"/>
          <p:nvPr/>
        </p:nvSpPr>
        <p:spPr>
          <a:xfrm>
            <a:off x="3751147" y="2786862"/>
            <a:ext cx="468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/>
              <a:t>Fluctuations are important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3B4B3-30DE-49F8-B8E3-D24476DA5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Brownian motion</a:t>
            </a:r>
            <a:endParaRPr lang="en-MY" dirty="0"/>
          </a:p>
        </p:txBody>
      </p:sp>
      <p:pic>
        <p:nvPicPr>
          <p:cNvPr id="1026" name="Picture 2" descr="Brownian Motion in Nanotechnology">
            <a:extLst>
              <a:ext uri="{FF2B5EF4-FFF2-40B4-BE49-F238E27FC236}">
                <a16:creationId xmlns:a16="http://schemas.microsoft.com/office/drawing/2014/main" id="{D232838C-7183-4A1F-8E72-84BDE1A5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1" y="2926431"/>
            <a:ext cx="45148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9F4D46-66CF-4BDF-9E84-C4138894A972}"/>
              </a:ext>
            </a:extLst>
          </p:cNvPr>
          <p:cNvSpPr txBox="1"/>
          <p:nvPr/>
        </p:nvSpPr>
        <p:spPr>
          <a:xfrm>
            <a:off x="796991" y="2320965"/>
            <a:ext cx="5786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Background is the reservoir in thermal equilibrium.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A8D03-D343-4837-9FCC-F59B836BAE6F}"/>
              </a:ext>
            </a:extLst>
          </p:cNvPr>
          <p:cNvSpPr txBox="1"/>
          <p:nvPr/>
        </p:nvSpPr>
        <p:spPr>
          <a:xfrm>
            <a:off x="796990" y="5515240"/>
            <a:ext cx="808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For 1 particle system is obviously not describe by thermodynamics.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Average behaviour is boring and do not tell us much information.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E86DF2-CA17-4E83-AF5D-770F735C42B5}"/>
              </a:ext>
            </a:extLst>
          </p:cNvPr>
          <p:cNvGrpSpPr/>
          <p:nvPr/>
        </p:nvGrpSpPr>
        <p:grpSpPr>
          <a:xfrm>
            <a:off x="4639377" y="2690297"/>
            <a:ext cx="7113069" cy="899926"/>
            <a:chOff x="4639377" y="2690297"/>
            <a:chExt cx="7113069" cy="89992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1EF302-954B-445C-B513-EC42F5FEB80A}"/>
                </a:ext>
              </a:extLst>
            </p:cNvPr>
            <p:cNvSpPr txBox="1"/>
            <p:nvPr/>
          </p:nvSpPr>
          <p:spPr>
            <a:xfrm>
              <a:off x="6400799" y="2690297"/>
              <a:ext cx="53516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We want to model the fluctuation of the motion due to the interaction with the thermal system.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61074A4-0101-483D-B5C8-9020B834627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4639377" y="3013463"/>
              <a:ext cx="1761422" cy="576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1C3AE8B-945C-4013-A30D-0B964A838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1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Renaissance Technologies - The Hedge Fund That's Changing the Game">
            <a:extLst>
              <a:ext uri="{FF2B5EF4-FFF2-40B4-BE49-F238E27FC236}">
                <a16:creationId xmlns:a16="http://schemas.microsoft.com/office/drawing/2014/main" id="{B92A9516-9ECF-4C5E-91D5-18A9D94B86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87" b="32145"/>
          <a:stretch/>
        </p:blipFill>
        <p:spPr bwMode="auto">
          <a:xfrm>
            <a:off x="7116416" y="3266776"/>
            <a:ext cx="3090311" cy="72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81541A-CC91-4950-9DBF-DE53BBDE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Real-world example:</a:t>
            </a:r>
          </a:p>
        </p:txBody>
      </p:sp>
      <p:pic>
        <p:nvPicPr>
          <p:cNvPr id="2056" name="Picture 8" descr="2160x1440 resolution | 100 U.S. dollar banknote lot, money, dollar ...">
            <a:extLst>
              <a:ext uri="{FF2B5EF4-FFF2-40B4-BE49-F238E27FC236}">
                <a16:creationId xmlns:a16="http://schemas.microsoft.com/office/drawing/2014/main" id="{454444CD-1179-4079-A9D2-B45A6BCA6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0" y="4671260"/>
            <a:ext cx="3288632" cy="184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w Jones Market Futures: What To Do In New Stock Market Rally - TechStory">
            <a:extLst>
              <a:ext uri="{FF2B5EF4-FFF2-40B4-BE49-F238E27FC236}">
                <a16:creationId xmlns:a16="http://schemas.microsoft.com/office/drawing/2014/main" id="{442DEF44-794B-4A58-963C-1C6AD4611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100" y="2084832"/>
            <a:ext cx="4182316" cy="278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2662CCC-CEB4-4EBA-8FC7-F4EF13BF24C2}"/>
              </a:ext>
            </a:extLst>
          </p:cNvPr>
          <p:cNvSpPr/>
          <p:nvPr/>
        </p:nvSpPr>
        <p:spPr>
          <a:xfrm rot="19319627">
            <a:off x="1795661" y="3785994"/>
            <a:ext cx="1122306" cy="438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B0DA17F-1AA1-4481-A542-6FFBC6FA198D}"/>
              </a:ext>
            </a:extLst>
          </p:cNvPr>
          <p:cNvSpPr/>
          <p:nvPr/>
        </p:nvSpPr>
        <p:spPr>
          <a:xfrm rot="19319627">
            <a:off x="3973937" y="5166881"/>
            <a:ext cx="1122306" cy="438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A8CF8-F075-4B38-8961-E9AC9F30D356}"/>
              </a:ext>
            </a:extLst>
          </p:cNvPr>
          <p:cNvSpPr txBox="1"/>
          <p:nvPr/>
        </p:nvSpPr>
        <p:spPr>
          <a:xfrm>
            <a:off x="7267074" y="2281187"/>
            <a:ext cx="455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 fluctuations of the stock price is driven by million of transaction in the background.</a:t>
            </a:r>
          </a:p>
        </p:txBody>
      </p:sp>
      <p:pic>
        <p:nvPicPr>
          <p:cNvPr id="2062" name="Picture 14" descr="Renaissance Technologies’ Big Year Should Scare Many | by Doctor Stock ...">
            <a:extLst>
              <a:ext uri="{FF2B5EF4-FFF2-40B4-BE49-F238E27FC236}">
                <a16:creationId xmlns:a16="http://schemas.microsoft.com/office/drawing/2014/main" id="{2AC8B193-5168-498C-8EEC-502093645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374" y="3960332"/>
            <a:ext cx="3520147" cy="233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5E299-6B09-4C1D-8537-995E70AE3EBC}"/>
              </a:ext>
            </a:extLst>
          </p:cNvPr>
          <p:cNvSpPr txBox="1"/>
          <p:nvPr/>
        </p:nvSpPr>
        <p:spPr>
          <a:xfrm flipH="1">
            <a:off x="5564764" y="6455374"/>
            <a:ext cx="652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Black-Scholes price model use the concept of Brownian motion.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0C8C7-F8E2-467F-9AC4-86ADC4065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1C3C46-D6FE-444B-9437-0CA5EBBFF5D2}"/>
              </a:ext>
            </a:extLst>
          </p:cNvPr>
          <p:cNvSpPr txBox="1"/>
          <p:nvPr/>
        </p:nvSpPr>
        <p:spPr>
          <a:xfrm>
            <a:off x="10286553" y="3257151"/>
            <a:ext cx="2013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Y" b="0" i="0" dirty="0">
                <a:solidFill>
                  <a:srgbClr val="101418"/>
                </a:solidFill>
                <a:effectLst/>
                <a:latin typeface="Linux Libertine"/>
              </a:rPr>
              <a:t>Jim Simons</a:t>
            </a:r>
          </a:p>
          <a:p>
            <a:r>
              <a:rPr lang="en-MY" dirty="0"/>
              <a:t>(Mathematician)</a:t>
            </a:r>
          </a:p>
        </p:txBody>
      </p:sp>
    </p:spTree>
    <p:extLst>
      <p:ext uri="{BB962C8B-B14F-4D97-AF65-F5344CB8AC3E}">
        <p14:creationId xmlns:p14="http://schemas.microsoft.com/office/powerpoint/2010/main" val="109709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AB08B2-6858-4260-8691-6A16B3C1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407" y="4985161"/>
            <a:ext cx="2661651" cy="1795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E042CB-25E8-4EEF-B654-CDCFB01C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Einstein-</a:t>
            </a:r>
            <a:r>
              <a:rPr lang="en-MY" dirty="0" err="1"/>
              <a:t>Smoluchowski</a:t>
            </a:r>
            <a:r>
              <a:rPr lang="en-MY" dirty="0"/>
              <a:t> theory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2C307-6C4F-461F-840D-B9E7DAA6F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8" y="4731562"/>
            <a:ext cx="3202686" cy="689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D0BB8-A4FB-4F1C-A1B4-F1D4DC4C4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63" y="5585424"/>
            <a:ext cx="2029108" cy="428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307361-2C3E-4FB8-AB02-5FD086820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1"/>
          <a:stretch/>
        </p:blipFill>
        <p:spPr bwMode="auto">
          <a:xfrm>
            <a:off x="581861" y="3333750"/>
            <a:ext cx="3698039" cy="681747"/>
          </a:xfrm>
          <a:custGeom>
            <a:avLst/>
            <a:gdLst>
              <a:gd name="connsiteX0" fmla="*/ 429567 w 3698039"/>
              <a:gd name="connsiteY0" fmla="*/ 79375 h 681747"/>
              <a:gd name="connsiteX1" fmla="*/ 429567 w 3698039"/>
              <a:gd name="connsiteY1" fmla="*/ 263525 h 681747"/>
              <a:gd name="connsiteX2" fmla="*/ 1070917 w 3698039"/>
              <a:gd name="connsiteY2" fmla="*/ 263525 h 681747"/>
              <a:gd name="connsiteX3" fmla="*/ 1070917 w 3698039"/>
              <a:gd name="connsiteY3" fmla="*/ 79375 h 681747"/>
              <a:gd name="connsiteX4" fmla="*/ 2218489 w 3698039"/>
              <a:gd name="connsiteY4" fmla="*/ 76200 h 681747"/>
              <a:gd name="connsiteX5" fmla="*/ 2218489 w 3698039"/>
              <a:gd name="connsiteY5" fmla="*/ 260350 h 681747"/>
              <a:gd name="connsiteX6" fmla="*/ 2859839 w 3698039"/>
              <a:gd name="connsiteY6" fmla="*/ 260350 h 681747"/>
              <a:gd name="connsiteX7" fmla="*/ 2859839 w 3698039"/>
              <a:gd name="connsiteY7" fmla="*/ 76200 h 681747"/>
              <a:gd name="connsiteX8" fmla="*/ 0 w 3698039"/>
              <a:gd name="connsiteY8" fmla="*/ 0 h 681747"/>
              <a:gd name="connsiteX9" fmla="*/ 1532689 w 3698039"/>
              <a:gd name="connsiteY9" fmla="*/ 0 h 681747"/>
              <a:gd name="connsiteX10" fmla="*/ 1532689 w 3698039"/>
              <a:gd name="connsiteY10" fmla="*/ 31750 h 681747"/>
              <a:gd name="connsiteX11" fmla="*/ 2174039 w 3698039"/>
              <a:gd name="connsiteY11" fmla="*/ 31750 h 681747"/>
              <a:gd name="connsiteX12" fmla="*/ 2174039 w 3698039"/>
              <a:gd name="connsiteY12" fmla="*/ 0 h 681747"/>
              <a:gd name="connsiteX13" fmla="*/ 3698039 w 3698039"/>
              <a:gd name="connsiteY13" fmla="*/ 0 h 681747"/>
              <a:gd name="connsiteX14" fmla="*/ 3698039 w 3698039"/>
              <a:gd name="connsiteY14" fmla="*/ 681747 h 681747"/>
              <a:gd name="connsiteX15" fmla="*/ 0 w 3698039"/>
              <a:gd name="connsiteY15" fmla="*/ 681747 h 68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98039" h="681747">
                <a:moveTo>
                  <a:pt x="429567" y="79375"/>
                </a:moveTo>
                <a:lnTo>
                  <a:pt x="429567" y="263525"/>
                </a:lnTo>
                <a:lnTo>
                  <a:pt x="1070917" y="263525"/>
                </a:lnTo>
                <a:lnTo>
                  <a:pt x="1070917" y="79375"/>
                </a:lnTo>
                <a:close/>
                <a:moveTo>
                  <a:pt x="2218489" y="76200"/>
                </a:moveTo>
                <a:lnTo>
                  <a:pt x="2218489" y="260350"/>
                </a:lnTo>
                <a:lnTo>
                  <a:pt x="2859839" y="260350"/>
                </a:lnTo>
                <a:lnTo>
                  <a:pt x="2859839" y="76200"/>
                </a:lnTo>
                <a:close/>
                <a:moveTo>
                  <a:pt x="0" y="0"/>
                </a:moveTo>
                <a:lnTo>
                  <a:pt x="1532689" y="0"/>
                </a:lnTo>
                <a:lnTo>
                  <a:pt x="1532689" y="31750"/>
                </a:lnTo>
                <a:lnTo>
                  <a:pt x="2174039" y="31750"/>
                </a:lnTo>
                <a:lnTo>
                  <a:pt x="2174039" y="0"/>
                </a:lnTo>
                <a:lnTo>
                  <a:pt x="3698039" y="0"/>
                </a:lnTo>
                <a:lnTo>
                  <a:pt x="3698039" y="681747"/>
                </a:lnTo>
                <a:lnTo>
                  <a:pt x="0" y="68174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73468E1-7BB4-4EEE-981F-87813F678D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5099" y="3025466"/>
            <a:ext cx="277813" cy="392207"/>
          </a:xfrm>
          <a:prstGeom prst="rect">
            <a:avLst/>
          </a:prstGeom>
        </p:spPr>
      </p:pic>
      <p:sp>
        <p:nvSpPr>
          <p:cNvPr id="21" name="Right Brace 20">
            <a:extLst>
              <a:ext uri="{FF2B5EF4-FFF2-40B4-BE49-F238E27FC236}">
                <a16:creationId xmlns:a16="http://schemas.microsoft.com/office/drawing/2014/main" id="{235395F5-7180-4A54-915C-F6200A43E64D}"/>
              </a:ext>
            </a:extLst>
          </p:cNvPr>
          <p:cNvSpPr/>
          <p:nvPr/>
        </p:nvSpPr>
        <p:spPr>
          <a:xfrm rot="16200000">
            <a:off x="3517901" y="3306027"/>
            <a:ext cx="298450" cy="3515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B69FF0E-2986-4E0B-BDD6-DCED374E2B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812" y="2137862"/>
            <a:ext cx="1496197" cy="3922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052BE68-2594-4C63-A8AE-0BB515F34C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1812" y="2446146"/>
            <a:ext cx="2222506" cy="39220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307B872-04EF-483C-B4E5-ECDCB55190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43065" y="4015497"/>
            <a:ext cx="623888" cy="30530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B603416-96C0-4946-8BD2-6A6A684365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43065" y="4236165"/>
            <a:ext cx="716686" cy="274729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E2B77F-9B1C-4CA0-AC33-B5B311B4614F}"/>
              </a:ext>
            </a:extLst>
          </p:cNvPr>
          <p:cNvCxnSpPr>
            <a:cxnSpLocks/>
          </p:cNvCxnSpPr>
          <p:nvPr/>
        </p:nvCxnSpPr>
        <p:spPr>
          <a:xfrm>
            <a:off x="1011428" y="3406775"/>
            <a:ext cx="404622" cy="4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8474D7-F2B4-4A17-A73C-6527ADADAE74}"/>
              </a:ext>
            </a:extLst>
          </p:cNvPr>
          <p:cNvCxnSpPr>
            <a:cxnSpLocks/>
          </p:cNvCxnSpPr>
          <p:nvPr/>
        </p:nvCxnSpPr>
        <p:spPr>
          <a:xfrm flipH="1">
            <a:off x="588211" y="3408577"/>
            <a:ext cx="404622" cy="4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888A37-EE1D-4FBF-8651-520CAD5E1B24}"/>
              </a:ext>
            </a:extLst>
          </p:cNvPr>
          <p:cNvSpPr txBox="1"/>
          <p:nvPr/>
        </p:nvSpPr>
        <p:spPr>
          <a:xfrm>
            <a:off x="339490" y="3122819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1/2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7DC95E-0779-46C2-A485-473965DDBD3F}"/>
              </a:ext>
            </a:extLst>
          </p:cNvPr>
          <p:cNvSpPr txBox="1"/>
          <p:nvPr/>
        </p:nvSpPr>
        <p:spPr>
          <a:xfrm>
            <a:off x="1201039" y="3121223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1/2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04BEDE-6350-412C-B1A2-111C448913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4248" y="6300109"/>
            <a:ext cx="818224" cy="35704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139FBB9-B469-4127-A511-122E1AB65AC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82893" y="6352603"/>
            <a:ext cx="782062" cy="33516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0966F81-4F6B-438C-8629-FD57FC3132F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5886" y="2035003"/>
            <a:ext cx="774914" cy="33380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4DF6AE8-EE8D-4850-B34C-6E246993B24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28777" y="1949882"/>
            <a:ext cx="3266115" cy="52679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DF39A3F-17BE-4FD9-922B-B1664987789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99873" y="2601487"/>
            <a:ext cx="3389075" cy="435587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C24DB06-C511-40A6-9FD8-2829C54EE72D}"/>
              </a:ext>
            </a:extLst>
          </p:cNvPr>
          <p:cNvSpPr/>
          <p:nvPr/>
        </p:nvSpPr>
        <p:spPr>
          <a:xfrm>
            <a:off x="6400800" y="2684267"/>
            <a:ext cx="3609457" cy="43558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989268-B6B1-4476-99C9-CF74A4F73AB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76130" y="3443983"/>
            <a:ext cx="5410955" cy="115268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6E36E60-4A9A-4C6E-AB3F-FCB982432A3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42344" y="4731562"/>
            <a:ext cx="6977128" cy="25313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470BD1E-3081-44E1-B213-9CAB9A8AABB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r="2852" b="58375"/>
          <a:stretch/>
        </p:blipFill>
        <p:spPr>
          <a:xfrm>
            <a:off x="6728777" y="6059871"/>
            <a:ext cx="2933700" cy="6860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34510DC-E087-403D-81D6-9C876F07011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29505" t="77927" r="26446" b="409"/>
          <a:stretch/>
        </p:blipFill>
        <p:spPr>
          <a:xfrm>
            <a:off x="10213019" y="6224352"/>
            <a:ext cx="1330197" cy="35704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F446047-AC3C-4B7E-BC11-B02885187E1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t="18613"/>
          <a:stretch/>
        </p:blipFill>
        <p:spPr>
          <a:xfrm>
            <a:off x="6491860" y="5165794"/>
            <a:ext cx="3134655" cy="60079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4034156-69B8-4EEA-BB2C-C069CC86E7F6}"/>
              </a:ext>
            </a:extLst>
          </p:cNvPr>
          <p:cNvSpPr txBox="1"/>
          <p:nvPr/>
        </p:nvSpPr>
        <p:spPr>
          <a:xfrm>
            <a:off x="10213019" y="2530069"/>
            <a:ext cx="1727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Grow with time</a:t>
            </a:r>
          </a:p>
          <a:p>
            <a:r>
              <a:rPr lang="en-MY" dirty="0"/>
              <a:t>=&gt; diffusion.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06BC0C-7725-433B-B876-7BD3565EEB6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2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42CB-25E8-4EEF-B654-CDCFB01C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4841"/>
            <a:ext cx="9720072" cy="1499616"/>
          </a:xfrm>
        </p:spPr>
        <p:txBody>
          <a:bodyPr/>
          <a:lstStyle/>
          <a:p>
            <a:r>
              <a:rPr lang="en-MY" dirty="0"/>
              <a:t>Einstein-</a:t>
            </a:r>
            <a:r>
              <a:rPr lang="en-MY" dirty="0" err="1"/>
              <a:t>Smoluchowski</a:t>
            </a:r>
            <a:r>
              <a:rPr lang="en-MY" dirty="0"/>
              <a:t> theory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470BD1E-3081-44E1-B213-9CAB9A8AAB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52" b="58375"/>
          <a:stretch/>
        </p:blipFill>
        <p:spPr>
          <a:xfrm>
            <a:off x="1024128" y="2450397"/>
            <a:ext cx="2933700" cy="6860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34510DC-E087-403D-81D6-9C876F070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05" t="77927" r="26446" b="409"/>
          <a:stretch/>
        </p:blipFill>
        <p:spPr>
          <a:xfrm>
            <a:off x="4418610" y="2601604"/>
            <a:ext cx="1330197" cy="35704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3AA4775-546F-4A87-BC18-F0E653D18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51" y="3596973"/>
            <a:ext cx="2934109" cy="676369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FC0ECB1A-A42F-4258-A5E4-371ABB330ABE}"/>
              </a:ext>
            </a:extLst>
          </p:cNvPr>
          <p:cNvSpPr/>
          <p:nvPr/>
        </p:nvSpPr>
        <p:spPr>
          <a:xfrm>
            <a:off x="2427007" y="3169551"/>
            <a:ext cx="204096" cy="5213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5DD63-25E4-4B02-AB48-6F02E33C9859}"/>
              </a:ext>
            </a:extLst>
          </p:cNvPr>
          <p:cNvSpPr txBox="1"/>
          <p:nvPr/>
        </p:nvSpPr>
        <p:spPr>
          <a:xfrm>
            <a:off x="1953279" y="3177173"/>
            <a:ext cx="55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3D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F9325D-0A3C-4508-9B27-CE21607C3D0F}"/>
              </a:ext>
            </a:extLst>
          </p:cNvPr>
          <p:cNvCxnSpPr>
            <a:cxnSpLocks/>
          </p:cNvCxnSpPr>
          <p:nvPr/>
        </p:nvCxnSpPr>
        <p:spPr>
          <a:xfrm flipV="1">
            <a:off x="1110725" y="4093388"/>
            <a:ext cx="171528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EB7716F-56CB-46C9-95F8-25A5A2DABA4E}"/>
              </a:ext>
            </a:extLst>
          </p:cNvPr>
          <p:cNvSpPr txBox="1"/>
          <p:nvPr/>
        </p:nvSpPr>
        <p:spPr>
          <a:xfrm>
            <a:off x="188125" y="4258192"/>
            <a:ext cx="171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Particle density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5D841C-48FF-4A95-9432-7FAC444D2532}"/>
              </a:ext>
            </a:extLst>
          </p:cNvPr>
          <p:cNvSpPr txBox="1"/>
          <p:nvPr/>
        </p:nvSpPr>
        <p:spPr>
          <a:xfrm>
            <a:off x="4397486" y="3627011"/>
            <a:ext cx="172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Density diluted in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ABF12-2874-41BA-BEAA-25B0C93B3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080"/>
          <a:stretch/>
        </p:blipFill>
        <p:spPr>
          <a:xfrm>
            <a:off x="1021320" y="5467333"/>
            <a:ext cx="2560461" cy="55374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955A93-F1CB-423F-AF0A-D7319620867E}"/>
              </a:ext>
            </a:extLst>
          </p:cNvPr>
          <p:cNvSpPr txBox="1"/>
          <p:nvPr/>
        </p:nvSpPr>
        <p:spPr>
          <a:xfrm>
            <a:off x="205618" y="4824108"/>
            <a:ext cx="419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Random walk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⇒ </a:t>
            </a:r>
            <a:r>
              <a:rPr lang="en-MY" b="1" dirty="0"/>
              <a:t>Diffusion equation: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D5494-CE05-4D0C-B61E-A52944E0176F}"/>
              </a:ext>
            </a:extLst>
          </p:cNvPr>
          <p:cNvSpPr txBox="1"/>
          <p:nvPr/>
        </p:nvSpPr>
        <p:spPr>
          <a:xfrm>
            <a:off x="6311288" y="2061280"/>
            <a:ext cx="588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Derive diffusion from the perspective of distribution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CD20D-D856-4E01-9A26-E7FE0A8522BD}"/>
              </a:ext>
            </a:extLst>
          </p:cNvPr>
          <p:cNvSpPr txBox="1"/>
          <p:nvPr/>
        </p:nvSpPr>
        <p:spPr>
          <a:xfrm>
            <a:off x="6415113" y="2501248"/>
            <a:ext cx="216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time interval </a:t>
            </a:r>
            <a:endParaRPr lang="en-MY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14E46D1-0DA8-421B-B980-202DA13548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6345" y="2460022"/>
            <a:ext cx="1106486" cy="49177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A5721CC-4A69-48A2-AD57-D12212AD4CDB}"/>
              </a:ext>
            </a:extLst>
          </p:cNvPr>
          <p:cNvSpPr txBox="1"/>
          <p:nvPr/>
        </p:nvSpPr>
        <p:spPr>
          <a:xfrm>
            <a:off x="6379665" y="2998611"/>
            <a:ext cx="291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The particle is displaced by</a:t>
            </a:r>
            <a:endParaRPr lang="en-MY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E156B9F-1375-4D4B-8916-A02A9BE2B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2133" y="2963573"/>
            <a:ext cx="1363295" cy="44845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82F96C1-5A38-4C24-AB44-864542DC66A5}"/>
              </a:ext>
            </a:extLst>
          </p:cNvPr>
          <p:cNvSpPr txBox="1"/>
          <p:nvPr/>
        </p:nvSpPr>
        <p:spPr>
          <a:xfrm>
            <a:off x="6415113" y="3523955"/>
            <a:ext cx="3535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probability to be displaced by</a:t>
            </a:r>
            <a:endParaRPr lang="en-MY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EC96849-366D-47EF-AED1-A6A3B36EBF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91903" y="3507446"/>
            <a:ext cx="1251442" cy="41714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5AEFB4F-7078-4277-83D8-95F450ED8A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95151" y="3983264"/>
            <a:ext cx="1010287" cy="43520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017A8B8-37B0-4316-9486-48A4DEE9DD09}"/>
              </a:ext>
            </a:extLst>
          </p:cNvPr>
          <p:cNvSpPr txBox="1"/>
          <p:nvPr/>
        </p:nvSpPr>
        <p:spPr>
          <a:xfrm>
            <a:off x="6415113" y="4418465"/>
            <a:ext cx="557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Therefore, the time evolution of the particle density is </a:t>
            </a:r>
            <a:endParaRPr lang="en-MY" dirty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615ECA0-25CC-4FFA-9ABC-1076D2DFD9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41779" y="4719759"/>
            <a:ext cx="3986642" cy="75859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CCDD471-CC7D-4AF0-83FE-FFDD2C657112}"/>
              </a:ext>
            </a:extLst>
          </p:cNvPr>
          <p:cNvSpPr txBox="1"/>
          <p:nvPr/>
        </p:nvSpPr>
        <p:spPr>
          <a:xfrm>
            <a:off x="6675119" y="5383470"/>
            <a:ext cx="1839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and      are small</a:t>
            </a:r>
            <a:endParaRPr lang="en-MY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3798CEA0-12D7-45D5-B5A5-B7BD7E0B76B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5113" y="5351764"/>
            <a:ext cx="434423" cy="43442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1F96367-8C79-472C-9FAA-540EE1E0CE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29980" y="5351764"/>
            <a:ext cx="397034" cy="38115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A2AAC8F-035C-42E5-B6C2-E0E0E84046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29980" y="5762701"/>
            <a:ext cx="3546741" cy="64361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2CD58D2-8AD3-47F6-8FF9-0C89794B6934}"/>
              </a:ext>
            </a:extLst>
          </p:cNvPr>
          <p:cNvSpPr txBox="1"/>
          <p:nvPr/>
        </p:nvSpPr>
        <p:spPr>
          <a:xfrm>
            <a:off x="6632324" y="6431720"/>
            <a:ext cx="385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                    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  Diffusion equation</a:t>
            </a:r>
            <a:endParaRPr lang="en-MY" dirty="0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05B8B2C0-CCA4-4CC6-8442-5EA917F309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005046" y="6345976"/>
            <a:ext cx="1177891" cy="5071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D9B610D-BEAE-442B-84AD-1371F416A5D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4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42CB-25E8-4EEF-B654-CDCFB01C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4841"/>
            <a:ext cx="9720072" cy="1499616"/>
          </a:xfrm>
        </p:spPr>
        <p:txBody>
          <a:bodyPr/>
          <a:lstStyle/>
          <a:p>
            <a:r>
              <a:rPr lang="en-MY" dirty="0"/>
              <a:t>Einstein-</a:t>
            </a:r>
            <a:r>
              <a:rPr lang="en-MY" dirty="0" err="1"/>
              <a:t>Smoluchowski</a:t>
            </a:r>
            <a:r>
              <a:rPr lang="en-MY" dirty="0"/>
              <a:t> theory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3AA4775-546F-4A87-BC18-F0E653D18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38" y="2395321"/>
            <a:ext cx="2934109" cy="676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5F04D-B93C-4309-8FC8-9A717492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17" y="4650311"/>
            <a:ext cx="2076740" cy="638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CCFC60-62EA-4978-94BD-7D643B74E149}"/>
              </a:ext>
            </a:extLst>
          </p:cNvPr>
          <p:cNvSpPr txBox="1"/>
          <p:nvPr/>
        </p:nvSpPr>
        <p:spPr>
          <a:xfrm>
            <a:off x="0" y="4253215"/>
            <a:ext cx="1855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From continuity: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4C2F1E-F572-476E-B4E3-CA3637234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820" y="4821785"/>
            <a:ext cx="1724266" cy="466790"/>
          </a:xfrm>
          <a:prstGeom prst="rect">
            <a:avLst/>
          </a:prstGeom>
        </p:spPr>
      </p:pic>
      <p:sp>
        <p:nvSpPr>
          <p:cNvPr id="35" name="Arrow: Down 34">
            <a:extLst>
              <a:ext uri="{FF2B5EF4-FFF2-40B4-BE49-F238E27FC236}">
                <a16:creationId xmlns:a16="http://schemas.microsoft.com/office/drawing/2014/main" id="{6B8CEDF8-066C-49BD-9389-B90B81371B6F}"/>
              </a:ext>
            </a:extLst>
          </p:cNvPr>
          <p:cNvSpPr/>
          <p:nvPr/>
        </p:nvSpPr>
        <p:spPr>
          <a:xfrm rot="16200000">
            <a:off x="3576990" y="4775836"/>
            <a:ext cx="204096" cy="5213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CB9EA-6381-43E1-B441-A441C1127357}"/>
              </a:ext>
            </a:extLst>
          </p:cNvPr>
          <p:cNvSpPr txBox="1"/>
          <p:nvPr/>
        </p:nvSpPr>
        <p:spPr>
          <a:xfrm>
            <a:off x="2054067" y="5980535"/>
            <a:ext cx="2281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>
                <a:solidFill>
                  <a:srgbClr val="FF0000"/>
                </a:solidFill>
              </a:rPr>
              <a:t>Einstein relation: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2A8BDF-7AAB-4D97-934D-7A7C4509C4D2}"/>
              </a:ext>
            </a:extLst>
          </p:cNvPr>
          <p:cNvSpPr txBox="1"/>
          <p:nvPr/>
        </p:nvSpPr>
        <p:spPr>
          <a:xfrm>
            <a:off x="6514149" y="4642244"/>
            <a:ext cx="5099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Due to constant interaction with the background. The particle reach a “drift” velocity: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52DB1154-7C9E-40E7-AA1B-B3A7B43E3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8716" y="5222735"/>
            <a:ext cx="1310968" cy="49161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2779F98-42DA-4C6B-9244-DF835B74ECC1}"/>
              </a:ext>
            </a:extLst>
          </p:cNvPr>
          <p:cNvSpPr txBox="1"/>
          <p:nvPr/>
        </p:nvSpPr>
        <p:spPr>
          <a:xfrm>
            <a:off x="682731" y="5493070"/>
            <a:ext cx="921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current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9FFB62-AEE7-4800-8167-01C410AB8398}"/>
              </a:ext>
            </a:extLst>
          </p:cNvPr>
          <p:cNvCxnSpPr>
            <a:cxnSpLocks/>
          </p:cNvCxnSpPr>
          <p:nvPr/>
        </p:nvCxnSpPr>
        <p:spPr>
          <a:xfrm flipV="1">
            <a:off x="1359231" y="5256684"/>
            <a:ext cx="171528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F9325D-0A3C-4508-9B27-CE21607C3D0F}"/>
              </a:ext>
            </a:extLst>
          </p:cNvPr>
          <p:cNvCxnSpPr>
            <a:cxnSpLocks/>
          </p:cNvCxnSpPr>
          <p:nvPr/>
        </p:nvCxnSpPr>
        <p:spPr>
          <a:xfrm flipV="1">
            <a:off x="970212" y="2891736"/>
            <a:ext cx="171528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EB7716F-56CB-46C9-95F8-25A5A2DABA4E}"/>
              </a:ext>
            </a:extLst>
          </p:cNvPr>
          <p:cNvSpPr txBox="1"/>
          <p:nvPr/>
        </p:nvSpPr>
        <p:spPr>
          <a:xfrm>
            <a:off x="47612" y="3056540"/>
            <a:ext cx="171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Particle density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5D841C-48FF-4A95-9432-7FAC444D2532}"/>
              </a:ext>
            </a:extLst>
          </p:cNvPr>
          <p:cNvSpPr txBox="1"/>
          <p:nvPr/>
        </p:nvSpPr>
        <p:spPr>
          <a:xfrm>
            <a:off x="4256973" y="2425359"/>
            <a:ext cx="172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Density diluted in time.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50D720-0212-4398-93D1-9F846A439C16}"/>
              </a:ext>
            </a:extLst>
          </p:cNvPr>
          <p:cNvSpPr txBox="1"/>
          <p:nvPr/>
        </p:nvSpPr>
        <p:spPr>
          <a:xfrm>
            <a:off x="6514149" y="5671274"/>
            <a:ext cx="557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reaching equilibrium: drift in + diffusing out=0</a:t>
            </a: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81DC518B-F79F-46B8-A1A0-A8A4AC36D8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3314" y="6060436"/>
            <a:ext cx="1950304" cy="45982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37F3A7D4-279A-4466-9D54-41020C6EA6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34893" y="5268444"/>
            <a:ext cx="1317015" cy="46679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57C230B6-87CC-428D-A549-E968F029A7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5100" y="6070060"/>
            <a:ext cx="1867156" cy="466789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F9B6094A-223C-414F-9B38-3192D6BD27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360951" y="5756139"/>
            <a:ext cx="1066397" cy="700321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73C0672-8422-430B-A606-4921AC6EB51E}"/>
              </a:ext>
            </a:extLst>
          </p:cNvPr>
          <p:cNvSpPr/>
          <p:nvPr/>
        </p:nvSpPr>
        <p:spPr>
          <a:xfrm>
            <a:off x="4341674" y="5800928"/>
            <a:ext cx="1216273" cy="6056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1E0327-0551-450B-A611-D1E6E162C374}"/>
              </a:ext>
            </a:extLst>
          </p:cNvPr>
          <p:cNvSpPr txBox="1"/>
          <p:nvPr/>
        </p:nvSpPr>
        <p:spPr>
          <a:xfrm>
            <a:off x="1523896" y="6413793"/>
            <a:ext cx="363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(Fluctuation-Dissipation theorem)</a:t>
            </a:r>
          </a:p>
        </p:txBody>
      </p:sp>
      <p:pic>
        <p:nvPicPr>
          <p:cNvPr id="4098" name="Picture 2" descr="PPT - Seismic interferometry: Who needs a seismic source? PowerPoint ...">
            <a:extLst>
              <a:ext uri="{FF2B5EF4-FFF2-40B4-BE49-F238E27FC236}">
                <a16:creationId xmlns:a16="http://schemas.microsoft.com/office/drawing/2014/main" id="{204814A0-6A7D-424C-984C-948F4FF57E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5" t="16825" r="10575" b="35204"/>
          <a:stretch/>
        </p:blipFill>
        <p:spPr bwMode="auto">
          <a:xfrm>
            <a:off x="6227839" y="2240133"/>
            <a:ext cx="5466497" cy="2494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EDA84BEB-06FF-4AA6-8CC8-B8858DD117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95006" y="2074259"/>
            <a:ext cx="692669" cy="497301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C45EB722-538C-44D6-87F3-EC0ACCB447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71063" y="2601014"/>
            <a:ext cx="1936528" cy="52137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C5762FC5-C433-44F5-9A55-5D8653E94854}"/>
              </a:ext>
            </a:extLst>
          </p:cNvPr>
          <p:cNvSpPr txBox="1"/>
          <p:nvPr/>
        </p:nvSpPr>
        <p:spPr>
          <a:xfrm>
            <a:off x="9001785" y="2100830"/>
            <a:ext cx="2011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Driving potential: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ABF12-2874-41BA-BEAA-25B0C93B32A8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22080"/>
          <a:stretch/>
        </p:blipFill>
        <p:spPr>
          <a:xfrm>
            <a:off x="1271895" y="3757289"/>
            <a:ext cx="2560461" cy="55374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955A93-F1CB-423F-AF0A-D7319620867E}"/>
              </a:ext>
            </a:extLst>
          </p:cNvPr>
          <p:cNvSpPr txBox="1"/>
          <p:nvPr/>
        </p:nvSpPr>
        <p:spPr>
          <a:xfrm>
            <a:off x="3902466" y="3781878"/>
            <a:ext cx="2090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Diffusion equation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D4208-B9C4-4907-88A5-9D6B4459030C}"/>
              </a:ext>
            </a:extLst>
          </p:cNvPr>
          <p:cNvSpPr txBox="1"/>
          <p:nvPr/>
        </p:nvSpPr>
        <p:spPr>
          <a:xfrm>
            <a:off x="5493515" y="6487378"/>
            <a:ext cx="681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is also fine, it is still a dissipative force with different distribution</a:t>
            </a:r>
            <a:endParaRPr lang="en-MY" dirty="0">
              <a:solidFill>
                <a:srgbClr val="FF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402C414-C23B-492E-8B9D-C5C9C7F8C4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7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Langevin theory</a:t>
            </a:r>
            <a:endParaRPr lang="en-MY" dirty="0"/>
          </a:p>
        </p:txBody>
      </p:sp>
      <p:pic>
        <p:nvPicPr>
          <p:cNvPr id="1026" name="Picture 2" descr="Brownian Motion in Nanotechnology">
            <a:extLst>
              <a:ext uri="{FF2B5EF4-FFF2-40B4-BE49-F238E27FC236}">
                <a16:creationId xmlns:a16="http://schemas.microsoft.com/office/drawing/2014/main" id="{D232838C-7183-4A1F-8E72-84BDE1A5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1" y="2926431"/>
            <a:ext cx="45148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9F4D46-66CF-4BDF-9E84-C4138894A972}"/>
              </a:ext>
            </a:extLst>
          </p:cNvPr>
          <p:cNvSpPr txBox="1"/>
          <p:nvPr/>
        </p:nvSpPr>
        <p:spPr>
          <a:xfrm>
            <a:off x="796991" y="2320965"/>
            <a:ext cx="5786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Background is the reservoir in thermal equilibrium.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A8D03-D343-4837-9FCC-F59B836BAE6F}"/>
              </a:ext>
            </a:extLst>
          </p:cNvPr>
          <p:cNvSpPr txBox="1"/>
          <p:nvPr/>
        </p:nvSpPr>
        <p:spPr>
          <a:xfrm>
            <a:off x="796990" y="5515240"/>
            <a:ext cx="808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For 1 particle system is obviously not describe by thermodynamics.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/>
              <a:t>Average behaviour is boring and do not tell us much information.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E86DF2-CA17-4E83-AF5D-770F735C42B5}"/>
              </a:ext>
            </a:extLst>
          </p:cNvPr>
          <p:cNvGrpSpPr/>
          <p:nvPr/>
        </p:nvGrpSpPr>
        <p:grpSpPr>
          <a:xfrm>
            <a:off x="4639377" y="2556897"/>
            <a:ext cx="7113069" cy="899926"/>
            <a:chOff x="4639377" y="2690297"/>
            <a:chExt cx="7113069" cy="89992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1EF302-954B-445C-B513-EC42F5FEB80A}"/>
                </a:ext>
              </a:extLst>
            </p:cNvPr>
            <p:cNvSpPr txBox="1"/>
            <p:nvPr/>
          </p:nvSpPr>
          <p:spPr>
            <a:xfrm>
              <a:off x="6400799" y="2690297"/>
              <a:ext cx="53516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>
                  <a:solidFill>
                    <a:srgbClr val="FF0000"/>
                  </a:solidFill>
                </a:rPr>
                <a:t>We want to model the fluctuation of the motion due to the interaction with the thermal system.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61074A4-0101-483D-B5C8-9020B834627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4639377" y="3013463"/>
              <a:ext cx="1761422" cy="576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84D71DD-268B-4CC3-B984-304BBEB9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329" y="3913389"/>
            <a:ext cx="1714114" cy="78923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B0EDD9-77F6-49C3-B538-04F39CBF964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791777" y="4263445"/>
            <a:ext cx="1864552" cy="4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209AFD-4798-446C-9831-CACF80490C73}"/>
              </a:ext>
            </a:extLst>
          </p:cNvPr>
          <p:cNvSpPr txBox="1"/>
          <p:nvPr/>
        </p:nvSpPr>
        <p:spPr>
          <a:xfrm>
            <a:off x="6853186" y="4750842"/>
            <a:ext cx="3891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Random motion originate from a random force in the background.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0DD084-7A30-44F5-80FB-C44FFAC58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440" y="4055033"/>
            <a:ext cx="3101569" cy="60682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A3D2B9-0C24-424F-9017-B8B63E7BE135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9003379" y="3492956"/>
            <a:ext cx="533758" cy="52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8BBBA7-2975-4CEB-89D4-4089B99EDC56}"/>
              </a:ext>
            </a:extLst>
          </p:cNvPr>
          <p:cNvSpPr txBox="1"/>
          <p:nvPr/>
        </p:nvSpPr>
        <p:spPr>
          <a:xfrm>
            <a:off x="9537137" y="3169790"/>
            <a:ext cx="2330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Do not average to zero (drag)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1C1CD8-D61D-4B6B-BC0D-BC3992D49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61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7079-8273-4324-B055-B8C04FE8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Langevin theory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AD1A7-6BA8-4E30-A712-4CDB3842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9" y="2243692"/>
            <a:ext cx="3062630" cy="733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5DC28-7057-4A0A-87F7-C7DF0FAFB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355" y="3954835"/>
            <a:ext cx="2515869" cy="684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3ADABB-14A3-4EC2-94EA-0CEAB9C2B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614" y="2491211"/>
            <a:ext cx="6935168" cy="304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4D9210-1A44-422D-8CB3-07013A760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355" y="5005661"/>
            <a:ext cx="2753109" cy="6858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DD7E93-F4AE-4345-AD59-31297B81A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734373"/>
            <a:ext cx="1581371" cy="6192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8DDB5C-0631-4099-B7C4-2D352577637B}"/>
              </a:ext>
            </a:extLst>
          </p:cNvPr>
          <p:cNvSpPr txBox="1"/>
          <p:nvPr/>
        </p:nvSpPr>
        <p:spPr>
          <a:xfrm>
            <a:off x="1024128" y="3272589"/>
            <a:ext cx="1778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Average velocity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38A6282-3F82-4695-888A-2E4FDA349D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4200" y="1638459"/>
            <a:ext cx="951548" cy="6935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78FE18-9FBF-4E41-8BFE-B3A786D9AA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4355" y="6048441"/>
            <a:ext cx="2210108" cy="5334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399E32-0BA3-4424-A8B1-2B38B633C4F1}"/>
              </a:ext>
            </a:extLst>
          </p:cNvPr>
          <p:cNvSpPr txBox="1"/>
          <p:nvPr/>
        </p:nvSpPr>
        <p:spPr>
          <a:xfrm>
            <a:off x="8933188" y="616604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(Diffusion)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32F5477-E74D-4318-BA71-983CDF082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73836" y="3790722"/>
            <a:ext cx="706655" cy="60360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67F8EA-F5B9-48B2-89D5-12E68E3F70D4}"/>
              </a:ext>
            </a:extLst>
          </p:cNvPr>
          <p:cNvCxnSpPr>
            <a:stCxn id="26" idx="1"/>
            <a:endCxn id="7" idx="3"/>
          </p:cNvCxnSpPr>
          <p:nvPr/>
        </p:nvCxnSpPr>
        <p:spPr>
          <a:xfrm flipH="1">
            <a:off x="9150224" y="4092523"/>
            <a:ext cx="1023612" cy="20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480AA0EC-85EB-4AA2-9D89-B22984DCE3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2282" y="5715119"/>
            <a:ext cx="866896" cy="3429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FD2884-CA9E-4042-84F1-6B9AEFB81A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28" y="4639151"/>
            <a:ext cx="3086531" cy="3810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0836D11-7EEA-4CA7-B439-B1EB4B9DA6BF}"/>
              </a:ext>
            </a:extLst>
          </p:cNvPr>
          <p:cNvSpPr txBox="1"/>
          <p:nvPr/>
        </p:nvSpPr>
        <p:spPr>
          <a:xfrm>
            <a:off x="948768" y="5378110"/>
            <a:ext cx="2924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 net drift velocity in t&gt;&gt;0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82DBF8-E7A7-4C28-854A-30BB347983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37661" b="-9279"/>
          <a:stretch/>
        </p:blipFill>
        <p:spPr>
          <a:xfrm>
            <a:off x="6909178" y="3052822"/>
            <a:ext cx="1909203" cy="80184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49980F3-C97E-493C-8219-2C4A5EF621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90512" y="3217847"/>
            <a:ext cx="487685" cy="4240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545AC4-7A5A-43FE-9007-82F758B82D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5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7079-8273-4324-B055-B8C04FE8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Langevin theory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AD1A7-6BA8-4E30-A712-4CDB3842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09" y="2243692"/>
            <a:ext cx="3062630" cy="7337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800EC70-8608-4626-AFF0-1E273653A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4207" y="2243691"/>
            <a:ext cx="2134559" cy="73375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48CD56D-E1AC-46A1-AAF4-F8AD0C883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2166" y="3193387"/>
            <a:ext cx="2196301" cy="806454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8AE00F8-21CA-41B3-94E6-CAE10F6046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" y="4129030"/>
            <a:ext cx="3726718" cy="70760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C565982-F07D-46B6-96EA-08BBBA757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261" y="3515626"/>
            <a:ext cx="2805183" cy="45665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7762101-AB74-41AF-BA01-B2A1DDDB5218}"/>
              </a:ext>
            </a:extLst>
          </p:cNvPr>
          <p:cNvSpPr txBox="1"/>
          <p:nvPr/>
        </p:nvSpPr>
        <p:spPr>
          <a:xfrm>
            <a:off x="6297905" y="2906906"/>
            <a:ext cx="4177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Basic assumption: Do not have memory of the past history.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15FFC148-60AA-41B3-8079-057990160C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7905" y="3900733"/>
            <a:ext cx="5987057" cy="74015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EEC5940-4A01-4309-B527-0A597AC3E7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2076" y="4494068"/>
            <a:ext cx="5034236" cy="70097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046BB2B8-E9CA-44A2-BF03-671F337A0F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62076" y="5210217"/>
            <a:ext cx="3503819" cy="481567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F193CE85-0E1D-4458-A6FF-FE46CAF004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6096" y="5151424"/>
            <a:ext cx="5327961" cy="719581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59B29EE-1D61-4E72-986A-A8BEBED6110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67739" y="5895979"/>
            <a:ext cx="2832393" cy="719581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5CA64BDD-7EEC-40F0-B157-023F679DF46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75445" y="3512414"/>
            <a:ext cx="1190573" cy="456658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B84A99EF-CE22-4A4E-A682-A871450D249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93776" y="5911481"/>
            <a:ext cx="2544237" cy="456658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66E3C2ED-E1C2-45B5-AEA1-2FBDB0D844E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86820" y="6214285"/>
            <a:ext cx="1551193" cy="646331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299E3ED-5FD6-4596-94D7-89AF07813F58}"/>
              </a:ext>
            </a:extLst>
          </p:cNvPr>
          <p:cNvSpPr txBox="1"/>
          <p:nvPr/>
        </p:nvSpPr>
        <p:spPr>
          <a:xfrm>
            <a:off x="3862913" y="6545809"/>
            <a:ext cx="363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(Fluctuation-Dissipation theorem)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38CEFA8-2D7F-4E6A-B20A-99E69A5E1EB7}"/>
              </a:ext>
            </a:extLst>
          </p:cNvPr>
          <p:cNvSpPr/>
          <p:nvPr/>
        </p:nvSpPr>
        <p:spPr>
          <a:xfrm>
            <a:off x="4167739" y="5911481"/>
            <a:ext cx="2832393" cy="6056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ED7C07-D90F-4FFB-9038-92397BB1DF2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2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D30E7-EFF3-4D6B-A97E-3A49B4FC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05" y="2841085"/>
            <a:ext cx="5096586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4AF13-90C8-4805-A264-97067EE72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335" y="4644333"/>
            <a:ext cx="4223327" cy="353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F739FE-B92F-40A1-8E34-BA1B80ABD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149" y="5798196"/>
            <a:ext cx="2048161" cy="828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D04773-999A-4340-A058-27141E3E21E1}"/>
              </a:ext>
            </a:extLst>
          </p:cNvPr>
          <p:cNvSpPr txBox="1"/>
          <p:nvPr/>
        </p:nvSpPr>
        <p:spPr>
          <a:xfrm>
            <a:off x="1318661" y="3085104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Master equation: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F872A-D8E6-43AF-8947-814E52C4D20E}"/>
              </a:ext>
            </a:extLst>
          </p:cNvPr>
          <p:cNvSpPr txBox="1"/>
          <p:nvPr/>
        </p:nvSpPr>
        <p:spPr>
          <a:xfrm>
            <a:off x="1318662" y="4710668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In equilibrium: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C0C3E-00B3-4706-AF2A-D2F9E959964A}"/>
              </a:ext>
            </a:extLst>
          </p:cNvPr>
          <p:cNvSpPr txBox="1"/>
          <p:nvPr/>
        </p:nvSpPr>
        <p:spPr>
          <a:xfrm>
            <a:off x="1390729" y="5895446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Details balanced: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26269169-DC06-4212-96FC-160A716C386C}"/>
              </a:ext>
            </a:extLst>
          </p:cNvPr>
          <p:cNvSpPr/>
          <p:nvPr/>
        </p:nvSpPr>
        <p:spPr>
          <a:xfrm rot="5400000">
            <a:off x="5464652" y="3217864"/>
            <a:ext cx="317774" cy="79091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77F754-5CC8-4F65-900D-E91D69D73E6B}"/>
              </a:ext>
            </a:extLst>
          </p:cNvPr>
          <p:cNvSpPr txBox="1"/>
          <p:nvPr/>
        </p:nvSpPr>
        <p:spPr>
          <a:xfrm>
            <a:off x="4186989" y="3764789"/>
            <a:ext cx="271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Transition rate from </a:t>
            </a:r>
            <a:r>
              <a:rPr lang="en-MY" dirty="0" err="1"/>
              <a:t>a’</a:t>
            </a:r>
            <a:r>
              <a:rPr lang="en-MY" dirty="0" err="1"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r>
              <a:rPr lang="en-MY" dirty="0" err="1"/>
              <a:t>a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7DCEAA-37F0-458D-B85A-28862464BEB7}"/>
              </a:ext>
            </a:extLst>
          </p:cNvPr>
          <p:cNvSpPr txBox="1"/>
          <p:nvPr/>
        </p:nvSpPr>
        <p:spPr>
          <a:xfrm>
            <a:off x="8750171" y="2966991"/>
            <a:ext cx="3547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Determine how the system reach equilibrium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BDF66-8CEB-4081-898A-0C1D21EB4FD0}"/>
              </a:ext>
            </a:extLst>
          </p:cNvPr>
          <p:cNvSpPr txBox="1"/>
          <p:nvPr/>
        </p:nvSpPr>
        <p:spPr>
          <a:xfrm>
            <a:off x="1867302" y="2155463"/>
            <a:ext cx="785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Turn the stochastic equation into differential equation of distribution</a:t>
            </a:r>
            <a:endParaRPr lang="en-MY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BE0B1-696D-4D53-9E78-A206820C426E}"/>
              </a:ext>
            </a:extLst>
          </p:cNvPr>
          <p:cNvSpPr txBox="1"/>
          <p:nvPr/>
        </p:nvSpPr>
        <p:spPr>
          <a:xfrm>
            <a:off x="4132446" y="4060799"/>
            <a:ext cx="310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(From the stochastic process)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7A205B-54B9-4BE9-9FE7-6F09876E4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51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D30E7-EFF3-4D6B-A97E-3A49B4FC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07" y="2316920"/>
            <a:ext cx="5096586" cy="857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3407D1-32FA-4ACB-BE5B-EE49DA4B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590" y="3264719"/>
            <a:ext cx="4205539" cy="6539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D04773-999A-4340-A058-27141E3E21E1}"/>
              </a:ext>
            </a:extLst>
          </p:cNvPr>
          <p:cNvSpPr txBox="1"/>
          <p:nvPr/>
        </p:nvSpPr>
        <p:spPr>
          <a:xfrm>
            <a:off x="1395663" y="2560939"/>
            <a:ext cx="20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Master equation: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67B268D-439F-43D8-A877-1CFF3F805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128" y="3531992"/>
            <a:ext cx="2034946" cy="4371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89895D5-F011-4EA7-A2FA-3164959C47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6923" y="4018199"/>
            <a:ext cx="1197368" cy="4216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D9BBE81-0A15-4E9A-8EC9-33CD0E8296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2096" y="4137998"/>
            <a:ext cx="3139496" cy="42466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F9AFC5C-6AA2-4C15-8C6F-30724865FD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84828" y="4139854"/>
            <a:ext cx="2429226" cy="450453"/>
          </a:xfrm>
          <a:prstGeom prst="rect">
            <a:avLst/>
          </a:prstGeom>
        </p:spPr>
      </p:pic>
      <p:sp>
        <p:nvSpPr>
          <p:cNvPr id="17" name="Right Brace 16">
            <a:extLst>
              <a:ext uri="{FF2B5EF4-FFF2-40B4-BE49-F238E27FC236}">
                <a16:creationId xmlns:a16="http://schemas.microsoft.com/office/drawing/2014/main" id="{115D0FEC-94A7-4A87-B632-CB9C142EDB08}"/>
              </a:ext>
            </a:extLst>
          </p:cNvPr>
          <p:cNvSpPr/>
          <p:nvPr/>
        </p:nvSpPr>
        <p:spPr>
          <a:xfrm rot="5400000">
            <a:off x="5831541" y="3266423"/>
            <a:ext cx="319383" cy="14274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8388A005-EE76-4AB9-A041-A02B6958F082}"/>
              </a:ext>
            </a:extLst>
          </p:cNvPr>
          <p:cNvSpPr/>
          <p:nvPr/>
        </p:nvSpPr>
        <p:spPr>
          <a:xfrm rot="5400000">
            <a:off x="7266144" y="3503656"/>
            <a:ext cx="380856" cy="8915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879805-037F-4E5D-82A4-F112A5412B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4054" y="5037565"/>
            <a:ext cx="2429214" cy="2857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E6A756-CFC4-4A7F-B20E-F7D15BA3EB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7373" y="5211349"/>
            <a:ext cx="3181794" cy="71447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EADA18-5481-4F19-9248-A7E866EDFA0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38495" y="4522048"/>
            <a:ext cx="4546333" cy="79405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453A531-4076-490B-B469-818BABFB62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4054" y="5385478"/>
            <a:ext cx="2133898" cy="6192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C8DCD2-1689-45CE-AB0A-DD513F17840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2654" y="5951817"/>
            <a:ext cx="3982006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BB57C8-1A27-4D85-898D-3668F197B907}"/>
              </a:ext>
            </a:extLst>
          </p:cNvPr>
          <p:cNvSpPr txBox="1"/>
          <p:nvPr/>
        </p:nvSpPr>
        <p:spPr>
          <a:xfrm>
            <a:off x="878873" y="5977423"/>
            <a:ext cx="291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Fokker-Planck equation: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0BA81-4639-4D2B-A8C8-DDC62A8D142F}"/>
              </a:ext>
            </a:extLst>
          </p:cNvPr>
          <p:cNvSpPr txBox="1"/>
          <p:nvPr/>
        </p:nvSpPr>
        <p:spPr>
          <a:xfrm>
            <a:off x="5499234" y="64886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DE44D-FDA9-4EB2-B654-F40789E9B611}"/>
              </a:ext>
            </a:extLst>
          </p:cNvPr>
          <p:cNvSpPr txBox="1"/>
          <p:nvPr/>
        </p:nvSpPr>
        <p:spPr>
          <a:xfrm>
            <a:off x="6704973" y="648866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5E0D4E-F66C-4312-BBF3-5017DC8364A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5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53A531-4076-490B-B469-818BABFB6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054" y="2494237"/>
            <a:ext cx="2133898" cy="6192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C8DCD2-1689-45CE-AB0A-DD513F17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81" y="2522817"/>
            <a:ext cx="3982006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BB57C8-1A27-4D85-898D-3668F197B907}"/>
              </a:ext>
            </a:extLst>
          </p:cNvPr>
          <p:cNvSpPr txBox="1"/>
          <p:nvPr/>
        </p:nvSpPr>
        <p:spPr>
          <a:xfrm>
            <a:off x="992500" y="2548423"/>
            <a:ext cx="291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Fokker-Planck equation: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0BA81-4639-4D2B-A8C8-DDC62A8D142F}"/>
              </a:ext>
            </a:extLst>
          </p:cNvPr>
          <p:cNvSpPr txBox="1"/>
          <p:nvPr/>
        </p:nvSpPr>
        <p:spPr>
          <a:xfrm>
            <a:off x="5612861" y="30596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DE44D-FDA9-4EB2-B654-F40789E9B611}"/>
              </a:ext>
            </a:extLst>
          </p:cNvPr>
          <p:cNvSpPr txBox="1"/>
          <p:nvPr/>
        </p:nvSpPr>
        <p:spPr>
          <a:xfrm>
            <a:off x="6818600" y="305966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AD8D-B5AD-4EE7-88A6-6B60D4762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888" y="3945334"/>
            <a:ext cx="4714791" cy="6617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AEA5C91-2DA5-4B93-80A8-4B0FAB626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15" y="3543503"/>
            <a:ext cx="937607" cy="40183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76882E9-0201-4372-B820-3E4C0063E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5644" y="3481040"/>
            <a:ext cx="955963" cy="52675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5273D2D-9B57-4392-BE0C-39DA5A5400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7407" y="3553156"/>
            <a:ext cx="937607" cy="4412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078FC6-6C4D-4C8B-A2C1-4F9D5E3060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2526" y="4805798"/>
            <a:ext cx="3391373" cy="7430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59DF932-8E6E-440D-A8BF-E2DA5CF2D7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4133" y="4767693"/>
            <a:ext cx="3115110" cy="7811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0061005-A46F-4326-B38B-CC646847A6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7917" y="5805836"/>
            <a:ext cx="7949876" cy="7690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926049-77CE-4FCB-9698-E52D3739AB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2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919C-8EA0-4440-BC8B-727F01EE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Fokker-Planck equation: evolution of distribution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53A531-4076-490B-B469-818BABFB6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054" y="2494237"/>
            <a:ext cx="2133898" cy="6192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C8DCD2-1689-45CE-AB0A-DD513F17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81" y="2522817"/>
            <a:ext cx="3982006" cy="5620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BB57C8-1A27-4D85-898D-3668F197B907}"/>
              </a:ext>
            </a:extLst>
          </p:cNvPr>
          <p:cNvSpPr txBox="1"/>
          <p:nvPr/>
        </p:nvSpPr>
        <p:spPr>
          <a:xfrm>
            <a:off x="992500" y="2548423"/>
            <a:ext cx="291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Fokker-Planck equation: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0BA81-4639-4D2B-A8C8-DDC62A8D142F}"/>
              </a:ext>
            </a:extLst>
          </p:cNvPr>
          <p:cNvSpPr txBox="1"/>
          <p:nvPr/>
        </p:nvSpPr>
        <p:spPr>
          <a:xfrm>
            <a:off x="5612861" y="30596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DE44D-FDA9-4EB2-B654-F40789E9B611}"/>
              </a:ext>
            </a:extLst>
          </p:cNvPr>
          <p:cNvSpPr txBox="1"/>
          <p:nvPr/>
        </p:nvSpPr>
        <p:spPr>
          <a:xfrm>
            <a:off x="6818600" y="305966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6AD8D-B5AD-4EE7-88A6-6B60D4762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888" y="3945334"/>
            <a:ext cx="4714791" cy="6617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AEA5C91-2DA5-4B93-80A8-4B0FAB626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15" y="3543503"/>
            <a:ext cx="937607" cy="40183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76882E9-0201-4372-B820-3E4C0063E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5644" y="3481040"/>
            <a:ext cx="955963" cy="52675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5273D2D-9B57-4392-BE0C-39DA5A5400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7407" y="3553156"/>
            <a:ext cx="937607" cy="4412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078FC6-6C4D-4C8B-A2C1-4F9D5E3060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2526" y="4805798"/>
            <a:ext cx="3391373" cy="7430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59DF932-8E6E-440D-A8BF-E2DA5CF2D7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4133" y="4767693"/>
            <a:ext cx="3115110" cy="78115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48A3F26-AC89-4052-99B9-72561EEC58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1262" y="4815356"/>
            <a:ext cx="1055344" cy="6302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D377AE-AE98-4E13-85FB-061191220144}"/>
              </a:ext>
            </a:extLst>
          </p:cNvPr>
          <p:cNvSpPr txBox="1"/>
          <p:nvPr/>
        </p:nvSpPr>
        <p:spPr>
          <a:xfrm>
            <a:off x="10327244" y="4497082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Diffusion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4D9A3-7BC9-4511-AA99-B8D7A110D4AA}"/>
              </a:ext>
            </a:extLst>
          </p:cNvPr>
          <p:cNvSpPr txBox="1"/>
          <p:nvPr/>
        </p:nvSpPr>
        <p:spPr>
          <a:xfrm>
            <a:off x="1381981" y="444602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Drift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1DC2C48-FB2A-40CD-9812-A976A0623F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96512" y="4882049"/>
            <a:ext cx="1815816" cy="48948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B4E9795-5EE8-4C27-AF22-3859EB306D0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38445" y="5891922"/>
            <a:ext cx="3115110" cy="7743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94C115-D595-4315-B619-F1DFE3C234A2}"/>
              </a:ext>
            </a:extLst>
          </p:cNvPr>
          <p:cNvSpPr txBox="1"/>
          <p:nvPr/>
        </p:nvSpPr>
        <p:spPr>
          <a:xfrm>
            <a:off x="1290869" y="6158959"/>
            <a:ext cx="231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Diffusion equation: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BFACCC9-4457-4DB6-B33B-0CF31F7F6C5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A0DC-A084-4122-B7D3-9D183698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topics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2F196-28B2-4EB4-B760-74DDF8D508EC}"/>
              </a:ext>
            </a:extLst>
          </p:cNvPr>
          <p:cNvSpPr txBox="1"/>
          <p:nvPr/>
        </p:nvSpPr>
        <p:spPr>
          <a:xfrm>
            <a:off x="663732" y="2389471"/>
            <a:ext cx="2718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Interacting system:</a:t>
            </a:r>
            <a:endParaRPr lang="en-MY" sz="2400" dirty="0"/>
          </a:p>
        </p:txBody>
      </p:sp>
      <p:pic>
        <p:nvPicPr>
          <p:cNvPr id="1026" name="Picture 2" descr="Image result for condensed matter field theory">
            <a:extLst>
              <a:ext uri="{FF2B5EF4-FFF2-40B4-BE49-F238E27FC236}">
                <a16:creationId xmlns:a16="http://schemas.microsoft.com/office/drawing/2014/main" id="{107E9A3E-C3AC-462F-865E-9323855F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4306" y="3195586"/>
            <a:ext cx="2437364" cy="342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1D491-DBC8-4939-88D3-0989BE1C97F7}"/>
              </a:ext>
            </a:extLst>
          </p:cNvPr>
          <p:cNvSpPr txBox="1"/>
          <p:nvPr/>
        </p:nvSpPr>
        <p:spPr>
          <a:xfrm>
            <a:off x="1113438" y="2964753"/>
            <a:ext cx="4536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Classical =&gt; Cluster expansion</a:t>
            </a:r>
            <a:endParaRPr lang="en-MY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F5B04-AE3A-4A9F-BDB2-A2525B57C18F}"/>
              </a:ext>
            </a:extLst>
          </p:cNvPr>
          <p:cNvSpPr txBox="1"/>
          <p:nvPr/>
        </p:nvSpPr>
        <p:spPr>
          <a:xfrm>
            <a:off x="1113438" y="3644604"/>
            <a:ext cx="6974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Quantum =&gt; second quantization or field theory</a:t>
            </a:r>
            <a:endParaRPr lang="en-MY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8E9D7-EC79-4E09-9360-51AFE766EC8F}"/>
              </a:ext>
            </a:extLst>
          </p:cNvPr>
          <p:cNvSpPr txBox="1"/>
          <p:nvPr/>
        </p:nvSpPr>
        <p:spPr>
          <a:xfrm>
            <a:off x="8470230" y="2672366"/>
            <a:ext cx="3981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Condensed Matter Field Theory</a:t>
            </a:r>
          </a:p>
          <a:p>
            <a:r>
              <a:rPr lang="en-US" sz="1400" dirty="0"/>
              <a:t>by Alexander </a:t>
            </a:r>
            <a:r>
              <a:rPr lang="en-US" sz="1400" dirty="0" err="1"/>
              <a:t>Altland</a:t>
            </a:r>
            <a:r>
              <a:rPr lang="en-US" sz="1400" dirty="0"/>
              <a:t> (Author), Ben D. Simons</a:t>
            </a:r>
            <a:endParaRPr lang="en-MY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6516CB-D77B-416B-8118-23AA6CA850F5}"/>
              </a:ext>
            </a:extLst>
          </p:cNvPr>
          <p:cNvSpPr txBox="1"/>
          <p:nvPr/>
        </p:nvSpPr>
        <p:spPr>
          <a:xfrm>
            <a:off x="663732" y="4679032"/>
            <a:ext cx="2409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Phase transition:</a:t>
            </a:r>
            <a:endParaRPr lang="en-MY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0EAD9-9150-4D05-9E17-B7DA5CE234CD}"/>
              </a:ext>
            </a:extLst>
          </p:cNvPr>
          <p:cNvSpPr txBox="1"/>
          <p:nvPr/>
        </p:nvSpPr>
        <p:spPr>
          <a:xfrm>
            <a:off x="1113438" y="5358883"/>
            <a:ext cx="6948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Critical phenomena and renormalization group.</a:t>
            </a:r>
            <a:endParaRPr lang="en-MY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15552B-2284-4CAF-BFFE-DB93A692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72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A0DC-A084-4122-B7D3-9D183698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topics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2F196-28B2-4EB4-B760-74DDF8D508EC}"/>
              </a:ext>
            </a:extLst>
          </p:cNvPr>
          <p:cNvSpPr txBox="1"/>
          <p:nvPr/>
        </p:nvSpPr>
        <p:spPr>
          <a:xfrm>
            <a:off x="663732" y="2389471"/>
            <a:ext cx="2767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Out-of-equilibrium</a:t>
            </a:r>
            <a:endParaRPr lang="en-MY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1D491-DBC8-4939-88D3-0989BE1C97F7}"/>
              </a:ext>
            </a:extLst>
          </p:cNvPr>
          <p:cNvSpPr txBox="1"/>
          <p:nvPr/>
        </p:nvSpPr>
        <p:spPr>
          <a:xfrm>
            <a:off x="1481009" y="3222035"/>
            <a:ext cx="66619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Density matrix formalism: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Boltzmann equation (classical/semi-classical),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Lindbladian</a:t>
            </a:r>
            <a:r>
              <a:rPr lang="en-US" sz="2400" dirty="0"/>
              <a:t> (quantum)</a:t>
            </a:r>
            <a:endParaRPr lang="en-MY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A47E9-C409-4A70-BDBE-6C92336BAE10}"/>
              </a:ext>
            </a:extLst>
          </p:cNvPr>
          <p:cNvSpPr txBox="1"/>
          <p:nvPr/>
        </p:nvSpPr>
        <p:spPr>
          <a:xfrm>
            <a:off x="1481009" y="5318344"/>
            <a:ext cx="4530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Keldysh</a:t>
            </a:r>
            <a:r>
              <a:rPr lang="en-US" sz="2400" dirty="0"/>
              <a:t> path integral (quantum)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9222F-C912-4FEB-93FB-0F965F1F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9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EC3F-487A-4A8A-916D-319071AF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topics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64926-0C48-45EA-8C02-40277AAA529D}"/>
              </a:ext>
            </a:extLst>
          </p:cNvPr>
          <p:cNvSpPr txBox="1"/>
          <p:nvPr/>
        </p:nvSpPr>
        <p:spPr>
          <a:xfrm>
            <a:off x="682982" y="2273926"/>
            <a:ext cx="1998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Mathematics:</a:t>
            </a:r>
            <a:endParaRPr lang="en-MY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B35A9-5F71-4D75-811F-FC3461CA9E75}"/>
              </a:ext>
            </a:extLst>
          </p:cNvPr>
          <p:cNvSpPr txBox="1"/>
          <p:nvPr/>
        </p:nvSpPr>
        <p:spPr>
          <a:xfrm>
            <a:off x="1577261" y="2925598"/>
            <a:ext cx="1728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8E578-BCE4-4A97-8B9A-03A6596632A9}"/>
              </a:ext>
            </a:extLst>
          </p:cNvPr>
          <p:cNvSpPr txBox="1"/>
          <p:nvPr/>
        </p:nvSpPr>
        <p:spPr>
          <a:xfrm>
            <a:off x="1552539" y="3615514"/>
            <a:ext cx="5602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Stochastic Calculus (non-equilibrium)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A95F26-848A-4168-BD4F-9106EB7BF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024" y="1491916"/>
            <a:ext cx="2390942" cy="351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DCED47-5CBA-48AE-A580-10B0CCDAC354}"/>
              </a:ext>
            </a:extLst>
          </p:cNvPr>
          <p:cNvSpPr txBox="1"/>
          <p:nvPr/>
        </p:nvSpPr>
        <p:spPr>
          <a:xfrm>
            <a:off x="9123380" y="907141"/>
            <a:ext cx="3400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“Statistical Inference”</a:t>
            </a:r>
          </a:p>
          <a:p>
            <a:r>
              <a:rPr lang="en-US" sz="1600" dirty="0"/>
              <a:t>George Casella, Roger Berger</a:t>
            </a:r>
            <a:endParaRPr lang="en-MY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1D4836-800B-4CDB-8435-B917C1093501}"/>
              </a:ext>
            </a:extLst>
          </p:cNvPr>
          <p:cNvSpPr txBox="1"/>
          <p:nvPr/>
        </p:nvSpPr>
        <p:spPr>
          <a:xfrm>
            <a:off x="743627" y="4690606"/>
            <a:ext cx="3223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Computer simulations:</a:t>
            </a:r>
            <a:endParaRPr lang="en-MY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4E1CD-F681-4128-A9BD-80F10701612C}"/>
              </a:ext>
            </a:extLst>
          </p:cNvPr>
          <p:cNvSpPr txBox="1"/>
          <p:nvPr/>
        </p:nvSpPr>
        <p:spPr>
          <a:xfrm>
            <a:off x="1552539" y="5248578"/>
            <a:ext cx="2188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Monte Carlo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A1435-9165-4DC1-8090-BCE47E6A28BD}"/>
              </a:ext>
            </a:extLst>
          </p:cNvPr>
          <p:cNvSpPr txBox="1"/>
          <p:nvPr/>
        </p:nvSpPr>
        <p:spPr>
          <a:xfrm>
            <a:off x="1552539" y="5922746"/>
            <a:ext cx="3266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Molecular Dynamics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F31994-84A7-46D9-9447-2EFF90300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20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50534</TotalTime>
  <Words>578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Linux Libertine</vt:lpstr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Comparison between ensemble models</vt:lpstr>
      <vt:lpstr>Thermodynamics vs Fluctuations</vt:lpstr>
      <vt:lpstr>Brownian motion</vt:lpstr>
      <vt:lpstr>Real-world example:</vt:lpstr>
      <vt:lpstr>Einstein-Smoluchowski theory</vt:lpstr>
      <vt:lpstr>Einstein-Smoluchowski theory</vt:lpstr>
      <vt:lpstr>Einstein-Smoluchowski theory</vt:lpstr>
      <vt:lpstr>Langevin theory</vt:lpstr>
      <vt:lpstr>Langevin theory</vt:lpstr>
      <vt:lpstr>Langevin theory</vt:lpstr>
      <vt:lpstr>Fokker-Planck equation: evolution of distribution</vt:lpstr>
      <vt:lpstr>Fokker-Planck equation: evolution of distribution</vt:lpstr>
      <vt:lpstr>Fokker-Planck equation: evolution of distribution</vt:lpstr>
      <vt:lpstr>Fokker-Planck equation: evolution of distribution</vt:lpstr>
      <vt:lpstr>Further topics</vt:lpstr>
      <vt:lpstr>Further topics</vt:lpstr>
      <vt:lpstr>Further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1673</cp:revision>
  <dcterms:created xsi:type="dcterms:W3CDTF">2024-08-25T23:32:26Z</dcterms:created>
  <dcterms:modified xsi:type="dcterms:W3CDTF">2025-10-29T12:04:36Z</dcterms:modified>
</cp:coreProperties>
</file>