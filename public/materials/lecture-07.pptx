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21"/>
  </p:notesMasterIdLst>
  <p:sldIdLst>
    <p:sldId id="289" r:id="rId2"/>
    <p:sldId id="470" r:id="rId3"/>
    <p:sldId id="471" r:id="rId4"/>
    <p:sldId id="473" r:id="rId5"/>
    <p:sldId id="474" r:id="rId6"/>
    <p:sldId id="479" r:id="rId7"/>
    <p:sldId id="485" r:id="rId8"/>
    <p:sldId id="475" r:id="rId9"/>
    <p:sldId id="288" r:id="rId10"/>
    <p:sldId id="403" r:id="rId11"/>
    <p:sldId id="486" r:id="rId12"/>
    <p:sldId id="487" r:id="rId13"/>
    <p:sldId id="488" r:id="rId14"/>
    <p:sldId id="489" r:id="rId15"/>
    <p:sldId id="290" r:id="rId16"/>
    <p:sldId id="490" r:id="rId17"/>
    <p:sldId id="491" r:id="rId18"/>
    <p:sldId id="493" r:id="rId19"/>
    <p:sldId id="49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ADE4"/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5" d="100"/>
          <a:sy n="65" d="100"/>
        </p:scale>
        <p:origin x="6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emf"/><Relationship Id="rId7" Type="http://schemas.openxmlformats.org/officeDocument/2006/relationships/image" Target="../media/image7.sv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emf"/><Relationship Id="rId10" Type="http://schemas.openxmlformats.org/officeDocument/2006/relationships/image" Target="../media/image10.svg"/><Relationship Id="rId4" Type="http://schemas.openxmlformats.org/officeDocument/2006/relationships/image" Target="../media/image4.emf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18" Type="http://schemas.openxmlformats.org/officeDocument/2006/relationships/image" Target="../media/image28.emf"/><Relationship Id="rId3" Type="http://schemas.openxmlformats.org/officeDocument/2006/relationships/image" Target="../media/image13.emf"/><Relationship Id="rId21" Type="http://schemas.openxmlformats.org/officeDocument/2006/relationships/image" Target="../media/image31.sv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17" Type="http://schemas.openxmlformats.org/officeDocument/2006/relationships/image" Target="../media/image27.emf"/><Relationship Id="rId2" Type="http://schemas.openxmlformats.org/officeDocument/2006/relationships/image" Target="../media/image12.emf"/><Relationship Id="rId16" Type="http://schemas.openxmlformats.org/officeDocument/2006/relationships/image" Target="../media/image26.jpe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11" Type="http://schemas.openxmlformats.org/officeDocument/2006/relationships/image" Target="../media/image21.png"/><Relationship Id="rId5" Type="http://schemas.openxmlformats.org/officeDocument/2006/relationships/image" Target="../media/image15.emf"/><Relationship Id="rId15" Type="http://schemas.openxmlformats.org/officeDocument/2006/relationships/image" Target="../media/image25.emf"/><Relationship Id="rId23" Type="http://schemas.openxmlformats.org/officeDocument/2006/relationships/image" Target="../media/image11.png"/><Relationship Id="rId10" Type="http://schemas.openxmlformats.org/officeDocument/2006/relationships/image" Target="../media/image20.svg"/><Relationship Id="rId19" Type="http://schemas.openxmlformats.org/officeDocument/2006/relationships/image" Target="../media/image29.emf"/><Relationship Id="rId4" Type="http://schemas.openxmlformats.org/officeDocument/2006/relationships/image" Target="../media/image14.emf"/><Relationship Id="rId9" Type="http://schemas.openxmlformats.org/officeDocument/2006/relationships/image" Target="../media/image19.png"/><Relationship Id="rId14" Type="http://schemas.openxmlformats.org/officeDocument/2006/relationships/image" Target="../media/image24.svg"/><Relationship Id="rId22" Type="http://schemas.openxmlformats.org/officeDocument/2006/relationships/image" Target="../media/image3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emf"/><Relationship Id="rId4" Type="http://schemas.openxmlformats.org/officeDocument/2006/relationships/image" Target="../media/image35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13" Type="http://schemas.openxmlformats.org/officeDocument/2006/relationships/image" Target="../media/image45.emf"/><Relationship Id="rId18" Type="http://schemas.openxmlformats.org/officeDocument/2006/relationships/image" Target="../media/image50.emf"/><Relationship Id="rId3" Type="http://schemas.openxmlformats.org/officeDocument/2006/relationships/image" Target="../media/image15.emf"/><Relationship Id="rId7" Type="http://schemas.openxmlformats.org/officeDocument/2006/relationships/image" Target="../media/image39.emf"/><Relationship Id="rId12" Type="http://schemas.openxmlformats.org/officeDocument/2006/relationships/image" Target="../media/image44.emf"/><Relationship Id="rId17" Type="http://schemas.openxmlformats.org/officeDocument/2006/relationships/image" Target="../media/image49.emf"/><Relationship Id="rId2" Type="http://schemas.openxmlformats.org/officeDocument/2006/relationships/image" Target="../media/image36.emf"/><Relationship Id="rId16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11" Type="http://schemas.openxmlformats.org/officeDocument/2006/relationships/image" Target="../media/image43.svg"/><Relationship Id="rId5" Type="http://schemas.openxmlformats.org/officeDocument/2006/relationships/image" Target="../media/image14.emf"/><Relationship Id="rId15" Type="http://schemas.openxmlformats.org/officeDocument/2006/relationships/image" Target="../media/image47.emf"/><Relationship Id="rId10" Type="http://schemas.openxmlformats.org/officeDocument/2006/relationships/image" Target="../media/image42.png"/><Relationship Id="rId19" Type="http://schemas.openxmlformats.org/officeDocument/2006/relationships/image" Target="../media/image11.png"/><Relationship Id="rId4" Type="http://schemas.openxmlformats.org/officeDocument/2006/relationships/image" Target="../media/image37.emf"/><Relationship Id="rId9" Type="http://schemas.openxmlformats.org/officeDocument/2006/relationships/image" Target="../media/image41.emf"/><Relationship Id="rId14" Type="http://schemas.openxmlformats.org/officeDocument/2006/relationships/image" Target="../media/image4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13" Type="http://schemas.openxmlformats.org/officeDocument/2006/relationships/image" Target="../media/image62.png"/><Relationship Id="rId18" Type="http://schemas.openxmlformats.org/officeDocument/2006/relationships/image" Target="../media/image66.png"/><Relationship Id="rId3" Type="http://schemas.openxmlformats.org/officeDocument/2006/relationships/image" Target="../media/image52.emf"/><Relationship Id="rId21" Type="http://schemas.openxmlformats.org/officeDocument/2006/relationships/image" Target="../media/image69.svg"/><Relationship Id="rId7" Type="http://schemas.openxmlformats.org/officeDocument/2006/relationships/image" Target="../media/image56.png"/><Relationship Id="rId12" Type="http://schemas.openxmlformats.org/officeDocument/2006/relationships/image" Target="../media/image61.svg"/><Relationship Id="rId17" Type="http://schemas.openxmlformats.org/officeDocument/2006/relationships/image" Target="../media/image65.emf"/><Relationship Id="rId2" Type="http://schemas.openxmlformats.org/officeDocument/2006/relationships/image" Target="../media/image51.emf"/><Relationship Id="rId16" Type="http://schemas.openxmlformats.org/officeDocument/2006/relationships/image" Target="../media/image64.emf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emf"/><Relationship Id="rId11" Type="http://schemas.openxmlformats.org/officeDocument/2006/relationships/image" Target="../media/image60.png"/><Relationship Id="rId24" Type="http://schemas.openxmlformats.org/officeDocument/2006/relationships/image" Target="../media/image11.png"/><Relationship Id="rId5" Type="http://schemas.openxmlformats.org/officeDocument/2006/relationships/image" Target="../media/image54.emf"/><Relationship Id="rId15" Type="http://schemas.openxmlformats.org/officeDocument/2006/relationships/image" Target="../media/image49.emf"/><Relationship Id="rId23" Type="http://schemas.openxmlformats.org/officeDocument/2006/relationships/image" Target="../media/image71.svg"/><Relationship Id="rId10" Type="http://schemas.openxmlformats.org/officeDocument/2006/relationships/image" Target="../media/image59.svg"/><Relationship Id="rId19" Type="http://schemas.openxmlformats.org/officeDocument/2006/relationships/image" Target="../media/image67.svg"/><Relationship Id="rId4" Type="http://schemas.openxmlformats.org/officeDocument/2006/relationships/image" Target="../media/image53.emf"/><Relationship Id="rId9" Type="http://schemas.openxmlformats.org/officeDocument/2006/relationships/image" Target="../media/image58.png"/><Relationship Id="rId14" Type="http://schemas.openxmlformats.org/officeDocument/2006/relationships/image" Target="../media/image63.svg"/><Relationship Id="rId22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svg"/><Relationship Id="rId18" Type="http://schemas.openxmlformats.org/officeDocument/2006/relationships/image" Target="../media/image84.png"/><Relationship Id="rId3" Type="http://schemas.openxmlformats.org/officeDocument/2006/relationships/image" Target="../media/image54.emf"/><Relationship Id="rId21" Type="http://schemas.openxmlformats.org/officeDocument/2006/relationships/image" Target="../media/image87.svg"/><Relationship Id="rId7" Type="http://schemas.openxmlformats.org/officeDocument/2006/relationships/image" Target="../media/image73.emf"/><Relationship Id="rId12" Type="http://schemas.openxmlformats.org/officeDocument/2006/relationships/image" Target="../media/image78.png"/><Relationship Id="rId17" Type="http://schemas.openxmlformats.org/officeDocument/2006/relationships/image" Target="../media/image83.svg"/><Relationship Id="rId2" Type="http://schemas.openxmlformats.org/officeDocument/2006/relationships/image" Target="../media/image72.emf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svg"/><Relationship Id="rId11" Type="http://schemas.openxmlformats.org/officeDocument/2006/relationships/image" Target="../media/image77.svg"/><Relationship Id="rId24" Type="http://schemas.openxmlformats.org/officeDocument/2006/relationships/image" Target="../media/image11.png"/><Relationship Id="rId5" Type="http://schemas.openxmlformats.org/officeDocument/2006/relationships/image" Target="../media/image68.png"/><Relationship Id="rId15" Type="http://schemas.openxmlformats.org/officeDocument/2006/relationships/image" Target="../media/image81.svg"/><Relationship Id="rId23" Type="http://schemas.openxmlformats.org/officeDocument/2006/relationships/image" Target="../media/image89.svg"/><Relationship Id="rId10" Type="http://schemas.openxmlformats.org/officeDocument/2006/relationships/image" Target="../media/image76.png"/><Relationship Id="rId19" Type="http://schemas.openxmlformats.org/officeDocument/2006/relationships/image" Target="../media/image85.svg"/><Relationship Id="rId4" Type="http://schemas.openxmlformats.org/officeDocument/2006/relationships/image" Target="../media/image65.emf"/><Relationship Id="rId9" Type="http://schemas.openxmlformats.org/officeDocument/2006/relationships/image" Target="../media/image75.svg"/><Relationship Id="rId14" Type="http://schemas.openxmlformats.org/officeDocument/2006/relationships/image" Target="../media/image80.png"/><Relationship Id="rId22" Type="http://schemas.openxmlformats.org/officeDocument/2006/relationships/image" Target="../media/image8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svg"/><Relationship Id="rId3" Type="http://schemas.openxmlformats.org/officeDocument/2006/relationships/image" Target="../media/image91.svg"/><Relationship Id="rId7" Type="http://schemas.openxmlformats.org/officeDocument/2006/relationships/image" Target="../media/image95.svg"/><Relationship Id="rId12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image" Target="../media/image99.svg"/><Relationship Id="rId5" Type="http://schemas.openxmlformats.org/officeDocument/2006/relationships/image" Target="../media/image93.sv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svg"/><Relationship Id="rId1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svg"/><Relationship Id="rId3" Type="http://schemas.openxmlformats.org/officeDocument/2006/relationships/image" Target="../media/image3.emf"/><Relationship Id="rId7" Type="http://schemas.openxmlformats.org/officeDocument/2006/relationships/image" Target="../media/image104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svg"/><Relationship Id="rId5" Type="http://schemas.openxmlformats.org/officeDocument/2006/relationships/image" Target="../media/image102.png"/><Relationship Id="rId10" Type="http://schemas.openxmlformats.org/officeDocument/2006/relationships/image" Target="../media/image11.png"/><Relationship Id="rId4" Type="http://schemas.openxmlformats.org/officeDocument/2006/relationships/image" Target="../media/image4.emf"/><Relationship Id="rId9" Type="http://schemas.openxmlformats.org/officeDocument/2006/relationships/image" Target="../media/image33.e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5.svg"/><Relationship Id="rId18" Type="http://schemas.openxmlformats.org/officeDocument/2006/relationships/image" Target="../media/image120.png"/><Relationship Id="rId26" Type="http://schemas.openxmlformats.org/officeDocument/2006/relationships/image" Target="../media/image128.png"/><Relationship Id="rId39" Type="http://schemas.openxmlformats.org/officeDocument/2006/relationships/image" Target="../media/image141.svg"/><Relationship Id="rId21" Type="http://schemas.openxmlformats.org/officeDocument/2006/relationships/image" Target="../media/image123.svg"/><Relationship Id="rId34" Type="http://schemas.openxmlformats.org/officeDocument/2006/relationships/image" Target="../media/image136.png"/><Relationship Id="rId7" Type="http://schemas.openxmlformats.org/officeDocument/2006/relationships/image" Target="../media/image111.svg"/><Relationship Id="rId12" Type="http://schemas.openxmlformats.org/officeDocument/2006/relationships/image" Target="../media/image114.png"/><Relationship Id="rId17" Type="http://schemas.openxmlformats.org/officeDocument/2006/relationships/image" Target="../media/image119.svg"/><Relationship Id="rId25" Type="http://schemas.openxmlformats.org/officeDocument/2006/relationships/image" Target="../media/image127.svg"/><Relationship Id="rId33" Type="http://schemas.openxmlformats.org/officeDocument/2006/relationships/image" Target="../media/image135.svg"/><Relationship Id="rId38" Type="http://schemas.openxmlformats.org/officeDocument/2006/relationships/image" Target="../media/image140.png"/><Relationship Id="rId2" Type="http://schemas.openxmlformats.org/officeDocument/2006/relationships/image" Target="../media/image106.png"/><Relationship Id="rId16" Type="http://schemas.openxmlformats.org/officeDocument/2006/relationships/image" Target="../media/image118.png"/><Relationship Id="rId20" Type="http://schemas.openxmlformats.org/officeDocument/2006/relationships/image" Target="../media/image122.png"/><Relationship Id="rId29" Type="http://schemas.openxmlformats.org/officeDocument/2006/relationships/image" Target="../media/image13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13.svg"/><Relationship Id="rId24" Type="http://schemas.openxmlformats.org/officeDocument/2006/relationships/image" Target="../media/image126.png"/><Relationship Id="rId32" Type="http://schemas.openxmlformats.org/officeDocument/2006/relationships/image" Target="../media/image134.png"/><Relationship Id="rId37" Type="http://schemas.openxmlformats.org/officeDocument/2006/relationships/image" Target="../media/image139.svg"/><Relationship Id="rId40" Type="http://schemas.openxmlformats.org/officeDocument/2006/relationships/image" Target="../media/image11.png"/><Relationship Id="rId5" Type="http://schemas.openxmlformats.org/officeDocument/2006/relationships/image" Target="../media/image109.svg"/><Relationship Id="rId15" Type="http://schemas.openxmlformats.org/officeDocument/2006/relationships/image" Target="../media/image117.svg"/><Relationship Id="rId23" Type="http://schemas.openxmlformats.org/officeDocument/2006/relationships/image" Target="../media/image125.svg"/><Relationship Id="rId28" Type="http://schemas.openxmlformats.org/officeDocument/2006/relationships/image" Target="../media/image130.png"/><Relationship Id="rId36" Type="http://schemas.openxmlformats.org/officeDocument/2006/relationships/image" Target="../media/image138.png"/><Relationship Id="rId10" Type="http://schemas.openxmlformats.org/officeDocument/2006/relationships/image" Target="../media/image112.png"/><Relationship Id="rId19" Type="http://schemas.openxmlformats.org/officeDocument/2006/relationships/image" Target="../media/image121.svg"/><Relationship Id="rId31" Type="http://schemas.openxmlformats.org/officeDocument/2006/relationships/image" Target="../media/image133.svg"/><Relationship Id="rId4" Type="http://schemas.openxmlformats.org/officeDocument/2006/relationships/image" Target="../media/image108.png"/><Relationship Id="rId9" Type="http://schemas.openxmlformats.org/officeDocument/2006/relationships/image" Target="../media/image105.svg"/><Relationship Id="rId14" Type="http://schemas.openxmlformats.org/officeDocument/2006/relationships/image" Target="../media/image116.png"/><Relationship Id="rId22" Type="http://schemas.openxmlformats.org/officeDocument/2006/relationships/image" Target="../media/image124.png"/><Relationship Id="rId27" Type="http://schemas.openxmlformats.org/officeDocument/2006/relationships/image" Target="../media/image129.svg"/><Relationship Id="rId30" Type="http://schemas.openxmlformats.org/officeDocument/2006/relationships/image" Target="../media/image132.png"/><Relationship Id="rId35" Type="http://schemas.openxmlformats.org/officeDocument/2006/relationships/image" Target="../media/image137.svg"/><Relationship Id="rId8" Type="http://schemas.openxmlformats.org/officeDocument/2006/relationships/image" Target="../media/image104.png"/><Relationship Id="rId3" Type="http://schemas.openxmlformats.org/officeDocument/2006/relationships/image" Target="../media/image107.sv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3.svg"/><Relationship Id="rId18" Type="http://schemas.openxmlformats.org/officeDocument/2006/relationships/image" Target="../media/image136.png"/><Relationship Id="rId26" Type="http://schemas.openxmlformats.org/officeDocument/2006/relationships/image" Target="../media/image148.png"/><Relationship Id="rId39" Type="http://schemas.openxmlformats.org/officeDocument/2006/relationships/image" Target="../media/image135.svg"/><Relationship Id="rId21" Type="http://schemas.openxmlformats.org/officeDocument/2006/relationships/image" Target="../media/image143.svg"/><Relationship Id="rId34" Type="http://schemas.openxmlformats.org/officeDocument/2006/relationships/image" Target="../media/image156.png"/><Relationship Id="rId42" Type="http://schemas.openxmlformats.org/officeDocument/2006/relationships/image" Target="../media/image11.png"/><Relationship Id="rId7" Type="http://schemas.openxmlformats.org/officeDocument/2006/relationships/image" Target="../media/image111.svg"/><Relationship Id="rId2" Type="http://schemas.openxmlformats.org/officeDocument/2006/relationships/image" Target="../media/image106.png"/><Relationship Id="rId16" Type="http://schemas.openxmlformats.org/officeDocument/2006/relationships/image" Target="../media/image120.png"/><Relationship Id="rId20" Type="http://schemas.openxmlformats.org/officeDocument/2006/relationships/image" Target="../media/image142.png"/><Relationship Id="rId29" Type="http://schemas.openxmlformats.org/officeDocument/2006/relationships/image" Target="../media/image151.svg"/><Relationship Id="rId41" Type="http://schemas.openxmlformats.org/officeDocument/2006/relationships/image" Target="../media/image14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05.svg"/><Relationship Id="rId24" Type="http://schemas.openxmlformats.org/officeDocument/2006/relationships/image" Target="../media/image146.png"/><Relationship Id="rId32" Type="http://schemas.openxmlformats.org/officeDocument/2006/relationships/image" Target="../media/image154.png"/><Relationship Id="rId37" Type="http://schemas.openxmlformats.org/officeDocument/2006/relationships/image" Target="../media/image139.svg"/><Relationship Id="rId40" Type="http://schemas.openxmlformats.org/officeDocument/2006/relationships/image" Target="../media/image140.png"/><Relationship Id="rId5" Type="http://schemas.openxmlformats.org/officeDocument/2006/relationships/image" Target="../media/image109.svg"/><Relationship Id="rId15" Type="http://schemas.openxmlformats.org/officeDocument/2006/relationships/image" Target="../media/image119.svg"/><Relationship Id="rId23" Type="http://schemas.openxmlformats.org/officeDocument/2006/relationships/image" Target="../media/image145.svg"/><Relationship Id="rId28" Type="http://schemas.openxmlformats.org/officeDocument/2006/relationships/image" Target="../media/image150.png"/><Relationship Id="rId36" Type="http://schemas.openxmlformats.org/officeDocument/2006/relationships/image" Target="../media/image138.png"/><Relationship Id="rId10" Type="http://schemas.openxmlformats.org/officeDocument/2006/relationships/image" Target="../media/image104.png"/><Relationship Id="rId19" Type="http://schemas.openxmlformats.org/officeDocument/2006/relationships/image" Target="../media/image137.svg"/><Relationship Id="rId31" Type="http://schemas.openxmlformats.org/officeDocument/2006/relationships/image" Target="../media/image153.svg"/><Relationship Id="rId4" Type="http://schemas.openxmlformats.org/officeDocument/2006/relationships/image" Target="../media/image108.png"/><Relationship Id="rId9" Type="http://schemas.openxmlformats.org/officeDocument/2006/relationships/image" Target="../media/image115.svg"/><Relationship Id="rId14" Type="http://schemas.openxmlformats.org/officeDocument/2006/relationships/image" Target="../media/image118.png"/><Relationship Id="rId22" Type="http://schemas.openxmlformats.org/officeDocument/2006/relationships/image" Target="../media/image144.png"/><Relationship Id="rId27" Type="http://schemas.openxmlformats.org/officeDocument/2006/relationships/image" Target="../media/image149.svg"/><Relationship Id="rId30" Type="http://schemas.openxmlformats.org/officeDocument/2006/relationships/image" Target="../media/image152.png"/><Relationship Id="rId35" Type="http://schemas.openxmlformats.org/officeDocument/2006/relationships/image" Target="../media/image157.svg"/><Relationship Id="rId8" Type="http://schemas.openxmlformats.org/officeDocument/2006/relationships/image" Target="../media/image114.png"/><Relationship Id="rId3" Type="http://schemas.openxmlformats.org/officeDocument/2006/relationships/image" Target="../media/image107.svg"/><Relationship Id="rId12" Type="http://schemas.openxmlformats.org/officeDocument/2006/relationships/image" Target="../media/image112.png"/><Relationship Id="rId17" Type="http://schemas.openxmlformats.org/officeDocument/2006/relationships/image" Target="../media/image121.svg"/><Relationship Id="rId25" Type="http://schemas.openxmlformats.org/officeDocument/2006/relationships/image" Target="../media/image147.svg"/><Relationship Id="rId33" Type="http://schemas.openxmlformats.org/officeDocument/2006/relationships/image" Target="../media/image155.svg"/><Relationship Id="rId38" Type="http://schemas.openxmlformats.org/officeDocument/2006/relationships/image" Target="../media/image134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svg"/><Relationship Id="rId18" Type="http://schemas.openxmlformats.org/officeDocument/2006/relationships/image" Target="../media/image148.png"/><Relationship Id="rId26" Type="http://schemas.openxmlformats.org/officeDocument/2006/relationships/image" Target="../media/image160.png"/><Relationship Id="rId39" Type="http://schemas.openxmlformats.org/officeDocument/2006/relationships/image" Target="../media/image135.svg"/><Relationship Id="rId21" Type="http://schemas.openxmlformats.org/officeDocument/2006/relationships/image" Target="../media/image151.svg"/><Relationship Id="rId34" Type="http://schemas.openxmlformats.org/officeDocument/2006/relationships/image" Target="../media/image136.png"/><Relationship Id="rId42" Type="http://schemas.openxmlformats.org/officeDocument/2006/relationships/image" Target="../media/image11.png"/><Relationship Id="rId7" Type="http://schemas.openxmlformats.org/officeDocument/2006/relationships/image" Target="../media/image111.svg"/><Relationship Id="rId2" Type="http://schemas.openxmlformats.org/officeDocument/2006/relationships/image" Target="../media/image106.png"/><Relationship Id="rId16" Type="http://schemas.openxmlformats.org/officeDocument/2006/relationships/image" Target="../media/image142.png"/><Relationship Id="rId20" Type="http://schemas.openxmlformats.org/officeDocument/2006/relationships/image" Target="../media/image150.png"/><Relationship Id="rId29" Type="http://schemas.openxmlformats.org/officeDocument/2006/relationships/image" Target="../media/image163.svg"/><Relationship Id="rId41" Type="http://schemas.openxmlformats.org/officeDocument/2006/relationships/image" Target="../media/image14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13.svg"/><Relationship Id="rId24" Type="http://schemas.openxmlformats.org/officeDocument/2006/relationships/image" Target="../media/image158.png"/><Relationship Id="rId32" Type="http://schemas.openxmlformats.org/officeDocument/2006/relationships/image" Target="../media/image114.png"/><Relationship Id="rId37" Type="http://schemas.openxmlformats.org/officeDocument/2006/relationships/image" Target="../media/image139.svg"/><Relationship Id="rId40" Type="http://schemas.openxmlformats.org/officeDocument/2006/relationships/image" Target="../media/image140.png"/><Relationship Id="rId5" Type="http://schemas.openxmlformats.org/officeDocument/2006/relationships/image" Target="../media/image109.svg"/><Relationship Id="rId15" Type="http://schemas.openxmlformats.org/officeDocument/2006/relationships/image" Target="../media/image121.svg"/><Relationship Id="rId23" Type="http://schemas.openxmlformats.org/officeDocument/2006/relationships/image" Target="../media/image103.svg"/><Relationship Id="rId28" Type="http://schemas.openxmlformats.org/officeDocument/2006/relationships/image" Target="../media/image162.png"/><Relationship Id="rId36" Type="http://schemas.openxmlformats.org/officeDocument/2006/relationships/image" Target="../media/image138.png"/><Relationship Id="rId10" Type="http://schemas.openxmlformats.org/officeDocument/2006/relationships/image" Target="../media/image112.png"/><Relationship Id="rId19" Type="http://schemas.openxmlformats.org/officeDocument/2006/relationships/image" Target="../media/image149.svg"/><Relationship Id="rId31" Type="http://schemas.openxmlformats.org/officeDocument/2006/relationships/image" Target="../media/image165.svg"/><Relationship Id="rId4" Type="http://schemas.openxmlformats.org/officeDocument/2006/relationships/image" Target="../media/image108.png"/><Relationship Id="rId9" Type="http://schemas.openxmlformats.org/officeDocument/2006/relationships/image" Target="../media/image105.svg"/><Relationship Id="rId14" Type="http://schemas.openxmlformats.org/officeDocument/2006/relationships/image" Target="../media/image120.png"/><Relationship Id="rId22" Type="http://schemas.openxmlformats.org/officeDocument/2006/relationships/image" Target="../media/image102.png"/><Relationship Id="rId27" Type="http://schemas.openxmlformats.org/officeDocument/2006/relationships/image" Target="../media/image161.svg"/><Relationship Id="rId30" Type="http://schemas.openxmlformats.org/officeDocument/2006/relationships/image" Target="../media/image164.png"/><Relationship Id="rId35" Type="http://schemas.openxmlformats.org/officeDocument/2006/relationships/image" Target="../media/image137.svg"/><Relationship Id="rId8" Type="http://schemas.openxmlformats.org/officeDocument/2006/relationships/image" Target="../media/image104.png"/><Relationship Id="rId3" Type="http://schemas.openxmlformats.org/officeDocument/2006/relationships/image" Target="../media/image107.svg"/><Relationship Id="rId12" Type="http://schemas.openxmlformats.org/officeDocument/2006/relationships/image" Target="../media/image118.png"/><Relationship Id="rId17" Type="http://schemas.openxmlformats.org/officeDocument/2006/relationships/image" Target="../media/image143.svg"/><Relationship Id="rId25" Type="http://schemas.openxmlformats.org/officeDocument/2006/relationships/image" Target="../media/image159.svg"/><Relationship Id="rId33" Type="http://schemas.openxmlformats.org/officeDocument/2006/relationships/image" Target="../media/image115.svg"/><Relationship Id="rId38" Type="http://schemas.openxmlformats.org/officeDocument/2006/relationships/image" Target="../media/image1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1.png"/><Relationship Id="rId18" Type="http://schemas.openxmlformats.org/officeDocument/2006/relationships/image" Target="../media/image176.svg"/><Relationship Id="rId3" Type="http://schemas.openxmlformats.org/officeDocument/2006/relationships/image" Target="../media/image103.svg"/><Relationship Id="rId21" Type="http://schemas.openxmlformats.org/officeDocument/2006/relationships/image" Target="../media/image11.png"/><Relationship Id="rId7" Type="http://schemas.openxmlformats.org/officeDocument/2006/relationships/image" Target="../media/image167.svg"/><Relationship Id="rId12" Type="http://schemas.openxmlformats.org/officeDocument/2006/relationships/image" Target="../media/image135.svg"/><Relationship Id="rId17" Type="http://schemas.openxmlformats.org/officeDocument/2006/relationships/image" Target="../media/image175.png"/><Relationship Id="rId2" Type="http://schemas.openxmlformats.org/officeDocument/2006/relationships/image" Target="../media/image102.png"/><Relationship Id="rId16" Type="http://schemas.openxmlformats.org/officeDocument/2006/relationships/image" Target="../media/image174.svg"/><Relationship Id="rId20" Type="http://schemas.openxmlformats.org/officeDocument/2006/relationships/image" Target="../media/image17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11" Type="http://schemas.openxmlformats.org/officeDocument/2006/relationships/image" Target="../media/image134.png"/><Relationship Id="rId5" Type="http://schemas.openxmlformats.org/officeDocument/2006/relationships/image" Target="../media/image105.svg"/><Relationship Id="rId15" Type="http://schemas.openxmlformats.org/officeDocument/2006/relationships/image" Target="../media/image173.png"/><Relationship Id="rId10" Type="http://schemas.openxmlformats.org/officeDocument/2006/relationships/image" Target="../media/image170.png"/><Relationship Id="rId19" Type="http://schemas.openxmlformats.org/officeDocument/2006/relationships/image" Target="../media/image177.png"/><Relationship Id="rId4" Type="http://schemas.openxmlformats.org/officeDocument/2006/relationships/image" Target="../media/image104.png"/><Relationship Id="rId9" Type="http://schemas.openxmlformats.org/officeDocument/2006/relationships/image" Target="../media/image169.svg"/><Relationship Id="rId14" Type="http://schemas.openxmlformats.org/officeDocument/2006/relationships/image" Target="../media/image17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6.svg"/><Relationship Id="rId18" Type="http://schemas.openxmlformats.org/officeDocument/2006/relationships/image" Target="../media/image191.png"/><Relationship Id="rId3" Type="http://schemas.openxmlformats.org/officeDocument/2006/relationships/image" Target="../media/image172.svg"/><Relationship Id="rId21" Type="http://schemas.openxmlformats.org/officeDocument/2006/relationships/image" Target="../media/image194.png"/><Relationship Id="rId7" Type="http://schemas.openxmlformats.org/officeDocument/2006/relationships/image" Target="../media/image180.svg"/><Relationship Id="rId12" Type="http://schemas.openxmlformats.org/officeDocument/2006/relationships/image" Target="../media/image185.png"/><Relationship Id="rId17" Type="http://schemas.openxmlformats.org/officeDocument/2006/relationships/image" Target="../media/image190.svg"/><Relationship Id="rId2" Type="http://schemas.openxmlformats.org/officeDocument/2006/relationships/image" Target="../media/image171.png"/><Relationship Id="rId16" Type="http://schemas.openxmlformats.org/officeDocument/2006/relationships/image" Target="../media/image189.png"/><Relationship Id="rId20" Type="http://schemas.openxmlformats.org/officeDocument/2006/relationships/image" Target="../media/image19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11" Type="http://schemas.openxmlformats.org/officeDocument/2006/relationships/image" Target="../media/image184.svg"/><Relationship Id="rId5" Type="http://schemas.openxmlformats.org/officeDocument/2006/relationships/image" Target="../media/image174.svg"/><Relationship Id="rId15" Type="http://schemas.openxmlformats.org/officeDocument/2006/relationships/image" Target="../media/image188.svg"/><Relationship Id="rId23" Type="http://schemas.openxmlformats.org/officeDocument/2006/relationships/image" Target="../media/image11.png"/><Relationship Id="rId10" Type="http://schemas.openxmlformats.org/officeDocument/2006/relationships/image" Target="../media/image183.png"/><Relationship Id="rId19" Type="http://schemas.openxmlformats.org/officeDocument/2006/relationships/image" Target="../media/image192.png"/><Relationship Id="rId4" Type="http://schemas.openxmlformats.org/officeDocument/2006/relationships/image" Target="../media/image173.png"/><Relationship Id="rId9" Type="http://schemas.openxmlformats.org/officeDocument/2006/relationships/image" Target="../media/image182.svg"/><Relationship Id="rId14" Type="http://schemas.openxmlformats.org/officeDocument/2006/relationships/image" Target="../media/image187.png"/><Relationship Id="rId22" Type="http://schemas.openxmlformats.org/officeDocument/2006/relationships/image" Target="../media/image19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3.svg"/><Relationship Id="rId3" Type="http://schemas.openxmlformats.org/officeDocument/2006/relationships/image" Target="../media/image172.svg"/><Relationship Id="rId7" Type="http://schemas.openxmlformats.org/officeDocument/2006/relationships/image" Target="../media/image180.svg"/><Relationship Id="rId12" Type="http://schemas.openxmlformats.org/officeDocument/2006/relationships/image" Target="../media/image192.png"/><Relationship Id="rId17" Type="http://schemas.openxmlformats.org/officeDocument/2006/relationships/image" Target="../media/image11.png"/><Relationship Id="rId2" Type="http://schemas.openxmlformats.org/officeDocument/2006/relationships/image" Target="../media/image171.png"/><Relationship Id="rId16" Type="http://schemas.openxmlformats.org/officeDocument/2006/relationships/image" Target="../media/image19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11" Type="http://schemas.openxmlformats.org/officeDocument/2006/relationships/image" Target="../media/image188.svg"/><Relationship Id="rId5" Type="http://schemas.openxmlformats.org/officeDocument/2006/relationships/image" Target="../media/image174.svg"/><Relationship Id="rId15" Type="http://schemas.openxmlformats.org/officeDocument/2006/relationships/image" Target="../media/image197.png"/><Relationship Id="rId10" Type="http://schemas.openxmlformats.org/officeDocument/2006/relationships/image" Target="../media/image187.png"/><Relationship Id="rId4" Type="http://schemas.openxmlformats.org/officeDocument/2006/relationships/image" Target="../media/image173.png"/><Relationship Id="rId9" Type="http://schemas.openxmlformats.org/officeDocument/2006/relationships/image" Target="../media/image186.svg"/><Relationship Id="rId14" Type="http://schemas.openxmlformats.org/officeDocument/2006/relationships/image" Target="../media/image19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3.svg"/><Relationship Id="rId18" Type="http://schemas.openxmlformats.org/officeDocument/2006/relationships/image" Target="../media/image200.png"/><Relationship Id="rId3" Type="http://schemas.openxmlformats.org/officeDocument/2006/relationships/image" Target="../media/image172.svg"/><Relationship Id="rId21" Type="http://schemas.openxmlformats.org/officeDocument/2006/relationships/image" Target="../media/image11.png"/><Relationship Id="rId7" Type="http://schemas.openxmlformats.org/officeDocument/2006/relationships/image" Target="../media/image180.svg"/><Relationship Id="rId12" Type="http://schemas.openxmlformats.org/officeDocument/2006/relationships/image" Target="../media/image192.png"/><Relationship Id="rId17" Type="http://schemas.openxmlformats.org/officeDocument/2006/relationships/image" Target="../media/image199.png"/><Relationship Id="rId2" Type="http://schemas.openxmlformats.org/officeDocument/2006/relationships/image" Target="../media/image171.png"/><Relationship Id="rId16" Type="http://schemas.openxmlformats.org/officeDocument/2006/relationships/image" Target="../media/image196.png"/><Relationship Id="rId20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11" Type="http://schemas.openxmlformats.org/officeDocument/2006/relationships/image" Target="../media/image188.svg"/><Relationship Id="rId5" Type="http://schemas.openxmlformats.org/officeDocument/2006/relationships/image" Target="../media/image174.svg"/><Relationship Id="rId15" Type="http://schemas.openxmlformats.org/officeDocument/2006/relationships/image" Target="../media/image198.svg"/><Relationship Id="rId10" Type="http://schemas.openxmlformats.org/officeDocument/2006/relationships/image" Target="../media/image187.png"/><Relationship Id="rId19" Type="http://schemas.openxmlformats.org/officeDocument/2006/relationships/image" Target="../media/image201.png"/><Relationship Id="rId4" Type="http://schemas.openxmlformats.org/officeDocument/2006/relationships/image" Target="../media/image173.png"/><Relationship Id="rId9" Type="http://schemas.openxmlformats.org/officeDocument/2006/relationships/image" Target="../media/image186.svg"/><Relationship Id="rId14" Type="http://schemas.openxmlformats.org/officeDocument/2006/relationships/image" Target="../media/image19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svg"/><Relationship Id="rId13" Type="http://schemas.openxmlformats.org/officeDocument/2006/relationships/image" Target="../media/image213.png"/><Relationship Id="rId18" Type="http://schemas.openxmlformats.org/officeDocument/2006/relationships/image" Target="../media/image218.svg"/><Relationship Id="rId26" Type="http://schemas.openxmlformats.org/officeDocument/2006/relationships/image" Target="../media/image226.svg"/><Relationship Id="rId3" Type="http://schemas.openxmlformats.org/officeDocument/2006/relationships/image" Target="../media/image203.png"/><Relationship Id="rId21" Type="http://schemas.openxmlformats.org/officeDocument/2006/relationships/image" Target="../media/image221.png"/><Relationship Id="rId7" Type="http://schemas.openxmlformats.org/officeDocument/2006/relationships/image" Target="../media/image207.png"/><Relationship Id="rId12" Type="http://schemas.openxmlformats.org/officeDocument/2006/relationships/image" Target="../media/image212.svg"/><Relationship Id="rId17" Type="http://schemas.openxmlformats.org/officeDocument/2006/relationships/image" Target="../media/image217.png"/><Relationship Id="rId25" Type="http://schemas.openxmlformats.org/officeDocument/2006/relationships/image" Target="../media/image225.png"/><Relationship Id="rId2" Type="http://schemas.openxmlformats.org/officeDocument/2006/relationships/image" Target="../media/image202.png"/><Relationship Id="rId16" Type="http://schemas.openxmlformats.org/officeDocument/2006/relationships/image" Target="../media/image216.svg"/><Relationship Id="rId20" Type="http://schemas.openxmlformats.org/officeDocument/2006/relationships/image" Target="../media/image2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6.svg"/><Relationship Id="rId11" Type="http://schemas.openxmlformats.org/officeDocument/2006/relationships/image" Target="../media/image211.png"/><Relationship Id="rId24" Type="http://schemas.openxmlformats.org/officeDocument/2006/relationships/image" Target="../media/image224.svg"/><Relationship Id="rId5" Type="http://schemas.openxmlformats.org/officeDocument/2006/relationships/image" Target="../media/image205.png"/><Relationship Id="rId15" Type="http://schemas.openxmlformats.org/officeDocument/2006/relationships/image" Target="../media/image215.png"/><Relationship Id="rId23" Type="http://schemas.openxmlformats.org/officeDocument/2006/relationships/image" Target="../media/image223.png"/><Relationship Id="rId10" Type="http://schemas.openxmlformats.org/officeDocument/2006/relationships/image" Target="../media/image210.svg"/><Relationship Id="rId19" Type="http://schemas.openxmlformats.org/officeDocument/2006/relationships/image" Target="../media/image219.png"/><Relationship Id="rId4" Type="http://schemas.openxmlformats.org/officeDocument/2006/relationships/image" Target="../media/image204.svg"/><Relationship Id="rId9" Type="http://schemas.openxmlformats.org/officeDocument/2006/relationships/image" Target="../media/image209.png"/><Relationship Id="rId14" Type="http://schemas.openxmlformats.org/officeDocument/2006/relationships/image" Target="../media/image214.svg"/><Relationship Id="rId22" Type="http://schemas.openxmlformats.org/officeDocument/2006/relationships/image" Target="../media/image222.svg"/><Relationship Id="rId27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 for classical statistical mechanics</a:t>
            </a:r>
          </a:p>
        </p:txBody>
      </p:sp>
    </p:spTree>
    <p:extLst>
      <p:ext uri="{BB962C8B-B14F-4D97-AF65-F5344CB8AC3E}">
        <p14:creationId xmlns:p14="http://schemas.microsoft.com/office/powerpoint/2010/main" val="1732924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249424"/>
            <a:ext cx="49839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The microstates      </a:t>
            </a:r>
            <a:r>
              <a:rPr lang="en-US" sz="2400" b="1" dirty="0"/>
              <a:t>of a large system.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218" y="2412746"/>
            <a:ext cx="237744" cy="29718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9703C41-DDF4-40A3-97C9-75564D6B3493}"/>
              </a:ext>
            </a:extLst>
          </p:cNvPr>
          <p:cNvGrpSpPr/>
          <p:nvPr/>
        </p:nvGrpSpPr>
        <p:grpSpPr>
          <a:xfrm>
            <a:off x="7555484" y="1760273"/>
            <a:ext cx="4449103" cy="3435767"/>
            <a:chOff x="7454138" y="1880092"/>
            <a:chExt cx="4449103" cy="343576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60AAE96-594B-4460-B71B-05C5028CA2B6}"/>
                </a:ext>
              </a:extLst>
            </p:cNvPr>
            <p:cNvGrpSpPr/>
            <p:nvPr/>
          </p:nvGrpSpPr>
          <p:grpSpPr>
            <a:xfrm>
              <a:off x="7454138" y="1880092"/>
              <a:ext cx="4449103" cy="3435767"/>
              <a:chOff x="7454138" y="1880092"/>
              <a:chExt cx="4449103" cy="3435767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78724" y="2041344"/>
                <a:ext cx="3332988" cy="3274515"/>
              </a:xfrm>
              <a:prstGeom prst="rect">
                <a:avLst/>
              </a:prstGeom>
            </p:spPr>
          </p:pic>
          <p:sp>
            <p:nvSpPr>
              <p:cNvPr id="11" name="TextBox 10"/>
              <p:cNvSpPr txBox="1"/>
              <p:nvPr/>
            </p:nvSpPr>
            <p:spPr>
              <a:xfrm>
                <a:off x="7454138" y="1880092"/>
                <a:ext cx="4449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Phase space</a:t>
                </a:r>
                <a:r>
                  <a:rPr lang="en-US" dirty="0"/>
                  <a:t>: collection of all available states</a:t>
                </a:r>
              </a:p>
            </p:txBody>
          </p:sp>
        </p:grp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97696" y="4498848"/>
              <a:ext cx="1761488" cy="21717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0A3A92B-A6A2-488E-8384-F11B7C4618B4}"/>
              </a:ext>
            </a:extLst>
          </p:cNvPr>
          <p:cNvGrpSpPr/>
          <p:nvPr/>
        </p:nvGrpSpPr>
        <p:grpSpPr>
          <a:xfrm>
            <a:off x="463683" y="3083306"/>
            <a:ext cx="7447128" cy="802654"/>
            <a:chOff x="123933" y="3083306"/>
            <a:chExt cx="7447128" cy="802654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8462" y="3083306"/>
              <a:ext cx="6922599" cy="720598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1E5C954-9EB0-4295-8A57-A1C18E2E4AAE}"/>
                </a:ext>
              </a:extLst>
            </p:cNvPr>
            <p:cNvGrpSpPr/>
            <p:nvPr/>
          </p:nvGrpSpPr>
          <p:grpSpPr>
            <a:xfrm>
              <a:off x="123933" y="3362740"/>
              <a:ext cx="595958" cy="523220"/>
              <a:chOff x="123933" y="3362740"/>
              <a:chExt cx="595958" cy="523220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3B7994C2-E6CD-464C-B239-2E6413259F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3933" y="3530011"/>
                <a:ext cx="237744" cy="297180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C62B9E-9D65-4FB3-B809-4502723EEB47}"/>
                  </a:ext>
                </a:extLst>
              </p:cNvPr>
              <p:cNvSpPr txBox="1"/>
              <p:nvPr/>
            </p:nvSpPr>
            <p:spPr>
              <a:xfrm>
                <a:off x="336453" y="3362740"/>
                <a:ext cx="38343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=</a:t>
                </a:r>
                <a:endParaRPr lang="en-MY" sz="2800" dirty="0"/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348D381-30C3-4626-987E-06A1A9AFF277}"/>
              </a:ext>
            </a:extLst>
          </p:cNvPr>
          <p:cNvSpPr txBox="1"/>
          <p:nvPr/>
        </p:nvSpPr>
        <p:spPr>
          <a:xfrm>
            <a:off x="8616671" y="4650364"/>
            <a:ext cx="3387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Each point represent a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is a huge space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E2F3F6-55E3-42AA-8D45-999B31E39D53}"/>
              </a:ext>
            </a:extLst>
          </p:cNvPr>
          <p:cNvGrpSpPr/>
          <p:nvPr/>
        </p:nvGrpSpPr>
        <p:grpSpPr>
          <a:xfrm>
            <a:off x="701427" y="5728294"/>
            <a:ext cx="10491590" cy="622889"/>
            <a:chOff x="732033" y="6342304"/>
            <a:chExt cx="10491590" cy="622889"/>
          </a:xfrm>
        </p:grpSpPr>
        <p:sp>
          <p:nvSpPr>
            <p:cNvPr id="16" name="TextBox 15"/>
            <p:cNvSpPr txBox="1"/>
            <p:nvPr/>
          </p:nvSpPr>
          <p:spPr>
            <a:xfrm>
              <a:off x="732033" y="6405829"/>
              <a:ext cx="104915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The physical law for each particles MUST not be violated </a:t>
              </a:r>
              <a:r>
                <a:rPr lang="en-US" sz="2400" b="1" dirty="0"/>
                <a:t>⇒        </a:t>
              </a:r>
              <a:r>
                <a:rPr lang="en-US" sz="2400" b="1" dirty="0">
                  <a:solidFill>
                    <a:srgbClr val="FF0000"/>
                  </a:solidFill>
                </a:rPr>
                <a:t> is not arbitrary.</a:t>
              </a: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D9735A35-11D5-453F-AB2C-7477A74DD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025662" y="6342304"/>
              <a:ext cx="867595" cy="622889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16ACDB1-9EE5-4A06-A9C0-F9743FF6AD08}"/>
              </a:ext>
            </a:extLst>
          </p:cNvPr>
          <p:cNvGrpSpPr/>
          <p:nvPr/>
        </p:nvGrpSpPr>
        <p:grpSpPr>
          <a:xfrm>
            <a:off x="839046" y="4041328"/>
            <a:ext cx="6324466" cy="1418003"/>
            <a:chOff x="1965746" y="2492761"/>
            <a:chExt cx="6324466" cy="1418003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FC229BA-7643-42D2-913C-ACFE4032A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94959" y="2492761"/>
              <a:ext cx="1595253" cy="1418003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1772E3-BD97-4614-B266-B77913F726B9}"/>
                </a:ext>
              </a:extLst>
            </p:cNvPr>
            <p:cNvSpPr txBox="1"/>
            <p:nvPr/>
          </p:nvSpPr>
          <p:spPr>
            <a:xfrm>
              <a:off x="1965746" y="2898861"/>
              <a:ext cx="40779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Hamiltonian equation of motion:</a:t>
              </a:r>
              <a:endParaRPr lang="en-MY" sz="24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C27D415-499F-4B93-B9ED-719AEF1E5C7B}"/>
              </a:ext>
            </a:extLst>
          </p:cNvPr>
          <p:cNvGrpSpPr/>
          <p:nvPr/>
        </p:nvGrpSpPr>
        <p:grpSpPr>
          <a:xfrm>
            <a:off x="9396769" y="2811925"/>
            <a:ext cx="2624180" cy="795766"/>
            <a:chOff x="9396769" y="2811925"/>
            <a:chExt cx="2624180" cy="795766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171D08C-DBD7-467A-9FD4-8DD979DFC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478004" y="2811925"/>
              <a:ext cx="712601" cy="51161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0BA3499-5C81-4038-83C3-411309A55F90}"/>
                </a:ext>
              </a:extLst>
            </p:cNvPr>
            <p:cNvSpPr txBox="1"/>
            <p:nvPr/>
          </p:nvSpPr>
          <p:spPr>
            <a:xfrm>
              <a:off x="9396769" y="3238359"/>
              <a:ext cx="26241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Probability distribution?</a:t>
              </a: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392C0347-F2C7-4E12-A15C-A37B2C20CBD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201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883664"/>
            <a:ext cx="2311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Ensemble theory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0192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8600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93851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7368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275229" y="303580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sz="2800" b="1"/>
              <a:t>……</a:t>
            </a:r>
            <a:endParaRPr lang="en-US" sz="2800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B90534-31E8-44ED-AB9D-D2AEFA7FD775}"/>
              </a:ext>
            </a:extLst>
          </p:cNvPr>
          <p:cNvGrpSpPr/>
          <p:nvPr/>
        </p:nvGrpSpPr>
        <p:grpSpPr>
          <a:xfrm>
            <a:off x="1280158" y="1810003"/>
            <a:ext cx="9493935" cy="983621"/>
            <a:chOff x="1280158" y="1810003"/>
            <a:chExt cx="9493935" cy="983621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9466" y="1810003"/>
              <a:ext cx="1403398" cy="355791"/>
            </a:xfrm>
            <a:prstGeom prst="rect">
              <a:avLst/>
            </a:prstGeom>
          </p:spPr>
        </p:pic>
        <p:sp>
          <p:nvSpPr>
            <p:cNvPr id="23" name="Right Brace 22"/>
            <p:cNvSpPr/>
            <p:nvPr/>
          </p:nvSpPr>
          <p:spPr>
            <a:xfrm rot="16200000">
              <a:off x="5798023" y="-2182446"/>
              <a:ext cx="458205" cy="949393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3"/>
          <a:srcRect l="4966" t="-5966"/>
          <a:stretch/>
        </p:blipFill>
        <p:spPr>
          <a:xfrm>
            <a:off x="653289" y="4516143"/>
            <a:ext cx="10983731" cy="31122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0BC6AA2-E84C-4709-81CB-1DF4D732826D}"/>
              </a:ext>
            </a:extLst>
          </p:cNvPr>
          <p:cNvGrpSpPr/>
          <p:nvPr/>
        </p:nvGrpSpPr>
        <p:grpSpPr>
          <a:xfrm>
            <a:off x="1024128" y="2889504"/>
            <a:ext cx="1327339" cy="1418790"/>
            <a:chOff x="1024128" y="2889504"/>
            <a:chExt cx="1327339" cy="1418790"/>
          </a:xfrm>
        </p:grpSpPr>
        <p:sp>
          <p:nvSpPr>
            <p:cNvPr id="8" name="Rectangle 7"/>
            <p:cNvSpPr/>
            <p:nvPr/>
          </p:nvSpPr>
          <p:spPr>
            <a:xfrm>
              <a:off x="1280160" y="2889504"/>
              <a:ext cx="1024128" cy="100584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4128" y="4036231"/>
              <a:ext cx="1327339" cy="27206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55612" y="3353061"/>
              <a:ext cx="699929" cy="315822"/>
            </a:xfrm>
            <a:prstGeom prst="rect">
              <a:avLst/>
            </a:prstGeom>
          </p:spPr>
        </p:pic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7456" y="1036579"/>
            <a:ext cx="1792129" cy="64206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56A7E13-B9D3-41BA-B7C3-BC96D4968B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95898" b="-15815"/>
          <a:stretch/>
        </p:blipFill>
        <p:spPr>
          <a:xfrm>
            <a:off x="494794" y="3284804"/>
            <a:ext cx="474050" cy="340149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DB255F2-F7B9-4A2C-8367-5015ADFC62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9733" y="3181362"/>
            <a:ext cx="1236892" cy="60759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5063106-0886-4030-B6D6-817ADD820E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34042" y="3145668"/>
            <a:ext cx="1276116" cy="62686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97A1F26E-7F60-4DC3-BFC5-DB65F6D304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40507" y="3207860"/>
            <a:ext cx="2130069" cy="62781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BD2CF91-FE61-4559-A3CE-8BE8F966999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68865" y="3216840"/>
            <a:ext cx="2130069" cy="62781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91764" y="1743506"/>
            <a:ext cx="2220810" cy="764542"/>
          </a:xfrm>
          <a:prstGeom prst="rect">
            <a:avLst/>
          </a:prstGeom>
        </p:spPr>
      </p:pic>
      <p:pic>
        <p:nvPicPr>
          <p:cNvPr id="1028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CCA89663-244C-4325-BC83-687CDF80CC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1280160" y="2861715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DB4C35C3-9309-49D8-A1C0-7C77602F51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3053740" y="2852571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17755B68-384F-4FB6-9C25-3FFF983A57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4823684" y="2868068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CE8A057B-1F63-4136-800E-CA5AE9CCE4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7914926" y="2861715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92E54764-763A-4F05-9945-456F29B71E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9703048" y="2855925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D9EEEA-3497-4076-A67B-29D6B858B6A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8561" y="4964438"/>
            <a:ext cx="5128165" cy="54410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CBDE2FE-4377-4E1B-BDAC-9DE696D5359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94503" y="5776027"/>
            <a:ext cx="8631936" cy="3323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545A78E-5FBC-4325-BAEF-23DAE71E945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59724" y="5030436"/>
            <a:ext cx="3659029" cy="534165"/>
          </a:xfrm>
          <a:prstGeom prst="rect">
            <a:avLst/>
          </a:prstGeom>
        </p:spPr>
      </p:pic>
      <p:sp>
        <p:nvSpPr>
          <p:cNvPr id="41" name="Equals 40">
            <a:extLst>
              <a:ext uri="{FF2B5EF4-FFF2-40B4-BE49-F238E27FC236}">
                <a16:creationId xmlns:a16="http://schemas.microsoft.com/office/drawing/2014/main" id="{D0BA15AC-D364-4C0D-B691-421DBB33F292}"/>
              </a:ext>
            </a:extLst>
          </p:cNvPr>
          <p:cNvSpPr/>
          <p:nvPr/>
        </p:nvSpPr>
        <p:spPr>
          <a:xfrm>
            <a:off x="5287947" y="5113302"/>
            <a:ext cx="788276" cy="41559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660162D-EF97-4301-B47B-5390785A26A3}"/>
              </a:ext>
            </a:extLst>
          </p:cNvPr>
          <p:cNvGrpSpPr/>
          <p:nvPr/>
        </p:nvGrpSpPr>
        <p:grpSpPr>
          <a:xfrm>
            <a:off x="2929733" y="2680138"/>
            <a:ext cx="3983131" cy="1869466"/>
            <a:chOff x="2929733" y="2680138"/>
            <a:chExt cx="3983131" cy="186946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F183ABA-04B0-4CBE-A76B-E097BF24E23E}"/>
                </a:ext>
              </a:extLst>
            </p:cNvPr>
            <p:cNvSpPr/>
            <p:nvPr/>
          </p:nvSpPr>
          <p:spPr>
            <a:xfrm>
              <a:off x="2929733" y="2680138"/>
              <a:ext cx="3983131" cy="183253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758B4C1B-DE3B-4989-A530-C3299F1787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 t="1" r="61626" b="-3382"/>
            <a:stretch/>
          </p:blipFill>
          <p:spPr>
            <a:xfrm>
              <a:off x="3407132" y="4075901"/>
              <a:ext cx="1236892" cy="473703"/>
            </a:xfrm>
            <a:prstGeom prst="rect">
              <a:avLst/>
            </a:prstGeom>
          </p:spPr>
        </p:pic>
      </p:grpSp>
      <p:pic>
        <p:nvPicPr>
          <p:cNvPr id="45" name="Graphic 44">
            <a:extLst>
              <a:ext uri="{FF2B5EF4-FFF2-40B4-BE49-F238E27FC236}">
                <a16:creationId xmlns:a16="http://schemas.microsoft.com/office/drawing/2014/main" id="{09C4A188-4EEE-468C-98FB-84972CD3A8B0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36439" t="17458"/>
          <a:stretch/>
        </p:blipFill>
        <p:spPr>
          <a:xfrm>
            <a:off x="4713350" y="4173207"/>
            <a:ext cx="2048732" cy="37821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7BE57C0-0DCE-47FE-8629-FCBB142B210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82096" y="6180125"/>
            <a:ext cx="5290058" cy="34674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71129AA-DB9C-4B22-AC99-F1F139E3CB8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0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form of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86822" y="3338092"/>
            <a:ext cx="2656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Liouville’s</a:t>
            </a:r>
            <a:r>
              <a:rPr lang="en-US" sz="2400" b="1" dirty="0"/>
              <a:t> theorem</a:t>
            </a:r>
            <a:r>
              <a:rPr lang="en-US" sz="2400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421" y="3916028"/>
            <a:ext cx="5758276" cy="101424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76765" y="3907987"/>
            <a:ext cx="5994401" cy="10142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2573" y="5514870"/>
            <a:ext cx="2026626" cy="58547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974" y="5561338"/>
            <a:ext cx="6251393" cy="49253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3074843" y="5471630"/>
            <a:ext cx="6398246" cy="64315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F77533-2AAA-481A-B15E-DE3CCC5C117A}"/>
              </a:ext>
            </a:extLst>
          </p:cNvPr>
          <p:cNvSpPr txBox="1"/>
          <p:nvPr/>
        </p:nvSpPr>
        <p:spPr>
          <a:xfrm>
            <a:off x="9827394" y="4967465"/>
            <a:ext cx="2155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Conserve quantities</a:t>
            </a:r>
            <a:endParaRPr lang="en-MY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C47AFA-E619-4FBF-9A4F-22CA8570FA56}"/>
              </a:ext>
            </a:extLst>
          </p:cNvPr>
          <p:cNvCxnSpPr/>
          <p:nvPr/>
        </p:nvCxnSpPr>
        <p:spPr>
          <a:xfrm flipH="1">
            <a:off x="10299032" y="5336797"/>
            <a:ext cx="96252" cy="224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9A82235-6DA0-4FE5-979F-2615C2702F42}"/>
              </a:ext>
            </a:extLst>
          </p:cNvPr>
          <p:cNvSpPr txBox="1"/>
          <p:nvPr/>
        </p:nvSpPr>
        <p:spPr>
          <a:xfrm>
            <a:off x="9258233" y="6331363"/>
            <a:ext cx="2705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N, V, total momentum, …</a:t>
            </a:r>
            <a:endParaRPr lang="en-MY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E4C41D-4BC8-41D5-9756-8686D16A454E}"/>
              </a:ext>
            </a:extLst>
          </p:cNvPr>
          <p:cNvGrpSpPr/>
          <p:nvPr/>
        </p:nvGrpSpPr>
        <p:grpSpPr>
          <a:xfrm>
            <a:off x="2539131" y="1861953"/>
            <a:ext cx="6768498" cy="1812698"/>
            <a:chOff x="1965746" y="2492761"/>
            <a:chExt cx="6768498" cy="1812698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EBF7BCA-AD79-4E73-AFEE-BF7A32982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94959" y="2492761"/>
              <a:ext cx="2039285" cy="181269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808A727-5201-4370-9504-121061A151FB}"/>
                </a:ext>
              </a:extLst>
            </p:cNvPr>
            <p:cNvSpPr txBox="1"/>
            <p:nvPr/>
          </p:nvSpPr>
          <p:spPr>
            <a:xfrm>
              <a:off x="1965746" y="3129693"/>
              <a:ext cx="40779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Hamiltonian equation of motion:</a:t>
              </a:r>
              <a:endParaRPr lang="en-MY" sz="2400" dirty="0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BC624B06-D63D-4010-B436-1D6B544BAD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703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322285" y="1702275"/>
            <a:ext cx="3925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Microcanonical ensemble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424" y="3423158"/>
            <a:ext cx="3004463" cy="49052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95ECD2A-23FA-4EF5-9997-2EBFA811F9DC}"/>
              </a:ext>
            </a:extLst>
          </p:cNvPr>
          <p:cNvGrpSpPr/>
          <p:nvPr/>
        </p:nvGrpSpPr>
        <p:grpSpPr>
          <a:xfrm>
            <a:off x="780422" y="2353597"/>
            <a:ext cx="1499616" cy="1589468"/>
            <a:chOff x="1719072" y="2580196"/>
            <a:chExt cx="1499616" cy="1589468"/>
          </a:xfrm>
        </p:grpSpPr>
        <p:sp>
          <p:nvSpPr>
            <p:cNvPr id="5" name="Rectangle 4"/>
            <p:cNvSpPr/>
            <p:nvPr/>
          </p:nvSpPr>
          <p:spPr>
            <a:xfrm>
              <a:off x="1719072" y="2580196"/>
              <a:ext cx="1499616" cy="158946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70012" y="3737109"/>
              <a:ext cx="699929" cy="315822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88045" y="2641865"/>
              <a:ext cx="311658" cy="28857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CE1A41A-F677-4693-A84A-7339F417E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58868" y="3410433"/>
              <a:ext cx="1251551" cy="25652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 models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6416" y="2543280"/>
            <a:ext cx="3904936" cy="68651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0026" y="2334450"/>
            <a:ext cx="1426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Conserve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D27659-FC1C-40BF-9D73-658E2C037F32}"/>
              </a:ext>
            </a:extLst>
          </p:cNvPr>
          <p:cNvGrpSpPr/>
          <p:nvPr/>
        </p:nvGrpSpPr>
        <p:grpSpPr>
          <a:xfrm>
            <a:off x="323381" y="4241309"/>
            <a:ext cx="5524308" cy="2617506"/>
            <a:chOff x="323381" y="4241309"/>
            <a:chExt cx="5524308" cy="2617506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DB90B6A-DBA5-445D-B059-E4EC2E638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1630" y="4823088"/>
              <a:ext cx="2834185" cy="1995905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0D1D9D4-DB58-4963-8CC6-3A125C1BD105}"/>
                </a:ext>
              </a:extLst>
            </p:cNvPr>
            <p:cNvSpPr txBox="1"/>
            <p:nvPr/>
          </p:nvSpPr>
          <p:spPr>
            <a:xfrm>
              <a:off x="323381" y="4241309"/>
              <a:ext cx="31268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Canonical ensemble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2B155E8-9D9A-497D-93CD-3AE74BCA06CF}"/>
                </a:ext>
              </a:extLst>
            </p:cNvPr>
            <p:cNvGrpSpPr/>
            <p:nvPr/>
          </p:nvGrpSpPr>
          <p:grpSpPr>
            <a:xfrm>
              <a:off x="2266771" y="4842735"/>
              <a:ext cx="1539302" cy="774348"/>
              <a:chOff x="2848295" y="4589372"/>
              <a:chExt cx="1539302" cy="774348"/>
            </a:xfrm>
          </p:grpSpPr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56269646-4C05-4637-9F01-1B0DCE6EC1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48295" y="5075148"/>
                <a:ext cx="311658" cy="288572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935CA3B-59DF-4C03-828F-F6EE330E3FC4}"/>
                  </a:ext>
                </a:extLst>
              </p:cNvPr>
              <p:cNvSpPr txBox="1"/>
              <p:nvPr/>
            </p:nvSpPr>
            <p:spPr>
              <a:xfrm>
                <a:off x="3159953" y="4589372"/>
                <a:ext cx="12276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Fluctuate</a:t>
                </a:r>
                <a:endParaRPr lang="en-MY" sz="2000" dirty="0"/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0711C1BB-CF5B-4BE3-83F2-C2E86561BE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59953" y="4934124"/>
                <a:ext cx="372519" cy="20551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856B5DD3-E657-409A-B85A-2C27F2550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81018" y="4894067"/>
              <a:ext cx="2566671" cy="942196"/>
            </a:xfrm>
            <a:prstGeom prst="rect">
              <a:avLst/>
            </a:prstGeom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E621632-92EA-4B70-815A-4AA35B26F0D2}"/>
                </a:ext>
              </a:extLst>
            </p:cNvPr>
            <p:cNvGrpSpPr/>
            <p:nvPr/>
          </p:nvGrpSpPr>
          <p:grpSpPr>
            <a:xfrm>
              <a:off x="3346161" y="5769860"/>
              <a:ext cx="2465891" cy="1088955"/>
              <a:chOff x="8292901" y="5866320"/>
              <a:chExt cx="2465891" cy="108895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5D8AB1CE-57B3-472E-ABFC-ECDB77D54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92901" y="6055950"/>
                <a:ext cx="2465891" cy="899325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48654D8-3D02-4CBD-8F80-2F20C5A4F6DE}"/>
                  </a:ext>
                </a:extLst>
              </p:cNvPr>
              <p:cNvSpPr txBox="1"/>
              <p:nvPr/>
            </p:nvSpPr>
            <p:spPr>
              <a:xfrm>
                <a:off x="8292901" y="5866320"/>
                <a:ext cx="19747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Partition function</a:t>
                </a:r>
              </a:p>
            </p:txBody>
          </p:sp>
        </p:grpSp>
      </p:grpSp>
      <p:pic>
        <p:nvPicPr>
          <p:cNvPr id="48" name="Graphic 47">
            <a:extLst>
              <a:ext uri="{FF2B5EF4-FFF2-40B4-BE49-F238E27FC236}">
                <a16:creationId xmlns:a16="http://schemas.microsoft.com/office/drawing/2014/main" id="{2DC0E490-EF0B-47C2-A02C-20BF708193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3009" y="3480004"/>
            <a:ext cx="803780" cy="51352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3AF506F-FCE2-41E8-8BA8-2A9FBED302A2}"/>
              </a:ext>
            </a:extLst>
          </p:cNvPr>
          <p:cNvGrpSpPr/>
          <p:nvPr/>
        </p:nvGrpSpPr>
        <p:grpSpPr>
          <a:xfrm>
            <a:off x="6538348" y="1854892"/>
            <a:ext cx="5506432" cy="2324218"/>
            <a:chOff x="6538348" y="1854892"/>
            <a:chExt cx="5506432" cy="2324218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4A2ED609-CAAE-473C-B68F-26458086E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538348" y="2322690"/>
              <a:ext cx="2398489" cy="1537962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ABE2DE1-E268-42E4-B93F-04E16F3BF1E8}"/>
                </a:ext>
              </a:extLst>
            </p:cNvPr>
            <p:cNvSpPr txBox="1"/>
            <p:nvPr/>
          </p:nvSpPr>
          <p:spPr>
            <a:xfrm>
              <a:off x="6680294" y="1854892"/>
              <a:ext cx="40407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Gibbs Canonical ensemble</a:t>
              </a: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B747E92-7645-43A8-87BD-EE93A52B4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798058" y="3582639"/>
              <a:ext cx="2546471" cy="596471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362F0BFD-7CD8-4A7A-B576-DD873AB180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700687" y="3238344"/>
              <a:ext cx="2340281" cy="374445"/>
            </a:xfrm>
            <a:prstGeom prst="rect">
              <a:avLst/>
            </a:prstGeom>
          </p:spPr>
        </p:pic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237F1F20-2608-412D-8A6B-F212EB43F9D0}"/>
                </a:ext>
              </a:extLst>
            </p:cNvPr>
            <p:cNvGrpSpPr/>
            <p:nvPr/>
          </p:nvGrpSpPr>
          <p:grpSpPr>
            <a:xfrm>
              <a:off x="8485730" y="2357575"/>
              <a:ext cx="3559050" cy="732256"/>
              <a:chOff x="8615112" y="2309623"/>
              <a:chExt cx="3559050" cy="732256"/>
            </a:xfrm>
          </p:grpSpPr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44AE8646-6D1D-4018-A06C-CFA2E128A3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/>
              <a:srcRect t="1" r="75333" b="-35526"/>
              <a:stretch/>
            </p:blipFill>
            <p:spPr>
              <a:xfrm>
                <a:off x="8615112" y="2489815"/>
                <a:ext cx="1150546" cy="461665"/>
              </a:xfrm>
              <a:prstGeom prst="rect">
                <a:avLst/>
              </a:prstGeom>
            </p:spPr>
          </p:pic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A77FE080-F8D1-4DBB-8C06-09567A3BA5D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/>
              <a:srcRect l="23849" t="-9922" r="24729" b="-12280"/>
              <a:stretch/>
            </p:blipFill>
            <p:spPr>
              <a:xfrm>
                <a:off x="9775673" y="2309623"/>
                <a:ext cx="2398489" cy="416275"/>
              </a:xfrm>
              <a:prstGeom prst="rect">
                <a:avLst/>
              </a:prstGeom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A54F856C-EC98-40A8-84E9-5D80D378BD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/>
              <a:srcRect l="78319" t="-32339" r="-820" b="-2015"/>
              <a:stretch/>
            </p:blipFill>
            <p:spPr>
              <a:xfrm>
                <a:off x="10675388" y="2584211"/>
                <a:ext cx="1049517" cy="457668"/>
              </a:xfrm>
              <a:prstGeom prst="rect">
                <a:avLst/>
              </a:prstGeom>
            </p:spPr>
          </p:pic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7E6C7CA0-B25A-46B2-97A8-7C5AC5B896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75673" y="2614011"/>
                <a:ext cx="23984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0420666-8C15-4943-A637-09E8C90C3B9B}"/>
              </a:ext>
            </a:extLst>
          </p:cNvPr>
          <p:cNvGrpSpPr/>
          <p:nvPr/>
        </p:nvGrpSpPr>
        <p:grpSpPr>
          <a:xfrm>
            <a:off x="5761817" y="4192834"/>
            <a:ext cx="6218655" cy="2474679"/>
            <a:chOff x="5761817" y="4192834"/>
            <a:chExt cx="6218655" cy="2474679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E0B74EE1-8E35-4977-B120-AF15FA4CE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999610" y="4716239"/>
              <a:ext cx="2655342" cy="1951274"/>
            </a:xfrm>
            <a:prstGeom prst="rect">
              <a:avLst/>
            </a:prstGeom>
          </p:spPr>
        </p:pic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653AFEF-BF01-4ED1-8374-D977452D991E}"/>
                </a:ext>
              </a:extLst>
            </p:cNvPr>
            <p:cNvGrpSpPr/>
            <p:nvPr/>
          </p:nvGrpSpPr>
          <p:grpSpPr>
            <a:xfrm>
              <a:off x="8583812" y="5769860"/>
              <a:ext cx="3396660" cy="876478"/>
              <a:chOff x="3969323" y="4684043"/>
              <a:chExt cx="3396660" cy="876478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D9AD4A5F-7A1C-4FDE-9A31-10565BD72C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98568" y="4910645"/>
                <a:ext cx="3067415" cy="649876"/>
              </a:xfrm>
              <a:prstGeom prst="rect">
                <a:avLst/>
              </a:prstGeom>
            </p:spPr>
          </p:pic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1B98A31-DA84-446A-9A48-B990D5321DCC}"/>
                  </a:ext>
                </a:extLst>
              </p:cNvPr>
              <p:cNvSpPr txBox="1"/>
              <p:nvPr/>
            </p:nvSpPr>
            <p:spPr>
              <a:xfrm>
                <a:off x="3969323" y="4684043"/>
                <a:ext cx="2655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Grand Partition function</a:t>
                </a:r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2D19A14-1FB8-4C76-BA0E-389FB9C4AC2B}"/>
                </a:ext>
              </a:extLst>
            </p:cNvPr>
            <p:cNvSpPr txBox="1"/>
            <p:nvPr/>
          </p:nvSpPr>
          <p:spPr>
            <a:xfrm>
              <a:off x="5761817" y="4192834"/>
              <a:ext cx="41090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Grand Canonical ensemble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41E9935-244E-440E-9BC3-5C0A073A0400}"/>
                </a:ext>
              </a:extLst>
            </p:cNvPr>
            <p:cNvGrpSpPr/>
            <p:nvPr/>
          </p:nvGrpSpPr>
          <p:grpSpPr>
            <a:xfrm>
              <a:off x="8605113" y="4665923"/>
              <a:ext cx="3288503" cy="1011084"/>
              <a:chOff x="8903497" y="4665923"/>
              <a:chExt cx="3288503" cy="1011084"/>
            </a:xfrm>
          </p:grpSpPr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82EE60B8-8EA1-4F4A-A940-EF524687C1E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8"/>
              <a:srcRect r="76349"/>
              <a:stretch/>
            </p:blipFill>
            <p:spPr>
              <a:xfrm>
                <a:off x="8903497" y="4909061"/>
                <a:ext cx="833421" cy="418924"/>
              </a:xfrm>
              <a:prstGeom prst="rect">
                <a:avLst/>
              </a:prstGeom>
            </p:spPr>
          </p:pic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A61A845F-4824-4ECA-BC46-8250A28E28E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8"/>
              <a:srcRect l="23680" t="-7266" r="8257" b="16681"/>
              <a:stretch/>
            </p:blipFill>
            <p:spPr>
              <a:xfrm>
                <a:off x="9736918" y="4665923"/>
                <a:ext cx="2398489" cy="379482"/>
              </a:xfrm>
              <a:prstGeom prst="rect">
                <a:avLst/>
              </a:prstGeom>
            </p:spPr>
          </p:pic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C9CAB243-8372-4DFA-87BC-AF9E94C258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93511" y="5064162"/>
                <a:ext cx="23984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A51C8AC8-BE49-433B-8BCE-D91DA68385E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/>
              <a:srcRect r="65785" b="8218"/>
              <a:stretch/>
            </p:blipFill>
            <p:spPr>
              <a:xfrm>
                <a:off x="10563639" y="5080536"/>
                <a:ext cx="1049518" cy="596471"/>
              </a:xfrm>
              <a:prstGeom prst="rect">
                <a:avLst/>
              </a:prstGeom>
            </p:spPr>
          </p:pic>
        </p:grp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E4FD23FF-4366-4DB0-8425-B06E225840F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19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between ensemble models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62" y="2009000"/>
            <a:ext cx="7958918" cy="209192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1C48E0D-A597-426D-BCEF-B080EA81D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265" y="5888604"/>
            <a:ext cx="1701709" cy="70229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F9D82A9-3748-48EC-AFC0-584C4189B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170" y="3929102"/>
            <a:ext cx="1832059" cy="32212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210E5ED-A865-457B-8688-5F65A0705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9064" y="5529339"/>
            <a:ext cx="1832059" cy="32184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0B48F69-4177-49A4-966C-939400259E71}"/>
              </a:ext>
            </a:extLst>
          </p:cNvPr>
          <p:cNvGrpSpPr/>
          <p:nvPr/>
        </p:nvGrpSpPr>
        <p:grpSpPr>
          <a:xfrm>
            <a:off x="2961205" y="5968691"/>
            <a:ext cx="1459988" cy="738294"/>
            <a:chOff x="8580652" y="3243080"/>
            <a:chExt cx="1459988" cy="738294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E5A29724-2451-499D-955E-3BB05FAC56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86475"/>
            <a:stretch/>
          </p:blipFill>
          <p:spPr>
            <a:xfrm>
              <a:off x="8580652" y="3243081"/>
              <a:ext cx="729994" cy="738293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B56EE30-CC54-43D4-BCBA-3ADC0C7367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86475"/>
            <a:stretch/>
          </p:blipFill>
          <p:spPr>
            <a:xfrm>
              <a:off x="9310646" y="3243080"/>
              <a:ext cx="729994" cy="73829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E85D330-62F2-42D4-8398-102ED45DFE79}"/>
              </a:ext>
            </a:extLst>
          </p:cNvPr>
          <p:cNvSpPr txBox="1"/>
          <p:nvPr/>
        </p:nvSpPr>
        <p:spPr>
          <a:xfrm>
            <a:off x="413886" y="3958512"/>
            <a:ext cx="181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Gibbs Canonical</a:t>
            </a:r>
            <a:endParaRPr lang="en-MY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2167FAFE-D2B4-4616-A65C-47D836EBA4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6413" y="3910825"/>
            <a:ext cx="788621" cy="49069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76F2EBCB-795F-48B7-855F-9548A8122B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71916" y="3999506"/>
            <a:ext cx="2231603" cy="388105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296F90A3-E3BB-43E9-B1F1-A12EC899FF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50694" y="4434201"/>
            <a:ext cx="2323673" cy="41707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193AE23-BD58-49AD-BAC3-508A5D46B61E}"/>
              </a:ext>
            </a:extLst>
          </p:cNvPr>
          <p:cNvSpPr txBox="1"/>
          <p:nvPr/>
        </p:nvSpPr>
        <p:spPr>
          <a:xfrm>
            <a:off x="420528" y="4431203"/>
            <a:ext cx="1867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Grand Canonical</a:t>
            </a:r>
            <a:endParaRPr lang="en-MY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3E4E4AEB-1558-464D-8D5D-DA424D8A2D8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06957" y="4431203"/>
            <a:ext cx="1076476" cy="47843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B542344-ABDC-4A1B-8163-FE4EEA9526E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9030" y="4383354"/>
            <a:ext cx="2531407" cy="536315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0311A117-776A-404C-B1E6-1BF549661620}"/>
              </a:ext>
            </a:extLst>
          </p:cNvPr>
          <p:cNvGrpSpPr/>
          <p:nvPr/>
        </p:nvGrpSpPr>
        <p:grpSpPr>
          <a:xfrm>
            <a:off x="8443741" y="5394650"/>
            <a:ext cx="2775974" cy="828915"/>
            <a:chOff x="7779806" y="5487521"/>
            <a:chExt cx="2775974" cy="828915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8D80917-F0D2-40CF-A6FC-3DEF57DD7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943700" y="6092343"/>
              <a:ext cx="1701709" cy="22409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209DC4-69FE-40E7-9B61-B18119C79C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/>
            <a:srcRect r="32626"/>
            <a:stretch/>
          </p:blipFill>
          <p:spPr>
            <a:xfrm>
              <a:off x="7779806" y="5487521"/>
              <a:ext cx="2775974" cy="494432"/>
            </a:xfrm>
            <a:prstGeom prst="rect">
              <a:avLst/>
            </a:prstGeom>
          </p:spPr>
        </p:pic>
      </p:grpSp>
      <p:pic>
        <p:nvPicPr>
          <p:cNvPr id="54" name="Graphic 53">
            <a:extLst>
              <a:ext uri="{FF2B5EF4-FFF2-40B4-BE49-F238E27FC236}">
                <a16:creationId xmlns:a16="http://schemas.microsoft.com/office/drawing/2014/main" id="{28780D82-5464-41EF-8C11-8481A6D0D4F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464504" y="6189694"/>
            <a:ext cx="1401030" cy="708386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41F5ADAA-735A-4779-97DF-9169B3166BD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934780" y="5532577"/>
            <a:ext cx="1511875" cy="417069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79F944D7-58B3-4563-A388-0C74D4C085BD}"/>
              </a:ext>
            </a:extLst>
          </p:cNvPr>
          <p:cNvSpPr txBox="1"/>
          <p:nvPr/>
        </p:nvSpPr>
        <p:spPr>
          <a:xfrm>
            <a:off x="3209899" y="5199334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Canonical</a:t>
            </a:r>
            <a:endParaRPr lang="en-MY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401B50-5246-45DD-8DB9-545680EEF188}"/>
              </a:ext>
            </a:extLst>
          </p:cNvPr>
          <p:cNvSpPr txBox="1"/>
          <p:nvPr/>
        </p:nvSpPr>
        <p:spPr>
          <a:xfrm>
            <a:off x="5719064" y="5107312"/>
            <a:ext cx="181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Gibbs Canonical</a:t>
            </a:r>
            <a:endParaRPr lang="en-MY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2EFA9F-4B38-47B2-93EC-8A784FE3151D}"/>
              </a:ext>
            </a:extLst>
          </p:cNvPr>
          <p:cNvSpPr txBox="1"/>
          <p:nvPr/>
        </p:nvSpPr>
        <p:spPr>
          <a:xfrm>
            <a:off x="8452471" y="5051801"/>
            <a:ext cx="1867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Grand Canonical</a:t>
            </a:r>
            <a:endParaRPr lang="en-MY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8DB79F3-1345-48A9-9822-10FB17013B66}"/>
              </a:ext>
            </a:extLst>
          </p:cNvPr>
          <p:cNvSpPr txBox="1"/>
          <p:nvPr/>
        </p:nvSpPr>
        <p:spPr>
          <a:xfrm>
            <a:off x="171682" y="4851271"/>
            <a:ext cx="369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Connection to thermodynamics:</a:t>
            </a:r>
            <a:endParaRPr lang="en-MY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D46C30-62DC-46F6-813F-AC4B4F4F595F}"/>
              </a:ext>
            </a:extLst>
          </p:cNvPr>
          <p:cNvSpPr txBox="1"/>
          <p:nvPr/>
        </p:nvSpPr>
        <p:spPr>
          <a:xfrm>
            <a:off x="231017" y="5172408"/>
            <a:ext cx="1731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Microcanonical</a:t>
            </a:r>
            <a:endParaRPr lang="en-MY" dirty="0"/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CDDE88A7-6762-4566-B88E-5ED1AAE9DB1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32510" y="5666080"/>
            <a:ext cx="1017085" cy="6942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A3F79AB-562D-4429-8616-E9ADF1F5837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106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6395-29FB-4274-AE0F-9BBCB925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Connection to Thermodynamics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534AC5-366E-4E22-B290-5FBEB6557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172" y="2231564"/>
            <a:ext cx="7010846" cy="29519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610057-BDDB-4168-96D6-B0D03E955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25" y="2948463"/>
            <a:ext cx="1832059" cy="3218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5D6840-53DE-44A8-A8C8-82A3906394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2626"/>
          <a:stretch/>
        </p:blipFill>
        <p:spPr>
          <a:xfrm>
            <a:off x="434477" y="3440430"/>
            <a:ext cx="2775974" cy="49443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2397095-8C6D-46E6-95B3-B6CC5E6E97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980" y="2316104"/>
            <a:ext cx="1511875" cy="4170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7ECA58-D25B-4226-A98C-5B18A84A8F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747" y="4442267"/>
            <a:ext cx="1625334" cy="59595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7724081-E582-43E7-AAFD-8CB7307735AA}"/>
              </a:ext>
            </a:extLst>
          </p:cNvPr>
          <p:cNvSpPr txBox="1"/>
          <p:nvPr/>
        </p:nvSpPr>
        <p:spPr>
          <a:xfrm>
            <a:off x="182880" y="4186897"/>
            <a:ext cx="1154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First Law: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2DA640E9-FA0F-4BDB-8FF9-F06246ABBA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71939" y="4442267"/>
            <a:ext cx="1247286" cy="44902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E0E1B71-D0B8-4D8E-B989-1CB93BFEB0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07779" y="2231564"/>
            <a:ext cx="635117" cy="43550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D3676B8-7678-4217-B747-E493AF76F84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2589" y="5337009"/>
            <a:ext cx="2590355" cy="41723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ADC58D3-A4D0-4194-8C8E-9E8F3D3BAA5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0185" y="5719835"/>
            <a:ext cx="1890659" cy="47708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B4DDD98-2A43-438C-9817-4A1616CD8DC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89017" y="5399901"/>
            <a:ext cx="4170041" cy="477081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EE543E1-DF5B-4256-9957-093099CA74C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82665" y="6196917"/>
            <a:ext cx="1303314" cy="42932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BF28AB5-E639-4BFF-B39B-B0C62D5206F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714372" y="6076918"/>
            <a:ext cx="2221687" cy="6680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71FB41E-2147-4A1B-9828-6B10B56C00EA}"/>
              </a:ext>
            </a:extLst>
          </p:cNvPr>
          <p:cNvSpPr txBox="1"/>
          <p:nvPr/>
        </p:nvSpPr>
        <p:spPr>
          <a:xfrm>
            <a:off x="9625337" y="5505990"/>
            <a:ext cx="1842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Sign convention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25CD0DB1-0974-4B4B-9CA4-742645276C5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665302" y="5873044"/>
            <a:ext cx="1762626" cy="45760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556F1A2-B008-4529-AFC2-051BBA343A66}"/>
              </a:ext>
            </a:extLst>
          </p:cNvPr>
          <p:cNvSpPr txBox="1"/>
          <p:nvPr/>
        </p:nvSpPr>
        <p:spPr>
          <a:xfrm>
            <a:off x="9942896" y="6306233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(Clausius)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60F27CF-EDF9-4F55-A0E5-00300C1E546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055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5146" y="2864477"/>
            <a:ext cx="994170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derive the laws of thermodynamics from statistical ensemble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Ideal gas (non-interaction), 2-level system, different ensemble models give the same thermodynamics result.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Gibbs paradox: correction factor for identical particles.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Virial theorem: Generalized equipartition of energy.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Interaction and phase transition: van der Waal gas and </a:t>
            </a:r>
            <a:r>
              <a:rPr lang="en-US" sz="2400" dirty="0" err="1"/>
              <a:t>Ising</a:t>
            </a:r>
            <a:r>
              <a:rPr lang="en-US" sz="2400" dirty="0"/>
              <a:t>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Mean-field method and Landau Free energy.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5DDAE0-FB5A-4B16-A8DA-C4EBD2E78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307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Statistical formalism in quantum system.</a:t>
            </a:r>
          </a:p>
          <a:p>
            <a:endParaRPr lang="en-US" dirty="0"/>
          </a:p>
          <a:p>
            <a:r>
              <a:rPr lang="en-US" dirty="0"/>
              <a:t>Lecturer: Kok Wee Song</a:t>
            </a:r>
          </a:p>
        </p:txBody>
      </p:sp>
    </p:spTree>
    <p:extLst>
      <p:ext uri="{BB962C8B-B14F-4D97-AF65-F5344CB8AC3E}">
        <p14:creationId xmlns:p14="http://schemas.microsoft.com/office/powerpoint/2010/main" val="596437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F364-E66F-4D90-8496-04D690E2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74706"/>
            <a:ext cx="9720072" cy="1499616"/>
          </a:xfrm>
        </p:spPr>
        <p:txBody>
          <a:bodyPr/>
          <a:lstStyle/>
          <a:p>
            <a:r>
              <a:rPr lang="en-MY" dirty="0"/>
              <a:t>Quantum regime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0288C17-F108-4CCB-A597-50C7BC7B9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3852" y="2858810"/>
            <a:ext cx="1016875" cy="91095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61C70A9-4BCC-4689-8709-767AD45E07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897" y="2952690"/>
            <a:ext cx="1597160" cy="8077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41C2D1-3152-44D2-AA9F-954C0D3C7D9E}"/>
              </a:ext>
            </a:extLst>
          </p:cNvPr>
          <p:cNvSpPr txBox="1"/>
          <p:nvPr/>
        </p:nvSpPr>
        <p:spPr>
          <a:xfrm>
            <a:off x="492897" y="2480166"/>
            <a:ext cx="2279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Statistical mechanics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39EE1B-79E9-403B-BA02-ABC5F4761ECE}"/>
              </a:ext>
            </a:extLst>
          </p:cNvPr>
          <p:cNvSpPr txBox="1"/>
          <p:nvPr/>
        </p:nvSpPr>
        <p:spPr>
          <a:xfrm>
            <a:off x="2995338" y="2489478"/>
            <a:ext cx="227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Quantum mechanics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689E37E-7C9C-4DE5-89B9-F9ABECCF68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70" y="2603129"/>
            <a:ext cx="1937522" cy="102688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8CCABB4-674D-4F16-A726-FD626DCF3E15}"/>
              </a:ext>
            </a:extLst>
          </p:cNvPr>
          <p:cNvGrpSpPr/>
          <p:nvPr/>
        </p:nvGrpSpPr>
        <p:grpSpPr>
          <a:xfrm>
            <a:off x="4430727" y="4334125"/>
            <a:ext cx="2442528" cy="1206073"/>
            <a:chOff x="4430727" y="4334125"/>
            <a:chExt cx="2442528" cy="1206073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51FC9EA7-8918-4B82-B99B-F6D4BD244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74908" y="4629247"/>
              <a:ext cx="1377019" cy="910951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288D813-465F-4413-A62E-ACCB10918D2E}"/>
                </a:ext>
              </a:extLst>
            </p:cNvPr>
            <p:cNvSpPr txBox="1"/>
            <p:nvPr/>
          </p:nvSpPr>
          <p:spPr>
            <a:xfrm>
              <a:off x="4430727" y="4334125"/>
              <a:ext cx="2442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Inter-particle distance 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F8298BC-8B24-4E67-BEAD-20335E532797}"/>
              </a:ext>
            </a:extLst>
          </p:cNvPr>
          <p:cNvGrpSpPr/>
          <p:nvPr/>
        </p:nvGrpSpPr>
        <p:grpSpPr>
          <a:xfrm>
            <a:off x="656225" y="4357042"/>
            <a:ext cx="3623043" cy="941812"/>
            <a:chOff x="656225" y="4357042"/>
            <a:chExt cx="3623043" cy="941812"/>
          </a:xfrm>
        </p:grpSpPr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3B4E63F4-456C-438E-93B1-682CE24B6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854369" y="4777806"/>
              <a:ext cx="907010" cy="521048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056327D-A110-4B3B-82CC-8A2348F30EF5}"/>
                </a:ext>
              </a:extLst>
            </p:cNvPr>
            <p:cNvSpPr txBox="1"/>
            <p:nvPr/>
          </p:nvSpPr>
          <p:spPr>
            <a:xfrm>
              <a:off x="656225" y="4357042"/>
              <a:ext cx="362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Condition for quantum statistic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A87E5BC-E4F5-43E4-BF89-E5BAEF660BCA}"/>
              </a:ext>
            </a:extLst>
          </p:cNvPr>
          <p:cNvGrpSpPr/>
          <p:nvPr/>
        </p:nvGrpSpPr>
        <p:grpSpPr>
          <a:xfrm>
            <a:off x="1761896" y="5647626"/>
            <a:ext cx="9037602" cy="1196467"/>
            <a:chOff x="1761896" y="5647626"/>
            <a:chExt cx="9037602" cy="1196467"/>
          </a:xfrm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666E6C09-06AA-43C3-A1A1-D9DA7D225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085454" y="5647626"/>
              <a:ext cx="2250577" cy="82713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12522F-EB3A-41E6-BE0A-93726770AC00}"/>
                </a:ext>
              </a:extLst>
            </p:cNvPr>
            <p:cNvSpPr txBox="1"/>
            <p:nvPr/>
          </p:nvSpPr>
          <p:spPr>
            <a:xfrm>
              <a:off x="1761896" y="6474761"/>
              <a:ext cx="90376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Classical statistical mechanics breakdown in very low temperature or high-density system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C013DE9-8CDC-4469-B42D-643078FAE61D}"/>
              </a:ext>
            </a:extLst>
          </p:cNvPr>
          <p:cNvSpPr txBox="1"/>
          <p:nvPr/>
        </p:nvSpPr>
        <p:spPr>
          <a:xfrm>
            <a:off x="6280697" y="3751176"/>
            <a:ext cx="529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The average de Broglie wave length of each particles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DF9F2B7-F2AC-4995-857E-EE7C7E66849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32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D28D8-DF5E-44AF-97C8-CB6CDD312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Classical vs Quantum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0A3A68-0CDF-4B5F-AFFC-7533437272D2}"/>
              </a:ext>
            </a:extLst>
          </p:cNvPr>
          <p:cNvGrpSpPr/>
          <p:nvPr/>
        </p:nvGrpSpPr>
        <p:grpSpPr>
          <a:xfrm>
            <a:off x="119374" y="2084832"/>
            <a:ext cx="4077911" cy="1900546"/>
            <a:chOff x="781839" y="2814712"/>
            <a:chExt cx="4077911" cy="190054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325BB4E-02C3-41F5-9C75-1418F8AF7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42454" y="3297255"/>
              <a:ext cx="1595253" cy="141800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5B3B394-EB12-4351-AB42-F6DB614C0C60}"/>
                </a:ext>
              </a:extLst>
            </p:cNvPr>
            <p:cNvSpPr txBox="1"/>
            <p:nvPr/>
          </p:nvSpPr>
          <p:spPr>
            <a:xfrm>
              <a:off x="781839" y="2814712"/>
              <a:ext cx="40779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Hamiltonian equation of motion:</a:t>
              </a:r>
              <a:endParaRPr lang="en-MY" sz="24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84E5C31-43F7-4EDB-BB7A-8465B0124166}"/>
              </a:ext>
            </a:extLst>
          </p:cNvPr>
          <p:cNvGrpSpPr/>
          <p:nvPr/>
        </p:nvGrpSpPr>
        <p:grpSpPr>
          <a:xfrm>
            <a:off x="5785701" y="1760274"/>
            <a:ext cx="3387176" cy="2513344"/>
            <a:chOff x="7454138" y="1880092"/>
            <a:chExt cx="4449103" cy="343576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51086BB-7937-4654-A6B7-9F7AD48CE747}"/>
                </a:ext>
              </a:extLst>
            </p:cNvPr>
            <p:cNvGrpSpPr/>
            <p:nvPr/>
          </p:nvGrpSpPr>
          <p:grpSpPr>
            <a:xfrm>
              <a:off x="7454138" y="1880092"/>
              <a:ext cx="4449103" cy="3435767"/>
              <a:chOff x="7454138" y="1880092"/>
              <a:chExt cx="4449103" cy="3435767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84942760-16C2-4C56-8B57-16D250FC88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78724" y="2041344"/>
                <a:ext cx="3332988" cy="3274515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5BC5C3-5804-4BEB-8834-B4788F8F8058}"/>
                  </a:ext>
                </a:extLst>
              </p:cNvPr>
              <p:cNvSpPr txBox="1"/>
              <p:nvPr/>
            </p:nvSpPr>
            <p:spPr>
              <a:xfrm>
                <a:off x="7454138" y="1880092"/>
                <a:ext cx="4449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Phase space</a:t>
                </a:r>
                <a:r>
                  <a:rPr lang="en-US" dirty="0"/>
                  <a:t>: collection of all available states</a:t>
                </a:r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9C8AC5A-8160-4E11-B5B2-FD01CB9B9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97696" y="4498848"/>
              <a:ext cx="1761488" cy="21717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AD2046C-3388-491E-A70A-B4FAFB683213}"/>
              </a:ext>
            </a:extLst>
          </p:cNvPr>
          <p:cNvSpPr txBox="1"/>
          <p:nvPr/>
        </p:nvSpPr>
        <p:spPr>
          <a:xfrm>
            <a:off x="8775133" y="2547859"/>
            <a:ext cx="3387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Each point represent a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is a huge space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2A54DCB-01B9-4C13-9309-4075528331D9}"/>
              </a:ext>
            </a:extLst>
          </p:cNvPr>
          <p:cNvGrpSpPr/>
          <p:nvPr/>
        </p:nvGrpSpPr>
        <p:grpSpPr>
          <a:xfrm>
            <a:off x="203288" y="4442047"/>
            <a:ext cx="3289601" cy="1513103"/>
            <a:chOff x="203288" y="4442047"/>
            <a:chExt cx="3289601" cy="151310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F4707D-DE0E-49FB-8547-5F7FA058227A}"/>
                </a:ext>
              </a:extLst>
            </p:cNvPr>
            <p:cNvSpPr txBox="1"/>
            <p:nvPr/>
          </p:nvSpPr>
          <p:spPr>
            <a:xfrm>
              <a:off x="203288" y="4442047"/>
              <a:ext cx="32896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Schrodinger equation:</a:t>
              </a:r>
              <a:endParaRPr lang="en-MY" sz="2400" dirty="0"/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A46BD0E1-0EED-4946-87C5-11CBE7478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29467" y="5134545"/>
              <a:ext cx="2767157" cy="820605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039AE1E-2325-48A3-95CC-D471A8F28DDD}"/>
              </a:ext>
            </a:extLst>
          </p:cNvPr>
          <p:cNvGrpSpPr/>
          <p:nvPr/>
        </p:nvGrpSpPr>
        <p:grpSpPr>
          <a:xfrm>
            <a:off x="5626515" y="4487432"/>
            <a:ext cx="5515164" cy="2221377"/>
            <a:chOff x="5626515" y="4487432"/>
            <a:chExt cx="5515164" cy="222137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E086FA9-F5AF-4FD8-8171-B71FFD8ED6D5}"/>
                </a:ext>
              </a:extLst>
            </p:cNvPr>
            <p:cNvSpPr txBox="1"/>
            <p:nvPr/>
          </p:nvSpPr>
          <p:spPr>
            <a:xfrm>
              <a:off x="5626515" y="4487432"/>
              <a:ext cx="55151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Hilbert space</a:t>
              </a:r>
              <a:r>
                <a:rPr lang="en-US" dirty="0"/>
                <a:t> (n-dimensional complex vector space):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4FE4119-3835-41E5-99C7-DB303B0B118D}"/>
                </a:ext>
              </a:extLst>
            </p:cNvPr>
            <p:cNvGrpSpPr/>
            <p:nvPr/>
          </p:nvGrpSpPr>
          <p:grpSpPr>
            <a:xfrm>
              <a:off x="6699183" y="4995512"/>
              <a:ext cx="1915428" cy="1713297"/>
              <a:chOff x="6699183" y="4995512"/>
              <a:chExt cx="1915428" cy="1713297"/>
            </a:xfrm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82FCA3B9-A992-450C-9FE7-B40636B967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09322" y="4995512"/>
                <a:ext cx="0" cy="119235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C1DB4B2D-837B-4532-948E-6B016A1108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09322" y="6189295"/>
                <a:ext cx="1405289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4F3851A5-04CF-4D47-99EB-116D19C0FD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99183" y="6179420"/>
                <a:ext cx="510139" cy="52938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B93A6B40-A845-47EA-AAAF-DFFF39107A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09322" y="5544847"/>
                <a:ext cx="778845" cy="64302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5" name="Graphic 34">
                <a:extLst>
                  <a:ext uri="{FF2B5EF4-FFF2-40B4-BE49-F238E27FC236}">
                    <a16:creationId xmlns:a16="http://schemas.microsoft.com/office/drawing/2014/main" id="{1772F782-D67B-4189-9633-D5229B0E4C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945427" y="5266242"/>
                <a:ext cx="557667" cy="503699"/>
              </a:xfrm>
              <a:prstGeom prst="rect">
                <a:avLst/>
              </a:prstGeom>
            </p:spPr>
          </p:pic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56786EB8-BDB4-40F7-BB2D-EE7DBD20D8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4302" y="5556592"/>
                <a:ext cx="0" cy="95379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A6CAECF8-A17F-4C24-90BA-926328446B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31962" y="6529339"/>
                <a:ext cx="1027330" cy="19552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31B4F2F4-7F77-4896-986F-2D0E58AD5D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07589" y="6179420"/>
                <a:ext cx="294298" cy="36947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E4AFA4BC-B083-48FD-8E30-B9AF80DD99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2177" y="3510333"/>
            <a:ext cx="3529462" cy="6216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8FE68B-6871-47F5-A38F-D3753F927D05}"/>
              </a:ext>
            </a:extLst>
          </p:cNvPr>
          <p:cNvSpPr txBox="1"/>
          <p:nvPr/>
        </p:nvSpPr>
        <p:spPr>
          <a:xfrm>
            <a:off x="4284833" y="4829142"/>
            <a:ext cx="3262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n is the number of the Hamiltonian eigenstates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81728A-FE31-43E3-8E2E-3E941D9F1709}"/>
              </a:ext>
            </a:extLst>
          </p:cNvPr>
          <p:cNvSpPr txBox="1"/>
          <p:nvPr/>
        </p:nvSpPr>
        <p:spPr>
          <a:xfrm>
            <a:off x="8798668" y="5070230"/>
            <a:ext cx="35294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Each wavefunction (vector) represent a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 can be infinity.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2430A19-6DEC-4822-88EC-C9F7E075BB1C}"/>
              </a:ext>
            </a:extLst>
          </p:cNvPr>
          <p:cNvGrpSpPr/>
          <p:nvPr/>
        </p:nvGrpSpPr>
        <p:grpSpPr>
          <a:xfrm>
            <a:off x="566764" y="5940415"/>
            <a:ext cx="6394073" cy="701634"/>
            <a:chOff x="8772568" y="5966003"/>
            <a:chExt cx="6394073" cy="701634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7E3F1BA-607E-4126-8CB8-60E02159B741}"/>
                </a:ext>
              </a:extLst>
            </p:cNvPr>
            <p:cNvSpPr txBox="1"/>
            <p:nvPr/>
          </p:nvSpPr>
          <p:spPr>
            <a:xfrm>
              <a:off x="8772568" y="6021306"/>
              <a:ext cx="63940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b="1" dirty="0"/>
                <a:t>How to model the quantum microstates         statistically that is compatible with quantum mechanics?</a:t>
              </a: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E3C0B6CC-5E99-4997-A65A-AE56A69CF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097131" y="5966003"/>
              <a:ext cx="557667" cy="503699"/>
            </a:xfrm>
            <a:prstGeom prst="rect">
              <a:avLst/>
            </a:prstGeom>
          </p:spPr>
        </p:pic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DB250151-68E8-4096-AB39-D744402175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21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1C015-02EF-4FA7-9F62-6FCBE3220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Mechanics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951BE5A-6709-4637-9F40-0AE044A60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443" y="1992296"/>
            <a:ext cx="3812056" cy="9397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E709B2C-A22F-4B23-AE17-C66645E423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4153" y="2147475"/>
            <a:ext cx="1876926" cy="72189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DBF0CE1-6443-4FB5-840E-2C432A5A86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15652" y="2226271"/>
            <a:ext cx="908585" cy="4717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49F00B-CAC8-4723-BF37-6FB69F203F98}"/>
              </a:ext>
            </a:extLst>
          </p:cNvPr>
          <p:cNvSpPr txBox="1"/>
          <p:nvPr/>
        </p:nvSpPr>
        <p:spPr>
          <a:xfrm>
            <a:off x="9187596" y="2264644"/>
            <a:ext cx="2887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(Real space representation)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9C5CC74-A2CD-48F5-A2DE-6DE1B96087BF}"/>
              </a:ext>
            </a:extLst>
          </p:cNvPr>
          <p:cNvGrpSpPr/>
          <p:nvPr/>
        </p:nvGrpSpPr>
        <p:grpSpPr>
          <a:xfrm>
            <a:off x="8301887" y="3365264"/>
            <a:ext cx="1915428" cy="1713297"/>
            <a:chOff x="6699183" y="4995512"/>
            <a:chExt cx="1915428" cy="1713297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14C2818-2CAA-40E4-BA14-271F5E68B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4995512"/>
              <a:ext cx="0" cy="11923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489A997-50BD-43D1-80F2-6CCF3CEFC48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322" y="6189295"/>
              <a:ext cx="14052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6D1E1C3-FA87-4742-8FA8-87E740F73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183" y="6179420"/>
              <a:ext cx="510139" cy="5293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97E9F57-33AD-4B33-9195-510A54E7A8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5544847"/>
              <a:ext cx="778845" cy="6430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93A8277A-7B36-43BF-B417-607A41141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945427" y="5266242"/>
              <a:ext cx="557667" cy="503699"/>
            </a:xfrm>
            <a:prstGeom prst="rect">
              <a:avLst/>
            </a:prstGeom>
          </p:spPr>
        </p:pic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BAE2D7-397C-4167-8678-12792F6E158A}"/>
                </a:ext>
              </a:extLst>
            </p:cNvPr>
            <p:cNvCxnSpPr>
              <a:cxnSpLocks/>
            </p:cNvCxnSpPr>
            <p:nvPr/>
          </p:nvCxnSpPr>
          <p:spPr>
            <a:xfrm>
              <a:off x="7974302" y="5556592"/>
              <a:ext cx="0" cy="95379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8BBB6F-9BD6-428C-97BE-4DAD25802A86}"/>
                </a:ext>
              </a:extLst>
            </p:cNvPr>
            <p:cNvCxnSpPr>
              <a:cxnSpLocks/>
            </p:cNvCxnSpPr>
            <p:nvPr/>
          </p:nvCxnSpPr>
          <p:spPr>
            <a:xfrm>
              <a:off x="6931962" y="6529339"/>
              <a:ext cx="1027330" cy="195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3CE33F8-F93C-4210-A28F-6F09B39A87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7589" y="6179420"/>
              <a:ext cx="294298" cy="36947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Graphic 35">
            <a:extLst>
              <a:ext uri="{FF2B5EF4-FFF2-40B4-BE49-F238E27FC236}">
                <a16:creationId xmlns:a16="http://schemas.microsoft.com/office/drawing/2014/main" id="{82963727-6D40-44BC-9211-62A6A7B3B8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34667" y="2950305"/>
            <a:ext cx="540026" cy="54002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CC7637F-1AEB-4AB8-A4A2-6606AC0D1167}"/>
              </a:ext>
            </a:extLst>
          </p:cNvPr>
          <p:cNvGrpSpPr/>
          <p:nvPr/>
        </p:nvGrpSpPr>
        <p:grpSpPr>
          <a:xfrm>
            <a:off x="721443" y="3004883"/>
            <a:ext cx="5153744" cy="1415132"/>
            <a:chOff x="721443" y="3004883"/>
            <a:chExt cx="5153744" cy="1415132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BA5E6CD-DE05-4C27-83CF-627424204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18824" y="3483786"/>
              <a:ext cx="1793657" cy="54002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5876803-4F67-41EF-8A6C-505861825D34}"/>
                </a:ext>
              </a:extLst>
            </p:cNvPr>
            <p:cNvSpPr txBox="1"/>
            <p:nvPr/>
          </p:nvSpPr>
          <p:spPr>
            <a:xfrm>
              <a:off x="721443" y="3004883"/>
              <a:ext cx="40713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Energy eigenstates of the Hamiltonian: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AAEBB79-289F-4417-85B6-72115B98AAA7}"/>
                </a:ext>
              </a:extLst>
            </p:cNvPr>
            <p:cNvGrpSpPr/>
            <p:nvPr/>
          </p:nvGrpSpPr>
          <p:grpSpPr>
            <a:xfrm>
              <a:off x="1658424" y="3852063"/>
              <a:ext cx="1938093" cy="567952"/>
              <a:chOff x="1658424" y="3852063"/>
              <a:chExt cx="1938093" cy="567952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333DB167-7F66-4579-AD90-A5F5A15D325D}"/>
                  </a:ext>
                </a:extLst>
              </p:cNvPr>
              <p:cNvGrpSpPr/>
              <p:nvPr/>
            </p:nvGrpSpPr>
            <p:grpSpPr>
              <a:xfrm>
                <a:off x="1658424" y="4023812"/>
                <a:ext cx="1938093" cy="396203"/>
                <a:chOff x="2329314" y="4369869"/>
                <a:chExt cx="1938093" cy="396203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2B262BF-FAC7-408A-8767-87E14C5FFA4B}"/>
                    </a:ext>
                  </a:extLst>
                </p:cNvPr>
                <p:cNvSpPr txBox="1"/>
                <p:nvPr/>
              </p:nvSpPr>
              <p:spPr>
                <a:xfrm>
                  <a:off x="2329314" y="4369869"/>
                  <a:ext cx="17102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MY" dirty="0"/>
                    <a:t>Energy of state </a:t>
                  </a:r>
                </a:p>
              </p:txBody>
            </p:sp>
            <p:pic>
              <p:nvPicPr>
                <p:cNvPr id="18" name="Graphic 17">
                  <a:extLst>
                    <a:ext uri="{FF2B5EF4-FFF2-40B4-BE49-F238E27FC236}">
                      <a16:creationId xmlns:a16="http://schemas.microsoft.com/office/drawing/2014/main" id="{A8DB3EF0-877F-4075-8829-78FF02F17B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11773" y="4369869"/>
                  <a:ext cx="455634" cy="396203"/>
                </a:xfrm>
                <a:prstGeom prst="rect">
                  <a:avLst/>
                </a:prstGeom>
              </p:spPr>
            </p:pic>
          </p:grp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F17B9A10-70D1-4429-9FDB-103E2225CC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15941" y="3852063"/>
                <a:ext cx="1" cy="1717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6939391-552F-4993-AEA0-DEA8FE342422}"/>
                </a:ext>
              </a:extLst>
            </p:cNvPr>
            <p:cNvSpPr txBox="1"/>
            <p:nvPr/>
          </p:nvSpPr>
          <p:spPr>
            <a:xfrm>
              <a:off x="3522620" y="4025620"/>
              <a:ext cx="2352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(n can be continuous)</a:t>
              </a:r>
            </a:p>
          </p:txBody>
        </p:sp>
      </p:grpSp>
      <p:pic>
        <p:nvPicPr>
          <p:cNvPr id="39" name="Graphic 38">
            <a:extLst>
              <a:ext uri="{FF2B5EF4-FFF2-40B4-BE49-F238E27FC236}">
                <a16:creationId xmlns:a16="http://schemas.microsoft.com/office/drawing/2014/main" id="{D50A9AD6-975E-45B0-92FE-A37C77F3072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227937" y="4300167"/>
            <a:ext cx="498010" cy="49801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3D8D22F1-2791-4C4E-A30E-4B1FC61FC92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994641" y="4998549"/>
            <a:ext cx="540025" cy="54002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EE46B5F-E6AC-4A6D-8334-413B40532A3D}"/>
              </a:ext>
            </a:extLst>
          </p:cNvPr>
          <p:cNvGrpSpPr/>
          <p:nvPr/>
        </p:nvGrpSpPr>
        <p:grpSpPr>
          <a:xfrm>
            <a:off x="721443" y="4561779"/>
            <a:ext cx="2419573" cy="907299"/>
            <a:chOff x="721443" y="4561779"/>
            <a:chExt cx="2419573" cy="90729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E74697F-CB34-49C8-90DD-DAFDAF9DE3C0}"/>
                </a:ext>
              </a:extLst>
            </p:cNvPr>
            <p:cNvSpPr txBox="1"/>
            <p:nvPr/>
          </p:nvSpPr>
          <p:spPr>
            <a:xfrm>
              <a:off x="721443" y="4561779"/>
              <a:ext cx="24195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Eigenstates projectors:</a:t>
              </a:r>
            </a:p>
          </p:txBody>
        </p:sp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5C0F6171-9784-4EAB-913F-690F73D32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952700" y="4939689"/>
              <a:ext cx="850804" cy="52938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B977024-8D00-4249-A9A9-AB755715ACDD}"/>
              </a:ext>
            </a:extLst>
          </p:cNvPr>
          <p:cNvGrpSpPr/>
          <p:nvPr/>
        </p:nvGrpSpPr>
        <p:grpSpPr>
          <a:xfrm>
            <a:off x="3954901" y="4541555"/>
            <a:ext cx="1561430" cy="1009649"/>
            <a:chOff x="3954901" y="4541555"/>
            <a:chExt cx="1561430" cy="1009649"/>
          </a:xfrm>
        </p:grpSpPr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D22D3DEF-8779-4404-AFAD-026831B76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3954901" y="5011179"/>
              <a:ext cx="1157196" cy="540025"/>
            </a:xfrm>
            <a:prstGeom prst="rect">
              <a:avLst/>
            </a:prstGeom>
          </p:spPr>
        </p:pic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25E8203-3F11-4855-87D8-6DD5000B719D}"/>
                </a:ext>
              </a:extLst>
            </p:cNvPr>
            <p:cNvGrpSpPr/>
            <p:nvPr/>
          </p:nvGrpSpPr>
          <p:grpSpPr>
            <a:xfrm>
              <a:off x="4057470" y="4541555"/>
              <a:ext cx="1458861" cy="537005"/>
              <a:chOff x="4057470" y="4541555"/>
              <a:chExt cx="1458861" cy="537005"/>
            </a:xfrm>
          </p:grpSpPr>
          <p:sp>
            <p:nvSpPr>
              <p:cNvPr id="46" name="Right Brace 45">
                <a:extLst>
                  <a:ext uri="{FF2B5EF4-FFF2-40B4-BE49-F238E27FC236}">
                    <a16:creationId xmlns:a16="http://schemas.microsoft.com/office/drawing/2014/main" id="{87E2A1B0-70B6-4549-9778-434C5BE8F0D8}"/>
                  </a:ext>
                </a:extLst>
              </p:cNvPr>
              <p:cNvSpPr/>
              <p:nvPr/>
            </p:nvSpPr>
            <p:spPr>
              <a:xfrm rot="16200000">
                <a:off x="4587520" y="4720609"/>
                <a:ext cx="205761" cy="510141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9EF8A0A-38EB-46ED-8D91-F57AEDE7A0D5}"/>
                  </a:ext>
                </a:extLst>
              </p:cNvPr>
              <p:cNvSpPr txBox="1"/>
              <p:nvPr/>
            </p:nvSpPr>
            <p:spPr>
              <a:xfrm>
                <a:off x="4057470" y="4541555"/>
                <a:ext cx="14588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sz="1600" dirty="0"/>
                  <a:t>Scalar product</a:t>
                </a:r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1B02AA9-EE1D-418D-8F7F-23EC6B16C8C2}"/>
              </a:ext>
            </a:extLst>
          </p:cNvPr>
          <p:cNvGrpSpPr/>
          <p:nvPr/>
        </p:nvGrpSpPr>
        <p:grpSpPr>
          <a:xfrm>
            <a:off x="8833555" y="4149568"/>
            <a:ext cx="1518162" cy="412211"/>
            <a:chOff x="8833555" y="4149568"/>
            <a:chExt cx="1518162" cy="412211"/>
          </a:xfrm>
        </p:grpSpPr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F723FE39-26B5-43D6-8547-1DF3664AA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578225" y="4149568"/>
              <a:ext cx="773492" cy="379960"/>
            </a:xfrm>
            <a:prstGeom prst="rect">
              <a:avLst/>
            </a:prstGeom>
          </p:spPr>
        </p:pic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FF3948C3-47EE-4E99-9291-3F85BCA9049F}"/>
                </a:ext>
              </a:extLst>
            </p:cNvPr>
            <p:cNvCxnSpPr>
              <a:cxnSpLocks/>
            </p:cNvCxnSpPr>
            <p:nvPr/>
          </p:nvCxnSpPr>
          <p:spPr>
            <a:xfrm>
              <a:off x="8833555" y="4561779"/>
              <a:ext cx="102228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DD2540F-C8DE-446C-8194-613498230B4E}"/>
              </a:ext>
            </a:extLst>
          </p:cNvPr>
          <p:cNvGrpSpPr/>
          <p:nvPr/>
        </p:nvGrpSpPr>
        <p:grpSpPr>
          <a:xfrm>
            <a:off x="8166022" y="4286929"/>
            <a:ext cx="665426" cy="782283"/>
            <a:chOff x="8166022" y="4286929"/>
            <a:chExt cx="665426" cy="782283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87FB0227-1B5F-455C-A5B8-B76930CBA9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369" y="4549172"/>
              <a:ext cx="345079" cy="34991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129C0C80-2520-40A8-9CCF-8B5719158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 rot="18897224">
              <a:off x="7967020" y="4485931"/>
              <a:ext cx="782283" cy="38428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F44AA98-C5BD-44FD-BFC3-12B80DF904BF}"/>
              </a:ext>
            </a:extLst>
          </p:cNvPr>
          <p:cNvGrpSpPr/>
          <p:nvPr/>
        </p:nvGrpSpPr>
        <p:grpSpPr>
          <a:xfrm>
            <a:off x="8784696" y="3613236"/>
            <a:ext cx="805799" cy="967184"/>
            <a:chOff x="8784696" y="3613236"/>
            <a:chExt cx="805799" cy="967184"/>
          </a:xfrm>
        </p:grpSpPr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A2035C6A-63A1-4EA5-83A7-2F5BD9333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8784696" y="3613236"/>
              <a:ext cx="805799" cy="376039"/>
            </a:xfrm>
            <a:prstGeom prst="rect">
              <a:avLst/>
            </a:prstGeom>
          </p:spPr>
        </p:pic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495AB244-53DE-4220-B7BF-202334F608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3555" y="3891861"/>
              <a:ext cx="0" cy="68855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0E90955-1FC0-4775-82E4-2A9548FC61DB}"/>
              </a:ext>
            </a:extLst>
          </p:cNvPr>
          <p:cNvGrpSpPr/>
          <p:nvPr/>
        </p:nvGrpSpPr>
        <p:grpSpPr>
          <a:xfrm>
            <a:off x="668239" y="5477656"/>
            <a:ext cx="4125681" cy="1224945"/>
            <a:chOff x="668239" y="5477656"/>
            <a:chExt cx="4125681" cy="1224945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287D2A2-4B9F-4BF9-AD66-23E88E63EA40}"/>
                </a:ext>
              </a:extLst>
            </p:cNvPr>
            <p:cNvSpPr txBox="1"/>
            <p:nvPr/>
          </p:nvSpPr>
          <p:spPr>
            <a:xfrm>
              <a:off x="668239" y="5477656"/>
              <a:ext cx="41256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Completeness of Eigenstates projectors:</a:t>
              </a:r>
            </a:p>
          </p:txBody>
        </p:sp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F87A5CD6-7BAB-4399-9671-C8FC73B53B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417006" y="6013815"/>
              <a:ext cx="1922192" cy="688786"/>
            </a:xfrm>
            <a:prstGeom prst="rect">
              <a:avLst/>
            </a:prstGeom>
          </p:spPr>
        </p:pic>
      </p:grpSp>
      <p:pic>
        <p:nvPicPr>
          <p:cNvPr id="73" name="Graphic 72">
            <a:extLst>
              <a:ext uri="{FF2B5EF4-FFF2-40B4-BE49-F238E27FC236}">
                <a16:creationId xmlns:a16="http://schemas.microsoft.com/office/drawing/2014/main" id="{3E1C2210-453F-4DFE-B176-E0FC318D912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496867" y="5994659"/>
            <a:ext cx="1876926" cy="727097"/>
          </a:xfrm>
          <a:prstGeom prst="rect">
            <a:avLst/>
          </a:prstGeom>
        </p:spPr>
      </p:pic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FBFC6741-2C74-4149-BD87-936C257E35C6}"/>
              </a:ext>
            </a:extLst>
          </p:cNvPr>
          <p:cNvSpPr/>
          <p:nvPr/>
        </p:nvSpPr>
        <p:spPr>
          <a:xfrm>
            <a:off x="3824090" y="6013816"/>
            <a:ext cx="1549703" cy="59503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76" name="Graphic 75">
            <a:extLst>
              <a:ext uri="{FF2B5EF4-FFF2-40B4-BE49-F238E27FC236}">
                <a16:creationId xmlns:a16="http://schemas.microsoft.com/office/drawing/2014/main" id="{9AD91B34-AB4B-4D85-ACCE-71F8DE45591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37325" y="5938984"/>
            <a:ext cx="2034100" cy="754019"/>
          </a:xfrm>
          <a:prstGeom prst="rect">
            <a:avLst/>
          </a:prstGeom>
        </p:spPr>
      </p:pic>
      <p:sp>
        <p:nvSpPr>
          <p:cNvPr id="77" name="Right Brace 76">
            <a:extLst>
              <a:ext uri="{FF2B5EF4-FFF2-40B4-BE49-F238E27FC236}">
                <a16:creationId xmlns:a16="http://schemas.microsoft.com/office/drawing/2014/main" id="{48051371-3179-4B6D-B9E8-2EFAF0F0591C}"/>
              </a:ext>
            </a:extLst>
          </p:cNvPr>
          <p:cNvSpPr/>
          <p:nvPr/>
        </p:nvSpPr>
        <p:spPr>
          <a:xfrm rot="16200000">
            <a:off x="7302215" y="5704056"/>
            <a:ext cx="183990" cy="5400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0D9C39A-AB35-4DD7-B3FE-539779D08F7D}"/>
              </a:ext>
            </a:extLst>
          </p:cNvPr>
          <p:cNvGrpSpPr/>
          <p:nvPr/>
        </p:nvGrpSpPr>
        <p:grpSpPr>
          <a:xfrm>
            <a:off x="6837425" y="5405007"/>
            <a:ext cx="4579785" cy="603627"/>
            <a:chOff x="6837425" y="5405007"/>
            <a:chExt cx="4579785" cy="603627"/>
          </a:xfrm>
        </p:grpSpPr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16F902B9-4C1A-4B61-A704-C1D250075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6837425" y="5405007"/>
              <a:ext cx="1027330" cy="558724"/>
            </a:xfrm>
            <a:prstGeom prst="rect">
              <a:avLst/>
            </a:prstGeom>
          </p:spPr>
        </p:pic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3B4C3742-BEEB-4879-931B-2D3560E6E65D}"/>
                </a:ext>
              </a:extLst>
            </p:cNvPr>
            <p:cNvGrpSpPr/>
            <p:nvPr/>
          </p:nvGrpSpPr>
          <p:grpSpPr>
            <a:xfrm>
              <a:off x="7753405" y="5450967"/>
              <a:ext cx="3663805" cy="557667"/>
              <a:chOff x="9971767" y="5794337"/>
              <a:chExt cx="3663805" cy="557667"/>
            </a:xfrm>
          </p:grpSpPr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0DDA5B0-785E-409F-9095-D3AFE2FD6EDC}"/>
                  </a:ext>
                </a:extLst>
              </p:cNvPr>
              <p:cNvSpPr txBox="1"/>
              <p:nvPr/>
            </p:nvSpPr>
            <p:spPr>
              <a:xfrm>
                <a:off x="9971767" y="5862470"/>
                <a:ext cx="3412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= probability to find        in state </a:t>
                </a:r>
              </a:p>
            </p:txBody>
          </p:sp>
          <p:pic>
            <p:nvPicPr>
              <p:cNvPr id="81" name="Graphic 80">
                <a:extLst>
                  <a:ext uri="{FF2B5EF4-FFF2-40B4-BE49-F238E27FC236}">
                    <a16:creationId xmlns:a16="http://schemas.microsoft.com/office/drawing/2014/main" id="{77F1071C-8030-48C7-B0A6-65C2E4E914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979167" y="5811978"/>
                <a:ext cx="557667" cy="503699"/>
              </a:xfrm>
              <a:prstGeom prst="rect">
                <a:avLst/>
              </a:prstGeom>
            </p:spPr>
          </p:pic>
          <p:pic>
            <p:nvPicPr>
              <p:cNvPr id="82" name="Graphic 81">
                <a:extLst>
                  <a:ext uri="{FF2B5EF4-FFF2-40B4-BE49-F238E27FC236}">
                    <a16:creationId xmlns:a16="http://schemas.microsoft.com/office/drawing/2014/main" id="{71521EBB-F7E4-4A8F-9FFE-CC60CC408E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3077905" y="5794337"/>
                <a:ext cx="557667" cy="557667"/>
              </a:xfrm>
              <a:prstGeom prst="rect">
                <a:avLst/>
              </a:prstGeom>
            </p:spPr>
          </p:pic>
        </p:grpSp>
      </p:grpSp>
      <p:pic>
        <p:nvPicPr>
          <p:cNvPr id="85" name="Graphic 84">
            <a:extLst>
              <a:ext uri="{FF2B5EF4-FFF2-40B4-BE49-F238E27FC236}">
                <a16:creationId xmlns:a16="http://schemas.microsoft.com/office/drawing/2014/main" id="{E26C55DF-03C1-4B76-B698-DBB443980B18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603649" y="6008634"/>
            <a:ext cx="3113504" cy="7315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89C774-2950-48ED-8AB5-7428BBA8F607}"/>
              </a:ext>
            </a:extLst>
          </p:cNvPr>
          <p:cNvSpPr txBox="1"/>
          <p:nvPr/>
        </p:nvSpPr>
        <p:spPr>
          <a:xfrm>
            <a:off x="9077099" y="6517935"/>
            <a:ext cx="3189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Not all the vectors are physical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12848ACF-1532-4C8C-A4B4-41527337406A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45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7" grpId="0" animBg="1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1C015-02EF-4FA7-9F62-6FCBE3220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Mechanics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951BE5A-6709-4637-9F40-0AE044A60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443" y="1992296"/>
            <a:ext cx="3812056" cy="9397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E709B2C-A22F-4B23-AE17-C66645E423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4153" y="2147475"/>
            <a:ext cx="1876926" cy="72189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DBF0CE1-6443-4FB5-840E-2C432A5A86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15652" y="2226271"/>
            <a:ext cx="908585" cy="4717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49F00B-CAC8-4723-BF37-6FB69F203F98}"/>
              </a:ext>
            </a:extLst>
          </p:cNvPr>
          <p:cNvSpPr txBox="1"/>
          <p:nvPr/>
        </p:nvSpPr>
        <p:spPr>
          <a:xfrm>
            <a:off x="9187596" y="2264644"/>
            <a:ext cx="2887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(Real space representation)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BA5E6CD-DE05-4C27-83CF-6274242043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8824" y="3483786"/>
            <a:ext cx="1793657" cy="54002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5876803-4F67-41EF-8A6C-505861825D34}"/>
              </a:ext>
            </a:extLst>
          </p:cNvPr>
          <p:cNvSpPr txBox="1"/>
          <p:nvPr/>
        </p:nvSpPr>
        <p:spPr>
          <a:xfrm>
            <a:off x="721443" y="3004883"/>
            <a:ext cx="4071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Energy eigenstates of the Hamiltonian: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9C5CC74-A2CD-48F5-A2DE-6DE1B96087BF}"/>
              </a:ext>
            </a:extLst>
          </p:cNvPr>
          <p:cNvGrpSpPr/>
          <p:nvPr/>
        </p:nvGrpSpPr>
        <p:grpSpPr>
          <a:xfrm>
            <a:off x="8301887" y="3365264"/>
            <a:ext cx="1915428" cy="1713297"/>
            <a:chOff x="6699183" y="4995512"/>
            <a:chExt cx="1915428" cy="1713297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14C2818-2CAA-40E4-BA14-271F5E68B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4995512"/>
              <a:ext cx="0" cy="11923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489A997-50BD-43D1-80F2-6CCF3CEFC48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322" y="6189295"/>
              <a:ext cx="14052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6D1E1C3-FA87-4742-8FA8-87E740F73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183" y="6179420"/>
              <a:ext cx="510139" cy="5293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97E9F57-33AD-4B33-9195-510A54E7A8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5544847"/>
              <a:ext cx="778845" cy="6430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93A8277A-7B36-43BF-B417-607A41141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945427" y="5266242"/>
              <a:ext cx="557667" cy="503699"/>
            </a:xfrm>
            <a:prstGeom prst="rect">
              <a:avLst/>
            </a:prstGeom>
          </p:spPr>
        </p:pic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BAE2D7-397C-4167-8678-12792F6E158A}"/>
                </a:ext>
              </a:extLst>
            </p:cNvPr>
            <p:cNvCxnSpPr>
              <a:cxnSpLocks/>
            </p:cNvCxnSpPr>
            <p:nvPr/>
          </p:nvCxnSpPr>
          <p:spPr>
            <a:xfrm>
              <a:off x="7974302" y="5556592"/>
              <a:ext cx="0" cy="95379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8BBB6F-9BD6-428C-97BE-4DAD25802A86}"/>
                </a:ext>
              </a:extLst>
            </p:cNvPr>
            <p:cNvCxnSpPr>
              <a:cxnSpLocks/>
            </p:cNvCxnSpPr>
            <p:nvPr/>
          </p:nvCxnSpPr>
          <p:spPr>
            <a:xfrm>
              <a:off x="6931962" y="6529339"/>
              <a:ext cx="1027330" cy="195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3CE33F8-F93C-4210-A28F-6F09B39A87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7589" y="6179420"/>
              <a:ext cx="294298" cy="36947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Graphic 35">
            <a:extLst>
              <a:ext uri="{FF2B5EF4-FFF2-40B4-BE49-F238E27FC236}">
                <a16:creationId xmlns:a16="http://schemas.microsoft.com/office/drawing/2014/main" id="{82963727-6D40-44BC-9211-62A6A7B3B85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34667" y="2950305"/>
            <a:ext cx="540026" cy="54002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D50A9AD6-975E-45B0-92FE-A37C77F3072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227937" y="4300167"/>
            <a:ext cx="498010" cy="49801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3D8D22F1-2791-4C4E-A30E-4B1FC61FC92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994641" y="4998549"/>
            <a:ext cx="540025" cy="540025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9AD91B34-AB4B-4D85-ACCE-71F8DE45591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4128" y="4063614"/>
            <a:ext cx="2034100" cy="7540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EC56BC-E3C3-4EDB-9B69-2E4D2C151CB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306294" y="4714425"/>
            <a:ext cx="472318" cy="47231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8962E28-F3F3-4F2A-87A5-AFC2F0073F63}"/>
              </a:ext>
            </a:extLst>
          </p:cNvPr>
          <p:cNvGrpSpPr/>
          <p:nvPr/>
        </p:nvGrpSpPr>
        <p:grpSpPr>
          <a:xfrm>
            <a:off x="370682" y="5288750"/>
            <a:ext cx="1814401" cy="866908"/>
            <a:chOff x="370682" y="5288750"/>
            <a:chExt cx="1814401" cy="86690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6F6F6563-222E-4865-AA7A-4D61DD3FC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043206" y="5288750"/>
              <a:ext cx="872943" cy="470046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F019178-30B6-42CB-ACEA-1B6409606CD6}"/>
                </a:ext>
              </a:extLst>
            </p:cNvPr>
            <p:cNvGrpSpPr/>
            <p:nvPr/>
          </p:nvGrpSpPr>
          <p:grpSpPr>
            <a:xfrm>
              <a:off x="370682" y="5642070"/>
              <a:ext cx="1814401" cy="513588"/>
              <a:chOff x="372284" y="5826736"/>
              <a:chExt cx="1814401" cy="51358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D59933-33CD-4814-8FEA-CDE44A743838}"/>
                  </a:ext>
                </a:extLst>
              </p:cNvPr>
              <p:cNvSpPr txBox="1"/>
              <p:nvPr/>
            </p:nvSpPr>
            <p:spPr>
              <a:xfrm>
                <a:off x="372284" y="5927739"/>
                <a:ext cx="13450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function of </a:t>
                </a:r>
              </a:p>
            </p:txBody>
          </p:sp>
          <p:pic>
            <p:nvPicPr>
              <p:cNvPr id="22" name="Graphic 21">
                <a:extLst>
                  <a:ext uri="{FF2B5EF4-FFF2-40B4-BE49-F238E27FC236}">
                    <a16:creationId xmlns:a16="http://schemas.microsoft.com/office/drawing/2014/main" id="{B68DB164-22D0-46CE-AF8A-A52A7565D5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1558967" y="5826736"/>
                <a:ext cx="627718" cy="513588"/>
              </a:xfrm>
              <a:prstGeom prst="rect">
                <a:avLst/>
              </a:prstGeom>
            </p:spPr>
          </p:pic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65B7D11-B712-44F0-9C2F-815275339513}"/>
              </a:ext>
            </a:extLst>
          </p:cNvPr>
          <p:cNvGrpSpPr/>
          <p:nvPr/>
        </p:nvGrpSpPr>
        <p:grpSpPr>
          <a:xfrm>
            <a:off x="2748417" y="5297476"/>
            <a:ext cx="1921812" cy="858182"/>
            <a:chOff x="2748417" y="5297476"/>
            <a:chExt cx="1921812" cy="858182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3A9D96D6-D78B-44FF-99EC-4E8B287C4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2748417" y="5297476"/>
              <a:ext cx="1921812" cy="513588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2BC27E9-9D29-469D-AA42-F86B611E3441}"/>
                </a:ext>
              </a:extLst>
            </p:cNvPr>
            <p:cNvSpPr txBox="1"/>
            <p:nvPr/>
          </p:nvSpPr>
          <p:spPr>
            <a:xfrm>
              <a:off x="3087409" y="5786326"/>
              <a:ext cx="12205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Hermitian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ED87F1-2A14-4DFA-B6D8-AE6CF357CF55}"/>
              </a:ext>
            </a:extLst>
          </p:cNvPr>
          <p:cNvGrpSpPr/>
          <p:nvPr/>
        </p:nvGrpSpPr>
        <p:grpSpPr>
          <a:xfrm>
            <a:off x="5114153" y="5363397"/>
            <a:ext cx="2544176" cy="779441"/>
            <a:chOff x="5114153" y="5363397"/>
            <a:chExt cx="2544176" cy="779441"/>
          </a:xfrm>
        </p:grpSpPr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2F9F9E87-957B-4BF9-9341-114C6458A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114153" y="5363397"/>
              <a:ext cx="2544176" cy="478100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8E08E61-59A1-4CFC-9766-E2FEF7E4A53E}"/>
                </a:ext>
              </a:extLst>
            </p:cNvPr>
            <p:cNvSpPr txBox="1"/>
            <p:nvPr/>
          </p:nvSpPr>
          <p:spPr>
            <a:xfrm>
              <a:off x="5114153" y="5773506"/>
              <a:ext cx="2471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Measure in experiment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7B12780-D280-475E-B93C-7FDDADE9C4D8}"/>
              </a:ext>
            </a:extLst>
          </p:cNvPr>
          <p:cNvGrpSpPr/>
          <p:nvPr/>
        </p:nvGrpSpPr>
        <p:grpSpPr>
          <a:xfrm>
            <a:off x="1715730" y="6161964"/>
            <a:ext cx="1986066" cy="649459"/>
            <a:chOff x="1715730" y="6161964"/>
            <a:chExt cx="1986066" cy="6494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6063F4D-D9CC-48DA-91F6-621971483B5E}"/>
                </a:ext>
              </a:extLst>
            </p:cNvPr>
            <p:cNvSpPr txBox="1"/>
            <p:nvPr/>
          </p:nvSpPr>
          <p:spPr>
            <a:xfrm>
              <a:off x="1715730" y="6350340"/>
              <a:ext cx="11608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Example: </a:t>
              </a:r>
            </a:p>
          </p:txBody>
        </p: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015B9CE2-AE23-44CF-9106-2008266FC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2757128" y="6161964"/>
              <a:ext cx="944668" cy="649459"/>
            </a:xfrm>
            <a:prstGeom prst="rect">
              <a:avLst/>
            </a:prstGeom>
          </p:spPr>
        </p:pic>
      </p:grpSp>
      <p:pic>
        <p:nvPicPr>
          <p:cNvPr id="61" name="Graphic 60">
            <a:extLst>
              <a:ext uri="{FF2B5EF4-FFF2-40B4-BE49-F238E27FC236}">
                <a16:creationId xmlns:a16="http://schemas.microsoft.com/office/drawing/2014/main" id="{06351EBE-ABEB-47A1-9571-84E0B1B34817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539793" y="6161964"/>
            <a:ext cx="3231513" cy="727513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C438D74A-43FC-4883-80F7-EAB79D06C43E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477896" y="6106504"/>
            <a:ext cx="2691510" cy="704919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77706F4F-F15D-47E6-9693-4C666ADA8AAC}"/>
              </a:ext>
            </a:extLst>
          </p:cNvPr>
          <p:cNvGrpSpPr/>
          <p:nvPr/>
        </p:nvGrpSpPr>
        <p:grpSpPr>
          <a:xfrm>
            <a:off x="8677412" y="5719404"/>
            <a:ext cx="2471382" cy="524525"/>
            <a:chOff x="8992246" y="5748246"/>
            <a:chExt cx="2471382" cy="524525"/>
          </a:xfrm>
        </p:grpSpPr>
        <p:sp>
          <p:nvSpPr>
            <p:cNvPr id="78" name="Right Brace 77">
              <a:extLst>
                <a:ext uri="{FF2B5EF4-FFF2-40B4-BE49-F238E27FC236}">
                  <a16:creationId xmlns:a16="http://schemas.microsoft.com/office/drawing/2014/main" id="{FD6C6E16-8DD9-44D4-BA0E-052EAA25DE01}"/>
                </a:ext>
              </a:extLst>
            </p:cNvPr>
            <p:cNvSpPr/>
            <p:nvPr/>
          </p:nvSpPr>
          <p:spPr>
            <a:xfrm rot="16200000">
              <a:off x="10294898" y="5618200"/>
              <a:ext cx="117115" cy="119202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129EE2A-BDF0-45B3-8DCE-78C43EDE9BB5}"/>
                </a:ext>
              </a:extLst>
            </p:cNvPr>
            <p:cNvSpPr txBox="1"/>
            <p:nvPr/>
          </p:nvSpPr>
          <p:spPr>
            <a:xfrm>
              <a:off x="8992246" y="5748246"/>
              <a:ext cx="2471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Measure in experiment</a:t>
              </a:r>
            </a:p>
          </p:txBody>
        </p:sp>
      </p:grpSp>
      <p:pic>
        <p:nvPicPr>
          <p:cNvPr id="86" name="Graphic 85">
            <a:extLst>
              <a:ext uri="{FF2B5EF4-FFF2-40B4-BE49-F238E27FC236}">
                <a16:creationId xmlns:a16="http://schemas.microsoft.com/office/drawing/2014/main" id="{12153987-8307-4E7E-B340-36EBD7A1DA2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609144" y="3906393"/>
            <a:ext cx="1027330" cy="558724"/>
          </a:xfrm>
          <a:prstGeom prst="rect">
            <a:avLst/>
          </a:prstGeom>
        </p:spPr>
      </p:pic>
      <p:grpSp>
        <p:nvGrpSpPr>
          <p:cNvPr id="87" name="Group 86">
            <a:extLst>
              <a:ext uri="{FF2B5EF4-FFF2-40B4-BE49-F238E27FC236}">
                <a16:creationId xmlns:a16="http://schemas.microsoft.com/office/drawing/2014/main" id="{8B8B14DF-251E-4DBC-955E-3026AA6952E8}"/>
              </a:ext>
            </a:extLst>
          </p:cNvPr>
          <p:cNvGrpSpPr/>
          <p:nvPr/>
        </p:nvGrpSpPr>
        <p:grpSpPr>
          <a:xfrm>
            <a:off x="4525124" y="3937901"/>
            <a:ext cx="3672800" cy="557667"/>
            <a:chOff x="9971767" y="5779885"/>
            <a:chExt cx="3672800" cy="557667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1C4099E-77C9-4078-8996-A4FEEDE41BAB}"/>
                </a:ext>
              </a:extLst>
            </p:cNvPr>
            <p:cNvSpPr txBox="1"/>
            <p:nvPr/>
          </p:nvSpPr>
          <p:spPr>
            <a:xfrm>
              <a:off x="9971767" y="5862470"/>
              <a:ext cx="3412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= probability to find        in state </a:t>
              </a:r>
            </a:p>
          </p:txBody>
        </p:sp>
        <p:pic>
          <p:nvPicPr>
            <p:cNvPr id="89" name="Graphic 88">
              <a:extLst>
                <a:ext uri="{FF2B5EF4-FFF2-40B4-BE49-F238E27FC236}">
                  <a16:creationId xmlns:a16="http://schemas.microsoft.com/office/drawing/2014/main" id="{599FF891-83FF-4CBA-B548-E4E999341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988162" y="5797526"/>
              <a:ext cx="557667" cy="503699"/>
            </a:xfrm>
            <a:prstGeom prst="rect">
              <a:avLst/>
            </a:prstGeom>
          </p:spPr>
        </p:pic>
        <p:pic>
          <p:nvPicPr>
            <p:cNvPr id="90" name="Graphic 89">
              <a:extLst>
                <a:ext uri="{FF2B5EF4-FFF2-40B4-BE49-F238E27FC236}">
                  <a16:creationId xmlns:a16="http://schemas.microsoft.com/office/drawing/2014/main" id="{DFA1B959-50B1-480F-AE81-338912238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3086900" y="5779885"/>
              <a:ext cx="557667" cy="557667"/>
            </a:xfrm>
            <a:prstGeom prst="rect">
              <a:avLst/>
            </a:prstGeom>
          </p:spPr>
        </p:pic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3300FC91-D781-4B9A-9E0F-EB15A8722F05}"/>
              </a:ext>
            </a:extLst>
          </p:cNvPr>
          <p:cNvSpPr txBox="1"/>
          <p:nvPr/>
        </p:nvSpPr>
        <p:spPr>
          <a:xfrm>
            <a:off x="323689" y="2236371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1)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673B2A6-E3A7-4786-9618-EE4626AA04A5}"/>
              </a:ext>
            </a:extLst>
          </p:cNvPr>
          <p:cNvSpPr txBox="1"/>
          <p:nvPr/>
        </p:nvSpPr>
        <p:spPr>
          <a:xfrm>
            <a:off x="312751" y="2952285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2)</a:t>
            </a:r>
          </a:p>
        </p:txBody>
      </p:sp>
      <p:pic>
        <p:nvPicPr>
          <p:cNvPr id="93" name="Graphic 92">
            <a:extLst>
              <a:ext uri="{FF2B5EF4-FFF2-40B4-BE49-F238E27FC236}">
                <a16:creationId xmlns:a16="http://schemas.microsoft.com/office/drawing/2014/main" id="{B0099BBE-371B-4283-A86D-788786E42DFA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17157" t="4345"/>
          <a:stretch/>
        </p:blipFill>
        <p:spPr>
          <a:xfrm>
            <a:off x="3655639" y="3383091"/>
            <a:ext cx="1554909" cy="695502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ABE5DEF3-4995-4717-B12D-04FEF2C6E5E3}"/>
              </a:ext>
            </a:extLst>
          </p:cNvPr>
          <p:cNvSpPr txBox="1"/>
          <p:nvPr/>
        </p:nvSpPr>
        <p:spPr>
          <a:xfrm>
            <a:off x="5089489" y="3426869"/>
            <a:ext cx="1783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(Completeness)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51FBF44-3F20-4D82-B342-24064351E627}"/>
              </a:ext>
            </a:extLst>
          </p:cNvPr>
          <p:cNvGrpSpPr/>
          <p:nvPr/>
        </p:nvGrpSpPr>
        <p:grpSpPr>
          <a:xfrm>
            <a:off x="289740" y="4678467"/>
            <a:ext cx="7238871" cy="464160"/>
            <a:chOff x="289740" y="4678467"/>
            <a:chExt cx="7238871" cy="46416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C5F5964-5953-4762-B019-A22F9CC8A59E}"/>
                </a:ext>
              </a:extLst>
            </p:cNvPr>
            <p:cNvSpPr txBox="1"/>
            <p:nvPr/>
          </p:nvSpPr>
          <p:spPr>
            <a:xfrm>
              <a:off x="721426" y="4773295"/>
              <a:ext cx="68071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We can only access the quantum state by measuring the observable 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37886E6-F363-4602-B4F9-FB83CFF81074}"/>
                </a:ext>
              </a:extLst>
            </p:cNvPr>
            <p:cNvSpPr txBox="1"/>
            <p:nvPr/>
          </p:nvSpPr>
          <p:spPr>
            <a:xfrm>
              <a:off x="289740" y="4678467"/>
              <a:ext cx="5400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2400" b="1" dirty="0"/>
                <a:t>3)</a:t>
              </a:r>
            </a:p>
          </p:txBody>
        </p:sp>
      </p:grpSp>
      <p:pic>
        <p:nvPicPr>
          <p:cNvPr id="97" name="Graphic 96">
            <a:extLst>
              <a:ext uri="{FF2B5EF4-FFF2-40B4-BE49-F238E27FC236}">
                <a16:creationId xmlns:a16="http://schemas.microsoft.com/office/drawing/2014/main" id="{A8E090DC-EB53-4DE3-90B6-A0A05F2723CD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61978" t="-6630"/>
          <a:stretch/>
        </p:blipFill>
        <p:spPr>
          <a:xfrm>
            <a:off x="3647136" y="4335502"/>
            <a:ext cx="1183808" cy="780095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6EC5E7C8-F676-4E0C-B0BD-8B505594A123}"/>
              </a:ext>
            </a:extLst>
          </p:cNvPr>
          <p:cNvSpPr txBox="1"/>
          <p:nvPr/>
        </p:nvSpPr>
        <p:spPr>
          <a:xfrm>
            <a:off x="4737652" y="4446206"/>
            <a:ext cx="1921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(Normalization)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2C317CE6-E804-4E40-9AAD-436DEE4CD28F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44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1C015-02EF-4FA7-9F62-6FCBE3220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Mechanics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951BE5A-6709-4637-9F40-0AE044A60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443" y="1992296"/>
            <a:ext cx="3812056" cy="9397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E709B2C-A22F-4B23-AE17-C66645E423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4153" y="2147475"/>
            <a:ext cx="1876926" cy="72189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DBF0CE1-6443-4FB5-840E-2C432A5A86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15652" y="2226271"/>
            <a:ext cx="908585" cy="4717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49F00B-CAC8-4723-BF37-6FB69F203F98}"/>
              </a:ext>
            </a:extLst>
          </p:cNvPr>
          <p:cNvSpPr txBox="1"/>
          <p:nvPr/>
        </p:nvSpPr>
        <p:spPr>
          <a:xfrm>
            <a:off x="9187596" y="2264644"/>
            <a:ext cx="2887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(Real space representation)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876803-4F67-41EF-8A6C-505861825D34}"/>
              </a:ext>
            </a:extLst>
          </p:cNvPr>
          <p:cNvSpPr txBox="1"/>
          <p:nvPr/>
        </p:nvSpPr>
        <p:spPr>
          <a:xfrm>
            <a:off x="721443" y="3004883"/>
            <a:ext cx="4071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Energy eigenstates of the Hamiltonian: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9C5CC74-A2CD-48F5-A2DE-6DE1B96087BF}"/>
              </a:ext>
            </a:extLst>
          </p:cNvPr>
          <p:cNvGrpSpPr/>
          <p:nvPr/>
        </p:nvGrpSpPr>
        <p:grpSpPr>
          <a:xfrm>
            <a:off x="8301887" y="3365264"/>
            <a:ext cx="1915428" cy="1713297"/>
            <a:chOff x="6699183" y="4995512"/>
            <a:chExt cx="1915428" cy="1713297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14C2818-2CAA-40E4-BA14-271F5E68B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4995512"/>
              <a:ext cx="0" cy="11923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489A997-50BD-43D1-80F2-6CCF3CEFC48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322" y="6189295"/>
              <a:ext cx="14052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6D1E1C3-FA87-4742-8FA8-87E740F73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183" y="6179420"/>
              <a:ext cx="510139" cy="5293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97E9F57-33AD-4B33-9195-510A54E7A8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5544847"/>
              <a:ext cx="778845" cy="6430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93A8277A-7B36-43BF-B417-607A41141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945427" y="5266242"/>
              <a:ext cx="557667" cy="503699"/>
            </a:xfrm>
            <a:prstGeom prst="rect">
              <a:avLst/>
            </a:prstGeom>
          </p:spPr>
        </p:pic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BAE2D7-397C-4167-8678-12792F6E158A}"/>
                </a:ext>
              </a:extLst>
            </p:cNvPr>
            <p:cNvCxnSpPr>
              <a:cxnSpLocks/>
            </p:cNvCxnSpPr>
            <p:nvPr/>
          </p:nvCxnSpPr>
          <p:spPr>
            <a:xfrm>
              <a:off x="7974302" y="5556592"/>
              <a:ext cx="0" cy="95379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8BBB6F-9BD6-428C-97BE-4DAD25802A86}"/>
                </a:ext>
              </a:extLst>
            </p:cNvPr>
            <p:cNvCxnSpPr>
              <a:cxnSpLocks/>
            </p:cNvCxnSpPr>
            <p:nvPr/>
          </p:nvCxnSpPr>
          <p:spPr>
            <a:xfrm>
              <a:off x="6931962" y="6529339"/>
              <a:ext cx="1027330" cy="195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3CE33F8-F93C-4210-A28F-6F09B39A87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7589" y="6179420"/>
              <a:ext cx="294298" cy="36947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Graphic 35">
            <a:extLst>
              <a:ext uri="{FF2B5EF4-FFF2-40B4-BE49-F238E27FC236}">
                <a16:creationId xmlns:a16="http://schemas.microsoft.com/office/drawing/2014/main" id="{82963727-6D40-44BC-9211-62A6A7B3B8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34667" y="2950305"/>
            <a:ext cx="540026" cy="54002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D50A9AD6-975E-45B0-92FE-A37C77F3072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27937" y="4300167"/>
            <a:ext cx="498010" cy="49801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3D8D22F1-2791-4C4E-A30E-4B1FC61FC9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994641" y="4998549"/>
            <a:ext cx="540025" cy="540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5F5964-5953-4762-B019-A22F9CC8A59E}"/>
              </a:ext>
            </a:extLst>
          </p:cNvPr>
          <p:cNvSpPr txBox="1"/>
          <p:nvPr/>
        </p:nvSpPr>
        <p:spPr>
          <a:xfrm>
            <a:off x="721426" y="4773295"/>
            <a:ext cx="1370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Observable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CEC56BC-E3C3-4EDB-9B69-2E4D2C151CB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843346" y="4733907"/>
            <a:ext cx="472318" cy="4723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A9D96D6-D78B-44FF-99EC-4E8B287C48F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60496" y="5267889"/>
            <a:ext cx="1921812" cy="51358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2F9F9E87-957B-4BF9-9341-114C6458A0D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199755" y="5303377"/>
            <a:ext cx="2544176" cy="4781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08E08E61-59A1-4CFC-9766-E2FEF7E4A53E}"/>
              </a:ext>
            </a:extLst>
          </p:cNvPr>
          <p:cNvSpPr txBox="1"/>
          <p:nvPr/>
        </p:nvSpPr>
        <p:spPr>
          <a:xfrm>
            <a:off x="3242205" y="5049776"/>
            <a:ext cx="2471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Measure in experiment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300FC91-D781-4B9A-9E0F-EB15A8722F05}"/>
              </a:ext>
            </a:extLst>
          </p:cNvPr>
          <p:cNvSpPr txBox="1"/>
          <p:nvPr/>
        </p:nvSpPr>
        <p:spPr>
          <a:xfrm>
            <a:off x="323689" y="2236371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1)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673B2A6-E3A7-4786-9618-EE4626AA04A5}"/>
              </a:ext>
            </a:extLst>
          </p:cNvPr>
          <p:cNvSpPr txBox="1"/>
          <p:nvPr/>
        </p:nvSpPr>
        <p:spPr>
          <a:xfrm>
            <a:off x="312751" y="2952285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2)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C91437-0FFF-4B13-A8E3-D1581B99F231}"/>
              </a:ext>
            </a:extLst>
          </p:cNvPr>
          <p:cNvSpPr txBox="1"/>
          <p:nvPr/>
        </p:nvSpPr>
        <p:spPr>
          <a:xfrm>
            <a:off x="289740" y="4678467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3)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78271A8-94A9-4176-8157-31A6263EF011}"/>
              </a:ext>
            </a:extLst>
          </p:cNvPr>
          <p:cNvGrpSpPr/>
          <p:nvPr/>
        </p:nvGrpSpPr>
        <p:grpSpPr>
          <a:xfrm>
            <a:off x="317741" y="5755780"/>
            <a:ext cx="1604556" cy="461665"/>
            <a:chOff x="317741" y="5755780"/>
            <a:chExt cx="1604556" cy="461665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9967DCF-3BAF-4D43-A079-D0181220D601}"/>
                </a:ext>
              </a:extLst>
            </p:cNvPr>
            <p:cNvSpPr txBox="1"/>
            <p:nvPr/>
          </p:nvSpPr>
          <p:spPr>
            <a:xfrm>
              <a:off x="317741" y="5755780"/>
              <a:ext cx="5400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2400" b="1" dirty="0"/>
                <a:t>4)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DB1C865-898D-4904-B70D-76D6DA2F1D9D}"/>
                </a:ext>
              </a:extLst>
            </p:cNvPr>
            <p:cNvSpPr txBox="1"/>
            <p:nvPr/>
          </p:nvSpPr>
          <p:spPr>
            <a:xfrm>
              <a:off x="690550" y="5848113"/>
              <a:ext cx="123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Dynamics </a:t>
              </a:r>
            </a:p>
          </p:txBody>
        </p:sp>
      </p:grpSp>
      <p:pic>
        <p:nvPicPr>
          <p:cNvPr id="51" name="Graphic 50">
            <a:extLst>
              <a:ext uri="{FF2B5EF4-FFF2-40B4-BE49-F238E27FC236}">
                <a16:creationId xmlns:a16="http://schemas.microsoft.com/office/drawing/2014/main" id="{5F7E3133-A349-458A-BA0F-D19C38B7FD9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4686" y="6131479"/>
            <a:ext cx="2544176" cy="75448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1D5188B1-185C-4B73-A20A-5A4E75F8233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556036" y="6324414"/>
            <a:ext cx="2988117" cy="47809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197E636-0BFD-472D-BEE2-AA60973D8EC7}"/>
              </a:ext>
            </a:extLst>
          </p:cNvPr>
          <p:cNvGrpSpPr/>
          <p:nvPr/>
        </p:nvGrpSpPr>
        <p:grpSpPr>
          <a:xfrm>
            <a:off x="5628809" y="5882651"/>
            <a:ext cx="2876031" cy="961287"/>
            <a:chOff x="5628809" y="5882651"/>
            <a:chExt cx="2876031" cy="961287"/>
          </a:xfrm>
        </p:grpSpPr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A86449FA-17FF-40FB-B2A8-9EA28CF7A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628809" y="6212972"/>
              <a:ext cx="2876031" cy="630966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B9B66CA-1C6B-4908-BB32-A68DC9C0CEE0}"/>
                </a:ext>
              </a:extLst>
            </p:cNvPr>
            <p:cNvSpPr txBox="1"/>
            <p:nvPr/>
          </p:nvSpPr>
          <p:spPr>
            <a:xfrm>
              <a:off x="5763198" y="5882651"/>
              <a:ext cx="11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Formally:</a:t>
              </a:r>
            </a:p>
          </p:txBody>
        </p: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8FABF666-3352-49EF-AAE9-90817636FEE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073965" y="5026194"/>
            <a:ext cx="1121910" cy="535064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D6045B3-3470-456A-99F9-26078D3271C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084020" y="5561258"/>
            <a:ext cx="2701156" cy="56578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45CFC61-8975-4E8C-AA6E-FF554F4F32E6}"/>
              </a:ext>
            </a:extLst>
          </p:cNvPr>
          <p:cNvSpPr txBox="1"/>
          <p:nvPr/>
        </p:nvSpPr>
        <p:spPr>
          <a:xfrm>
            <a:off x="8904170" y="6060062"/>
            <a:ext cx="3284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Unitary: preserving probability</a:t>
            </a: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390BC2DF-22B7-4910-A7EE-14743DB8432B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18824" y="3483786"/>
            <a:ext cx="1793657" cy="540026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152A0FEA-20C2-4218-8ACE-88FDE3737548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24128" y="4063614"/>
            <a:ext cx="2034100" cy="754019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1ADA7EC5-F833-4363-AF6C-931437FF6C43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609144" y="3906393"/>
            <a:ext cx="1027330" cy="558724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E649B057-AD3A-417D-AE42-1C3323D1B6E6}"/>
              </a:ext>
            </a:extLst>
          </p:cNvPr>
          <p:cNvGrpSpPr/>
          <p:nvPr/>
        </p:nvGrpSpPr>
        <p:grpSpPr>
          <a:xfrm>
            <a:off x="4525124" y="3937901"/>
            <a:ext cx="3682425" cy="557667"/>
            <a:chOff x="9971767" y="5779885"/>
            <a:chExt cx="3682425" cy="557667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DFDA3A2-4C4F-4315-878C-44E70D8F1124}"/>
                </a:ext>
              </a:extLst>
            </p:cNvPr>
            <p:cNvSpPr txBox="1"/>
            <p:nvPr/>
          </p:nvSpPr>
          <p:spPr>
            <a:xfrm>
              <a:off x="9971767" y="5862470"/>
              <a:ext cx="3412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= probability to find        in state </a:t>
              </a:r>
            </a:p>
          </p:txBody>
        </p:sp>
        <p:pic>
          <p:nvPicPr>
            <p:cNvPr id="71" name="Graphic 70">
              <a:extLst>
                <a:ext uri="{FF2B5EF4-FFF2-40B4-BE49-F238E27FC236}">
                  <a16:creationId xmlns:a16="http://schemas.microsoft.com/office/drawing/2014/main" id="{35CA5BBF-632C-4E2C-8446-3080F1D34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997787" y="5797526"/>
              <a:ext cx="557667" cy="503699"/>
            </a:xfrm>
            <a:prstGeom prst="rect">
              <a:avLst/>
            </a:prstGeom>
          </p:spPr>
        </p:pic>
        <p:pic>
          <p:nvPicPr>
            <p:cNvPr id="72" name="Graphic 71">
              <a:extLst>
                <a:ext uri="{FF2B5EF4-FFF2-40B4-BE49-F238E27FC236}">
                  <a16:creationId xmlns:a16="http://schemas.microsoft.com/office/drawing/2014/main" id="{8B1E03EB-1F09-4141-829D-D926CD5DE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3096525" y="5779885"/>
              <a:ext cx="557667" cy="557667"/>
            </a:xfrm>
            <a:prstGeom prst="rect">
              <a:avLst/>
            </a:prstGeom>
          </p:spPr>
        </p:pic>
      </p:grpSp>
      <p:pic>
        <p:nvPicPr>
          <p:cNvPr id="73" name="Graphic 72">
            <a:extLst>
              <a:ext uri="{FF2B5EF4-FFF2-40B4-BE49-F238E27FC236}">
                <a16:creationId xmlns:a16="http://schemas.microsoft.com/office/drawing/2014/main" id="{D298D096-664B-4931-AADE-C6E3B58BE83C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17157" t="4345"/>
          <a:stretch/>
        </p:blipFill>
        <p:spPr>
          <a:xfrm>
            <a:off x="3655639" y="3383091"/>
            <a:ext cx="1554909" cy="695502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044BD569-C027-416C-AEDC-52DC6763FAA0}"/>
              </a:ext>
            </a:extLst>
          </p:cNvPr>
          <p:cNvSpPr txBox="1"/>
          <p:nvPr/>
        </p:nvSpPr>
        <p:spPr>
          <a:xfrm>
            <a:off x="5089489" y="3426869"/>
            <a:ext cx="1783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(Completeness)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55F83F9-29DE-4369-8FFB-7D37F35C0101}"/>
              </a:ext>
            </a:extLst>
          </p:cNvPr>
          <p:cNvSpPr txBox="1"/>
          <p:nvPr/>
        </p:nvSpPr>
        <p:spPr>
          <a:xfrm>
            <a:off x="4737652" y="4446206"/>
            <a:ext cx="1921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(Normalization)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E1618FC8-F610-4C57-AC59-B2980B512184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63742" b="27638"/>
          <a:stretch/>
        </p:blipFill>
        <p:spPr>
          <a:xfrm>
            <a:off x="10067128" y="6398809"/>
            <a:ext cx="1128906" cy="52938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E9B6EB1-3E16-40E6-A2D1-122DA4FF4585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06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07C6BD-31ED-4E6F-B792-B46A8C0EAD69}"/>
              </a:ext>
            </a:extLst>
          </p:cNvPr>
          <p:cNvSpPr txBox="1"/>
          <p:nvPr/>
        </p:nvSpPr>
        <p:spPr>
          <a:xfrm>
            <a:off x="121078" y="1670115"/>
            <a:ext cx="3289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Schrodinger equation:</a:t>
            </a:r>
            <a:endParaRPr lang="en-MY" sz="240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F597EE2-48D3-430E-B453-F0B200E81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257" y="2362613"/>
            <a:ext cx="2767157" cy="8206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AD272C-4C97-494D-97B6-FC7471BBA067}"/>
              </a:ext>
            </a:extLst>
          </p:cNvPr>
          <p:cNvSpPr txBox="1"/>
          <p:nvPr/>
        </p:nvSpPr>
        <p:spPr>
          <a:xfrm>
            <a:off x="5544305" y="1715500"/>
            <a:ext cx="5515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Hilbert space</a:t>
            </a:r>
            <a:r>
              <a:rPr lang="en-US" dirty="0"/>
              <a:t> (n-dimensional complex vector space):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7903636-2C7B-408D-B6E4-C1915E8ABCDA}"/>
              </a:ext>
            </a:extLst>
          </p:cNvPr>
          <p:cNvGrpSpPr/>
          <p:nvPr/>
        </p:nvGrpSpPr>
        <p:grpSpPr>
          <a:xfrm>
            <a:off x="6616973" y="2223580"/>
            <a:ext cx="1915428" cy="1713297"/>
            <a:chOff x="6699183" y="4995512"/>
            <a:chExt cx="1915428" cy="1713297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8F825C1-BEB4-439D-8BC0-A7B5B5521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4995512"/>
              <a:ext cx="0" cy="11923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09E56C4-D4D0-497B-8EAB-B4FD6FF1440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322" y="6189295"/>
              <a:ext cx="14052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955B815-6D02-47BF-9A4C-D86FA26107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183" y="6179420"/>
              <a:ext cx="510139" cy="5293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7108BB0-0573-4937-8819-6E8FB5689F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5544847"/>
              <a:ext cx="778845" cy="6430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A381BF8-AD45-4B7A-800F-8297CD4D30A4}"/>
                </a:ext>
              </a:extLst>
            </p:cNvPr>
            <p:cNvCxnSpPr>
              <a:cxnSpLocks/>
            </p:cNvCxnSpPr>
            <p:nvPr/>
          </p:nvCxnSpPr>
          <p:spPr>
            <a:xfrm>
              <a:off x="7974302" y="5556592"/>
              <a:ext cx="0" cy="95379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F56DF6-4E7C-4B3B-8F98-95889C59478C}"/>
                </a:ext>
              </a:extLst>
            </p:cNvPr>
            <p:cNvCxnSpPr>
              <a:cxnSpLocks/>
            </p:cNvCxnSpPr>
            <p:nvPr/>
          </p:nvCxnSpPr>
          <p:spPr>
            <a:xfrm>
              <a:off x="6931962" y="6529339"/>
              <a:ext cx="1027330" cy="195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BA9BCE8-1C2F-4414-B54C-FA86A6CA2D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7589" y="6179420"/>
              <a:ext cx="294298" cy="36947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FA01BC-FD1D-43A2-A9B0-36211BC52E10}"/>
              </a:ext>
            </a:extLst>
          </p:cNvPr>
          <p:cNvGrpSpPr/>
          <p:nvPr/>
        </p:nvGrpSpPr>
        <p:grpSpPr>
          <a:xfrm>
            <a:off x="484554" y="3155638"/>
            <a:ext cx="5850269" cy="714479"/>
            <a:chOff x="8772568" y="5953158"/>
            <a:chExt cx="5850269" cy="71447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F49EEE9-56EC-4103-9AF2-835917171A4F}"/>
                </a:ext>
              </a:extLst>
            </p:cNvPr>
            <p:cNvSpPr txBox="1"/>
            <p:nvPr/>
          </p:nvSpPr>
          <p:spPr>
            <a:xfrm>
              <a:off x="8772568" y="6021306"/>
              <a:ext cx="5850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How to model the quantum microstates         statistically that is compatible with quantum mechanics?</a:t>
              </a:r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3E029B42-957B-405E-94DF-85F56E65A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770630" y="5953158"/>
              <a:ext cx="557667" cy="503699"/>
            </a:xfrm>
            <a:prstGeom prst="rect">
              <a:avLst/>
            </a:prstGeom>
          </p:spPr>
        </p:pic>
      </p:grpSp>
      <p:pic>
        <p:nvPicPr>
          <p:cNvPr id="26" name="Graphic 25">
            <a:extLst>
              <a:ext uri="{FF2B5EF4-FFF2-40B4-BE49-F238E27FC236}">
                <a16:creationId xmlns:a16="http://schemas.microsoft.com/office/drawing/2014/main" id="{BAC4DFFC-2FC6-461E-B8BA-847E207435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38437" y="2561192"/>
            <a:ext cx="623385" cy="44755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3AD5F3F4-E4FB-46FD-9BEE-2E03271C67E9}"/>
              </a:ext>
            </a:extLst>
          </p:cNvPr>
          <p:cNvGrpSpPr/>
          <p:nvPr/>
        </p:nvGrpSpPr>
        <p:grpSpPr>
          <a:xfrm>
            <a:off x="8353935" y="2536639"/>
            <a:ext cx="2113903" cy="419041"/>
            <a:chOff x="8353935" y="2536639"/>
            <a:chExt cx="2113903" cy="419041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4B83E04F-2870-4BE3-BF89-BFD7C1CFF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957701" y="2536639"/>
              <a:ext cx="510137" cy="419041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7102A3D-532E-4AA2-BEF5-B2962BF68450}"/>
                </a:ext>
              </a:extLst>
            </p:cNvPr>
            <p:cNvSpPr txBox="1"/>
            <p:nvPr/>
          </p:nvSpPr>
          <p:spPr>
            <a:xfrm>
              <a:off x="8353935" y="2567486"/>
              <a:ext cx="1846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with probability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3F571D8-ED79-46A5-88EE-2AD757F7C704}"/>
              </a:ext>
            </a:extLst>
          </p:cNvPr>
          <p:cNvGrpSpPr/>
          <p:nvPr/>
        </p:nvGrpSpPr>
        <p:grpSpPr>
          <a:xfrm>
            <a:off x="673523" y="4045027"/>
            <a:ext cx="3224709" cy="964045"/>
            <a:chOff x="673523" y="4045027"/>
            <a:chExt cx="3224709" cy="96404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A6792AE-9CFF-400F-A988-977CD13451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r="57791" b="50000"/>
            <a:stretch/>
          </p:blipFill>
          <p:spPr>
            <a:xfrm>
              <a:off x="1617649" y="4414360"/>
              <a:ext cx="2280583" cy="594712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AC1E4BA-10DA-46A5-B890-FAD01AA704AC}"/>
                </a:ext>
              </a:extLst>
            </p:cNvPr>
            <p:cNvSpPr txBox="1"/>
            <p:nvPr/>
          </p:nvSpPr>
          <p:spPr>
            <a:xfrm>
              <a:off x="673523" y="4045027"/>
              <a:ext cx="2829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Experiment measurement:</a:t>
              </a: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EA70631B-68D9-4CA6-8F96-F794474CC13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42806" r="1001" b="45660"/>
          <a:stretch/>
        </p:blipFill>
        <p:spPr>
          <a:xfrm>
            <a:off x="4023607" y="4389677"/>
            <a:ext cx="3036130" cy="64633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3391C5F-2A7A-4890-94D3-3E4462B21795}"/>
              </a:ext>
            </a:extLst>
          </p:cNvPr>
          <p:cNvGrpSpPr/>
          <p:nvPr/>
        </p:nvGrpSpPr>
        <p:grpSpPr>
          <a:xfrm>
            <a:off x="7836635" y="4375500"/>
            <a:ext cx="3306297" cy="695502"/>
            <a:chOff x="7836635" y="4375500"/>
            <a:chExt cx="3306297" cy="695502"/>
          </a:xfrm>
        </p:grpSpPr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E793E4CD-8590-48FF-A334-4258D3809D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17157" t="4345"/>
            <a:stretch/>
          </p:blipFill>
          <p:spPr>
            <a:xfrm>
              <a:off x="7836635" y="4375500"/>
              <a:ext cx="1554909" cy="695502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50470C8-916A-4F8F-B207-BE4A6C837AFB}"/>
                </a:ext>
              </a:extLst>
            </p:cNvPr>
            <p:cNvSpPr txBox="1"/>
            <p:nvPr/>
          </p:nvSpPr>
          <p:spPr>
            <a:xfrm>
              <a:off x="9359814" y="4419393"/>
              <a:ext cx="17831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dirty="0"/>
                <a:t>(Completeness)</a:t>
              </a: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34526664-5C53-4525-933C-24D3366D84E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6383" t="48579" r="54584" b="-2919"/>
          <a:stretch/>
        </p:blipFill>
        <p:spPr>
          <a:xfrm>
            <a:off x="1876129" y="4958602"/>
            <a:ext cx="2108977" cy="646331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F952CB74-E914-4AA3-8107-D2688055CEC3}"/>
              </a:ext>
            </a:extLst>
          </p:cNvPr>
          <p:cNvGrpSpPr/>
          <p:nvPr/>
        </p:nvGrpSpPr>
        <p:grpSpPr>
          <a:xfrm>
            <a:off x="793952" y="5418560"/>
            <a:ext cx="2407088" cy="678997"/>
            <a:chOff x="793952" y="5418560"/>
            <a:chExt cx="2407088" cy="678997"/>
          </a:xfrm>
        </p:grpSpPr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831F525A-E69A-440E-8D24-1CA1402F9422}"/>
                </a:ext>
              </a:extLst>
            </p:cNvPr>
            <p:cNvSpPr/>
            <p:nvPr/>
          </p:nvSpPr>
          <p:spPr>
            <a:xfrm rot="5400000">
              <a:off x="2748354" y="5235381"/>
              <a:ext cx="269507" cy="63586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A5F333E-19CF-47A2-B664-573870D3E723}"/>
                </a:ext>
              </a:extLst>
            </p:cNvPr>
            <p:cNvSpPr txBox="1"/>
            <p:nvPr/>
          </p:nvSpPr>
          <p:spPr>
            <a:xfrm>
              <a:off x="793952" y="5728225"/>
              <a:ext cx="1722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Density matrix</a:t>
              </a:r>
            </a:p>
          </p:txBody>
        </p:sp>
      </p:grpSp>
      <p:pic>
        <p:nvPicPr>
          <p:cNvPr id="43" name="Graphic 42">
            <a:extLst>
              <a:ext uri="{FF2B5EF4-FFF2-40B4-BE49-F238E27FC236}">
                <a16:creationId xmlns:a16="http://schemas.microsoft.com/office/drawing/2014/main" id="{03F95746-7647-4157-BF9E-9A9E24D6D6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48521" y="5674909"/>
            <a:ext cx="3272269" cy="72905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DD77B3D-2A41-42C8-AEE8-CBFFFD296CE5}"/>
              </a:ext>
            </a:extLst>
          </p:cNvPr>
          <p:cNvGrpSpPr/>
          <p:nvPr/>
        </p:nvGrpSpPr>
        <p:grpSpPr>
          <a:xfrm>
            <a:off x="6398528" y="5785893"/>
            <a:ext cx="3137406" cy="1079281"/>
            <a:chOff x="6398528" y="5785893"/>
            <a:chExt cx="3137406" cy="107928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EF0999C-3D7C-463A-AC14-F6EE3A22A127}"/>
                </a:ext>
              </a:extLst>
            </p:cNvPr>
            <p:cNvSpPr txBox="1"/>
            <p:nvPr/>
          </p:nvSpPr>
          <p:spPr>
            <a:xfrm>
              <a:off x="6398528" y="5785893"/>
              <a:ext cx="1985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In basis-free form:</a:t>
              </a: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EA610D47-AF15-46A9-8946-9BE664DA4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600435" y="6131300"/>
              <a:ext cx="2935499" cy="733874"/>
            </a:xfrm>
            <a:prstGeom prst="rect">
              <a:avLst/>
            </a:prstGeom>
          </p:spPr>
        </p:pic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74CB65A-914D-4EAF-A671-5200F5E16B29}"/>
              </a:ext>
            </a:extLst>
          </p:cNvPr>
          <p:cNvSpPr/>
          <p:nvPr/>
        </p:nvSpPr>
        <p:spPr>
          <a:xfrm>
            <a:off x="6600436" y="6175005"/>
            <a:ext cx="2935497" cy="64243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694271F8-10EE-4B9F-9838-6065453CA76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37841" y="6155225"/>
            <a:ext cx="1576649" cy="60340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07E0F65-3653-470A-9438-4AA7A7D85025}"/>
              </a:ext>
            </a:extLst>
          </p:cNvPr>
          <p:cNvGrpSpPr/>
          <p:nvPr/>
        </p:nvGrpSpPr>
        <p:grpSpPr>
          <a:xfrm>
            <a:off x="3985106" y="6403964"/>
            <a:ext cx="2723702" cy="436836"/>
            <a:chOff x="3985106" y="6403964"/>
            <a:chExt cx="2723702" cy="436836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31621A4-AA7D-4007-A83C-C7E2C708A263}"/>
                </a:ext>
              </a:extLst>
            </p:cNvPr>
            <p:cNvSpPr txBox="1"/>
            <p:nvPr/>
          </p:nvSpPr>
          <p:spPr>
            <a:xfrm>
              <a:off x="3985106" y="6471468"/>
              <a:ext cx="2169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What form is allow?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FD30C4F4-5D73-4972-90D2-B2073A5534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7545" y="6403964"/>
              <a:ext cx="481263" cy="136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3F3D1C3-1E71-40A8-BA18-78AAC457A7B8}"/>
              </a:ext>
            </a:extLst>
          </p:cNvPr>
          <p:cNvGrpSpPr/>
          <p:nvPr/>
        </p:nvGrpSpPr>
        <p:grpSpPr>
          <a:xfrm>
            <a:off x="7829756" y="5436846"/>
            <a:ext cx="4474558" cy="903414"/>
            <a:chOff x="7829756" y="5436846"/>
            <a:chExt cx="4474558" cy="903414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659E939-5459-4D13-BE7F-F2E9E61A6C01}"/>
                </a:ext>
              </a:extLst>
            </p:cNvPr>
            <p:cNvCxnSpPr>
              <a:cxnSpLocks/>
            </p:cNvCxnSpPr>
            <p:nvPr/>
          </p:nvCxnSpPr>
          <p:spPr>
            <a:xfrm>
              <a:off x="10866923" y="5970559"/>
              <a:ext cx="0" cy="3697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AD15785-7F63-461A-905C-C6B15A1E68E0}"/>
                </a:ext>
              </a:extLst>
            </p:cNvPr>
            <p:cNvGrpSpPr/>
            <p:nvPr/>
          </p:nvGrpSpPr>
          <p:grpSpPr>
            <a:xfrm>
              <a:off x="7829756" y="5436846"/>
              <a:ext cx="4474558" cy="465393"/>
              <a:chOff x="7646306" y="5407704"/>
              <a:chExt cx="4474558" cy="465393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4EB3FD0-B743-487E-92E6-299BE4201ACC}"/>
                  </a:ext>
                </a:extLst>
              </p:cNvPr>
              <p:cNvSpPr txBox="1"/>
              <p:nvPr/>
            </p:nvSpPr>
            <p:spPr>
              <a:xfrm>
                <a:off x="7646306" y="5466233"/>
                <a:ext cx="44745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>
                    <a:solidFill>
                      <a:srgbClr val="FF0000"/>
                    </a:solidFill>
                  </a:rPr>
                  <a:t>play the role like                  in classical case.</a:t>
                </a:r>
              </a:p>
            </p:txBody>
          </p:sp>
          <p:pic>
            <p:nvPicPr>
              <p:cNvPr id="60" name="Graphic 59">
                <a:extLst>
                  <a:ext uri="{FF2B5EF4-FFF2-40B4-BE49-F238E27FC236}">
                    <a16:creationId xmlns:a16="http://schemas.microsoft.com/office/drawing/2014/main" id="{54DDFEA5-F001-4689-9314-9A7586886BD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 r="65547" b="918"/>
              <a:stretch/>
            </p:blipFill>
            <p:spPr>
              <a:xfrm>
                <a:off x="9348295" y="5407704"/>
                <a:ext cx="931904" cy="465393"/>
              </a:xfrm>
              <a:prstGeom prst="rect">
                <a:avLst/>
              </a:prstGeom>
            </p:spPr>
          </p:pic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39D54EF-7CCC-4AEB-B62B-5007EA7E1B0B}"/>
              </a:ext>
            </a:extLst>
          </p:cNvPr>
          <p:cNvGrpSpPr/>
          <p:nvPr/>
        </p:nvGrpSpPr>
        <p:grpSpPr>
          <a:xfrm>
            <a:off x="197847" y="6097557"/>
            <a:ext cx="3289600" cy="782775"/>
            <a:chOff x="197847" y="6097557"/>
            <a:chExt cx="3289600" cy="782775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DD86115-63FE-4AAB-BA26-769F09872262}"/>
                </a:ext>
              </a:extLst>
            </p:cNvPr>
            <p:cNvSpPr txBox="1"/>
            <p:nvPr/>
          </p:nvSpPr>
          <p:spPr>
            <a:xfrm>
              <a:off x="197847" y="6234001"/>
              <a:ext cx="3289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Is the tool to build statistical model in quantum mechanics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011B32C-8954-41E7-B670-21D3EDAD24A2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 flipV="1">
              <a:off x="1490203" y="6097557"/>
              <a:ext cx="165107" cy="1752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62ADC6EE-1FE8-4E45-8F0D-14BC5C18DF3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19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matrix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5F333E-19CF-47A2-B664-573870D3E723}"/>
              </a:ext>
            </a:extLst>
          </p:cNvPr>
          <p:cNvSpPr txBox="1"/>
          <p:nvPr/>
        </p:nvSpPr>
        <p:spPr>
          <a:xfrm>
            <a:off x="640718" y="2070911"/>
            <a:ext cx="172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Density matrix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F0999C-3D7C-463A-AC14-F6EE3A22A127}"/>
              </a:ext>
            </a:extLst>
          </p:cNvPr>
          <p:cNvSpPr txBox="1"/>
          <p:nvPr/>
        </p:nvSpPr>
        <p:spPr>
          <a:xfrm>
            <a:off x="7014545" y="2012790"/>
            <a:ext cx="1985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 basis-free form: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03F95746-7647-4157-BF9E-9A9E24D6D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5287" y="2017595"/>
            <a:ext cx="3272269" cy="729054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EA610D47-AF15-46A9-8946-9BE664DA45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0141" y="2299917"/>
            <a:ext cx="2935499" cy="733874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74CB65A-914D-4EAF-A671-5200F5E16B29}"/>
              </a:ext>
            </a:extLst>
          </p:cNvPr>
          <p:cNvSpPr/>
          <p:nvPr/>
        </p:nvSpPr>
        <p:spPr>
          <a:xfrm>
            <a:off x="8210142" y="2343622"/>
            <a:ext cx="2935497" cy="64243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1703DEB-3A54-4F17-B0C2-782BA54B7E2B}"/>
              </a:ext>
            </a:extLst>
          </p:cNvPr>
          <p:cNvGrpSpPr/>
          <p:nvPr/>
        </p:nvGrpSpPr>
        <p:grpSpPr>
          <a:xfrm>
            <a:off x="475933" y="2551309"/>
            <a:ext cx="3896075" cy="1931345"/>
            <a:chOff x="475933" y="2551309"/>
            <a:chExt cx="3896075" cy="1931345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9BB87B49-8240-4B37-A73C-AB830BE4C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66081" y="2551309"/>
              <a:ext cx="3115779" cy="728144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8DEC440-741A-4AFA-AA37-AD1440240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56229" y="3146009"/>
              <a:ext cx="3115779" cy="757892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DE51C738-16F6-407A-8952-372C2E72D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56229" y="3754510"/>
              <a:ext cx="1066816" cy="728144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0DB2170B-F29F-44E9-B5CC-6A7560C83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207776" y="3821847"/>
              <a:ext cx="606342" cy="422602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4B51372-C313-4ACC-B634-9FDE512D2F31}"/>
                </a:ext>
              </a:extLst>
            </p:cNvPr>
            <p:cNvSpPr txBox="1"/>
            <p:nvPr/>
          </p:nvSpPr>
          <p:spPr>
            <a:xfrm>
              <a:off x="475933" y="2575088"/>
              <a:ext cx="5400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2400" b="1" dirty="0"/>
                <a:t>1)</a:t>
              </a:r>
            </a:p>
          </p:txBody>
        </p:sp>
      </p:grpSp>
      <p:pic>
        <p:nvPicPr>
          <p:cNvPr id="37" name="Graphic 36">
            <a:extLst>
              <a:ext uri="{FF2B5EF4-FFF2-40B4-BE49-F238E27FC236}">
                <a16:creationId xmlns:a16="http://schemas.microsoft.com/office/drawing/2014/main" id="{2E088CF4-0DE5-4DE3-A894-6DCC4D038E6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19015" y="3216192"/>
            <a:ext cx="4011331" cy="865189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96471E62-F1E8-411E-86A2-BE413460FFCB}"/>
              </a:ext>
            </a:extLst>
          </p:cNvPr>
          <p:cNvGrpSpPr/>
          <p:nvPr/>
        </p:nvGrpSpPr>
        <p:grpSpPr>
          <a:xfrm>
            <a:off x="9574367" y="3350601"/>
            <a:ext cx="1539230" cy="760887"/>
            <a:chOff x="9574367" y="3350601"/>
            <a:chExt cx="1539230" cy="760887"/>
          </a:xfrm>
        </p:grpSpPr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82B05718-6476-4260-B256-39013F64E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574367" y="3350601"/>
              <a:ext cx="1539230" cy="473609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B152DB5-F26F-4195-B422-697F261337B4}"/>
                </a:ext>
              </a:extLst>
            </p:cNvPr>
            <p:cNvSpPr txBox="1"/>
            <p:nvPr/>
          </p:nvSpPr>
          <p:spPr>
            <a:xfrm>
              <a:off x="9677421" y="3742156"/>
              <a:ext cx="13331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(pure state)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29847EE7-7551-4285-ACC2-209E74A64BD4}"/>
              </a:ext>
            </a:extLst>
          </p:cNvPr>
          <p:cNvSpPr txBox="1"/>
          <p:nvPr/>
        </p:nvSpPr>
        <p:spPr>
          <a:xfrm>
            <a:off x="485741" y="4367165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2)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AE9146-B1FA-4DBC-B409-928E8DE0985A}"/>
              </a:ext>
            </a:extLst>
          </p:cNvPr>
          <p:cNvSpPr txBox="1"/>
          <p:nvPr/>
        </p:nvSpPr>
        <p:spPr>
          <a:xfrm>
            <a:off x="887163" y="4459498"/>
            <a:ext cx="133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Hermiticity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880A0B61-5286-4ABC-B881-2AC341503E2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97223" y="4865753"/>
            <a:ext cx="5247956" cy="479381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E9C38507-9E67-41C1-B5A1-DA60D2B11F21}"/>
              </a:ext>
            </a:extLst>
          </p:cNvPr>
          <p:cNvGrpSpPr/>
          <p:nvPr/>
        </p:nvGrpSpPr>
        <p:grpSpPr>
          <a:xfrm>
            <a:off x="6874278" y="4828830"/>
            <a:ext cx="1306883" cy="534970"/>
            <a:chOff x="7180094" y="4857804"/>
            <a:chExt cx="1306883" cy="534970"/>
          </a:xfrm>
        </p:grpSpPr>
        <p:pic>
          <p:nvPicPr>
            <p:cNvPr id="56" name="Graphic 55">
              <a:extLst>
                <a:ext uri="{FF2B5EF4-FFF2-40B4-BE49-F238E27FC236}">
                  <a16:creationId xmlns:a16="http://schemas.microsoft.com/office/drawing/2014/main" id="{C76FEAE5-449F-4FAE-82AF-37537B514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527720" y="4857804"/>
              <a:ext cx="959257" cy="534970"/>
            </a:xfrm>
            <a:prstGeom prst="rect">
              <a:avLst/>
            </a:prstGeom>
          </p:spPr>
        </p:pic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46486EE3-6D6F-461D-A2D9-1BB4D5E6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7180094" y="4965888"/>
              <a:ext cx="462364" cy="388386"/>
            </a:xfrm>
            <a:prstGeom prst="rect">
              <a:avLst/>
            </a:prstGeom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9100AC03-0AE5-4AD9-8BC3-581FE6C86C0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47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matrix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5F333E-19CF-47A2-B664-573870D3E723}"/>
              </a:ext>
            </a:extLst>
          </p:cNvPr>
          <p:cNvSpPr txBox="1"/>
          <p:nvPr/>
        </p:nvSpPr>
        <p:spPr>
          <a:xfrm>
            <a:off x="640718" y="2070911"/>
            <a:ext cx="172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Density matrix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F0999C-3D7C-463A-AC14-F6EE3A22A127}"/>
              </a:ext>
            </a:extLst>
          </p:cNvPr>
          <p:cNvSpPr txBox="1"/>
          <p:nvPr/>
        </p:nvSpPr>
        <p:spPr>
          <a:xfrm>
            <a:off x="7014545" y="2012790"/>
            <a:ext cx="1985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 basis-free form: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03F95746-7647-4157-BF9E-9A9E24D6D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5287" y="2017595"/>
            <a:ext cx="3272269" cy="729054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EA610D47-AF15-46A9-8946-9BE664DA45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0141" y="2299917"/>
            <a:ext cx="2935499" cy="733874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74CB65A-914D-4EAF-A671-5200F5E16B29}"/>
              </a:ext>
            </a:extLst>
          </p:cNvPr>
          <p:cNvSpPr/>
          <p:nvPr/>
        </p:nvSpPr>
        <p:spPr>
          <a:xfrm>
            <a:off x="8210142" y="2343622"/>
            <a:ext cx="2935497" cy="64243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BB87B49-8240-4B37-A73C-AB830BE4CCC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86163" b="11061"/>
          <a:stretch/>
        </p:blipFill>
        <p:spPr>
          <a:xfrm>
            <a:off x="866082" y="2551309"/>
            <a:ext cx="431142" cy="647604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DB2170B-F29F-44E9-B5CC-6A7560C83B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2383" y="2601044"/>
            <a:ext cx="606342" cy="42260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4B51372-C313-4ACC-B634-9FDE512D2F31}"/>
              </a:ext>
            </a:extLst>
          </p:cNvPr>
          <p:cNvSpPr txBox="1"/>
          <p:nvPr/>
        </p:nvSpPr>
        <p:spPr>
          <a:xfrm>
            <a:off x="475933" y="2575088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1)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2E088CF4-0DE5-4DE3-A894-6DCC4D038E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40972" y="2652022"/>
            <a:ext cx="4011331" cy="865189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C76FEAE5-449F-4FAE-82AF-37537B51491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21990" y="3658453"/>
            <a:ext cx="959257" cy="53497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99DB9B7-4643-458C-B09D-4D16D121C78B}"/>
              </a:ext>
            </a:extLst>
          </p:cNvPr>
          <p:cNvSpPr txBox="1"/>
          <p:nvPr/>
        </p:nvSpPr>
        <p:spPr>
          <a:xfrm>
            <a:off x="475933" y="4064980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3)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159A34-3B93-40B5-92F7-68CA98B8BA62}"/>
              </a:ext>
            </a:extLst>
          </p:cNvPr>
          <p:cNvSpPr txBox="1"/>
          <p:nvPr/>
        </p:nvSpPr>
        <p:spPr>
          <a:xfrm>
            <a:off x="877355" y="4157313"/>
            <a:ext cx="1108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 err="1"/>
              <a:t>Positivite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209A59-C152-4D1F-AC24-70EA01FA0F9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56992" y="5192814"/>
            <a:ext cx="4538668" cy="52877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D1D9878-1234-4B56-81C4-12ED1F2ED63F}"/>
              </a:ext>
            </a:extLst>
          </p:cNvPr>
          <p:cNvGrpSpPr/>
          <p:nvPr/>
        </p:nvGrpSpPr>
        <p:grpSpPr>
          <a:xfrm>
            <a:off x="1099027" y="4618978"/>
            <a:ext cx="3927870" cy="573836"/>
            <a:chOff x="2440972" y="5753151"/>
            <a:chExt cx="3927870" cy="57383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670A58B-A21E-4F14-827F-51A9710F4492}"/>
                </a:ext>
              </a:extLst>
            </p:cNvPr>
            <p:cNvSpPr txBox="1"/>
            <p:nvPr/>
          </p:nvSpPr>
          <p:spPr>
            <a:xfrm>
              <a:off x="2440972" y="5842535"/>
              <a:ext cx="3927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For any states        in the Hilbert space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EEC9821-831D-4DB6-BA08-87211784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747003" y="5753151"/>
              <a:ext cx="635319" cy="573836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9EE6E2F-74DC-40FB-AD86-26771CCE43A3}"/>
              </a:ext>
            </a:extLst>
          </p:cNvPr>
          <p:cNvSpPr txBox="1"/>
          <p:nvPr/>
        </p:nvSpPr>
        <p:spPr>
          <a:xfrm>
            <a:off x="460901" y="3311108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6A9F7C-636C-422B-B4A0-C73423571858}"/>
              </a:ext>
            </a:extLst>
          </p:cNvPr>
          <p:cNvSpPr txBox="1"/>
          <p:nvPr/>
        </p:nvSpPr>
        <p:spPr>
          <a:xfrm>
            <a:off x="862323" y="3403441"/>
            <a:ext cx="133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Hermiticity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60EF8A6-499B-4B26-B42B-F9ED3FF8B4D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85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matrix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5F333E-19CF-47A2-B664-573870D3E723}"/>
              </a:ext>
            </a:extLst>
          </p:cNvPr>
          <p:cNvSpPr txBox="1"/>
          <p:nvPr/>
        </p:nvSpPr>
        <p:spPr>
          <a:xfrm>
            <a:off x="640718" y="2070911"/>
            <a:ext cx="172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Density matrix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F0999C-3D7C-463A-AC14-F6EE3A22A127}"/>
              </a:ext>
            </a:extLst>
          </p:cNvPr>
          <p:cNvSpPr txBox="1"/>
          <p:nvPr/>
        </p:nvSpPr>
        <p:spPr>
          <a:xfrm>
            <a:off x="7014545" y="2012790"/>
            <a:ext cx="1985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 basis-free form: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03F95746-7647-4157-BF9E-9A9E24D6D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5287" y="2017595"/>
            <a:ext cx="3272269" cy="729054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EA610D47-AF15-46A9-8946-9BE664DA45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0141" y="2299917"/>
            <a:ext cx="2935499" cy="733874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74CB65A-914D-4EAF-A671-5200F5E16B29}"/>
              </a:ext>
            </a:extLst>
          </p:cNvPr>
          <p:cNvSpPr/>
          <p:nvPr/>
        </p:nvSpPr>
        <p:spPr>
          <a:xfrm>
            <a:off x="8210142" y="2343622"/>
            <a:ext cx="2935497" cy="64243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BB87B49-8240-4B37-A73C-AB830BE4CCC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86163" b="11061"/>
          <a:stretch/>
        </p:blipFill>
        <p:spPr>
          <a:xfrm>
            <a:off x="866082" y="2551309"/>
            <a:ext cx="431142" cy="647604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DB2170B-F29F-44E9-B5CC-6A7560C83B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2383" y="2601044"/>
            <a:ext cx="606342" cy="42260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4B51372-C313-4ACC-B634-9FDE512D2F31}"/>
              </a:ext>
            </a:extLst>
          </p:cNvPr>
          <p:cNvSpPr txBox="1"/>
          <p:nvPr/>
        </p:nvSpPr>
        <p:spPr>
          <a:xfrm>
            <a:off x="475933" y="2575088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1)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2E088CF4-0DE5-4DE3-A894-6DCC4D038E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40972" y="2652022"/>
            <a:ext cx="4011331" cy="865189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C76FEAE5-449F-4FAE-82AF-37537B51491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21990" y="3658453"/>
            <a:ext cx="959257" cy="53497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99DB9B7-4643-458C-B09D-4D16D121C78B}"/>
              </a:ext>
            </a:extLst>
          </p:cNvPr>
          <p:cNvSpPr txBox="1"/>
          <p:nvPr/>
        </p:nvSpPr>
        <p:spPr>
          <a:xfrm>
            <a:off x="475933" y="4064980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3)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159A34-3B93-40B5-92F7-68CA98B8BA62}"/>
              </a:ext>
            </a:extLst>
          </p:cNvPr>
          <p:cNvSpPr txBox="1"/>
          <p:nvPr/>
        </p:nvSpPr>
        <p:spPr>
          <a:xfrm>
            <a:off x="877355" y="4157313"/>
            <a:ext cx="1108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Positivity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1D9878-1234-4B56-81C4-12ED1F2ED63F}"/>
              </a:ext>
            </a:extLst>
          </p:cNvPr>
          <p:cNvGrpSpPr/>
          <p:nvPr/>
        </p:nvGrpSpPr>
        <p:grpSpPr>
          <a:xfrm>
            <a:off x="3920229" y="4399566"/>
            <a:ext cx="3927870" cy="573836"/>
            <a:chOff x="8201250" y="6040069"/>
            <a:chExt cx="3927870" cy="57383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670A58B-A21E-4F14-827F-51A9710F4492}"/>
                </a:ext>
              </a:extLst>
            </p:cNvPr>
            <p:cNvSpPr txBox="1"/>
            <p:nvPr/>
          </p:nvSpPr>
          <p:spPr>
            <a:xfrm>
              <a:off x="8201250" y="6142320"/>
              <a:ext cx="3927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For any states        in the Hilbert space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EEC9821-831D-4DB6-BA08-87211784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500310" y="6040069"/>
              <a:ext cx="635319" cy="573836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9EE6E2F-74DC-40FB-AD86-26771CCE43A3}"/>
              </a:ext>
            </a:extLst>
          </p:cNvPr>
          <p:cNvSpPr txBox="1"/>
          <p:nvPr/>
        </p:nvSpPr>
        <p:spPr>
          <a:xfrm>
            <a:off x="460901" y="3311108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6A9F7C-636C-422B-B4A0-C73423571858}"/>
              </a:ext>
            </a:extLst>
          </p:cNvPr>
          <p:cNvSpPr txBox="1"/>
          <p:nvPr/>
        </p:nvSpPr>
        <p:spPr>
          <a:xfrm>
            <a:off x="862323" y="3403441"/>
            <a:ext cx="133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Hermiticity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866904-0958-442B-805E-DBB18B53B124}"/>
              </a:ext>
            </a:extLst>
          </p:cNvPr>
          <p:cNvGrpSpPr/>
          <p:nvPr/>
        </p:nvGrpSpPr>
        <p:grpSpPr>
          <a:xfrm>
            <a:off x="2363434" y="4429015"/>
            <a:ext cx="1176645" cy="514940"/>
            <a:chOff x="2856992" y="5192813"/>
            <a:chExt cx="1176645" cy="51494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A209A59-C152-4D1F-AC24-70EA01FA0F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r="83209" b="2616"/>
            <a:stretch/>
          </p:blipFill>
          <p:spPr>
            <a:xfrm>
              <a:off x="2856992" y="5192814"/>
              <a:ext cx="762107" cy="51493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52CF908-9057-49CA-A062-2BF53CBF18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l="92929" t="-1915" r="-1325" b="4531"/>
            <a:stretch/>
          </p:blipFill>
          <p:spPr>
            <a:xfrm>
              <a:off x="3652583" y="5192813"/>
              <a:ext cx="381054" cy="514939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BAB22D3-B414-42C5-B125-8D2FEA77BFF5}"/>
              </a:ext>
            </a:extLst>
          </p:cNvPr>
          <p:cNvSpPr txBox="1"/>
          <p:nvPr/>
        </p:nvSpPr>
        <p:spPr>
          <a:xfrm>
            <a:off x="488081" y="4956923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4)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C6D6F0-C910-46FC-B77C-12A75598349D}"/>
              </a:ext>
            </a:extLst>
          </p:cNvPr>
          <p:cNvSpPr txBox="1"/>
          <p:nvPr/>
        </p:nvSpPr>
        <p:spPr>
          <a:xfrm>
            <a:off x="889503" y="5049256"/>
            <a:ext cx="5734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Time evolution: Liouville’s theorem for quantum system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342D0B-FADE-47E3-9CE9-98C93F11C0E9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t="9529"/>
          <a:stretch/>
        </p:blipFill>
        <p:spPr>
          <a:xfrm>
            <a:off x="862323" y="5446940"/>
            <a:ext cx="4124326" cy="5570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12F216-9EE3-4A66-9550-7600EF4605B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01472" y="6121693"/>
            <a:ext cx="2855711" cy="5201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DB417B-A8F3-45AC-BE91-7FF4953275D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57183" y="6206620"/>
            <a:ext cx="1815341" cy="35032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9846018-80C7-4BF5-9965-119FCE6B79CD}"/>
              </a:ext>
            </a:extLst>
          </p:cNvPr>
          <p:cNvGrpSpPr/>
          <p:nvPr/>
        </p:nvGrpSpPr>
        <p:grpSpPr>
          <a:xfrm>
            <a:off x="8624236" y="5637693"/>
            <a:ext cx="1713886" cy="733874"/>
            <a:chOff x="8624236" y="5637693"/>
            <a:chExt cx="1713886" cy="73387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34A11AE-41BD-45D4-837F-732BA012A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693461" y="5687848"/>
              <a:ext cx="1567070" cy="592279"/>
            </a:xfrm>
            <a:prstGeom prst="rect">
              <a:avLst/>
            </a:prstGeom>
          </p:spPr>
        </p:pic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5826A78-16AE-4C0B-95BC-96EDCDD46806}"/>
                </a:ext>
              </a:extLst>
            </p:cNvPr>
            <p:cNvSpPr/>
            <p:nvPr/>
          </p:nvSpPr>
          <p:spPr>
            <a:xfrm>
              <a:off x="8624236" y="5637693"/>
              <a:ext cx="1713886" cy="73387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3409B1D-8901-474C-892F-6677F5B44737}"/>
              </a:ext>
            </a:extLst>
          </p:cNvPr>
          <p:cNvSpPr txBox="1"/>
          <p:nvPr/>
        </p:nvSpPr>
        <p:spPr>
          <a:xfrm>
            <a:off x="8518359" y="6381996"/>
            <a:ext cx="308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(Conservation of probability)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F009C99-4B78-4099-8063-42706A8D0ED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17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59C92-4E56-44FE-8D4C-924ECA98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Equilibrium in quantum system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E321C8-3774-4CB7-BF0E-5BB462CF942A}"/>
              </a:ext>
            </a:extLst>
          </p:cNvPr>
          <p:cNvGrpSpPr/>
          <p:nvPr/>
        </p:nvGrpSpPr>
        <p:grpSpPr>
          <a:xfrm>
            <a:off x="933650" y="2307352"/>
            <a:ext cx="1713886" cy="733874"/>
            <a:chOff x="8624236" y="5637693"/>
            <a:chExt cx="1713886" cy="73387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FFDFB5D-C1A7-4CD4-9AAC-C3F3E7D4B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93461" y="5687848"/>
              <a:ext cx="1567070" cy="592279"/>
            </a:xfrm>
            <a:prstGeom prst="rect">
              <a:avLst/>
            </a:prstGeom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23BCAC3-C7E6-4180-9B0C-561F68698B4E}"/>
                </a:ext>
              </a:extLst>
            </p:cNvPr>
            <p:cNvSpPr/>
            <p:nvPr/>
          </p:nvSpPr>
          <p:spPr>
            <a:xfrm>
              <a:off x="8624236" y="5637693"/>
              <a:ext cx="1713886" cy="73387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07017330-7A01-45F1-8168-C63C20A09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270954"/>
            <a:ext cx="1033513" cy="7935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08EB75-9C5B-4074-9D36-AEFD0EEC2079}"/>
              </a:ext>
            </a:extLst>
          </p:cNvPr>
          <p:cNvSpPr txBox="1"/>
          <p:nvPr/>
        </p:nvSpPr>
        <p:spPr>
          <a:xfrm>
            <a:off x="3268601" y="2468980"/>
            <a:ext cx="2529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 thermal equilibrium: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F9F472C-0331-4B15-83D5-54C4586CDC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74243" y="3222459"/>
            <a:ext cx="2916164" cy="57099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9278CA63-11AC-46D9-9E61-A07E59D54C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98656" y="5958919"/>
            <a:ext cx="1945506" cy="87921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49D62BA-CCE2-449A-9D93-D8046AFD7173}"/>
              </a:ext>
            </a:extLst>
          </p:cNvPr>
          <p:cNvGrpSpPr/>
          <p:nvPr/>
        </p:nvGrpSpPr>
        <p:grpSpPr>
          <a:xfrm>
            <a:off x="977655" y="3992868"/>
            <a:ext cx="4484405" cy="1117584"/>
            <a:chOff x="977655" y="3992868"/>
            <a:chExt cx="4484405" cy="111758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F4EFF5-86EA-45AD-B322-A89BC671D610}"/>
                </a:ext>
              </a:extLst>
            </p:cNvPr>
            <p:cNvSpPr txBox="1"/>
            <p:nvPr/>
          </p:nvSpPr>
          <p:spPr>
            <a:xfrm>
              <a:off x="977655" y="4476535"/>
              <a:ext cx="27949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Microcanonical ensemble:</a:t>
              </a: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C9DA634E-9749-420D-A88C-74D10F0B5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72587" y="4283980"/>
              <a:ext cx="1688114" cy="826472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0DC44F4-8E7C-4018-9E16-7F4D36B00F7E}"/>
                </a:ext>
              </a:extLst>
            </p:cNvPr>
            <p:cNvSpPr txBox="1"/>
            <p:nvPr/>
          </p:nvSpPr>
          <p:spPr>
            <a:xfrm>
              <a:off x="3798656" y="3992868"/>
              <a:ext cx="1663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Density matrix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E4458D4-E92F-4650-BB1D-F05D4BE64613}"/>
              </a:ext>
            </a:extLst>
          </p:cNvPr>
          <p:cNvGrpSpPr/>
          <p:nvPr/>
        </p:nvGrpSpPr>
        <p:grpSpPr>
          <a:xfrm>
            <a:off x="5896551" y="4033951"/>
            <a:ext cx="1957607" cy="1138262"/>
            <a:chOff x="5896551" y="4033951"/>
            <a:chExt cx="1957607" cy="1138262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EB32E4A2-BFE3-4EAF-A632-D68925C05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5896551" y="4476534"/>
              <a:ext cx="1957607" cy="695679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E8D82A6-476B-47AA-BBC9-811FE754C9FC}"/>
                </a:ext>
              </a:extLst>
            </p:cNvPr>
            <p:cNvSpPr txBox="1"/>
            <p:nvPr/>
          </p:nvSpPr>
          <p:spPr>
            <a:xfrm>
              <a:off x="6045067" y="4033951"/>
              <a:ext cx="16367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Normalization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A636542-C3DE-4D2E-A0EC-DB57CABCF18C}"/>
              </a:ext>
            </a:extLst>
          </p:cNvPr>
          <p:cNvGrpSpPr/>
          <p:nvPr/>
        </p:nvGrpSpPr>
        <p:grpSpPr>
          <a:xfrm>
            <a:off x="5183441" y="2881834"/>
            <a:ext cx="4836950" cy="432584"/>
            <a:chOff x="5316709" y="2958836"/>
            <a:chExt cx="4836950" cy="432584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4EC5719-F545-4130-BBE7-0CE21BADB164}"/>
                </a:ext>
              </a:extLst>
            </p:cNvPr>
            <p:cNvSpPr txBox="1"/>
            <p:nvPr/>
          </p:nvSpPr>
          <p:spPr>
            <a:xfrm>
              <a:off x="5826321" y="2958836"/>
              <a:ext cx="4327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Independent random phases assumption.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90E139E-2788-48E7-8B2C-E7ED4E3EF832}"/>
                </a:ext>
              </a:extLst>
            </p:cNvPr>
            <p:cNvCxnSpPr>
              <a:cxnSpLocks/>
              <a:stCxn id="37" idx="1"/>
            </p:cNvCxnSpPr>
            <p:nvPr/>
          </p:nvCxnSpPr>
          <p:spPr>
            <a:xfrm flipH="1">
              <a:off x="5316709" y="3143502"/>
              <a:ext cx="509612" cy="24791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3D7F640-20B2-4E37-B910-BFA80D102900}"/>
              </a:ext>
            </a:extLst>
          </p:cNvPr>
          <p:cNvGrpSpPr/>
          <p:nvPr/>
        </p:nvGrpSpPr>
        <p:grpSpPr>
          <a:xfrm>
            <a:off x="1444893" y="5110160"/>
            <a:ext cx="8575498" cy="805562"/>
            <a:chOff x="1444893" y="5110160"/>
            <a:chExt cx="8575498" cy="80556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1F1ED8-7491-489D-8458-378FBD840345}"/>
                </a:ext>
              </a:extLst>
            </p:cNvPr>
            <p:cNvSpPr txBox="1"/>
            <p:nvPr/>
          </p:nvSpPr>
          <p:spPr>
            <a:xfrm>
              <a:off x="1444893" y="5437221"/>
              <a:ext cx="2250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Canonical ensemble:</a:t>
              </a:r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365EBA3D-C7EE-4071-B25C-1B2D8C1F8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883556" y="5110160"/>
              <a:ext cx="1299884" cy="805562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C2CFD091-3AB4-475F-97E5-C01667BBA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884164" y="5271905"/>
              <a:ext cx="1481925" cy="482072"/>
            </a:xfrm>
            <a:prstGeom prst="rect">
              <a:avLst/>
            </a:prstGeom>
          </p:spPr>
        </p:pic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5D01C4AE-EF15-47BB-B538-8A6AF62080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r="26027" b="4429"/>
            <a:stretch/>
          </p:blipFill>
          <p:spPr>
            <a:xfrm>
              <a:off x="8004961" y="5113679"/>
              <a:ext cx="2015430" cy="76893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E397498-FE77-4690-A7A0-097D2C31E680}"/>
              </a:ext>
            </a:extLst>
          </p:cNvPr>
          <p:cNvGrpSpPr/>
          <p:nvPr/>
        </p:nvGrpSpPr>
        <p:grpSpPr>
          <a:xfrm>
            <a:off x="892503" y="5996308"/>
            <a:ext cx="9714538" cy="733096"/>
            <a:chOff x="892503" y="5996308"/>
            <a:chExt cx="9714538" cy="73309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4DC9D9C-F569-4AA4-8882-CEEB0DA7C73C}"/>
                </a:ext>
              </a:extLst>
            </p:cNvPr>
            <p:cNvSpPr txBox="1"/>
            <p:nvPr/>
          </p:nvSpPr>
          <p:spPr>
            <a:xfrm>
              <a:off x="892503" y="6247331"/>
              <a:ext cx="28800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Grand canonical ensemble:</a:t>
              </a: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E564249D-0F7A-4B56-8EBC-5E81EF83E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896552" y="6247331"/>
              <a:ext cx="1945507" cy="482072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A990F16D-BFFC-478D-861B-71B22AD0E4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 r="21359" b="12916"/>
            <a:stretch/>
          </p:blipFill>
          <p:spPr>
            <a:xfrm>
              <a:off x="8057553" y="5996308"/>
              <a:ext cx="2549488" cy="733096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702B6DD-4387-4CB6-8ADA-BA2CAB5B595F}"/>
              </a:ext>
            </a:extLst>
          </p:cNvPr>
          <p:cNvGrpSpPr/>
          <p:nvPr/>
        </p:nvGrpSpPr>
        <p:grpSpPr>
          <a:xfrm>
            <a:off x="7979295" y="4033951"/>
            <a:ext cx="3727735" cy="990180"/>
            <a:chOff x="7979295" y="4033951"/>
            <a:chExt cx="3727735" cy="99018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3B44DC7-4A1B-419C-9AEE-40B5912E9D40}"/>
                </a:ext>
              </a:extLst>
            </p:cNvPr>
            <p:cNvSpPr txBox="1"/>
            <p:nvPr/>
          </p:nvSpPr>
          <p:spPr>
            <a:xfrm>
              <a:off x="8264869" y="4033951"/>
              <a:ext cx="34421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Energy eigenstate representation</a:t>
              </a:r>
            </a:p>
          </p:txBody>
        </p:sp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038D4FA5-61C9-4DEA-86EB-0BC268B072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 t="1" r="22474" b="6070"/>
            <a:stretch/>
          </p:blipFill>
          <p:spPr>
            <a:xfrm>
              <a:off x="7979295" y="4328451"/>
              <a:ext cx="2310112" cy="69568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B15115D-579E-495A-9C2B-79E0B8272155}"/>
              </a:ext>
            </a:extLst>
          </p:cNvPr>
          <p:cNvGrpSpPr/>
          <p:nvPr/>
        </p:nvGrpSpPr>
        <p:grpSpPr>
          <a:xfrm>
            <a:off x="7129513" y="3162116"/>
            <a:ext cx="3732176" cy="743203"/>
            <a:chOff x="7129513" y="3162116"/>
            <a:chExt cx="3732176" cy="743203"/>
          </a:xfrm>
        </p:grpSpPr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9CA4A5EF-6D7A-44AC-8D25-6AFBA9424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8099605" y="3162116"/>
              <a:ext cx="1934632" cy="462989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CAAA09A-52D7-4B81-B3A9-9100C5247003}"/>
                </a:ext>
              </a:extLst>
            </p:cNvPr>
            <p:cNvSpPr txBox="1"/>
            <p:nvPr/>
          </p:nvSpPr>
          <p:spPr>
            <a:xfrm>
              <a:off x="7129513" y="3535987"/>
              <a:ext cx="3732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It is okay to have off diagonal terms.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06BC306-360B-4397-9938-B135D18865C5}"/>
              </a:ext>
            </a:extLst>
          </p:cNvPr>
          <p:cNvGrpSpPr/>
          <p:nvPr/>
        </p:nvGrpSpPr>
        <p:grpSpPr>
          <a:xfrm>
            <a:off x="5798396" y="4403283"/>
            <a:ext cx="2466473" cy="2434855"/>
            <a:chOff x="5798396" y="4403283"/>
            <a:chExt cx="2466473" cy="2434855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667C1351-D649-4775-8126-F9A0DC08F2F6}"/>
                </a:ext>
              </a:extLst>
            </p:cNvPr>
            <p:cNvSpPr/>
            <p:nvPr/>
          </p:nvSpPr>
          <p:spPr>
            <a:xfrm>
              <a:off x="5798396" y="4403283"/>
              <a:ext cx="2043663" cy="243485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DA71DF6-D1D4-40E4-A06C-1F89827F7F0D}"/>
                </a:ext>
              </a:extLst>
            </p:cNvPr>
            <p:cNvSpPr txBox="1"/>
            <p:nvPr/>
          </p:nvSpPr>
          <p:spPr>
            <a:xfrm>
              <a:off x="6637692" y="5882609"/>
              <a:ext cx="1627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How to count?</a:t>
              </a: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93D0E3EC-01BB-4A72-A20F-68F0C19BE30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887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50534</TotalTime>
  <Words>658</Words>
  <Application>Microsoft Office PowerPoint</Application>
  <PresentationFormat>Widescreen</PresentationFormat>
  <Paragraphs>160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Cambria</vt:lpstr>
      <vt:lpstr>Constantia</vt:lpstr>
      <vt:lpstr>Tw Cen MT</vt:lpstr>
      <vt:lpstr>Wingdings 3</vt:lpstr>
      <vt:lpstr>Integral</vt:lpstr>
      <vt:lpstr>Statistical physics phy301</vt:lpstr>
      <vt:lpstr>Building a statistical model for a many-particles system</vt:lpstr>
      <vt:lpstr>Building a statistical model for a many-particles system</vt:lpstr>
      <vt:lpstr>The form of distribution</vt:lpstr>
      <vt:lpstr>Ensemble models</vt:lpstr>
      <vt:lpstr>Comparison between ensemble models</vt:lpstr>
      <vt:lpstr>Connection to Thermodynamics</vt:lpstr>
      <vt:lpstr>Conclusions</vt:lpstr>
      <vt:lpstr>Statistical physics phy301</vt:lpstr>
      <vt:lpstr>Quantum regime</vt:lpstr>
      <vt:lpstr>Classical vs Quantum</vt:lpstr>
      <vt:lpstr>Quantum Mechanics</vt:lpstr>
      <vt:lpstr>Quantum Mechanics</vt:lpstr>
      <vt:lpstr>Quantum Mechanics</vt:lpstr>
      <vt:lpstr>Density matrix</vt:lpstr>
      <vt:lpstr>Density matrix</vt:lpstr>
      <vt:lpstr>Density matrix</vt:lpstr>
      <vt:lpstr>Density matrix</vt:lpstr>
      <vt:lpstr>Equilibrium in quantum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1671</cp:revision>
  <dcterms:created xsi:type="dcterms:W3CDTF">2024-08-25T23:32:26Z</dcterms:created>
  <dcterms:modified xsi:type="dcterms:W3CDTF">2025-10-29T12:00:55Z</dcterms:modified>
</cp:coreProperties>
</file>