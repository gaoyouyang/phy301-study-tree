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31"/>
  </p:notesMasterIdLst>
  <p:sldIdLst>
    <p:sldId id="432" r:id="rId2"/>
    <p:sldId id="297" r:id="rId3"/>
    <p:sldId id="445" r:id="rId4"/>
    <p:sldId id="446" r:id="rId5"/>
    <p:sldId id="448" r:id="rId6"/>
    <p:sldId id="449" r:id="rId7"/>
    <p:sldId id="451" r:id="rId8"/>
    <p:sldId id="452" r:id="rId9"/>
    <p:sldId id="454" r:id="rId10"/>
    <p:sldId id="457" r:id="rId11"/>
    <p:sldId id="458" r:id="rId12"/>
    <p:sldId id="459" r:id="rId13"/>
    <p:sldId id="461" r:id="rId14"/>
    <p:sldId id="465" r:id="rId15"/>
    <p:sldId id="462" r:id="rId16"/>
    <p:sldId id="498" r:id="rId17"/>
    <p:sldId id="464" r:id="rId18"/>
    <p:sldId id="466" r:id="rId19"/>
    <p:sldId id="456" r:id="rId20"/>
    <p:sldId id="467" r:id="rId21"/>
    <p:sldId id="468" r:id="rId22"/>
    <p:sldId id="517" r:id="rId23"/>
    <p:sldId id="518" r:id="rId24"/>
    <p:sldId id="519" r:id="rId25"/>
    <p:sldId id="512" r:id="rId26"/>
    <p:sldId id="513" r:id="rId27"/>
    <p:sldId id="514" r:id="rId28"/>
    <p:sldId id="515" r:id="rId29"/>
    <p:sldId id="516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1AA0D3"/>
    <a:srgbClr val="FFFFFF"/>
    <a:srgbClr val="DFE3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712"/>
  </p:normalViewPr>
  <p:slideViewPr>
    <p:cSldViewPr snapToGrid="0" snapToObjects="1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C4CF7-F995-064A-A609-EA130F94374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F87CB1-692F-4249-B4E0-C0426D9B9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371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726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76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08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881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9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540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95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918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558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58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smtClean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30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emf"/><Relationship Id="rId7" Type="http://schemas.openxmlformats.org/officeDocument/2006/relationships/image" Target="../media/image7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6.emf"/><Relationship Id="rId7" Type="http://schemas.openxmlformats.org/officeDocument/2006/relationships/image" Target="../media/image11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image" Target="../media/image10.emf"/><Relationship Id="rId10" Type="http://schemas.openxmlformats.org/officeDocument/2006/relationships/image" Target="../media/image8.png"/><Relationship Id="rId4" Type="http://schemas.openxmlformats.org/officeDocument/2006/relationships/image" Target="../media/image9.emf"/><Relationship Id="rId9" Type="http://schemas.openxmlformats.org/officeDocument/2006/relationships/image" Target="../media/image13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image" Target="../media/image6.emf"/><Relationship Id="rId7" Type="http://schemas.openxmlformats.org/officeDocument/2006/relationships/image" Target="../media/image15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7.emf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7.emf"/><Relationship Id="rId7" Type="http://schemas.openxmlformats.org/officeDocument/2006/relationships/image" Target="../media/image20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5" Type="http://schemas.openxmlformats.org/officeDocument/2006/relationships/image" Target="../media/image18.emf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13" Type="http://schemas.openxmlformats.org/officeDocument/2006/relationships/image" Target="../media/image8.png"/><Relationship Id="rId3" Type="http://schemas.openxmlformats.org/officeDocument/2006/relationships/image" Target="../media/image16.emf"/><Relationship Id="rId7" Type="http://schemas.openxmlformats.org/officeDocument/2006/relationships/image" Target="../media/image23.emf"/><Relationship Id="rId12" Type="http://schemas.openxmlformats.org/officeDocument/2006/relationships/image" Target="../media/image28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emf"/><Relationship Id="rId11" Type="http://schemas.openxmlformats.org/officeDocument/2006/relationships/image" Target="../media/image27.emf"/><Relationship Id="rId5" Type="http://schemas.openxmlformats.org/officeDocument/2006/relationships/image" Target="../media/image6.emf"/><Relationship Id="rId10" Type="http://schemas.openxmlformats.org/officeDocument/2006/relationships/image" Target="../media/image26.emf"/><Relationship Id="rId4" Type="http://schemas.openxmlformats.org/officeDocument/2006/relationships/image" Target="../media/image21.emf"/><Relationship Id="rId9" Type="http://schemas.openxmlformats.org/officeDocument/2006/relationships/image" Target="../media/image25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image" Target="../media/image15.emf"/><Relationship Id="rId7" Type="http://schemas.openxmlformats.org/officeDocument/2006/relationships/image" Target="../media/image31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emf"/><Relationship Id="rId11" Type="http://schemas.openxmlformats.org/officeDocument/2006/relationships/image" Target="../media/image8.png"/><Relationship Id="rId5" Type="http://schemas.openxmlformats.org/officeDocument/2006/relationships/image" Target="../media/image29.emf"/><Relationship Id="rId10" Type="http://schemas.openxmlformats.org/officeDocument/2006/relationships/image" Target="../media/image24.emf"/><Relationship Id="rId4" Type="http://schemas.openxmlformats.org/officeDocument/2006/relationships/image" Target="../media/image16.emf"/><Relationship Id="rId9" Type="http://schemas.openxmlformats.org/officeDocument/2006/relationships/image" Target="../media/image23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13" Type="http://schemas.openxmlformats.org/officeDocument/2006/relationships/image" Target="../media/image40.png"/><Relationship Id="rId3" Type="http://schemas.openxmlformats.org/officeDocument/2006/relationships/image" Target="../media/image15.emf"/><Relationship Id="rId7" Type="http://schemas.openxmlformats.org/officeDocument/2006/relationships/image" Target="../media/image35.emf"/><Relationship Id="rId12" Type="http://schemas.openxmlformats.org/officeDocument/2006/relationships/image" Target="../media/image30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emf"/><Relationship Id="rId11" Type="http://schemas.openxmlformats.org/officeDocument/2006/relationships/image" Target="../media/image39.png"/><Relationship Id="rId5" Type="http://schemas.openxmlformats.org/officeDocument/2006/relationships/image" Target="../media/image33.emf"/><Relationship Id="rId15" Type="http://schemas.openxmlformats.org/officeDocument/2006/relationships/image" Target="../media/image8.png"/><Relationship Id="rId10" Type="http://schemas.openxmlformats.org/officeDocument/2006/relationships/image" Target="../media/image38.emf"/><Relationship Id="rId4" Type="http://schemas.openxmlformats.org/officeDocument/2006/relationships/image" Target="../media/image16.emf"/><Relationship Id="rId9" Type="http://schemas.openxmlformats.org/officeDocument/2006/relationships/image" Target="../media/image37.emf"/><Relationship Id="rId14" Type="http://schemas.openxmlformats.org/officeDocument/2006/relationships/image" Target="../media/image41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13" Type="http://schemas.openxmlformats.org/officeDocument/2006/relationships/image" Target="../media/image50.png"/><Relationship Id="rId3" Type="http://schemas.openxmlformats.org/officeDocument/2006/relationships/image" Target="../media/image35.emf"/><Relationship Id="rId7" Type="http://schemas.openxmlformats.org/officeDocument/2006/relationships/image" Target="../media/image44.svg"/><Relationship Id="rId12" Type="http://schemas.openxmlformats.org/officeDocument/2006/relationships/image" Target="../media/image49.svg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emf"/><Relationship Id="rId15" Type="http://schemas.openxmlformats.org/officeDocument/2006/relationships/image" Target="../media/image8.png"/><Relationship Id="rId10" Type="http://schemas.openxmlformats.org/officeDocument/2006/relationships/image" Target="../media/image47.svg"/><Relationship Id="rId4" Type="http://schemas.openxmlformats.org/officeDocument/2006/relationships/image" Target="../media/image38.emf"/><Relationship Id="rId9" Type="http://schemas.openxmlformats.org/officeDocument/2006/relationships/image" Target="../media/image46.png"/><Relationship Id="rId1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13" Type="http://schemas.openxmlformats.org/officeDocument/2006/relationships/image" Target="../media/image62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1.svg"/><Relationship Id="rId17" Type="http://schemas.openxmlformats.org/officeDocument/2006/relationships/image" Target="../media/image8.png"/><Relationship Id="rId2" Type="http://schemas.openxmlformats.org/officeDocument/2006/relationships/image" Target="../media/image51.png"/><Relationship Id="rId16" Type="http://schemas.openxmlformats.org/officeDocument/2006/relationships/image" Target="../media/image6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sv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10" Type="http://schemas.openxmlformats.org/officeDocument/2006/relationships/image" Target="../media/image59.svg"/><Relationship Id="rId4" Type="http://schemas.openxmlformats.org/officeDocument/2006/relationships/image" Target="../media/image53.emf"/><Relationship Id="rId9" Type="http://schemas.openxmlformats.org/officeDocument/2006/relationships/image" Target="../media/image58.png"/><Relationship Id="rId14" Type="http://schemas.openxmlformats.org/officeDocument/2006/relationships/image" Target="../media/image6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13" Type="http://schemas.openxmlformats.org/officeDocument/2006/relationships/image" Target="../media/image70.png"/><Relationship Id="rId18" Type="http://schemas.openxmlformats.org/officeDocument/2006/relationships/image" Target="../media/image75.svg"/><Relationship Id="rId3" Type="http://schemas.openxmlformats.org/officeDocument/2006/relationships/image" Target="../media/image53.emf"/><Relationship Id="rId21" Type="http://schemas.openxmlformats.org/officeDocument/2006/relationships/image" Target="../media/image8.png"/><Relationship Id="rId7" Type="http://schemas.openxmlformats.org/officeDocument/2006/relationships/image" Target="../media/image56.png"/><Relationship Id="rId12" Type="http://schemas.openxmlformats.org/officeDocument/2006/relationships/image" Target="../media/image69.svg"/><Relationship Id="rId17" Type="http://schemas.openxmlformats.org/officeDocument/2006/relationships/image" Target="../media/image74.png"/><Relationship Id="rId2" Type="http://schemas.openxmlformats.org/officeDocument/2006/relationships/image" Target="../media/image51.png"/><Relationship Id="rId16" Type="http://schemas.openxmlformats.org/officeDocument/2006/relationships/image" Target="../media/image73.svg"/><Relationship Id="rId20" Type="http://schemas.openxmlformats.org/officeDocument/2006/relationships/image" Target="../media/image6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svg"/><Relationship Id="rId11" Type="http://schemas.openxmlformats.org/officeDocument/2006/relationships/image" Target="../media/image68.png"/><Relationship Id="rId5" Type="http://schemas.openxmlformats.org/officeDocument/2006/relationships/image" Target="../media/image54.png"/><Relationship Id="rId15" Type="http://schemas.openxmlformats.org/officeDocument/2006/relationships/image" Target="../media/image72.png"/><Relationship Id="rId10" Type="http://schemas.openxmlformats.org/officeDocument/2006/relationships/image" Target="../media/image67.svg"/><Relationship Id="rId19" Type="http://schemas.openxmlformats.org/officeDocument/2006/relationships/image" Target="../media/image64.png"/><Relationship Id="rId4" Type="http://schemas.openxmlformats.org/officeDocument/2006/relationships/image" Target="../media/image52.png"/><Relationship Id="rId9" Type="http://schemas.openxmlformats.org/officeDocument/2006/relationships/image" Target="../media/image66.png"/><Relationship Id="rId14" Type="http://schemas.openxmlformats.org/officeDocument/2006/relationships/image" Target="../media/image71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svg"/><Relationship Id="rId13" Type="http://schemas.openxmlformats.org/officeDocument/2006/relationships/image" Target="../media/image74.png"/><Relationship Id="rId18" Type="http://schemas.openxmlformats.org/officeDocument/2006/relationships/image" Target="../media/image73.svg"/><Relationship Id="rId3" Type="http://schemas.openxmlformats.org/officeDocument/2006/relationships/image" Target="../media/image53.emf"/><Relationship Id="rId7" Type="http://schemas.openxmlformats.org/officeDocument/2006/relationships/image" Target="../media/image76.png"/><Relationship Id="rId12" Type="http://schemas.openxmlformats.org/officeDocument/2006/relationships/image" Target="../media/image71.svg"/><Relationship Id="rId17" Type="http://schemas.openxmlformats.org/officeDocument/2006/relationships/image" Target="../media/image72.png"/><Relationship Id="rId2" Type="http://schemas.openxmlformats.org/officeDocument/2006/relationships/image" Target="../media/image51.png"/><Relationship Id="rId16" Type="http://schemas.openxmlformats.org/officeDocument/2006/relationships/image" Target="../media/image8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svg"/><Relationship Id="rId11" Type="http://schemas.openxmlformats.org/officeDocument/2006/relationships/image" Target="../media/image70.png"/><Relationship Id="rId5" Type="http://schemas.openxmlformats.org/officeDocument/2006/relationships/image" Target="../media/image68.png"/><Relationship Id="rId15" Type="http://schemas.openxmlformats.org/officeDocument/2006/relationships/image" Target="../media/image80.png"/><Relationship Id="rId10" Type="http://schemas.openxmlformats.org/officeDocument/2006/relationships/image" Target="../media/image79.svg"/><Relationship Id="rId19" Type="http://schemas.openxmlformats.org/officeDocument/2006/relationships/image" Target="../media/image8.png"/><Relationship Id="rId4" Type="http://schemas.openxmlformats.org/officeDocument/2006/relationships/image" Target="../media/image52.png"/><Relationship Id="rId9" Type="http://schemas.openxmlformats.org/officeDocument/2006/relationships/image" Target="../media/image78.png"/><Relationship Id="rId14" Type="http://schemas.openxmlformats.org/officeDocument/2006/relationships/image" Target="../media/image75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73.svg"/><Relationship Id="rId3" Type="http://schemas.openxmlformats.org/officeDocument/2006/relationships/image" Target="../media/image53.emf"/><Relationship Id="rId7" Type="http://schemas.openxmlformats.org/officeDocument/2006/relationships/image" Target="../media/image82.png"/><Relationship Id="rId12" Type="http://schemas.openxmlformats.org/officeDocument/2006/relationships/image" Target="../media/image7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svg"/><Relationship Id="rId11" Type="http://schemas.openxmlformats.org/officeDocument/2006/relationships/image" Target="../media/image86.svg"/><Relationship Id="rId5" Type="http://schemas.openxmlformats.org/officeDocument/2006/relationships/image" Target="../media/image78.png"/><Relationship Id="rId10" Type="http://schemas.openxmlformats.org/officeDocument/2006/relationships/image" Target="../media/image85.png"/><Relationship Id="rId4" Type="http://schemas.openxmlformats.org/officeDocument/2006/relationships/image" Target="../media/image52.png"/><Relationship Id="rId9" Type="http://schemas.openxmlformats.org/officeDocument/2006/relationships/image" Target="../media/image84.png"/><Relationship Id="rId1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svg"/><Relationship Id="rId3" Type="http://schemas.openxmlformats.org/officeDocument/2006/relationships/image" Target="../media/image53.emf"/><Relationship Id="rId7" Type="http://schemas.openxmlformats.org/officeDocument/2006/relationships/image" Target="../media/image87.png"/><Relationship Id="rId12" Type="http://schemas.openxmlformats.org/officeDocument/2006/relationships/image" Target="../media/image8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11" Type="http://schemas.openxmlformats.org/officeDocument/2006/relationships/image" Target="../media/image91.svg"/><Relationship Id="rId5" Type="http://schemas.openxmlformats.org/officeDocument/2006/relationships/image" Target="../media/image83.png"/><Relationship Id="rId10" Type="http://schemas.openxmlformats.org/officeDocument/2006/relationships/image" Target="../media/image90.png"/><Relationship Id="rId4" Type="http://schemas.openxmlformats.org/officeDocument/2006/relationships/image" Target="../media/image82.png"/><Relationship Id="rId9" Type="http://schemas.openxmlformats.org/officeDocument/2006/relationships/image" Target="../media/image8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svg"/><Relationship Id="rId18" Type="http://schemas.openxmlformats.org/officeDocument/2006/relationships/image" Target="../media/image72.png"/><Relationship Id="rId3" Type="http://schemas.openxmlformats.org/officeDocument/2006/relationships/image" Target="../media/image52.png"/><Relationship Id="rId7" Type="http://schemas.openxmlformats.org/officeDocument/2006/relationships/image" Target="../media/image93.svg"/><Relationship Id="rId12" Type="http://schemas.openxmlformats.org/officeDocument/2006/relationships/image" Target="../media/image98.png"/><Relationship Id="rId17" Type="http://schemas.openxmlformats.org/officeDocument/2006/relationships/image" Target="../media/image91.svg"/><Relationship Id="rId2" Type="http://schemas.openxmlformats.org/officeDocument/2006/relationships/image" Target="../media/image51.png"/><Relationship Id="rId16" Type="http://schemas.openxmlformats.org/officeDocument/2006/relationships/image" Target="../media/image90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11" Type="http://schemas.openxmlformats.org/officeDocument/2006/relationships/image" Target="../media/image97.svg"/><Relationship Id="rId5" Type="http://schemas.openxmlformats.org/officeDocument/2006/relationships/image" Target="../media/image79.svg"/><Relationship Id="rId15" Type="http://schemas.openxmlformats.org/officeDocument/2006/relationships/image" Target="../media/image75.svg"/><Relationship Id="rId10" Type="http://schemas.openxmlformats.org/officeDocument/2006/relationships/image" Target="../media/image96.png"/><Relationship Id="rId19" Type="http://schemas.openxmlformats.org/officeDocument/2006/relationships/image" Target="../media/image73.svg"/><Relationship Id="rId4" Type="http://schemas.openxmlformats.org/officeDocument/2006/relationships/image" Target="../media/image78.png"/><Relationship Id="rId9" Type="http://schemas.openxmlformats.org/officeDocument/2006/relationships/image" Target="../media/image95.svg"/><Relationship Id="rId14" Type="http://schemas.openxmlformats.org/officeDocument/2006/relationships/image" Target="../media/image7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106.svg"/><Relationship Id="rId18" Type="http://schemas.openxmlformats.org/officeDocument/2006/relationships/image" Target="../media/image111.png"/><Relationship Id="rId26" Type="http://schemas.openxmlformats.org/officeDocument/2006/relationships/image" Target="../media/image74.png"/><Relationship Id="rId3" Type="http://schemas.openxmlformats.org/officeDocument/2006/relationships/image" Target="../media/image52.png"/><Relationship Id="rId21" Type="http://schemas.openxmlformats.org/officeDocument/2006/relationships/image" Target="../media/image114.svg"/><Relationship Id="rId7" Type="http://schemas.openxmlformats.org/officeDocument/2006/relationships/image" Target="../media/image104.svg"/><Relationship Id="rId12" Type="http://schemas.openxmlformats.org/officeDocument/2006/relationships/image" Target="../media/image105.png"/><Relationship Id="rId17" Type="http://schemas.openxmlformats.org/officeDocument/2006/relationships/image" Target="../media/image110.svg"/><Relationship Id="rId25" Type="http://schemas.openxmlformats.org/officeDocument/2006/relationships/image" Target="../media/image118.svg"/><Relationship Id="rId2" Type="http://schemas.openxmlformats.org/officeDocument/2006/relationships/image" Target="../media/image51.png"/><Relationship Id="rId16" Type="http://schemas.openxmlformats.org/officeDocument/2006/relationships/image" Target="../media/image109.png"/><Relationship Id="rId20" Type="http://schemas.openxmlformats.org/officeDocument/2006/relationships/image" Target="../media/image113.png"/><Relationship Id="rId29" Type="http://schemas.openxmlformats.org/officeDocument/2006/relationships/image" Target="../media/image7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11" Type="http://schemas.openxmlformats.org/officeDocument/2006/relationships/image" Target="../media/image86.svg"/><Relationship Id="rId24" Type="http://schemas.openxmlformats.org/officeDocument/2006/relationships/image" Target="../media/image117.png"/><Relationship Id="rId5" Type="http://schemas.openxmlformats.org/officeDocument/2006/relationships/image" Target="../media/image102.svg"/><Relationship Id="rId15" Type="http://schemas.openxmlformats.org/officeDocument/2006/relationships/image" Target="../media/image108.svg"/><Relationship Id="rId23" Type="http://schemas.openxmlformats.org/officeDocument/2006/relationships/image" Target="../media/image116.svg"/><Relationship Id="rId28" Type="http://schemas.openxmlformats.org/officeDocument/2006/relationships/image" Target="../media/image72.png"/><Relationship Id="rId10" Type="http://schemas.openxmlformats.org/officeDocument/2006/relationships/image" Target="../media/image85.png"/><Relationship Id="rId19" Type="http://schemas.openxmlformats.org/officeDocument/2006/relationships/image" Target="../media/image112.svg"/><Relationship Id="rId4" Type="http://schemas.openxmlformats.org/officeDocument/2006/relationships/image" Target="../media/image101.png"/><Relationship Id="rId9" Type="http://schemas.openxmlformats.org/officeDocument/2006/relationships/image" Target="../media/image69.svg"/><Relationship Id="rId14" Type="http://schemas.openxmlformats.org/officeDocument/2006/relationships/image" Target="../media/image107.png"/><Relationship Id="rId22" Type="http://schemas.openxmlformats.org/officeDocument/2006/relationships/image" Target="../media/image115.png"/><Relationship Id="rId27" Type="http://schemas.openxmlformats.org/officeDocument/2006/relationships/image" Target="../media/image75.svg"/><Relationship Id="rId30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13" Type="http://schemas.openxmlformats.org/officeDocument/2006/relationships/image" Target="../media/image123.svg"/><Relationship Id="rId18" Type="http://schemas.openxmlformats.org/officeDocument/2006/relationships/image" Target="../media/image8.png"/><Relationship Id="rId3" Type="http://schemas.openxmlformats.org/officeDocument/2006/relationships/image" Target="../media/image101.png"/><Relationship Id="rId7" Type="http://schemas.openxmlformats.org/officeDocument/2006/relationships/image" Target="../media/image68.png"/><Relationship Id="rId12" Type="http://schemas.openxmlformats.org/officeDocument/2006/relationships/image" Target="../media/image122.png"/><Relationship Id="rId17" Type="http://schemas.openxmlformats.org/officeDocument/2006/relationships/image" Target="../media/image125.svg"/><Relationship Id="rId2" Type="http://schemas.openxmlformats.org/officeDocument/2006/relationships/image" Target="../media/image51.png"/><Relationship Id="rId16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svg"/><Relationship Id="rId11" Type="http://schemas.openxmlformats.org/officeDocument/2006/relationships/image" Target="../media/image121.png"/><Relationship Id="rId5" Type="http://schemas.openxmlformats.org/officeDocument/2006/relationships/image" Target="../media/image103.png"/><Relationship Id="rId15" Type="http://schemas.openxmlformats.org/officeDocument/2006/relationships/image" Target="../media/image86.svg"/><Relationship Id="rId10" Type="http://schemas.openxmlformats.org/officeDocument/2006/relationships/image" Target="../media/image120.png"/><Relationship Id="rId4" Type="http://schemas.openxmlformats.org/officeDocument/2006/relationships/image" Target="../media/image102.svg"/><Relationship Id="rId9" Type="http://schemas.openxmlformats.org/officeDocument/2006/relationships/image" Target="../media/image119.png"/><Relationship Id="rId14" Type="http://schemas.openxmlformats.org/officeDocument/2006/relationships/image" Target="../media/image8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svg"/><Relationship Id="rId13" Type="http://schemas.openxmlformats.org/officeDocument/2006/relationships/image" Target="../media/image8.png"/><Relationship Id="rId3" Type="http://schemas.openxmlformats.org/officeDocument/2006/relationships/image" Target="../media/image53.emf"/><Relationship Id="rId7" Type="http://schemas.openxmlformats.org/officeDocument/2006/relationships/image" Target="../media/image128.png"/><Relationship Id="rId12" Type="http://schemas.openxmlformats.org/officeDocument/2006/relationships/image" Target="../media/image131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image" Target="../media/image130.png"/><Relationship Id="rId5" Type="http://schemas.openxmlformats.org/officeDocument/2006/relationships/image" Target="../media/image127.svg"/><Relationship Id="rId10" Type="http://schemas.openxmlformats.org/officeDocument/2006/relationships/image" Target="../media/image97.svg"/><Relationship Id="rId4" Type="http://schemas.openxmlformats.org/officeDocument/2006/relationships/image" Target="../media/image126.png"/><Relationship Id="rId9" Type="http://schemas.openxmlformats.org/officeDocument/2006/relationships/image" Target="../media/image9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image" Target="../media/image123.svg"/><Relationship Id="rId18" Type="http://schemas.openxmlformats.org/officeDocument/2006/relationships/image" Target="../media/image8.png"/><Relationship Id="rId3" Type="http://schemas.openxmlformats.org/officeDocument/2006/relationships/image" Target="../media/image133.svg"/><Relationship Id="rId7" Type="http://schemas.openxmlformats.org/officeDocument/2006/relationships/image" Target="../media/image137.svg"/><Relationship Id="rId12" Type="http://schemas.openxmlformats.org/officeDocument/2006/relationships/image" Target="../media/image122.png"/><Relationship Id="rId17" Type="http://schemas.openxmlformats.org/officeDocument/2006/relationships/image" Target="../media/image145.svg"/><Relationship Id="rId2" Type="http://schemas.openxmlformats.org/officeDocument/2006/relationships/image" Target="../media/image132.png"/><Relationship Id="rId16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11" Type="http://schemas.openxmlformats.org/officeDocument/2006/relationships/image" Target="../media/image141.svg"/><Relationship Id="rId5" Type="http://schemas.openxmlformats.org/officeDocument/2006/relationships/image" Target="../media/image135.svg"/><Relationship Id="rId15" Type="http://schemas.openxmlformats.org/officeDocument/2006/relationships/image" Target="../media/image143.svg"/><Relationship Id="rId10" Type="http://schemas.openxmlformats.org/officeDocument/2006/relationships/image" Target="../media/image140.png"/><Relationship Id="rId4" Type="http://schemas.openxmlformats.org/officeDocument/2006/relationships/image" Target="../media/image134.png"/><Relationship Id="rId9" Type="http://schemas.openxmlformats.org/officeDocument/2006/relationships/image" Target="../media/image139.svg"/><Relationship Id="rId14" Type="http://schemas.openxmlformats.org/officeDocument/2006/relationships/image" Target="../media/image14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image" Target="../media/image123.svg"/><Relationship Id="rId18" Type="http://schemas.openxmlformats.org/officeDocument/2006/relationships/image" Target="../media/image148.svg"/><Relationship Id="rId26" Type="http://schemas.openxmlformats.org/officeDocument/2006/relationships/image" Target="../media/image156.png"/><Relationship Id="rId3" Type="http://schemas.openxmlformats.org/officeDocument/2006/relationships/image" Target="../media/image133.svg"/><Relationship Id="rId21" Type="http://schemas.openxmlformats.org/officeDocument/2006/relationships/image" Target="../media/image151.svg"/><Relationship Id="rId7" Type="http://schemas.openxmlformats.org/officeDocument/2006/relationships/image" Target="../media/image137.svg"/><Relationship Id="rId12" Type="http://schemas.openxmlformats.org/officeDocument/2006/relationships/image" Target="../media/image122.png"/><Relationship Id="rId17" Type="http://schemas.openxmlformats.org/officeDocument/2006/relationships/image" Target="../media/image147.png"/><Relationship Id="rId25" Type="http://schemas.openxmlformats.org/officeDocument/2006/relationships/image" Target="../media/image155.svg"/><Relationship Id="rId2" Type="http://schemas.openxmlformats.org/officeDocument/2006/relationships/image" Target="../media/image132.png"/><Relationship Id="rId16" Type="http://schemas.openxmlformats.org/officeDocument/2006/relationships/image" Target="../media/image146.png"/><Relationship Id="rId20" Type="http://schemas.openxmlformats.org/officeDocument/2006/relationships/image" Target="../media/image150.png"/><Relationship Id="rId29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11" Type="http://schemas.openxmlformats.org/officeDocument/2006/relationships/image" Target="../media/image141.svg"/><Relationship Id="rId24" Type="http://schemas.openxmlformats.org/officeDocument/2006/relationships/image" Target="../media/image154.png"/><Relationship Id="rId5" Type="http://schemas.openxmlformats.org/officeDocument/2006/relationships/image" Target="../media/image135.svg"/><Relationship Id="rId15" Type="http://schemas.openxmlformats.org/officeDocument/2006/relationships/image" Target="../media/image143.svg"/><Relationship Id="rId23" Type="http://schemas.openxmlformats.org/officeDocument/2006/relationships/image" Target="../media/image153.svg"/><Relationship Id="rId28" Type="http://schemas.openxmlformats.org/officeDocument/2006/relationships/image" Target="../media/image158.png"/><Relationship Id="rId10" Type="http://schemas.openxmlformats.org/officeDocument/2006/relationships/image" Target="../media/image140.png"/><Relationship Id="rId19" Type="http://schemas.openxmlformats.org/officeDocument/2006/relationships/image" Target="../media/image149.png"/><Relationship Id="rId4" Type="http://schemas.openxmlformats.org/officeDocument/2006/relationships/image" Target="../media/image134.png"/><Relationship Id="rId9" Type="http://schemas.openxmlformats.org/officeDocument/2006/relationships/image" Target="../media/image139.svg"/><Relationship Id="rId14" Type="http://schemas.openxmlformats.org/officeDocument/2006/relationships/image" Target="../media/image142.png"/><Relationship Id="rId22" Type="http://schemas.openxmlformats.org/officeDocument/2006/relationships/image" Target="../media/image152.png"/><Relationship Id="rId27" Type="http://schemas.openxmlformats.org/officeDocument/2006/relationships/image" Target="../media/image157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6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7" Type="http://schemas.openxmlformats.org/officeDocument/2006/relationships/image" Target="../media/image8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6.png"/><Relationship Id="rId5" Type="http://schemas.openxmlformats.org/officeDocument/2006/relationships/image" Target="../media/image165.png"/><Relationship Id="rId4" Type="http://schemas.openxmlformats.org/officeDocument/2006/relationships/image" Target="../media/image16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63.png"/><Relationship Id="rId7" Type="http://schemas.openxmlformats.org/officeDocument/2006/relationships/image" Target="../media/image171.svg"/><Relationship Id="rId2" Type="http://schemas.openxmlformats.org/officeDocument/2006/relationships/image" Target="../media/image16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image" Target="../media/image169.png"/><Relationship Id="rId4" Type="http://schemas.openxmlformats.org/officeDocument/2006/relationships/image" Target="../media/image16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png"/><Relationship Id="rId3" Type="http://schemas.openxmlformats.org/officeDocument/2006/relationships/image" Target="../media/image173.png"/><Relationship Id="rId7" Type="http://schemas.openxmlformats.org/officeDocument/2006/relationships/image" Target="../media/image177.sv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6.png"/><Relationship Id="rId11" Type="http://schemas.openxmlformats.org/officeDocument/2006/relationships/image" Target="../media/image8.png"/><Relationship Id="rId5" Type="http://schemas.openxmlformats.org/officeDocument/2006/relationships/image" Target="../media/image175.png"/><Relationship Id="rId10" Type="http://schemas.openxmlformats.org/officeDocument/2006/relationships/image" Target="../media/image180.png"/><Relationship Id="rId4" Type="http://schemas.openxmlformats.org/officeDocument/2006/relationships/image" Target="../media/image174.png"/><Relationship Id="rId9" Type="http://schemas.openxmlformats.org/officeDocument/2006/relationships/image" Target="../media/image17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3" Type="http://schemas.openxmlformats.org/officeDocument/2006/relationships/image" Target="../media/image174.png"/><Relationship Id="rId7" Type="http://schemas.openxmlformats.org/officeDocument/2006/relationships/image" Target="../media/image177.svg"/><Relationship Id="rId12" Type="http://schemas.openxmlformats.org/officeDocument/2006/relationships/image" Target="../media/image8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6.png"/><Relationship Id="rId11" Type="http://schemas.openxmlformats.org/officeDocument/2006/relationships/image" Target="../media/image184.svg"/><Relationship Id="rId5" Type="http://schemas.openxmlformats.org/officeDocument/2006/relationships/image" Target="../media/image180.png"/><Relationship Id="rId10" Type="http://schemas.openxmlformats.org/officeDocument/2006/relationships/image" Target="../media/image183.png"/><Relationship Id="rId4" Type="http://schemas.openxmlformats.org/officeDocument/2006/relationships/image" Target="../media/image179.png"/><Relationship Id="rId9" Type="http://schemas.openxmlformats.org/officeDocument/2006/relationships/image" Target="../media/image18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svg"/><Relationship Id="rId13" Type="http://schemas.openxmlformats.org/officeDocument/2006/relationships/image" Target="../media/image192.svg"/><Relationship Id="rId3" Type="http://schemas.openxmlformats.org/officeDocument/2006/relationships/image" Target="../media/image174.png"/><Relationship Id="rId7" Type="http://schemas.openxmlformats.org/officeDocument/2006/relationships/image" Target="../media/image186.png"/><Relationship Id="rId12" Type="http://schemas.openxmlformats.org/officeDocument/2006/relationships/image" Target="../media/image191.png"/><Relationship Id="rId2" Type="http://schemas.openxmlformats.org/officeDocument/2006/relationships/image" Target="../media/image172.pn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5.png"/><Relationship Id="rId11" Type="http://schemas.openxmlformats.org/officeDocument/2006/relationships/image" Target="../media/image190.png"/><Relationship Id="rId5" Type="http://schemas.openxmlformats.org/officeDocument/2006/relationships/image" Target="../media/image182.png"/><Relationship Id="rId15" Type="http://schemas.openxmlformats.org/officeDocument/2006/relationships/image" Target="../media/image184.svg"/><Relationship Id="rId10" Type="http://schemas.openxmlformats.org/officeDocument/2006/relationships/image" Target="../media/image189.svg"/><Relationship Id="rId4" Type="http://schemas.openxmlformats.org/officeDocument/2006/relationships/image" Target="../media/image179.png"/><Relationship Id="rId9" Type="http://schemas.openxmlformats.org/officeDocument/2006/relationships/image" Target="../media/image188.png"/><Relationship Id="rId14" Type="http://schemas.openxmlformats.org/officeDocument/2006/relationships/image" Target="../media/image18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13" Type="http://schemas.openxmlformats.org/officeDocument/2006/relationships/image" Target="../media/image199.svg"/><Relationship Id="rId18" Type="http://schemas.openxmlformats.org/officeDocument/2006/relationships/image" Target="../media/image203.svg"/><Relationship Id="rId3" Type="http://schemas.openxmlformats.org/officeDocument/2006/relationships/image" Target="../media/image172.png"/><Relationship Id="rId21" Type="http://schemas.openxmlformats.org/officeDocument/2006/relationships/image" Target="../media/image206.svg"/><Relationship Id="rId7" Type="http://schemas.openxmlformats.org/officeDocument/2006/relationships/image" Target="../media/image194.png"/><Relationship Id="rId12" Type="http://schemas.openxmlformats.org/officeDocument/2006/relationships/image" Target="../media/image198.png"/><Relationship Id="rId17" Type="http://schemas.openxmlformats.org/officeDocument/2006/relationships/image" Target="../media/image202.png"/><Relationship Id="rId2" Type="http://schemas.openxmlformats.org/officeDocument/2006/relationships/image" Target="../media/image193.png"/><Relationship Id="rId16" Type="http://schemas.openxmlformats.org/officeDocument/2006/relationships/image" Target="../media/image201.svg"/><Relationship Id="rId20" Type="http://schemas.openxmlformats.org/officeDocument/2006/relationships/image" Target="../media/image2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7.svg"/><Relationship Id="rId11" Type="http://schemas.openxmlformats.org/officeDocument/2006/relationships/image" Target="../media/image197.svg"/><Relationship Id="rId5" Type="http://schemas.openxmlformats.org/officeDocument/2006/relationships/image" Target="../media/image176.png"/><Relationship Id="rId15" Type="http://schemas.openxmlformats.org/officeDocument/2006/relationships/image" Target="../media/image200.png"/><Relationship Id="rId10" Type="http://schemas.openxmlformats.org/officeDocument/2006/relationships/image" Target="../media/image196.png"/><Relationship Id="rId19" Type="http://schemas.openxmlformats.org/officeDocument/2006/relationships/image" Target="../media/image204.png"/><Relationship Id="rId4" Type="http://schemas.openxmlformats.org/officeDocument/2006/relationships/image" Target="../media/image174.png"/><Relationship Id="rId9" Type="http://schemas.openxmlformats.org/officeDocument/2006/relationships/image" Target="../media/image179.png"/><Relationship Id="rId14" Type="http://schemas.openxmlformats.org/officeDocument/2006/relationships/image" Target="../media/image182.png"/><Relationship Id="rId22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png"/><Relationship Id="rId13" Type="http://schemas.openxmlformats.org/officeDocument/2006/relationships/image" Target="../media/image211.png"/><Relationship Id="rId3" Type="http://schemas.openxmlformats.org/officeDocument/2006/relationships/image" Target="../media/image172.png"/><Relationship Id="rId7" Type="http://schemas.openxmlformats.org/officeDocument/2006/relationships/image" Target="../media/image208.svg"/><Relationship Id="rId12" Type="http://schemas.openxmlformats.org/officeDocument/2006/relationships/image" Target="../media/image210.svg"/><Relationship Id="rId17" Type="http://schemas.openxmlformats.org/officeDocument/2006/relationships/image" Target="../media/image214.svg"/><Relationship Id="rId2" Type="http://schemas.openxmlformats.org/officeDocument/2006/relationships/image" Target="../media/image193.png"/><Relationship Id="rId16" Type="http://schemas.openxmlformats.org/officeDocument/2006/relationships/image" Target="../media/image2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7.png"/><Relationship Id="rId11" Type="http://schemas.openxmlformats.org/officeDocument/2006/relationships/image" Target="../media/image209.png"/><Relationship Id="rId5" Type="http://schemas.openxmlformats.org/officeDocument/2006/relationships/image" Target="../media/image194.png"/><Relationship Id="rId15" Type="http://schemas.openxmlformats.org/officeDocument/2006/relationships/image" Target="../media/image8.png"/><Relationship Id="rId10" Type="http://schemas.openxmlformats.org/officeDocument/2006/relationships/image" Target="../media/image206.svg"/><Relationship Id="rId4" Type="http://schemas.openxmlformats.org/officeDocument/2006/relationships/image" Target="../media/image174.png"/><Relationship Id="rId9" Type="http://schemas.openxmlformats.org/officeDocument/2006/relationships/image" Target="../media/image205.png"/><Relationship Id="rId14" Type="http://schemas.openxmlformats.org/officeDocument/2006/relationships/image" Target="../media/image2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Statistical physics phy301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Interactions </a:t>
            </a:r>
            <a:r>
              <a:rPr lang="en-US" dirty="0"/>
              <a:t>and </a:t>
            </a:r>
            <a:r>
              <a:rPr lang="en-US"/>
              <a:t>phase transition</a:t>
            </a:r>
            <a:endParaRPr lang="en-US" dirty="0"/>
          </a:p>
          <a:p>
            <a:endParaRPr lang="en-US" dirty="0"/>
          </a:p>
          <a:p>
            <a:r>
              <a:rPr lang="en-US" dirty="0"/>
              <a:t>Lecturer: Kok Wee Song</a:t>
            </a:r>
          </a:p>
        </p:txBody>
      </p:sp>
    </p:spTree>
    <p:extLst>
      <p:ext uri="{BB962C8B-B14F-4D97-AF65-F5344CB8AC3E}">
        <p14:creationId xmlns:p14="http://schemas.microsoft.com/office/powerpoint/2010/main" val="2667059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and phase transition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484759" y="2281481"/>
            <a:ext cx="19223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Beyond idea gas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14" y="2688706"/>
            <a:ext cx="7320015" cy="944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08626" y="2369971"/>
            <a:ext cx="1294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Interaction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AD2618A-FD6A-4117-A6B5-61A90D0A9DC6}"/>
              </a:ext>
            </a:extLst>
          </p:cNvPr>
          <p:cNvGrpSpPr/>
          <p:nvPr/>
        </p:nvGrpSpPr>
        <p:grpSpPr>
          <a:xfrm>
            <a:off x="1024128" y="3667223"/>
            <a:ext cx="9782037" cy="1612260"/>
            <a:chOff x="1024128" y="3667223"/>
            <a:chExt cx="9782037" cy="1612260"/>
          </a:xfrm>
        </p:grpSpPr>
        <p:sp>
          <p:nvSpPr>
            <p:cNvPr id="6" name="TextBox 5"/>
            <p:cNvSpPr txBox="1"/>
            <p:nvPr/>
          </p:nvSpPr>
          <p:spPr>
            <a:xfrm>
              <a:off x="1024128" y="3667223"/>
              <a:ext cx="97820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Mean-field approximation (a very common technique to tackle interaction, but not always work.)</a:t>
              </a:r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22297" y="4074447"/>
              <a:ext cx="3986329" cy="1205036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F4E84A0-0C3F-4985-9BF8-18CFC342A228}"/>
              </a:ext>
            </a:extLst>
          </p:cNvPr>
          <p:cNvGrpSpPr/>
          <p:nvPr/>
        </p:nvGrpSpPr>
        <p:grpSpPr>
          <a:xfrm>
            <a:off x="1115799" y="5212617"/>
            <a:ext cx="6613994" cy="1347222"/>
            <a:chOff x="1115799" y="5212617"/>
            <a:chExt cx="6613994" cy="1347222"/>
          </a:xfrm>
        </p:grpSpPr>
        <p:sp>
          <p:nvSpPr>
            <p:cNvPr id="8" name="TextBox 7"/>
            <p:cNvSpPr txBox="1"/>
            <p:nvPr/>
          </p:nvSpPr>
          <p:spPr>
            <a:xfrm>
              <a:off x="1115799" y="5212617"/>
              <a:ext cx="33608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Assuming uniformity of the gas:</a:t>
              </a:r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84383" y="5765876"/>
              <a:ext cx="860585" cy="424631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15461" y="5765876"/>
              <a:ext cx="2934930" cy="501697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6440914" y="6190507"/>
              <a:ext cx="12888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(attractive)</a:t>
              </a:r>
            </a:p>
          </p:txBody>
        </p:sp>
      </p:grpSp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7048" y="2562780"/>
            <a:ext cx="3433774" cy="1066551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DEAA77C7-BF00-4922-A3AD-8C13FEFFD4BE}"/>
              </a:ext>
            </a:extLst>
          </p:cNvPr>
          <p:cNvGrpSpPr/>
          <p:nvPr/>
        </p:nvGrpSpPr>
        <p:grpSpPr>
          <a:xfrm>
            <a:off x="8697393" y="3964623"/>
            <a:ext cx="2844869" cy="1162393"/>
            <a:chOff x="8697393" y="3964623"/>
            <a:chExt cx="2844869" cy="1162393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12F2E93-DB72-4B32-AF04-309019074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911071" y="4384516"/>
              <a:ext cx="2631191" cy="742500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3A03DC1-9A02-4C99-A2D7-5A152FCF7D0C}"/>
                </a:ext>
              </a:extLst>
            </p:cNvPr>
            <p:cNvSpPr/>
            <p:nvPr/>
          </p:nvSpPr>
          <p:spPr>
            <a:xfrm>
              <a:off x="8697393" y="3964623"/>
              <a:ext cx="13351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Mean-field 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49FBB348-7E71-4CBD-AD4F-663715BF66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405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and phase transition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484759" y="2281481"/>
            <a:ext cx="19223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Beyond idea gas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14" y="2688706"/>
            <a:ext cx="7320015" cy="944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08626" y="2369971"/>
            <a:ext cx="1294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Interaction</a:t>
            </a:r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7048" y="2562780"/>
            <a:ext cx="3433774" cy="1066551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1240D51-F1AF-401F-884E-47FE18A55D4C}"/>
              </a:ext>
            </a:extLst>
          </p:cNvPr>
          <p:cNvGrpSpPr/>
          <p:nvPr/>
        </p:nvGrpSpPr>
        <p:grpSpPr>
          <a:xfrm>
            <a:off x="424323" y="3747554"/>
            <a:ext cx="7118021" cy="1415156"/>
            <a:chOff x="424323" y="3747554"/>
            <a:chExt cx="7118021" cy="1415156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4323" y="3747554"/>
              <a:ext cx="7005178" cy="1000740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08626" y="4562537"/>
              <a:ext cx="1333718" cy="600173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B65C787-FF3F-470C-903D-1D3D5A69EE8C}"/>
              </a:ext>
            </a:extLst>
          </p:cNvPr>
          <p:cNvGrpSpPr/>
          <p:nvPr/>
        </p:nvGrpSpPr>
        <p:grpSpPr>
          <a:xfrm>
            <a:off x="8697393" y="3964623"/>
            <a:ext cx="2844869" cy="1162393"/>
            <a:chOff x="8697393" y="3964623"/>
            <a:chExt cx="2844869" cy="1162393"/>
          </a:xfrm>
        </p:grpSpPr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911071" y="4384516"/>
              <a:ext cx="2631191" cy="742500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sp>
          <p:nvSpPr>
            <p:cNvPr id="18" name="Rectangle 17"/>
            <p:cNvSpPr/>
            <p:nvPr/>
          </p:nvSpPr>
          <p:spPr>
            <a:xfrm>
              <a:off x="8697393" y="3964623"/>
              <a:ext cx="13351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Mean-field 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116085" y="4721784"/>
            <a:ext cx="1783081" cy="763112"/>
            <a:chOff x="3451860" y="4862624"/>
            <a:chExt cx="1783081" cy="763112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767417" y="4862624"/>
              <a:ext cx="1467524" cy="763112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51860" y="5133340"/>
              <a:ext cx="206745" cy="137830"/>
            </a:xfrm>
            <a:prstGeom prst="rect">
              <a:avLst/>
            </a:prstGeom>
          </p:spPr>
        </p:pic>
      </p:grpSp>
      <p:pic>
        <p:nvPicPr>
          <p:cNvPr id="22" name="Picture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3014" y="5625996"/>
            <a:ext cx="5296507" cy="95065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1129CA3-30DD-4CAE-84A3-A55F9F91419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201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and phase transition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484759" y="2281481"/>
            <a:ext cx="19223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Beyond idea gas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14" y="2688706"/>
            <a:ext cx="7320015" cy="944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08626" y="2369971"/>
            <a:ext cx="1294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Interaction</a:t>
            </a:r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7048" y="2562780"/>
            <a:ext cx="3433774" cy="1066551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1071" y="4384516"/>
            <a:ext cx="2631191" cy="74250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8" name="Rectangle 17"/>
          <p:cNvSpPr/>
          <p:nvPr/>
        </p:nvSpPr>
        <p:spPr>
          <a:xfrm>
            <a:off x="8697393" y="3964623"/>
            <a:ext cx="13351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Mean-field 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014" y="3723562"/>
            <a:ext cx="4721926" cy="8475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44" y="4470013"/>
            <a:ext cx="8603049" cy="7095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0576" y="5648032"/>
            <a:ext cx="4245643" cy="867068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81E116B7-D2EE-48D4-B1C6-E173BCF20AED}"/>
              </a:ext>
            </a:extLst>
          </p:cNvPr>
          <p:cNvGrpSpPr/>
          <p:nvPr/>
        </p:nvGrpSpPr>
        <p:grpSpPr>
          <a:xfrm>
            <a:off x="6394084" y="5557780"/>
            <a:ext cx="4131022" cy="1189377"/>
            <a:chOff x="6394084" y="5557780"/>
            <a:chExt cx="4131022" cy="1189377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97B52A5-B970-4B08-AAA1-7D0811109F62}"/>
                </a:ext>
              </a:extLst>
            </p:cNvPr>
            <p:cNvSpPr txBox="1"/>
            <p:nvPr/>
          </p:nvSpPr>
          <p:spPr>
            <a:xfrm>
              <a:off x="6469380" y="6285492"/>
              <a:ext cx="40557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Van der Waal gas equation.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932ED10-7487-4875-A0A6-67CDBB054F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394084" y="5557780"/>
              <a:ext cx="3726180" cy="571630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E14FF069-B51C-448E-B2C1-8F2CD3BD01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875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and phase transition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484759" y="2281481"/>
            <a:ext cx="19646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Virial expansion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939" y="2207461"/>
            <a:ext cx="4245643" cy="86706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890" y="2847462"/>
            <a:ext cx="4706274" cy="1223217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DA713DF-A5CB-4830-9393-F9E33700A474}"/>
              </a:ext>
            </a:extLst>
          </p:cNvPr>
          <p:cNvGrpSpPr/>
          <p:nvPr/>
        </p:nvGrpSpPr>
        <p:grpSpPr>
          <a:xfrm>
            <a:off x="621297" y="4463977"/>
            <a:ext cx="10537669" cy="2366655"/>
            <a:chOff x="621297" y="4463977"/>
            <a:chExt cx="10537669" cy="2366655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1297" y="4838623"/>
              <a:ext cx="7320015" cy="944518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1055" y="5774354"/>
              <a:ext cx="6945825" cy="1056278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41312" y="5371979"/>
              <a:ext cx="2883222" cy="831699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66161" y="6203678"/>
              <a:ext cx="3192805" cy="522459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689110" y="4463977"/>
              <a:ext cx="377084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/>
                <a:t>Other method cluster expansion:</a:t>
              </a:r>
              <a:endParaRPr lang="en-US" b="1" dirty="0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1122CB19-1C0E-4E0E-968A-A360E461F5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15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and phase transition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190553" y="1970480"/>
            <a:ext cx="35799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Break down of the </a:t>
            </a:r>
            <a:r>
              <a:rPr lang="en-US" b="1"/>
              <a:t>gas equation</a:t>
            </a:r>
            <a:endParaRPr lang="en-US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2200" y="2207461"/>
            <a:ext cx="4245643" cy="86706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7578" y="2207461"/>
            <a:ext cx="3726180" cy="57163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264" y="2473661"/>
            <a:ext cx="4216400" cy="43053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0259D6F-05C8-477E-BB36-3BAB64B83975}"/>
              </a:ext>
            </a:extLst>
          </p:cNvPr>
          <p:cNvGrpSpPr/>
          <p:nvPr/>
        </p:nvGrpSpPr>
        <p:grpSpPr>
          <a:xfrm>
            <a:off x="2228194" y="3246227"/>
            <a:ext cx="4443999" cy="2050987"/>
            <a:chOff x="2228194" y="3246227"/>
            <a:chExt cx="4443999" cy="2050987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EE2409B-ED0F-420D-91ED-98B04FFEFE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8194" y="3594538"/>
              <a:ext cx="2842470" cy="170267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6CE95FA-1321-472E-AA8F-062F1CAA1B24}"/>
                </a:ext>
              </a:extLst>
            </p:cNvPr>
            <p:cNvSpPr txBox="1"/>
            <p:nvPr/>
          </p:nvSpPr>
          <p:spPr>
            <a:xfrm>
              <a:off x="5070664" y="3246227"/>
              <a:ext cx="16015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Critical points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0941A5-AA34-4061-90E1-A38CE12E932F}"/>
              </a:ext>
            </a:extLst>
          </p:cNvPr>
          <p:cNvGrpSpPr/>
          <p:nvPr/>
        </p:nvGrpSpPr>
        <p:grpSpPr>
          <a:xfrm>
            <a:off x="1660634" y="5297214"/>
            <a:ext cx="3589425" cy="1572766"/>
            <a:chOff x="1660634" y="5297214"/>
            <a:chExt cx="3589425" cy="157276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C6AA8E3-F622-4ED8-B8AC-05BFB689EF8C}"/>
                </a:ext>
              </a:extLst>
            </p:cNvPr>
            <p:cNvSpPr/>
            <p:nvPr/>
          </p:nvSpPr>
          <p:spPr>
            <a:xfrm>
              <a:off x="1660634" y="5297214"/>
              <a:ext cx="1166649" cy="1481747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E55BFF7-9DB5-4878-85C8-5F825B5B65BE}"/>
                </a:ext>
              </a:extLst>
            </p:cNvPr>
            <p:cNvSpPr txBox="1"/>
            <p:nvPr/>
          </p:nvSpPr>
          <p:spPr>
            <a:xfrm>
              <a:off x="2570736" y="6500648"/>
              <a:ext cx="2679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The gas phase is unstable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AAEBD82E-0D16-457F-AF79-438CC5298380}"/>
              </a:ext>
            </a:extLst>
          </p:cNvPr>
          <p:cNvSpPr txBox="1"/>
          <p:nvPr/>
        </p:nvSpPr>
        <p:spPr>
          <a:xfrm>
            <a:off x="5114381" y="3797859"/>
            <a:ext cx="5539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Normally, pressure should increase as volume decrease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3ED2FB3-8982-45A0-A6AE-78585EFE8478}"/>
              </a:ext>
            </a:extLst>
          </p:cNvPr>
          <p:cNvGrpSpPr/>
          <p:nvPr/>
        </p:nvGrpSpPr>
        <p:grpSpPr>
          <a:xfrm>
            <a:off x="6122921" y="4418224"/>
            <a:ext cx="6125332" cy="1301010"/>
            <a:chOff x="6122921" y="4418224"/>
            <a:chExt cx="6125332" cy="130101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A1442DC-B77A-4DC2-B1C4-0F7B7783C3DD}"/>
                </a:ext>
              </a:extLst>
            </p:cNvPr>
            <p:cNvSpPr txBox="1"/>
            <p:nvPr/>
          </p:nvSpPr>
          <p:spPr>
            <a:xfrm>
              <a:off x="6122921" y="4418224"/>
              <a:ext cx="56308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Phase transition because of the van der Waal attraction</a:t>
              </a:r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14479" y="4652683"/>
              <a:ext cx="3433774" cy="1066551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894DA58-40E8-4B53-A3B5-CC9EF30BE0BF}"/>
              </a:ext>
            </a:extLst>
          </p:cNvPr>
          <p:cNvGrpSpPr/>
          <p:nvPr/>
        </p:nvGrpSpPr>
        <p:grpSpPr>
          <a:xfrm>
            <a:off x="2560065" y="2999124"/>
            <a:ext cx="1698463" cy="894310"/>
            <a:chOff x="2560065" y="2999124"/>
            <a:chExt cx="1698463" cy="894310"/>
          </a:xfrm>
        </p:grpSpPr>
        <p:cxnSp>
          <p:nvCxnSpPr>
            <p:cNvPr id="8" name="Straight Arrow Connector 7"/>
            <p:cNvCxnSpPr/>
            <p:nvPr/>
          </p:nvCxnSpPr>
          <p:spPr>
            <a:xfrm flipH="1">
              <a:off x="2560065" y="2999124"/>
              <a:ext cx="1698463" cy="894310"/>
            </a:xfrm>
            <a:prstGeom prst="straightConnector1">
              <a:avLst/>
            </a:prstGeom>
            <a:ln w="38100">
              <a:solidFill>
                <a:srgbClr val="0432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 rot="19844758">
              <a:off x="2584933" y="3156062"/>
              <a:ext cx="13238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rgbClr val="0432FF"/>
                  </a:solidFill>
                </a:rPr>
                <a:t>T decrease</a:t>
              </a:r>
              <a:endParaRPr lang="en-US" b="1" dirty="0">
                <a:solidFill>
                  <a:srgbClr val="0432FF"/>
                </a:solidFill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572000" y="5745035"/>
            <a:ext cx="794539" cy="258043"/>
            <a:chOff x="4572000" y="5745035"/>
            <a:chExt cx="794539" cy="258043"/>
          </a:xfrm>
        </p:grpSpPr>
        <p:cxnSp>
          <p:nvCxnSpPr>
            <p:cNvPr id="22" name="Straight Arrow Connector 21"/>
            <p:cNvCxnSpPr/>
            <p:nvPr/>
          </p:nvCxnSpPr>
          <p:spPr>
            <a:xfrm flipH="1">
              <a:off x="4572000" y="5868584"/>
              <a:ext cx="3834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16934" y="5745035"/>
              <a:ext cx="349605" cy="258043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9A47DFF-29CE-4DD0-8233-A806F3457562}"/>
              </a:ext>
            </a:extLst>
          </p:cNvPr>
          <p:cNvGrpSpPr/>
          <p:nvPr/>
        </p:nvGrpSpPr>
        <p:grpSpPr>
          <a:xfrm>
            <a:off x="6896661" y="3161919"/>
            <a:ext cx="2562431" cy="530217"/>
            <a:chOff x="5645594" y="5185959"/>
            <a:chExt cx="2562431" cy="530217"/>
          </a:xfrm>
        </p:grpSpPr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45594" y="5222951"/>
              <a:ext cx="1039790" cy="486451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027661" y="5185959"/>
              <a:ext cx="1180364" cy="530217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6C495F1-E816-4114-87BF-9996BF167ECC}"/>
              </a:ext>
            </a:extLst>
          </p:cNvPr>
          <p:cNvGrpSpPr/>
          <p:nvPr/>
        </p:nvGrpSpPr>
        <p:grpSpPr>
          <a:xfrm>
            <a:off x="6615704" y="6128151"/>
            <a:ext cx="4568861" cy="611681"/>
            <a:chOff x="6615704" y="6128151"/>
            <a:chExt cx="4568861" cy="611681"/>
          </a:xfrm>
        </p:grpSpPr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789319" y="6156110"/>
              <a:ext cx="1395246" cy="231498"/>
            </a:xfrm>
            <a:prstGeom prst="rect">
              <a:avLst/>
            </a:prstGeom>
          </p:spPr>
        </p:pic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314894" y="6174276"/>
              <a:ext cx="1059374" cy="215923"/>
            </a:xfrm>
            <a:prstGeom prst="rect">
              <a:avLst/>
            </a:prstGeom>
          </p:spPr>
        </p:pic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615704" y="6128151"/>
              <a:ext cx="1343132" cy="246944"/>
            </a:xfrm>
            <a:prstGeom prst="rect">
              <a:avLst/>
            </a:prstGeom>
          </p:spPr>
        </p:pic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52153" y="6501528"/>
              <a:ext cx="1912871" cy="238304"/>
            </a:xfrm>
            <a:prstGeom prst="rect">
              <a:avLst/>
            </a:prstGeom>
          </p:spPr>
        </p:pic>
      </p:grpSp>
      <p:sp>
        <p:nvSpPr>
          <p:cNvPr id="34" name="TextBox 33"/>
          <p:cNvSpPr txBox="1"/>
          <p:nvPr/>
        </p:nvSpPr>
        <p:spPr>
          <a:xfrm>
            <a:off x="2080797" y="5971444"/>
            <a:ext cx="2611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 correct, Coexistence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31EE4D96-7029-4866-94BA-DF43972637B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572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and phase transition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264" y="2473661"/>
            <a:ext cx="4216400" cy="43053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0259D6F-05C8-477E-BB36-3BAB64B83975}"/>
              </a:ext>
            </a:extLst>
          </p:cNvPr>
          <p:cNvGrpSpPr/>
          <p:nvPr/>
        </p:nvGrpSpPr>
        <p:grpSpPr>
          <a:xfrm>
            <a:off x="2228194" y="3246227"/>
            <a:ext cx="4443999" cy="2050987"/>
            <a:chOff x="2228194" y="3246227"/>
            <a:chExt cx="4443999" cy="2050987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EE2409B-ED0F-420D-91ED-98B04FFEFE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8194" y="3594538"/>
              <a:ext cx="2842470" cy="170267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6CE95FA-1321-472E-AA8F-062F1CAA1B24}"/>
                </a:ext>
              </a:extLst>
            </p:cNvPr>
            <p:cNvSpPr txBox="1"/>
            <p:nvPr/>
          </p:nvSpPr>
          <p:spPr>
            <a:xfrm>
              <a:off x="5070664" y="3246227"/>
              <a:ext cx="16015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Critical points</a:t>
              </a:r>
            </a:p>
          </p:txBody>
        </p:sp>
      </p:grpSp>
      <p:sp>
        <p:nvSpPr>
          <p:cNvPr id="8" name="Rectangle 7"/>
          <p:cNvSpPr/>
          <p:nvPr/>
        </p:nvSpPr>
        <p:spPr>
          <a:xfrm>
            <a:off x="1190553" y="1970480"/>
            <a:ext cx="35799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Break down of the </a:t>
            </a:r>
            <a:r>
              <a:rPr lang="en-US" b="1"/>
              <a:t>gas equation</a:t>
            </a:r>
            <a:endParaRPr lang="en-US" b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2200" y="2207461"/>
            <a:ext cx="4245643" cy="86706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7578" y="2207461"/>
            <a:ext cx="3726180" cy="57163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B531913-AD12-43D1-912B-28A229AD4B1B}"/>
              </a:ext>
            </a:extLst>
          </p:cNvPr>
          <p:cNvGrpSpPr/>
          <p:nvPr/>
        </p:nvGrpSpPr>
        <p:grpSpPr>
          <a:xfrm>
            <a:off x="4971595" y="3932949"/>
            <a:ext cx="7074578" cy="742996"/>
            <a:chOff x="4971595" y="3932949"/>
            <a:chExt cx="7074578" cy="742996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5"/>
            <a:srcRect b="21575"/>
            <a:stretch/>
          </p:blipFill>
          <p:spPr>
            <a:xfrm>
              <a:off x="4987232" y="3932949"/>
              <a:ext cx="4290303" cy="270524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9349473" y="3932949"/>
              <a:ext cx="2696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(diverge at critical point)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971595" y="4306613"/>
              <a:ext cx="70582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Response function divergence is a hallmark of phase transition.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0259D6F-05C8-477E-BB36-3BAB64B83975}"/>
              </a:ext>
            </a:extLst>
          </p:cNvPr>
          <p:cNvGrpSpPr/>
          <p:nvPr/>
        </p:nvGrpSpPr>
        <p:grpSpPr>
          <a:xfrm>
            <a:off x="2228194" y="3246227"/>
            <a:ext cx="4443999" cy="2050987"/>
            <a:chOff x="2228194" y="3246227"/>
            <a:chExt cx="4443999" cy="2050987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EE2409B-ED0F-420D-91ED-98B04FFEFE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8194" y="3594538"/>
              <a:ext cx="2842470" cy="170267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6CE95FA-1321-472E-AA8F-062F1CAA1B24}"/>
                </a:ext>
              </a:extLst>
            </p:cNvPr>
            <p:cNvSpPr txBox="1"/>
            <p:nvPr/>
          </p:nvSpPr>
          <p:spPr>
            <a:xfrm>
              <a:off x="5070664" y="3246227"/>
              <a:ext cx="16015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Critical points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50941A5-AA34-4061-90E1-A38CE12E932F}"/>
              </a:ext>
            </a:extLst>
          </p:cNvPr>
          <p:cNvGrpSpPr/>
          <p:nvPr/>
        </p:nvGrpSpPr>
        <p:grpSpPr>
          <a:xfrm>
            <a:off x="1660634" y="5297214"/>
            <a:ext cx="3589425" cy="1572766"/>
            <a:chOff x="1660634" y="5297214"/>
            <a:chExt cx="3589425" cy="1572766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C6AA8E3-F622-4ED8-B8AC-05BFB689EF8C}"/>
                </a:ext>
              </a:extLst>
            </p:cNvPr>
            <p:cNvSpPr/>
            <p:nvPr/>
          </p:nvSpPr>
          <p:spPr>
            <a:xfrm>
              <a:off x="1660634" y="5297214"/>
              <a:ext cx="1166649" cy="1481747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E55BFF7-9DB5-4878-85C8-5F825B5B65BE}"/>
                </a:ext>
              </a:extLst>
            </p:cNvPr>
            <p:cNvSpPr txBox="1"/>
            <p:nvPr/>
          </p:nvSpPr>
          <p:spPr>
            <a:xfrm>
              <a:off x="2570736" y="6500648"/>
              <a:ext cx="2679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The gas phase is unstable</a:t>
              </a:r>
            </a:p>
          </p:txBody>
        </p:sp>
      </p:grpSp>
      <p:cxnSp>
        <p:nvCxnSpPr>
          <p:cNvPr id="26" name="Straight Arrow Connector 25"/>
          <p:cNvCxnSpPr/>
          <p:nvPr/>
        </p:nvCxnSpPr>
        <p:spPr>
          <a:xfrm flipH="1">
            <a:off x="2560065" y="2999124"/>
            <a:ext cx="1698463" cy="894310"/>
          </a:xfrm>
          <a:prstGeom prst="straightConnector1">
            <a:avLst/>
          </a:prstGeom>
          <a:ln w="38100"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 rot="19844758">
            <a:off x="2584933" y="3156062"/>
            <a:ext cx="1323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0432FF"/>
                </a:solidFill>
              </a:rPr>
              <a:t>T decrease</a:t>
            </a:r>
            <a:endParaRPr lang="en-US" b="1" dirty="0">
              <a:solidFill>
                <a:srgbClr val="0432FF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080797" y="5971444"/>
            <a:ext cx="2611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 correct, Coexistence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6200" y="4680766"/>
            <a:ext cx="3676859" cy="1302658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5815" y="6224099"/>
            <a:ext cx="4572367" cy="59729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554065" y="5325113"/>
            <a:ext cx="37125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Particle # fluctuations diverges =&gt; Macroscopic changes of the system.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1843" y="4869092"/>
            <a:ext cx="2277631" cy="299935"/>
          </a:xfrm>
          <a:prstGeom prst="rect">
            <a:avLst/>
          </a:prstGeom>
          <a:ln>
            <a:solidFill>
              <a:srgbClr val="FF0000"/>
            </a:solidFill>
          </a:ln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CD09C63A-C45E-4E41-9A56-835D53583201}"/>
              </a:ext>
            </a:extLst>
          </p:cNvPr>
          <p:cNvGrpSpPr/>
          <p:nvPr/>
        </p:nvGrpSpPr>
        <p:grpSpPr>
          <a:xfrm>
            <a:off x="6896661" y="3161919"/>
            <a:ext cx="2562431" cy="530217"/>
            <a:chOff x="5645594" y="5185959"/>
            <a:chExt cx="2562431" cy="530217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BE531905-254E-480B-B44D-A5590C9A8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45594" y="5222951"/>
              <a:ext cx="1039790" cy="486451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059C9A6D-B20A-4B4B-AFFB-1011B2DFB6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027661" y="5185959"/>
              <a:ext cx="1180364" cy="530217"/>
            </a:xfrm>
            <a:prstGeom prst="rect">
              <a:avLst/>
            </a:prstGeom>
          </p:spPr>
        </p:pic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BA4110FB-4D96-47FA-906C-ECFFBC0884C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491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and phase transition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264" y="2473661"/>
            <a:ext cx="4216400" cy="43053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190553" y="1970480"/>
            <a:ext cx="35799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Break down of the </a:t>
            </a:r>
            <a:r>
              <a:rPr lang="en-US" b="1"/>
              <a:t>gas equation</a:t>
            </a:r>
            <a:endParaRPr lang="en-US" b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2200" y="2207461"/>
            <a:ext cx="4245643" cy="86706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7578" y="2207461"/>
            <a:ext cx="3726180" cy="57163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550941A5-AA34-4061-90E1-A38CE12E932F}"/>
              </a:ext>
            </a:extLst>
          </p:cNvPr>
          <p:cNvGrpSpPr/>
          <p:nvPr/>
        </p:nvGrpSpPr>
        <p:grpSpPr>
          <a:xfrm>
            <a:off x="1660634" y="5297214"/>
            <a:ext cx="3589425" cy="1572766"/>
            <a:chOff x="1660634" y="5297214"/>
            <a:chExt cx="3589425" cy="1572766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C6AA8E3-F622-4ED8-B8AC-05BFB689EF8C}"/>
                </a:ext>
              </a:extLst>
            </p:cNvPr>
            <p:cNvSpPr/>
            <p:nvPr/>
          </p:nvSpPr>
          <p:spPr>
            <a:xfrm>
              <a:off x="1660634" y="5297214"/>
              <a:ext cx="1166649" cy="1481747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E55BFF7-9DB5-4878-85C8-5F825B5B65BE}"/>
                </a:ext>
              </a:extLst>
            </p:cNvPr>
            <p:cNvSpPr txBox="1"/>
            <p:nvPr/>
          </p:nvSpPr>
          <p:spPr>
            <a:xfrm>
              <a:off x="2570736" y="6500648"/>
              <a:ext cx="2679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The gas phase is unstable</a:t>
              </a:r>
            </a:p>
          </p:txBody>
        </p:sp>
      </p:grpSp>
      <p:cxnSp>
        <p:nvCxnSpPr>
          <p:cNvPr id="26" name="Straight Arrow Connector 25"/>
          <p:cNvCxnSpPr/>
          <p:nvPr/>
        </p:nvCxnSpPr>
        <p:spPr>
          <a:xfrm flipH="1">
            <a:off x="2560065" y="2999124"/>
            <a:ext cx="1698463" cy="894310"/>
          </a:xfrm>
          <a:prstGeom prst="straightConnector1">
            <a:avLst/>
          </a:prstGeom>
          <a:ln w="38100"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 rot="19844758">
            <a:off x="2584933" y="3156062"/>
            <a:ext cx="1323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0432FF"/>
                </a:solidFill>
              </a:rPr>
              <a:t>T decrease</a:t>
            </a:r>
            <a:endParaRPr lang="en-US" b="1" dirty="0">
              <a:solidFill>
                <a:srgbClr val="0432FF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080797" y="5971444"/>
            <a:ext cx="2611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 correct, Coexistence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4128" y="4261443"/>
            <a:ext cx="4742565" cy="252806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4100" y="3043741"/>
            <a:ext cx="5829516" cy="763692"/>
          </a:xfrm>
          <a:prstGeom prst="rect">
            <a:avLst/>
          </a:prstGeom>
        </p:spPr>
      </p:pic>
      <p:grpSp>
        <p:nvGrpSpPr>
          <p:cNvPr id="35" name="Group 34"/>
          <p:cNvGrpSpPr/>
          <p:nvPr/>
        </p:nvGrpSpPr>
        <p:grpSpPr>
          <a:xfrm>
            <a:off x="8749507" y="4072030"/>
            <a:ext cx="1039067" cy="2087939"/>
            <a:chOff x="8767795" y="4181758"/>
            <a:chExt cx="1039067" cy="2087939"/>
          </a:xfrm>
        </p:grpSpPr>
        <p:sp>
          <p:nvSpPr>
            <p:cNvPr id="16" name="Oval 15"/>
            <p:cNvSpPr/>
            <p:nvPr/>
          </p:nvSpPr>
          <p:spPr>
            <a:xfrm rot="2535291">
              <a:off x="9216474" y="4181758"/>
              <a:ext cx="407253" cy="208793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/>
            <p:cNvSpPr txBox="1"/>
            <p:nvPr/>
          </p:nvSpPr>
          <p:spPr>
            <a:xfrm rot="18972699">
              <a:off x="8767795" y="4540841"/>
              <a:ext cx="10390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unstable</a:t>
              </a: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9034694" y="5896038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18293" y="5386398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liquid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0278" y="4516583"/>
            <a:ext cx="913384" cy="24409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101531" y="6456749"/>
            <a:ext cx="3176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Vapor pressure (T-dependent)</a:t>
            </a: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84503" y="3593415"/>
            <a:ext cx="2056549" cy="754936"/>
          </a:xfrm>
          <a:prstGeom prst="rect">
            <a:avLst/>
          </a:prstGeom>
        </p:spPr>
      </p:pic>
      <p:grpSp>
        <p:nvGrpSpPr>
          <p:cNvPr id="49" name="Group 48"/>
          <p:cNvGrpSpPr/>
          <p:nvPr/>
        </p:nvGrpSpPr>
        <p:grpSpPr>
          <a:xfrm>
            <a:off x="6601968" y="5494828"/>
            <a:ext cx="687955" cy="339044"/>
            <a:chOff x="6601968" y="5494828"/>
            <a:chExt cx="687955" cy="339044"/>
          </a:xfrm>
        </p:grpSpPr>
        <p:sp>
          <p:nvSpPr>
            <p:cNvPr id="46" name="Freeform 45"/>
            <p:cNvSpPr/>
            <p:nvPr/>
          </p:nvSpPr>
          <p:spPr>
            <a:xfrm>
              <a:off x="6601968" y="5601643"/>
              <a:ext cx="146375" cy="232229"/>
            </a:xfrm>
            <a:custGeom>
              <a:avLst/>
              <a:gdLst>
                <a:gd name="connsiteX0" fmla="*/ 36576 w 146375"/>
                <a:gd name="connsiteY0" fmla="*/ 67637 h 232229"/>
                <a:gd name="connsiteX1" fmla="*/ 73152 w 146375"/>
                <a:gd name="connsiteY1" fmla="*/ 104213 h 232229"/>
                <a:gd name="connsiteX2" fmla="*/ 109728 w 146375"/>
                <a:gd name="connsiteY2" fmla="*/ 49349 h 232229"/>
                <a:gd name="connsiteX3" fmla="*/ 91440 w 146375"/>
                <a:gd name="connsiteY3" fmla="*/ 104213 h 232229"/>
                <a:gd name="connsiteX4" fmla="*/ 54864 w 146375"/>
                <a:gd name="connsiteY4" fmla="*/ 159077 h 232229"/>
                <a:gd name="connsiteX5" fmla="*/ 36576 w 146375"/>
                <a:gd name="connsiteY5" fmla="*/ 213941 h 232229"/>
                <a:gd name="connsiteX6" fmla="*/ 91440 w 146375"/>
                <a:gd name="connsiteY6" fmla="*/ 177365 h 232229"/>
                <a:gd name="connsiteX7" fmla="*/ 128016 w 146375"/>
                <a:gd name="connsiteY7" fmla="*/ 67637 h 232229"/>
                <a:gd name="connsiteX8" fmla="*/ 109728 w 146375"/>
                <a:gd name="connsiteY8" fmla="*/ 122501 h 232229"/>
                <a:gd name="connsiteX9" fmla="*/ 54864 w 146375"/>
                <a:gd name="connsiteY9" fmla="*/ 232229 h 232229"/>
                <a:gd name="connsiteX10" fmla="*/ 36576 w 146375"/>
                <a:gd name="connsiteY10" fmla="*/ 177365 h 232229"/>
                <a:gd name="connsiteX11" fmla="*/ 54864 w 146375"/>
                <a:gd name="connsiteY11" fmla="*/ 49349 h 232229"/>
                <a:gd name="connsiteX12" fmla="*/ 0 w 146375"/>
                <a:gd name="connsiteY12" fmla="*/ 67637 h 232229"/>
                <a:gd name="connsiteX13" fmla="*/ 54864 w 146375"/>
                <a:gd name="connsiteY13" fmla="*/ 31061 h 232229"/>
                <a:gd name="connsiteX14" fmla="*/ 146304 w 146375"/>
                <a:gd name="connsiteY14" fmla="*/ 31061 h 232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6375" h="232229">
                  <a:moveTo>
                    <a:pt x="36576" y="67637"/>
                  </a:moveTo>
                  <a:cubicBezTo>
                    <a:pt x="12957" y="162112"/>
                    <a:pt x="-2625" y="154731"/>
                    <a:pt x="73152" y="104213"/>
                  </a:cubicBezTo>
                  <a:cubicBezTo>
                    <a:pt x="85344" y="85925"/>
                    <a:pt x="116679" y="28497"/>
                    <a:pt x="109728" y="49349"/>
                  </a:cubicBezTo>
                  <a:cubicBezTo>
                    <a:pt x="103632" y="67637"/>
                    <a:pt x="102133" y="88173"/>
                    <a:pt x="91440" y="104213"/>
                  </a:cubicBezTo>
                  <a:cubicBezTo>
                    <a:pt x="79248" y="122501"/>
                    <a:pt x="64694" y="139418"/>
                    <a:pt x="54864" y="159077"/>
                  </a:cubicBezTo>
                  <a:cubicBezTo>
                    <a:pt x="46243" y="176319"/>
                    <a:pt x="19334" y="205320"/>
                    <a:pt x="36576" y="213941"/>
                  </a:cubicBezTo>
                  <a:cubicBezTo>
                    <a:pt x="56235" y="223771"/>
                    <a:pt x="73152" y="189557"/>
                    <a:pt x="91440" y="177365"/>
                  </a:cubicBezTo>
                  <a:lnTo>
                    <a:pt x="128016" y="67637"/>
                  </a:lnTo>
                  <a:lnTo>
                    <a:pt x="109728" y="122501"/>
                  </a:lnTo>
                  <a:cubicBezTo>
                    <a:pt x="84489" y="198217"/>
                    <a:pt x="102133" y="161325"/>
                    <a:pt x="54864" y="232229"/>
                  </a:cubicBezTo>
                  <a:cubicBezTo>
                    <a:pt x="48768" y="213941"/>
                    <a:pt x="36576" y="196642"/>
                    <a:pt x="36576" y="177365"/>
                  </a:cubicBezTo>
                  <a:cubicBezTo>
                    <a:pt x="36576" y="134260"/>
                    <a:pt x="68495" y="90242"/>
                    <a:pt x="54864" y="49349"/>
                  </a:cubicBezTo>
                  <a:cubicBezTo>
                    <a:pt x="48768" y="31061"/>
                    <a:pt x="0" y="86914"/>
                    <a:pt x="0" y="67637"/>
                  </a:cubicBezTo>
                  <a:cubicBezTo>
                    <a:pt x="0" y="45658"/>
                    <a:pt x="34284" y="38778"/>
                    <a:pt x="54864" y="31061"/>
                  </a:cubicBezTo>
                  <a:cubicBezTo>
                    <a:pt x="152282" y="-5471"/>
                    <a:pt x="146304" y="-14967"/>
                    <a:pt x="146304" y="3106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6922093" y="5494828"/>
              <a:ext cx="367830" cy="111213"/>
            </a:xfrm>
            <a:custGeom>
              <a:avLst/>
              <a:gdLst>
                <a:gd name="connsiteX0" fmla="*/ 0 w 367830"/>
                <a:gd name="connsiteY0" fmla="*/ 85576 h 111213"/>
                <a:gd name="connsiteX1" fmla="*/ 34184 w 367830"/>
                <a:gd name="connsiteY1" fmla="*/ 68484 h 111213"/>
                <a:gd name="connsiteX2" fmla="*/ 59821 w 367830"/>
                <a:gd name="connsiteY2" fmla="*/ 42847 h 111213"/>
                <a:gd name="connsiteX3" fmla="*/ 85458 w 367830"/>
                <a:gd name="connsiteY3" fmla="*/ 25755 h 111213"/>
                <a:gd name="connsiteX4" fmla="*/ 94004 w 367830"/>
                <a:gd name="connsiteY4" fmla="*/ 34301 h 111213"/>
                <a:gd name="connsiteX5" fmla="*/ 85458 w 367830"/>
                <a:gd name="connsiteY5" fmla="*/ 59938 h 111213"/>
                <a:gd name="connsiteX6" fmla="*/ 111096 w 367830"/>
                <a:gd name="connsiteY6" fmla="*/ 34301 h 111213"/>
                <a:gd name="connsiteX7" fmla="*/ 162371 w 367830"/>
                <a:gd name="connsiteY7" fmla="*/ 118 h 111213"/>
                <a:gd name="connsiteX8" fmla="*/ 162371 w 367830"/>
                <a:gd name="connsiteY8" fmla="*/ 77030 h 111213"/>
                <a:gd name="connsiteX9" fmla="*/ 170916 w 367830"/>
                <a:gd name="connsiteY9" fmla="*/ 51393 h 111213"/>
                <a:gd name="connsiteX10" fmla="*/ 188008 w 367830"/>
                <a:gd name="connsiteY10" fmla="*/ 25755 h 111213"/>
                <a:gd name="connsiteX11" fmla="*/ 179462 w 367830"/>
                <a:gd name="connsiteY11" fmla="*/ 102667 h 111213"/>
                <a:gd name="connsiteX12" fmla="*/ 188008 w 367830"/>
                <a:gd name="connsiteY12" fmla="*/ 77030 h 111213"/>
                <a:gd name="connsiteX13" fmla="*/ 230737 w 367830"/>
                <a:gd name="connsiteY13" fmla="*/ 34301 h 111213"/>
                <a:gd name="connsiteX14" fmla="*/ 239283 w 367830"/>
                <a:gd name="connsiteY14" fmla="*/ 59938 h 111213"/>
                <a:gd name="connsiteX15" fmla="*/ 222191 w 367830"/>
                <a:gd name="connsiteY15" fmla="*/ 111213 h 111213"/>
                <a:gd name="connsiteX16" fmla="*/ 196554 w 367830"/>
                <a:gd name="connsiteY16" fmla="*/ 94122 h 111213"/>
                <a:gd name="connsiteX17" fmla="*/ 145279 w 367830"/>
                <a:gd name="connsiteY17" fmla="*/ 42847 h 111213"/>
                <a:gd name="connsiteX18" fmla="*/ 94004 w 367830"/>
                <a:gd name="connsiteY18" fmla="*/ 8664 h 111213"/>
                <a:gd name="connsiteX19" fmla="*/ 119642 w 367830"/>
                <a:gd name="connsiteY19" fmla="*/ 25755 h 111213"/>
                <a:gd name="connsiteX20" fmla="*/ 196554 w 367830"/>
                <a:gd name="connsiteY20" fmla="*/ 17209 h 111213"/>
                <a:gd name="connsiteX21" fmla="*/ 264920 w 367830"/>
                <a:gd name="connsiteY21" fmla="*/ 25755 h 111213"/>
                <a:gd name="connsiteX22" fmla="*/ 290557 w 367830"/>
                <a:gd name="connsiteY22" fmla="*/ 34301 h 111213"/>
                <a:gd name="connsiteX23" fmla="*/ 324741 w 367830"/>
                <a:gd name="connsiteY23" fmla="*/ 42847 h 111213"/>
                <a:gd name="connsiteX24" fmla="*/ 316195 w 367830"/>
                <a:gd name="connsiteY24" fmla="*/ 68484 h 111213"/>
                <a:gd name="connsiteX25" fmla="*/ 230737 w 367830"/>
                <a:gd name="connsiteY25" fmla="*/ 77030 h 111213"/>
                <a:gd name="connsiteX26" fmla="*/ 256374 w 367830"/>
                <a:gd name="connsiteY26" fmla="*/ 59938 h 111213"/>
                <a:gd name="connsiteX27" fmla="*/ 307649 w 367830"/>
                <a:gd name="connsiteY27" fmla="*/ 42847 h 111213"/>
                <a:gd name="connsiteX28" fmla="*/ 333286 w 367830"/>
                <a:gd name="connsiteY28" fmla="*/ 59938 h 111213"/>
                <a:gd name="connsiteX29" fmla="*/ 367470 w 367830"/>
                <a:gd name="connsiteY29" fmla="*/ 68484 h 111213"/>
                <a:gd name="connsiteX30" fmla="*/ 341832 w 367830"/>
                <a:gd name="connsiteY30" fmla="*/ 85576 h 111213"/>
                <a:gd name="connsiteX31" fmla="*/ 290557 w 367830"/>
                <a:gd name="connsiteY31" fmla="*/ 102667 h 111213"/>
                <a:gd name="connsiteX32" fmla="*/ 213645 w 367830"/>
                <a:gd name="connsiteY32" fmla="*/ 77030 h 111213"/>
                <a:gd name="connsiteX33" fmla="*/ 162371 w 367830"/>
                <a:gd name="connsiteY33" fmla="*/ 59938 h 111213"/>
                <a:gd name="connsiteX34" fmla="*/ 85458 w 367830"/>
                <a:gd name="connsiteY34" fmla="*/ 68484 h 111213"/>
                <a:gd name="connsiteX35" fmla="*/ 59821 w 367830"/>
                <a:gd name="connsiteY35" fmla="*/ 77030 h 111213"/>
                <a:gd name="connsiteX36" fmla="*/ 111096 w 367830"/>
                <a:gd name="connsiteY36" fmla="*/ 34301 h 111213"/>
                <a:gd name="connsiteX37" fmla="*/ 162371 w 367830"/>
                <a:gd name="connsiteY37" fmla="*/ 17209 h 111213"/>
                <a:gd name="connsiteX38" fmla="*/ 247828 w 367830"/>
                <a:gd name="connsiteY38" fmla="*/ 34301 h 111213"/>
                <a:gd name="connsiteX39" fmla="*/ 316195 w 367830"/>
                <a:gd name="connsiteY39" fmla="*/ 51393 h 111213"/>
                <a:gd name="connsiteX40" fmla="*/ 350378 w 367830"/>
                <a:gd name="connsiteY40" fmla="*/ 59938 h 111213"/>
                <a:gd name="connsiteX41" fmla="*/ 299103 w 367830"/>
                <a:gd name="connsiteY41" fmla="*/ 34301 h 111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367830" h="111213">
                  <a:moveTo>
                    <a:pt x="0" y="85576"/>
                  </a:moveTo>
                  <a:cubicBezTo>
                    <a:pt x="11395" y="79879"/>
                    <a:pt x="23817" y="75889"/>
                    <a:pt x="34184" y="68484"/>
                  </a:cubicBezTo>
                  <a:cubicBezTo>
                    <a:pt x="44018" y="61460"/>
                    <a:pt x="50537" y="50584"/>
                    <a:pt x="59821" y="42847"/>
                  </a:cubicBezTo>
                  <a:cubicBezTo>
                    <a:pt x="67711" y="36272"/>
                    <a:pt x="76912" y="31452"/>
                    <a:pt x="85458" y="25755"/>
                  </a:cubicBezTo>
                  <a:cubicBezTo>
                    <a:pt x="106652" y="-6035"/>
                    <a:pt x="107800" y="-13985"/>
                    <a:pt x="94004" y="34301"/>
                  </a:cubicBezTo>
                  <a:cubicBezTo>
                    <a:pt x="91529" y="42962"/>
                    <a:pt x="76450" y="59938"/>
                    <a:pt x="85458" y="59938"/>
                  </a:cubicBezTo>
                  <a:cubicBezTo>
                    <a:pt x="97544" y="59938"/>
                    <a:pt x="101556" y="41721"/>
                    <a:pt x="111096" y="34301"/>
                  </a:cubicBezTo>
                  <a:cubicBezTo>
                    <a:pt x="127311" y="21690"/>
                    <a:pt x="162371" y="118"/>
                    <a:pt x="162371" y="118"/>
                  </a:cubicBezTo>
                  <a:cubicBezTo>
                    <a:pt x="189455" y="40745"/>
                    <a:pt x="182710" y="16012"/>
                    <a:pt x="162371" y="77030"/>
                  </a:cubicBezTo>
                  <a:cubicBezTo>
                    <a:pt x="159522" y="85576"/>
                    <a:pt x="165919" y="58888"/>
                    <a:pt x="170916" y="51393"/>
                  </a:cubicBezTo>
                  <a:lnTo>
                    <a:pt x="188008" y="25755"/>
                  </a:lnTo>
                  <a:cubicBezTo>
                    <a:pt x="202251" y="68484"/>
                    <a:pt x="199403" y="42847"/>
                    <a:pt x="179462" y="102667"/>
                  </a:cubicBezTo>
                  <a:cubicBezTo>
                    <a:pt x="176613" y="111213"/>
                    <a:pt x="183011" y="84525"/>
                    <a:pt x="188008" y="77030"/>
                  </a:cubicBezTo>
                  <a:cubicBezTo>
                    <a:pt x="210797" y="42847"/>
                    <a:pt x="196554" y="57090"/>
                    <a:pt x="230737" y="34301"/>
                  </a:cubicBezTo>
                  <a:cubicBezTo>
                    <a:pt x="233586" y="42847"/>
                    <a:pt x="240278" y="50985"/>
                    <a:pt x="239283" y="59938"/>
                  </a:cubicBezTo>
                  <a:cubicBezTo>
                    <a:pt x="237293" y="77844"/>
                    <a:pt x="222191" y="111213"/>
                    <a:pt x="222191" y="111213"/>
                  </a:cubicBezTo>
                  <a:cubicBezTo>
                    <a:pt x="213645" y="105516"/>
                    <a:pt x="204230" y="100945"/>
                    <a:pt x="196554" y="94122"/>
                  </a:cubicBezTo>
                  <a:cubicBezTo>
                    <a:pt x="178488" y="78064"/>
                    <a:pt x="165391" y="56255"/>
                    <a:pt x="145279" y="42847"/>
                  </a:cubicBezTo>
                  <a:lnTo>
                    <a:pt x="94004" y="8664"/>
                  </a:lnTo>
                  <a:lnTo>
                    <a:pt x="119642" y="25755"/>
                  </a:lnTo>
                  <a:cubicBezTo>
                    <a:pt x="145279" y="22906"/>
                    <a:pt x="170759" y="17209"/>
                    <a:pt x="196554" y="17209"/>
                  </a:cubicBezTo>
                  <a:cubicBezTo>
                    <a:pt x="219520" y="17209"/>
                    <a:pt x="242324" y="21647"/>
                    <a:pt x="264920" y="25755"/>
                  </a:cubicBezTo>
                  <a:cubicBezTo>
                    <a:pt x="273783" y="27366"/>
                    <a:pt x="281896" y="31826"/>
                    <a:pt x="290557" y="34301"/>
                  </a:cubicBezTo>
                  <a:cubicBezTo>
                    <a:pt x="301850" y="37528"/>
                    <a:pt x="313346" y="39998"/>
                    <a:pt x="324741" y="42847"/>
                  </a:cubicBezTo>
                  <a:cubicBezTo>
                    <a:pt x="321892" y="51393"/>
                    <a:pt x="321822" y="61450"/>
                    <a:pt x="316195" y="68484"/>
                  </a:cubicBezTo>
                  <a:cubicBezTo>
                    <a:pt x="291553" y="99286"/>
                    <a:pt x="265904" y="82054"/>
                    <a:pt x="230737" y="77030"/>
                  </a:cubicBezTo>
                  <a:cubicBezTo>
                    <a:pt x="239283" y="71333"/>
                    <a:pt x="246988" y="64109"/>
                    <a:pt x="256374" y="59938"/>
                  </a:cubicBezTo>
                  <a:cubicBezTo>
                    <a:pt x="272837" y="52621"/>
                    <a:pt x="307649" y="42847"/>
                    <a:pt x="307649" y="42847"/>
                  </a:cubicBezTo>
                  <a:cubicBezTo>
                    <a:pt x="316195" y="48544"/>
                    <a:pt x="323846" y="55892"/>
                    <a:pt x="333286" y="59938"/>
                  </a:cubicBezTo>
                  <a:cubicBezTo>
                    <a:pt x="344082" y="64565"/>
                    <a:pt x="363756" y="57341"/>
                    <a:pt x="367470" y="68484"/>
                  </a:cubicBezTo>
                  <a:cubicBezTo>
                    <a:pt x="370718" y="78228"/>
                    <a:pt x="351218" y="81405"/>
                    <a:pt x="341832" y="85576"/>
                  </a:cubicBezTo>
                  <a:cubicBezTo>
                    <a:pt x="325369" y="92893"/>
                    <a:pt x="290557" y="102667"/>
                    <a:pt x="290557" y="102667"/>
                  </a:cubicBezTo>
                  <a:cubicBezTo>
                    <a:pt x="175102" y="83426"/>
                    <a:pt x="285739" y="109073"/>
                    <a:pt x="213645" y="77030"/>
                  </a:cubicBezTo>
                  <a:cubicBezTo>
                    <a:pt x="197182" y="69713"/>
                    <a:pt x="162371" y="59938"/>
                    <a:pt x="162371" y="59938"/>
                  </a:cubicBezTo>
                  <a:cubicBezTo>
                    <a:pt x="136733" y="62787"/>
                    <a:pt x="110902" y="64243"/>
                    <a:pt x="85458" y="68484"/>
                  </a:cubicBezTo>
                  <a:cubicBezTo>
                    <a:pt x="76573" y="69965"/>
                    <a:pt x="59821" y="86038"/>
                    <a:pt x="59821" y="77030"/>
                  </a:cubicBezTo>
                  <a:cubicBezTo>
                    <a:pt x="59821" y="68085"/>
                    <a:pt x="103363" y="37738"/>
                    <a:pt x="111096" y="34301"/>
                  </a:cubicBezTo>
                  <a:cubicBezTo>
                    <a:pt x="127559" y="26984"/>
                    <a:pt x="162371" y="17209"/>
                    <a:pt x="162371" y="17209"/>
                  </a:cubicBezTo>
                  <a:cubicBezTo>
                    <a:pt x="220290" y="36516"/>
                    <a:pt x="149634" y="14662"/>
                    <a:pt x="247828" y="34301"/>
                  </a:cubicBezTo>
                  <a:cubicBezTo>
                    <a:pt x="270862" y="38908"/>
                    <a:pt x="293406" y="45696"/>
                    <a:pt x="316195" y="51393"/>
                  </a:cubicBezTo>
                  <a:lnTo>
                    <a:pt x="350378" y="59938"/>
                  </a:lnTo>
                  <a:cubicBezTo>
                    <a:pt x="311637" y="30883"/>
                    <a:pt x="330438" y="34301"/>
                    <a:pt x="299103" y="3430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884493" y="3566703"/>
            <a:ext cx="3867491" cy="3253840"/>
            <a:chOff x="884493" y="3566703"/>
            <a:chExt cx="3867491" cy="3253840"/>
          </a:xfrm>
        </p:grpSpPr>
        <p:pic>
          <p:nvPicPr>
            <p:cNvPr id="50" name="Picture 4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84493" y="3566703"/>
              <a:ext cx="3867491" cy="3253840"/>
            </a:xfrm>
            <a:prstGeom prst="rect">
              <a:avLst/>
            </a:prstGeom>
            <a:solidFill>
              <a:schemeClr val="bg1"/>
            </a:solidFill>
          </p:spPr>
        </p:pic>
        <p:sp>
          <p:nvSpPr>
            <p:cNvPr id="51" name="Rectangle 50"/>
            <p:cNvSpPr/>
            <p:nvPr/>
          </p:nvSpPr>
          <p:spPr>
            <a:xfrm>
              <a:off x="1973907" y="5841192"/>
              <a:ext cx="137338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Coexistence</a:t>
              </a:r>
              <a:endParaRPr lang="en-US" dirty="0"/>
            </a:p>
          </p:txBody>
        </p:sp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EE2409B-ED0F-420D-91ED-98B04FFEFEEE}"/>
              </a:ext>
            </a:extLst>
          </p:cNvPr>
          <p:cNvCxnSpPr>
            <a:cxnSpLocks/>
          </p:cNvCxnSpPr>
          <p:nvPr/>
        </p:nvCxnSpPr>
        <p:spPr>
          <a:xfrm flipH="1">
            <a:off x="2834352" y="4200641"/>
            <a:ext cx="2842470" cy="170267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59877150-23C2-488D-801A-A6D9FF146EE8}"/>
              </a:ext>
            </a:extLst>
          </p:cNvPr>
          <p:cNvGrpSpPr/>
          <p:nvPr/>
        </p:nvGrpSpPr>
        <p:grpSpPr>
          <a:xfrm>
            <a:off x="5165612" y="3807604"/>
            <a:ext cx="4687626" cy="369332"/>
            <a:chOff x="5165612" y="3807604"/>
            <a:chExt cx="4687626" cy="369332"/>
          </a:xfrm>
        </p:grpSpPr>
        <p:sp>
          <p:nvSpPr>
            <p:cNvPr id="41" name="Rectangle 40"/>
            <p:cNvSpPr/>
            <p:nvPr/>
          </p:nvSpPr>
          <p:spPr>
            <a:xfrm>
              <a:off x="7265478" y="3807604"/>
              <a:ext cx="258776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(Gas-liquid coexistence)</a:t>
              </a:r>
              <a:endParaRPr lang="en-US" dirty="0"/>
            </a:p>
          </p:txBody>
        </p:sp>
        <p:pic>
          <p:nvPicPr>
            <p:cNvPr id="53" name="Picture 5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165612" y="3881413"/>
              <a:ext cx="2103967" cy="245248"/>
            </a:xfrm>
            <a:prstGeom prst="rect">
              <a:avLst/>
            </a:prstGeom>
          </p:spPr>
        </p:pic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99" y="1285175"/>
            <a:ext cx="4559808" cy="240182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0F1B0B9-083A-40CD-BEFC-E84EECA73014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8090" r="20069" b="52488"/>
          <a:stretch/>
        </p:blipFill>
        <p:spPr>
          <a:xfrm>
            <a:off x="5785245" y="1426286"/>
            <a:ext cx="2641525" cy="618925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816DB8A-FF20-4363-BE23-B3A59C6086C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05655" y="4224867"/>
            <a:ext cx="885419" cy="37946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8C05544D-FA01-40AA-99B4-F42B46FF970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244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and phase transition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91" y="1903998"/>
            <a:ext cx="4742565" cy="25280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9757" y="3538593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3356" y="3028953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liquid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341" y="2159138"/>
            <a:ext cx="913384" cy="2440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486211" y="4247394"/>
            <a:ext cx="3176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Vapor pressure (T-dependent)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387031" y="3137383"/>
            <a:ext cx="687955" cy="339044"/>
            <a:chOff x="6601968" y="5494828"/>
            <a:chExt cx="687955" cy="339044"/>
          </a:xfrm>
        </p:grpSpPr>
        <p:sp>
          <p:nvSpPr>
            <p:cNvPr id="10" name="Freeform 9"/>
            <p:cNvSpPr/>
            <p:nvPr/>
          </p:nvSpPr>
          <p:spPr>
            <a:xfrm>
              <a:off x="6601968" y="5601643"/>
              <a:ext cx="146375" cy="232229"/>
            </a:xfrm>
            <a:custGeom>
              <a:avLst/>
              <a:gdLst>
                <a:gd name="connsiteX0" fmla="*/ 36576 w 146375"/>
                <a:gd name="connsiteY0" fmla="*/ 67637 h 232229"/>
                <a:gd name="connsiteX1" fmla="*/ 73152 w 146375"/>
                <a:gd name="connsiteY1" fmla="*/ 104213 h 232229"/>
                <a:gd name="connsiteX2" fmla="*/ 109728 w 146375"/>
                <a:gd name="connsiteY2" fmla="*/ 49349 h 232229"/>
                <a:gd name="connsiteX3" fmla="*/ 91440 w 146375"/>
                <a:gd name="connsiteY3" fmla="*/ 104213 h 232229"/>
                <a:gd name="connsiteX4" fmla="*/ 54864 w 146375"/>
                <a:gd name="connsiteY4" fmla="*/ 159077 h 232229"/>
                <a:gd name="connsiteX5" fmla="*/ 36576 w 146375"/>
                <a:gd name="connsiteY5" fmla="*/ 213941 h 232229"/>
                <a:gd name="connsiteX6" fmla="*/ 91440 w 146375"/>
                <a:gd name="connsiteY6" fmla="*/ 177365 h 232229"/>
                <a:gd name="connsiteX7" fmla="*/ 128016 w 146375"/>
                <a:gd name="connsiteY7" fmla="*/ 67637 h 232229"/>
                <a:gd name="connsiteX8" fmla="*/ 109728 w 146375"/>
                <a:gd name="connsiteY8" fmla="*/ 122501 h 232229"/>
                <a:gd name="connsiteX9" fmla="*/ 54864 w 146375"/>
                <a:gd name="connsiteY9" fmla="*/ 232229 h 232229"/>
                <a:gd name="connsiteX10" fmla="*/ 36576 w 146375"/>
                <a:gd name="connsiteY10" fmla="*/ 177365 h 232229"/>
                <a:gd name="connsiteX11" fmla="*/ 54864 w 146375"/>
                <a:gd name="connsiteY11" fmla="*/ 49349 h 232229"/>
                <a:gd name="connsiteX12" fmla="*/ 0 w 146375"/>
                <a:gd name="connsiteY12" fmla="*/ 67637 h 232229"/>
                <a:gd name="connsiteX13" fmla="*/ 54864 w 146375"/>
                <a:gd name="connsiteY13" fmla="*/ 31061 h 232229"/>
                <a:gd name="connsiteX14" fmla="*/ 146304 w 146375"/>
                <a:gd name="connsiteY14" fmla="*/ 31061 h 232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6375" h="232229">
                  <a:moveTo>
                    <a:pt x="36576" y="67637"/>
                  </a:moveTo>
                  <a:cubicBezTo>
                    <a:pt x="12957" y="162112"/>
                    <a:pt x="-2625" y="154731"/>
                    <a:pt x="73152" y="104213"/>
                  </a:cubicBezTo>
                  <a:cubicBezTo>
                    <a:pt x="85344" y="85925"/>
                    <a:pt x="116679" y="28497"/>
                    <a:pt x="109728" y="49349"/>
                  </a:cubicBezTo>
                  <a:cubicBezTo>
                    <a:pt x="103632" y="67637"/>
                    <a:pt x="102133" y="88173"/>
                    <a:pt x="91440" y="104213"/>
                  </a:cubicBezTo>
                  <a:cubicBezTo>
                    <a:pt x="79248" y="122501"/>
                    <a:pt x="64694" y="139418"/>
                    <a:pt x="54864" y="159077"/>
                  </a:cubicBezTo>
                  <a:cubicBezTo>
                    <a:pt x="46243" y="176319"/>
                    <a:pt x="19334" y="205320"/>
                    <a:pt x="36576" y="213941"/>
                  </a:cubicBezTo>
                  <a:cubicBezTo>
                    <a:pt x="56235" y="223771"/>
                    <a:pt x="73152" y="189557"/>
                    <a:pt x="91440" y="177365"/>
                  </a:cubicBezTo>
                  <a:lnTo>
                    <a:pt x="128016" y="67637"/>
                  </a:lnTo>
                  <a:lnTo>
                    <a:pt x="109728" y="122501"/>
                  </a:lnTo>
                  <a:cubicBezTo>
                    <a:pt x="84489" y="198217"/>
                    <a:pt x="102133" y="161325"/>
                    <a:pt x="54864" y="232229"/>
                  </a:cubicBezTo>
                  <a:cubicBezTo>
                    <a:pt x="48768" y="213941"/>
                    <a:pt x="36576" y="196642"/>
                    <a:pt x="36576" y="177365"/>
                  </a:cubicBezTo>
                  <a:cubicBezTo>
                    <a:pt x="36576" y="134260"/>
                    <a:pt x="68495" y="90242"/>
                    <a:pt x="54864" y="49349"/>
                  </a:cubicBezTo>
                  <a:cubicBezTo>
                    <a:pt x="48768" y="31061"/>
                    <a:pt x="0" y="86914"/>
                    <a:pt x="0" y="67637"/>
                  </a:cubicBezTo>
                  <a:cubicBezTo>
                    <a:pt x="0" y="45658"/>
                    <a:pt x="34284" y="38778"/>
                    <a:pt x="54864" y="31061"/>
                  </a:cubicBezTo>
                  <a:cubicBezTo>
                    <a:pt x="152282" y="-5471"/>
                    <a:pt x="146304" y="-14967"/>
                    <a:pt x="146304" y="3106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6922093" y="5494828"/>
              <a:ext cx="367830" cy="111213"/>
            </a:xfrm>
            <a:custGeom>
              <a:avLst/>
              <a:gdLst>
                <a:gd name="connsiteX0" fmla="*/ 0 w 367830"/>
                <a:gd name="connsiteY0" fmla="*/ 85576 h 111213"/>
                <a:gd name="connsiteX1" fmla="*/ 34184 w 367830"/>
                <a:gd name="connsiteY1" fmla="*/ 68484 h 111213"/>
                <a:gd name="connsiteX2" fmla="*/ 59821 w 367830"/>
                <a:gd name="connsiteY2" fmla="*/ 42847 h 111213"/>
                <a:gd name="connsiteX3" fmla="*/ 85458 w 367830"/>
                <a:gd name="connsiteY3" fmla="*/ 25755 h 111213"/>
                <a:gd name="connsiteX4" fmla="*/ 94004 w 367830"/>
                <a:gd name="connsiteY4" fmla="*/ 34301 h 111213"/>
                <a:gd name="connsiteX5" fmla="*/ 85458 w 367830"/>
                <a:gd name="connsiteY5" fmla="*/ 59938 h 111213"/>
                <a:gd name="connsiteX6" fmla="*/ 111096 w 367830"/>
                <a:gd name="connsiteY6" fmla="*/ 34301 h 111213"/>
                <a:gd name="connsiteX7" fmla="*/ 162371 w 367830"/>
                <a:gd name="connsiteY7" fmla="*/ 118 h 111213"/>
                <a:gd name="connsiteX8" fmla="*/ 162371 w 367830"/>
                <a:gd name="connsiteY8" fmla="*/ 77030 h 111213"/>
                <a:gd name="connsiteX9" fmla="*/ 170916 w 367830"/>
                <a:gd name="connsiteY9" fmla="*/ 51393 h 111213"/>
                <a:gd name="connsiteX10" fmla="*/ 188008 w 367830"/>
                <a:gd name="connsiteY10" fmla="*/ 25755 h 111213"/>
                <a:gd name="connsiteX11" fmla="*/ 179462 w 367830"/>
                <a:gd name="connsiteY11" fmla="*/ 102667 h 111213"/>
                <a:gd name="connsiteX12" fmla="*/ 188008 w 367830"/>
                <a:gd name="connsiteY12" fmla="*/ 77030 h 111213"/>
                <a:gd name="connsiteX13" fmla="*/ 230737 w 367830"/>
                <a:gd name="connsiteY13" fmla="*/ 34301 h 111213"/>
                <a:gd name="connsiteX14" fmla="*/ 239283 w 367830"/>
                <a:gd name="connsiteY14" fmla="*/ 59938 h 111213"/>
                <a:gd name="connsiteX15" fmla="*/ 222191 w 367830"/>
                <a:gd name="connsiteY15" fmla="*/ 111213 h 111213"/>
                <a:gd name="connsiteX16" fmla="*/ 196554 w 367830"/>
                <a:gd name="connsiteY16" fmla="*/ 94122 h 111213"/>
                <a:gd name="connsiteX17" fmla="*/ 145279 w 367830"/>
                <a:gd name="connsiteY17" fmla="*/ 42847 h 111213"/>
                <a:gd name="connsiteX18" fmla="*/ 94004 w 367830"/>
                <a:gd name="connsiteY18" fmla="*/ 8664 h 111213"/>
                <a:gd name="connsiteX19" fmla="*/ 119642 w 367830"/>
                <a:gd name="connsiteY19" fmla="*/ 25755 h 111213"/>
                <a:gd name="connsiteX20" fmla="*/ 196554 w 367830"/>
                <a:gd name="connsiteY20" fmla="*/ 17209 h 111213"/>
                <a:gd name="connsiteX21" fmla="*/ 264920 w 367830"/>
                <a:gd name="connsiteY21" fmla="*/ 25755 h 111213"/>
                <a:gd name="connsiteX22" fmla="*/ 290557 w 367830"/>
                <a:gd name="connsiteY22" fmla="*/ 34301 h 111213"/>
                <a:gd name="connsiteX23" fmla="*/ 324741 w 367830"/>
                <a:gd name="connsiteY23" fmla="*/ 42847 h 111213"/>
                <a:gd name="connsiteX24" fmla="*/ 316195 w 367830"/>
                <a:gd name="connsiteY24" fmla="*/ 68484 h 111213"/>
                <a:gd name="connsiteX25" fmla="*/ 230737 w 367830"/>
                <a:gd name="connsiteY25" fmla="*/ 77030 h 111213"/>
                <a:gd name="connsiteX26" fmla="*/ 256374 w 367830"/>
                <a:gd name="connsiteY26" fmla="*/ 59938 h 111213"/>
                <a:gd name="connsiteX27" fmla="*/ 307649 w 367830"/>
                <a:gd name="connsiteY27" fmla="*/ 42847 h 111213"/>
                <a:gd name="connsiteX28" fmla="*/ 333286 w 367830"/>
                <a:gd name="connsiteY28" fmla="*/ 59938 h 111213"/>
                <a:gd name="connsiteX29" fmla="*/ 367470 w 367830"/>
                <a:gd name="connsiteY29" fmla="*/ 68484 h 111213"/>
                <a:gd name="connsiteX30" fmla="*/ 341832 w 367830"/>
                <a:gd name="connsiteY30" fmla="*/ 85576 h 111213"/>
                <a:gd name="connsiteX31" fmla="*/ 290557 w 367830"/>
                <a:gd name="connsiteY31" fmla="*/ 102667 h 111213"/>
                <a:gd name="connsiteX32" fmla="*/ 213645 w 367830"/>
                <a:gd name="connsiteY32" fmla="*/ 77030 h 111213"/>
                <a:gd name="connsiteX33" fmla="*/ 162371 w 367830"/>
                <a:gd name="connsiteY33" fmla="*/ 59938 h 111213"/>
                <a:gd name="connsiteX34" fmla="*/ 85458 w 367830"/>
                <a:gd name="connsiteY34" fmla="*/ 68484 h 111213"/>
                <a:gd name="connsiteX35" fmla="*/ 59821 w 367830"/>
                <a:gd name="connsiteY35" fmla="*/ 77030 h 111213"/>
                <a:gd name="connsiteX36" fmla="*/ 111096 w 367830"/>
                <a:gd name="connsiteY36" fmla="*/ 34301 h 111213"/>
                <a:gd name="connsiteX37" fmla="*/ 162371 w 367830"/>
                <a:gd name="connsiteY37" fmla="*/ 17209 h 111213"/>
                <a:gd name="connsiteX38" fmla="*/ 247828 w 367830"/>
                <a:gd name="connsiteY38" fmla="*/ 34301 h 111213"/>
                <a:gd name="connsiteX39" fmla="*/ 316195 w 367830"/>
                <a:gd name="connsiteY39" fmla="*/ 51393 h 111213"/>
                <a:gd name="connsiteX40" fmla="*/ 350378 w 367830"/>
                <a:gd name="connsiteY40" fmla="*/ 59938 h 111213"/>
                <a:gd name="connsiteX41" fmla="*/ 299103 w 367830"/>
                <a:gd name="connsiteY41" fmla="*/ 34301 h 111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367830" h="111213">
                  <a:moveTo>
                    <a:pt x="0" y="85576"/>
                  </a:moveTo>
                  <a:cubicBezTo>
                    <a:pt x="11395" y="79879"/>
                    <a:pt x="23817" y="75889"/>
                    <a:pt x="34184" y="68484"/>
                  </a:cubicBezTo>
                  <a:cubicBezTo>
                    <a:pt x="44018" y="61460"/>
                    <a:pt x="50537" y="50584"/>
                    <a:pt x="59821" y="42847"/>
                  </a:cubicBezTo>
                  <a:cubicBezTo>
                    <a:pt x="67711" y="36272"/>
                    <a:pt x="76912" y="31452"/>
                    <a:pt x="85458" y="25755"/>
                  </a:cubicBezTo>
                  <a:cubicBezTo>
                    <a:pt x="106652" y="-6035"/>
                    <a:pt x="107800" y="-13985"/>
                    <a:pt x="94004" y="34301"/>
                  </a:cubicBezTo>
                  <a:cubicBezTo>
                    <a:pt x="91529" y="42962"/>
                    <a:pt x="76450" y="59938"/>
                    <a:pt x="85458" y="59938"/>
                  </a:cubicBezTo>
                  <a:cubicBezTo>
                    <a:pt x="97544" y="59938"/>
                    <a:pt x="101556" y="41721"/>
                    <a:pt x="111096" y="34301"/>
                  </a:cubicBezTo>
                  <a:cubicBezTo>
                    <a:pt x="127311" y="21690"/>
                    <a:pt x="162371" y="118"/>
                    <a:pt x="162371" y="118"/>
                  </a:cubicBezTo>
                  <a:cubicBezTo>
                    <a:pt x="189455" y="40745"/>
                    <a:pt x="182710" y="16012"/>
                    <a:pt x="162371" y="77030"/>
                  </a:cubicBezTo>
                  <a:cubicBezTo>
                    <a:pt x="159522" y="85576"/>
                    <a:pt x="165919" y="58888"/>
                    <a:pt x="170916" y="51393"/>
                  </a:cubicBezTo>
                  <a:lnTo>
                    <a:pt x="188008" y="25755"/>
                  </a:lnTo>
                  <a:cubicBezTo>
                    <a:pt x="202251" y="68484"/>
                    <a:pt x="199403" y="42847"/>
                    <a:pt x="179462" y="102667"/>
                  </a:cubicBezTo>
                  <a:cubicBezTo>
                    <a:pt x="176613" y="111213"/>
                    <a:pt x="183011" y="84525"/>
                    <a:pt x="188008" y="77030"/>
                  </a:cubicBezTo>
                  <a:cubicBezTo>
                    <a:pt x="210797" y="42847"/>
                    <a:pt x="196554" y="57090"/>
                    <a:pt x="230737" y="34301"/>
                  </a:cubicBezTo>
                  <a:cubicBezTo>
                    <a:pt x="233586" y="42847"/>
                    <a:pt x="240278" y="50985"/>
                    <a:pt x="239283" y="59938"/>
                  </a:cubicBezTo>
                  <a:cubicBezTo>
                    <a:pt x="237293" y="77844"/>
                    <a:pt x="222191" y="111213"/>
                    <a:pt x="222191" y="111213"/>
                  </a:cubicBezTo>
                  <a:cubicBezTo>
                    <a:pt x="213645" y="105516"/>
                    <a:pt x="204230" y="100945"/>
                    <a:pt x="196554" y="94122"/>
                  </a:cubicBezTo>
                  <a:cubicBezTo>
                    <a:pt x="178488" y="78064"/>
                    <a:pt x="165391" y="56255"/>
                    <a:pt x="145279" y="42847"/>
                  </a:cubicBezTo>
                  <a:lnTo>
                    <a:pt x="94004" y="8664"/>
                  </a:lnTo>
                  <a:lnTo>
                    <a:pt x="119642" y="25755"/>
                  </a:lnTo>
                  <a:cubicBezTo>
                    <a:pt x="145279" y="22906"/>
                    <a:pt x="170759" y="17209"/>
                    <a:pt x="196554" y="17209"/>
                  </a:cubicBezTo>
                  <a:cubicBezTo>
                    <a:pt x="219520" y="17209"/>
                    <a:pt x="242324" y="21647"/>
                    <a:pt x="264920" y="25755"/>
                  </a:cubicBezTo>
                  <a:cubicBezTo>
                    <a:pt x="273783" y="27366"/>
                    <a:pt x="281896" y="31826"/>
                    <a:pt x="290557" y="34301"/>
                  </a:cubicBezTo>
                  <a:cubicBezTo>
                    <a:pt x="301850" y="37528"/>
                    <a:pt x="313346" y="39998"/>
                    <a:pt x="324741" y="42847"/>
                  </a:cubicBezTo>
                  <a:cubicBezTo>
                    <a:pt x="321892" y="51393"/>
                    <a:pt x="321822" y="61450"/>
                    <a:pt x="316195" y="68484"/>
                  </a:cubicBezTo>
                  <a:cubicBezTo>
                    <a:pt x="291553" y="99286"/>
                    <a:pt x="265904" y="82054"/>
                    <a:pt x="230737" y="77030"/>
                  </a:cubicBezTo>
                  <a:cubicBezTo>
                    <a:pt x="239283" y="71333"/>
                    <a:pt x="246988" y="64109"/>
                    <a:pt x="256374" y="59938"/>
                  </a:cubicBezTo>
                  <a:cubicBezTo>
                    <a:pt x="272837" y="52621"/>
                    <a:pt x="307649" y="42847"/>
                    <a:pt x="307649" y="42847"/>
                  </a:cubicBezTo>
                  <a:cubicBezTo>
                    <a:pt x="316195" y="48544"/>
                    <a:pt x="323846" y="55892"/>
                    <a:pt x="333286" y="59938"/>
                  </a:cubicBezTo>
                  <a:cubicBezTo>
                    <a:pt x="344082" y="64565"/>
                    <a:pt x="363756" y="57341"/>
                    <a:pt x="367470" y="68484"/>
                  </a:cubicBezTo>
                  <a:cubicBezTo>
                    <a:pt x="370718" y="78228"/>
                    <a:pt x="351218" y="81405"/>
                    <a:pt x="341832" y="85576"/>
                  </a:cubicBezTo>
                  <a:cubicBezTo>
                    <a:pt x="325369" y="92893"/>
                    <a:pt x="290557" y="102667"/>
                    <a:pt x="290557" y="102667"/>
                  </a:cubicBezTo>
                  <a:cubicBezTo>
                    <a:pt x="175102" y="83426"/>
                    <a:pt x="285739" y="109073"/>
                    <a:pt x="213645" y="77030"/>
                  </a:cubicBezTo>
                  <a:cubicBezTo>
                    <a:pt x="197182" y="69713"/>
                    <a:pt x="162371" y="59938"/>
                    <a:pt x="162371" y="59938"/>
                  </a:cubicBezTo>
                  <a:cubicBezTo>
                    <a:pt x="136733" y="62787"/>
                    <a:pt x="110902" y="64243"/>
                    <a:pt x="85458" y="68484"/>
                  </a:cubicBezTo>
                  <a:cubicBezTo>
                    <a:pt x="76573" y="69965"/>
                    <a:pt x="59821" y="86038"/>
                    <a:pt x="59821" y="77030"/>
                  </a:cubicBezTo>
                  <a:cubicBezTo>
                    <a:pt x="59821" y="68085"/>
                    <a:pt x="103363" y="37738"/>
                    <a:pt x="111096" y="34301"/>
                  </a:cubicBezTo>
                  <a:cubicBezTo>
                    <a:pt x="127559" y="26984"/>
                    <a:pt x="162371" y="17209"/>
                    <a:pt x="162371" y="17209"/>
                  </a:cubicBezTo>
                  <a:cubicBezTo>
                    <a:pt x="220290" y="36516"/>
                    <a:pt x="149634" y="14662"/>
                    <a:pt x="247828" y="34301"/>
                  </a:cubicBezTo>
                  <a:cubicBezTo>
                    <a:pt x="270862" y="38908"/>
                    <a:pt x="293406" y="45696"/>
                    <a:pt x="316195" y="51393"/>
                  </a:cubicBezTo>
                  <a:lnTo>
                    <a:pt x="350378" y="59938"/>
                  </a:lnTo>
                  <a:cubicBezTo>
                    <a:pt x="311637" y="30883"/>
                    <a:pt x="330438" y="34301"/>
                    <a:pt x="299103" y="3430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4512791" y="3970395"/>
            <a:ext cx="324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45536" y="2257714"/>
            <a:ext cx="25877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(Gas-liquid coexistence)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2465" y="2334293"/>
            <a:ext cx="2103967" cy="245248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4E8CCAF-D9D1-49A1-B956-E7288C2920BA}"/>
              </a:ext>
            </a:extLst>
          </p:cNvPr>
          <p:cNvGrpSpPr/>
          <p:nvPr/>
        </p:nvGrpSpPr>
        <p:grpSpPr>
          <a:xfrm>
            <a:off x="5662465" y="2749275"/>
            <a:ext cx="4642494" cy="750969"/>
            <a:chOff x="5662465" y="2749275"/>
            <a:chExt cx="4642494" cy="750969"/>
          </a:xfrm>
        </p:grpSpPr>
        <p:sp>
          <p:nvSpPr>
            <p:cNvPr id="16" name="Rectangle 15"/>
            <p:cNvSpPr/>
            <p:nvPr/>
          </p:nvSpPr>
          <p:spPr>
            <a:xfrm>
              <a:off x="5662465" y="2749275"/>
              <a:ext cx="3371116" cy="369332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r>
                <a:rPr lang="en-US" dirty="0"/>
                <a:t>Change in the </a:t>
              </a:r>
              <a:r>
                <a:rPr lang="en-US"/>
                <a:t>coexistent region:</a:t>
              </a:r>
              <a:endParaRPr lang="en-US" dirty="0"/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75292" y="3248596"/>
              <a:ext cx="4529667" cy="251648"/>
            </a:xfrm>
            <a:prstGeom prst="rect">
              <a:avLst/>
            </a:prstGeom>
          </p:spPr>
        </p:pic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369081" y="3691087"/>
            <a:ext cx="2138508" cy="107888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2278" y="4798919"/>
            <a:ext cx="3595312" cy="53443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F075A3C-CF0A-4F5C-82E0-7242857FD287}"/>
              </a:ext>
            </a:extLst>
          </p:cNvPr>
          <p:cNvGrpSpPr/>
          <p:nvPr/>
        </p:nvGrpSpPr>
        <p:grpSpPr>
          <a:xfrm>
            <a:off x="3674149" y="5461794"/>
            <a:ext cx="2879956" cy="847369"/>
            <a:chOff x="3674149" y="5461794"/>
            <a:chExt cx="2879956" cy="847369"/>
          </a:xfrm>
        </p:grpSpPr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3744825" y="5461794"/>
              <a:ext cx="2688426" cy="519144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674149" y="5939831"/>
              <a:ext cx="28799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Latent heat of vaporization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1A6F233-B49F-4861-947D-02D970D7E4B8}"/>
              </a:ext>
            </a:extLst>
          </p:cNvPr>
          <p:cNvGrpSpPr/>
          <p:nvPr/>
        </p:nvGrpSpPr>
        <p:grpSpPr>
          <a:xfrm>
            <a:off x="5822049" y="5351672"/>
            <a:ext cx="3524811" cy="1405303"/>
            <a:chOff x="5822049" y="5351672"/>
            <a:chExt cx="3524811" cy="1405303"/>
          </a:xfrm>
        </p:grpSpPr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6679932" y="5351672"/>
              <a:ext cx="2440546" cy="837268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5822049" y="6387643"/>
              <a:ext cx="3524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(Clausius-Clapeyron equation)</a:t>
              </a:r>
            </a:p>
          </p:txBody>
        </p: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4206" y="3698947"/>
            <a:ext cx="2072640" cy="305409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DF585B4-8F19-4E03-B3AA-A156EFC7172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124" y="4702357"/>
            <a:ext cx="3342025" cy="176037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80A0051-597B-4FD1-B5AB-6958321A1F7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496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ISING Model</a:t>
            </a:r>
          </a:p>
        </p:txBody>
      </p:sp>
      <p:pic>
        <p:nvPicPr>
          <p:cNvPr id="4" name="Picture 2" descr="Tensor">
            <a:extLst>
              <a:ext uri="{FF2B5EF4-FFF2-40B4-BE49-F238E27FC236}">
                <a16:creationId xmlns:a16="http://schemas.microsoft.com/office/drawing/2014/main" id="{F0FB5F05-E898-4A05-81E9-ABC2038BE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52" y="2895385"/>
            <a:ext cx="4038540" cy="216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A72762-C693-45BB-9A6F-A7244E3CCF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271" b="-1598"/>
          <a:stretch/>
        </p:blipFill>
        <p:spPr>
          <a:xfrm>
            <a:off x="5618577" y="2084832"/>
            <a:ext cx="4376761" cy="9384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AF6569-0049-4F9D-92BD-2B127FD0E7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916" y="5200517"/>
            <a:ext cx="1464421" cy="418406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A02A3411-3E72-4E4F-8949-62CBEFF09533}"/>
              </a:ext>
            </a:extLst>
          </p:cNvPr>
          <p:cNvGrpSpPr/>
          <p:nvPr/>
        </p:nvGrpSpPr>
        <p:grpSpPr>
          <a:xfrm>
            <a:off x="4198892" y="3584449"/>
            <a:ext cx="4709751" cy="655595"/>
            <a:chOff x="4198892" y="3584449"/>
            <a:chExt cx="4709751" cy="65559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843AF49-9696-438A-997F-D0C0DDC09B28}"/>
                </a:ext>
              </a:extLst>
            </p:cNvPr>
            <p:cNvSpPr txBox="1"/>
            <p:nvPr/>
          </p:nvSpPr>
          <p:spPr>
            <a:xfrm>
              <a:off x="4198892" y="3870712"/>
              <a:ext cx="47097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How to do the sum all possible configuration?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35497C8C-97BD-49E2-9613-8FFD50ECE6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53156" y="3584449"/>
              <a:ext cx="1248251" cy="3344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A5EF44A5-4157-434D-A06B-A159D475B1D8}"/>
              </a:ext>
            </a:extLst>
          </p:cNvPr>
          <p:cNvSpPr txBox="1"/>
          <p:nvPr/>
        </p:nvSpPr>
        <p:spPr>
          <a:xfrm>
            <a:off x="8979394" y="3870712"/>
            <a:ext cx="2033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Highly non-trivial!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6322B1-1B45-4376-98DC-7954D78228B5}"/>
              </a:ext>
            </a:extLst>
          </p:cNvPr>
          <p:cNvSpPr txBox="1"/>
          <p:nvPr/>
        </p:nvSpPr>
        <p:spPr>
          <a:xfrm>
            <a:off x="3964215" y="4476480"/>
            <a:ext cx="2318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Mean-field approach:</a:t>
            </a:r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E00E6073-A319-4BA1-A2CA-9EA1DDE741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46912" y="1417234"/>
            <a:ext cx="1341938" cy="670969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35688FF1-34B4-4791-8C3E-DE3CE0B9EA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81759" y="1368085"/>
            <a:ext cx="1386545" cy="705877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07A07E4-F5F6-4D27-8F8B-37B84DFD1464}"/>
              </a:ext>
            </a:extLst>
          </p:cNvPr>
          <p:cNvGrpSpPr/>
          <p:nvPr/>
        </p:nvGrpSpPr>
        <p:grpSpPr>
          <a:xfrm>
            <a:off x="6175773" y="5407385"/>
            <a:ext cx="2606098" cy="761544"/>
            <a:chOff x="9588483" y="5345061"/>
            <a:chExt cx="2606098" cy="761544"/>
          </a:xfrm>
        </p:grpSpPr>
        <p:sp>
          <p:nvSpPr>
            <p:cNvPr id="54" name="Left Brace 53">
              <a:extLst>
                <a:ext uri="{FF2B5EF4-FFF2-40B4-BE49-F238E27FC236}">
                  <a16:creationId xmlns:a16="http://schemas.microsoft.com/office/drawing/2014/main" id="{988A3C4E-6B80-4B28-813F-387159200007}"/>
                </a:ext>
              </a:extLst>
            </p:cNvPr>
            <p:cNvSpPr/>
            <p:nvPr/>
          </p:nvSpPr>
          <p:spPr>
            <a:xfrm rot="5400000">
              <a:off x="10706866" y="4905250"/>
              <a:ext cx="369332" cy="2033377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CBA883A-0CF2-4ED7-B890-449ADDFDDACE}"/>
                </a:ext>
              </a:extLst>
            </p:cNvPr>
            <p:cNvSpPr txBox="1"/>
            <p:nvPr/>
          </p:nvSpPr>
          <p:spPr>
            <a:xfrm>
              <a:off x="9588483" y="5345061"/>
              <a:ext cx="2606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Mean-field Hamiltonian</a:t>
              </a:r>
            </a:p>
          </p:txBody>
        </p:sp>
      </p:grpSp>
      <p:pic>
        <p:nvPicPr>
          <p:cNvPr id="26" name="Graphic 25">
            <a:extLst>
              <a:ext uri="{FF2B5EF4-FFF2-40B4-BE49-F238E27FC236}">
                <a16:creationId xmlns:a16="http://schemas.microsoft.com/office/drawing/2014/main" id="{7CC6E745-EC76-4A91-A1F6-7084895D9AF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77281" y="2926315"/>
            <a:ext cx="5260572" cy="108372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0EA647C-B869-480A-AD63-AD39557F957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48359" y="4442697"/>
            <a:ext cx="1890063" cy="529218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EA1EFE8-4674-44A3-8D17-15B5C3BE076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4384033" y="6084103"/>
            <a:ext cx="5818745" cy="76103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07106DB8-EE85-4907-A81C-D73049EAE84B}"/>
              </a:ext>
            </a:extLst>
          </p:cNvPr>
          <p:cNvGrpSpPr/>
          <p:nvPr/>
        </p:nvGrpSpPr>
        <p:grpSpPr>
          <a:xfrm>
            <a:off x="3964215" y="5836247"/>
            <a:ext cx="2200413" cy="713744"/>
            <a:chOff x="3964215" y="5836247"/>
            <a:chExt cx="2200413" cy="713744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33FDF42-503B-4F7D-B0FA-0407B99B54AF}"/>
                </a:ext>
              </a:extLst>
            </p:cNvPr>
            <p:cNvCxnSpPr/>
            <p:nvPr/>
          </p:nvCxnSpPr>
          <p:spPr>
            <a:xfrm flipH="1" flipV="1">
              <a:off x="5349722" y="6174606"/>
              <a:ext cx="814906" cy="37538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9A70E5C-140E-47D6-ABE4-2C055CCFBBC6}"/>
                </a:ext>
              </a:extLst>
            </p:cNvPr>
            <p:cNvSpPr txBox="1"/>
            <p:nvPr/>
          </p:nvSpPr>
          <p:spPr>
            <a:xfrm>
              <a:off x="3964215" y="5836247"/>
              <a:ext cx="19199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Small fluctuation</a:t>
              </a:r>
            </a:p>
          </p:txBody>
        </p:sp>
      </p:grpSp>
      <p:pic>
        <p:nvPicPr>
          <p:cNvPr id="13" name="Graphic 12">
            <a:extLst>
              <a:ext uri="{FF2B5EF4-FFF2-40B4-BE49-F238E27FC236}">
                <a16:creationId xmlns:a16="http://schemas.microsoft.com/office/drawing/2014/main" id="{09DCAE48-2B5E-40FE-8767-0DBACB9EC4C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599756" y="4974726"/>
            <a:ext cx="5092884" cy="55058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BF8B46F-5E91-4153-8A58-F1C8896A26D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59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ISING Model</a:t>
            </a:r>
          </a:p>
        </p:txBody>
      </p:sp>
      <p:pic>
        <p:nvPicPr>
          <p:cNvPr id="4" name="Picture 2" descr="Tensor">
            <a:extLst>
              <a:ext uri="{FF2B5EF4-FFF2-40B4-BE49-F238E27FC236}">
                <a16:creationId xmlns:a16="http://schemas.microsoft.com/office/drawing/2014/main" id="{F0FB5F05-E898-4A05-81E9-ABC2038BE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52" y="2895385"/>
            <a:ext cx="4038540" cy="216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AF6569-0049-4F9D-92BD-2B127FD0E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916" y="5200517"/>
            <a:ext cx="1464421" cy="41840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9D6BE34-7DB0-41C6-A278-1F8534F5906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-271" b="-1598"/>
          <a:stretch/>
        </p:blipFill>
        <p:spPr>
          <a:xfrm>
            <a:off x="5618577" y="2084832"/>
            <a:ext cx="4376761" cy="938497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B580A252-7750-4202-B0DB-6B8457A107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46912" y="1417234"/>
            <a:ext cx="1341938" cy="670969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E418BE59-6B56-4A7E-9BA4-1AD2021657E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81759" y="1368085"/>
            <a:ext cx="1386545" cy="70587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BE20914E-1AF7-476D-AA32-D8FA5988FF5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27389" y="4228250"/>
            <a:ext cx="1365983" cy="5976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B6CA03-EADF-44F3-BF8A-457D5EE14B6D}"/>
              </a:ext>
            </a:extLst>
          </p:cNvPr>
          <p:cNvSpPr txBox="1"/>
          <p:nvPr/>
        </p:nvSpPr>
        <p:spPr>
          <a:xfrm>
            <a:off x="4893372" y="4342485"/>
            <a:ext cx="2781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(self consistent condition)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41F1804-DD8D-4A38-97E2-69A13A546C96}"/>
              </a:ext>
            </a:extLst>
          </p:cNvPr>
          <p:cNvGrpSpPr/>
          <p:nvPr/>
        </p:nvGrpSpPr>
        <p:grpSpPr>
          <a:xfrm>
            <a:off x="3410821" y="4859989"/>
            <a:ext cx="3609806" cy="1362958"/>
            <a:chOff x="3311530" y="3147691"/>
            <a:chExt cx="3609806" cy="1362958"/>
          </a:xfrm>
        </p:grpSpPr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F49D43A0-6A3C-49D1-8282-C55391ED8E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311530" y="3488219"/>
              <a:ext cx="3609806" cy="102243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A1B0F22-3933-437E-9BCD-C78A57D25DEA}"/>
                </a:ext>
              </a:extLst>
            </p:cNvPr>
            <p:cNvSpPr txBox="1"/>
            <p:nvPr/>
          </p:nvSpPr>
          <p:spPr>
            <a:xfrm>
              <a:off x="3518406" y="3147691"/>
              <a:ext cx="28217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>
                  <a:solidFill>
                    <a:srgbClr val="FF0000"/>
                  </a:solidFill>
                </a:rPr>
                <a:t>Self-consistent equation</a:t>
              </a:r>
            </a:p>
          </p:txBody>
        </p: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43E66316-A42A-4492-863C-A3D8762D92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438551" y="2996871"/>
            <a:ext cx="1320430" cy="57768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866D06C1-7A21-4B47-A8A4-BE691E93A1C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6275673" y="2758736"/>
            <a:ext cx="5053262" cy="1058589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DEB84C15-6B38-4A8F-A0DA-0974AD8BFC7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6214146" y="3694976"/>
            <a:ext cx="5155125" cy="68735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270F99E8-6A52-427C-8570-0FE86698875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020627" y="6222947"/>
            <a:ext cx="5092884" cy="55058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56B6614-C878-44EA-9C1F-478EFD0AEDE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368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ISING Model</a:t>
            </a:r>
          </a:p>
        </p:txBody>
      </p:sp>
      <p:pic>
        <p:nvPicPr>
          <p:cNvPr id="4" name="Picture 2" descr="Tensor">
            <a:extLst>
              <a:ext uri="{FF2B5EF4-FFF2-40B4-BE49-F238E27FC236}">
                <a16:creationId xmlns:a16="http://schemas.microsoft.com/office/drawing/2014/main" id="{F0FB5F05-E898-4A05-81E9-ABC2038BE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52" y="2895385"/>
            <a:ext cx="4038540" cy="216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AF6569-0049-4F9D-92BD-2B127FD0E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916" y="5200517"/>
            <a:ext cx="1464421" cy="41840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9D6BE34-7DB0-41C6-A278-1F8534F5906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-271" b="-1598"/>
          <a:stretch/>
        </p:blipFill>
        <p:spPr>
          <a:xfrm>
            <a:off x="5618577" y="2084832"/>
            <a:ext cx="4376761" cy="938497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1EF5473E-BE0D-4BAE-876A-04951E8B7B29}"/>
              </a:ext>
            </a:extLst>
          </p:cNvPr>
          <p:cNvGrpSpPr/>
          <p:nvPr/>
        </p:nvGrpSpPr>
        <p:grpSpPr>
          <a:xfrm>
            <a:off x="3410821" y="4859989"/>
            <a:ext cx="3609806" cy="1362958"/>
            <a:chOff x="3311530" y="3147691"/>
            <a:chExt cx="3609806" cy="1362958"/>
          </a:xfrm>
        </p:grpSpPr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5DC8F8A0-4473-49AC-AB48-111DF29599B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311530" y="3488219"/>
              <a:ext cx="3609806" cy="102243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3370258-9B69-4A47-AC1F-A4825B6F7272}"/>
                </a:ext>
              </a:extLst>
            </p:cNvPr>
            <p:cNvSpPr txBox="1"/>
            <p:nvPr/>
          </p:nvSpPr>
          <p:spPr>
            <a:xfrm>
              <a:off x="3518406" y="3147691"/>
              <a:ext cx="28217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>
                  <a:solidFill>
                    <a:srgbClr val="FF0000"/>
                  </a:solidFill>
                </a:rPr>
                <a:t>Self-consistent equation</a:t>
              </a:r>
            </a:p>
          </p:txBody>
        </p:sp>
      </p:grpSp>
      <p:pic>
        <p:nvPicPr>
          <p:cNvPr id="9" name="Graphic 8">
            <a:extLst>
              <a:ext uri="{FF2B5EF4-FFF2-40B4-BE49-F238E27FC236}">
                <a16:creationId xmlns:a16="http://schemas.microsoft.com/office/drawing/2014/main" id="{38103111-9310-4D90-A0F4-B81FF1BB12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7242237" y="5120683"/>
            <a:ext cx="3649294" cy="100747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C3CD5AF-DB2E-4F54-AE6A-02C8E5D5651A}"/>
              </a:ext>
            </a:extLst>
          </p:cNvPr>
          <p:cNvGrpSpPr/>
          <p:nvPr/>
        </p:nvGrpSpPr>
        <p:grpSpPr>
          <a:xfrm>
            <a:off x="5810187" y="6066234"/>
            <a:ext cx="6180474" cy="826130"/>
            <a:chOff x="5810187" y="6095109"/>
            <a:chExt cx="6180474" cy="826130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01797432-1508-465B-860F-91DA2A79116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7294435" y="6095109"/>
              <a:ext cx="3173738" cy="584636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9FDADD1-AC76-4998-BECB-A6548FF1672F}"/>
                </a:ext>
              </a:extLst>
            </p:cNvPr>
            <p:cNvSpPr txBox="1"/>
            <p:nvPr/>
          </p:nvSpPr>
          <p:spPr>
            <a:xfrm>
              <a:off x="5810187" y="6551907"/>
              <a:ext cx="61804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Solve this to get the mean-field ansatz for </a:t>
              </a:r>
              <a:r>
                <a:rPr lang="en-MY" b="1" dirty="0" err="1"/>
                <a:t>Ising</a:t>
              </a:r>
              <a:r>
                <a:rPr lang="en-MY" b="1" dirty="0"/>
                <a:t> model Z</a:t>
              </a:r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6E6B7A82-4F1D-438C-B77B-964AE883EAF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438551" y="2996871"/>
            <a:ext cx="1320430" cy="57768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4D4759F-BED8-463C-A728-6E8DE01D5D2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6621495" y="4361462"/>
            <a:ext cx="5155125" cy="68735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B04AA0E6-3441-41E7-94A7-11E2DC0E62C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6275673" y="3618912"/>
            <a:ext cx="5457002" cy="673973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59F47940-9391-4D14-9BF0-B7AB2A417ED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6275673" y="2758736"/>
            <a:ext cx="5053262" cy="105858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A114321-F9B2-4E1E-A631-3E6FEBE8D7D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634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ISING Model</a:t>
            </a:r>
          </a:p>
        </p:txBody>
      </p:sp>
      <p:pic>
        <p:nvPicPr>
          <p:cNvPr id="4" name="Picture 2" descr="Tensor">
            <a:extLst>
              <a:ext uri="{FF2B5EF4-FFF2-40B4-BE49-F238E27FC236}">
                <a16:creationId xmlns:a16="http://schemas.microsoft.com/office/drawing/2014/main" id="{F0FB5F05-E898-4A05-81E9-ABC2038BE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52" y="2895385"/>
            <a:ext cx="4038540" cy="216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AF6569-0049-4F9D-92BD-2B127FD0E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916" y="5200517"/>
            <a:ext cx="1464421" cy="41840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9D6BE34-7DB0-41C6-A278-1F8534F5906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-271" b="-1598"/>
          <a:stretch/>
        </p:blipFill>
        <p:spPr>
          <a:xfrm>
            <a:off x="5618577" y="2084832"/>
            <a:ext cx="4376761" cy="93849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3370258-9B69-4A47-AC1F-A4825B6F7272}"/>
              </a:ext>
            </a:extLst>
          </p:cNvPr>
          <p:cNvSpPr txBox="1"/>
          <p:nvPr/>
        </p:nvSpPr>
        <p:spPr>
          <a:xfrm>
            <a:off x="3389497" y="4113919"/>
            <a:ext cx="2821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>
                <a:solidFill>
                  <a:srgbClr val="FF0000"/>
                </a:solidFill>
              </a:rPr>
              <a:t>Self-consistent equation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01797432-1508-465B-860F-91DA2A7911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441695" y="4379073"/>
            <a:ext cx="3173738" cy="5846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90C7C5-735E-4C58-A911-36C462B4BD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013" y="5123830"/>
            <a:ext cx="3699905" cy="17341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75268FA-56A3-4B6A-85F2-06FB66DD1E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4774" y="5044218"/>
            <a:ext cx="3738336" cy="17241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F306A47-A4A5-4437-832A-018F15F6E3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84293" y="4990403"/>
            <a:ext cx="4139621" cy="176767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207CCA5-FBC9-4AC6-AC75-1266EF4B2009}"/>
              </a:ext>
            </a:extLst>
          </p:cNvPr>
          <p:cNvGrpSpPr/>
          <p:nvPr/>
        </p:nvGrpSpPr>
        <p:grpSpPr>
          <a:xfrm>
            <a:off x="5770113" y="6117381"/>
            <a:ext cx="1387432" cy="468258"/>
            <a:chOff x="5770113" y="6117381"/>
            <a:chExt cx="1387432" cy="468258"/>
          </a:xfrm>
        </p:grpSpPr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46257C35-810B-40B3-8107-137E2BF7B1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770113" y="6117381"/>
              <a:ext cx="1387432" cy="468258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DBF5199-CEF1-4F45-BCBB-C45919B3CB03}"/>
                </a:ext>
              </a:extLst>
            </p:cNvPr>
            <p:cNvSpPr/>
            <p:nvPr/>
          </p:nvSpPr>
          <p:spPr>
            <a:xfrm>
              <a:off x="5770113" y="6117381"/>
              <a:ext cx="1387432" cy="46825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D0EA17A-25FE-4671-9B09-A65FDEB05EEA}"/>
              </a:ext>
            </a:extLst>
          </p:cNvPr>
          <p:cNvSpPr txBox="1"/>
          <p:nvPr/>
        </p:nvSpPr>
        <p:spPr>
          <a:xfrm>
            <a:off x="2655253" y="6550555"/>
            <a:ext cx="6229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>
                <a:solidFill>
                  <a:srgbClr val="FF0000"/>
                </a:solidFill>
              </a:rPr>
              <a:t>Note: Mean field breakdown in 1D, not phase transition.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F2457466-260C-452E-AEA4-72EC51EC1CB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6275673" y="2758736"/>
            <a:ext cx="5053262" cy="105858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4A5FCF-B216-43D5-94C2-3461E1BA226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329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ISING Model</a:t>
            </a:r>
          </a:p>
        </p:txBody>
      </p:sp>
      <p:pic>
        <p:nvPicPr>
          <p:cNvPr id="4" name="Picture 2" descr="Tensor">
            <a:extLst>
              <a:ext uri="{FF2B5EF4-FFF2-40B4-BE49-F238E27FC236}">
                <a16:creationId xmlns:a16="http://schemas.microsoft.com/office/drawing/2014/main" id="{F0FB5F05-E898-4A05-81E9-ABC2038BE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52" y="2895385"/>
            <a:ext cx="4038540" cy="216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AF6569-0049-4F9D-92BD-2B127FD0E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916" y="5200517"/>
            <a:ext cx="1464421" cy="4184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90C7C5-735E-4C58-A911-36C462B4BD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013" y="5123830"/>
            <a:ext cx="3699905" cy="17341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75268FA-56A3-4B6A-85F2-06FB66DD1E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4774" y="5044218"/>
            <a:ext cx="3738336" cy="17241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F306A47-A4A5-4437-832A-018F15F6E3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4293" y="4990403"/>
            <a:ext cx="4139621" cy="176767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6257C35-810B-40B3-8107-137E2BF7B1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770113" y="6117381"/>
            <a:ext cx="1387431" cy="46825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DBF5199-CEF1-4F45-BCBB-C45919B3CB03}"/>
              </a:ext>
            </a:extLst>
          </p:cNvPr>
          <p:cNvSpPr/>
          <p:nvPr/>
        </p:nvSpPr>
        <p:spPr>
          <a:xfrm>
            <a:off x="5770113" y="6117381"/>
            <a:ext cx="1387432" cy="4682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978375-A0B3-45E2-866F-9EC263A571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70113" y="1561112"/>
            <a:ext cx="4917907" cy="3193766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5BF88A55-C821-4729-BB48-A0104068020E}"/>
              </a:ext>
            </a:extLst>
          </p:cNvPr>
          <p:cNvGrpSpPr/>
          <p:nvPr/>
        </p:nvGrpSpPr>
        <p:grpSpPr>
          <a:xfrm>
            <a:off x="8608017" y="1138310"/>
            <a:ext cx="3583982" cy="3097359"/>
            <a:chOff x="8608017" y="1138310"/>
            <a:chExt cx="3583982" cy="3097359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ED84565-DEFE-4869-89AD-DE6FC28B8582}"/>
                </a:ext>
              </a:extLst>
            </p:cNvPr>
            <p:cNvSpPr/>
            <p:nvPr/>
          </p:nvSpPr>
          <p:spPr>
            <a:xfrm>
              <a:off x="8944876" y="2474768"/>
              <a:ext cx="976889" cy="1760901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6CE435BD-5CA2-4504-A99E-0430F04F6A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8608017" y="1138310"/>
              <a:ext cx="3583982" cy="951679"/>
            </a:xfrm>
            <a:prstGeom prst="rect">
              <a:avLst/>
            </a:prstGeom>
          </p:spPr>
        </p:pic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E945AFBD-A932-4048-A730-2D8A58395560}"/>
              </a:ext>
            </a:extLst>
          </p:cNvPr>
          <p:cNvSpPr/>
          <p:nvPr/>
        </p:nvSpPr>
        <p:spPr>
          <a:xfrm>
            <a:off x="5588000" y="5821680"/>
            <a:ext cx="151633" cy="13628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7259E7A-36A7-47FA-A1C6-8043CEB90F59}"/>
              </a:ext>
            </a:extLst>
          </p:cNvPr>
          <p:cNvSpPr/>
          <p:nvPr/>
        </p:nvSpPr>
        <p:spPr>
          <a:xfrm>
            <a:off x="9540240" y="3251200"/>
            <a:ext cx="151633" cy="13628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FFE4D-D093-41ED-A834-D4D55BD4DA71}"/>
              </a:ext>
            </a:extLst>
          </p:cNvPr>
          <p:cNvSpPr/>
          <p:nvPr/>
        </p:nvSpPr>
        <p:spPr>
          <a:xfrm>
            <a:off x="10536387" y="5109536"/>
            <a:ext cx="151633" cy="136288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C2BE66E-21E3-4A2C-B838-81CD84F5CED7}"/>
              </a:ext>
            </a:extLst>
          </p:cNvPr>
          <p:cNvSpPr/>
          <p:nvPr/>
        </p:nvSpPr>
        <p:spPr>
          <a:xfrm>
            <a:off x="8179267" y="6470976"/>
            <a:ext cx="151633" cy="136288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19C7B74-0259-46F0-8748-F5F1F390E546}"/>
              </a:ext>
            </a:extLst>
          </p:cNvPr>
          <p:cNvSpPr/>
          <p:nvPr/>
        </p:nvSpPr>
        <p:spPr>
          <a:xfrm>
            <a:off x="8532200" y="2252213"/>
            <a:ext cx="151633" cy="136288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BA130F4-BCF8-4D84-AC6D-CF2F30941429}"/>
              </a:ext>
            </a:extLst>
          </p:cNvPr>
          <p:cNvSpPr/>
          <p:nvPr/>
        </p:nvSpPr>
        <p:spPr>
          <a:xfrm>
            <a:off x="8564342" y="4235669"/>
            <a:ext cx="151633" cy="136288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C81D7EA-0AAB-499B-8F37-14AD1A22D01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441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 animBg="1"/>
      <p:bldP spid="15" grpId="0" animBg="1"/>
      <p:bldP spid="16" grpId="0" animBg="1"/>
      <p:bldP spid="20" grpId="0" animBg="1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ISING Model</a:t>
            </a:r>
          </a:p>
        </p:txBody>
      </p:sp>
      <p:pic>
        <p:nvPicPr>
          <p:cNvPr id="4" name="Picture 2" descr="Tensor">
            <a:extLst>
              <a:ext uri="{FF2B5EF4-FFF2-40B4-BE49-F238E27FC236}">
                <a16:creationId xmlns:a16="http://schemas.microsoft.com/office/drawing/2014/main" id="{F0FB5F05-E898-4A05-81E9-ABC2038BE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52" y="2895385"/>
            <a:ext cx="4038540" cy="216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9D6BE34-7DB0-41C6-A278-1F8534F590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271" b="-1598"/>
          <a:stretch/>
        </p:blipFill>
        <p:spPr>
          <a:xfrm>
            <a:off x="5618577" y="2084832"/>
            <a:ext cx="4376761" cy="93849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3370258-9B69-4A47-AC1F-A4825B6F7272}"/>
              </a:ext>
            </a:extLst>
          </p:cNvPr>
          <p:cNvSpPr txBox="1"/>
          <p:nvPr/>
        </p:nvSpPr>
        <p:spPr>
          <a:xfrm>
            <a:off x="3389497" y="4113919"/>
            <a:ext cx="2821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>
                <a:solidFill>
                  <a:srgbClr val="FF0000"/>
                </a:solidFill>
              </a:rPr>
              <a:t>Self-consistent equation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01797432-1508-465B-860F-91DA2A7911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441695" y="4379073"/>
            <a:ext cx="3173738" cy="5846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218CB04-1FB5-4DC3-B201-CB0554FE9811}"/>
              </a:ext>
            </a:extLst>
          </p:cNvPr>
          <p:cNvSpPr txBox="1"/>
          <p:nvPr/>
        </p:nvSpPr>
        <p:spPr>
          <a:xfrm>
            <a:off x="218404" y="6488668"/>
            <a:ext cx="4581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The sensitivity of the magnetization with B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3F22DF0-B514-4BA2-9074-ABBAE3D53737}"/>
              </a:ext>
            </a:extLst>
          </p:cNvPr>
          <p:cNvGrpSpPr/>
          <p:nvPr/>
        </p:nvGrpSpPr>
        <p:grpSpPr>
          <a:xfrm>
            <a:off x="-1795" y="5163278"/>
            <a:ext cx="8152194" cy="1224208"/>
            <a:chOff x="-78813" y="5233251"/>
            <a:chExt cx="8152194" cy="1224208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BCDDC5AE-B2BF-4B0E-8EA4-45A44092F70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-78813" y="5602583"/>
              <a:ext cx="4298949" cy="792839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5820159-17CA-48B9-812F-FA6CA5D50A6E}"/>
                </a:ext>
              </a:extLst>
            </p:cNvPr>
            <p:cNvSpPr txBox="1"/>
            <p:nvPr/>
          </p:nvSpPr>
          <p:spPr>
            <a:xfrm>
              <a:off x="257708" y="5233251"/>
              <a:ext cx="45527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Magnetic susceptibility (response function):</a:t>
              </a: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C03544A2-DFDE-4F65-B17C-E5E6B6655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4291302" y="5590348"/>
              <a:ext cx="3782079" cy="867111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3AC99BD-CC0C-414A-8FDE-4DA418EBEC91}"/>
              </a:ext>
            </a:extLst>
          </p:cNvPr>
          <p:cNvGrpSpPr/>
          <p:nvPr/>
        </p:nvGrpSpPr>
        <p:grpSpPr>
          <a:xfrm>
            <a:off x="8138165" y="5123966"/>
            <a:ext cx="3893483" cy="1380972"/>
            <a:chOff x="7610607" y="5107696"/>
            <a:chExt cx="3893483" cy="1380972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3530BA8-3E17-433B-8900-7A268D624C1F}"/>
                </a:ext>
              </a:extLst>
            </p:cNvPr>
            <p:cNvGrpSpPr/>
            <p:nvPr/>
          </p:nvGrpSpPr>
          <p:grpSpPr>
            <a:xfrm>
              <a:off x="7610607" y="5107696"/>
              <a:ext cx="1081148" cy="466927"/>
              <a:chOff x="8387255" y="5297087"/>
              <a:chExt cx="1081148" cy="466927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6376B6D-349C-4513-8B89-D4C3BD807059}"/>
                  </a:ext>
                </a:extLst>
              </p:cNvPr>
              <p:cNvSpPr txBox="1"/>
              <p:nvPr/>
            </p:nvSpPr>
            <p:spPr>
              <a:xfrm>
                <a:off x="8387255" y="5367468"/>
                <a:ext cx="7135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dirty="0"/>
                  <a:t>Near </a:t>
                </a:r>
              </a:p>
            </p:txBody>
          </p:sp>
          <p:pic>
            <p:nvPicPr>
              <p:cNvPr id="20" name="Graphic 19">
                <a:extLst>
                  <a:ext uri="{FF2B5EF4-FFF2-40B4-BE49-F238E27FC236}">
                    <a16:creationId xmlns:a16="http://schemas.microsoft.com/office/drawing/2014/main" id="{2D386FFA-B7A0-474E-8F66-0C3678404D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8932301" y="5297087"/>
                <a:ext cx="536102" cy="466927"/>
              </a:xfrm>
              <a:prstGeom prst="rect">
                <a:avLst/>
              </a:prstGeom>
            </p:spPr>
          </p:pic>
        </p:grp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DBE948CA-FFA2-4822-ADAF-9AA992C389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782673" y="5485345"/>
              <a:ext cx="3721417" cy="1003323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7623E17F-5B7E-4C97-8C34-21ECB2A4A7D2}"/>
              </a:ext>
            </a:extLst>
          </p:cNvPr>
          <p:cNvSpPr txBox="1"/>
          <p:nvPr/>
        </p:nvSpPr>
        <p:spPr>
          <a:xfrm>
            <a:off x="7629953" y="6488668"/>
            <a:ext cx="4620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>
                <a:solidFill>
                  <a:srgbClr val="FF0000"/>
                </a:solidFill>
              </a:rPr>
              <a:t>Diverges, a tiny field can flip all the spins</a:t>
            </a: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43B60023-0FB6-4483-A9FE-4E4A02BDB96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6641750" y="3582008"/>
            <a:ext cx="5155125" cy="68735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74E6AEE6-B6B9-4661-B109-3C171AF6D94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8608017" y="1138310"/>
            <a:ext cx="3583982" cy="951679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BFCEADA0-ADD1-4288-8E83-1C9EC31F37B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6275673" y="2758736"/>
            <a:ext cx="5053262" cy="105858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4E3C310-1ED1-4A90-97C1-4E8F62835FD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170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28A58-A78F-428C-9C19-E26A1CCBD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ISING Model Critical point fluctuation</a:t>
            </a:r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2DC97B-4BB1-43AB-8864-C69837005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574" y="2134883"/>
            <a:ext cx="6425958" cy="3657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B2B418-D1CE-4F64-B153-D2C0BEE5C933}"/>
              </a:ext>
            </a:extLst>
          </p:cNvPr>
          <p:cNvSpPr txBox="1"/>
          <p:nvPr/>
        </p:nvSpPr>
        <p:spPr>
          <a:xfrm>
            <a:off x="8721558" y="3111391"/>
            <a:ext cx="31927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Distribution of the cluster size</a:t>
            </a:r>
          </a:p>
          <a:p>
            <a:r>
              <a:rPr lang="en-MY" dirty="0"/>
              <a:t>=&gt; variance is diverges ~L</a:t>
            </a:r>
          </a:p>
          <a:p>
            <a:r>
              <a:rPr lang="en-MY" dirty="0"/>
              <a:t>=&gt; Power-law distribution.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FD97FA-5C6D-4213-9F74-22F55F52174F}"/>
              </a:ext>
            </a:extLst>
          </p:cNvPr>
          <p:cNvSpPr txBox="1"/>
          <p:nvPr/>
        </p:nvSpPr>
        <p:spPr>
          <a:xfrm>
            <a:off x="1679925" y="5842078"/>
            <a:ext cx="7769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The statistics of a critical system =&gt; power-law distribution =&gt; scale invariant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A0B287-72F6-40D7-9D0B-57CDFA058DFA}"/>
              </a:ext>
            </a:extLst>
          </p:cNvPr>
          <p:cNvSpPr txBox="1"/>
          <p:nvPr/>
        </p:nvSpPr>
        <p:spPr>
          <a:xfrm>
            <a:off x="2625558" y="62116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Distribution function can only depend on scale invariant quantities: dimensionality, symmetry, …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D3C52E-7A71-4C52-A86F-87CBEE786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160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ISING Model</a:t>
            </a:r>
          </a:p>
        </p:txBody>
      </p:sp>
      <p:pic>
        <p:nvPicPr>
          <p:cNvPr id="4" name="Picture 2" descr="Tensor">
            <a:extLst>
              <a:ext uri="{FF2B5EF4-FFF2-40B4-BE49-F238E27FC236}">
                <a16:creationId xmlns:a16="http://schemas.microsoft.com/office/drawing/2014/main" id="{F0FB5F05-E898-4A05-81E9-ABC2038BE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52" y="2895385"/>
            <a:ext cx="4038540" cy="216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9D6BE34-7DB0-41C6-A278-1F8534F590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271" b="-1598"/>
          <a:stretch/>
        </p:blipFill>
        <p:spPr>
          <a:xfrm>
            <a:off x="5618577" y="2084832"/>
            <a:ext cx="4376761" cy="93849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3370258-9B69-4A47-AC1F-A4825B6F7272}"/>
              </a:ext>
            </a:extLst>
          </p:cNvPr>
          <p:cNvSpPr txBox="1"/>
          <p:nvPr/>
        </p:nvSpPr>
        <p:spPr>
          <a:xfrm>
            <a:off x="1024128" y="5299103"/>
            <a:ext cx="4538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Study phase transition using free energy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CBCC30-7ABF-4CBB-B5C0-FB5EEC1FF7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467" y="5872496"/>
            <a:ext cx="2572677" cy="583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0D99146-3C61-43A9-8537-E5CA0E9B1E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66670" y="5714969"/>
            <a:ext cx="6413198" cy="901536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B806A97D-5D3B-4971-9D80-3BB9AADFE0C1}"/>
              </a:ext>
            </a:extLst>
          </p:cNvPr>
          <p:cNvGrpSpPr/>
          <p:nvPr/>
        </p:nvGrpSpPr>
        <p:grpSpPr>
          <a:xfrm>
            <a:off x="8705684" y="4642052"/>
            <a:ext cx="3609806" cy="1362958"/>
            <a:chOff x="3311530" y="3147691"/>
            <a:chExt cx="3609806" cy="1362958"/>
          </a:xfrm>
        </p:grpSpPr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EA77A634-DC15-40D5-AD7F-12FFC745A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311530" y="3488219"/>
              <a:ext cx="3609806" cy="102243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C1127C3-348A-4314-87B7-33CD1F4B0B83}"/>
                </a:ext>
              </a:extLst>
            </p:cNvPr>
            <p:cNvSpPr txBox="1"/>
            <p:nvPr/>
          </p:nvSpPr>
          <p:spPr>
            <a:xfrm>
              <a:off x="3518406" y="3147691"/>
              <a:ext cx="28217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>
                  <a:solidFill>
                    <a:srgbClr val="FF0000"/>
                  </a:solidFill>
                </a:rPr>
                <a:t>Self-consistent equation</a:t>
              </a:r>
            </a:p>
          </p:txBody>
        </p:sp>
      </p:grpSp>
      <p:pic>
        <p:nvPicPr>
          <p:cNvPr id="28" name="Graphic 27">
            <a:extLst>
              <a:ext uri="{FF2B5EF4-FFF2-40B4-BE49-F238E27FC236}">
                <a16:creationId xmlns:a16="http://schemas.microsoft.com/office/drawing/2014/main" id="{24F62BA3-A067-4F89-BBFC-6F8FA82EC33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32821" y="6136933"/>
            <a:ext cx="1387432" cy="468258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78E68C5-3554-4808-A241-77E886200CC7}"/>
              </a:ext>
            </a:extLst>
          </p:cNvPr>
          <p:cNvGrpSpPr/>
          <p:nvPr/>
        </p:nvGrpSpPr>
        <p:grpSpPr>
          <a:xfrm>
            <a:off x="4328935" y="5322370"/>
            <a:ext cx="7827374" cy="369332"/>
            <a:chOff x="4328935" y="5322370"/>
            <a:chExt cx="7827374" cy="36933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6608D42-B63D-422A-B953-8E6B3EFA4CD3}"/>
                </a:ext>
              </a:extLst>
            </p:cNvPr>
            <p:cNvSpPr/>
            <p:nvPr/>
          </p:nvSpPr>
          <p:spPr>
            <a:xfrm rot="20545256">
              <a:off x="9096765" y="5428652"/>
              <a:ext cx="3059544" cy="111314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A2DD794-ED93-4C2C-90AF-565FFAE08729}"/>
                </a:ext>
              </a:extLst>
            </p:cNvPr>
            <p:cNvSpPr txBox="1"/>
            <p:nvPr/>
          </p:nvSpPr>
          <p:spPr>
            <a:xfrm>
              <a:off x="4328935" y="532237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MY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9106977-B825-4368-9782-330B172539E0}"/>
              </a:ext>
            </a:extLst>
          </p:cNvPr>
          <p:cNvSpPr txBox="1"/>
          <p:nvPr/>
        </p:nvSpPr>
        <p:spPr>
          <a:xfrm>
            <a:off x="5129766" y="275608"/>
            <a:ext cx="1261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Symmetry: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8B29A65-C1C1-47C1-B28F-6E08FA21B9A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47288" y="1402928"/>
            <a:ext cx="1559669" cy="55409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6B7D9D6F-F2F7-42C5-A3F6-218B7B84A27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095044" y="1564953"/>
            <a:ext cx="1605759" cy="50518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0F9E384-202B-461D-9DE6-6D3F92560F0A}"/>
              </a:ext>
            </a:extLst>
          </p:cNvPr>
          <p:cNvSpPr txBox="1"/>
          <p:nvPr/>
        </p:nvSpPr>
        <p:spPr>
          <a:xfrm>
            <a:off x="9419086" y="692611"/>
            <a:ext cx="2538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In quantum mechanics: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3EA512C2-F175-4498-A3EE-A29147268F3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38544" y="273876"/>
            <a:ext cx="1527268" cy="56267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21DA72F-743B-4706-885C-1BED646FBB9C}"/>
              </a:ext>
            </a:extLst>
          </p:cNvPr>
          <p:cNvSpPr txBox="1"/>
          <p:nvPr/>
        </p:nvSpPr>
        <p:spPr>
          <a:xfrm>
            <a:off x="5129766" y="679362"/>
            <a:ext cx="4058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Invariant under some transformation P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CBCA5E-8E6D-41AE-9C0C-C8ECB7437D57}"/>
              </a:ext>
            </a:extLst>
          </p:cNvPr>
          <p:cNvSpPr txBox="1"/>
          <p:nvPr/>
        </p:nvSpPr>
        <p:spPr>
          <a:xfrm>
            <a:off x="5129766" y="1050021"/>
            <a:ext cx="3606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We say the system has P symmetry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4D88CB-98AA-43A6-A625-07D56EB95C28}"/>
              </a:ext>
            </a:extLst>
          </p:cNvPr>
          <p:cNvSpPr txBox="1"/>
          <p:nvPr/>
        </p:nvSpPr>
        <p:spPr>
          <a:xfrm>
            <a:off x="7764401" y="1512617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(parity)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937B5829-3766-4391-9561-B03E15A9881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995339" y="1058048"/>
            <a:ext cx="1405890" cy="46863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67B853E0-EE9A-4CE8-B718-3F544B7D62F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031560" y="1956135"/>
            <a:ext cx="1856683" cy="476946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455D478C-7122-44E9-8EA1-456F111526D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031560" y="2348260"/>
            <a:ext cx="1968653" cy="505709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358CBF0A-CD17-4527-AB6A-AF243F10BF1E}"/>
              </a:ext>
            </a:extLst>
          </p:cNvPr>
          <p:cNvGrpSpPr/>
          <p:nvPr/>
        </p:nvGrpSpPr>
        <p:grpSpPr>
          <a:xfrm>
            <a:off x="10239668" y="2743852"/>
            <a:ext cx="1755956" cy="805993"/>
            <a:chOff x="10239668" y="2256350"/>
            <a:chExt cx="1755956" cy="805993"/>
          </a:xfrm>
        </p:grpSpPr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542956DA-CE60-47D3-9EE5-5E1D8A942D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0239668" y="2256350"/>
              <a:ext cx="1461135" cy="53132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52E6070-3441-43DA-81A6-A2A22E3DB52C}"/>
                </a:ext>
              </a:extLst>
            </p:cNvPr>
            <p:cNvSpPr txBox="1"/>
            <p:nvPr/>
          </p:nvSpPr>
          <p:spPr>
            <a:xfrm>
              <a:off x="10688215" y="2693011"/>
              <a:ext cx="13074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degeneracy</a:t>
              </a:r>
            </a:p>
          </p:txBody>
        </p:sp>
      </p:grpSp>
      <p:pic>
        <p:nvPicPr>
          <p:cNvPr id="35" name="Graphic 34">
            <a:extLst>
              <a:ext uri="{FF2B5EF4-FFF2-40B4-BE49-F238E27FC236}">
                <a16:creationId xmlns:a16="http://schemas.microsoft.com/office/drawing/2014/main" id="{35FAC860-4A3A-4ADD-AC0C-8B2780B9B164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>
          <a:xfrm>
            <a:off x="4990850" y="3781291"/>
            <a:ext cx="5155125" cy="68735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5AB8D6BF-7E02-41AC-976E-40DF6094499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>
            <a:off x="5041782" y="2788417"/>
            <a:ext cx="5053262" cy="105858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9BCB1D5-D76C-4814-8FD3-B8AD499C89BA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523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ISING Model</a:t>
            </a:r>
          </a:p>
        </p:txBody>
      </p:sp>
      <p:pic>
        <p:nvPicPr>
          <p:cNvPr id="4" name="Picture 2" descr="Tensor">
            <a:extLst>
              <a:ext uri="{FF2B5EF4-FFF2-40B4-BE49-F238E27FC236}">
                <a16:creationId xmlns:a16="http://schemas.microsoft.com/office/drawing/2014/main" id="{F0FB5F05-E898-4A05-81E9-ABC2038BE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52" y="2895385"/>
            <a:ext cx="4038540" cy="216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3370258-9B69-4A47-AC1F-A4825B6F7272}"/>
              </a:ext>
            </a:extLst>
          </p:cNvPr>
          <p:cNvSpPr txBox="1"/>
          <p:nvPr/>
        </p:nvSpPr>
        <p:spPr>
          <a:xfrm>
            <a:off x="1024128" y="5484309"/>
            <a:ext cx="1460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>
                <a:solidFill>
                  <a:srgbClr val="FF0000"/>
                </a:solidFill>
              </a:rPr>
              <a:t>Free Energy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CBCC30-7ABF-4CBB-B5C0-FB5EEC1FF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467" y="5872496"/>
            <a:ext cx="2572677" cy="583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0D99146-3C61-43A9-8537-E5CA0E9B1E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66670" y="5714969"/>
            <a:ext cx="6413198" cy="901536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B806A97D-5D3B-4971-9D80-3BB9AADFE0C1}"/>
              </a:ext>
            </a:extLst>
          </p:cNvPr>
          <p:cNvGrpSpPr/>
          <p:nvPr/>
        </p:nvGrpSpPr>
        <p:grpSpPr>
          <a:xfrm>
            <a:off x="8705684" y="4642052"/>
            <a:ext cx="3609806" cy="1362958"/>
            <a:chOff x="3311530" y="3147691"/>
            <a:chExt cx="3609806" cy="1362958"/>
          </a:xfrm>
        </p:grpSpPr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EA77A634-DC15-40D5-AD7F-12FFC745A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311530" y="3488219"/>
              <a:ext cx="3609806" cy="102243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C1127C3-348A-4314-87B7-33CD1F4B0B83}"/>
                </a:ext>
              </a:extLst>
            </p:cNvPr>
            <p:cNvSpPr txBox="1"/>
            <p:nvPr/>
          </p:nvSpPr>
          <p:spPr>
            <a:xfrm>
              <a:off x="3518406" y="3147691"/>
              <a:ext cx="28217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>
                  <a:solidFill>
                    <a:srgbClr val="FF0000"/>
                  </a:solidFill>
                </a:rPr>
                <a:t>Self-consistent equation</a:t>
              </a: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E6608D42-B63D-422A-B953-8E6B3EFA4CD3}"/>
              </a:ext>
            </a:extLst>
          </p:cNvPr>
          <p:cNvSpPr/>
          <p:nvPr/>
        </p:nvSpPr>
        <p:spPr>
          <a:xfrm rot="20545256">
            <a:off x="9096765" y="5428652"/>
            <a:ext cx="3059544" cy="11131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2DFFBC2-EF35-4208-8C6F-DF2E619796B6}"/>
              </a:ext>
            </a:extLst>
          </p:cNvPr>
          <p:cNvGrpSpPr/>
          <p:nvPr/>
        </p:nvGrpSpPr>
        <p:grpSpPr>
          <a:xfrm>
            <a:off x="4296982" y="4209139"/>
            <a:ext cx="4010466" cy="1790253"/>
            <a:chOff x="4296982" y="4209139"/>
            <a:chExt cx="4010466" cy="17902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9BEB43C-D298-420C-82AA-3DAE54D2D033}"/>
                </a:ext>
              </a:extLst>
            </p:cNvPr>
            <p:cNvSpPr txBox="1"/>
            <p:nvPr/>
          </p:nvSpPr>
          <p:spPr>
            <a:xfrm>
              <a:off x="4296982" y="4537881"/>
              <a:ext cx="5312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flat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6DB617F-3F80-48E3-A5D4-1F1D52C91333}"/>
                </a:ext>
              </a:extLst>
            </p:cNvPr>
            <p:cNvCxnSpPr/>
            <p:nvPr/>
          </p:nvCxnSpPr>
          <p:spPr>
            <a:xfrm flipV="1">
              <a:off x="4918841" y="4209139"/>
              <a:ext cx="563242" cy="4329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523293B-FE6F-43A2-A67A-211A92E63533}"/>
                </a:ext>
              </a:extLst>
            </p:cNvPr>
            <p:cNvGrpSpPr/>
            <p:nvPr/>
          </p:nvGrpSpPr>
          <p:grpSpPr>
            <a:xfrm>
              <a:off x="4828281" y="4907213"/>
              <a:ext cx="3479167" cy="1092179"/>
              <a:chOff x="4828281" y="4907213"/>
              <a:chExt cx="3479167" cy="1092179"/>
            </a:xfrm>
          </p:grpSpPr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21ADCADF-92EE-4232-9E49-90D2758419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8281" y="4907213"/>
                <a:ext cx="1517897" cy="109217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1EEB67C-AA14-471C-86D3-5D15A9273A9D}"/>
                  </a:ext>
                </a:extLst>
              </p:cNvPr>
              <p:cNvSpPr txBox="1"/>
              <p:nvPr/>
            </p:nvSpPr>
            <p:spPr>
              <a:xfrm>
                <a:off x="5779897" y="5268636"/>
                <a:ext cx="25275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dirty="0"/>
                  <a:t>Inverse of susceptibility</a:t>
                </a: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2D09AA-CDB0-4D8F-BB4B-D0BE92E526EF}"/>
              </a:ext>
            </a:extLst>
          </p:cNvPr>
          <p:cNvGrpSpPr/>
          <p:nvPr/>
        </p:nvGrpSpPr>
        <p:grpSpPr>
          <a:xfrm>
            <a:off x="7503456" y="2573583"/>
            <a:ext cx="3318366" cy="2189122"/>
            <a:chOff x="7503456" y="2573583"/>
            <a:chExt cx="3318366" cy="218912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DAF06DD-6AEE-4830-9542-62E925BC8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629369" y="2733114"/>
              <a:ext cx="3192453" cy="2029591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7DFA618-8655-4699-AED8-22EE2BEDA5F2}"/>
                </a:ext>
              </a:extLst>
            </p:cNvPr>
            <p:cNvSpPr txBox="1"/>
            <p:nvPr/>
          </p:nvSpPr>
          <p:spPr>
            <a:xfrm>
              <a:off x="7503456" y="2573583"/>
              <a:ext cx="14091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Order phase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9864277-F677-43BF-BB81-4722B13ACDDF}"/>
              </a:ext>
            </a:extLst>
          </p:cNvPr>
          <p:cNvGrpSpPr/>
          <p:nvPr/>
        </p:nvGrpSpPr>
        <p:grpSpPr>
          <a:xfrm>
            <a:off x="334197" y="2066295"/>
            <a:ext cx="3707941" cy="2202950"/>
            <a:chOff x="334197" y="2066295"/>
            <a:chExt cx="3707941" cy="220295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FF40DF9-5769-45F1-A1E5-3B52CC6EDF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62899" y="2102687"/>
              <a:ext cx="3379239" cy="2166558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B4EA219-704E-4830-8504-E42F28EB8413}"/>
                </a:ext>
              </a:extLst>
            </p:cNvPr>
            <p:cNvSpPr txBox="1"/>
            <p:nvPr/>
          </p:nvSpPr>
          <p:spPr>
            <a:xfrm>
              <a:off x="334197" y="2066295"/>
              <a:ext cx="1680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Disorder phase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CBFED01-18B1-4C7E-98BC-843C1D6DE0D6}"/>
              </a:ext>
            </a:extLst>
          </p:cNvPr>
          <p:cNvGrpSpPr/>
          <p:nvPr/>
        </p:nvGrpSpPr>
        <p:grpSpPr>
          <a:xfrm>
            <a:off x="4038600" y="2066295"/>
            <a:ext cx="3383893" cy="2142844"/>
            <a:chOff x="4038600" y="2066295"/>
            <a:chExt cx="3383893" cy="214284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608E5DE-9828-4CDB-999F-7F7DD0A83E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174812" y="2193837"/>
              <a:ext cx="3247681" cy="2015302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E949AA6-A4E5-45BA-92BD-C6F1F2EF8DEC}"/>
                </a:ext>
              </a:extLst>
            </p:cNvPr>
            <p:cNvSpPr txBox="1"/>
            <p:nvPr/>
          </p:nvSpPr>
          <p:spPr>
            <a:xfrm>
              <a:off x="4038600" y="2066295"/>
              <a:ext cx="15486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Critical phase</a:t>
              </a:r>
            </a:p>
          </p:txBody>
        </p:sp>
      </p:grpSp>
      <p:pic>
        <p:nvPicPr>
          <p:cNvPr id="34" name="Graphic 33">
            <a:extLst>
              <a:ext uri="{FF2B5EF4-FFF2-40B4-BE49-F238E27FC236}">
                <a16:creationId xmlns:a16="http://schemas.microsoft.com/office/drawing/2014/main" id="{71E0F885-281E-46C4-A89E-ABF1CC0D261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977511" y="2098132"/>
            <a:ext cx="1696355" cy="856921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54CADC5A-DB3D-4E76-80F7-2FDB8908681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932821" y="6136933"/>
            <a:ext cx="1387432" cy="468258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C93CC58B-73E7-4BC2-A883-7DBF54210CB1}"/>
              </a:ext>
            </a:extLst>
          </p:cNvPr>
          <p:cNvGrpSpPr/>
          <p:nvPr/>
        </p:nvGrpSpPr>
        <p:grpSpPr>
          <a:xfrm>
            <a:off x="6940984" y="735506"/>
            <a:ext cx="5034904" cy="1135763"/>
            <a:chOff x="6940984" y="735506"/>
            <a:chExt cx="5034904" cy="1135763"/>
          </a:xfrm>
        </p:grpSpPr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358F7C93-6024-46B5-80E0-6ED39C5BB9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9220342" y="1163560"/>
              <a:ext cx="2755546" cy="707709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4A77408-EAC4-4015-ACD5-4E5584250FF6}"/>
                </a:ext>
              </a:extLst>
            </p:cNvPr>
            <p:cNvSpPr txBox="1"/>
            <p:nvPr/>
          </p:nvSpPr>
          <p:spPr>
            <a:xfrm>
              <a:off x="6940984" y="735506"/>
              <a:ext cx="50349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>
                  <a:solidFill>
                    <a:srgbClr val="FF0000"/>
                  </a:solidFill>
                </a:rPr>
                <a:t>Exactly the same as Mean field result near T</a:t>
              </a:r>
              <a:r>
                <a:rPr lang="en-MY" b="1" baseline="-25000" dirty="0">
                  <a:solidFill>
                    <a:srgbClr val="FF0000"/>
                  </a:solidFill>
                </a:rPr>
                <a:t>C</a:t>
              </a:r>
              <a:r>
                <a:rPr lang="en-MY" b="1" dirty="0">
                  <a:solidFill>
                    <a:srgbClr val="FF0000"/>
                  </a:solidFill>
                </a:rPr>
                <a:t> </a:t>
              </a:r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3D05C3FC-591A-45DD-BFD5-E784D6439CC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438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Landau theory of phase transition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2321898"/>
            <a:ext cx="2769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Order parameters</a:t>
            </a:r>
          </a:p>
        </p:txBody>
      </p:sp>
      <p:pic>
        <p:nvPicPr>
          <p:cNvPr id="4" name="Picture 2" descr="Tensor">
            <a:extLst>
              <a:ext uri="{FF2B5EF4-FFF2-40B4-BE49-F238E27FC236}">
                <a16:creationId xmlns:a16="http://schemas.microsoft.com/office/drawing/2014/main" id="{13A7740A-42D1-45CC-84B8-A62BA6EBE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52" y="2895385"/>
            <a:ext cx="4038540" cy="216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0952CB-19FD-4F29-B54F-A9D59A1AE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916" y="5200517"/>
            <a:ext cx="1464421" cy="418406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1E392B6-6BEA-47FB-AD46-68140FB57C9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9564" t="27173" r="58851" b="24845"/>
          <a:stretch/>
        </p:blipFill>
        <p:spPr>
          <a:xfrm>
            <a:off x="5255171" y="3171496"/>
            <a:ext cx="641132" cy="5150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440543-06F3-4C81-92C7-4442C4CE36E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-271" b="-1598"/>
          <a:stretch/>
        </p:blipFill>
        <p:spPr>
          <a:xfrm>
            <a:off x="5723681" y="2084832"/>
            <a:ext cx="4376761" cy="9384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8D4FD9-E4BA-47F6-BBCB-ED9C6EE6AB29}"/>
              </a:ext>
            </a:extLst>
          </p:cNvPr>
          <p:cNvSpPr txBox="1"/>
          <p:nvPr/>
        </p:nvSpPr>
        <p:spPr>
          <a:xfrm>
            <a:off x="5370786" y="4099034"/>
            <a:ext cx="5392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Order parameter:             ZERO in the disorder phase</a:t>
            </a:r>
          </a:p>
          <a:p>
            <a:r>
              <a:rPr lang="en-MY" dirty="0"/>
              <a:t>                                NON-ZERO in the order phase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4AF5680-AC2D-426D-AE8A-E17893F8BC9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71554" t="28423" b="27239"/>
          <a:stretch/>
        </p:blipFill>
        <p:spPr>
          <a:xfrm>
            <a:off x="5896303" y="3171496"/>
            <a:ext cx="914400" cy="51500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88A3EB5-4E75-4DCB-943F-E96953A1DF3E}"/>
              </a:ext>
            </a:extLst>
          </p:cNvPr>
          <p:cNvGrpSpPr/>
          <p:nvPr/>
        </p:nvGrpSpPr>
        <p:grpSpPr>
          <a:xfrm>
            <a:off x="3176213" y="5156480"/>
            <a:ext cx="6257010" cy="630658"/>
            <a:chOff x="3176213" y="5156480"/>
            <a:chExt cx="6257010" cy="630658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0D50FA07-9023-4D22-91B3-EFC93100240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176213" y="5156480"/>
              <a:ext cx="4801139" cy="630658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C4835B2-DDAC-4557-A565-A25F647B6551}"/>
                </a:ext>
              </a:extLst>
            </p:cNvPr>
            <p:cNvGrpSpPr/>
            <p:nvPr/>
          </p:nvGrpSpPr>
          <p:grpSpPr>
            <a:xfrm>
              <a:off x="8066877" y="5174641"/>
              <a:ext cx="1366346" cy="612497"/>
              <a:chOff x="8912772" y="5396392"/>
              <a:chExt cx="1366346" cy="612497"/>
            </a:xfrm>
          </p:grpSpPr>
          <p:pic>
            <p:nvPicPr>
              <p:cNvPr id="13" name="Graphic 12">
                <a:extLst>
                  <a:ext uri="{FF2B5EF4-FFF2-40B4-BE49-F238E27FC236}">
                    <a16:creationId xmlns:a16="http://schemas.microsoft.com/office/drawing/2014/main" id="{F2698362-EB9C-4B5E-BAD0-822A8F3028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9575881" y="5396392"/>
                <a:ext cx="703237" cy="612497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9E038A4-395B-4168-9F66-CE35AC942318}"/>
                  </a:ext>
                </a:extLst>
              </p:cNvPr>
              <p:cNvSpPr txBox="1"/>
              <p:nvPr/>
            </p:nvSpPr>
            <p:spPr>
              <a:xfrm>
                <a:off x="8912772" y="5471809"/>
                <a:ext cx="8245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sz="2400" dirty="0"/>
                  <a:t>Near</a:t>
                </a:r>
              </a:p>
            </p:txBody>
          </p:sp>
        </p:grp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EE3C2D87-BFE5-4CE5-BA3E-F56330D08B79}"/>
              </a:ext>
            </a:extLst>
          </p:cNvPr>
          <p:cNvSpPr txBox="1"/>
          <p:nvPr/>
        </p:nvSpPr>
        <p:spPr>
          <a:xfrm>
            <a:off x="3793732" y="4877277"/>
            <a:ext cx="6527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>
                <a:solidFill>
                  <a:srgbClr val="FF0000"/>
                </a:solidFill>
              </a:rPr>
              <a:t>Landau free energy (very useful phenomenological model)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DDCACEE-47FD-4AD4-961C-F06CA3BC8CC2}"/>
              </a:ext>
            </a:extLst>
          </p:cNvPr>
          <p:cNvGrpSpPr/>
          <p:nvPr/>
        </p:nvGrpSpPr>
        <p:grpSpPr>
          <a:xfrm>
            <a:off x="3771963" y="5711723"/>
            <a:ext cx="5163080" cy="831215"/>
            <a:chOff x="3566906" y="5700705"/>
            <a:chExt cx="5163080" cy="83121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BABD2B0-7924-43D8-97C5-3648372B9DED}"/>
                </a:ext>
              </a:extLst>
            </p:cNvPr>
            <p:cNvSpPr txBox="1"/>
            <p:nvPr/>
          </p:nvSpPr>
          <p:spPr>
            <a:xfrm>
              <a:off x="3566906" y="6162588"/>
              <a:ext cx="51630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Free must have the symmetry in the Hamiltonian  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E68DCE2-B998-4518-9C90-5621198894FC}"/>
                </a:ext>
              </a:extLst>
            </p:cNvPr>
            <p:cNvCxnSpPr/>
            <p:nvPr/>
          </p:nvCxnSpPr>
          <p:spPr>
            <a:xfrm flipV="1">
              <a:off x="4046483" y="5700705"/>
              <a:ext cx="0" cy="436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4" name="Graphic 23">
            <a:extLst>
              <a:ext uri="{FF2B5EF4-FFF2-40B4-BE49-F238E27FC236}">
                <a16:creationId xmlns:a16="http://schemas.microsoft.com/office/drawing/2014/main" id="{77B356BA-9BF2-4145-B1DF-08D727FDC66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432074" y="2668673"/>
            <a:ext cx="1220350" cy="66999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89B41F6-90A1-4F24-BDBB-FDDD0CC0C9A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765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Landau theory of phase transition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2321898"/>
            <a:ext cx="2769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Order parameters</a:t>
            </a:r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7C2B66EC-58D2-4843-A051-8BC057206FA0}"/>
              </a:ext>
            </a:extLst>
          </p:cNvPr>
          <p:cNvSpPr/>
          <p:nvPr/>
        </p:nvSpPr>
        <p:spPr>
          <a:xfrm>
            <a:off x="714202" y="4565960"/>
            <a:ext cx="3079530" cy="1510862"/>
          </a:xfrm>
          <a:prstGeom prst="cube">
            <a:avLst>
              <a:gd name="adj" fmla="val 61870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7102A6-7897-472A-8E01-91FAC65267CE}"/>
              </a:ext>
            </a:extLst>
          </p:cNvPr>
          <p:cNvSpPr txBox="1"/>
          <p:nvPr/>
        </p:nvSpPr>
        <p:spPr>
          <a:xfrm>
            <a:off x="829815" y="4042335"/>
            <a:ext cx="946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Magnet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1B14C13-0108-4510-ABFC-28D2CD8F9888}"/>
              </a:ext>
            </a:extLst>
          </p:cNvPr>
          <p:cNvSpPr/>
          <p:nvPr/>
        </p:nvSpPr>
        <p:spPr>
          <a:xfrm>
            <a:off x="1176851" y="5602915"/>
            <a:ext cx="294289" cy="2496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FC4A506B-42F9-4CFD-9E0E-2A608A954A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6851" y="5461182"/>
            <a:ext cx="793367" cy="51661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73ACE2A-33E7-4CD3-A322-8D5F9C0BF4F1}"/>
              </a:ext>
            </a:extLst>
          </p:cNvPr>
          <p:cNvSpPr txBox="1"/>
          <p:nvPr/>
        </p:nvSpPr>
        <p:spPr>
          <a:xfrm>
            <a:off x="4550980" y="2402042"/>
            <a:ext cx="461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We don’t know the microscopic Hamiltonian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125C1DD5-ADC4-4555-8A27-0AD11A0DBA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02828" y="2765169"/>
            <a:ext cx="2275731" cy="91361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6CAA9DE-DE38-4DEB-8BE0-D6B9C9C50142}"/>
              </a:ext>
            </a:extLst>
          </p:cNvPr>
          <p:cNvSpPr txBox="1"/>
          <p:nvPr/>
        </p:nvSpPr>
        <p:spPr>
          <a:xfrm>
            <a:off x="4550980" y="2898810"/>
            <a:ext cx="57596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b="1" dirty="0">
                <a:solidFill>
                  <a:srgbClr val="FF0000"/>
                </a:solidFill>
              </a:rPr>
              <a:t>Landau theory of free energy: we expand the order parameters near T</a:t>
            </a:r>
            <a:r>
              <a:rPr lang="en-MY" b="1" baseline="-25000" dirty="0">
                <a:solidFill>
                  <a:srgbClr val="FF0000"/>
                </a:solidFill>
              </a:rPr>
              <a:t>C</a:t>
            </a:r>
            <a:r>
              <a:rPr lang="en-MY" b="1" dirty="0">
                <a:solidFill>
                  <a:srgbClr val="FF0000"/>
                </a:solidFill>
              </a:rPr>
              <a:t> </a:t>
            </a:r>
            <a:endParaRPr lang="en-MY" dirty="0"/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AFA69D92-1160-4135-A32A-F7E8BD4890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96935" y="3540473"/>
            <a:ext cx="6465686" cy="742794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E19A9FB8-6A4B-47AB-9A83-4A87F1B14897}"/>
              </a:ext>
            </a:extLst>
          </p:cNvPr>
          <p:cNvGrpSpPr/>
          <p:nvPr/>
        </p:nvGrpSpPr>
        <p:grpSpPr>
          <a:xfrm>
            <a:off x="4550980" y="4374096"/>
            <a:ext cx="4462190" cy="524078"/>
            <a:chOff x="4550980" y="4374096"/>
            <a:chExt cx="4462190" cy="524078"/>
          </a:xfrm>
        </p:grpSpPr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57DE8ED6-4114-4791-A6C6-C14C35AC5B6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550980" y="4374096"/>
              <a:ext cx="1366344" cy="524078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8ED00F3-C482-4F11-B106-EF910BC7BA2D}"/>
                </a:ext>
              </a:extLst>
            </p:cNvPr>
            <p:cNvSpPr txBox="1"/>
            <p:nvPr/>
          </p:nvSpPr>
          <p:spPr>
            <a:xfrm>
              <a:off x="6018376" y="4460906"/>
              <a:ext cx="2994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(Mean field  approximation)</a:t>
              </a:r>
            </a:p>
          </p:txBody>
        </p:sp>
      </p:grpSp>
      <p:pic>
        <p:nvPicPr>
          <p:cNvPr id="35" name="Graphic 34">
            <a:extLst>
              <a:ext uri="{FF2B5EF4-FFF2-40B4-BE49-F238E27FC236}">
                <a16:creationId xmlns:a16="http://schemas.microsoft.com/office/drawing/2014/main" id="{8174E649-AF71-407D-84A0-CA771E06465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39954" y="4967896"/>
            <a:ext cx="3858316" cy="67176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18387807-F385-4C78-9E01-5EDE3CA633F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336397" y="4830238"/>
            <a:ext cx="1798797" cy="90867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7F4E5229-0665-43A4-B37E-D40FE245088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551076" y="5577825"/>
            <a:ext cx="3163517" cy="1017505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A0DB94C-606E-4923-850B-2682FF101E5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937980" y="4193187"/>
            <a:ext cx="1878144" cy="473766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8AFA500-B5EA-43D7-8B71-EBAB4CA7D981}"/>
              </a:ext>
            </a:extLst>
          </p:cNvPr>
          <p:cNvGrpSpPr/>
          <p:nvPr/>
        </p:nvGrpSpPr>
        <p:grpSpPr>
          <a:xfrm>
            <a:off x="7055318" y="3221975"/>
            <a:ext cx="5041948" cy="500805"/>
            <a:chOff x="7055318" y="3221975"/>
            <a:chExt cx="5041948" cy="50080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945A794-AAFD-4BBF-B586-AD84EB5E017E}"/>
                </a:ext>
              </a:extLst>
            </p:cNvPr>
            <p:cNvSpPr txBox="1"/>
            <p:nvPr/>
          </p:nvSpPr>
          <p:spPr>
            <a:xfrm>
              <a:off x="8479288" y="3221975"/>
              <a:ext cx="36179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Energy penalty for inhomogeneity 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19238E99-C3A3-4D6E-80A9-8D8B5BA36629}"/>
                </a:ext>
              </a:extLst>
            </p:cNvPr>
            <p:cNvCxnSpPr>
              <a:cxnSpLocks/>
              <a:stCxn id="6" idx="1"/>
            </p:cNvCxnSpPr>
            <p:nvPr/>
          </p:nvCxnSpPr>
          <p:spPr>
            <a:xfrm flipH="1">
              <a:off x="7055318" y="3406641"/>
              <a:ext cx="1423970" cy="31613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DA1550F3-B990-44E1-9FC1-48CF726DFC8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803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Landau theory of phase transition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2321898"/>
            <a:ext cx="2769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Order parameters</a:t>
            </a:r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7C2B66EC-58D2-4843-A051-8BC057206FA0}"/>
              </a:ext>
            </a:extLst>
          </p:cNvPr>
          <p:cNvSpPr/>
          <p:nvPr/>
        </p:nvSpPr>
        <p:spPr>
          <a:xfrm>
            <a:off x="714202" y="4565960"/>
            <a:ext cx="3079530" cy="1510862"/>
          </a:xfrm>
          <a:prstGeom prst="cube">
            <a:avLst>
              <a:gd name="adj" fmla="val 61870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7102A6-7897-472A-8E01-91FAC65267CE}"/>
              </a:ext>
            </a:extLst>
          </p:cNvPr>
          <p:cNvSpPr txBox="1"/>
          <p:nvPr/>
        </p:nvSpPr>
        <p:spPr>
          <a:xfrm>
            <a:off x="829815" y="4042335"/>
            <a:ext cx="946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Magnet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1B14C13-0108-4510-ABFC-28D2CD8F9888}"/>
              </a:ext>
            </a:extLst>
          </p:cNvPr>
          <p:cNvSpPr/>
          <p:nvPr/>
        </p:nvSpPr>
        <p:spPr>
          <a:xfrm>
            <a:off x="1176851" y="5602915"/>
            <a:ext cx="294289" cy="2496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FC4A506B-42F9-4CFD-9E0E-2A608A954A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6851" y="5461182"/>
            <a:ext cx="793367" cy="516611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125C1DD5-ADC4-4555-8A27-0AD11A0DBA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02828" y="2765169"/>
            <a:ext cx="2275731" cy="913615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AFA69D92-1160-4135-A32A-F7E8BD4890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96935" y="3540473"/>
            <a:ext cx="6465686" cy="742794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57DE8ED6-4114-4791-A6C6-C14C35AC5B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50980" y="4374096"/>
            <a:ext cx="1366344" cy="524078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58ED00F3-C482-4F11-B106-EF910BC7BA2D}"/>
              </a:ext>
            </a:extLst>
          </p:cNvPr>
          <p:cNvSpPr txBox="1"/>
          <p:nvPr/>
        </p:nvSpPr>
        <p:spPr>
          <a:xfrm>
            <a:off x="6018376" y="4460906"/>
            <a:ext cx="2994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(Mean field  approximation)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8174E649-AF71-407D-84A0-CA771E06465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39954" y="4967896"/>
            <a:ext cx="3858316" cy="67176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18387807-F385-4C78-9E01-5EDE3CA633F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336397" y="4830238"/>
            <a:ext cx="1798797" cy="90867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7F4E5229-0665-43A4-B37E-D40FE245088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551076" y="5577825"/>
            <a:ext cx="3163517" cy="101750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839D938-6A67-46F4-B949-828D1BF6CB5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54304" y="1452477"/>
            <a:ext cx="3164306" cy="287077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73651E7B-2906-48CB-8D70-E1146C1B20F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944872" y="4221477"/>
            <a:ext cx="1463864" cy="4269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22244F-E58E-41AB-A847-9D9F86805E8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75979" y="1473649"/>
            <a:ext cx="2900015" cy="31620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EA2EFA-FED8-4AA6-990E-45A6BDC0BF46}"/>
              </a:ext>
            </a:extLst>
          </p:cNvPr>
          <p:cNvSpPr txBox="1"/>
          <p:nvPr/>
        </p:nvSpPr>
        <p:spPr>
          <a:xfrm>
            <a:off x="5060236" y="1198982"/>
            <a:ext cx="2965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>
                <a:solidFill>
                  <a:srgbClr val="FF0000"/>
                </a:solidFill>
              </a:rPr>
              <a:t>2</a:t>
            </a:r>
            <a:r>
              <a:rPr lang="en-MY" b="1" baseline="30000" dirty="0">
                <a:solidFill>
                  <a:srgbClr val="FF0000"/>
                </a:solidFill>
              </a:rPr>
              <a:t>nd</a:t>
            </a:r>
            <a:r>
              <a:rPr lang="en-MY" b="1" dirty="0">
                <a:solidFill>
                  <a:srgbClr val="FF0000"/>
                </a:solidFill>
              </a:rPr>
              <a:t> order phase transition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5CB065-3A47-449C-9745-100D48EEE545}"/>
              </a:ext>
            </a:extLst>
          </p:cNvPr>
          <p:cNvSpPr txBox="1"/>
          <p:nvPr/>
        </p:nvSpPr>
        <p:spPr>
          <a:xfrm>
            <a:off x="8675679" y="1176470"/>
            <a:ext cx="2870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>
                <a:solidFill>
                  <a:srgbClr val="FF0000"/>
                </a:solidFill>
              </a:rPr>
              <a:t>1</a:t>
            </a:r>
            <a:r>
              <a:rPr lang="en-MY" b="1" baseline="30000" dirty="0">
                <a:solidFill>
                  <a:srgbClr val="FF0000"/>
                </a:solidFill>
              </a:rPr>
              <a:t>st</a:t>
            </a:r>
            <a:r>
              <a:rPr lang="en-MY" b="1" dirty="0">
                <a:solidFill>
                  <a:srgbClr val="FF0000"/>
                </a:solidFill>
              </a:rPr>
              <a:t> order phase transition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7972E25-E0C2-433D-92F8-E9443E4CC22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284627" y="1985600"/>
            <a:ext cx="867760" cy="417192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1757AF2-8C8A-41EF-A1C3-C9168282022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242924" y="1862165"/>
            <a:ext cx="867759" cy="417192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A299C05E-39AF-4B5A-8411-87E37626480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629837" y="4254655"/>
            <a:ext cx="1201709" cy="390917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D7EC5B71-9F9C-4B28-B4F8-57DB59C609DC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213403" y="3858433"/>
            <a:ext cx="1320844" cy="419562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3DB1AAA1-4D52-4D5A-AA3D-5CD78FA47A20}"/>
              </a:ext>
            </a:extLst>
          </p:cNvPr>
          <p:cNvGrpSpPr/>
          <p:nvPr/>
        </p:nvGrpSpPr>
        <p:grpSpPr>
          <a:xfrm>
            <a:off x="7725715" y="4620427"/>
            <a:ext cx="4077269" cy="2210108"/>
            <a:chOff x="8072048" y="5349895"/>
            <a:chExt cx="4077269" cy="2210108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C4606A53-6969-4BC4-96F3-1B8A8375D6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8072048" y="5349895"/>
              <a:ext cx="4077269" cy="2210108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EA792C2-2A93-4F0A-80C4-0CC9BC8A60FB}"/>
                </a:ext>
              </a:extLst>
            </p:cNvPr>
            <p:cNvSpPr txBox="1"/>
            <p:nvPr/>
          </p:nvSpPr>
          <p:spPr>
            <a:xfrm>
              <a:off x="8480954" y="5438102"/>
              <a:ext cx="255755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Order parameter do not go to zero smoothly</a:t>
              </a: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B0BF4387-A422-4592-B1EC-034AC64E4608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315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55D48-E35C-4E47-8729-2725671FB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Superconductivity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A5D1C9D-31F5-4345-992A-44874A3C2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3843" y="1742173"/>
            <a:ext cx="4290284" cy="243441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82BA116-03BE-4F30-8DBA-11FF023D0C17}"/>
              </a:ext>
            </a:extLst>
          </p:cNvPr>
          <p:cNvSpPr txBox="1"/>
          <p:nvPr/>
        </p:nvSpPr>
        <p:spPr>
          <a:xfrm>
            <a:off x="8861942" y="1335024"/>
            <a:ext cx="1814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Nobel prize 1972</a:t>
            </a:r>
          </a:p>
        </p:txBody>
      </p:sp>
      <p:pic>
        <p:nvPicPr>
          <p:cNvPr id="1036" name="Picture 12" descr="What is the Meissner effect?">
            <a:extLst>
              <a:ext uri="{FF2B5EF4-FFF2-40B4-BE49-F238E27FC236}">
                <a16:creationId xmlns:a16="http://schemas.microsoft.com/office/drawing/2014/main" id="{2EA95477-3BBB-4DCF-B77C-96F4FE86C5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 bwMode="auto">
          <a:xfrm>
            <a:off x="3560833" y="2621086"/>
            <a:ext cx="3842143" cy="1921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CDBCF3A-AD2B-4880-8A2A-916466FBC44F}"/>
              </a:ext>
            </a:extLst>
          </p:cNvPr>
          <p:cNvSpPr txBox="1"/>
          <p:nvPr/>
        </p:nvSpPr>
        <p:spPr>
          <a:xfrm>
            <a:off x="4292868" y="2045557"/>
            <a:ext cx="1832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Meissner effects:</a:t>
            </a:r>
          </a:p>
        </p:txBody>
      </p:sp>
      <p:pic>
        <p:nvPicPr>
          <p:cNvPr id="1038" name="Picture 14" descr="Superconductors">
            <a:extLst>
              <a:ext uri="{FF2B5EF4-FFF2-40B4-BE49-F238E27FC236}">
                <a16:creationId xmlns:a16="http://schemas.microsoft.com/office/drawing/2014/main" id="{5D2A47D4-324F-4D94-AB8A-F95B17E02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61" y="2414889"/>
            <a:ext cx="3117405" cy="2584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10ABD0B-54AF-439B-A1FB-0562EE1517BE}"/>
              </a:ext>
            </a:extLst>
          </p:cNvPr>
          <p:cNvSpPr txBox="1"/>
          <p:nvPr/>
        </p:nvSpPr>
        <p:spPr>
          <a:xfrm>
            <a:off x="1024128" y="1983627"/>
            <a:ext cx="1672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Zero resistance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95889F-DA6D-44CF-9228-06910E371FDB}"/>
              </a:ext>
            </a:extLst>
          </p:cNvPr>
          <p:cNvSpPr txBox="1"/>
          <p:nvPr/>
        </p:nvSpPr>
        <p:spPr>
          <a:xfrm>
            <a:off x="1322552" y="5463221"/>
            <a:ext cx="8609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Below T</a:t>
            </a:r>
            <a:r>
              <a:rPr lang="en-MY" baseline="-25000" dirty="0"/>
              <a:t>C </a:t>
            </a:r>
            <a:r>
              <a:rPr lang="en-MY" dirty="0"/>
              <a:t>the electrons form Cooper pairs due to the interaction with lattice (phonon).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00DDDB-0141-4E40-9A2D-AFB83585327C}"/>
              </a:ext>
            </a:extLst>
          </p:cNvPr>
          <p:cNvSpPr txBox="1"/>
          <p:nvPr/>
        </p:nvSpPr>
        <p:spPr>
          <a:xfrm>
            <a:off x="7949154" y="4461207"/>
            <a:ext cx="39649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They write down the ground state wavefunction for N-Cooper pairs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F653F8-A158-41DE-9D4F-005A07F1CA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5575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55D48-E35C-4E47-8729-2725671FB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Ginzburg-Landau theory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A421B9-71D6-4626-9495-FF14B0DAE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329" y="1635826"/>
            <a:ext cx="4048594" cy="23575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A45B0C-4C44-4EF6-8972-ADA760399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36" y="3687938"/>
            <a:ext cx="7166471" cy="9093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CC86687-1956-41D9-A023-FCE836689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833" y="4720964"/>
            <a:ext cx="8039400" cy="207351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E810145-E3B5-4F54-9288-7C5657ED061E}"/>
              </a:ext>
            </a:extLst>
          </p:cNvPr>
          <p:cNvSpPr txBox="1"/>
          <p:nvPr/>
        </p:nvSpPr>
        <p:spPr>
          <a:xfrm>
            <a:off x="616017" y="2422155"/>
            <a:ext cx="1855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Order parameter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29341C4-7A14-465C-897D-0EC609C7B9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864" y="2285393"/>
            <a:ext cx="2143424" cy="43821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5D8BEC5-55D3-4889-8D55-C438271CBB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676" y="3038888"/>
            <a:ext cx="2031240" cy="37810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EA668CC-AFF4-4B94-A6A6-6C7E3CF33EC3}"/>
              </a:ext>
            </a:extLst>
          </p:cNvPr>
          <p:cNvSpPr txBox="1"/>
          <p:nvPr/>
        </p:nvSpPr>
        <p:spPr>
          <a:xfrm>
            <a:off x="5096871" y="2358512"/>
            <a:ext cx="3001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(Cooper pairs wavefunction)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16E205-E97E-4694-8A0D-2910F0E0E6EF}"/>
              </a:ext>
            </a:extLst>
          </p:cNvPr>
          <p:cNvSpPr txBox="1"/>
          <p:nvPr/>
        </p:nvSpPr>
        <p:spPr>
          <a:xfrm>
            <a:off x="2587257" y="2970112"/>
            <a:ext cx="58075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Symmetry in electromagnetism (gauge transformation) </a:t>
            </a:r>
          </a:p>
          <a:p>
            <a:r>
              <a:rPr lang="en-MY" dirty="0"/>
              <a:t>the argument is similar to quantum mechanics.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8821D01-BF38-438A-A550-B93B2CF2C970}"/>
              </a:ext>
            </a:extLst>
          </p:cNvPr>
          <p:cNvCxnSpPr>
            <a:cxnSpLocks/>
          </p:cNvCxnSpPr>
          <p:nvPr/>
        </p:nvCxnSpPr>
        <p:spPr>
          <a:xfrm flipV="1">
            <a:off x="11405938" y="3666556"/>
            <a:ext cx="0" cy="895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8E76D44-F9E3-499C-B394-13F03862A735}"/>
              </a:ext>
            </a:extLst>
          </p:cNvPr>
          <p:cNvSpPr txBox="1"/>
          <p:nvPr/>
        </p:nvSpPr>
        <p:spPr>
          <a:xfrm>
            <a:off x="10289408" y="4597304"/>
            <a:ext cx="2233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Derived the </a:t>
            </a:r>
            <a:r>
              <a:rPr lang="el-GR" dirty="0"/>
              <a:t>α</a:t>
            </a:r>
            <a:r>
              <a:rPr lang="en-MY" dirty="0"/>
              <a:t>, </a:t>
            </a:r>
            <a:r>
              <a:rPr lang="el-GR" dirty="0"/>
              <a:t>β</a:t>
            </a:r>
            <a:r>
              <a:rPr lang="en-MY" dirty="0"/>
              <a:t> from Hamiltonian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B7C531-A2B7-4EB2-A1C4-ED41B6C3B224}"/>
              </a:ext>
            </a:extLst>
          </p:cNvPr>
          <p:cNvSpPr txBox="1"/>
          <p:nvPr/>
        </p:nvSpPr>
        <p:spPr>
          <a:xfrm>
            <a:off x="7856952" y="6272784"/>
            <a:ext cx="375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One of the very successful theory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C5C6E5-F9A4-4D3E-8A36-FB7515CAA9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3545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5CF1D-A3AA-4DB9-A28F-33579D47D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err="1"/>
              <a:t>Abrikosov</a:t>
            </a:r>
            <a:r>
              <a:rPr lang="en-MY" dirty="0"/>
              <a:t> lattice</a:t>
            </a:r>
          </a:p>
        </p:txBody>
      </p:sp>
      <p:pic>
        <p:nvPicPr>
          <p:cNvPr id="3074" name="Picture 2" descr="Alexei Abrikosov, Nobel Laureate in Physics, Dies at 88 - The New York ...">
            <a:extLst>
              <a:ext uri="{FF2B5EF4-FFF2-40B4-BE49-F238E27FC236}">
                <a16:creationId xmlns:a16="http://schemas.microsoft.com/office/drawing/2014/main" id="{D415CBF3-FD4D-4D40-B887-55DE4D6D0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0092" y="1526205"/>
            <a:ext cx="4164531" cy="2342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967B92-2428-4FC9-9BBB-C942FA9F5C41}"/>
              </a:ext>
            </a:extLst>
          </p:cNvPr>
          <p:cNvSpPr txBox="1"/>
          <p:nvPr/>
        </p:nvSpPr>
        <p:spPr>
          <a:xfrm>
            <a:off x="9914021" y="3952411"/>
            <a:ext cx="1860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Nobel prize 2003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C88202-6026-489E-B471-0CBE19FFB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179" y="2406012"/>
            <a:ext cx="7166471" cy="9093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9088EC-53E0-41C2-90A8-A633EDD600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280" y="3911954"/>
            <a:ext cx="5012708" cy="13704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E5D2CF-63D7-4812-B653-EDD08D953286}"/>
              </a:ext>
            </a:extLst>
          </p:cNvPr>
          <p:cNvSpPr txBox="1"/>
          <p:nvPr/>
        </p:nvSpPr>
        <p:spPr>
          <a:xfrm>
            <a:off x="308008" y="3412156"/>
            <a:ext cx="2978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Minimizing the free-energy:</a:t>
            </a:r>
          </a:p>
        </p:txBody>
      </p:sp>
      <p:pic>
        <p:nvPicPr>
          <p:cNvPr id="3078" name="Picture 6" descr="7-STM image of Abrikosov vortex lattice in NbSe 2 [84]. | Download  Scientific Diagram">
            <a:extLst>
              <a:ext uri="{FF2B5EF4-FFF2-40B4-BE49-F238E27FC236}">
                <a16:creationId xmlns:a16="http://schemas.microsoft.com/office/drawing/2014/main" id="{158EB7B7-68B7-4FC3-9874-B3D3E7C364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6523" y="3542623"/>
            <a:ext cx="2978572" cy="3313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957C8D3-E830-4769-BCFC-A5F8F814B4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72470" y="5972475"/>
            <a:ext cx="1071613" cy="468831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D420526-8D25-4FD2-9D98-EC45B277CEB9}"/>
              </a:ext>
            </a:extLst>
          </p:cNvPr>
          <p:cNvCxnSpPr/>
          <p:nvPr/>
        </p:nvCxnSpPr>
        <p:spPr>
          <a:xfrm flipH="1" flipV="1">
            <a:off x="8968752" y="5746282"/>
            <a:ext cx="797878" cy="452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6F2B90C-C61D-4BDA-AE0E-FA995943F50A}"/>
              </a:ext>
            </a:extLst>
          </p:cNvPr>
          <p:cNvCxnSpPr>
            <a:cxnSpLocks/>
          </p:cNvCxnSpPr>
          <p:nvPr/>
        </p:nvCxnSpPr>
        <p:spPr>
          <a:xfrm flipH="1" flipV="1">
            <a:off x="8893743" y="6112042"/>
            <a:ext cx="872887" cy="866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E82A4AD-8C8A-449C-A3AE-4690D1F80FE0}"/>
              </a:ext>
            </a:extLst>
          </p:cNvPr>
          <p:cNvSpPr txBox="1"/>
          <p:nvPr/>
        </p:nvSpPr>
        <p:spPr>
          <a:xfrm>
            <a:off x="9232504" y="6377959"/>
            <a:ext cx="3023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Magnetic field can penetrate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C0B255-6673-4E2F-9A93-7500C0584E8C}"/>
              </a:ext>
            </a:extLst>
          </p:cNvPr>
          <p:cNvSpPr txBox="1"/>
          <p:nvPr/>
        </p:nvSpPr>
        <p:spPr>
          <a:xfrm>
            <a:off x="467707" y="5786023"/>
            <a:ext cx="5623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Non-uniform stable solution in type-II superconductor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6F78A67-D5C8-450B-9396-41BFF7965E79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8968752" y="5972475"/>
            <a:ext cx="803718" cy="234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FFBAB0A-F268-40FC-9EFB-EB73A6FDA1BD}"/>
              </a:ext>
            </a:extLst>
          </p:cNvPr>
          <p:cNvSpPr txBox="1"/>
          <p:nvPr/>
        </p:nvSpPr>
        <p:spPr>
          <a:xfrm>
            <a:off x="10465228" y="1115045"/>
            <a:ext cx="1405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 err="1"/>
              <a:t>Abrikosov</a:t>
            </a:r>
            <a:endParaRPr lang="en-MY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E112470-8643-4303-89C3-6045DEEC97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1264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7AA51-7E85-47B5-9A8E-2D90FFE59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err="1"/>
              <a:t>ISIng</a:t>
            </a:r>
            <a:r>
              <a:rPr lang="en-MY" dirty="0"/>
              <a:t> Model in 1D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72A8B79-F0D9-44C5-A37E-0BA535589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692" y="1946695"/>
            <a:ext cx="3212963" cy="76762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C033401-F5BD-49C4-9F4E-0ABFEDE88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693" y="2810576"/>
            <a:ext cx="4211824" cy="77802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B9902A4-F5DE-47B0-AFDC-7234407A6C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181" y="1823433"/>
            <a:ext cx="4410691" cy="2210108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C35FF22D-8B77-4FD4-883A-844E3400A177}"/>
              </a:ext>
            </a:extLst>
          </p:cNvPr>
          <p:cNvGrpSpPr/>
          <p:nvPr/>
        </p:nvGrpSpPr>
        <p:grpSpPr>
          <a:xfrm>
            <a:off x="816987" y="3937222"/>
            <a:ext cx="6147335" cy="754251"/>
            <a:chOff x="1697254" y="4018918"/>
            <a:chExt cx="6147335" cy="754251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71749553-86D8-4E01-B3D6-A4BC79CCF6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5046"/>
            <a:stretch/>
          </p:blipFill>
          <p:spPr>
            <a:xfrm>
              <a:off x="2319689" y="4018918"/>
              <a:ext cx="5524900" cy="754251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B96720A4-9067-4096-A691-DEB485E0748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697254" y="4033541"/>
              <a:ext cx="846919" cy="521181"/>
            </a:xfrm>
            <a:prstGeom prst="rect">
              <a:avLst/>
            </a:prstGeom>
          </p:spPr>
        </p:pic>
      </p:grpSp>
      <p:pic>
        <p:nvPicPr>
          <p:cNvPr id="44" name="Picture 43">
            <a:extLst>
              <a:ext uri="{FF2B5EF4-FFF2-40B4-BE49-F238E27FC236}">
                <a16:creationId xmlns:a16="http://schemas.microsoft.com/office/drawing/2014/main" id="{9BFAB945-C418-45A0-84C1-AF33D1069C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3906" y="4826124"/>
            <a:ext cx="5028108" cy="66597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2FBE03DE-4CDC-452E-9FC1-8E5C435FA1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68120" y="5626750"/>
            <a:ext cx="3362794" cy="100026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792CF257-620B-4F67-A533-1B2318839F08}"/>
              </a:ext>
            </a:extLst>
          </p:cNvPr>
          <p:cNvSpPr txBox="1"/>
          <p:nvPr/>
        </p:nvSpPr>
        <p:spPr>
          <a:xfrm>
            <a:off x="1588168" y="5945357"/>
            <a:ext cx="1770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Transfer matrix: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616F85F-B744-4598-BF59-99C801FCFE7F}"/>
              </a:ext>
            </a:extLst>
          </p:cNvPr>
          <p:cNvGrpSpPr/>
          <p:nvPr/>
        </p:nvGrpSpPr>
        <p:grpSpPr>
          <a:xfrm>
            <a:off x="6964322" y="5710047"/>
            <a:ext cx="5024602" cy="686027"/>
            <a:chOff x="6964322" y="5710047"/>
            <a:chExt cx="5024602" cy="686027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A27120D7-BEFC-4DB4-998F-2FB5B95E17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l="5803"/>
            <a:stretch/>
          </p:blipFill>
          <p:spPr>
            <a:xfrm>
              <a:off x="7634205" y="5751604"/>
              <a:ext cx="4354719" cy="64447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14D9E2E8-C4C9-46BA-AF8C-2832FA63CF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964322" y="5710047"/>
              <a:ext cx="846919" cy="521181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262CF1C1-A793-4001-BDAB-7077A7E5676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2918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7AA51-7E85-47B5-9A8E-2D90FFE59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err="1"/>
              <a:t>ISIng</a:t>
            </a:r>
            <a:r>
              <a:rPr lang="en-MY" dirty="0"/>
              <a:t> Model in 1D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72A8B79-F0D9-44C5-A37E-0BA535589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692" y="1946695"/>
            <a:ext cx="3212963" cy="76762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B9902A4-F5DE-47B0-AFDC-7234407A6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181" y="1823433"/>
            <a:ext cx="4410691" cy="2210108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2FBE03DE-4CDC-452E-9FC1-8E5C435FA1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1846" y="2734091"/>
            <a:ext cx="3362794" cy="100026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792CF257-620B-4F67-A533-1B2318839F08}"/>
              </a:ext>
            </a:extLst>
          </p:cNvPr>
          <p:cNvSpPr txBox="1"/>
          <p:nvPr/>
        </p:nvSpPr>
        <p:spPr>
          <a:xfrm>
            <a:off x="721894" y="3052698"/>
            <a:ext cx="1770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Transfer matrix: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616F85F-B744-4598-BF59-99C801FCFE7F}"/>
              </a:ext>
            </a:extLst>
          </p:cNvPr>
          <p:cNvGrpSpPr/>
          <p:nvPr/>
        </p:nvGrpSpPr>
        <p:grpSpPr>
          <a:xfrm>
            <a:off x="859562" y="4033541"/>
            <a:ext cx="5024602" cy="686027"/>
            <a:chOff x="6964322" y="5710047"/>
            <a:chExt cx="5024602" cy="686027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A27120D7-BEFC-4DB4-998F-2FB5B95E17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5803"/>
            <a:stretch/>
          </p:blipFill>
          <p:spPr>
            <a:xfrm>
              <a:off x="7634205" y="5751604"/>
              <a:ext cx="4354719" cy="64447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14D9E2E8-C4C9-46BA-AF8C-2832FA63CF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964322" y="5710047"/>
              <a:ext cx="846919" cy="521181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ED842295-7BA8-4063-81C0-8B048BE834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9445" y="4848872"/>
            <a:ext cx="4048690" cy="10478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91709B-8118-4E60-B2F1-C3E2AD9613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1894" y="5832336"/>
            <a:ext cx="5747460" cy="903531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2AE7270-6ECF-4FD5-B811-FF94CB1B3FD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20467" y="5330840"/>
            <a:ext cx="3849640" cy="5276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C8AFBD2-AF46-4BB8-BA8C-892FA1AB57D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777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7AA51-7E85-47B5-9A8E-2D90FFE59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err="1"/>
              <a:t>ISIng</a:t>
            </a:r>
            <a:r>
              <a:rPr lang="en-MY" dirty="0"/>
              <a:t> Model in 1D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72A8B79-F0D9-44C5-A37E-0BA535589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692" y="1946695"/>
            <a:ext cx="3212963" cy="76762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B9902A4-F5DE-47B0-AFDC-7234407A6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181" y="1823433"/>
            <a:ext cx="4410691" cy="2210108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2FBE03DE-4CDC-452E-9FC1-8E5C435FA1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1846" y="2734091"/>
            <a:ext cx="3362794" cy="100026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792CF257-620B-4F67-A533-1B2318839F08}"/>
              </a:ext>
            </a:extLst>
          </p:cNvPr>
          <p:cNvSpPr txBox="1"/>
          <p:nvPr/>
        </p:nvSpPr>
        <p:spPr>
          <a:xfrm>
            <a:off x="721894" y="3052698"/>
            <a:ext cx="1770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Transfer matrix: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91709B-8118-4E60-B2F1-C3E2AD9613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451" y="3605892"/>
            <a:ext cx="5747460" cy="9035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AB7AFE-DF3E-4ECA-BAB5-4C9ABCDCAC0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5125"/>
          <a:stretch/>
        </p:blipFill>
        <p:spPr>
          <a:xfrm>
            <a:off x="1406720" y="5409532"/>
            <a:ext cx="5753045" cy="404935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1AA4C76-62D6-4CF6-B7A9-9DDE76068CE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1" r="81442" b="4815"/>
          <a:stretch/>
        </p:blipFill>
        <p:spPr>
          <a:xfrm>
            <a:off x="690299" y="5311374"/>
            <a:ext cx="729765" cy="5522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FC803CA-1445-407E-9FE3-3122229844E9}"/>
              </a:ext>
            </a:extLst>
          </p:cNvPr>
          <p:cNvSpPr txBox="1"/>
          <p:nvPr/>
        </p:nvSpPr>
        <p:spPr>
          <a:xfrm>
            <a:off x="8287999" y="5470124"/>
            <a:ext cx="441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as 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33F443D7-7648-4F56-A5B9-F74BF4C006B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63390" y="5424139"/>
            <a:ext cx="1915178" cy="42371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E88B2C7-AE9A-457E-BF0D-B20DDAC12D98}"/>
              </a:ext>
            </a:extLst>
          </p:cNvPr>
          <p:cNvSpPr txBox="1"/>
          <p:nvPr/>
        </p:nvSpPr>
        <p:spPr>
          <a:xfrm>
            <a:off x="9180230" y="5912625"/>
            <a:ext cx="2319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No phase transition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3EF3623-5E1C-4267-9F86-B5B8EE46B4E7}"/>
              </a:ext>
            </a:extLst>
          </p:cNvPr>
          <p:cNvGrpSpPr/>
          <p:nvPr/>
        </p:nvGrpSpPr>
        <p:grpSpPr>
          <a:xfrm>
            <a:off x="2229449" y="5912625"/>
            <a:ext cx="4854745" cy="844303"/>
            <a:chOff x="2229449" y="5912625"/>
            <a:chExt cx="4854745" cy="84430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AD51A54-532C-4630-8C49-CD6A8715BB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229449" y="5912625"/>
              <a:ext cx="4854745" cy="844303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FF9E776-220A-439A-A52F-FEB6B3DFBABA}"/>
                </a:ext>
              </a:extLst>
            </p:cNvPr>
            <p:cNvSpPr/>
            <p:nvPr/>
          </p:nvSpPr>
          <p:spPr>
            <a:xfrm>
              <a:off x="3882358" y="6039024"/>
              <a:ext cx="163628" cy="2429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8C65E359-A723-41A4-935E-6705F54CFD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768591" y="5922998"/>
              <a:ext cx="437650" cy="437650"/>
            </a:xfrm>
            <a:prstGeom prst="rect">
              <a:avLst/>
            </a:prstGeom>
          </p:spPr>
        </p:pic>
      </p:grpSp>
      <p:pic>
        <p:nvPicPr>
          <p:cNvPr id="23" name="Graphic 22">
            <a:extLst>
              <a:ext uri="{FF2B5EF4-FFF2-40B4-BE49-F238E27FC236}">
                <a16:creationId xmlns:a16="http://schemas.microsoft.com/office/drawing/2014/main" id="{57C92411-A84D-414D-901B-36905ABD476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76904" y="4748698"/>
            <a:ext cx="4247483" cy="58214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ED509F3-46D8-454E-A0A8-BC6BF462202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5495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>
            <a:extLst>
              <a:ext uri="{FF2B5EF4-FFF2-40B4-BE49-F238E27FC236}">
                <a16:creationId xmlns:a16="http://schemas.microsoft.com/office/drawing/2014/main" id="{1EABC408-C4D5-4A91-A460-781A00EF94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763"/>
          <a:stretch/>
        </p:blipFill>
        <p:spPr>
          <a:xfrm>
            <a:off x="6158673" y="4584369"/>
            <a:ext cx="6022646" cy="22101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A7AA51-7E85-47B5-9A8E-2D90FFE59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err="1"/>
              <a:t>ISIng</a:t>
            </a:r>
            <a:r>
              <a:rPr lang="en-MY" dirty="0"/>
              <a:t> Model in 1D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72A8B79-F0D9-44C5-A37E-0BA535589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692" y="1946695"/>
            <a:ext cx="3212963" cy="76762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B9902A4-F5DE-47B0-AFDC-7234407A6C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181" y="1823433"/>
            <a:ext cx="4410691" cy="221010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E88B2C7-AE9A-457E-BF0D-B20DDAC12D98}"/>
              </a:ext>
            </a:extLst>
          </p:cNvPr>
          <p:cNvSpPr txBox="1"/>
          <p:nvPr/>
        </p:nvSpPr>
        <p:spPr>
          <a:xfrm>
            <a:off x="4496814" y="2344992"/>
            <a:ext cx="24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(Zero magnetic field)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C2E808FE-12B3-403E-9AAF-1F4D1E356D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3451" y="5250704"/>
            <a:ext cx="846919" cy="52118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1C669D3-39BF-4FFB-9755-993853C4A4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6515" y="3754064"/>
            <a:ext cx="1238423" cy="85737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EC32ADD-28DB-4B54-8D7F-B3B93102E035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8371"/>
          <a:stretch/>
        </p:blipFill>
        <p:spPr>
          <a:xfrm>
            <a:off x="1577865" y="2968981"/>
            <a:ext cx="2465883" cy="721947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E7E747C-134A-4E24-9A69-EABBDACDF2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7249" y="2956764"/>
            <a:ext cx="846919" cy="52118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5992481-3BCD-4E75-9FAF-CB567D324C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91124" y="4034627"/>
            <a:ext cx="3362794" cy="100026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59247F5-19D1-43ED-991A-9E8D6082CF63}"/>
              </a:ext>
            </a:extLst>
          </p:cNvPr>
          <p:cNvSpPr txBox="1"/>
          <p:nvPr/>
        </p:nvSpPr>
        <p:spPr>
          <a:xfrm>
            <a:off x="282978" y="4328336"/>
            <a:ext cx="1770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Transfer matrix: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594B2EE4-20CF-476C-A1BC-8AD655CD74E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32308" y="4455790"/>
            <a:ext cx="299136" cy="404713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08CAE1FE-9845-40E9-8942-45429DB63CC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61680" y="4171653"/>
            <a:ext cx="299136" cy="404713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4528BA98-AEBB-4958-98CD-7535C018638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22953" y="4546575"/>
            <a:ext cx="299136" cy="404713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60F09FA5-B101-4003-8D78-B30BCD9E36D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10572" y="4150091"/>
            <a:ext cx="291115" cy="404713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7A7E1401-E5BF-4E49-8D8C-3B9BA2776DD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38019" y="4576366"/>
            <a:ext cx="299136" cy="404713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8C4C5229-4009-4C49-9D99-8945C56F443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45434" y="5113395"/>
            <a:ext cx="2805221" cy="83998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5933861-E751-4C3C-B28C-39E9181B5BA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5827" y="5954469"/>
            <a:ext cx="5747460" cy="903531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DAEDE978-D1FE-43D3-B6AF-EE4C1AD1246C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40239"/>
          <a:stretch/>
        </p:blipFill>
        <p:spPr>
          <a:xfrm>
            <a:off x="4118515" y="2836036"/>
            <a:ext cx="2134772" cy="897283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A8CC457F-5369-4D4E-B462-7C11D801C26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8350225" y="3849667"/>
            <a:ext cx="1804254" cy="77075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BD1DE9E-0EAF-4B8F-B101-22F2DDE2BFDE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r="64402" b="-7436"/>
          <a:stretch/>
        </p:blipFill>
        <p:spPr>
          <a:xfrm>
            <a:off x="5990742" y="3994765"/>
            <a:ext cx="1198611" cy="443745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81C9AA53-C8F6-4DD9-8D6B-274AC6F58A0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979297" y="6145387"/>
            <a:ext cx="2552574" cy="52169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307BE9F-94B8-420F-947D-8290940C15E8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1253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>
            <a:extLst>
              <a:ext uri="{FF2B5EF4-FFF2-40B4-BE49-F238E27FC236}">
                <a16:creationId xmlns:a16="http://schemas.microsoft.com/office/drawing/2014/main" id="{1EABC408-C4D5-4A91-A460-781A00EF94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763"/>
          <a:stretch/>
        </p:blipFill>
        <p:spPr>
          <a:xfrm>
            <a:off x="6158673" y="4584369"/>
            <a:ext cx="6022646" cy="22101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A7AA51-7E85-47B5-9A8E-2D90FFE59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err="1"/>
              <a:t>ISIng</a:t>
            </a:r>
            <a:r>
              <a:rPr lang="en-MY" dirty="0"/>
              <a:t> Model in 1D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72A8B79-F0D9-44C5-A37E-0BA535589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692" y="1946695"/>
            <a:ext cx="3212963" cy="76762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B9902A4-F5DE-47B0-AFDC-7234407A6C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181" y="1823433"/>
            <a:ext cx="4410691" cy="221010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E88B2C7-AE9A-457E-BF0D-B20DDAC12D98}"/>
              </a:ext>
            </a:extLst>
          </p:cNvPr>
          <p:cNvSpPr txBox="1"/>
          <p:nvPr/>
        </p:nvSpPr>
        <p:spPr>
          <a:xfrm>
            <a:off x="4496814" y="2344992"/>
            <a:ext cx="24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(Zero magnetic field)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1C669D3-39BF-4FFB-9755-993853C4A4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6515" y="3754064"/>
            <a:ext cx="1238423" cy="85737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A8CC457F-5369-4D4E-B462-7C11D801C2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95414" y="3883432"/>
            <a:ext cx="2075579" cy="735442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BD1DE9E-0EAF-4B8F-B101-22F2DDE2BFDE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64402" b="-7436"/>
          <a:stretch/>
        </p:blipFill>
        <p:spPr>
          <a:xfrm>
            <a:off x="5990742" y="3994765"/>
            <a:ext cx="1198611" cy="443745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81C9AA53-C8F6-4DD9-8D6B-274AC6F58A0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79297" y="6145387"/>
            <a:ext cx="2552574" cy="5216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5BDB15-302C-4BE5-A28C-AC904C486EE3}"/>
              </a:ext>
            </a:extLst>
          </p:cNvPr>
          <p:cNvSpPr txBox="1"/>
          <p:nvPr/>
        </p:nvSpPr>
        <p:spPr>
          <a:xfrm>
            <a:off x="1635352" y="5349859"/>
            <a:ext cx="3393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Cluster size / correlation length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B4AEAF-DA36-45CA-B5F2-B839A829BD32}"/>
              </a:ext>
            </a:extLst>
          </p:cNvPr>
          <p:cNvSpPr txBox="1"/>
          <p:nvPr/>
        </p:nvSpPr>
        <p:spPr>
          <a:xfrm>
            <a:off x="572630" y="6253064"/>
            <a:ext cx="6017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It only diverges at zero temperature. =&gt; no phase transition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12F6815-9E89-40B6-8B8D-8A212AAF63C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401571" y="4513820"/>
            <a:ext cx="1861503" cy="78287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A10017A-468B-4629-9F85-71558D6E356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96567" y="3672498"/>
            <a:ext cx="3762482" cy="6669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1BE3E81-1300-4A0C-9135-BD1E22F6C6E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2A1BEC6-15F6-4D3E-BABA-0D8B3EC4EF8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153436" y="5814384"/>
            <a:ext cx="1112838" cy="47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8158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Custom 1">
      <a:majorFont>
        <a:latin typeface="Cambria"/>
        <a:ea typeface=""/>
        <a:cs typeface=""/>
      </a:majorFont>
      <a:minorFont>
        <a:latin typeface="Constantia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50103</TotalTime>
  <Words>690</Words>
  <Application>Microsoft Office PowerPoint</Application>
  <PresentationFormat>Widescreen</PresentationFormat>
  <Paragraphs>162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Calibri</vt:lpstr>
      <vt:lpstr>Cambria</vt:lpstr>
      <vt:lpstr>Constantia</vt:lpstr>
      <vt:lpstr>Tw Cen MT</vt:lpstr>
      <vt:lpstr>Wingdings 3</vt:lpstr>
      <vt:lpstr>Integral</vt:lpstr>
      <vt:lpstr>Statistical physics phy301</vt:lpstr>
      <vt:lpstr>Interaction and phase transition</vt:lpstr>
      <vt:lpstr>Interaction and phase transition</vt:lpstr>
      <vt:lpstr>Interaction and phase transition</vt:lpstr>
      <vt:lpstr>Interaction and phase transition</vt:lpstr>
      <vt:lpstr>Interaction and phase transition</vt:lpstr>
      <vt:lpstr>Interaction and phase transition</vt:lpstr>
      <vt:lpstr>Interaction and phase transition</vt:lpstr>
      <vt:lpstr>Interaction and phase transition</vt:lpstr>
      <vt:lpstr>ISING Model</vt:lpstr>
      <vt:lpstr>ISING Model</vt:lpstr>
      <vt:lpstr>ISING Model</vt:lpstr>
      <vt:lpstr>ISING Model</vt:lpstr>
      <vt:lpstr>ISING Model</vt:lpstr>
      <vt:lpstr>ISING Model</vt:lpstr>
      <vt:lpstr>ISING Model Critical point fluctuation</vt:lpstr>
      <vt:lpstr>ISING Model</vt:lpstr>
      <vt:lpstr>ISING Model</vt:lpstr>
      <vt:lpstr>Landau theory of phase transition</vt:lpstr>
      <vt:lpstr>Landau theory of phase transition</vt:lpstr>
      <vt:lpstr>Landau theory of phase transition</vt:lpstr>
      <vt:lpstr>Superconductivity</vt:lpstr>
      <vt:lpstr>Ginzburg-Landau theory</vt:lpstr>
      <vt:lpstr>Abrikosov lattice</vt:lpstr>
      <vt:lpstr>ISIng Model in 1D</vt:lpstr>
      <vt:lpstr>ISIng Model in 1D</vt:lpstr>
      <vt:lpstr>ISIng Model in 1D</vt:lpstr>
      <vt:lpstr>ISIng Model in 1D</vt:lpstr>
      <vt:lpstr>ISIng Model in 1D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Mechanics phy101</dc:title>
  <dc:creator>Kok Wee Song</dc:creator>
  <cp:lastModifiedBy>Song Kok Wee</cp:lastModifiedBy>
  <cp:revision>1664</cp:revision>
  <dcterms:created xsi:type="dcterms:W3CDTF">2024-08-25T23:32:26Z</dcterms:created>
  <dcterms:modified xsi:type="dcterms:W3CDTF">2025-09-29T12:35:35Z</dcterms:modified>
</cp:coreProperties>
</file>