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454" r:id="rId20"/>
    <p:sldId id="455" r:id="rId21"/>
    <p:sldId id="319" r:id="rId3"/>
    <p:sldId id="456" r:id="rId22"/>
    <p:sldId id="457" r:id="rId23"/>
    <p:sldId id="458" r:id="rId24"/>
    <p:sldId id="435" r:id="rId4"/>
    <p:sldId id="459" r:id="rId25"/>
    <p:sldId id="460" r:id="rId26"/>
    <p:sldId id="461" r:id="rId27"/>
    <p:sldId id="438" r:id="rId5"/>
    <p:sldId id="462" r:id="rId28"/>
    <p:sldId id="463" r:id="rId29"/>
    <p:sldId id="464" r:id="rId30"/>
    <p:sldId id="436" r:id="rId6"/>
    <p:sldId id="465" r:id="rId31"/>
    <p:sldId id="466" r:id="rId32"/>
    <p:sldId id="467" r:id="rId33"/>
    <p:sldId id="439" r:id="rId7"/>
    <p:sldId id="468" r:id="rId34"/>
    <p:sldId id="469" r:id="rId35"/>
    <p:sldId id="470" r:id="rId36"/>
    <p:sldId id="440" r:id="rId8"/>
    <p:sldId id="471" r:id="rId37"/>
    <p:sldId id="472" r:id="rId38"/>
    <p:sldId id="473" r:id="rId39"/>
    <p:sldId id="427" r:id="rId9"/>
    <p:sldId id="474" r:id="rId40"/>
    <p:sldId id="475" r:id="rId41"/>
    <p:sldId id="476" r:id="rId42"/>
    <p:sldId id="441" r:id="rId10"/>
    <p:sldId id="477" r:id="rId43"/>
    <p:sldId id="478" r:id="rId44"/>
    <p:sldId id="479" r:id="rId45"/>
    <p:sldId id="442" r:id="rId11"/>
    <p:sldId id="480" r:id="rId46"/>
    <p:sldId id="481" r:id="rId47"/>
    <p:sldId id="482" r:id="rId48"/>
    <p:sldId id="453" r:id="rId12"/>
    <p:sldId id="483" r:id="rId49"/>
    <p:sldId id="484" r:id="rId50"/>
    <p:sldId id="485" r:id="rId51"/>
    <p:sldId id="444" r:id="rId13"/>
    <p:sldId id="486" r:id="rId52"/>
    <p:sldId id="487" r:id="rId53"/>
    <p:sldId id="488" r:id="rId54"/>
    <p:sldId id="443" r:id="rId14"/>
    <p:sldId id="489" r:id="rId55"/>
    <p:sldId id="490" r:id="rId56"/>
    <p:sldId id="49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svg"/><Relationship Id="rId5" Type="http://schemas.openxmlformats.org/officeDocument/2006/relationships/image" Target="../media/image5.emf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3.emf"/><Relationship Id="rId7" Type="http://schemas.openxmlformats.org/officeDocument/2006/relationships/image" Target="../media/image16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emf"/><Relationship Id="rId7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emf"/><Relationship Id="rId7" Type="http://schemas.openxmlformats.org/officeDocument/2006/relationships/image" Target="../media/image2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png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10" Type="http://schemas.openxmlformats.org/officeDocument/2006/relationships/image" Target="../media/image9.png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8.emf"/><Relationship Id="rId7" Type="http://schemas.openxmlformats.org/officeDocument/2006/relationships/image" Target="../media/image34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9.png"/><Relationship Id="rId5" Type="http://schemas.openxmlformats.org/officeDocument/2006/relationships/image" Target="../media/image33.emf"/><Relationship Id="rId10" Type="http://schemas.openxmlformats.org/officeDocument/2006/relationships/image" Target="../media/image36.emf"/><Relationship Id="rId4" Type="http://schemas.openxmlformats.org/officeDocument/2006/relationships/image" Target="../media/image32.emf"/><Relationship Id="rId9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emf"/><Relationship Id="rId7" Type="http://schemas.openxmlformats.org/officeDocument/2006/relationships/image" Target="../media/image41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image" Target="../media/image9.png"/><Relationship Id="rId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11" Type="http://schemas.openxmlformats.org/officeDocument/2006/relationships/image" Target="../media/image9.png"/><Relationship Id="rId5" Type="http://schemas.openxmlformats.org/officeDocument/2006/relationships/image" Target="../media/image45.png"/><Relationship Id="rId10" Type="http://schemas.openxmlformats.org/officeDocument/2006/relationships/image" Target="../media/image50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12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11" Type="http://schemas.openxmlformats.org/officeDocument/2006/relationships/image" Target="../media/image59.emf"/><Relationship Id="rId5" Type="http://schemas.openxmlformats.org/officeDocument/2006/relationships/image" Target="../media/image53.emf"/><Relationship Id="rId10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51.emf"/><Relationship Id="rId7" Type="http://schemas.openxmlformats.org/officeDocument/2006/relationships/image" Target="../media/image61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7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9.png"/><Relationship Id="rId3" Type="http://schemas.openxmlformats.org/officeDocument/2006/relationships/image" Target="../media/image53.emf"/><Relationship Id="rId7" Type="http://schemas.openxmlformats.org/officeDocument/2006/relationships/image" Target="../media/image66.emf"/><Relationship Id="rId12" Type="http://schemas.openxmlformats.org/officeDocument/2006/relationships/image" Target="../media/image59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11" Type="http://schemas.openxmlformats.org/officeDocument/2006/relationships/image" Target="../media/image70.emf"/><Relationship Id="rId5" Type="http://schemas.openxmlformats.org/officeDocument/2006/relationships/image" Target="../media/image64.png"/><Relationship Id="rId10" Type="http://schemas.openxmlformats.org/officeDocument/2006/relationships/image" Target="../media/image69.emf"/><Relationship Id="rId4" Type="http://schemas.openxmlformats.org/officeDocument/2006/relationships/image" Target="../media/image62.emf"/><Relationship Id="rId9" Type="http://schemas.openxmlformats.org/officeDocument/2006/relationships/image" Target="../media/image68.emf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17173"/>
            <a:ext cx="3373489" cy="21631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91" y="2491042"/>
            <a:ext cx="4664244" cy="3406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339" y="3237899"/>
            <a:ext cx="2857883" cy="6694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837" y="3298749"/>
            <a:ext cx="2340281" cy="374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408" y="4045606"/>
            <a:ext cx="1829993" cy="7552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2219" y="3907313"/>
            <a:ext cx="189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position: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298" y="5231520"/>
            <a:ext cx="2946597" cy="5180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2219" y="4812735"/>
            <a:ext cx="1971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free energy: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796" y="4792818"/>
            <a:ext cx="2542907" cy="4467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6150" y="1843371"/>
            <a:ext cx="160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150" y="5810950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26391C-B4BF-4775-9F94-586F603CC2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FDC830C-36C2-48CA-90CA-875FBD933F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10274" y="5118324"/>
            <a:ext cx="2601195" cy="6926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8AFFC8-D554-4F8B-9AAC-39F48606445A}"/>
              </a:ext>
            </a:extLst>
          </p:cNvPr>
          <p:cNvSpPr txBox="1"/>
          <p:nvPr/>
        </p:nvSpPr>
        <p:spPr>
          <a:xfrm>
            <a:off x="1106691" y="4684225"/>
            <a:ext cx="1770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 Energy: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24" y="2170919"/>
            <a:ext cx="8534104" cy="8737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984" y="3160716"/>
            <a:ext cx="6597612" cy="17687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590" y="5840473"/>
            <a:ext cx="6790212" cy="8602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CD3C6C-B0C4-4747-AAC3-BB092BCC02A8}"/>
              </a:ext>
            </a:extLst>
          </p:cNvPr>
          <p:cNvSpPr/>
          <p:nvPr/>
        </p:nvSpPr>
        <p:spPr>
          <a:xfrm>
            <a:off x="3508863" y="2946720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9C34C0-B93F-4BF6-AC7A-C073F136A135}"/>
              </a:ext>
            </a:extLst>
          </p:cNvPr>
          <p:cNvGrpSpPr/>
          <p:nvPr/>
        </p:nvGrpSpPr>
        <p:grpSpPr>
          <a:xfrm>
            <a:off x="3569061" y="4787479"/>
            <a:ext cx="2887120" cy="779313"/>
            <a:chOff x="3569061" y="4787479"/>
            <a:chExt cx="2887120" cy="77931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3590" y="5107435"/>
              <a:ext cx="2612591" cy="45935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D9BD09-F1D6-451A-B56D-7EACE864A140}"/>
                </a:ext>
              </a:extLst>
            </p:cNvPr>
            <p:cNvSpPr/>
            <p:nvPr/>
          </p:nvSpPr>
          <p:spPr>
            <a:xfrm>
              <a:off x="3569061" y="4787479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CA80A2-D55B-48FE-947A-E12147904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9596" y="3316052"/>
            <a:ext cx="1887896" cy="621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56D0C-B49E-4134-BC5B-AA8E3DC52E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570" y="3037049"/>
            <a:ext cx="655259" cy="317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1A5F85-6723-45A2-8385-99612A9A07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749501"/>
            <a:ext cx="3024138" cy="4086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278" y="4878019"/>
            <a:ext cx="5878922" cy="89730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EFFF52-2A63-470E-83C2-39A8B67BBD3B}"/>
              </a:ext>
            </a:extLst>
          </p:cNvPr>
          <p:cNvGrpSpPr/>
          <p:nvPr/>
        </p:nvGrpSpPr>
        <p:grpSpPr>
          <a:xfrm>
            <a:off x="3433522" y="3218796"/>
            <a:ext cx="3348852" cy="1065387"/>
            <a:chOff x="3433522" y="3218796"/>
            <a:chExt cx="3348852" cy="1065387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0830" y="3869640"/>
              <a:ext cx="2161544" cy="41454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433522" y="3218796"/>
              <a:ext cx="24070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On </a:t>
              </a:r>
              <a:r>
                <a:rPr lang="en-US" sz="2000" b="1"/>
                <a:t>the other hand</a:t>
              </a:r>
              <a:endParaRPr lang="en-US" sz="2000" b="1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998" y="1970653"/>
            <a:ext cx="2612591" cy="4593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830" y="2381598"/>
            <a:ext cx="6790212" cy="860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85DAF-6693-465C-91BF-91FAD3914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7471D-4722-4292-B22B-773D3E828F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242" y="5967749"/>
            <a:ext cx="1829993" cy="7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26" y="2330209"/>
            <a:ext cx="8018693" cy="10159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13" y="5566792"/>
            <a:ext cx="3485062" cy="47193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55" y="4473291"/>
            <a:ext cx="3353223" cy="10172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32A3E3B-B7EB-4965-A1C1-D5F28E0B27B4}"/>
              </a:ext>
            </a:extLst>
          </p:cNvPr>
          <p:cNvGrpSpPr/>
          <p:nvPr/>
        </p:nvGrpSpPr>
        <p:grpSpPr>
          <a:xfrm>
            <a:off x="3502312" y="3498901"/>
            <a:ext cx="5932194" cy="951527"/>
            <a:chOff x="3502312" y="3498901"/>
            <a:chExt cx="5932194" cy="951527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2312" y="3498901"/>
              <a:ext cx="3769510" cy="95152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381315" y="3743831"/>
              <a:ext cx="2053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(Total energy)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E55417-AFAD-4CD4-8F0A-E744DCFF3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3" y="6119707"/>
            <a:ext cx="5397179" cy="7382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F56630-CDCC-4989-A2FE-0EF030363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0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F720BC-E092-4066-8B47-5930A05EAF83}"/>
              </a:ext>
            </a:extLst>
          </p:cNvPr>
          <p:cNvGrpSpPr/>
          <p:nvPr/>
        </p:nvGrpSpPr>
        <p:grpSpPr>
          <a:xfrm>
            <a:off x="2848634" y="1858226"/>
            <a:ext cx="9178387" cy="3101154"/>
            <a:chOff x="2848634" y="1858226"/>
            <a:chExt cx="9178387" cy="31011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2F275F-EAF3-48FF-921A-5DB65E17258A}"/>
                </a:ext>
              </a:extLst>
            </p:cNvPr>
            <p:cNvGrpSpPr/>
            <p:nvPr/>
          </p:nvGrpSpPr>
          <p:grpSpPr>
            <a:xfrm>
              <a:off x="4343399" y="2916639"/>
              <a:ext cx="6263641" cy="1241479"/>
              <a:chOff x="4343399" y="2916639"/>
              <a:chExt cx="6263641" cy="1241479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399" y="2916639"/>
                <a:ext cx="4655545" cy="1241479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2389" y="3455708"/>
                <a:ext cx="994651" cy="390756"/>
              </a:xfrm>
              <a:prstGeom prst="rect">
                <a:avLst/>
              </a:prstGeom>
            </p:spPr>
          </p:pic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7871" y="4225584"/>
              <a:ext cx="4728910" cy="733796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3FDAF0-02D2-4B4B-807C-429F1E59F21F}"/>
                </a:ext>
              </a:extLst>
            </p:cNvPr>
            <p:cNvGrpSpPr/>
            <p:nvPr/>
          </p:nvGrpSpPr>
          <p:grpSpPr>
            <a:xfrm>
              <a:off x="2848634" y="1858226"/>
              <a:ext cx="9178387" cy="1124103"/>
              <a:chOff x="2848634" y="1858226"/>
              <a:chExt cx="9178387" cy="1124103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6430" y="2100228"/>
                <a:ext cx="5829537" cy="882101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03828" y="2285638"/>
                <a:ext cx="2323193" cy="50038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3AA6E7-9A80-4DE4-8CF0-5721D07E76B3}"/>
                  </a:ext>
                </a:extLst>
              </p:cNvPr>
              <p:cNvSpPr/>
              <p:nvPr/>
            </p:nvSpPr>
            <p:spPr>
              <a:xfrm>
                <a:off x="2848634" y="1858226"/>
                <a:ext cx="2163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1. Partition function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5852F2-5558-4274-991A-AB053C506CB5}"/>
              </a:ext>
            </a:extLst>
          </p:cNvPr>
          <p:cNvGrpSpPr/>
          <p:nvPr/>
        </p:nvGrpSpPr>
        <p:grpSpPr>
          <a:xfrm>
            <a:off x="2896913" y="4923126"/>
            <a:ext cx="7344634" cy="1059033"/>
            <a:chOff x="2896913" y="4923126"/>
            <a:chExt cx="7344634" cy="105903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00849" y="5177637"/>
              <a:ext cx="7240698" cy="8045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E5CB52-90FD-4A12-BCA0-5CE09C7BC930}"/>
                </a:ext>
              </a:extLst>
            </p:cNvPr>
            <p:cNvSpPr/>
            <p:nvPr/>
          </p:nvSpPr>
          <p:spPr>
            <a:xfrm>
              <a:off x="2896913" y="4923126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807A8AD-9256-4D2F-8BDB-6754A3F71D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63" y="2431785"/>
            <a:ext cx="1007481" cy="3957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526" y="2947001"/>
            <a:ext cx="6301674" cy="70018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148" y="4486617"/>
            <a:ext cx="3391471" cy="111806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526" y="2144672"/>
            <a:ext cx="4728910" cy="73379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58356DB-68F2-4D11-8426-30EB1904469C}"/>
              </a:ext>
            </a:extLst>
          </p:cNvPr>
          <p:cNvGrpSpPr/>
          <p:nvPr/>
        </p:nvGrpSpPr>
        <p:grpSpPr>
          <a:xfrm>
            <a:off x="4373946" y="3570331"/>
            <a:ext cx="7874737" cy="900320"/>
            <a:chOff x="4373946" y="3570331"/>
            <a:chExt cx="7874737" cy="900320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73946" y="3570331"/>
              <a:ext cx="4423311" cy="90032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8918541" y="3828560"/>
              <a:ext cx="3330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/>
                <a:t>Average magnetic moment</a:t>
              </a:r>
              <a:r>
                <a:rPr lang="en-US" sz="2000" dirty="0"/>
                <a:t>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268E7A-946D-4B29-9B75-56129E3EA7D6}"/>
              </a:ext>
            </a:extLst>
          </p:cNvPr>
          <p:cNvGrpSpPr/>
          <p:nvPr/>
        </p:nvGrpSpPr>
        <p:grpSpPr>
          <a:xfrm>
            <a:off x="1106832" y="5706831"/>
            <a:ext cx="5379644" cy="479396"/>
            <a:chOff x="1106832" y="5706831"/>
            <a:chExt cx="5379644" cy="47939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48910" y="5718985"/>
              <a:ext cx="3437566" cy="46724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106832" y="5706831"/>
              <a:ext cx="18255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energy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14264C-DC0C-496B-8052-99E54B227AEB}"/>
              </a:ext>
            </a:extLst>
          </p:cNvPr>
          <p:cNvGrpSpPr/>
          <p:nvPr/>
        </p:nvGrpSpPr>
        <p:grpSpPr>
          <a:xfrm>
            <a:off x="7531270" y="5661111"/>
            <a:ext cx="2679487" cy="996020"/>
            <a:chOff x="7531270" y="5661111"/>
            <a:chExt cx="2679487" cy="99602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31270" y="5661111"/>
              <a:ext cx="2679487" cy="551659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625619" y="6195466"/>
              <a:ext cx="2048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Heat Capacity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BD9C93E-6D31-438A-8051-464F152C1712}"/>
              </a:ext>
            </a:extLst>
          </p:cNvPr>
          <p:cNvSpPr txBox="1"/>
          <p:nvPr/>
        </p:nvSpPr>
        <p:spPr>
          <a:xfrm>
            <a:off x="8003702" y="4837647"/>
            <a:ext cx="266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(Magnetic susceptibility)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8AAF29-8940-4FC3-9661-E84F5DFED8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394" y="2177610"/>
            <a:ext cx="7515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Similarly, the </a:t>
            </a:r>
            <a:r>
              <a:rPr lang="en-US" sz="2400" b="1" dirty="0"/>
              <a:t>total number of particles</a:t>
            </a:r>
            <a:r>
              <a:rPr lang="en-US" sz="2400" dirty="0"/>
              <a:t> can </a:t>
            </a:r>
            <a:r>
              <a:rPr lang="en-US" sz="2400" b="1" dirty="0"/>
              <a:t>fluctuate</a:t>
            </a:r>
            <a:r>
              <a:rPr lang="en-US" sz="2400" dirty="0"/>
              <a:t> just like the </a:t>
            </a:r>
            <a:r>
              <a:rPr lang="en-US" sz="2400" b="1" dirty="0"/>
              <a:t>energy</a:t>
            </a:r>
            <a:r>
              <a:rPr lang="en-US" sz="2400" dirty="0"/>
              <a:t> in Canonical ensemble.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00" y="3193590"/>
            <a:ext cx="4444626" cy="5283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8594" y="3852010"/>
            <a:ext cx="6790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Chemical potential = the energy needs to add a particle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4857" y="4410689"/>
            <a:ext cx="265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Partition function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0157539" y="5284905"/>
            <a:ext cx="1974771" cy="717625"/>
            <a:chOff x="9822577" y="4954346"/>
            <a:chExt cx="1974771" cy="717625"/>
          </a:xfrm>
        </p:grpSpPr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>
              <a:off x="10561320" y="5276172"/>
              <a:ext cx="0" cy="3957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9822577" y="4954346"/>
              <a:ext cx="197477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609BA-8B42-4F5E-A34E-AF3C45A12BD2}"/>
              </a:ext>
            </a:extLst>
          </p:cNvPr>
          <p:cNvGrpSpPr/>
          <p:nvPr/>
        </p:nvGrpSpPr>
        <p:grpSpPr>
          <a:xfrm>
            <a:off x="7512844" y="5622679"/>
            <a:ext cx="3688556" cy="1217083"/>
            <a:chOff x="7512844" y="5622679"/>
            <a:chExt cx="3688556" cy="1217083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3754" y="5889906"/>
              <a:ext cx="2757646" cy="949856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512844" y="5622679"/>
              <a:ext cx="281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Prob</a:t>
              </a:r>
              <a:r>
                <a:rPr lang="en-US" dirty="0"/>
                <a:t> for finding N particle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23B3EC-1AF6-4776-B020-F2FCDE5D4FFD}"/>
              </a:ext>
            </a:extLst>
          </p:cNvPr>
          <p:cNvGrpSpPr/>
          <p:nvPr/>
        </p:nvGrpSpPr>
        <p:grpSpPr>
          <a:xfrm>
            <a:off x="7575222" y="2484443"/>
            <a:ext cx="2391741" cy="1401757"/>
            <a:chOff x="7575222" y="2484443"/>
            <a:chExt cx="2391741" cy="1401757"/>
          </a:xfrm>
        </p:grpSpPr>
        <p:cxnSp>
          <p:nvCxnSpPr>
            <p:cNvPr id="14" name="Straight Arrow Connector 13"/>
            <p:cNvCxnSpPr/>
            <p:nvPr/>
          </p:nvCxnSpPr>
          <p:spPr>
            <a:xfrm flipV="1">
              <a:off x="7920990" y="3607672"/>
              <a:ext cx="0" cy="2785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1CAF140-4E81-4F51-918F-FF8CF44E75D4}"/>
                </a:ext>
              </a:extLst>
            </p:cNvPr>
            <p:cNvSpPr/>
            <p:nvPr/>
          </p:nvSpPr>
          <p:spPr>
            <a:xfrm rot="16200000">
              <a:off x="8563709" y="1872578"/>
              <a:ext cx="414768" cy="23917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FD18B5-7473-47D1-8373-7031D2862886}"/>
                </a:ext>
              </a:extLst>
            </p:cNvPr>
            <p:cNvSpPr txBox="1"/>
            <p:nvPr/>
          </p:nvSpPr>
          <p:spPr>
            <a:xfrm>
              <a:off x="8212137" y="2484443"/>
              <a:ext cx="1411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Total energy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1F9C565-CC55-4B18-8D69-D0ABE3250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4F74DD-79FF-46F6-841C-A4F724D8E7AE}"/>
              </a:ext>
            </a:extLst>
          </p:cNvPr>
          <p:cNvGrpSpPr/>
          <p:nvPr/>
        </p:nvGrpSpPr>
        <p:grpSpPr>
          <a:xfrm>
            <a:off x="5101710" y="4658041"/>
            <a:ext cx="4571070" cy="1027180"/>
            <a:chOff x="5101710" y="4658041"/>
            <a:chExt cx="4571070" cy="102718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/>
            <a:srcRect l="28910"/>
            <a:stretch/>
          </p:blipFill>
          <p:spPr>
            <a:xfrm>
              <a:off x="6167717" y="4658041"/>
              <a:ext cx="3505063" cy="102718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0DAE4C-A5B0-4512-88D7-9AC7E433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01710" y="4878035"/>
              <a:ext cx="1168438" cy="584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023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937" y="1855360"/>
            <a:ext cx="3736340" cy="79159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F4D7B9-8721-4B8C-9E81-215E78CC1E8D}"/>
              </a:ext>
            </a:extLst>
          </p:cNvPr>
          <p:cNvGrpSpPr/>
          <p:nvPr/>
        </p:nvGrpSpPr>
        <p:grpSpPr>
          <a:xfrm>
            <a:off x="4268640" y="2777393"/>
            <a:ext cx="5538300" cy="1022835"/>
            <a:chOff x="4268640" y="2777393"/>
            <a:chExt cx="5538300" cy="102283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457" y="2941320"/>
              <a:ext cx="3524483" cy="858908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4268640" y="2777393"/>
              <a:ext cx="2673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Average particle number: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79375D-8F71-417E-8120-6D7843837E2E}"/>
              </a:ext>
            </a:extLst>
          </p:cNvPr>
          <p:cNvGrpSpPr/>
          <p:nvPr/>
        </p:nvGrpSpPr>
        <p:grpSpPr>
          <a:xfrm>
            <a:off x="4268640" y="3617348"/>
            <a:ext cx="7252800" cy="1153668"/>
            <a:chOff x="4268640" y="3617348"/>
            <a:chExt cx="7252800" cy="115366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851" b="7851"/>
            <a:stretch/>
          </p:blipFill>
          <p:spPr>
            <a:xfrm>
              <a:off x="4738900" y="3850729"/>
              <a:ext cx="6782540" cy="920287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4268640" y="3617348"/>
              <a:ext cx="31283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particle number fluctuation: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/>
          <a:srcRect l="70333" t="-18690" b="-1"/>
          <a:stretch/>
        </p:blipFill>
        <p:spPr>
          <a:xfrm>
            <a:off x="7598422" y="4527154"/>
            <a:ext cx="2871458" cy="10922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0070" y="5070400"/>
            <a:ext cx="682770" cy="26105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EEC5D1C-104E-4C9D-9912-8DC66055E6E1}"/>
              </a:ext>
            </a:extLst>
          </p:cNvPr>
          <p:cNvGrpSpPr/>
          <p:nvPr/>
        </p:nvGrpSpPr>
        <p:grpSpPr>
          <a:xfrm>
            <a:off x="5963998" y="6008636"/>
            <a:ext cx="4607232" cy="372865"/>
            <a:chOff x="5963998" y="6008636"/>
            <a:chExt cx="4607232" cy="372865"/>
          </a:xfrm>
        </p:grpSpPr>
        <p:sp>
          <p:nvSpPr>
            <p:cNvPr id="18" name="TextBox 17"/>
            <p:cNvSpPr txBox="1"/>
            <p:nvPr/>
          </p:nvSpPr>
          <p:spPr>
            <a:xfrm>
              <a:off x="5963998" y="6008636"/>
              <a:ext cx="15190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Relative error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83003" y="6038365"/>
              <a:ext cx="3088227" cy="343136"/>
            </a:xfrm>
            <a:prstGeom prst="rect">
              <a:avLst/>
            </a:prstGeom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883" y="2226865"/>
            <a:ext cx="3589020" cy="346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150" y="2653009"/>
            <a:ext cx="161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probable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4337" y="2673863"/>
            <a:ext cx="96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8833" y="3083238"/>
            <a:ext cx="393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one that help your calculation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369A6-E9B5-47EA-9FB9-9DAC2804016A}"/>
              </a:ext>
            </a:extLst>
          </p:cNvPr>
          <p:cNvSpPr/>
          <p:nvPr/>
        </p:nvSpPr>
        <p:spPr>
          <a:xfrm>
            <a:off x="2390622" y="2084832"/>
            <a:ext cx="2034540" cy="631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2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9A0177E-AF7D-4C2B-9537-5183EA2C11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8A09855-C95D-4709-AD49-19D5BE8E3251}"/>
              </a:ext>
            </a:extLst>
          </p:cNvPr>
          <p:cNvGrpSpPr/>
          <p:nvPr/>
        </p:nvGrpSpPr>
        <p:grpSpPr>
          <a:xfrm>
            <a:off x="4215305" y="4930662"/>
            <a:ext cx="3472848" cy="741172"/>
            <a:chOff x="4215305" y="4930662"/>
            <a:chExt cx="3472848" cy="741172"/>
          </a:xfrm>
        </p:grpSpPr>
        <p:sp>
          <p:nvSpPr>
            <p:cNvPr id="12" name="TextBox 11"/>
            <p:cNvSpPr txBox="1"/>
            <p:nvPr/>
          </p:nvSpPr>
          <p:spPr>
            <a:xfrm>
              <a:off x="4215305" y="4930662"/>
              <a:ext cx="1877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Gibb free energy: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6818" y="5399891"/>
              <a:ext cx="3191335" cy="27194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6906450" y="5074197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818" y="5971769"/>
            <a:ext cx="1849066" cy="3081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222D4B-3B0E-4BEF-A3B4-BBD0E78AE166}"/>
              </a:ext>
            </a:extLst>
          </p:cNvPr>
          <p:cNvGrpSpPr/>
          <p:nvPr/>
        </p:nvGrpSpPr>
        <p:grpSpPr>
          <a:xfrm>
            <a:off x="7979367" y="5299994"/>
            <a:ext cx="3246199" cy="649359"/>
            <a:chOff x="8474685" y="5072857"/>
            <a:chExt cx="3246199" cy="649359"/>
          </a:xfrm>
        </p:grpSpPr>
        <p:sp>
          <p:nvSpPr>
            <p:cNvPr id="20" name="TextBox 19"/>
            <p:cNvSpPr txBox="1"/>
            <p:nvPr/>
          </p:nvSpPr>
          <p:spPr>
            <a:xfrm>
              <a:off x="8524887" y="5072857"/>
              <a:ext cx="936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</a:t>
              </a:r>
              <a:r>
                <a:rPr lang="en-US" baseline="30000" dirty="0"/>
                <a:t>st</a:t>
              </a:r>
              <a:r>
                <a:rPr lang="en-US" dirty="0"/>
                <a:t> law)</a:t>
              </a: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4685" y="5445597"/>
              <a:ext cx="3246199" cy="276619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080" y="6062316"/>
            <a:ext cx="1066935" cy="64182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818" y="6415759"/>
            <a:ext cx="1641230" cy="32824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4637" y="516695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76DE3F-098C-4706-84EE-BF7F39E22DD6}"/>
              </a:ext>
            </a:extLst>
          </p:cNvPr>
          <p:cNvSpPr txBox="1"/>
          <p:nvPr/>
        </p:nvSpPr>
        <p:spPr>
          <a:xfrm>
            <a:off x="3199892" y="5935991"/>
            <a:ext cx="129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(Extensive)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B3418C-E766-4F95-AA6E-6679EE5548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0B833C-6275-4305-AA22-721CBBADCAC8}"/>
              </a:ext>
            </a:extLst>
          </p:cNvPr>
          <p:cNvGrpSpPr/>
          <p:nvPr/>
        </p:nvGrpSpPr>
        <p:grpSpPr>
          <a:xfrm>
            <a:off x="4753989" y="5075467"/>
            <a:ext cx="6518291" cy="1383742"/>
            <a:chOff x="4753989" y="5075467"/>
            <a:chExt cx="6518291" cy="138374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3989" y="5075467"/>
              <a:ext cx="677802" cy="43379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0370" y="5138928"/>
              <a:ext cx="2449889" cy="370332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3989" y="5689115"/>
              <a:ext cx="6518291" cy="77009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A8BFF-11A2-4BAC-A0DC-A26ED3214C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4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44750" y="4683275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89" y="5075467"/>
            <a:ext cx="677802" cy="433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370" y="5138928"/>
            <a:ext cx="2449889" cy="3703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989" y="5689115"/>
            <a:ext cx="6518291" cy="770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549" y="1846553"/>
            <a:ext cx="7010846" cy="295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25D04-1FE6-455B-8BF5-26F07C9BF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0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960F14-1630-419A-B5E4-75EC333CF4D1}"/>
              </a:ext>
            </a:extLst>
          </p:cNvPr>
          <p:cNvGrpSpPr/>
          <p:nvPr/>
        </p:nvGrpSpPr>
        <p:grpSpPr>
          <a:xfrm>
            <a:off x="5769864" y="1945660"/>
            <a:ext cx="6518291" cy="1670121"/>
            <a:chOff x="5769864" y="1945660"/>
            <a:chExt cx="6518291" cy="167012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6317" y="2252215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694" y="1945660"/>
              <a:ext cx="2002444" cy="34417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9864" y="2845687"/>
              <a:ext cx="6518291" cy="770094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372" y="3159541"/>
            <a:ext cx="5204221" cy="22120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479" y="3856990"/>
            <a:ext cx="725263" cy="689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804" y="3678594"/>
            <a:ext cx="2792262" cy="10516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3130" y="4800477"/>
            <a:ext cx="3154893" cy="108789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6609" y="5922101"/>
            <a:ext cx="4234651" cy="79209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9D80E92-DC98-48B5-AB83-A6BC96F908D2}"/>
              </a:ext>
            </a:extLst>
          </p:cNvPr>
          <p:cNvGrpSpPr/>
          <p:nvPr/>
        </p:nvGrpSpPr>
        <p:grpSpPr>
          <a:xfrm>
            <a:off x="9453152" y="4146253"/>
            <a:ext cx="1947204" cy="980281"/>
            <a:chOff x="9453152" y="4146253"/>
            <a:chExt cx="1947204" cy="98028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78410" y="4582587"/>
              <a:ext cx="1921946" cy="543947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9453152" y="4146253"/>
              <a:ext cx="8787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Again: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8E71D7-3B8A-4E2F-B8B0-2D4AC7A1123D}"/>
              </a:ext>
            </a:extLst>
          </p:cNvPr>
          <p:cNvSpPr/>
          <p:nvPr/>
        </p:nvSpPr>
        <p:spPr>
          <a:xfrm>
            <a:off x="189190" y="2716991"/>
            <a:ext cx="284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Grand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694A91-C0A4-41BF-AE7D-EA1E96591EEF}"/>
              </a:ext>
            </a:extLst>
          </p:cNvPr>
          <p:cNvGrpSpPr/>
          <p:nvPr/>
        </p:nvGrpSpPr>
        <p:grpSpPr>
          <a:xfrm>
            <a:off x="374762" y="5369024"/>
            <a:ext cx="3767981" cy="949123"/>
            <a:chOff x="374762" y="5369024"/>
            <a:chExt cx="3767981" cy="94912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4762" y="5681664"/>
              <a:ext cx="3767981" cy="63648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9C14F7-379E-4847-8CD0-29871B03766E}"/>
                </a:ext>
              </a:extLst>
            </p:cNvPr>
            <p:cNvSpPr/>
            <p:nvPr/>
          </p:nvSpPr>
          <p:spPr>
            <a:xfrm>
              <a:off x="374762" y="5369024"/>
              <a:ext cx="17624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Grand potential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334" y="647820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6EEA07-D725-4DAA-ACF7-EC5F6A0AFD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553C9F-27FD-42C1-83D9-8E573B9C93FC}"/>
              </a:ext>
            </a:extLst>
          </p:cNvPr>
          <p:cNvSpPr/>
          <p:nvPr/>
        </p:nvSpPr>
        <p:spPr>
          <a:xfrm>
            <a:off x="3083912" y="3856990"/>
            <a:ext cx="2109307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533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08DCEBA-39C5-4EA5-B06D-0F30D20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E02092E-65BE-46C8-8761-ABF8E50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CA653F5-4F0A-4CE8-BCA0-8761BD47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页｜Canonical and grand canonical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4831ABA-F7FF-4E5A-8E5F-BECBAD0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本讲继续正则系综，并系统引入广义正则系综与巨正则系综。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F3CEA3-6D11-47CA-A0C7-F2F7F60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240516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12851A8-B180-40AB-A34F-38882604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EFD9AE2-DB40-4E65-826F-7EBFDC0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3853888-60FC-4745-B70E-F80AF71E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B0B933A-3F82-469D-B05C-09D24D6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主线是两次 Legendre 变换：先从固定广义位移 x 改为固定广义力 J；再允许粒子与粒子库交换，把固定 N 改为固定化学势 μ。每改变一个控制条件，概率权重和热力学势都会相应改变。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66D1FD7-3645-436B-940C-ED89E4E1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363975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B46FED0-9237-49E3-80EE-4B2437C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9BD7D93-F97A-4B7F-91CD-CA26B92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517EB90-0C51-48F0-8584-5724CB06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页｜Generalized canonical ensemble at fixed generalized force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93FE889-DC88-4CC5-88C5-CA2F2B6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在固定温度 T、粒子数 N 和广义力 J 时，微观态与位移 x 的概率为 p(μS,x)=exp[−βH(μS)+βJ·x]/𝒵(T,N,J)。广义配分函数 𝒵(N,T,J)=Σ_{μS,x}e^(βJ·x−βH(μS))。平均位移 ⟨x⟩=kBT∂ln𝒵/∂J；相应热力学势 G(N,T,J)=−kBTln𝒵=E−TS−x·J。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823F95D-C110-492F-95C7-FF144C7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9418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1DB1939-A45E-4F7B-B6BA-A5BBC30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354A64C-6A94-4A43-ABF3-130FA443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0C44353-FDDA-4F92-8CBD-863E3F11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0A1C28D-A5D7-4333-BA2A-7FFDAA0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p(μS,x)=exp[−βH(μS)+βJ·x]/𝒵(T,N,J)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𝒵(N,T,J)=Σ_{μS,x} e^(βJ·x−βH(μS))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⟨x⟩=kBT ∂ln𝒵/∂J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平均位移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G(N,T,J)=−kBT ln𝒵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G=E−TS−x·J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Legendre 变换形式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806ED6D-4C17-451C-BAB9-69F39276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336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6F0034D-468D-4D5A-A3E7-32ABC30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A26B2ED-8405-4548-A98D-87A48DB1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AC529D0-5FE6-4545-AD1F-51ACC279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35C631D-BA37-4EB0-ACF3-0562A82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外界广义力做功会使权重中出现 +βJ·x。对 J 求导就把 x 从指数中带下来，因此配分函数生成平均位移。G 的自然变量是 T、N、J。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1B45B5F-C401-48E9-8F08-51E96D8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78920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CEB7BD8-5E15-4A6C-91F9-7E96BBDC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1167253-9690-4A1F-904E-3DC41AD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9926743-3D6A-435A-B11A-2BC68C2E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页｜Isothermal–isobaric ensemble for an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4DB6B12-5A92-4205-81D3-02A4332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以压强 P 为固定广义力、体积 V 为涨落位移。理想气体概率含 exp[−βΣp_i²/(2m)−βPV]，且位置必须在体积 V 的盒内。广义配分函数 𝒵=∫₀∞dV e^(−βPV)∫(1/N!)∏d³qi d³pi/h³ exp[−βΣp_i²/2m]=∫₀∞dV V^N e^(−βPV)/(N!λ^(3N))=1/[(βP)^(N+1)λ^(3N)]。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46105DF-B681-48BB-9F68-B17E3701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596860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547D5EF-6FE4-415F-A712-9F56FA0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75EDC1F-7E88-4E34-B96D-1A8CD6B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6F1A9FB-3EF8-444E-A3B9-A24F3E9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36332E8-DD47-46E2-AA2E-27BA6369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p({pi,qi},V)=1/𝒵 exp[−βΣp_i²/2m−βPV] × indicator(positions inside box)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恒温恒压概率；最后一因子表示硬壁约束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𝒵=∫₀∞dV e^(−βPV) ∫(1/N!)∏d³qi d³pi/h³ exp[−βΣp_i²/2m]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体积和相空间积分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𝒵=∫₀∞dV V^N e^(−βPV)/(N!λ^(3N))=1/[(βP)^(N+1)λ^(3N)]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理想气体积分结果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F643E9D-F99B-4272-AF18-B69CEDF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573659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365B77C-86F0-484F-9394-EEA652F7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A17CF0D-9321-4D39-8AB8-E19ABFCA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2D55B67-B9EF-4F06-AF4D-A540F283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3FBF10C-F174-4695-9708-C474530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这是恒温恒压系综：体积不再固定，而被积分掉；压力项抑制大体积，位置态数 V^N 则偏爱大体积，两者竞争产生平均状态方程。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CB27EDA-F7D0-4FA1-AEA0-E034543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425254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2C9F074-C47D-45C8-88F2-1031FD9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ADC7A28-0D50-439C-9C28-92762112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21848C-1D14-4C89-BA3E-2893689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页｜Gibbs free energy and the ideal-gas equation of state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FF874C8-B0E2-4587-B779-58D536AB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课件给出恒温恒压理想气体的 G，并回顾 G=E−TS−J·x、dG=−SdT+VdP+μdN。由 V=(∂G/∂P)T,N=NkBT/P，得到 PV=NkBT。广义公式 ⟨x⟩=kBT∂ln𝒵/∂J 在 J=−P、x=V 的符号约定下复现同一结果。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9AD9AC4-9420-4F74-8FC3-5CB0D0BA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26498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B7CCB5E-D890-43B0-85A6-A018C60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FAA0F7E-6386-44A0-BD43-96C8710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30260B6-0F11-4B94-A0A3-D3A5525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7291625-B516-4E9C-8A68-5D358B5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dG=−SdT+VdP+μdN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流体 Gibbs 自由能微分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V=(∂G/∂P)T,N=NkBT/P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 G 得体积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⟨x⟩=kBT∂ln𝒵/∂J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广义响应公式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298D8A2-F955-4570-925B-F90EEB5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073502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4F24392-4A3E-405E-946C-5FAE920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91D4F1D-1A01-4F2D-B7FD-7F58F14D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B778CC-302C-4888-9001-6A8EA3DC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579BCDA-0F1B-47CD-A84E-874BF34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 的自然变量是 T、P、N，因此对 P 求偏导直接得到 V。记号中功项采用 J·x，而流体常取 J=−P；只有先确认这个映射，才不会把体积导数符号写反。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2AC0699-77B9-413E-888C-7A9B855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440282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62CD29-0EA9-4351-990A-6BD02E60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065C77D-A972-4D70-875A-B8F5D3C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24AE86-4603-4346-B06D-D9600E74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页｜Enthalpy and heat capacity at constant pressure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1B9E86C-7259-48FC-80E6-3E130ECB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恒温恒压系综中，−∂ln𝒵/∂β=⟨H−x·J⟩≡H，这里右侧 H 表示总焓。对理想气体 H=−∂ln𝒵/∂β=5NkBT/2，因此 CP=dH/dT=5NkB/2。原页底部另列正则系综平均能量的 β 导数关系，但可见符号似乎缺少常见的负号。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3EE7F07-BE61-4AC0-83D8-D05267E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891083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D44545A-FD1A-43C5-8AB5-D143470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DAE1493-0BE6-4DCE-89B4-5D24FA7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90D30E1-A43D-4C89-A09C-5DA5044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4B56FEC-D6FD-4CA1-860A-655B610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−∂ln𝒵/∂β=⟨H−x·J⟩≡H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广义系综中课件定义的焓型平均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H=−∂ln𝒵/∂β=5NkBT/2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单原子理想气体焓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CP=dH/dT=5NkB/2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定压热容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A450254-E4C5-4790-93C4-0589C42F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23679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E5786E-C7FC-4708-9B53-C42494F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28FBB94-9E20-467B-A418-0628A8D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6045E2F-B62C-4214-878B-AE76D4A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4FD401-C852-438B-B874-87AD43ED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单原子理想气体内能 E=3NkBT/2，恒压加热还要做 PV=NkBT 的膨胀功，所以焓 H=E+PV=5NkBT/2，进而 CP=CV+NkB。注意同一页 H 同时可能表示 Hamiltonian 与 enthalpy，必须看语境。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077E4A4-1C8B-44BA-BA1D-D7FBE3C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16087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AFD0061-D05A-49D5-A142-B254CCD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234E26E-A4CA-4719-9092-279573BE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336BC32-5DA4-45ED-88BF-4391F23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页｜Paramagnet in an external magnetic field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42637BA-6FB0-4C0A-96C8-AA8D1BD6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 N 个独立自旋 σi=±1，磁矩 M=μ0Σiσi，外磁场 B 的广义配分函数为 𝒵=tr exp(−βH+βB·M⃗)。课件取内部 H=C，于是 p({σi})=𝒵⁻¹exp[βBμ0Σiσi]，𝒵=[2cosh(βμ0B)]^N，G=−NkBTln[2cosh(βμ0B)]。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91D2784-66C1-44B3-86E3-368F84A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281162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EDD0127-7A55-4653-A081-8C365F1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ACA784C-AAD9-4362-91D2-8F2DAAD4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3079330-4CBE-4D80-AC94-3B2F4E14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577A8D0-69FE-4D49-9C9B-9D1B098F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𝒵=tr exp(−βH+βB·M⃗)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磁场下的广义配分函数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M=μ0Σiσi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总磁矩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p({σi})=1/𝒵 exp[βBμ0Σiσi]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自旋配置概率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𝒵=[2cosh(βμ0B)]^N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独立自旋配分函数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G=−NkBT ln[2cosh(βμ0B)]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磁性 Gibbs 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2C78807-5B83-4A82-9BD3-2B643C48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286541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475BA30-843D-478D-AFC4-3DA03E4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E855907-2689-4B60-81B6-A7E563CC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DE6D249-0DF0-49AE-84A4-5CC7580C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AA228A-1CCF-476F-8F64-505AF5C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单个自旋平行场与反平行场的权重分别是 e^(βμ0B) 和 e^(−βμ0B)，相加得到 2cosh。独立 N 个自旋使单自旋配分函数取 N 次方。常数 C 只改变整体归一化基准。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7696055-E329-4772-99EB-BC577A4D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452038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B40F75D-8BFE-4DEF-AD11-AAAF69B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848821D-0B78-4307-B0C3-65DC4117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A03396B-6EDF-4BFD-AA1B-9072325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页｜Magnetization, susceptibility, and magnetic heat capacity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6FCC145-5D2A-4A2E-936A-F2A1B08B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由磁性 Gibbs 势求磁化：M=−∂G/∂B=Nμ0tanh(βμ0B)。零场磁化率 χ(T)=∂M/∂B|B=0=Nμ0²/(kBT)，呈 Curie 的 1/T 行为。课件还写 H=⟨H−BM⟩=−BM，以及 CB=−B∂M/∂T。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829227C-B905-4AFD-B5EC-A0A2149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169994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ED4D501-8328-4EFD-A65F-8F240BE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E92AAC0-4092-4B35-88C3-AFDEFB1C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2E93B2C-77B5-4485-A52B-4E480E9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C95C3CF-8218-4761-8BBB-42C7157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M=−∂G/∂B=Nμ0 tanh(βμ0B)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磁化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χ(T)=∂M/∂B|B=0=Nμ0²/(kBT)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零场磁化率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H=⟨H−BM⟩=−BM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按原页记号的磁焓关系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CB=−B ∂M/∂T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固定磁场热容关系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79A4C08-F319-443F-AF95-C4009D2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63263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9DB29AB-024E-4F11-93C7-97C64C2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BB9745-24F4-4ABB-9849-433782D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F7BD24-E359-4A4E-A900-2AE0FBA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614332-5522-4B29-895F-B6BB6AF0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弱场时 tanh x≈x，因此 M≈Nμ0²B/(kBT)，温度越高，热扰动越难让自旋沿场排列。CB 的表达说明固定磁场下，磁化随温度变化也会贡献能量响应。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6F0C2D-F268-438C-8F79-C291D11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947770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BDA82AE-09EB-448E-9635-5745A6A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5D6C3C6-5A16-4B60-8158-C86AC61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57E12C5-1FF7-4F3A-9377-B5537E6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页｜Grand 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AE481C7-2344-411F-80A9-7CCCFF2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巨正则系综允许系统与粒子库交换粒子。微观态 μS 的权重为 p(μS)=exp[βμN(μS)−βH(μS)]/𝒬。巨配分函数 𝒬=Σ_{N=0}^∞e^(βμN)Σ_{μS|N}e^(−βH_N)。粒子数分布为 p(N)=e^(βμN)Z(T,N,x)/𝒬(T,μ,x)。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5C4F470-51C7-40C1-9205-78FDC6C1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72079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6914ED-AABD-4256-888C-D1CBDA7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BAB6BB7-D09D-4397-A06C-48F81DF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7DBA1CB-FC18-4AD1-88C9-FD153F36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96A6BB9-082A-4347-91FF-42C367C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p(μS)=exp[βμN(μS)−βH(μS)]/𝒬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巨正则微观态概率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𝒬=Σ_{N=0}^∞ e^(βμN) Σ_(μS|N)e^(−βH_N)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p(N)=e^(βμN)Z(T,N,x)/𝒬(T,μ,x)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粒子数分布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4E51CF5-4FCA-44A5-B44C-ACF858C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032982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E345632-B597-4417-B8BA-E6EFC7C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CD779E-AA80-4407-84A5-F028408E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E83CB0-B58B-4496-B102-B7B4945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137D4F1-10CF-4AD7-B0E9-0EFC8233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在每个固定 N 扇区内先做普通正则求和 Z_N，再以逸度因子 e^(βμN) 对所有 N 求和。μ 越大，高粒子数扇区权重越大；系统实际平均粒子数由 μ 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2186717-5784-400E-BFC1-47BB70E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00123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DAFDC21-414B-466D-9FF1-3C1654FE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A75DCE8-1448-44DA-9A1C-B33FB69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3424B7-F4C1-4313-B15A-29F97D2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页｜Particle-number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59D00A7-818F-4411-A0DF-FB37D193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从 𝒬=ΣμS e^(βμN−βH) 可得平均粒子数 ⟨N⟩=(1/𝒬)∂𝒬/∂(βμ)=∂ln𝒬/∂(βμ)。二阶导数满足 ∂²ln𝒬/∂(βμ)²=∂⟨N⟩/∂(βμ)∝N，并给出相对涨落 √(⟨N²⟩c/⟨N⟩²)∼1/√N，因此最概然粒子数 N*≈⟨N⟩。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57DB775-E717-434A-AF20-BCF1765D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218032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8E894DB-54E5-4E63-A44A-3B82364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E924876-889A-4B2F-BF8F-ECCCC88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3C72F9A-AD88-410F-81BF-86D2C4F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0F03025-0074-4B4C-B955-65BDD78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𝒬=ΣμS e^(βμN−βH)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巨配分函数微观态形式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⟨N⟩=(1/𝒬)∂𝒬/∂(βμ)=∂ln𝒬/∂(βμ)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平均粒子数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∂²ln𝒬/∂(βμ)²=∂⟨N⟩/∂(βμ)∝N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二阶导数与涨落的尺度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√(⟨N²⟩c/⟨N⟩²)∼1/√N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相对粒子数涨落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N*≈⟨N⟩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宏观极限最概然值与平均值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D6A5399-E604-4194-941A-30D9D50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869754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2D8B0A4-0527-4BD8-AF11-6CB7962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E1C7551-5D04-4FA8-89EE-ECD0973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8346A8E-A314-4BA9-8971-B17AE0B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2B75945-37F5-47CF-8C1E-D7943C1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这与正则系综的能量涨落完全平行：一阶导数给均值，二阶导数给方差，宏观相对涨落按 1/√N 消失。小系统中粒子数涨落则可能不可忽略。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2C89AB3-CE8A-411E-96B1-DF3D359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24069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6B14AB8-DCAF-4656-ADE6-0969C9A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0FF7280-2FC4-4768-A9BC-6D2A3D5F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596FF0E-6221-409A-BA7C-838F372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页｜Grand potential and thermodynamic relations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08798E6-0E08-43B6-A9E6-B3A9CF9A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课件用最大项说明 𝒬(T,μ,x)=lim_{N→∞}Σ_{N=0}^∞e^(βμN)Z(T,N,x)≈e^(βμN*)Z(T,N*,x)=e^(βμN*−βF)=e^(−β𝒢)。于是巨势 𝒢=E−TS−μN=−kBTln𝒬。又由 Gibbs 自由能 G=E−TS+PV=μN，得到 kBTln𝒬=PV。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E265B3-A82B-40F2-9B06-C27E8028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432404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25AEB90-37DD-491D-91EB-69770979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4F850DD-FEFF-429D-87DE-87875A8A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1CE0FD8-BDCB-43F2-9179-C11A78AA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2A4545D-6569-4F54-BD81-6A4AD4A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𝒬(T,μ,x)=lim_{N→∞}Σ_{N=0}^∞ e^(βμN)Z(T,N,x)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巨配分函数作为 N 扇区求和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𝒬≈e^(βμN*)Z(T,N*,x)=e^(βμN*−βF)=e^(−β𝒢)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最大项近似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𝒢=E−TS−μN=−kBT ln𝒬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G=E−TS+PV=μN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均匀单组分系统的 Gibbs 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dG=μdN−SdT+VdP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 的微分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G=Nφ(P,T); φ=μ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广延性给每粒子 Gibbs 势等于 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kBT ln𝒬=PV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巨配分函数与压强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14337B2-5B9C-4637-8766-32DFE231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572636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843D4D-4425-43CC-9DC8-32A21FA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F87B819-3392-4D4F-ACCC-78F493D1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055DB8-6CE4-4DC5-B819-EC92AF5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2904E7B-FB79-48B6-BB51-54D78B2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巨势常记 Ω，但本课件为避免与态数 Ω 混淆使用 𝒢。对均匀流体，𝒢=−PV；这使巨配分函数的对数直接给压强。最大项 N* 表示宏观粒子数分布极尖。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259052C-FB56-409E-A8C8-9A411B60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61613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889F458-2992-470E-9DB2-BB1D9514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BD02AE4-99AC-4F47-BE5A-30A70CA1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D6AC8EF-5290-425D-9902-99D044D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页｜Differential of the grand potential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97C745D-6D5F-4E00-B2C4-73D39C62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巨势的微分为 d𝒢=−SdT−Ndμ+J·dx。因此 −S=(∂𝒢/∂T)μ,x，N=−(∂𝒢/∂μ)T,x，Ji=(∂𝒢/∂xi)T,μ。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535F626-6568-4F06-A7E5-A5BDACD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7450684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7B81A6F-2135-46E4-9935-184803C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8CD29C2-3F2F-4E3E-BA45-5CE9643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FF76B5E-F33A-4C47-9C15-667BE5F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4AA7A0D-27E8-4796-AF43-48C7944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d𝒢=−SdT−Ndμ+J·dx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巨势全微分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−S=(∂𝒢/∂T)μ,x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N=−(∂𝒢/∂μ)T,x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Ji=(∂𝒢/∂xi)T,μ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广义力分量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F72D210-504C-4D48-A9F3-8A5DC0C2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0847243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1B4B0C-606F-4320-BA5E-E658CEC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9890CA1-CFC7-4E76-A474-ADDA5D3F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5031A76-2114-4C58-B9F5-3C990AD0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122EBF-0B3B-4CBF-99B6-67E77FB7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这三条不是独立死记公式，而是从全微分逐项读系数。先写自然变量 𝒢(T,μ,x)，再看 dT、dμ、dx 前的系数，就能同时记住符号与固定变量。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709767C-07DD-4C1A-94AD-D7E1DEE1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654826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AD43D39-3B5C-4784-84F9-162D8BB9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2C46FE9-0D84-48D7-A5FB-A49797E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BEDDF9-911E-4B93-B091-762AFF54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页｜Examples of generalized forces and displacements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7FCA8D7-F227-4420-B661-313C77C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广义力—位移配对示例：细线的张力 F 与长度 L；薄膜的表面张力 S 与面积 A；流体的 −P 与体积 V；磁体的磁场 H 与磁化 M；介电体的电场 E 与极化 P；化学反应的化学势 μ 与粒子数 N。它们都可代入 d𝒢=−SdT−Ndμ+J·dx，并由偏导得到响应。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26CFF9D-705A-45D3-9214-73E11A84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207719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BF2E15-863E-4BBC-B750-BC02C73A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7248C74-8B7E-48CE-9841-6668EB2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D022AA3-E207-4279-8EF9-A068860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924EBDF-A351-4DBB-8032-BD59F1B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d𝒢=−SdT−Ndμ+J·dx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各例共用的广义微分结构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C0D1F82-E454-4E96-AEBC-71C3EB0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555520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A273E34-281B-4A14-B12C-980DA37E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C38DF4-5206-4183-B84F-12EF2A1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3B10351-B3A1-49E5-9993-AD8C229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40C83B-DB35-422D-9A2B-07A176B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同一个字母在不同物理中可能重名，例如 S 既可能是熵也可能被表中用作表面张力，P 既可能是压强也可能是极化。读表必须同时看“系统类型”和单位，不能只看字母。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217EDEE-8189-45FD-8897-1BBBE72B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883807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715C7A-599F-4626-8EEB-128FE32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45F5F1F-5E31-409E-B74A-40FAC431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44E5096-96A4-4FEF-9E49-14C4513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页｜Grand canonical ensemble of a classical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D04804D-A430-4C20-B321-95487B5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经典理想气体的巨配分函数为 𝒬=Σ_{N=0}^∞ e^(βμN)/N! ∫(∏d³qi d³pi/h³)exp[−βΣp_i²/2m]=Σ_N e^(βμN)/N!(V/λ³)^N=exp[e^(βμ)V/λ³]，λ=h/√(2πmkBT)。因此 𝒢=−kBTln𝒬=−kBT e^(βμ)V/λ³。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CA5AAD3-AC5E-4000-B4B0-2A475ED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37478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F86D3BB-9A51-49E6-AC7F-DD628C5F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96102F5-A60E-40A1-9869-0DDAECC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6D96A8D-0A45-4037-B57B-5988E901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66BB050-4D1B-4DFC-9F3E-A20AA01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𝒬=Σ_{N=0}^∞ e^(βμN)/N! ∫(∏d³qi d³pi/h³) exp[−βΣp_i²/2m]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理想气体巨配分函数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𝒬=Σ_N e^(βμN)/N!(V/λ³)^N=exp[e^(βμ)V/λ³]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完成相空间积分与 N 求和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𝒢=−kBT ln𝒬=−kBT e^(βμ)V/λ³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kBT ln𝒬=PV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压强关系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P=kBT e^(βμ)/λ³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N=e^(βμ)V/λ³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平均粒子数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P=kBTN/V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μ=kBT ln(λ³N/V)=kBT ln(Pλ³/kBT)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经典理想气体化学势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DDF5248-BE7C-4298-AB27-CEF39AD5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5613212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3EAE409-EC49-4E90-8E52-354C13AC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09514A2-E761-49C9-8B90-06CA8D59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4548E1B-068B-41F1-9845-986497F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BB1897D-5DF5-4FB8-BFC4-FC6D8FA6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利用指数函数级数 Σx^N/N!=e^x，N 求和可立即完成。再由 kBTln𝒬=PV、N=−∂𝒢/∂μ，得到 P=kBT e^(βμ)/λ³、N=e^(βμ)V/λ³、P=kBTN/V，以及 μ=kBTln(λ³N/V)=kBTln(Pλ³/kBT)。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ADC820-E529-4466-A32D-71D6BB2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70506178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50132</TotalTime>
  <Words>219</Words>
  <Application>Microsoft Office PowerPoint</Application>
  <PresentationFormat>Widescreen</PresentationFormat>
  <Paragraphs>60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1692</cp:revision>
  <dcterms:created xsi:type="dcterms:W3CDTF">2024-08-25T23:32:26Z</dcterms:created>
  <dcterms:modified xsi:type="dcterms:W3CDTF">2025-11-27T02:35:35Z</dcterms:modified>
</cp:coreProperties>
</file>