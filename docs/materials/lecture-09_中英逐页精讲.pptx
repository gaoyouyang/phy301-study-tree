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1"/>
  </p:sldMasterIdLst>
  <p:notesMasterIdLst>
    <p:notesMasterId r:id="rId37"/>
  </p:notesMasterIdLst>
  <p:sldIdLst>
    <p:sldId id="469" r:id="rId2"/>
    <p:sldId id="590" r:id="rId42"/>
    <p:sldId id="591" r:id="rId43"/>
    <p:sldId id="508" r:id="rId3"/>
    <p:sldId id="592" r:id="rId44"/>
    <p:sldId id="593" r:id="rId45"/>
    <p:sldId id="594" r:id="rId46"/>
    <p:sldId id="527" r:id="rId4"/>
    <p:sldId id="595" r:id="rId47"/>
    <p:sldId id="596" r:id="rId48"/>
    <p:sldId id="597" r:id="rId49"/>
    <p:sldId id="529" r:id="rId5"/>
    <p:sldId id="598" r:id="rId50"/>
    <p:sldId id="599" r:id="rId51"/>
    <p:sldId id="600" r:id="rId52"/>
    <p:sldId id="539" r:id="rId6"/>
    <p:sldId id="601" r:id="rId53"/>
    <p:sldId id="602" r:id="rId54"/>
    <p:sldId id="603" r:id="rId55"/>
    <p:sldId id="566" r:id="rId7"/>
    <p:sldId id="604" r:id="rId56"/>
    <p:sldId id="605" r:id="rId57"/>
    <p:sldId id="606" r:id="rId58"/>
    <p:sldId id="526" r:id="rId8"/>
    <p:sldId id="607" r:id="rId59"/>
    <p:sldId id="608" r:id="rId60"/>
    <p:sldId id="609" r:id="rId61"/>
    <p:sldId id="533" r:id="rId9"/>
    <p:sldId id="610" r:id="rId62"/>
    <p:sldId id="611" r:id="rId63"/>
    <p:sldId id="612" r:id="rId64"/>
    <p:sldId id="535" r:id="rId10"/>
    <p:sldId id="613" r:id="rId65"/>
    <p:sldId id="614" r:id="rId66"/>
    <p:sldId id="615" r:id="rId67"/>
    <p:sldId id="567" r:id="rId11"/>
    <p:sldId id="616" r:id="rId68"/>
    <p:sldId id="617" r:id="rId69"/>
    <p:sldId id="618" r:id="rId70"/>
    <p:sldId id="568" r:id="rId12"/>
    <p:sldId id="619" r:id="rId71"/>
    <p:sldId id="620" r:id="rId72"/>
    <p:sldId id="621" r:id="rId73"/>
    <p:sldId id="569" r:id="rId13"/>
    <p:sldId id="622" r:id="rId74"/>
    <p:sldId id="623" r:id="rId75"/>
    <p:sldId id="624" r:id="rId76"/>
    <p:sldId id="572" r:id="rId14"/>
    <p:sldId id="625" r:id="rId77"/>
    <p:sldId id="626" r:id="rId78"/>
    <p:sldId id="627" r:id="rId79"/>
    <p:sldId id="520" r:id="rId15"/>
    <p:sldId id="628" r:id="rId80"/>
    <p:sldId id="629" r:id="rId81"/>
    <p:sldId id="630" r:id="rId82"/>
    <p:sldId id="521" r:id="rId16"/>
    <p:sldId id="631" r:id="rId83"/>
    <p:sldId id="632" r:id="rId84"/>
    <p:sldId id="633" r:id="rId85"/>
    <p:sldId id="540" r:id="rId17"/>
    <p:sldId id="634" r:id="rId86"/>
    <p:sldId id="635" r:id="rId87"/>
    <p:sldId id="636" r:id="rId88"/>
    <p:sldId id="542" r:id="rId18"/>
    <p:sldId id="637" r:id="rId89"/>
    <p:sldId id="638" r:id="rId90"/>
    <p:sldId id="639" r:id="rId91"/>
    <p:sldId id="541" r:id="rId19"/>
    <p:sldId id="640" r:id="rId92"/>
    <p:sldId id="641" r:id="rId93"/>
    <p:sldId id="497" r:id="rId20"/>
    <p:sldId id="642" r:id="rId94"/>
    <p:sldId id="643" r:id="rId95"/>
    <p:sldId id="523" r:id="rId21"/>
    <p:sldId id="644" r:id="rId96"/>
    <p:sldId id="645" r:id="rId97"/>
    <p:sldId id="646" r:id="rId98"/>
    <p:sldId id="543" r:id="rId22"/>
    <p:sldId id="647" r:id="rId99"/>
    <p:sldId id="648" r:id="rId100"/>
    <p:sldId id="649" r:id="rId101"/>
    <p:sldId id="544" r:id="rId23"/>
    <p:sldId id="650" r:id="rId102"/>
    <p:sldId id="651" r:id="rId103"/>
    <p:sldId id="652" r:id="rId104"/>
    <p:sldId id="545" r:id="rId24"/>
    <p:sldId id="653" r:id="rId105"/>
    <p:sldId id="654" r:id="rId106"/>
    <p:sldId id="655" r:id="rId107"/>
    <p:sldId id="546" r:id="rId25"/>
    <p:sldId id="656" r:id="rId108"/>
    <p:sldId id="657" r:id="rId109"/>
    <p:sldId id="658" r:id="rId110"/>
    <p:sldId id="547" r:id="rId26"/>
    <p:sldId id="659" r:id="rId111"/>
    <p:sldId id="660" r:id="rId112"/>
    <p:sldId id="661" r:id="rId113"/>
    <p:sldId id="588" r:id="rId27"/>
    <p:sldId id="662" r:id="rId114"/>
    <p:sldId id="663" r:id="rId115"/>
    <p:sldId id="664" r:id="rId116"/>
    <p:sldId id="563" r:id="rId28"/>
    <p:sldId id="665" r:id="rId117"/>
    <p:sldId id="666" r:id="rId118"/>
    <p:sldId id="667" r:id="rId119"/>
    <p:sldId id="559" r:id="rId29"/>
    <p:sldId id="668" r:id="rId120"/>
    <p:sldId id="669" r:id="rId121"/>
    <p:sldId id="670" r:id="rId122"/>
    <p:sldId id="564" r:id="rId30"/>
    <p:sldId id="671" r:id="rId123"/>
    <p:sldId id="672" r:id="rId124"/>
    <p:sldId id="673" r:id="rId125"/>
    <p:sldId id="565" r:id="rId31"/>
    <p:sldId id="674" r:id="rId126"/>
    <p:sldId id="675" r:id="rId127"/>
    <p:sldId id="676" r:id="rId128"/>
    <p:sldId id="589" r:id="rId32"/>
    <p:sldId id="677" r:id="rId129"/>
    <p:sldId id="678" r:id="rId130"/>
    <p:sldId id="679" r:id="rId131"/>
    <p:sldId id="524" r:id="rId33"/>
    <p:sldId id="680" r:id="rId132"/>
    <p:sldId id="681" r:id="rId133"/>
    <p:sldId id="682" r:id="rId134"/>
    <p:sldId id="560" r:id="rId34"/>
    <p:sldId id="683" r:id="rId135"/>
    <p:sldId id="684" r:id="rId136"/>
    <p:sldId id="685" r:id="rId137"/>
    <p:sldId id="561" r:id="rId35"/>
    <p:sldId id="686" r:id="rId138"/>
    <p:sldId id="687" r:id="rId139"/>
    <p:sldId id="688" r:id="rId140"/>
    <p:sldId id="562" r:id="rId36"/>
    <p:sldId id="689" r:id="rId141"/>
    <p:sldId id="690" r:id="rId142"/>
    <p:sldId id="691" r:id="rId14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ADE4"/>
    <a:srgbClr val="0432FF"/>
    <a:srgbClr val="1AA0D3"/>
    <a:srgbClr val="FFFFFF"/>
    <a:srgbClr val="DFE3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4712"/>
  </p:normalViewPr>
  <p:slideViewPr>
    <p:cSldViewPr snapToGrid="0" snapToObjects="1">
      <p:cViewPr varScale="1">
        <p:scale>
          <a:sx n="65" d="100"/>
          <a:sy n="65" d="100"/>
        </p:scale>
        <p:origin x="6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0C4CF7-F995-064A-A609-EA130F94374C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F87CB1-692F-4249-B4E0-C0426D9B9C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230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6371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726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7768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9084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3881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9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540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6950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4918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4558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9586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smtClean="0"/>
              <a:pPr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0306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svg"/><Relationship Id="rId18" Type="http://schemas.openxmlformats.org/officeDocument/2006/relationships/image" Target="../media/image18.png"/><Relationship Id="rId26" Type="http://schemas.openxmlformats.org/officeDocument/2006/relationships/image" Target="../media/image26.sv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17" Type="http://schemas.openxmlformats.org/officeDocument/2006/relationships/image" Target="../media/image17.svg"/><Relationship Id="rId25" Type="http://schemas.openxmlformats.org/officeDocument/2006/relationships/image" Target="../media/image25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29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24" Type="http://schemas.openxmlformats.org/officeDocument/2006/relationships/image" Target="../media/image24.png"/><Relationship Id="rId5" Type="http://schemas.openxmlformats.org/officeDocument/2006/relationships/image" Target="../media/image5.png"/><Relationship Id="rId15" Type="http://schemas.openxmlformats.org/officeDocument/2006/relationships/image" Target="../media/image15.svg"/><Relationship Id="rId23" Type="http://schemas.openxmlformats.org/officeDocument/2006/relationships/image" Target="../media/image23.svg"/><Relationship Id="rId28" Type="http://schemas.openxmlformats.org/officeDocument/2006/relationships/image" Target="../media/image28.svg"/><Relationship Id="rId10" Type="http://schemas.openxmlformats.org/officeDocument/2006/relationships/image" Target="../media/image10.png"/><Relationship Id="rId19" Type="http://schemas.openxmlformats.org/officeDocument/2006/relationships/image" Target="../media/image19.svg"/><Relationship Id="rId4" Type="http://schemas.openxmlformats.org/officeDocument/2006/relationships/image" Target="../media/image4.svg"/><Relationship Id="rId9" Type="http://schemas.openxmlformats.org/officeDocument/2006/relationships/image" Target="../media/image9.svg"/><Relationship Id="rId14" Type="http://schemas.openxmlformats.org/officeDocument/2006/relationships/image" Target="../media/image14.png"/><Relationship Id="rId22" Type="http://schemas.openxmlformats.org/officeDocument/2006/relationships/image" Target="../media/image22.png"/><Relationship Id="rId27" Type="http://schemas.openxmlformats.org/officeDocument/2006/relationships/image" Target="../media/image2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34.png"/><Relationship Id="rId18" Type="http://schemas.openxmlformats.org/officeDocument/2006/relationships/image" Target="../media/image38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6.png"/><Relationship Id="rId12" Type="http://schemas.openxmlformats.org/officeDocument/2006/relationships/image" Target="../media/image33.png"/><Relationship Id="rId17" Type="http://schemas.openxmlformats.org/officeDocument/2006/relationships/image" Target="../media/image37.svg"/><Relationship Id="rId2" Type="http://schemas.openxmlformats.org/officeDocument/2006/relationships/image" Target="../media/image2.png"/><Relationship Id="rId16" Type="http://schemas.openxmlformats.org/officeDocument/2006/relationships/image" Target="../media/image36.png"/><Relationship Id="rId20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32.png"/><Relationship Id="rId5" Type="http://schemas.openxmlformats.org/officeDocument/2006/relationships/image" Target="../media/image24.png"/><Relationship Id="rId15" Type="http://schemas.openxmlformats.org/officeDocument/2006/relationships/image" Target="../media/image35.png"/><Relationship Id="rId10" Type="http://schemas.openxmlformats.org/officeDocument/2006/relationships/image" Target="../media/image31.png"/><Relationship Id="rId19" Type="http://schemas.openxmlformats.org/officeDocument/2006/relationships/image" Target="../media/image39.png"/><Relationship Id="rId4" Type="http://schemas.openxmlformats.org/officeDocument/2006/relationships/image" Target="../media/image4.svg"/><Relationship Id="rId9" Type="http://schemas.openxmlformats.org/officeDocument/2006/relationships/image" Target="../media/image30.png"/><Relationship Id="rId14" Type="http://schemas.openxmlformats.org/officeDocument/2006/relationships/image" Target="../media/image20.png"/><Relationship Id="rId22" Type="http://schemas.openxmlformats.org/officeDocument/2006/relationships/image" Target="../media/image2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46.png"/><Relationship Id="rId18" Type="http://schemas.openxmlformats.org/officeDocument/2006/relationships/image" Target="../media/image29.png"/><Relationship Id="rId3" Type="http://schemas.openxmlformats.org/officeDocument/2006/relationships/image" Target="../media/image30.png"/><Relationship Id="rId7" Type="http://schemas.openxmlformats.org/officeDocument/2006/relationships/image" Target="../media/image44.svg"/><Relationship Id="rId12" Type="http://schemas.openxmlformats.org/officeDocument/2006/relationships/image" Target="../media/image45.png"/><Relationship Id="rId17" Type="http://schemas.openxmlformats.org/officeDocument/2006/relationships/image" Target="../media/image50.svg"/><Relationship Id="rId2" Type="http://schemas.openxmlformats.org/officeDocument/2006/relationships/image" Target="../media/image31.png"/><Relationship Id="rId16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40.png"/><Relationship Id="rId5" Type="http://schemas.openxmlformats.org/officeDocument/2006/relationships/image" Target="../media/image42.svg"/><Relationship Id="rId15" Type="http://schemas.openxmlformats.org/officeDocument/2006/relationships/image" Target="../media/image48.svg"/><Relationship Id="rId10" Type="http://schemas.openxmlformats.org/officeDocument/2006/relationships/image" Target="../media/image39.png"/><Relationship Id="rId4" Type="http://schemas.openxmlformats.org/officeDocument/2006/relationships/image" Target="../media/image41.png"/><Relationship Id="rId9" Type="http://schemas.openxmlformats.org/officeDocument/2006/relationships/image" Target="../media/image34.png"/><Relationship Id="rId14" Type="http://schemas.openxmlformats.org/officeDocument/2006/relationships/image" Target="../media/image4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46.png"/><Relationship Id="rId3" Type="http://schemas.openxmlformats.org/officeDocument/2006/relationships/image" Target="../media/image43.png"/><Relationship Id="rId7" Type="http://schemas.openxmlformats.org/officeDocument/2006/relationships/image" Target="../media/image52.png"/><Relationship Id="rId12" Type="http://schemas.openxmlformats.org/officeDocument/2006/relationships/image" Target="../media/image39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11" Type="http://schemas.openxmlformats.org/officeDocument/2006/relationships/image" Target="../media/image48.svg"/><Relationship Id="rId5" Type="http://schemas.openxmlformats.org/officeDocument/2006/relationships/image" Target="../media/image45.png"/><Relationship Id="rId15" Type="http://schemas.openxmlformats.org/officeDocument/2006/relationships/image" Target="../media/image29.png"/><Relationship Id="rId10" Type="http://schemas.openxmlformats.org/officeDocument/2006/relationships/image" Target="../media/image47.png"/><Relationship Id="rId4" Type="http://schemas.openxmlformats.org/officeDocument/2006/relationships/image" Target="../media/image44.svg"/><Relationship Id="rId9" Type="http://schemas.openxmlformats.org/officeDocument/2006/relationships/image" Target="../media/image54.png"/><Relationship Id="rId14" Type="http://schemas.openxmlformats.org/officeDocument/2006/relationships/image" Target="../media/image3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65.png"/><Relationship Id="rId18" Type="http://schemas.openxmlformats.org/officeDocument/2006/relationships/image" Target="../media/image70.png"/><Relationship Id="rId3" Type="http://schemas.openxmlformats.org/officeDocument/2006/relationships/image" Target="../media/image56.svg"/><Relationship Id="rId7" Type="http://schemas.openxmlformats.org/officeDocument/2006/relationships/image" Target="../media/image60.png"/><Relationship Id="rId12" Type="http://schemas.openxmlformats.org/officeDocument/2006/relationships/image" Target="../media/image30.png"/><Relationship Id="rId17" Type="http://schemas.openxmlformats.org/officeDocument/2006/relationships/image" Target="../media/image69.svg"/><Relationship Id="rId2" Type="http://schemas.openxmlformats.org/officeDocument/2006/relationships/image" Target="../media/image55.png"/><Relationship Id="rId16" Type="http://schemas.openxmlformats.org/officeDocument/2006/relationships/image" Target="../media/image68.png"/><Relationship Id="rId20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emf"/><Relationship Id="rId11" Type="http://schemas.openxmlformats.org/officeDocument/2006/relationships/image" Target="../media/image64.svg"/><Relationship Id="rId5" Type="http://schemas.openxmlformats.org/officeDocument/2006/relationships/image" Target="../media/image58.svg"/><Relationship Id="rId15" Type="http://schemas.openxmlformats.org/officeDocument/2006/relationships/image" Target="../media/image67.png"/><Relationship Id="rId10" Type="http://schemas.openxmlformats.org/officeDocument/2006/relationships/image" Target="../media/image63.png"/><Relationship Id="rId19" Type="http://schemas.openxmlformats.org/officeDocument/2006/relationships/image" Target="../media/image71.svg"/><Relationship Id="rId4" Type="http://schemas.openxmlformats.org/officeDocument/2006/relationships/image" Target="../media/image57.png"/><Relationship Id="rId9" Type="http://schemas.openxmlformats.org/officeDocument/2006/relationships/image" Target="../media/image62.svg"/><Relationship Id="rId14" Type="http://schemas.openxmlformats.org/officeDocument/2006/relationships/image" Target="../media/image66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svg"/><Relationship Id="rId13" Type="http://schemas.openxmlformats.org/officeDocument/2006/relationships/image" Target="../media/image66.svg"/><Relationship Id="rId18" Type="http://schemas.openxmlformats.org/officeDocument/2006/relationships/image" Target="../media/image70.png"/><Relationship Id="rId3" Type="http://schemas.openxmlformats.org/officeDocument/2006/relationships/image" Target="../media/image55.png"/><Relationship Id="rId21" Type="http://schemas.openxmlformats.org/officeDocument/2006/relationships/image" Target="../media/image75.svg"/><Relationship Id="rId7" Type="http://schemas.openxmlformats.org/officeDocument/2006/relationships/image" Target="../media/image63.png"/><Relationship Id="rId12" Type="http://schemas.openxmlformats.org/officeDocument/2006/relationships/image" Target="../media/image65.png"/><Relationship Id="rId17" Type="http://schemas.openxmlformats.org/officeDocument/2006/relationships/image" Target="../media/image73.png"/><Relationship Id="rId2" Type="http://schemas.openxmlformats.org/officeDocument/2006/relationships/image" Target="../media/image72.png"/><Relationship Id="rId16" Type="http://schemas.openxmlformats.org/officeDocument/2006/relationships/image" Target="../media/image69.svg"/><Relationship Id="rId20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svg"/><Relationship Id="rId11" Type="http://schemas.openxmlformats.org/officeDocument/2006/relationships/image" Target="../media/image58.svg"/><Relationship Id="rId24" Type="http://schemas.openxmlformats.org/officeDocument/2006/relationships/image" Target="../media/image29.png"/><Relationship Id="rId5" Type="http://schemas.openxmlformats.org/officeDocument/2006/relationships/image" Target="../media/image61.png"/><Relationship Id="rId15" Type="http://schemas.openxmlformats.org/officeDocument/2006/relationships/image" Target="../media/image68.png"/><Relationship Id="rId23" Type="http://schemas.openxmlformats.org/officeDocument/2006/relationships/image" Target="../media/image60.png"/><Relationship Id="rId10" Type="http://schemas.openxmlformats.org/officeDocument/2006/relationships/image" Target="../media/image57.png"/><Relationship Id="rId19" Type="http://schemas.openxmlformats.org/officeDocument/2006/relationships/image" Target="../media/image71.svg"/><Relationship Id="rId4" Type="http://schemas.openxmlformats.org/officeDocument/2006/relationships/image" Target="../media/image56.svg"/><Relationship Id="rId9" Type="http://schemas.openxmlformats.org/officeDocument/2006/relationships/image" Target="../media/image30.png"/><Relationship Id="rId14" Type="http://schemas.openxmlformats.org/officeDocument/2006/relationships/image" Target="../media/image67.png"/><Relationship Id="rId22" Type="http://schemas.openxmlformats.org/officeDocument/2006/relationships/image" Target="../media/image7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77.png"/><Relationship Id="rId7" Type="http://schemas.openxmlformats.org/officeDocument/2006/relationships/image" Target="../media/image30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10" Type="http://schemas.openxmlformats.org/officeDocument/2006/relationships/image" Target="../media/image29.png"/><Relationship Id="rId4" Type="http://schemas.openxmlformats.org/officeDocument/2006/relationships/image" Target="../media/image78.png"/><Relationship Id="rId9" Type="http://schemas.openxmlformats.org/officeDocument/2006/relationships/image" Target="../media/image8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87.svg"/><Relationship Id="rId3" Type="http://schemas.openxmlformats.org/officeDocument/2006/relationships/image" Target="../media/image34.png"/><Relationship Id="rId7" Type="http://schemas.openxmlformats.org/officeDocument/2006/relationships/image" Target="../media/image77.png"/><Relationship Id="rId12" Type="http://schemas.openxmlformats.org/officeDocument/2006/relationships/image" Target="../media/image86.png"/><Relationship Id="rId2" Type="http://schemas.openxmlformats.org/officeDocument/2006/relationships/image" Target="../media/image30.png"/><Relationship Id="rId16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11" Type="http://schemas.openxmlformats.org/officeDocument/2006/relationships/image" Target="../media/image85.png"/><Relationship Id="rId5" Type="http://schemas.openxmlformats.org/officeDocument/2006/relationships/image" Target="../media/image51.png"/><Relationship Id="rId15" Type="http://schemas.openxmlformats.org/officeDocument/2006/relationships/image" Target="../media/image89.png"/><Relationship Id="rId10" Type="http://schemas.openxmlformats.org/officeDocument/2006/relationships/image" Target="../media/image79.png"/><Relationship Id="rId4" Type="http://schemas.openxmlformats.org/officeDocument/2006/relationships/image" Target="../media/image82.png"/><Relationship Id="rId9" Type="http://schemas.openxmlformats.org/officeDocument/2006/relationships/image" Target="../media/image84.png"/><Relationship Id="rId14" Type="http://schemas.openxmlformats.org/officeDocument/2006/relationships/image" Target="../media/image8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93.svg"/><Relationship Id="rId4" Type="http://schemas.openxmlformats.org/officeDocument/2006/relationships/image" Target="../media/image9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66.svg"/><Relationship Id="rId18" Type="http://schemas.openxmlformats.org/officeDocument/2006/relationships/image" Target="../media/image74.png"/><Relationship Id="rId3" Type="http://schemas.openxmlformats.org/officeDocument/2006/relationships/image" Target="../media/image56.svg"/><Relationship Id="rId21" Type="http://schemas.openxmlformats.org/officeDocument/2006/relationships/image" Target="../media/image70.png"/><Relationship Id="rId7" Type="http://schemas.openxmlformats.org/officeDocument/2006/relationships/image" Target="../media/image64.svg"/><Relationship Id="rId12" Type="http://schemas.openxmlformats.org/officeDocument/2006/relationships/image" Target="../media/image65.png"/><Relationship Id="rId17" Type="http://schemas.openxmlformats.org/officeDocument/2006/relationships/image" Target="../media/image76.png"/><Relationship Id="rId2" Type="http://schemas.openxmlformats.org/officeDocument/2006/relationships/image" Target="../media/image55.png"/><Relationship Id="rId16" Type="http://schemas.openxmlformats.org/officeDocument/2006/relationships/image" Target="../media/image69.svg"/><Relationship Id="rId20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11" Type="http://schemas.openxmlformats.org/officeDocument/2006/relationships/image" Target="../media/image58.svg"/><Relationship Id="rId5" Type="http://schemas.openxmlformats.org/officeDocument/2006/relationships/image" Target="../media/image62.svg"/><Relationship Id="rId15" Type="http://schemas.openxmlformats.org/officeDocument/2006/relationships/image" Target="../media/image68.png"/><Relationship Id="rId23" Type="http://schemas.openxmlformats.org/officeDocument/2006/relationships/image" Target="../media/image29.png"/><Relationship Id="rId10" Type="http://schemas.openxmlformats.org/officeDocument/2006/relationships/image" Target="../media/image57.png"/><Relationship Id="rId19" Type="http://schemas.openxmlformats.org/officeDocument/2006/relationships/image" Target="../media/image75.svg"/><Relationship Id="rId4" Type="http://schemas.openxmlformats.org/officeDocument/2006/relationships/image" Target="../media/image61.png"/><Relationship Id="rId9" Type="http://schemas.openxmlformats.org/officeDocument/2006/relationships/image" Target="../media/image60.png"/><Relationship Id="rId14" Type="http://schemas.openxmlformats.org/officeDocument/2006/relationships/image" Target="../media/image67.png"/><Relationship Id="rId22" Type="http://schemas.openxmlformats.org/officeDocument/2006/relationships/image" Target="../media/image71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95.png"/><Relationship Id="rId7" Type="http://schemas.openxmlformats.org/officeDocument/2006/relationships/image" Target="../media/image99.png"/><Relationship Id="rId12" Type="http://schemas.openxmlformats.org/officeDocument/2006/relationships/image" Target="../media/image29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8.png"/><Relationship Id="rId11" Type="http://schemas.openxmlformats.org/officeDocument/2006/relationships/image" Target="../media/image103.png"/><Relationship Id="rId5" Type="http://schemas.openxmlformats.org/officeDocument/2006/relationships/image" Target="../media/image97.png"/><Relationship Id="rId10" Type="http://schemas.openxmlformats.org/officeDocument/2006/relationships/image" Target="../media/image102.png"/><Relationship Id="rId4" Type="http://schemas.openxmlformats.org/officeDocument/2006/relationships/image" Target="../media/image96.png"/><Relationship Id="rId9" Type="http://schemas.openxmlformats.org/officeDocument/2006/relationships/image" Target="../media/image10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gif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svg"/><Relationship Id="rId13" Type="http://schemas.openxmlformats.org/officeDocument/2006/relationships/image" Target="../media/image10.png"/><Relationship Id="rId18" Type="http://schemas.openxmlformats.org/officeDocument/2006/relationships/image" Target="../media/image118.svg"/><Relationship Id="rId26" Type="http://schemas.openxmlformats.org/officeDocument/2006/relationships/image" Target="../media/image126.svg"/><Relationship Id="rId3" Type="http://schemas.openxmlformats.org/officeDocument/2006/relationships/image" Target="../media/image107.png"/><Relationship Id="rId21" Type="http://schemas.openxmlformats.org/officeDocument/2006/relationships/image" Target="../media/image121.png"/><Relationship Id="rId7" Type="http://schemas.openxmlformats.org/officeDocument/2006/relationships/image" Target="../media/image111.png"/><Relationship Id="rId12" Type="http://schemas.openxmlformats.org/officeDocument/2006/relationships/image" Target="../media/image116.svg"/><Relationship Id="rId17" Type="http://schemas.openxmlformats.org/officeDocument/2006/relationships/image" Target="../media/image117.png"/><Relationship Id="rId25" Type="http://schemas.openxmlformats.org/officeDocument/2006/relationships/image" Target="../media/image125.png"/><Relationship Id="rId2" Type="http://schemas.openxmlformats.org/officeDocument/2006/relationships/image" Target="../media/image106.png"/><Relationship Id="rId16" Type="http://schemas.openxmlformats.org/officeDocument/2006/relationships/image" Target="../media/image13.svg"/><Relationship Id="rId20" Type="http://schemas.openxmlformats.org/officeDocument/2006/relationships/image" Target="../media/image120.svg"/><Relationship Id="rId29" Type="http://schemas.openxmlformats.org/officeDocument/2006/relationships/image" Target="../media/image1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svg"/><Relationship Id="rId11" Type="http://schemas.openxmlformats.org/officeDocument/2006/relationships/image" Target="../media/image115.png"/><Relationship Id="rId24" Type="http://schemas.openxmlformats.org/officeDocument/2006/relationships/image" Target="../media/image124.svg"/><Relationship Id="rId32" Type="http://schemas.openxmlformats.org/officeDocument/2006/relationships/image" Target="../media/image29.png"/><Relationship Id="rId5" Type="http://schemas.openxmlformats.org/officeDocument/2006/relationships/image" Target="../media/image109.png"/><Relationship Id="rId15" Type="http://schemas.openxmlformats.org/officeDocument/2006/relationships/image" Target="../media/image12.png"/><Relationship Id="rId23" Type="http://schemas.openxmlformats.org/officeDocument/2006/relationships/image" Target="../media/image123.png"/><Relationship Id="rId28" Type="http://schemas.openxmlformats.org/officeDocument/2006/relationships/image" Target="../media/image128.svg"/><Relationship Id="rId10" Type="http://schemas.openxmlformats.org/officeDocument/2006/relationships/image" Target="../media/image114.svg"/><Relationship Id="rId19" Type="http://schemas.openxmlformats.org/officeDocument/2006/relationships/image" Target="../media/image119.png"/><Relationship Id="rId31" Type="http://schemas.openxmlformats.org/officeDocument/2006/relationships/image" Target="../media/image131.svg"/><Relationship Id="rId4" Type="http://schemas.openxmlformats.org/officeDocument/2006/relationships/image" Target="../media/image108.svg"/><Relationship Id="rId9" Type="http://schemas.openxmlformats.org/officeDocument/2006/relationships/image" Target="../media/image113.png"/><Relationship Id="rId14" Type="http://schemas.openxmlformats.org/officeDocument/2006/relationships/image" Target="../media/image11.svg"/><Relationship Id="rId22" Type="http://schemas.openxmlformats.org/officeDocument/2006/relationships/image" Target="../media/image122.svg"/><Relationship Id="rId27" Type="http://schemas.openxmlformats.org/officeDocument/2006/relationships/image" Target="../media/image127.png"/><Relationship Id="rId30" Type="http://schemas.openxmlformats.org/officeDocument/2006/relationships/image" Target="../media/image13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svg"/><Relationship Id="rId13" Type="http://schemas.openxmlformats.org/officeDocument/2006/relationships/image" Target="../media/image137.png"/><Relationship Id="rId18" Type="http://schemas.openxmlformats.org/officeDocument/2006/relationships/image" Target="../media/image142.png"/><Relationship Id="rId3" Type="http://schemas.openxmlformats.org/officeDocument/2006/relationships/image" Target="../media/image10.png"/><Relationship Id="rId21" Type="http://schemas.openxmlformats.org/officeDocument/2006/relationships/image" Target="../media/image145.svg"/><Relationship Id="rId7" Type="http://schemas.openxmlformats.org/officeDocument/2006/relationships/image" Target="../media/image107.png"/><Relationship Id="rId12" Type="http://schemas.openxmlformats.org/officeDocument/2006/relationships/image" Target="../media/image136.svg"/><Relationship Id="rId17" Type="http://schemas.openxmlformats.org/officeDocument/2006/relationships/image" Target="../media/image141.svg"/><Relationship Id="rId2" Type="http://schemas.openxmlformats.org/officeDocument/2006/relationships/image" Target="../media/image132.png"/><Relationship Id="rId16" Type="http://schemas.openxmlformats.org/officeDocument/2006/relationships/image" Target="../media/image140.png"/><Relationship Id="rId20" Type="http://schemas.openxmlformats.org/officeDocument/2006/relationships/image" Target="../media/image1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11" Type="http://schemas.openxmlformats.org/officeDocument/2006/relationships/image" Target="../media/image135.png"/><Relationship Id="rId5" Type="http://schemas.openxmlformats.org/officeDocument/2006/relationships/image" Target="../media/image12.png"/><Relationship Id="rId15" Type="http://schemas.openxmlformats.org/officeDocument/2006/relationships/image" Target="../media/image139.png"/><Relationship Id="rId10" Type="http://schemas.openxmlformats.org/officeDocument/2006/relationships/image" Target="../media/image134.svg"/><Relationship Id="rId19" Type="http://schemas.openxmlformats.org/officeDocument/2006/relationships/image" Target="../media/image143.svg"/><Relationship Id="rId4" Type="http://schemas.openxmlformats.org/officeDocument/2006/relationships/image" Target="../media/image11.svg"/><Relationship Id="rId9" Type="http://schemas.openxmlformats.org/officeDocument/2006/relationships/image" Target="../media/image133.png"/><Relationship Id="rId14" Type="http://schemas.openxmlformats.org/officeDocument/2006/relationships/image" Target="../media/image138.svg"/><Relationship Id="rId22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png"/><Relationship Id="rId13" Type="http://schemas.openxmlformats.org/officeDocument/2006/relationships/image" Target="../media/image148.png"/><Relationship Id="rId18" Type="http://schemas.openxmlformats.org/officeDocument/2006/relationships/image" Target="../media/image153.svg"/><Relationship Id="rId26" Type="http://schemas.openxmlformats.org/officeDocument/2006/relationships/image" Target="../media/image161.png"/><Relationship Id="rId3" Type="http://schemas.openxmlformats.org/officeDocument/2006/relationships/image" Target="../media/image11.svg"/><Relationship Id="rId21" Type="http://schemas.openxmlformats.org/officeDocument/2006/relationships/image" Target="../media/image156.png"/><Relationship Id="rId7" Type="http://schemas.openxmlformats.org/officeDocument/2006/relationships/image" Target="../media/image108.svg"/><Relationship Id="rId12" Type="http://schemas.openxmlformats.org/officeDocument/2006/relationships/image" Target="../media/image147.svg"/><Relationship Id="rId17" Type="http://schemas.openxmlformats.org/officeDocument/2006/relationships/image" Target="../media/image152.png"/><Relationship Id="rId25" Type="http://schemas.openxmlformats.org/officeDocument/2006/relationships/image" Target="../media/image160.png"/><Relationship Id="rId2" Type="http://schemas.openxmlformats.org/officeDocument/2006/relationships/image" Target="../media/image10.png"/><Relationship Id="rId16" Type="http://schemas.openxmlformats.org/officeDocument/2006/relationships/image" Target="../media/image151.svg"/><Relationship Id="rId20" Type="http://schemas.openxmlformats.org/officeDocument/2006/relationships/image" Target="../media/image155.svg"/><Relationship Id="rId29" Type="http://schemas.openxmlformats.org/officeDocument/2006/relationships/image" Target="../media/image164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7.png"/><Relationship Id="rId11" Type="http://schemas.openxmlformats.org/officeDocument/2006/relationships/image" Target="../media/image146.png"/><Relationship Id="rId24" Type="http://schemas.openxmlformats.org/officeDocument/2006/relationships/image" Target="../media/image159.svg"/><Relationship Id="rId32" Type="http://schemas.openxmlformats.org/officeDocument/2006/relationships/image" Target="../media/image29.png"/><Relationship Id="rId5" Type="http://schemas.openxmlformats.org/officeDocument/2006/relationships/image" Target="../media/image13.svg"/><Relationship Id="rId15" Type="http://schemas.openxmlformats.org/officeDocument/2006/relationships/image" Target="../media/image150.png"/><Relationship Id="rId23" Type="http://schemas.openxmlformats.org/officeDocument/2006/relationships/image" Target="../media/image158.png"/><Relationship Id="rId28" Type="http://schemas.openxmlformats.org/officeDocument/2006/relationships/image" Target="../media/image163.png"/><Relationship Id="rId10" Type="http://schemas.openxmlformats.org/officeDocument/2006/relationships/image" Target="../media/image139.png"/><Relationship Id="rId19" Type="http://schemas.openxmlformats.org/officeDocument/2006/relationships/image" Target="../media/image154.png"/><Relationship Id="rId31" Type="http://schemas.openxmlformats.org/officeDocument/2006/relationships/image" Target="../media/image141.svg"/><Relationship Id="rId4" Type="http://schemas.openxmlformats.org/officeDocument/2006/relationships/image" Target="../media/image12.png"/><Relationship Id="rId9" Type="http://schemas.openxmlformats.org/officeDocument/2006/relationships/image" Target="../media/image138.svg"/><Relationship Id="rId14" Type="http://schemas.openxmlformats.org/officeDocument/2006/relationships/image" Target="../media/image149.svg"/><Relationship Id="rId22" Type="http://schemas.openxmlformats.org/officeDocument/2006/relationships/image" Target="../media/image157.svg"/><Relationship Id="rId27" Type="http://schemas.openxmlformats.org/officeDocument/2006/relationships/image" Target="../media/image162.svg"/><Relationship Id="rId30" Type="http://schemas.openxmlformats.org/officeDocument/2006/relationships/image" Target="../media/image14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sv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7" Type="http://schemas.openxmlformats.org/officeDocument/2006/relationships/image" Target="../media/image29.png"/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1.svg"/><Relationship Id="rId5" Type="http://schemas.openxmlformats.org/officeDocument/2006/relationships/image" Target="../media/image140.png"/><Relationship Id="rId4" Type="http://schemas.openxmlformats.org/officeDocument/2006/relationships/image" Target="../media/image108.sv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8.png"/><Relationship Id="rId13" Type="http://schemas.openxmlformats.org/officeDocument/2006/relationships/image" Target="../media/image173.png"/><Relationship Id="rId18" Type="http://schemas.openxmlformats.org/officeDocument/2006/relationships/image" Target="../media/image11.svg"/><Relationship Id="rId26" Type="http://schemas.openxmlformats.org/officeDocument/2006/relationships/image" Target="../media/image19.svg"/><Relationship Id="rId3" Type="http://schemas.openxmlformats.org/officeDocument/2006/relationships/image" Target="../media/image3.png"/><Relationship Id="rId21" Type="http://schemas.openxmlformats.org/officeDocument/2006/relationships/image" Target="../media/image14.png"/><Relationship Id="rId7" Type="http://schemas.openxmlformats.org/officeDocument/2006/relationships/image" Target="../media/image167.png"/><Relationship Id="rId12" Type="http://schemas.openxmlformats.org/officeDocument/2006/relationships/image" Target="../media/image172.png"/><Relationship Id="rId17" Type="http://schemas.openxmlformats.org/officeDocument/2006/relationships/image" Target="../media/image10.png"/><Relationship Id="rId25" Type="http://schemas.openxmlformats.org/officeDocument/2006/relationships/image" Target="../media/image18.png"/><Relationship Id="rId2" Type="http://schemas.openxmlformats.org/officeDocument/2006/relationships/image" Target="../media/image166.png"/><Relationship Id="rId16" Type="http://schemas.openxmlformats.org/officeDocument/2006/relationships/image" Target="../media/image9.svg"/><Relationship Id="rId20" Type="http://schemas.openxmlformats.org/officeDocument/2006/relationships/image" Target="../media/image13.svg"/><Relationship Id="rId29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1" Type="http://schemas.openxmlformats.org/officeDocument/2006/relationships/image" Target="../media/image171.svg"/><Relationship Id="rId24" Type="http://schemas.openxmlformats.org/officeDocument/2006/relationships/image" Target="../media/image17.svg"/><Relationship Id="rId5" Type="http://schemas.openxmlformats.org/officeDocument/2006/relationships/image" Target="../media/image6.png"/><Relationship Id="rId15" Type="http://schemas.openxmlformats.org/officeDocument/2006/relationships/image" Target="../media/image8.png"/><Relationship Id="rId23" Type="http://schemas.openxmlformats.org/officeDocument/2006/relationships/image" Target="../media/image16.png"/><Relationship Id="rId28" Type="http://schemas.openxmlformats.org/officeDocument/2006/relationships/image" Target="../media/image26.svg"/><Relationship Id="rId10" Type="http://schemas.openxmlformats.org/officeDocument/2006/relationships/image" Target="../media/image170.png"/><Relationship Id="rId19" Type="http://schemas.openxmlformats.org/officeDocument/2006/relationships/image" Target="../media/image12.png"/><Relationship Id="rId4" Type="http://schemas.openxmlformats.org/officeDocument/2006/relationships/image" Target="../media/image4.svg"/><Relationship Id="rId9" Type="http://schemas.openxmlformats.org/officeDocument/2006/relationships/image" Target="../media/image169.png"/><Relationship Id="rId14" Type="http://schemas.openxmlformats.org/officeDocument/2006/relationships/image" Target="../media/image174.png"/><Relationship Id="rId22" Type="http://schemas.openxmlformats.org/officeDocument/2006/relationships/image" Target="../media/image15.svg"/><Relationship Id="rId27" Type="http://schemas.openxmlformats.org/officeDocument/2006/relationships/image" Target="../media/image25.png"/><Relationship Id="rId30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8.png"/><Relationship Id="rId13" Type="http://schemas.openxmlformats.org/officeDocument/2006/relationships/image" Target="../media/image174.png"/><Relationship Id="rId18" Type="http://schemas.openxmlformats.org/officeDocument/2006/relationships/image" Target="../media/image29.png"/><Relationship Id="rId3" Type="http://schemas.openxmlformats.org/officeDocument/2006/relationships/image" Target="../media/image3.png"/><Relationship Id="rId7" Type="http://schemas.openxmlformats.org/officeDocument/2006/relationships/image" Target="../media/image167.png"/><Relationship Id="rId12" Type="http://schemas.openxmlformats.org/officeDocument/2006/relationships/image" Target="../media/image173.png"/><Relationship Id="rId17" Type="http://schemas.openxmlformats.org/officeDocument/2006/relationships/image" Target="../media/image178.png"/><Relationship Id="rId2" Type="http://schemas.openxmlformats.org/officeDocument/2006/relationships/image" Target="../media/image166.png"/><Relationship Id="rId16" Type="http://schemas.openxmlformats.org/officeDocument/2006/relationships/image" Target="../media/image1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1" Type="http://schemas.openxmlformats.org/officeDocument/2006/relationships/image" Target="../media/image171.svg"/><Relationship Id="rId5" Type="http://schemas.openxmlformats.org/officeDocument/2006/relationships/image" Target="../media/image6.png"/><Relationship Id="rId15" Type="http://schemas.openxmlformats.org/officeDocument/2006/relationships/image" Target="../media/image176.png"/><Relationship Id="rId10" Type="http://schemas.openxmlformats.org/officeDocument/2006/relationships/image" Target="../media/image170.png"/><Relationship Id="rId4" Type="http://schemas.openxmlformats.org/officeDocument/2006/relationships/image" Target="../media/image4.svg"/><Relationship Id="rId9" Type="http://schemas.openxmlformats.org/officeDocument/2006/relationships/image" Target="../media/image169.png"/><Relationship Id="rId14" Type="http://schemas.openxmlformats.org/officeDocument/2006/relationships/image" Target="../media/image175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8.png"/><Relationship Id="rId13" Type="http://schemas.openxmlformats.org/officeDocument/2006/relationships/image" Target="../media/image174.png"/><Relationship Id="rId3" Type="http://schemas.openxmlformats.org/officeDocument/2006/relationships/image" Target="../media/image3.png"/><Relationship Id="rId7" Type="http://schemas.openxmlformats.org/officeDocument/2006/relationships/image" Target="../media/image167.png"/><Relationship Id="rId12" Type="http://schemas.openxmlformats.org/officeDocument/2006/relationships/image" Target="../media/image173.png"/><Relationship Id="rId17" Type="http://schemas.openxmlformats.org/officeDocument/2006/relationships/image" Target="../media/image29.png"/><Relationship Id="rId2" Type="http://schemas.openxmlformats.org/officeDocument/2006/relationships/image" Target="../media/image166.png"/><Relationship Id="rId16" Type="http://schemas.openxmlformats.org/officeDocument/2006/relationships/image" Target="../media/image1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1" Type="http://schemas.openxmlformats.org/officeDocument/2006/relationships/image" Target="../media/image171.svg"/><Relationship Id="rId5" Type="http://schemas.openxmlformats.org/officeDocument/2006/relationships/image" Target="../media/image6.png"/><Relationship Id="rId15" Type="http://schemas.openxmlformats.org/officeDocument/2006/relationships/image" Target="../media/image179.png"/><Relationship Id="rId10" Type="http://schemas.openxmlformats.org/officeDocument/2006/relationships/image" Target="../media/image170.png"/><Relationship Id="rId4" Type="http://schemas.openxmlformats.org/officeDocument/2006/relationships/image" Target="../media/image4.svg"/><Relationship Id="rId9" Type="http://schemas.openxmlformats.org/officeDocument/2006/relationships/image" Target="../media/image169.png"/><Relationship Id="rId14" Type="http://schemas.openxmlformats.org/officeDocument/2006/relationships/image" Target="../media/image177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5.png"/><Relationship Id="rId13" Type="http://schemas.openxmlformats.org/officeDocument/2006/relationships/image" Target="../media/image188.svg"/><Relationship Id="rId18" Type="http://schemas.openxmlformats.org/officeDocument/2006/relationships/image" Target="../media/image25.png"/><Relationship Id="rId26" Type="http://schemas.openxmlformats.org/officeDocument/2006/relationships/image" Target="../media/image195.png"/><Relationship Id="rId3" Type="http://schemas.openxmlformats.org/officeDocument/2006/relationships/image" Target="../media/image7.svg"/><Relationship Id="rId21" Type="http://schemas.openxmlformats.org/officeDocument/2006/relationships/image" Target="../media/image190.svg"/><Relationship Id="rId7" Type="http://schemas.openxmlformats.org/officeDocument/2006/relationships/image" Target="../media/image184.png"/><Relationship Id="rId12" Type="http://schemas.openxmlformats.org/officeDocument/2006/relationships/image" Target="../media/image187.png"/><Relationship Id="rId17" Type="http://schemas.openxmlformats.org/officeDocument/2006/relationships/image" Target="../media/image13.svg"/><Relationship Id="rId25" Type="http://schemas.openxmlformats.org/officeDocument/2006/relationships/image" Target="../media/image194.svg"/><Relationship Id="rId2" Type="http://schemas.openxmlformats.org/officeDocument/2006/relationships/image" Target="../media/image6.png"/><Relationship Id="rId16" Type="http://schemas.openxmlformats.org/officeDocument/2006/relationships/image" Target="../media/image12.png"/><Relationship Id="rId20" Type="http://schemas.openxmlformats.org/officeDocument/2006/relationships/image" Target="../media/image1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3.png"/><Relationship Id="rId11" Type="http://schemas.openxmlformats.org/officeDocument/2006/relationships/image" Target="../media/image15.svg"/><Relationship Id="rId24" Type="http://schemas.openxmlformats.org/officeDocument/2006/relationships/image" Target="../media/image193.png"/><Relationship Id="rId5" Type="http://schemas.openxmlformats.org/officeDocument/2006/relationships/image" Target="../media/image182.png"/><Relationship Id="rId15" Type="http://schemas.openxmlformats.org/officeDocument/2006/relationships/image" Target="../media/image11.svg"/><Relationship Id="rId23" Type="http://schemas.openxmlformats.org/officeDocument/2006/relationships/image" Target="../media/image192.svg"/><Relationship Id="rId28" Type="http://schemas.openxmlformats.org/officeDocument/2006/relationships/image" Target="../media/image29.png"/><Relationship Id="rId10" Type="http://schemas.openxmlformats.org/officeDocument/2006/relationships/image" Target="../media/image14.png"/><Relationship Id="rId19" Type="http://schemas.openxmlformats.org/officeDocument/2006/relationships/image" Target="../media/image26.svg"/><Relationship Id="rId4" Type="http://schemas.openxmlformats.org/officeDocument/2006/relationships/image" Target="../media/image181.png"/><Relationship Id="rId9" Type="http://schemas.openxmlformats.org/officeDocument/2006/relationships/image" Target="../media/image186.png"/><Relationship Id="rId14" Type="http://schemas.openxmlformats.org/officeDocument/2006/relationships/image" Target="../media/image10.png"/><Relationship Id="rId22" Type="http://schemas.openxmlformats.org/officeDocument/2006/relationships/image" Target="../media/image191.png"/><Relationship Id="rId27" Type="http://schemas.openxmlformats.org/officeDocument/2006/relationships/image" Target="../media/image196.sv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5.png"/><Relationship Id="rId13" Type="http://schemas.openxmlformats.org/officeDocument/2006/relationships/image" Target="../media/image194.svg"/><Relationship Id="rId18" Type="http://schemas.openxmlformats.org/officeDocument/2006/relationships/image" Target="../media/image29.png"/><Relationship Id="rId3" Type="http://schemas.openxmlformats.org/officeDocument/2006/relationships/image" Target="../media/image7.svg"/><Relationship Id="rId7" Type="http://schemas.openxmlformats.org/officeDocument/2006/relationships/image" Target="../media/image184.png"/><Relationship Id="rId12" Type="http://schemas.openxmlformats.org/officeDocument/2006/relationships/image" Target="../media/image193.png"/><Relationship Id="rId17" Type="http://schemas.openxmlformats.org/officeDocument/2006/relationships/image" Target="../media/image200.png"/><Relationship Id="rId2" Type="http://schemas.openxmlformats.org/officeDocument/2006/relationships/image" Target="../media/image6.png"/><Relationship Id="rId16" Type="http://schemas.openxmlformats.org/officeDocument/2006/relationships/image" Target="../media/image1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3.png"/><Relationship Id="rId11" Type="http://schemas.openxmlformats.org/officeDocument/2006/relationships/image" Target="../media/image192.svg"/><Relationship Id="rId5" Type="http://schemas.openxmlformats.org/officeDocument/2006/relationships/image" Target="../media/image182.png"/><Relationship Id="rId15" Type="http://schemas.openxmlformats.org/officeDocument/2006/relationships/image" Target="../media/image198.png"/><Relationship Id="rId10" Type="http://schemas.openxmlformats.org/officeDocument/2006/relationships/image" Target="../media/image191.png"/><Relationship Id="rId4" Type="http://schemas.openxmlformats.org/officeDocument/2006/relationships/image" Target="../media/image181.png"/><Relationship Id="rId9" Type="http://schemas.openxmlformats.org/officeDocument/2006/relationships/image" Target="../media/image186.png"/><Relationship Id="rId14" Type="http://schemas.openxmlformats.org/officeDocument/2006/relationships/image" Target="../media/image197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png"/><Relationship Id="rId13" Type="http://schemas.openxmlformats.org/officeDocument/2006/relationships/image" Target="../media/image207.png"/><Relationship Id="rId3" Type="http://schemas.openxmlformats.org/officeDocument/2006/relationships/image" Target="../media/image7.svg"/><Relationship Id="rId7" Type="http://schemas.openxmlformats.org/officeDocument/2006/relationships/image" Target="../media/image202.svg"/><Relationship Id="rId12" Type="http://schemas.openxmlformats.org/officeDocument/2006/relationships/image" Target="../media/image20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1.png"/><Relationship Id="rId11" Type="http://schemas.openxmlformats.org/officeDocument/2006/relationships/image" Target="../media/image205.png"/><Relationship Id="rId5" Type="http://schemas.openxmlformats.org/officeDocument/2006/relationships/image" Target="../media/image182.png"/><Relationship Id="rId10" Type="http://schemas.openxmlformats.org/officeDocument/2006/relationships/image" Target="../media/image204.png"/><Relationship Id="rId4" Type="http://schemas.openxmlformats.org/officeDocument/2006/relationships/image" Target="../media/image181.png"/><Relationship Id="rId9" Type="http://schemas.openxmlformats.org/officeDocument/2006/relationships/image" Target="../media/image203.png"/><Relationship Id="rId14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4.png"/><Relationship Id="rId3" Type="http://schemas.openxmlformats.org/officeDocument/2006/relationships/image" Target="../media/image209.png"/><Relationship Id="rId7" Type="http://schemas.openxmlformats.org/officeDocument/2006/relationships/image" Target="../media/image213.png"/><Relationship Id="rId2" Type="http://schemas.openxmlformats.org/officeDocument/2006/relationships/image" Target="../media/image20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2.png"/><Relationship Id="rId11" Type="http://schemas.openxmlformats.org/officeDocument/2006/relationships/image" Target="../media/image29.png"/><Relationship Id="rId5" Type="http://schemas.openxmlformats.org/officeDocument/2006/relationships/image" Target="../media/image211.png"/><Relationship Id="rId10" Type="http://schemas.openxmlformats.org/officeDocument/2006/relationships/image" Target="../media/image173.png"/><Relationship Id="rId4" Type="http://schemas.openxmlformats.org/officeDocument/2006/relationships/image" Target="../media/image210.png"/><Relationship Id="rId9" Type="http://schemas.openxmlformats.org/officeDocument/2006/relationships/image" Target="../media/image215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2.svg"/><Relationship Id="rId3" Type="http://schemas.openxmlformats.org/officeDocument/2006/relationships/image" Target="../media/image7.svg"/><Relationship Id="rId7" Type="http://schemas.openxmlformats.org/officeDocument/2006/relationships/image" Target="../media/image20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6.png"/><Relationship Id="rId11" Type="http://schemas.openxmlformats.org/officeDocument/2006/relationships/image" Target="../media/image215.png"/><Relationship Id="rId5" Type="http://schemas.openxmlformats.org/officeDocument/2006/relationships/image" Target="../media/image182.png"/><Relationship Id="rId10" Type="http://schemas.openxmlformats.org/officeDocument/2006/relationships/image" Target="../media/image29.png"/><Relationship Id="rId4" Type="http://schemas.openxmlformats.org/officeDocument/2006/relationships/image" Target="../media/image181.png"/><Relationship Id="rId9" Type="http://schemas.openxmlformats.org/officeDocument/2006/relationships/image" Target="../media/image173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3" Type="http://schemas.openxmlformats.org/officeDocument/2006/relationships/image" Target="../media/image218.png"/><Relationship Id="rId7" Type="http://schemas.openxmlformats.org/officeDocument/2006/relationships/image" Target="../media/image169.png"/><Relationship Id="rId2" Type="http://schemas.openxmlformats.org/officeDocument/2006/relationships/image" Target="../media/image2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7.png"/><Relationship Id="rId11" Type="http://schemas.openxmlformats.org/officeDocument/2006/relationships/image" Target="../media/image29.png"/><Relationship Id="rId5" Type="http://schemas.openxmlformats.org/officeDocument/2006/relationships/image" Target="../media/image192.svg"/><Relationship Id="rId10" Type="http://schemas.openxmlformats.org/officeDocument/2006/relationships/image" Target="../media/image219.png"/><Relationship Id="rId4" Type="http://schemas.openxmlformats.org/officeDocument/2006/relationships/image" Target="../media/image191.png"/><Relationship Id="rId9" Type="http://schemas.openxmlformats.org/officeDocument/2006/relationships/image" Target="../media/image171.sv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3.png"/><Relationship Id="rId13" Type="http://schemas.openxmlformats.org/officeDocument/2006/relationships/image" Target="../media/image218.png"/><Relationship Id="rId3" Type="http://schemas.openxmlformats.org/officeDocument/2006/relationships/image" Target="../media/image191.png"/><Relationship Id="rId7" Type="http://schemas.openxmlformats.org/officeDocument/2006/relationships/image" Target="../media/image222.png"/><Relationship Id="rId12" Type="http://schemas.openxmlformats.org/officeDocument/2006/relationships/image" Target="../media/image171.svg"/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1.png"/><Relationship Id="rId11" Type="http://schemas.openxmlformats.org/officeDocument/2006/relationships/image" Target="../media/image170.png"/><Relationship Id="rId5" Type="http://schemas.openxmlformats.org/officeDocument/2006/relationships/image" Target="../media/image220.png"/><Relationship Id="rId10" Type="http://schemas.openxmlformats.org/officeDocument/2006/relationships/image" Target="../media/image169.png"/><Relationship Id="rId4" Type="http://schemas.openxmlformats.org/officeDocument/2006/relationships/image" Target="../media/image192.svg"/><Relationship Id="rId9" Type="http://schemas.openxmlformats.org/officeDocument/2006/relationships/image" Target="../media/image167.png"/><Relationship Id="rId14" Type="http://schemas.openxmlformats.org/officeDocument/2006/relationships/image" Target="../media/image29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1.svg"/><Relationship Id="rId3" Type="http://schemas.openxmlformats.org/officeDocument/2006/relationships/image" Target="../media/image192.svg"/><Relationship Id="rId7" Type="http://schemas.openxmlformats.org/officeDocument/2006/relationships/image" Target="../media/image170.png"/><Relationship Id="rId2" Type="http://schemas.openxmlformats.org/officeDocument/2006/relationships/image" Target="../media/image1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9.png"/><Relationship Id="rId11" Type="http://schemas.openxmlformats.org/officeDocument/2006/relationships/image" Target="../media/image29.png"/><Relationship Id="rId5" Type="http://schemas.openxmlformats.org/officeDocument/2006/relationships/image" Target="../media/image167.png"/><Relationship Id="rId10" Type="http://schemas.openxmlformats.org/officeDocument/2006/relationships/image" Target="../media/image223.png"/><Relationship Id="rId4" Type="http://schemas.openxmlformats.org/officeDocument/2006/relationships/image" Target="../media/image222.png"/><Relationship Id="rId9" Type="http://schemas.openxmlformats.org/officeDocument/2006/relationships/image" Target="../media/image218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0.png"/><Relationship Id="rId3" Type="http://schemas.openxmlformats.org/officeDocument/2006/relationships/image" Target="../media/image225.png"/><Relationship Id="rId7" Type="http://schemas.openxmlformats.org/officeDocument/2006/relationships/image" Target="../media/image229.png"/><Relationship Id="rId12" Type="http://schemas.openxmlformats.org/officeDocument/2006/relationships/image" Target="../media/image29.png"/><Relationship Id="rId2" Type="http://schemas.openxmlformats.org/officeDocument/2006/relationships/image" Target="../media/image2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8.png"/><Relationship Id="rId11" Type="http://schemas.openxmlformats.org/officeDocument/2006/relationships/image" Target="../media/image233.png"/><Relationship Id="rId5" Type="http://schemas.openxmlformats.org/officeDocument/2006/relationships/image" Target="../media/image227.png"/><Relationship Id="rId10" Type="http://schemas.openxmlformats.org/officeDocument/2006/relationships/image" Target="../media/image232.png"/><Relationship Id="rId4" Type="http://schemas.openxmlformats.org/officeDocument/2006/relationships/image" Target="../media/image226.png"/><Relationship Id="rId9" Type="http://schemas.openxmlformats.org/officeDocument/2006/relationships/image" Target="../media/image231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1.png"/><Relationship Id="rId3" Type="http://schemas.openxmlformats.org/officeDocument/2006/relationships/image" Target="../media/image235.png"/><Relationship Id="rId7" Type="http://schemas.openxmlformats.org/officeDocument/2006/relationships/image" Target="../media/image239.png"/><Relationship Id="rId2" Type="http://schemas.openxmlformats.org/officeDocument/2006/relationships/image" Target="../media/image2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8.png"/><Relationship Id="rId5" Type="http://schemas.openxmlformats.org/officeDocument/2006/relationships/image" Target="../media/image237.png"/><Relationship Id="rId10" Type="http://schemas.openxmlformats.org/officeDocument/2006/relationships/image" Target="../media/image29.png"/><Relationship Id="rId4" Type="http://schemas.openxmlformats.org/officeDocument/2006/relationships/image" Target="../media/image236.png"/><Relationship Id="rId9" Type="http://schemas.openxmlformats.org/officeDocument/2006/relationships/image" Target="../media/image192.sv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4.png"/><Relationship Id="rId3" Type="http://schemas.openxmlformats.org/officeDocument/2006/relationships/image" Target="../media/image241.png"/><Relationship Id="rId7" Type="http://schemas.openxmlformats.org/officeDocument/2006/relationships/image" Target="../media/image245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4.png"/><Relationship Id="rId5" Type="http://schemas.openxmlformats.org/officeDocument/2006/relationships/image" Target="../media/image243.png"/><Relationship Id="rId4" Type="http://schemas.openxmlformats.org/officeDocument/2006/relationships/image" Target="../media/image242.png"/><Relationship Id="rId9" Type="http://schemas.openxmlformats.org/officeDocument/2006/relationships/image" Target="../media/image29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0.png"/><Relationship Id="rId3" Type="http://schemas.openxmlformats.org/officeDocument/2006/relationships/image" Target="../media/image234.png"/><Relationship Id="rId7" Type="http://schemas.openxmlformats.org/officeDocument/2006/relationships/image" Target="../media/image249.png"/><Relationship Id="rId2" Type="http://schemas.openxmlformats.org/officeDocument/2006/relationships/image" Target="../media/image2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8.svg"/><Relationship Id="rId11" Type="http://schemas.openxmlformats.org/officeDocument/2006/relationships/image" Target="../media/image29.png"/><Relationship Id="rId5" Type="http://schemas.openxmlformats.org/officeDocument/2006/relationships/image" Target="../media/image247.png"/><Relationship Id="rId10" Type="http://schemas.openxmlformats.org/officeDocument/2006/relationships/image" Target="../media/image252.svg"/><Relationship Id="rId4" Type="http://schemas.openxmlformats.org/officeDocument/2006/relationships/image" Target="../media/image246.png"/><Relationship Id="rId9" Type="http://schemas.openxmlformats.org/officeDocument/2006/relationships/image" Target="../media/image251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8.png"/><Relationship Id="rId13" Type="http://schemas.openxmlformats.org/officeDocument/2006/relationships/image" Target="../media/image29.png"/><Relationship Id="rId3" Type="http://schemas.openxmlformats.org/officeDocument/2006/relationships/image" Target="../media/image250.png"/><Relationship Id="rId7" Type="http://schemas.openxmlformats.org/officeDocument/2006/relationships/image" Target="../media/image256.png"/><Relationship Id="rId12" Type="http://schemas.openxmlformats.org/officeDocument/2006/relationships/image" Target="../media/image258.png"/><Relationship Id="rId2" Type="http://schemas.openxmlformats.org/officeDocument/2006/relationships/image" Target="../media/image2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5.png"/><Relationship Id="rId11" Type="http://schemas.openxmlformats.org/officeDocument/2006/relationships/image" Target="../media/image192.svg"/><Relationship Id="rId5" Type="http://schemas.openxmlformats.org/officeDocument/2006/relationships/image" Target="../media/image254.png"/><Relationship Id="rId10" Type="http://schemas.openxmlformats.org/officeDocument/2006/relationships/image" Target="../media/image191.png"/><Relationship Id="rId4" Type="http://schemas.openxmlformats.org/officeDocument/2006/relationships/image" Target="../media/image253.png"/><Relationship Id="rId9" Type="http://schemas.openxmlformats.org/officeDocument/2006/relationships/image" Target="../media/image257.png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Statistical physics phy301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Non-interacting bosons</a:t>
            </a:r>
          </a:p>
          <a:p>
            <a:endParaRPr lang="en-US" dirty="0"/>
          </a:p>
          <a:p>
            <a:r>
              <a:rPr lang="en-US" dirty="0"/>
              <a:t> Idea gas, black body radiation and phonon.</a:t>
            </a:r>
          </a:p>
          <a:p>
            <a:endParaRPr lang="en-US" dirty="0"/>
          </a:p>
          <a:p>
            <a:r>
              <a:rPr lang="en-US" dirty="0"/>
              <a:t>Lecturer: Kok Wee Song</a:t>
            </a:r>
          </a:p>
        </p:txBody>
      </p:sp>
    </p:spTree>
    <p:extLst>
      <p:ext uri="{BB962C8B-B14F-4D97-AF65-F5344CB8AC3E}">
        <p14:creationId xmlns:p14="http://schemas.microsoft.com/office/powerpoint/2010/main" val="3945269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ACF2A-2886-45F8-B80B-9AC423AD4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Non-interacting: </a:t>
            </a:r>
            <a:r>
              <a:rPr lang="en-US" dirty="0" err="1"/>
              <a:t>bose</a:t>
            </a:r>
            <a:r>
              <a:rPr lang="en-US" dirty="0"/>
              <a:t> gas (Nonrelativistic)</a:t>
            </a:r>
            <a:endParaRPr lang="en-MY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903FDC-2C35-46EF-8944-7B8AC76A2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796" y="3312221"/>
            <a:ext cx="3336116" cy="770503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085CBBBE-D15C-464B-9633-06F328F24C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93559" y="2265715"/>
            <a:ext cx="2880084" cy="11433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56AD291-585A-478A-94ED-E3AECBBA88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8332" y="3500437"/>
            <a:ext cx="1743318" cy="381053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A2B2E9E5-15CD-41BC-86C1-A03D7EC14BA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0304" y="2381264"/>
            <a:ext cx="1910370" cy="81608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7E858D6-80FC-42CE-A224-C821AF762FB6}"/>
              </a:ext>
            </a:extLst>
          </p:cNvPr>
          <p:cNvSpPr txBox="1"/>
          <p:nvPr/>
        </p:nvSpPr>
        <p:spPr>
          <a:xfrm>
            <a:off x="379896" y="2067047"/>
            <a:ext cx="1736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Non-relativistic</a:t>
            </a: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457B1927-1FCC-4043-B739-E4F68B40C94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100876" y="2786086"/>
            <a:ext cx="4123385" cy="701489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2FFA353F-998B-4979-A97F-FF29D06FCB38}"/>
              </a:ext>
            </a:extLst>
          </p:cNvPr>
          <p:cNvGrpSpPr/>
          <p:nvPr/>
        </p:nvGrpSpPr>
        <p:grpSpPr>
          <a:xfrm>
            <a:off x="6118838" y="3583602"/>
            <a:ext cx="5295668" cy="802744"/>
            <a:chOff x="6118838" y="3583602"/>
            <a:chExt cx="5295668" cy="802744"/>
          </a:xfrm>
        </p:grpSpPr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363EE599-FBC5-49A3-BBF1-7C65C8A98CD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734200" y="3684858"/>
              <a:ext cx="1680306" cy="701488"/>
            </a:xfrm>
            <a:prstGeom prst="rect">
              <a:avLst/>
            </a:prstGeom>
          </p:spPr>
        </p:pic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5A806F0D-58C6-4E54-B21C-5595A05ED7B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6118838" y="3583602"/>
              <a:ext cx="3738013" cy="765617"/>
            </a:xfrm>
            <a:prstGeom prst="rect">
              <a:avLst/>
            </a:prstGeom>
          </p:spPr>
        </p:pic>
      </p:grpSp>
      <p:pic>
        <p:nvPicPr>
          <p:cNvPr id="36" name="Graphic 35">
            <a:extLst>
              <a:ext uri="{FF2B5EF4-FFF2-40B4-BE49-F238E27FC236}">
                <a16:creationId xmlns:a16="http://schemas.microsoft.com/office/drawing/2014/main" id="{355ED89E-2016-4CC5-9859-E342F288B6C3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 r="30339" b="-11642"/>
          <a:stretch/>
        </p:blipFill>
        <p:spPr>
          <a:xfrm>
            <a:off x="6086529" y="5308535"/>
            <a:ext cx="4222128" cy="835627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D5781C9B-8153-4E84-BC59-058CA6197AFF}"/>
              </a:ext>
            </a:extLst>
          </p:cNvPr>
          <p:cNvGrpSpPr/>
          <p:nvPr/>
        </p:nvGrpSpPr>
        <p:grpSpPr>
          <a:xfrm>
            <a:off x="6092645" y="4589811"/>
            <a:ext cx="4921662" cy="515259"/>
            <a:chOff x="6092645" y="4589811"/>
            <a:chExt cx="4921662" cy="515259"/>
          </a:xfrm>
        </p:grpSpPr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F3D42865-DEDF-4475-BE05-C21B041191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6092645" y="4595454"/>
              <a:ext cx="1736950" cy="493660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87A6FB02-9448-4F9A-B71F-E713261328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rcRect/>
            <a:stretch/>
          </p:blipFill>
          <p:spPr>
            <a:xfrm>
              <a:off x="8637468" y="4589811"/>
              <a:ext cx="2376839" cy="515259"/>
            </a:xfrm>
            <a:prstGeom prst="rect">
              <a:avLst/>
            </a:prstGeom>
          </p:spPr>
        </p:pic>
      </p:grpSp>
      <p:pic>
        <p:nvPicPr>
          <p:cNvPr id="40" name="Picture 39">
            <a:extLst>
              <a:ext uri="{FF2B5EF4-FFF2-40B4-BE49-F238E27FC236}">
                <a16:creationId xmlns:a16="http://schemas.microsoft.com/office/drawing/2014/main" id="{CE7E4A2E-224C-4AD0-9678-2A0520A65E93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82656" y="4101830"/>
            <a:ext cx="5301910" cy="917045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EC5DEF55-F373-47F0-9EE9-E01F412F9604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82656" y="6144162"/>
            <a:ext cx="3950945" cy="799596"/>
          </a:xfrm>
          <a:prstGeom prst="rect">
            <a:avLst/>
          </a:prstGeom>
        </p:spPr>
      </p:pic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96505CD5-CB6F-4233-80D2-D2E1D6367C7F}"/>
              </a:ext>
            </a:extLst>
          </p:cNvPr>
          <p:cNvSpPr/>
          <p:nvPr/>
        </p:nvSpPr>
        <p:spPr>
          <a:xfrm>
            <a:off x="4300978" y="4269148"/>
            <a:ext cx="1373996" cy="58091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59195EF5-D93D-445D-A3DD-8E9E477B03BC}"/>
              </a:ext>
            </a:extLst>
          </p:cNvPr>
          <p:cNvSpPr/>
          <p:nvPr/>
        </p:nvSpPr>
        <p:spPr>
          <a:xfrm>
            <a:off x="3268947" y="6253502"/>
            <a:ext cx="1118658" cy="58091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264B58A0-0B9B-4EC2-8EBB-27EA4E4FAED7}"/>
              </a:ext>
            </a:extLst>
          </p:cNvPr>
          <p:cNvGrpSpPr/>
          <p:nvPr/>
        </p:nvGrpSpPr>
        <p:grpSpPr>
          <a:xfrm>
            <a:off x="4126799" y="4879480"/>
            <a:ext cx="1464820" cy="1264682"/>
            <a:chOff x="4137939" y="3839469"/>
            <a:chExt cx="1464820" cy="1264682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201F4373-259B-490E-A38B-CB6017D61A3F}"/>
                </a:ext>
              </a:extLst>
            </p:cNvPr>
            <p:cNvGrpSpPr/>
            <p:nvPr/>
          </p:nvGrpSpPr>
          <p:grpSpPr>
            <a:xfrm>
              <a:off x="4137939" y="4297160"/>
              <a:ext cx="1464820" cy="419333"/>
              <a:chOff x="4137939" y="4297160"/>
              <a:chExt cx="1464820" cy="419333"/>
            </a:xfrm>
          </p:grpSpPr>
          <p:pic>
            <p:nvPicPr>
              <p:cNvPr id="46" name="Graphic 45">
                <a:extLst>
                  <a:ext uri="{FF2B5EF4-FFF2-40B4-BE49-F238E27FC236}">
                    <a16:creationId xmlns:a16="http://schemas.microsoft.com/office/drawing/2014/main" id="{B7C627F4-7709-4A47-BAEC-86A1F3EB3E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/>
              </a:stretch>
            </p:blipFill>
            <p:spPr>
              <a:xfrm>
                <a:off x="4137939" y="4297160"/>
                <a:ext cx="802202" cy="419333"/>
              </a:xfrm>
              <a:prstGeom prst="rect">
                <a:avLst/>
              </a:prstGeom>
            </p:spPr>
          </p:pic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C772A17B-9D9E-48AF-8AFA-EC03DD1C24B3}"/>
                  </a:ext>
                </a:extLst>
              </p:cNvPr>
              <p:cNvSpPr txBox="1"/>
              <p:nvPr/>
            </p:nvSpPr>
            <p:spPr>
              <a:xfrm>
                <a:off x="4847616" y="4347161"/>
                <a:ext cx="7551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MY" dirty="0"/>
                  <a:t>terms</a:t>
                </a:r>
              </a:p>
            </p:txBody>
          </p:sp>
        </p:grp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EC78BB3A-300B-4261-835B-184B0316B9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16379" y="3839469"/>
              <a:ext cx="0" cy="5076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A77B5F03-006F-463C-900C-2A8EDA1302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37940" y="4671629"/>
              <a:ext cx="578439" cy="4325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1B367F5-ECCF-4E80-9051-168D06C3DA27}"/>
              </a:ext>
            </a:extLst>
          </p:cNvPr>
          <p:cNvSpPr/>
          <p:nvPr/>
        </p:nvSpPr>
        <p:spPr>
          <a:xfrm>
            <a:off x="470304" y="2472491"/>
            <a:ext cx="1993763" cy="72485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1E341B9-4506-4560-B284-73B02C449BFD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82656" y="5137433"/>
            <a:ext cx="3259899" cy="806211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F2F8D6F2-88A0-465F-A9B9-3FF502135F97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/>
        </p:blipFill>
        <p:spPr>
          <a:xfrm>
            <a:off x="10176137" y="5274398"/>
            <a:ext cx="2118800" cy="76561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B22DA74A-9B6C-48E9-AA6F-0795FF6E9FCC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4598288" y="6186376"/>
            <a:ext cx="2133797" cy="64804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C449455C-ED44-4AAA-B870-0ECEB555F472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804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ACF2A-2886-45F8-B80B-9AC423AD4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Non-interacting: </a:t>
            </a:r>
            <a:r>
              <a:rPr lang="en-US" dirty="0" err="1"/>
              <a:t>bose</a:t>
            </a:r>
            <a:r>
              <a:rPr lang="en-US" dirty="0"/>
              <a:t> gas (Nonrelativistic)</a:t>
            </a:r>
            <a:endParaRPr lang="en-MY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903FDC-2C35-46EF-8944-7B8AC76A2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796" y="3312221"/>
            <a:ext cx="3336116" cy="770503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085CBBBE-D15C-464B-9633-06F328F24C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93559" y="2265715"/>
            <a:ext cx="2880084" cy="11433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0587DE1-E17F-45D6-8BE0-355092998C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656" y="5137433"/>
            <a:ext cx="3259899" cy="80621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56AD291-585A-478A-94ED-E3AECBBA88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73246" y="3500437"/>
            <a:ext cx="1743318" cy="381053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A2B2E9E5-15CD-41BC-86C1-A03D7EC14BA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0304" y="2381264"/>
            <a:ext cx="1910370" cy="81608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7E858D6-80FC-42CE-A224-C821AF762FB6}"/>
              </a:ext>
            </a:extLst>
          </p:cNvPr>
          <p:cNvSpPr txBox="1"/>
          <p:nvPr/>
        </p:nvSpPr>
        <p:spPr>
          <a:xfrm>
            <a:off x="379896" y="2067047"/>
            <a:ext cx="1736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Non-relativistic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1B367F5-ECCF-4E80-9051-168D06C3DA27}"/>
              </a:ext>
            </a:extLst>
          </p:cNvPr>
          <p:cNvSpPr/>
          <p:nvPr/>
        </p:nvSpPr>
        <p:spPr>
          <a:xfrm>
            <a:off x="470304" y="2472491"/>
            <a:ext cx="1993763" cy="72485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8786BE65-03CB-480A-BBA7-C9A353F1461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7389" y="5858587"/>
            <a:ext cx="5316254" cy="94839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9C12581-D9E2-41D4-A5B4-5858CBEA728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3796" y="4167631"/>
            <a:ext cx="6207995" cy="100384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93B35011-D5AF-47D6-B8C8-F041E674476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37256" y="3107880"/>
            <a:ext cx="1819796" cy="298773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30398EED-39CF-4F20-8A8C-424625486C2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84057" y="5274107"/>
            <a:ext cx="2381582" cy="49536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054A1843-3901-45C5-883C-8338E751BBB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73909" y="4199971"/>
            <a:ext cx="4583460" cy="898877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928ACF76-9B26-451D-9D8B-6E9AF63B0245}"/>
              </a:ext>
            </a:extLst>
          </p:cNvPr>
          <p:cNvGrpSpPr/>
          <p:nvPr/>
        </p:nvGrpSpPr>
        <p:grpSpPr>
          <a:xfrm>
            <a:off x="7330890" y="1984315"/>
            <a:ext cx="3374104" cy="1035936"/>
            <a:chOff x="7330890" y="1984315"/>
            <a:chExt cx="3374104" cy="1035936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8F8B3476-2912-4C47-9F34-E289CC9981A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4"/>
            <a:srcRect l="78947"/>
            <a:stretch/>
          </p:blipFill>
          <p:spPr>
            <a:xfrm>
              <a:off x="7330890" y="1984315"/>
              <a:ext cx="1260910" cy="1035936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23D0FF39-C2DB-4038-B204-FA22BADE7D5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9047747" y="2346441"/>
              <a:ext cx="1657247" cy="311684"/>
            </a:xfrm>
            <a:prstGeom prst="rect">
              <a:avLst/>
            </a:prstGeom>
          </p:spPr>
        </p:pic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3959281C-1B47-4EC7-B4FD-24196764F15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8468884" y="2216693"/>
              <a:ext cx="603890" cy="551378"/>
            </a:xfrm>
            <a:prstGeom prst="rect">
              <a:avLst/>
            </a:prstGeom>
          </p:spPr>
        </p:pic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894C56C6-186F-4004-BB51-578596929B4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330890" y="3700489"/>
            <a:ext cx="3181794" cy="362001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44ACCC66-95B0-4586-9E82-A8414E0D6757}"/>
              </a:ext>
            </a:extLst>
          </p:cNvPr>
          <p:cNvSpPr txBox="1"/>
          <p:nvPr/>
        </p:nvSpPr>
        <p:spPr>
          <a:xfrm>
            <a:off x="7273909" y="6148120"/>
            <a:ext cx="11502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For small 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92F6217B-457E-42BF-A83E-A91D757A59BC}"/>
              </a:ext>
            </a:extLst>
          </p:cNvPr>
          <p:cNvPicPr>
            <a:picLocks noChangeAspect="1"/>
          </p:cNvPicPr>
          <p:nvPr/>
        </p:nvPicPr>
        <p:blipFill rotWithShape="1">
          <a:blip r:embed="rId19"/>
          <a:srcRect l="67296" t="17265" r="19349" b="12530"/>
          <a:stretch/>
        </p:blipFill>
        <p:spPr>
          <a:xfrm>
            <a:off x="8426823" y="5857832"/>
            <a:ext cx="361318" cy="782862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BACAB771-BDCE-462A-8E83-9BD9E2B0C829}"/>
              </a:ext>
            </a:extLst>
          </p:cNvPr>
          <p:cNvPicPr>
            <a:picLocks noChangeAspect="1"/>
          </p:cNvPicPr>
          <p:nvPr/>
        </p:nvPicPr>
        <p:blipFill rotWithShape="1">
          <a:blip r:embed="rId20"/>
          <a:srcRect t="1" r="66449" b="-25174"/>
          <a:stretch/>
        </p:blipFill>
        <p:spPr>
          <a:xfrm>
            <a:off x="9544010" y="5893739"/>
            <a:ext cx="1219185" cy="379045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7E7EAC52-76BE-4B24-8AF3-3E47B4A72913}"/>
              </a:ext>
            </a:extLst>
          </p:cNvPr>
          <p:cNvPicPr>
            <a:picLocks noChangeAspect="1"/>
          </p:cNvPicPr>
          <p:nvPr/>
        </p:nvPicPr>
        <p:blipFill rotWithShape="1">
          <a:blip r:embed="rId20"/>
          <a:srcRect l="32053" t="-6873" r="-1385" b="-23391"/>
          <a:stretch/>
        </p:blipFill>
        <p:spPr>
          <a:xfrm>
            <a:off x="9484483" y="6272784"/>
            <a:ext cx="2519433" cy="39445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3B03B93-969B-49BF-AD43-A05B130054F8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l="75274"/>
          <a:stretch/>
        </p:blipFill>
        <p:spPr>
          <a:xfrm>
            <a:off x="3629912" y="3212250"/>
            <a:ext cx="1310949" cy="91704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4B603479-4E53-4E16-BAD0-3F9641BE76AF}"/>
              </a:ext>
            </a:extLst>
          </p:cNvPr>
          <p:cNvPicPr>
            <a:picLocks noChangeAspect="1"/>
          </p:cNvPicPr>
          <p:nvPr/>
        </p:nvPicPr>
        <p:blipFill rotWithShape="1">
          <a:blip r:embed="rId21"/>
          <a:srcRect l="75676"/>
          <a:stretch/>
        </p:blipFill>
        <p:spPr>
          <a:xfrm>
            <a:off x="3605409" y="5113393"/>
            <a:ext cx="961012" cy="799596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3C5470D3-FED2-4CF1-93D0-59CE83F29328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760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BE660-D077-4B5A-8467-493A70263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Idea </a:t>
            </a:r>
            <a:r>
              <a:rPr lang="en-US" dirty="0" err="1"/>
              <a:t>bose</a:t>
            </a:r>
            <a:r>
              <a:rPr lang="en-US" dirty="0"/>
              <a:t> gas: Thermodynamics</a:t>
            </a:r>
            <a:endParaRPr lang="en-MY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76C295-FC32-4292-9239-3DEF07D7715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88453"/>
          <a:stretch/>
        </p:blipFill>
        <p:spPr>
          <a:xfrm>
            <a:off x="601804" y="2425154"/>
            <a:ext cx="716857" cy="10038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E300DC4-D605-4D07-855B-04638B25AB2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1494" r="-99"/>
          <a:stretch/>
        </p:blipFill>
        <p:spPr>
          <a:xfrm>
            <a:off x="1318661" y="2425152"/>
            <a:ext cx="1155032" cy="100384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D9DE48CB-C294-46BC-A27F-9A5AFFAA764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1" r="78437"/>
          <a:stretch/>
        </p:blipFill>
        <p:spPr>
          <a:xfrm>
            <a:off x="470959" y="3393360"/>
            <a:ext cx="1146360" cy="94839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63C3657F-1C15-4556-84EB-04BCA0E89EC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1362" t="6119" r="1" b="-6119"/>
          <a:stretch/>
        </p:blipFill>
        <p:spPr>
          <a:xfrm>
            <a:off x="1596488" y="3464125"/>
            <a:ext cx="990775" cy="948399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F1D1D07F-9C6D-45FE-8E04-4512C79268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9213" y="4185367"/>
            <a:ext cx="3255602" cy="809303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83FA0552-A54B-4EBE-8FA7-AC3D99AC9C0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50728" y="2461879"/>
            <a:ext cx="3353737" cy="801981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A03A29D5-FE74-4002-B4E1-05151551E55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84057" y="5274107"/>
            <a:ext cx="2381582" cy="495369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2D59DD12-21D9-453B-9888-AA6A7051BB3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73909" y="4199971"/>
            <a:ext cx="4583460" cy="898877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2B6C4A38-1B4E-476E-A876-DCB8FD12EB69}"/>
              </a:ext>
            </a:extLst>
          </p:cNvPr>
          <p:cNvSpPr txBox="1"/>
          <p:nvPr/>
        </p:nvSpPr>
        <p:spPr>
          <a:xfrm>
            <a:off x="7273909" y="6148120"/>
            <a:ext cx="11502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For small </a:t>
            </a:r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98EDC056-7B64-4623-A9BC-8942D043BC86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67296" t="17265" r="19349" b="12530"/>
          <a:stretch/>
        </p:blipFill>
        <p:spPr>
          <a:xfrm>
            <a:off x="8426823" y="5857832"/>
            <a:ext cx="361318" cy="782862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303D966F-5BE0-4C35-85DF-5F8A226AC972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t="1" r="66449" b="-25174"/>
          <a:stretch/>
        </p:blipFill>
        <p:spPr>
          <a:xfrm>
            <a:off x="9544010" y="5893739"/>
            <a:ext cx="1219185" cy="379045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7D760528-704D-44C4-8DF2-054874633DD0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32053" t="-6873" r="-1385" b="-23391"/>
          <a:stretch/>
        </p:blipFill>
        <p:spPr>
          <a:xfrm>
            <a:off x="9484483" y="6272784"/>
            <a:ext cx="2519433" cy="394458"/>
          </a:xfrm>
          <a:prstGeom prst="rect">
            <a:avLst/>
          </a:prstGeom>
        </p:spPr>
      </p:pic>
      <p:grpSp>
        <p:nvGrpSpPr>
          <p:cNvPr id="72" name="Group 71">
            <a:extLst>
              <a:ext uri="{FF2B5EF4-FFF2-40B4-BE49-F238E27FC236}">
                <a16:creationId xmlns:a16="http://schemas.microsoft.com/office/drawing/2014/main" id="{8F3C7145-B91A-43B6-82F5-E87CA23C67EF}"/>
              </a:ext>
            </a:extLst>
          </p:cNvPr>
          <p:cNvGrpSpPr/>
          <p:nvPr/>
        </p:nvGrpSpPr>
        <p:grpSpPr>
          <a:xfrm>
            <a:off x="470959" y="1978044"/>
            <a:ext cx="11026237" cy="2123955"/>
            <a:chOff x="694804" y="1978044"/>
            <a:chExt cx="11026237" cy="2123955"/>
          </a:xfrm>
        </p:grpSpPr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3F8F269D-7C75-4CC3-84D3-31B01C462DD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942784" y="1978044"/>
              <a:ext cx="3778257" cy="2123955"/>
            </a:xfrm>
            <a:prstGeom prst="rect">
              <a:avLst/>
            </a:prstGeom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3513F827-513F-4415-BCED-2165400D085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/>
            <a:srcRect l="24627" r="62818"/>
            <a:stretch/>
          </p:blipFill>
          <p:spPr>
            <a:xfrm>
              <a:off x="5902750" y="2375120"/>
              <a:ext cx="296813" cy="974429"/>
            </a:xfrm>
            <a:prstGeom prst="rect">
              <a:avLst/>
            </a:prstGeom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E94C3B01-FA71-4C37-950C-89B98ABC1FC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94804" y="2038130"/>
              <a:ext cx="2590923" cy="433723"/>
            </a:xfrm>
            <a:prstGeom prst="rect">
              <a:avLst/>
            </a:prstGeom>
          </p:spPr>
        </p:pic>
      </p:grpSp>
      <p:pic>
        <p:nvPicPr>
          <p:cNvPr id="4" name="Graphic 3">
            <a:extLst>
              <a:ext uri="{FF2B5EF4-FFF2-40B4-BE49-F238E27FC236}">
                <a16:creationId xmlns:a16="http://schemas.microsoft.com/office/drawing/2014/main" id="{407B708A-AFFC-4444-ACF9-21627815068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774891" y="2636896"/>
            <a:ext cx="642218" cy="55845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733606A-E3B5-45F6-B2E1-6A7E7377F21F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36713" t="-1147" r="764" b="1147"/>
          <a:stretch/>
        </p:blipFill>
        <p:spPr>
          <a:xfrm>
            <a:off x="6287781" y="2364935"/>
            <a:ext cx="1478085" cy="974429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35EF60B2-C3CA-450A-9775-4649859967E4}"/>
              </a:ext>
            </a:extLst>
          </p:cNvPr>
          <p:cNvGrpSpPr/>
          <p:nvPr/>
        </p:nvGrpSpPr>
        <p:grpSpPr>
          <a:xfrm>
            <a:off x="374302" y="4881806"/>
            <a:ext cx="3976317" cy="1050771"/>
            <a:chOff x="374302" y="4881806"/>
            <a:chExt cx="3976317" cy="1050771"/>
          </a:xfrm>
        </p:grpSpPr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35311E13-8FB7-4BF5-801F-E59575E69B72}"/>
                </a:ext>
              </a:extLst>
            </p:cNvPr>
            <p:cNvCxnSpPr>
              <a:cxnSpLocks/>
            </p:cNvCxnSpPr>
            <p:nvPr/>
          </p:nvCxnSpPr>
          <p:spPr>
            <a:xfrm>
              <a:off x="1318661" y="4881806"/>
              <a:ext cx="0" cy="50077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71F3153C-F687-443D-805A-CF6E98DF57F3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374302" y="5384729"/>
              <a:ext cx="3976317" cy="547848"/>
            </a:xfrm>
            <a:prstGeom prst="rect">
              <a:avLst/>
            </a:prstGeom>
          </p:spPr>
        </p:pic>
      </p:grp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AFAF425-7975-4D08-9455-6A1A8F0BF876}"/>
              </a:ext>
            </a:extLst>
          </p:cNvPr>
          <p:cNvCxnSpPr>
            <a:cxnSpLocks/>
          </p:cNvCxnSpPr>
          <p:nvPr/>
        </p:nvCxnSpPr>
        <p:spPr>
          <a:xfrm flipV="1">
            <a:off x="2800952" y="4881806"/>
            <a:ext cx="0" cy="4377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228ED21-1A9E-4764-A4BF-BE0855EE72DF}"/>
              </a:ext>
            </a:extLst>
          </p:cNvPr>
          <p:cNvSpPr txBox="1"/>
          <p:nvPr/>
        </p:nvSpPr>
        <p:spPr>
          <a:xfrm>
            <a:off x="3077043" y="2062085"/>
            <a:ext cx="3412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>
                <a:solidFill>
                  <a:srgbClr val="FF0000"/>
                </a:solidFill>
              </a:rPr>
              <a:t>(High-temperature, low density)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F30BF83-79AE-4895-BBAA-24A751DAA34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187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BE660-D077-4B5A-8467-493A70263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Idea </a:t>
            </a:r>
            <a:r>
              <a:rPr lang="en-US" dirty="0" err="1"/>
              <a:t>bose</a:t>
            </a:r>
            <a:r>
              <a:rPr lang="en-US" dirty="0"/>
              <a:t> gas: Thermodynamics</a:t>
            </a:r>
            <a:endParaRPr lang="en-MY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76C295-FC32-4292-9239-3DEF07D7715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88453"/>
          <a:stretch/>
        </p:blipFill>
        <p:spPr>
          <a:xfrm>
            <a:off x="601804" y="2425154"/>
            <a:ext cx="716857" cy="10038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E300DC4-D605-4D07-855B-04638B25AB2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1494" r="-99"/>
          <a:stretch/>
        </p:blipFill>
        <p:spPr>
          <a:xfrm>
            <a:off x="1318661" y="2425152"/>
            <a:ext cx="1155032" cy="1003845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83FA0552-A54B-4EBE-8FA7-AC3D99AC9C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50728" y="2461879"/>
            <a:ext cx="3353737" cy="801981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6E9F7A85-DDC3-4E4D-916E-3D20A66786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8939" y="1978044"/>
            <a:ext cx="3778257" cy="2123955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38E440D8-590E-4CA5-9FAC-678841EB3BFF}"/>
              </a:ext>
            </a:extLst>
          </p:cNvPr>
          <p:cNvGrpSpPr/>
          <p:nvPr/>
        </p:nvGrpSpPr>
        <p:grpSpPr>
          <a:xfrm>
            <a:off x="6335857" y="4043842"/>
            <a:ext cx="5496561" cy="2803805"/>
            <a:chOff x="6335857" y="4043842"/>
            <a:chExt cx="5496561" cy="2803805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CEDC02A7-0C37-4724-9072-C22C28B28DAF}"/>
                </a:ext>
              </a:extLst>
            </p:cNvPr>
            <p:cNvGrpSpPr/>
            <p:nvPr/>
          </p:nvGrpSpPr>
          <p:grpSpPr>
            <a:xfrm>
              <a:off x="6335857" y="4392287"/>
              <a:ext cx="5496561" cy="2455360"/>
              <a:chOff x="6695439" y="4228262"/>
              <a:chExt cx="5496561" cy="2455360"/>
            </a:xfrm>
          </p:grpSpPr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8ABA93CF-D64E-40F4-808A-B8B011A3AD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711552" y="4228262"/>
                <a:ext cx="4491889" cy="856466"/>
              </a:xfrm>
              <a:prstGeom prst="rect">
                <a:avLst/>
              </a:prstGeom>
            </p:spPr>
          </p:pic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FDA6A2F8-8330-4560-A4FA-295DD45E0D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695439" y="5065712"/>
                <a:ext cx="5496561" cy="1617910"/>
              </a:xfrm>
              <a:prstGeom prst="rect">
                <a:avLst/>
              </a:prstGeom>
            </p:spPr>
          </p:pic>
        </p:grp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DEDE2FF-FB8E-4AD2-8628-AA9EFAE195A8}"/>
                </a:ext>
              </a:extLst>
            </p:cNvPr>
            <p:cNvSpPr txBox="1"/>
            <p:nvPr/>
          </p:nvSpPr>
          <p:spPr>
            <a:xfrm>
              <a:off x="6335857" y="4043842"/>
              <a:ext cx="16485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b="1" dirty="0"/>
                <a:t>Heat capacity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B2D8B163-F7B9-4186-9670-4B494FAF5E0C}"/>
              </a:ext>
            </a:extLst>
          </p:cNvPr>
          <p:cNvGrpSpPr/>
          <p:nvPr/>
        </p:nvGrpSpPr>
        <p:grpSpPr>
          <a:xfrm>
            <a:off x="446345" y="3544410"/>
            <a:ext cx="4238860" cy="2506268"/>
            <a:chOff x="446345" y="3544410"/>
            <a:chExt cx="4238860" cy="2506268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41C2EA27-D4D7-43BF-B002-DEB76DD5ADF4}"/>
                </a:ext>
              </a:extLst>
            </p:cNvPr>
            <p:cNvGrpSpPr/>
            <p:nvPr/>
          </p:nvGrpSpPr>
          <p:grpSpPr>
            <a:xfrm>
              <a:off x="446345" y="3985849"/>
              <a:ext cx="4238860" cy="2064829"/>
              <a:chOff x="6695439" y="2084832"/>
              <a:chExt cx="5246618" cy="2494544"/>
            </a:xfrm>
          </p:grpSpPr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44DFCDF0-9771-499C-9A05-8D5A4FD479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695439" y="2084832"/>
                <a:ext cx="5246618" cy="1559096"/>
              </a:xfrm>
              <a:prstGeom prst="rect">
                <a:avLst/>
              </a:prstGeom>
            </p:spPr>
          </p:pic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82F59C8B-49FE-402E-8F3D-020ED0CAA2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375983" y="3826795"/>
                <a:ext cx="1657581" cy="752581"/>
              </a:xfrm>
              <a:prstGeom prst="rect">
                <a:avLst/>
              </a:prstGeom>
            </p:spPr>
          </p:pic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26EF20B-CA2A-46E8-BA71-68F68E200839}"/>
                </a:ext>
              </a:extLst>
            </p:cNvPr>
            <p:cNvSpPr txBox="1"/>
            <p:nvPr/>
          </p:nvSpPr>
          <p:spPr>
            <a:xfrm>
              <a:off x="501487" y="3544410"/>
              <a:ext cx="19353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b="1" dirty="0"/>
                <a:t>Internal energy</a:t>
              </a:r>
            </a:p>
          </p:txBody>
        </p:sp>
      </p:grpSp>
      <p:pic>
        <p:nvPicPr>
          <p:cNvPr id="20" name="Graphic 19">
            <a:extLst>
              <a:ext uri="{FF2B5EF4-FFF2-40B4-BE49-F238E27FC236}">
                <a16:creationId xmlns:a16="http://schemas.microsoft.com/office/drawing/2014/main" id="{4A806819-203F-46D1-8096-47E8B26E4C8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774891" y="2636896"/>
            <a:ext cx="642218" cy="55845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017E9B4-AF64-4B98-A814-0E1CAA807ACD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36713" t="-1147" r="764" b="1147"/>
          <a:stretch/>
        </p:blipFill>
        <p:spPr>
          <a:xfrm>
            <a:off x="6287781" y="2364935"/>
            <a:ext cx="1478085" cy="97442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12683D3-718B-41E0-9DF0-796AA34B1156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24627" r="62818"/>
          <a:stretch/>
        </p:blipFill>
        <p:spPr>
          <a:xfrm>
            <a:off x="5678905" y="2375120"/>
            <a:ext cx="296813" cy="97442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4CE0095-5A0A-44A6-A976-7D333BFB356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0959" y="2038130"/>
            <a:ext cx="2590923" cy="433723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DE200C32-5CFC-46AF-B502-09DD1A8094C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6345" y="6208479"/>
            <a:ext cx="2381582" cy="495369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3034C03F-2992-489B-8852-78FD9D05ECBC}"/>
              </a:ext>
            </a:extLst>
          </p:cNvPr>
          <p:cNvSpPr txBox="1"/>
          <p:nvPr/>
        </p:nvSpPr>
        <p:spPr>
          <a:xfrm>
            <a:off x="3077043" y="2062085"/>
            <a:ext cx="3412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>
                <a:solidFill>
                  <a:srgbClr val="FF0000"/>
                </a:solidFill>
              </a:rPr>
              <a:t>(High-temperature, low density)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88CC01B9-4D6E-41B4-941B-3F3408ECAA2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920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B4B6B-9A54-4385-9D01-5A8791C71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Non-interacting </a:t>
            </a:r>
            <a:r>
              <a:rPr lang="en-US" dirty="0" err="1"/>
              <a:t>bose</a:t>
            </a:r>
            <a:r>
              <a:rPr lang="en-US" dirty="0"/>
              <a:t> gas: Bose-</a:t>
            </a:r>
            <a:r>
              <a:rPr lang="en-US" dirty="0" err="1"/>
              <a:t>einstein</a:t>
            </a:r>
            <a:r>
              <a:rPr lang="en-US" dirty="0"/>
              <a:t> condensation</a:t>
            </a:r>
            <a:endParaRPr lang="en-MY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684A3F-D765-44F2-A58A-7C8B81D37CAC}"/>
              </a:ext>
            </a:extLst>
          </p:cNvPr>
          <p:cNvSpPr txBox="1"/>
          <p:nvPr/>
        </p:nvSpPr>
        <p:spPr>
          <a:xfrm>
            <a:off x="877153" y="1908651"/>
            <a:ext cx="3431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>
                <a:solidFill>
                  <a:srgbClr val="FF0000"/>
                </a:solidFill>
              </a:rPr>
              <a:t>(Low-temperature, high density)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CF468E-2F84-44B4-849B-6119B5387337}"/>
              </a:ext>
            </a:extLst>
          </p:cNvPr>
          <p:cNvSpPr txBox="1"/>
          <p:nvPr/>
        </p:nvSpPr>
        <p:spPr>
          <a:xfrm>
            <a:off x="456268" y="5441502"/>
            <a:ext cx="3846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In therm0dynamics limit a V, N </a:t>
            </a:r>
            <a:r>
              <a:rPr lang="en-MY" dirty="0">
                <a:latin typeface="Cambria" panose="02040503050406030204" pitchFamily="18" charset="0"/>
                <a:ea typeface="Cambria" panose="02040503050406030204" pitchFamily="18" charset="0"/>
              </a:rPr>
              <a:t>→ ∞.</a:t>
            </a:r>
            <a:endParaRPr lang="en-MY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D6DAFA71-88A7-4A5A-8AB8-F84258793C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243" y="2702636"/>
            <a:ext cx="3616280" cy="13666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A6532C7F-8A30-4198-807A-53AC6A235C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6095" y="5860771"/>
            <a:ext cx="2826280" cy="42394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3A3B2A6-6E17-4FEB-BDF7-5D0FEB2519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23403" y="883669"/>
            <a:ext cx="1582887" cy="234802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A90BA7C-E5DA-4E9E-B8F1-E7BA16B8E55F}"/>
              </a:ext>
            </a:extLst>
          </p:cNvPr>
          <p:cNvSpPr txBox="1"/>
          <p:nvPr/>
        </p:nvSpPr>
        <p:spPr>
          <a:xfrm>
            <a:off x="16902" y="2273518"/>
            <a:ext cx="1582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Fixed number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60C6AB0-CF80-46A4-85E4-B64D27EC3F30}"/>
              </a:ext>
            </a:extLst>
          </p:cNvPr>
          <p:cNvCxnSpPr>
            <a:cxnSpLocks/>
          </p:cNvCxnSpPr>
          <p:nvPr/>
        </p:nvCxnSpPr>
        <p:spPr>
          <a:xfrm>
            <a:off x="596797" y="2656064"/>
            <a:ext cx="211548" cy="2677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FE4D638-E9FC-443B-9A8C-D06F532E32E4}"/>
              </a:ext>
            </a:extLst>
          </p:cNvPr>
          <p:cNvSpPr txBox="1"/>
          <p:nvPr/>
        </p:nvSpPr>
        <p:spPr>
          <a:xfrm>
            <a:off x="727339" y="4629632"/>
            <a:ext cx="3431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For finite small volume, it may not has solution for all z. (z≠1)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0FCF2F5-F72A-484F-8589-6F57E9340F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99170" y="4329949"/>
            <a:ext cx="990426" cy="259397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DCBE6715-F6A4-4C12-BC70-A8809A855E2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2142" y="3837282"/>
            <a:ext cx="2085880" cy="516686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89E6AFEF-7CDC-4980-93AC-12103B42F20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094399" y="3827337"/>
            <a:ext cx="915403" cy="478506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DFB7C53D-1A46-40E6-871C-DFAE40060EA9}"/>
              </a:ext>
            </a:extLst>
          </p:cNvPr>
          <p:cNvGrpSpPr/>
          <p:nvPr/>
        </p:nvGrpSpPr>
        <p:grpSpPr>
          <a:xfrm>
            <a:off x="2095044" y="2119484"/>
            <a:ext cx="4534941" cy="846263"/>
            <a:chOff x="2095044" y="2119484"/>
            <a:chExt cx="4534941" cy="846263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4C597921-D9D1-449A-85EE-230D794F15E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/>
            <a:srcRect l="20616" r="23801"/>
            <a:stretch/>
          </p:blipFill>
          <p:spPr>
            <a:xfrm>
              <a:off x="4147527" y="2119484"/>
              <a:ext cx="2482458" cy="796750"/>
            </a:xfrm>
            <a:prstGeom prst="rect">
              <a:avLst/>
            </a:prstGeom>
          </p:spPr>
        </p:pic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F44617F6-C48D-42A6-B1EB-81D5BDB510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95044" y="2566072"/>
              <a:ext cx="1814067" cy="39967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7" name="Graphic 36">
            <a:extLst>
              <a:ext uri="{FF2B5EF4-FFF2-40B4-BE49-F238E27FC236}">
                <a16:creationId xmlns:a16="http://schemas.microsoft.com/office/drawing/2014/main" id="{22D0B9C5-C109-44BD-8A11-876E55AFC8E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6268" y="6284713"/>
            <a:ext cx="3774678" cy="541657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2BCE5FE2-6BD0-40E4-A875-39BB3DE32B74}"/>
              </a:ext>
            </a:extLst>
          </p:cNvPr>
          <p:cNvPicPr>
            <a:picLocks noChangeAspect="1"/>
          </p:cNvPicPr>
          <p:nvPr/>
        </p:nvPicPr>
        <p:blipFill rotWithShape="1">
          <a:blip r:embed="rId15"/>
          <a:srcRect b="16832"/>
          <a:stretch/>
        </p:blipFill>
        <p:spPr>
          <a:xfrm>
            <a:off x="5287760" y="3344573"/>
            <a:ext cx="6628316" cy="2629757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97750D66-0492-41AA-B9A0-5EABF93DF2D3}"/>
              </a:ext>
            </a:extLst>
          </p:cNvPr>
          <p:cNvSpPr txBox="1"/>
          <p:nvPr/>
        </p:nvSpPr>
        <p:spPr>
          <a:xfrm>
            <a:off x="10799661" y="3178743"/>
            <a:ext cx="1318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K. Huang</a:t>
            </a: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27502BE8-0F47-4A6F-8C4E-4F34DB0F10FC}"/>
              </a:ext>
            </a:extLst>
          </p:cNvPr>
          <p:cNvCxnSpPr/>
          <p:nvPr/>
        </p:nvCxnSpPr>
        <p:spPr>
          <a:xfrm>
            <a:off x="5755907" y="5595838"/>
            <a:ext cx="201168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5" name="Group 64">
            <a:extLst>
              <a:ext uri="{FF2B5EF4-FFF2-40B4-BE49-F238E27FC236}">
                <a16:creationId xmlns:a16="http://schemas.microsoft.com/office/drawing/2014/main" id="{61BBF6C7-1A33-4CBC-8E3F-036057B66DE7}"/>
              </a:ext>
            </a:extLst>
          </p:cNvPr>
          <p:cNvGrpSpPr/>
          <p:nvPr/>
        </p:nvGrpSpPr>
        <p:grpSpPr>
          <a:xfrm>
            <a:off x="5089005" y="3222348"/>
            <a:ext cx="2640080" cy="491558"/>
            <a:chOff x="5089005" y="3472605"/>
            <a:chExt cx="2640080" cy="491558"/>
          </a:xfrm>
        </p:grpSpPr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66DB8225-A35C-4303-83C8-7A133C315A81}"/>
                </a:ext>
              </a:extLst>
            </p:cNvPr>
            <p:cNvCxnSpPr>
              <a:cxnSpLocks/>
            </p:cNvCxnSpPr>
            <p:nvPr/>
          </p:nvCxnSpPr>
          <p:spPr>
            <a:xfrm>
              <a:off x="5570856" y="3769823"/>
              <a:ext cx="2158229" cy="0"/>
            </a:xfrm>
            <a:prstGeom prst="line">
              <a:avLst/>
            </a:prstGeom>
            <a:ln w="19050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7" name="Graphic 66">
              <a:extLst>
                <a:ext uri="{FF2B5EF4-FFF2-40B4-BE49-F238E27FC236}">
                  <a16:creationId xmlns:a16="http://schemas.microsoft.com/office/drawing/2014/main" id="{8ABE8D18-521F-4B33-B185-9128D5101C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5089005" y="3472605"/>
              <a:ext cx="637204" cy="491558"/>
            </a:xfrm>
            <a:prstGeom prst="rect">
              <a:avLst/>
            </a:prstGeom>
          </p:spPr>
        </p:pic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14A4AD00-2C25-40FB-AA2E-BD4A9EDCA775}"/>
              </a:ext>
            </a:extLst>
          </p:cNvPr>
          <p:cNvGrpSpPr/>
          <p:nvPr/>
        </p:nvGrpSpPr>
        <p:grpSpPr>
          <a:xfrm>
            <a:off x="7729085" y="3481066"/>
            <a:ext cx="1305792" cy="530057"/>
            <a:chOff x="7729085" y="3481066"/>
            <a:chExt cx="1305792" cy="530057"/>
          </a:xfrm>
        </p:grpSpPr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A1B74A2B-841E-473B-BE77-AD22D2CF5C24}"/>
                </a:ext>
              </a:extLst>
            </p:cNvPr>
            <p:cNvCxnSpPr>
              <a:cxnSpLocks/>
            </p:cNvCxnSpPr>
            <p:nvPr/>
          </p:nvCxnSpPr>
          <p:spPr>
            <a:xfrm>
              <a:off x="7729085" y="3530910"/>
              <a:ext cx="539014" cy="0"/>
            </a:xfrm>
            <a:prstGeom prst="line">
              <a:avLst/>
            </a:prstGeom>
            <a:ln w="28575">
              <a:solidFill>
                <a:srgbClr val="FF000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F10BD6D5-96BA-45FB-A56D-E387230026D7}"/>
                </a:ext>
              </a:extLst>
            </p:cNvPr>
            <p:cNvGrpSpPr/>
            <p:nvPr/>
          </p:nvGrpSpPr>
          <p:grpSpPr>
            <a:xfrm>
              <a:off x="8393229" y="3481066"/>
              <a:ext cx="641648" cy="530057"/>
              <a:chOff x="8393229" y="3731323"/>
              <a:chExt cx="641648" cy="530057"/>
            </a:xfrm>
          </p:grpSpPr>
          <p:sp>
            <p:nvSpPr>
              <p:cNvPr id="69" name="Right Brace 68">
                <a:extLst>
                  <a:ext uri="{FF2B5EF4-FFF2-40B4-BE49-F238E27FC236}">
                    <a16:creationId xmlns:a16="http://schemas.microsoft.com/office/drawing/2014/main" id="{282CA71F-D7C0-4937-815C-1C26985E5C33}"/>
                  </a:ext>
                </a:extLst>
              </p:cNvPr>
              <p:cNvSpPr/>
              <p:nvPr/>
            </p:nvSpPr>
            <p:spPr>
              <a:xfrm>
                <a:off x="8393229" y="3731323"/>
                <a:ext cx="202131" cy="491557"/>
              </a:xfrm>
              <a:prstGeom prst="rightBrac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MY"/>
              </a:p>
            </p:txBody>
          </p:sp>
          <p:pic>
            <p:nvPicPr>
              <p:cNvPr id="70" name="Graphic 69">
                <a:extLst>
                  <a:ext uri="{FF2B5EF4-FFF2-40B4-BE49-F238E27FC236}">
                    <a16:creationId xmlns:a16="http://schemas.microsoft.com/office/drawing/2014/main" id="{7007258C-49A8-4466-BBE2-33F3E00867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p:blipFill>
            <p:spPr>
              <a:xfrm>
                <a:off x="8566115" y="3824946"/>
                <a:ext cx="468762" cy="436434"/>
              </a:xfrm>
              <a:prstGeom prst="rect">
                <a:avLst/>
              </a:prstGeom>
            </p:spPr>
          </p:pic>
        </p:grpSp>
      </p:grp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DE98677A-3127-4647-AAA2-31A76E201976}"/>
              </a:ext>
            </a:extLst>
          </p:cNvPr>
          <p:cNvCxnSpPr>
            <a:cxnSpLocks/>
          </p:cNvCxnSpPr>
          <p:nvPr/>
        </p:nvCxnSpPr>
        <p:spPr>
          <a:xfrm>
            <a:off x="5675130" y="3951101"/>
            <a:ext cx="2718099" cy="0"/>
          </a:xfrm>
          <a:prstGeom prst="line">
            <a:avLst/>
          </a:prstGeom>
          <a:ln w="190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Group 83">
            <a:extLst>
              <a:ext uri="{FF2B5EF4-FFF2-40B4-BE49-F238E27FC236}">
                <a16:creationId xmlns:a16="http://schemas.microsoft.com/office/drawing/2014/main" id="{F5FD6705-11D9-4DBB-9D8C-B9889ACA1EA1}"/>
              </a:ext>
            </a:extLst>
          </p:cNvPr>
          <p:cNvGrpSpPr/>
          <p:nvPr/>
        </p:nvGrpSpPr>
        <p:grpSpPr>
          <a:xfrm>
            <a:off x="4133936" y="3337540"/>
            <a:ext cx="1123657" cy="1252942"/>
            <a:chOff x="4133936" y="3337540"/>
            <a:chExt cx="1123657" cy="1252942"/>
          </a:xfrm>
        </p:grpSpPr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2046B2BD-7331-4EB1-8C1C-505FEED5C87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48857" y="3337540"/>
              <a:ext cx="298353" cy="5558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D9AC1B5C-9B57-4A23-86FE-643982FE11EC}"/>
                </a:ext>
              </a:extLst>
            </p:cNvPr>
            <p:cNvSpPr txBox="1"/>
            <p:nvPr/>
          </p:nvSpPr>
          <p:spPr>
            <a:xfrm>
              <a:off x="4133936" y="3944151"/>
              <a:ext cx="11236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dirty="0"/>
                <a:t>Positive: </a:t>
              </a:r>
            </a:p>
            <a:p>
              <a:r>
                <a:rPr lang="en-MY" dirty="0"/>
                <a:t>stuck at 1</a:t>
              </a:r>
            </a:p>
          </p:txBody>
        </p:sp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BC806CD2-2EB1-470C-8E81-F32B4279FCE9}"/>
              </a:ext>
            </a:extLst>
          </p:cNvPr>
          <p:cNvSpPr txBox="1"/>
          <p:nvPr/>
        </p:nvSpPr>
        <p:spPr>
          <a:xfrm flipH="1">
            <a:off x="4399431" y="6375270"/>
            <a:ext cx="15104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b="1" dirty="0">
                <a:solidFill>
                  <a:srgbClr val="FF0000"/>
                </a:solidFill>
              </a:rPr>
              <a:t>BEC phase!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F1B8D88-B908-435A-9C3B-764E795D9BBA}"/>
              </a:ext>
            </a:extLst>
          </p:cNvPr>
          <p:cNvSpPr txBox="1"/>
          <p:nvPr/>
        </p:nvSpPr>
        <p:spPr>
          <a:xfrm>
            <a:off x="5826410" y="3109508"/>
            <a:ext cx="2887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FF0000"/>
                </a:solidFill>
              </a:rPr>
              <a:t>No solution for z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83796D8-CA06-40D0-9044-DE8C400665EF}"/>
              </a:ext>
            </a:extLst>
          </p:cNvPr>
          <p:cNvSpPr txBox="1"/>
          <p:nvPr/>
        </p:nvSpPr>
        <p:spPr>
          <a:xfrm>
            <a:off x="5726209" y="6105623"/>
            <a:ext cx="6441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b="1" dirty="0"/>
              <a:t>Macroscopic number of particles occupy the ground state.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73BDAC71-38AB-48AA-A933-2809B087DD74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67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8" grpId="0"/>
      <p:bldP spid="83" grpId="0"/>
      <p:bldP spid="85" grpId="0"/>
      <p:bldP spid="8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0D799-063A-455E-B119-663D6DB06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Non-interacting </a:t>
            </a:r>
            <a:r>
              <a:rPr lang="en-US" dirty="0" err="1"/>
              <a:t>bose</a:t>
            </a:r>
            <a:r>
              <a:rPr lang="en-US" dirty="0"/>
              <a:t> gas: Bose-</a:t>
            </a:r>
            <a:r>
              <a:rPr lang="en-US" dirty="0" err="1"/>
              <a:t>einstein</a:t>
            </a:r>
            <a:r>
              <a:rPr lang="en-US" dirty="0"/>
              <a:t> condensation</a:t>
            </a:r>
            <a:endParaRPr lang="en-MY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DAE2B5-7486-4724-A69B-C71082D12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320" y="6157524"/>
            <a:ext cx="5001224" cy="68578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025CC65-E94E-43AC-BF0F-00127F7AA488}"/>
              </a:ext>
            </a:extLst>
          </p:cNvPr>
          <p:cNvSpPr txBox="1"/>
          <p:nvPr/>
        </p:nvSpPr>
        <p:spPr>
          <a:xfrm>
            <a:off x="5726209" y="6105623"/>
            <a:ext cx="6441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b="1" dirty="0"/>
              <a:t>Macroscopic number of particles occupy the ground state.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5FBC56-F6CC-4D06-BD93-65DA14589384}"/>
              </a:ext>
            </a:extLst>
          </p:cNvPr>
          <p:cNvSpPr txBox="1"/>
          <p:nvPr/>
        </p:nvSpPr>
        <p:spPr>
          <a:xfrm>
            <a:off x="877153" y="1908651"/>
            <a:ext cx="3431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>
                <a:solidFill>
                  <a:srgbClr val="FF0000"/>
                </a:solidFill>
              </a:rPr>
              <a:t>(Low-temperature, high density)</a:t>
            </a:r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D8BD21E9-4787-4115-B1FE-E2DC65C4B8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6243" y="2702636"/>
            <a:ext cx="3616280" cy="1366617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8365694-605D-4372-9F0D-8D87F5D66479}"/>
              </a:ext>
            </a:extLst>
          </p:cNvPr>
          <p:cNvSpPr txBox="1"/>
          <p:nvPr/>
        </p:nvSpPr>
        <p:spPr>
          <a:xfrm>
            <a:off x="16902" y="2273518"/>
            <a:ext cx="1582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Fixed number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CF4901C-F8C4-4EC5-8F73-A9CF582E892B}"/>
              </a:ext>
            </a:extLst>
          </p:cNvPr>
          <p:cNvCxnSpPr>
            <a:cxnSpLocks/>
          </p:cNvCxnSpPr>
          <p:nvPr/>
        </p:nvCxnSpPr>
        <p:spPr>
          <a:xfrm>
            <a:off x="596797" y="2656064"/>
            <a:ext cx="211548" cy="2677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Graphic 29">
            <a:extLst>
              <a:ext uri="{FF2B5EF4-FFF2-40B4-BE49-F238E27FC236}">
                <a16:creationId xmlns:a16="http://schemas.microsoft.com/office/drawing/2014/main" id="{4DD689DF-07E1-49CC-9F08-D9B1317DBB7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2142" y="3837282"/>
            <a:ext cx="2085880" cy="516686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2BD8CE35-B7DE-4340-A18E-F9ABA13A7B4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094399" y="3827337"/>
            <a:ext cx="915403" cy="478506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E43C50C6-3F37-4905-8E99-2A08B8513E46}"/>
              </a:ext>
            </a:extLst>
          </p:cNvPr>
          <p:cNvGrpSpPr/>
          <p:nvPr/>
        </p:nvGrpSpPr>
        <p:grpSpPr>
          <a:xfrm>
            <a:off x="2095044" y="2119484"/>
            <a:ext cx="4534941" cy="846263"/>
            <a:chOff x="2095044" y="2119484"/>
            <a:chExt cx="4534941" cy="846263"/>
          </a:xfrm>
        </p:grpSpPr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365D21C6-287D-47D6-A74A-BC1B463457D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l="20616" r="23801"/>
            <a:stretch/>
          </p:blipFill>
          <p:spPr>
            <a:xfrm>
              <a:off x="4147527" y="2119484"/>
              <a:ext cx="2482458" cy="796750"/>
            </a:xfrm>
            <a:prstGeom prst="rect">
              <a:avLst/>
            </a:prstGeom>
          </p:spPr>
        </p:pic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C657F6C7-9E6E-41DF-9BB5-FA45FBACFB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95044" y="2566072"/>
              <a:ext cx="1814067" cy="39967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9265802A-4D8A-4E69-983F-79B45EA1E278}"/>
              </a:ext>
            </a:extLst>
          </p:cNvPr>
          <p:cNvSpPr txBox="1"/>
          <p:nvPr/>
        </p:nvSpPr>
        <p:spPr>
          <a:xfrm>
            <a:off x="461965" y="4808046"/>
            <a:ext cx="3846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In therm0dynamics limit a V, N </a:t>
            </a:r>
            <a:r>
              <a:rPr lang="en-MY" dirty="0">
                <a:latin typeface="Cambria" panose="02040503050406030204" pitchFamily="18" charset="0"/>
                <a:ea typeface="Cambria" panose="02040503050406030204" pitchFamily="18" charset="0"/>
              </a:rPr>
              <a:t>→ ∞.</a:t>
            </a:r>
            <a:endParaRPr lang="en-MY" dirty="0"/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635CDC46-6052-4CEA-8BC0-B860917F2D5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1792" y="5227315"/>
            <a:ext cx="2826280" cy="423942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2136BC6D-82F3-4FD5-9A3F-11EA63E67AF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61965" y="5651257"/>
            <a:ext cx="3774678" cy="541657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63C7F4FB-B667-4E72-878F-5468E98C49E7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b="16283"/>
          <a:stretch/>
        </p:blipFill>
        <p:spPr>
          <a:xfrm>
            <a:off x="5287760" y="3344573"/>
            <a:ext cx="6628316" cy="2647119"/>
          </a:xfrm>
          <a:prstGeom prst="rect">
            <a:avLst/>
          </a:prstGeom>
        </p:spPr>
      </p:pic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7326B0F-E044-4D1C-B457-5B5386F3EBB1}"/>
              </a:ext>
            </a:extLst>
          </p:cNvPr>
          <p:cNvCxnSpPr/>
          <p:nvPr/>
        </p:nvCxnSpPr>
        <p:spPr>
          <a:xfrm>
            <a:off x="5755907" y="5595838"/>
            <a:ext cx="201168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5DFC7D4-9DB2-42C8-B07B-51D99CAA6B18}"/>
              </a:ext>
            </a:extLst>
          </p:cNvPr>
          <p:cNvCxnSpPr>
            <a:cxnSpLocks/>
          </p:cNvCxnSpPr>
          <p:nvPr/>
        </p:nvCxnSpPr>
        <p:spPr>
          <a:xfrm>
            <a:off x="7729085" y="3530910"/>
            <a:ext cx="539014" cy="0"/>
          </a:xfrm>
          <a:prstGeom prst="line">
            <a:avLst/>
          </a:prstGeom>
          <a:ln w="28575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Group 43">
            <a:extLst>
              <a:ext uri="{FF2B5EF4-FFF2-40B4-BE49-F238E27FC236}">
                <a16:creationId xmlns:a16="http://schemas.microsoft.com/office/drawing/2014/main" id="{6E10B0ED-3F7E-46FA-8363-00FA14BBBBF1}"/>
              </a:ext>
            </a:extLst>
          </p:cNvPr>
          <p:cNvGrpSpPr/>
          <p:nvPr/>
        </p:nvGrpSpPr>
        <p:grpSpPr>
          <a:xfrm>
            <a:off x="5089005" y="3222348"/>
            <a:ext cx="2640080" cy="491558"/>
            <a:chOff x="5089005" y="3472605"/>
            <a:chExt cx="2640080" cy="491558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660054E8-9AF6-4D0D-9F8D-BB9FB338DDA2}"/>
                </a:ext>
              </a:extLst>
            </p:cNvPr>
            <p:cNvCxnSpPr>
              <a:cxnSpLocks/>
            </p:cNvCxnSpPr>
            <p:nvPr/>
          </p:nvCxnSpPr>
          <p:spPr>
            <a:xfrm>
              <a:off x="5570856" y="3769823"/>
              <a:ext cx="2158229" cy="0"/>
            </a:xfrm>
            <a:prstGeom prst="line">
              <a:avLst/>
            </a:prstGeom>
            <a:ln w="19050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6" name="Graphic 45">
              <a:extLst>
                <a:ext uri="{FF2B5EF4-FFF2-40B4-BE49-F238E27FC236}">
                  <a16:creationId xmlns:a16="http://schemas.microsoft.com/office/drawing/2014/main" id="{1AF73676-9632-4A22-AE3E-B85227DA0040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5089005" y="3472605"/>
              <a:ext cx="637204" cy="491558"/>
            </a:xfrm>
            <a:prstGeom prst="rect">
              <a:avLst/>
            </a:prstGeom>
          </p:spPr>
        </p:pic>
      </p:grp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46EF49A-E1DF-43B7-984F-2A0AA87D01E0}"/>
              </a:ext>
            </a:extLst>
          </p:cNvPr>
          <p:cNvCxnSpPr>
            <a:cxnSpLocks/>
          </p:cNvCxnSpPr>
          <p:nvPr/>
        </p:nvCxnSpPr>
        <p:spPr>
          <a:xfrm>
            <a:off x="5675130" y="3951101"/>
            <a:ext cx="2718099" cy="0"/>
          </a:xfrm>
          <a:prstGeom prst="line">
            <a:avLst/>
          </a:prstGeom>
          <a:ln w="190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Picture 50">
            <a:extLst>
              <a:ext uri="{FF2B5EF4-FFF2-40B4-BE49-F238E27FC236}">
                <a16:creationId xmlns:a16="http://schemas.microsoft.com/office/drawing/2014/main" id="{33E1C656-9458-4D20-B7B8-9AA5C969C32B}"/>
              </a:ext>
            </a:extLst>
          </p:cNvPr>
          <p:cNvPicPr>
            <a:picLocks noChangeAspect="1"/>
          </p:cNvPicPr>
          <p:nvPr/>
        </p:nvPicPr>
        <p:blipFill rotWithShape="1">
          <a:blip r:embed="rId17"/>
          <a:srcRect t="5344"/>
          <a:stretch/>
        </p:blipFill>
        <p:spPr>
          <a:xfrm>
            <a:off x="8395909" y="3481066"/>
            <a:ext cx="3614218" cy="2438220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D97BAB1E-12CA-44D1-99AD-533054213AF1}"/>
              </a:ext>
            </a:extLst>
          </p:cNvPr>
          <p:cNvGrpSpPr/>
          <p:nvPr/>
        </p:nvGrpSpPr>
        <p:grpSpPr>
          <a:xfrm>
            <a:off x="8393229" y="3481066"/>
            <a:ext cx="641648" cy="530057"/>
            <a:chOff x="8393229" y="3731323"/>
            <a:chExt cx="641648" cy="530057"/>
          </a:xfrm>
        </p:grpSpPr>
        <p:sp>
          <p:nvSpPr>
            <p:cNvPr id="48" name="Right Brace 47">
              <a:extLst>
                <a:ext uri="{FF2B5EF4-FFF2-40B4-BE49-F238E27FC236}">
                  <a16:creationId xmlns:a16="http://schemas.microsoft.com/office/drawing/2014/main" id="{77110741-6837-4CD9-90D7-70DD69FED432}"/>
                </a:ext>
              </a:extLst>
            </p:cNvPr>
            <p:cNvSpPr/>
            <p:nvPr/>
          </p:nvSpPr>
          <p:spPr>
            <a:xfrm>
              <a:off x="8393229" y="3731323"/>
              <a:ext cx="202131" cy="491557"/>
            </a:xfrm>
            <a:prstGeom prst="rightBrac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pic>
          <p:nvPicPr>
            <p:cNvPr id="49" name="Graphic 48">
              <a:extLst>
                <a:ext uri="{FF2B5EF4-FFF2-40B4-BE49-F238E27FC236}">
                  <a16:creationId xmlns:a16="http://schemas.microsoft.com/office/drawing/2014/main" id="{A4D890FB-1E0E-41E7-86FC-AB620881744F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8566115" y="3824946"/>
              <a:ext cx="468762" cy="436434"/>
            </a:xfrm>
            <a:prstGeom prst="rect">
              <a:avLst/>
            </a:prstGeom>
          </p:spPr>
        </p:pic>
      </p:grpSp>
      <p:pic>
        <p:nvPicPr>
          <p:cNvPr id="5" name="Graphic 4">
            <a:extLst>
              <a:ext uri="{FF2B5EF4-FFF2-40B4-BE49-F238E27FC236}">
                <a16:creationId xmlns:a16="http://schemas.microsoft.com/office/drawing/2014/main" id="{BC33E22E-BDFC-452C-BE02-78F8531AE80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834062" y="3300412"/>
            <a:ext cx="523875" cy="257175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CB6F53D3-33B1-4EBC-9491-ADD1446E989D}"/>
              </a:ext>
            </a:extLst>
          </p:cNvPr>
          <p:cNvSpPr txBox="1"/>
          <p:nvPr/>
        </p:nvSpPr>
        <p:spPr>
          <a:xfrm flipH="1">
            <a:off x="4141707" y="5737419"/>
            <a:ext cx="1776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b="1" dirty="0">
                <a:solidFill>
                  <a:srgbClr val="FF0000"/>
                </a:solidFill>
              </a:rPr>
              <a:t>BEC phase!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A7E0505-73FB-49A5-9235-915FE5808206}"/>
              </a:ext>
            </a:extLst>
          </p:cNvPr>
          <p:cNvGrpSpPr/>
          <p:nvPr/>
        </p:nvGrpSpPr>
        <p:grpSpPr>
          <a:xfrm>
            <a:off x="6868401" y="2012927"/>
            <a:ext cx="5233122" cy="1022132"/>
            <a:chOff x="6868401" y="2012927"/>
            <a:chExt cx="5233122" cy="1022132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4FF35801-74D9-46B5-A223-2306E59625BF}"/>
                </a:ext>
              </a:extLst>
            </p:cNvPr>
            <p:cNvGrpSpPr/>
            <p:nvPr/>
          </p:nvGrpSpPr>
          <p:grpSpPr>
            <a:xfrm>
              <a:off x="8986518" y="2097412"/>
              <a:ext cx="3115005" cy="937647"/>
              <a:chOff x="6968691" y="5646724"/>
              <a:chExt cx="3115005" cy="937647"/>
            </a:xfrm>
          </p:grpSpPr>
          <p:pic>
            <p:nvPicPr>
              <p:cNvPr id="54" name="Picture 53">
                <a:extLst>
                  <a:ext uri="{FF2B5EF4-FFF2-40B4-BE49-F238E27FC236}">
                    <a16:creationId xmlns:a16="http://schemas.microsoft.com/office/drawing/2014/main" id="{9479DE5A-5AEB-47DF-8019-7E0BFF9C88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7601238" y="5646724"/>
                <a:ext cx="2482458" cy="937647"/>
              </a:xfrm>
              <a:prstGeom prst="rect">
                <a:avLst/>
              </a:prstGeom>
            </p:spPr>
          </p:pic>
          <p:sp>
            <p:nvSpPr>
              <p:cNvPr id="55" name="Arrow: Right 54">
                <a:extLst>
                  <a:ext uri="{FF2B5EF4-FFF2-40B4-BE49-F238E27FC236}">
                    <a16:creationId xmlns:a16="http://schemas.microsoft.com/office/drawing/2014/main" id="{A771BC6E-1163-4112-BC30-1484C2DE7485}"/>
                  </a:ext>
                </a:extLst>
              </p:cNvPr>
              <p:cNvSpPr/>
              <p:nvPr/>
            </p:nvSpPr>
            <p:spPr>
              <a:xfrm>
                <a:off x="6968691" y="6030590"/>
                <a:ext cx="500514" cy="273958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Y"/>
              </a:p>
            </p:txBody>
          </p:sp>
        </p:grp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AE7E6D24-B99B-462E-98BC-C3D58C11CC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7753723" y="2371199"/>
              <a:ext cx="1028751" cy="505023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92CBF49-7D2E-491B-A719-51D7937314A1}"/>
                </a:ext>
              </a:extLst>
            </p:cNvPr>
            <p:cNvSpPr txBox="1"/>
            <p:nvPr/>
          </p:nvSpPr>
          <p:spPr>
            <a:xfrm>
              <a:off x="6868401" y="2012927"/>
              <a:ext cx="21633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dirty="0"/>
                <a:t>At transition point:</a:t>
              </a:r>
            </a:p>
          </p:txBody>
        </p:sp>
      </p:grpSp>
      <p:pic>
        <p:nvPicPr>
          <p:cNvPr id="56" name="Picture 55">
            <a:extLst>
              <a:ext uri="{FF2B5EF4-FFF2-40B4-BE49-F238E27FC236}">
                <a16:creationId xmlns:a16="http://schemas.microsoft.com/office/drawing/2014/main" id="{9E050797-25FD-485C-97B4-F98CF285ABD5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999170" y="4329949"/>
            <a:ext cx="990426" cy="259397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270778E6-10E9-4F49-99B8-E15B854296C9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378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80247-609A-48A4-B9A5-5B11D2C2A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Non-interacting: </a:t>
            </a:r>
            <a:r>
              <a:rPr lang="en-US" dirty="0" err="1"/>
              <a:t>bose</a:t>
            </a:r>
            <a:r>
              <a:rPr lang="en-US" dirty="0"/>
              <a:t> gas Bose-</a:t>
            </a:r>
            <a:r>
              <a:rPr lang="en-US" dirty="0" err="1"/>
              <a:t>einstein</a:t>
            </a:r>
            <a:r>
              <a:rPr lang="en-US" dirty="0"/>
              <a:t> condensation</a:t>
            </a:r>
            <a:endParaRPr lang="en-MY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5070C7-719A-4298-8FE8-987E7ED62BB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88453"/>
          <a:stretch/>
        </p:blipFill>
        <p:spPr>
          <a:xfrm>
            <a:off x="601804" y="2425154"/>
            <a:ext cx="716857" cy="10038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81D4A14-4AB9-4BE9-B835-52A88567EAB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1494" r="-99"/>
          <a:stretch/>
        </p:blipFill>
        <p:spPr>
          <a:xfrm>
            <a:off x="1318661" y="2425152"/>
            <a:ext cx="1155032" cy="10038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AE3E4B0-E965-4169-803A-D99D67EEB2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803" y="3546574"/>
            <a:ext cx="1034491" cy="3183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B29C603-CE1C-43B4-A7BE-F125DE4F15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951" y="3984859"/>
            <a:ext cx="1840163" cy="83265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D2E731C-334E-44F7-9694-1D2D7C8674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8633" y="3557164"/>
            <a:ext cx="728425" cy="28370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211FF49-AC2C-4E91-BE47-D5108D78D9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1698" y="4043079"/>
            <a:ext cx="1902295" cy="71667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85DBE49-D132-469B-9D29-D1901929FE95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83548"/>
          <a:stretch/>
        </p:blipFill>
        <p:spPr>
          <a:xfrm>
            <a:off x="3089326" y="2480601"/>
            <a:ext cx="874645" cy="94839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10BE817-8130-4E8B-9AFF-897AC4165843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75716" t="-1018" r="-1057" b="1018"/>
          <a:stretch/>
        </p:blipFill>
        <p:spPr>
          <a:xfrm>
            <a:off x="3963971" y="2480600"/>
            <a:ext cx="1347231" cy="94839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40EAD4C-521E-4FFE-8006-6F7FA6BC312A}"/>
              </a:ext>
            </a:extLst>
          </p:cNvPr>
          <p:cNvSpPr txBox="1"/>
          <p:nvPr/>
        </p:nvSpPr>
        <p:spPr>
          <a:xfrm>
            <a:off x="204938" y="4875346"/>
            <a:ext cx="28078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Volume independent</a:t>
            </a:r>
          </a:p>
          <a:p>
            <a:r>
              <a:rPr lang="en-MY" dirty="0"/>
              <a:t>=&gt; Infinite compressibility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145FB7D-3751-4BC4-95D0-BB46F1684E29}"/>
              </a:ext>
            </a:extLst>
          </p:cNvPr>
          <p:cNvSpPr txBox="1"/>
          <p:nvPr/>
        </p:nvSpPr>
        <p:spPr>
          <a:xfrm>
            <a:off x="3314429" y="4901240"/>
            <a:ext cx="16969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z depends on V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B58D79C-9319-490C-8715-4D26E91F075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8163" y="6301138"/>
            <a:ext cx="2119238" cy="440801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2F369B6E-CA05-4CEB-B524-A77C54EEEC6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45851" y="2480599"/>
            <a:ext cx="5007287" cy="426133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A1A7F43-ED72-4DE9-B58E-A26AE3A513FE}"/>
              </a:ext>
            </a:extLst>
          </p:cNvPr>
          <p:cNvSpPr txBox="1"/>
          <p:nvPr/>
        </p:nvSpPr>
        <p:spPr>
          <a:xfrm>
            <a:off x="4533239" y="3523722"/>
            <a:ext cx="1485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(Normal gas)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ADFC82D-FE12-4FD8-82FC-22823ECF02C6}"/>
              </a:ext>
            </a:extLst>
          </p:cNvPr>
          <p:cNvSpPr txBox="1"/>
          <p:nvPr/>
        </p:nvSpPr>
        <p:spPr>
          <a:xfrm>
            <a:off x="1694449" y="3486831"/>
            <a:ext cx="1531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(Condensate)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C92312E-D832-4785-B229-DAC73D661481}"/>
              </a:ext>
            </a:extLst>
          </p:cNvPr>
          <p:cNvSpPr txBox="1"/>
          <p:nvPr/>
        </p:nvSpPr>
        <p:spPr>
          <a:xfrm rot="20423946">
            <a:off x="9643590" y="4426601"/>
            <a:ext cx="1485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(Normal gas)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52E13D7-BC72-4F18-B71F-31450E213051}"/>
              </a:ext>
            </a:extLst>
          </p:cNvPr>
          <p:cNvSpPr txBox="1"/>
          <p:nvPr/>
        </p:nvSpPr>
        <p:spPr>
          <a:xfrm rot="19901543">
            <a:off x="6741117" y="6231975"/>
            <a:ext cx="1531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(Condensate)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95BBE31-7DC0-4F35-8C04-DCA44A2905C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4280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516BA545-4147-41A8-AC83-A5CE6F16515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83548"/>
          <a:stretch/>
        </p:blipFill>
        <p:spPr>
          <a:xfrm>
            <a:off x="6962058" y="5495156"/>
            <a:ext cx="874645" cy="94839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D2CACA6-C690-40EF-90C9-13F37FB7CF7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5716" t="-1018" r="-1057" b="1018"/>
          <a:stretch/>
        </p:blipFill>
        <p:spPr>
          <a:xfrm>
            <a:off x="7836703" y="5495155"/>
            <a:ext cx="1347231" cy="94839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367C952-63A0-4172-9DBF-D11BFC25E9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7211" y="4696268"/>
            <a:ext cx="4583460" cy="89887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C7748AD-DEBA-4D83-B01A-D4BF4E7939E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3032"/>
          <a:stretch/>
        </p:blipFill>
        <p:spPr>
          <a:xfrm>
            <a:off x="5544822" y="1499998"/>
            <a:ext cx="5801535" cy="324235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FF80247-609A-48A4-B9A5-5B11D2C2A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Non-interacting: </a:t>
            </a:r>
            <a:r>
              <a:rPr lang="en-US" dirty="0" err="1"/>
              <a:t>bose</a:t>
            </a:r>
            <a:r>
              <a:rPr lang="en-US" dirty="0"/>
              <a:t> gas Bose-</a:t>
            </a:r>
            <a:r>
              <a:rPr lang="en-US" dirty="0" err="1"/>
              <a:t>einstein</a:t>
            </a:r>
            <a:r>
              <a:rPr lang="en-US" dirty="0"/>
              <a:t> condensation</a:t>
            </a:r>
            <a:endParaRPr lang="en-MY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7CAF346-5279-4F8A-9610-C017A0E22A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20" y="2023232"/>
            <a:ext cx="4491889" cy="85646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AB6DECE-4DC6-4234-9FAB-75CBCDA71E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846" y="3462817"/>
            <a:ext cx="3988874" cy="70084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0CF7AA8-801A-4C96-8220-11E941C5DDA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643" y="2962815"/>
            <a:ext cx="1034491" cy="31830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B58D79C-9319-490C-8715-4D26E91F075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8163" y="6301138"/>
            <a:ext cx="2119238" cy="44080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E9A1900-D711-4C01-B11A-D64D96E101B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4320" y="4696268"/>
            <a:ext cx="2884679" cy="74692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F64D198-E60C-4A4C-BD76-CA45A1AF7E9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6191" y="4348372"/>
            <a:ext cx="728425" cy="283702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EDCC35D2-9807-48FC-BA49-D4E56F95DC5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8846" y="5494580"/>
            <a:ext cx="3099874" cy="796615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8062EB9C-915F-489D-B75A-8450FFC5001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971468" y="4672313"/>
            <a:ext cx="2549481" cy="85646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7E7DCA9-1DD7-4CD5-8267-7B1F639A597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93927" y="5403656"/>
            <a:ext cx="2498077" cy="7008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E2DF7A3-DD45-4BF5-8BE1-E5D59A59CA4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123052" y="6064960"/>
            <a:ext cx="2239826" cy="70084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BAE5B22-4340-4A54-8FFE-E69F3FDE2143}"/>
              </a:ext>
            </a:extLst>
          </p:cNvPr>
          <p:cNvSpPr txBox="1"/>
          <p:nvPr/>
        </p:nvSpPr>
        <p:spPr>
          <a:xfrm>
            <a:off x="9643590" y="2720650"/>
            <a:ext cx="13404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/>
              <a:t>(Normal gas)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4B2927-9720-4F25-9D96-C311EDDF7185}"/>
              </a:ext>
            </a:extLst>
          </p:cNvPr>
          <p:cNvSpPr txBox="1"/>
          <p:nvPr/>
        </p:nvSpPr>
        <p:spPr>
          <a:xfrm>
            <a:off x="6979304" y="4045085"/>
            <a:ext cx="13798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/>
              <a:t>(Condensate)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016F80AC-41FC-4339-95CD-D2A2F055362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9536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E543150-4D66-49D3-BBAD-73F275260C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3813" y="2583533"/>
            <a:ext cx="5032692" cy="20718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A3747AB-BAFB-4E99-A034-7DCAEE874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Possible reason for </a:t>
            </a:r>
            <a:r>
              <a:rPr lang="en-MY" dirty="0" err="1"/>
              <a:t>bose</a:t>
            </a:r>
            <a:r>
              <a:rPr lang="en-MY" dirty="0"/>
              <a:t>-Einstein condensation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29B29B-6BBD-44CB-9C05-734F38B5F8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960" y="3854470"/>
            <a:ext cx="3964310" cy="5589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98B6EE1-5F80-49DF-9E57-4EEDA35DD879}"/>
              </a:ext>
            </a:extLst>
          </p:cNvPr>
          <p:cNvSpPr txBox="1"/>
          <p:nvPr/>
        </p:nvSpPr>
        <p:spPr>
          <a:xfrm>
            <a:off x="885524" y="2346778"/>
            <a:ext cx="2464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dirty="0"/>
              <a:t>N=2 system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9F2095-7C46-4CC4-A489-E75826BB9859}"/>
              </a:ext>
            </a:extLst>
          </p:cNvPr>
          <p:cNvSpPr txBox="1"/>
          <p:nvPr/>
        </p:nvSpPr>
        <p:spPr>
          <a:xfrm>
            <a:off x="227513" y="3417533"/>
            <a:ext cx="3122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Density matrix in real space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C933E081-9CB0-40F0-BC95-6CB4BD1876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920711" y="5140689"/>
            <a:ext cx="6750726" cy="67970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EE7BFA2-CE69-46CE-A01B-6B750E3A1B26}"/>
              </a:ext>
            </a:extLst>
          </p:cNvPr>
          <p:cNvSpPr txBox="1"/>
          <p:nvPr/>
        </p:nvSpPr>
        <p:spPr>
          <a:xfrm>
            <a:off x="5370897" y="6036865"/>
            <a:ext cx="4629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Virial expansion, just like interacting gas!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83D1A65-6296-43B3-B716-08A730DC68EF}"/>
              </a:ext>
            </a:extLst>
          </p:cNvPr>
          <p:cNvGrpSpPr/>
          <p:nvPr/>
        </p:nvGrpSpPr>
        <p:grpSpPr>
          <a:xfrm>
            <a:off x="7045694" y="4625917"/>
            <a:ext cx="2370219" cy="514772"/>
            <a:chOff x="7045694" y="4625917"/>
            <a:chExt cx="2370219" cy="514772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1438BBFF-0266-46F0-83AA-2625067E65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45694" y="4923118"/>
              <a:ext cx="288757" cy="21757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5C27E64-8F0E-4261-A94A-2357BBC20933}"/>
                </a:ext>
              </a:extLst>
            </p:cNvPr>
            <p:cNvSpPr txBox="1"/>
            <p:nvPr/>
          </p:nvSpPr>
          <p:spPr>
            <a:xfrm>
              <a:off x="7190072" y="4625917"/>
              <a:ext cx="22258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dirty="0"/>
                <a:t>Statistical force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D8137C5-648B-444F-828C-B17A256BB74A}"/>
              </a:ext>
            </a:extLst>
          </p:cNvPr>
          <p:cNvGrpSpPr/>
          <p:nvPr/>
        </p:nvGrpSpPr>
        <p:grpSpPr>
          <a:xfrm>
            <a:off x="8855241" y="4450003"/>
            <a:ext cx="2695075" cy="690686"/>
            <a:chOff x="8855241" y="4450003"/>
            <a:chExt cx="2695075" cy="690686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4A26BBE-258A-442A-963E-4752F8E47CA8}"/>
                </a:ext>
              </a:extLst>
            </p:cNvPr>
            <p:cNvSpPr txBox="1"/>
            <p:nvPr/>
          </p:nvSpPr>
          <p:spPr>
            <a:xfrm flipH="1">
              <a:off x="9180094" y="4450003"/>
              <a:ext cx="237022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dirty="0"/>
                <a:t>Attractive for boson</a:t>
              </a:r>
            </a:p>
            <a:p>
              <a:r>
                <a:rPr lang="en-MY" dirty="0"/>
                <a:t>Repulsive for fermion</a:t>
              </a:r>
            </a:p>
          </p:txBody>
        </p:sp>
        <p:sp>
          <p:nvSpPr>
            <p:cNvPr id="23" name="Left Brace 22">
              <a:extLst>
                <a:ext uri="{FF2B5EF4-FFF2-40B4-BE49-F238E27FC236}">
                  <a16:creationId xmlns:a16="http://schemas.microsoft.com/office/drawing/2014/main" id="{8EF9D31A-1F47-438E-96C1-76FF72BA2DAB}"/>
                </a:ext>
              </a:extLst>
            </p:cNvPr>
            <p:cNvSpPr/>
            <p:nvPr/>
          </p:nvSpPr>
          <p:spPr>
            <a:xfrm>
              <a:off x="8855241" y="4450003"/>
              <a:ext cx="366685" cy="690686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CD11831D-AA5A-4745-8227-B2F9368CAF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5707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0D799-063A-455E-B119-663D6DB06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condition for BEC</a:t>
            </a:r>
            <a:endParaRPr lang="en-MY" dirty="0"/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D8BD21E9-4787-4115-B1FE-E2DC65C4B8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243" y="2702636"/>
            <a:ext cx="3616280" cy="1366617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8365694-605D-4372-9F0D-8D87F5D66479}"/>
              </a:ext>
            </a:extLst>
          </p:cNvPr>
          <p:cNvSpPr txBox="1"/>
          <p:nvPr/>
        </p:nvSpPr>
        <p:spPr>
          <a:xfrm>
            <a:off x="16902" y="2273518"/>
            <a:ext cx="1582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Fixed number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CF4901C-F8C4-4EC5-8F73-A9CF582E892B}"/>
              </a:ext>
            </a:extLst>
          </p:cNvPr>
          <p:cNvCxnSpPr>
            <a:cxnSpLocks/>
          </p:cNvCxnSpPr>
          <p:nvPr/>
        </p:nvCxnSpPr>
        <p:spPr>
          <a:xfrm>
            <a:off x="596797" y="2656064"/>
            <a:ext cx="211548" cy="2677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Graphic 29">
            <a:extLst>
              <a:ext uri="{FF2B5EF4-FFF2-40B4-BE49-F238E27FC236}">
                <a16:creationId xmlns:a16="http://schemas.microsoft.com/office/drawing/2014/main" id="{4DD689DF-07E1-49CC-9F08-D9B1317DBB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2142" y="3837282"/>
            <a:ext cx="2085880" cy="516686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2BD8CE35-B7DE-4340-A18E-F9ABA13A7B4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094399" y="3827337"/>
            <a:ext cx="915403" cy="478506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E43C50C6-3F37-4905-8E99-2A08B8513E46}"/>
              </a:ext>
            </a:extLst>
          </p:cNvPr>
          <p:cNvGrpSpPr/>
          <p:nvPr/>
        </p:nvGrpSpPr>
        <p:grpSpPr>
          <a:xfrm>
            <a:off x="2095044" y="2119484"/>
            <a:ext cx="4534941" cy="846263"/>
            <a:chOff x="2095044" y="2119484"/>
            <a:chExt cx="4534941" cy="846263"/>
          </a:xfrm>
        </p:grpSpPr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365D21C6-287D-47D6-A74A-BC1B463457D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l="20616" r="23801"/>
            <a:stretch/>
          </p:blipFill>
          <p:spPr>
            <a:xfrm>
              <a:off x="4147527" y="2119484"/>
              <a:ext cx="2482458" cy="796750"/>
            </a:xfrm>
            <a:prstGeom prst="rect">
              <a:avLst/>
            </a:prstGeom>
          </p:spPr>
        </p:pic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C657F6C7-9E6E-41DF-9BB5-FA45FBACFB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95044" y="2566072"/>
              <a:ext cx="1814067" cy="39967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5" name="Picture 34">
            <a:extLst>
              <a:ext uri="{FF2B5EF4-FFF2-40B4-BE49-F238E27FC236}">
                <a16:creationId xmlns:a16="http://schemas.microsoft.com/office/drawing/2014/main" id="{D23960E0-68CC-4F8A-81BF-A0E25544EFD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99170" y="4426200"/>
            <a:ext cx="990426" cy="259397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265802A-4D8A-4E69-983F-79B45EA1E278}"/>
              </a:ext>
            </a:extLst>
          </p:cNvPr>
          <p:cNvSpPr txBox="1"/>
          <p:nvPr/>
        </p:nvSpPr>
        <p:spPr>
          <a:xfrm>
            <a:off x="461965" y="4808046"/>
            <a:ext cx="3846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In therm0dynamics limit a V, N </a:t>
            </a:r>
            <a:r>
              <a:rPr lang="en-MY" dirty="0">
                <a:latin typeface="Cambria" panose="02040503050406030204" pitchFamily="18" charset="0"/>
                <a:ea typeface="Cambria" panose="02040503050406030204" pitchFamily="18" charset="0"/>
              </a:rPr>
              <a:t>→ ∞.</a:t>
            </a:r>
            <a:endParaRPr lang="en-MY" dirty="0"/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635CDC46-6052-4CEA-8BC0-B860917F2D5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1792" y="5227315"/>
            <a:ext cx="2826280" cy="423942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2136BC6D-82F3-4FD5-9A3F-11EA63E67AF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61965" y="5651257"/>
            <a:ext cx="3774678" cy="541657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63C7F4FB-B667-4E72-878F-5468E98C49E7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b="16283"/>
          <a:stretch/>
        </p:blipFill>
        <p:spPr>
          <a:xfrm>
            <a:off x="5287760" y="3344573"/>
            <a:ext cx="6628316" cy="2647119"/>
          </a:xfrm>
          <a:prstGeom prst="rect">
            <a:avLst/>
          </a:prstGeom>
        </p:spPr>
      </p:pic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7326B0F-E044-4D1C-B457-5B5386F3EBB1}"/>
              </a:ext>
            </a:extLst>
          </p:cNvPr>
          <p:cNvCxnSpPr/>
          <p:nvPr/>
        </p:nvCxnSpPr>
        <p:spPr>
          <a:xfrm>
            <a:off x="5755907" y="5595838"/>
            <a:ext cx="201168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Group 43">
            <a:extLst>
              <a:ext uri="{FF2B5EF4-FFF2-40B4-BE49-F238E27FC236}">
                <a16:creationId xmlns:a16="http://schemas.microsoft.com/office/drawing/2014/main" id="{6E10B0ED-3F7E-46FA-8363-00FA14BBBBF1}"/>
              </a:ext>
            </a:extLst>
          </p:cNvPr>
          <p:cNvGrpSpPr/>
          <p:nvPr/>
        </p:nvGrpSpPr>
        <p:grpSpPr>
          <a:xfrm>
            <a:off x="5089005" y="3222348"/>
            <a:ext cx="2640080" cy="491558"/>
            <a:chOff x="5089005" y="3472605"/>
            <a:chExt cx="2640080" cy="491558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660054E8-9AF6-4D0D-9F8D-BB9FB338DDA2}"/>
                </a:ext>
              </a:extLst>
            </p:cNvPr>
            <p:cNvCxnSpPr>
              <a:cxnSpLocks/>
            </p:cNvCxnSpPr>
            <p:nvPr/>
          </p:nvCxnSpPr>
          <p:spPr>
            <a:xfrm>
              <a:off x="5570856" y="3769823"/>
              <a:ext cx="2158229" cy="0"/>
            </a:xfrm>
            <a:prstGeom prst="line">
              <a:avLst/>
            </a:prstGeom>
            <a:ln w="19050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6" name="Graphic 45">
              <a:extLst>
                <a:ext uri="{FF2B5EF4-FFF2-40B4-BE49-F238E27FC236}">
                  <a16:creationId xmlns:a16="http://schemas.microsoft.com/office/drawing/2014/main" id="{1AF73676-9632-4A22-AE3E-B85227DA0040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5089005" y="3472605"/>
              <a:ext cx="637204" cy="491558"/>
            </a:xfrm>
            <a:prstGeom prst="rect">
              <a:avLst/>
            </a:prstGeom>
          </p:spPr>
        </p:pic>
      </p:grp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46EF49A-E1DF-43B7-984F-2A0AA87D01E0}"/>
              </a:ext>
            </a:extLst>
          </p:cNvPr>
          <p:cNvCxnSpPr>
            <a:cxnSpLocks/>
          </p:cNvCxnSpPr>
          <p:nvPr/>
        </p:nvCxnSpPr>
        <p:spPr>
          <a:xfrm>
            <a:off x="5675130" y="3951101"/>
            <a:ext cx="2718099" cy="0"/>
          </a:xfrm>
          <a:prstGeom prst="line">
            <a:avLst/>
          </a:prstGeom>
          <a:ln w="190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FF35801-74D9-46B5-A223-2306E59625BF}"/>
              </a:ext>
            </a:extLst>
          </p:cNvPr>
          <p:cNvGrpSpPr/>
          <p:nvPr/>
        </p:nvGrpSpPr>
        <p:grpSpPr>
          <a:xfrm>
            <a:off x="8986518" y="2097412"/>
            <a:ext cx="3115005" cy="937647"/>
            <a:chOff x="6968691" y="5646724"/>
            <a:chExt cx="3115005" cy="937647"/>
          </a:xfrm>
        </p:grpSpPr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9479DE5A-5AEB-47DF-8019-7E0BFF9C88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7601238" y="5646724"/>
              <a:ext cx="2482458" cy="937647"/>
            </a:xfrm>
            <a:prstGeom prst="rect">
              <a:avLst/>
            </a:prstGeom>
          </p:spPr>
        </p:pic>
        <p:sp>
          <p:nvSpPr>
            <p:cNvPr id="55" name="Arrow: Right 54">
              <a:extLst>
                <a:ext uri="{FF2B5EF4-FFF2-40B4-BE49-F238E27FC236}">
                  <a16:creationId xmlns:a16="http://schemas.microsoft.com/office/drawing/2014/main" id="{A771BC6E-1163-4112-BC30-1484C2DE7485}"/>
                </a:ext>
              </a:extLst>
            </p:cNvPr>
            <p:cNvSpPr/>
            <p:nvPr/>
          </p:nvSpPr>
          <p:spPr>
            <a:xfrm>
              <a:off x="6968691" y="6030590"/>
              <a:ext cx="500514" cy="273958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pic>
        <p:nvPicPr>
          <p:cNvPr id="5" name="Graphic 4">
            <a:extLst>
              <a:ext uri="{FF2B5EF4-FFF2-40B4-BE49-F238E27FC236}">
                <a16:creationId xmlns:a16="http://schemas.microsoft.com/office/drawing/2014/main" id="{BC33E22E-BDFC-452C-BE02-78F8531AE80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834062" y="3300412"/>
            <a:ext cx="523875" cy="257175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AE7E6D24-B99B-462E-98BC-C3D58C11CC4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753723" y="2371199"/>
            <a:ext cx="1028751" cy="50502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92CBF49-7D2E-491B-A719-51D7937314A1}"/>
              </a:ext>
            </a:extLst>
          </p:cNvPr>
          <p:cNvSpPr txBox="1"/>
          <p:nvPr/>
        </p:nvSpPr>
        <p:spPr>
          <a:xfrm>
            <a:off x="6868401" y="2012927"/>
            <a:ext cx="2163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At transition point: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1FFDBB7-12AA-4862-A121-95C285B37045}"/>
              </a:ext>
            </a:extLst>
          </p:cNvPr>
          <p:cNvGrpSpPr/>
          <p:nvPr/>
        </p:nvGrpSpPr>
        <p:grpSpPr>
          <a:xfrm>
            <a:off x="-43984" y="1877186"/>
            <a:ext cx="4228949" cy="1723506"/>
            <a:chOff x="-43984" y="1877186"/>
            <a:chExt cx="4228949" cy="1723506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8187B667-EBA7-4273-991A-4A25BAFDC3DA}"/>
                </a:ext>
              </a:extLst>
            </p:cNvPr>
            <p:cNvSpPr/>
            <p:nvPr/>
          </p:nvSpPr>
          <p:spPr>
            <a:xfrm>
              <a:off x="16902" y="2273518"/>
              <a:ext cx="1503890" cy="1327174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C140EFA-E3D6-4FE0-9395-FFAD2400D390}"/>
                </a:ext>
              </a:extLst>
            </p:cNvPr>
            <p:cNvSpPr txBox="1"/>
            <p:nvPr/>
          </p:nvSpPr>
          <p:spPr>
            <a:xfrm>
              <a:off x="-43984" y="1877186"/>
              <a:ext cx="42289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dirty="0">
                  <a:solidFill>
                    <a:srgbClr val="FF0000"/>
                  </a:solidFill>
                </a:rPr>
                <a:t>1. Number of particle must be conserved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7413EF4-E4C1-4E6D-87A7-6854DDC2BB1C}"/>
              </a:ext>
            </a:extLst>
          </p:cNvPr>
          <p:cNvGrpSpPr/>
          <p:nvPr/>
        </p:nvGrpSpPr>
        <p:grpSpPr>
          <a:xfrm>
            <a:off x="4087750" y="1565599"/>
            <a:ext cx="4656709" cy="1400148"/>
            <a:chOff x="4087750" y="1565599"/>
            <a:chExt cx="4656709" cy="1400148"/>
          </a:xfrm>
        </p:grpSpPr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82B7CE14-CC8C-44E3-BA28-8323F400EFCE}"/>
                </a:ext>
              </a:extLst>
            </p:cNvPr>
            <p:cNvSpPr/>
            <p:nvPr/>
          </p:nvSpPr>
          <p:spPr>
            <a:xfrm>
              <a:off x="4087750" y="2028099"/>
              <a:ext cx="2648617" cy="937648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8FED299-DC87-4724-8FA9-CB1D1BF5C3AC}"/>
                </a:ext>
              </a:extLst>
            </p:cNvPr>
            <p:cNvSpPr txBox="1"/>
            <p:nvPr/>
          </p:nvSpPr>
          <p:spPr>
            <a:xfrm>
              <a:off x="4515510" y="1565599"/>
              <a:ext cx="42289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dirty="0">
                  <a:solidFill>
                    <a:srgbClr val="FF0000"/>
                  </a:solidFill>
                </a:rPr>
                <a:t>2. must be upper bounded at z=1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1377B2D-0AC3-4624-8EA7-C4C5274429E2}"/>
              </a:ext>
            </a:extLst>
          </p:cNvPr>
          <p:cNvGrpSpPr/>
          <p:nvPr/>
        </p:nvGrpSpPr>
        <p:grpSpPr>
          <a:xfrm>
            <a:off x="461964" y="5679581"/>
            <a:ext cx="4138911" cy="1112238"/>
            <a:chOff x="461964" y="5679581"/>
            <a:chExt cx="4138911" cy="1112238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6C62C03B-D4FE-4C1B-B1CA-898DEE4B2CD6}"/>
                </a:ext>
              </a:extLst>
            </p:cNvPr>
            <p:cNvSpPr txBox="1"/>
            <p:nvPr/>
          </p:nvSpPr>
          <p:spPr>
            <a:xfrm>
              <a:off x="1154139" y="6145488"/>
              <a:ext cx="336137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dirty="0">
                  <a:solidFill>
                    <a:srgbClr val="FF0000"/>
                  </a:solidFill>
                </a:rPr>
                <a:t>3. In BEC phase, z=1, </a:t>
              </a:r>
            </a:p>
            <a:p>
              <a:r>
                <a:rPr lang="en-MY" dirty="0">
                  <a:solidFill>
                    <a:srgbClr val="FF0000"/>
                  </a:solidFill>
                </a:rPr>
                <a:t>N</a:t>
              </a:r>
              <a:r>
                <a:rPr lang="en-MY" baseline="-25000" dirty="0">
                  <a:solidFill>
                    <a:srgbClr val="FF0000"/>
                  </a:solidFill>
                </a:rPr>
                <a:t>0</a:t>
              </a:r>
              <a:r>
                <a:rPr lang="en-MY" dirty="0">
                  <a:solidFill>
                    <a:srgbClr val="FF0000"/>
                  </a:solidFill>
                </a:rPr>
                <a:t> can be any nonzero number</a:t>
              </a:r>
            </a:p>
          </p:txBody>
        </p:sp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DF004C84-32B4-4E78-A1BC-2AFF12122BB8}"/>
                </a:ext>
              </a:extLst>
            </p:cNvPr>
            <p:cNvSpPr/>
            <p:nvPr/>
          </p:nvSpPr>
          <p:spPr>
            <a:xfrm>
              <a:off x="461964" y="5679581"/>
              <a:ext cx="4138911" cy="1112237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dirty="0"/>
            </a:p>
          </p:txBody>
        </p:sp>
      </p:grpSp>
      <p:pic>
        <p:nvPicPr>
          <p:cNvPr id="60" name="Picture 59">
            <a:extLst>
              <a:ext uri="{FF2B5EF4-FFF2-40B4-BE49-F238E27FC236}">
                <a16:creationId xmlns:a16="http://schemas.microsoft.com/office/drawing/2014/main" id="{F7354CCB-CD78-4572-A5D8-A4BDDD7AF032}"/>
              </a:ext>
            </a:extLst>
          </p:cNvPr>
          <p:cNvPicPr>
            <a:picLocks noChangeAspect="1"/>
          </p:cNvPicPr>
          <p:nvPr/>
        </p:nvPicPr>
        <p:blipFill rotWithShape="1">
          <a:blip r:embed="rId20"/>
          <a:srcRect t="5344"/>
          <a:stretch/>
        </p:blipFill>
        <p:spPr>
          <a:xfrm>
            <a:off x="8559538" y="3481066"/>
            <a:ext cx="3614218" cy="2438220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D97BAB1E-12CA-44D1-99AD-533054213AF1}"/>
              </a:ext>
            </a:extLst>
          </p:cNvPr>
          <p:cNvGrpSpPr/>
          <p:nvPr/>
        </p:nvGrpSpPr>
        <p:grpSpPr>
          <a:xfrm>
            <a:off x="8393229" y="3481066"/>
            <a:ext cx="641648" cy="530057"/>
            <a:chOff x="8393229" y="3731323"/>
            <a:chExt cx="641648" cy="530057"/>
          </a:xfrm>
        </p:grpSpPr>
        <p:sp>
          <p:nvSpPr>
            <p:cNvPr id="48" name="Right Brace 47">
              <a:extLst>
                <a:ext uri="{FF2B5EF4-FFF2-40B4-BE49-F238E27FC236}">
                  <a16:creationId xmlns:a16="http://schemas.microsoft.com/office/drawing/2014/main" id="{77110741-6837-4CD9-90D7-70DD69FED432}"/>
                </a:ext>
              </a:extLst>
            </p:cNvPr>
            <p:cNvSpPr/>
            <p:nvPr/>
          </p:nvSpPr>
          <p:spPr>
            <a:xfrm>
              <a:off x="8393229" y="3731323"/>
              <a:ext cx="202131" cy="491557"/>
            </a:xfrm>
            <a:prstGeom prst="rightBrac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pic>
          <p:nvPicPr>
            <p:cNvPr id="49" name="Graphic 48">
              <a:extLst>
                <a:ext uri="{FF2B5EF4-FFF2-40B4-BE49-F238E27FC236}">
                  <a16:creationId xmlns:a16="http://schemas.microsoft.com/office/drawing/2014/main" id="{A4D890FB-1E0E-41E7-86FC-AB62088174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8566115" y="3824946"/>
              <a:ext cx="468762" cy="436434"/>
            </a:xfrm>
            <a:prstGeom prst="rect">
              <a:avLst/>
            </a:prstGeom>
          </p:spPr>
        </p:pic>
      </p:grp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5DFC7D4-9DB2-42C8-B07B-51D99CAA6B18}"/>
              </a:ext>
            </a:extLst>
          </p:cNvPr>
          <p:cNvCxnSpPr>
            <a:cxnSpLocks/>
          </p:cNvCxnSpPr>
          <p:nvPr/>
        </p:nvCxnSpPr>
        <p:spPr>
          <a:xfrm>
            <a:off x="7729085" y="3530910"/>
            <a:ext cx="539014" cy="0"/>
          </a:xfrm>
          <a:prstGeom prst="line">
            <a:avLst/>
          </a:prstGeom>
          <a:ln w="28575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40">
            <a:extLst>
              <a:ext uri="{FF2B5EF4-FFF2-40B4-BE49-F238E27FC236}">
                <a16:creationId xmlns:a16="http://schemas.microsoft.com/office/drawing/2014/main" id="{FD03F0FE-5105-447B-9934-315CD31B7AE7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931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B3D40-4CC0-4703-99A6-38D056C40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Atomic gas in optical trap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C1BACA-7570-4FBE-9F44-9FD9FE370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521" y="1767197"/>
            <a:ext cx="3046771" cy="5445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4243E9-D8B1-4218-9362-D2F61B7835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641" y="2538198"/>
            <a:ext cx="5198067" cy="5360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74A0FC1-0D4A-46E0-AD42-445170DED3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9710"/>
          <a:stretch/>
        </p:blipFill>
        <p:spPr>
          <a:xfrm>
            <a:off x="169185" y="3165326"/>
            <a:ext cx="5986419" cy="8767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156DAF4-9E2D-486B-B62B-B185C34C30A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6094" b="-1"/>
          <a:stretch/>
        </p:blipFill>
        <p:spPr>
          <a:xfrm>
            <a:off x="282715" y="4294110"/>
            <a:ext cx="3191577" cy="60498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530F413-D61E-4CEA-93F9-FC82076222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0377" y="4989003"/>
            <a:ext cx="1895781" cy="83898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34C106C-124D-4BE4-B8B9-CACB846C1E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3238" y="1832971"/>
            <a:ext cx="3046772" cy="248255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2C3FB4F-48DE-4749-BF4C-2A18F3FAED5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04582" y="4291858"/>
            <a:ext cx="3692225" cy="245733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76631E1-B568-4BDF-85F4-070C74F3BD7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4917" y="5917899"/>
            <a:ext cx="1228896" cy="79068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E4D2EF4-D5F1-4E59-BED7-B9AE3EC8189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00994" y="5945968"/>
            <a:ext cx="2686425" cy="74305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A7EB4544-CB85-4BC2-861C-43031BF974F2}"/>
              </a:ext>
            </a:extLst>
          </p:cNvPr>
          <p:cNvSpPr txBox="1"/>
          <p:nvPr/>
        </p:nvSpPr>
        <p:spPr>
          <a:xfrm>
            <a:off x="5203089" y="6088118"/>
            <a:ext cx="1676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100n K for Rb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847458F-A86D-4AED-9097-2B4A3EB4F9D9}"/>
              </a:ext>
            </a:extLst>
          </p:cNvPr>
          <p:cNvSpPr txBox="1"/>
          <p:nvPr/>
        </p:nvSpPr>
        <p:spPr>
          <a:xfrm flipH="1">
            <a:off x="3955318" y="1925210"/>
            <a:ext cx="2495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b="1" dirty="0"/>
              <a:t>Weakly interacting</a:t>
            </a:r>
            <a:endParaRPr lang="en-MY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142A9CF-407C-43C8-8747-992D87B6F62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42389" y="1866323"/>
            <a:ext cx="2537344" cy="242778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BF17C16-3C43-4079-83FC-4A2A1265ABB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2541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9EBCF-E134-4F3C-A1E4-28F261F46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Superfluid in He</a:t>
            </a:r>
            <a:r>
              <a:rPr lang="en-MY" baseline="-25000" dirty="0"/>
              <a:t>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36C1E6-1C41-4F0F-A514-C5D97B234A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649889"/>
            <a:ext cx="4391638" cy="38105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ECEB243-38EC-4958-B451-97F4DA3C120B}"/>
              </a:ext>
            </a:extLst>
          </p:cNvPr>
          <p:cNvSpPr txBox="1"/>
          <p:nvPr/>
        </p:nvSpPr>
        <p:spPr>
          <a:xfrm>
            <a:off x="664144" y="2604170"/>
            <a:ext cx="3185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b="1" dirty="0"/>
              <a:t>Strongly interacting system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3EC814-B053-4D7C-AF90-D0F29122D104}"/>
              </a:ext>
            </a:extLst>
          </p:cNvPr>
          <p:cNvSpPr txBox="1"/>
          <p:nvPr/>
        </p:nvSpPr>
        <p:spPr>
          <a:xfrm flipH="1">
            <a:off x="2230654" y="3059667"/>
            <a:ext cx="2245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Very hard problem!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27DEC0-EBD3-4CB8-8373-2A1A307B6B0D}"/>
              </a:ext>
            </a:extLst>
          </p:cNvPr>
          <p:cNvSpPr txBox="1"/>
          <p:nvPr/>
        </p:nvSpPr>
        <p:spPr>
          <a:xfrm flipH="1">
            <a:off x="880198" y="3649589"/>
            <a:ext cx="41441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Tc = 2.17 K </a:t>
            </a:r>
          </a:p>
          <a:p>
            <a:endParaRPr lang="en-MY" dirty="0"/>
          </a:p>
          <a:p>
            <a:r>
              <a:rPr lang="en-MY" dirty="0"/>
              <a:t>(much larger Tc due to interaction)</a:t>
            </a:r>
          </a:p>
        </p:txBody>
      </p:sp>
      <p:pic>
        <p:nvPicPr>
          <p:cNvPr id="1026" name="Picture 2" descr="Glasgow University Amnesty International » Newsletter 2015-02-08: More ...">
            <a:extLst>
              <a:ext uri="{FF2B5EF4-FFF2-40B4-BE49-F238E27FC236}">
                <a16:creationId xmlns:a16="http://schemas.microsoft.com/office/drawing/2014/main" id="{72F3B1BB-7C66-4062-B755-C7DB6CD8E07B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6106" y="4793509"/>
            <a:ext cx="3048000" cy="1724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8C81E3F-A741-4BDA-8B0F-84E0E388C41D}"/>
              </a:ext>
            </a:extLst>
          </p:cNvPr>
          <p:cNvSpPr txBox="1"/>
          <p:nvPr/>
        </p:nvSpPr>
        <p:spPr>
          <a:xfrm>
            <a:off x="695681" y="5265441"/>
            <a:ext cx="15317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Zero viscosity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75D8635-6533-4AD7-974D-CF630ED922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2661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94CE8C0-3742-46F5-B2A1-91891D2302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07" y="1895034"/>
            <a:ext cx="3067478" cy="487748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6EE02FE-EA5B-4B13-86D5-E67390479C01}"/>
              </a:ext>
            </a:extLst>
          </p:cNvPr>
          <p:cNvSpPr txBox="1"/>
          <p:nvPr/>
        </p:nvSpPr>
        <p:spPr>
          <a:xfrm rot="16200000">
            <a:off x="-610003" y="3476127"/>
            <a:ext cx="17400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continuous in k</a:t>
            </a:r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D73A92BF-1184-41A2-B027-9C83C87A1F99}"/>
              </a:ext>
            </a:extLst>
          </p:cNvPr>
          <p:cNvSpPr/>
          <p:nvPr/>
        </p:nvSpPr>
        <p:spPr>
          <a:xfrm>
            <a:off x="409507" y="2935705"/>
            <a:ext cx="369333" cy="359022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0ACF2A-2886-45F8-B80B-9AC423AD4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Non-interacting bosons: Black body (cavity EM fields) </a:t>
            </a:r>
            <a:endParaRPr lang="en-MY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6694BD3-5788-4C7C-B25E-9076049F29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99888" y="2238696"/>
            <a:ext cx="1103906" cy="4978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631E6A7-B129-44E9-9296-2B000446E568}"/>
              </a:ext>
            </a:extLst>
          </p:cNvPr>
          <p:cNvSpPr txBox="1"/>
          <p:nvPr/>
        </p:nvSpPr>
        <p:spPr>
          <a:xfrm flipH="1">
            <a:off x="1867219" y="1881589"/>
            <a:ext cx="2270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Photon energy: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74651D-2976-44D5-806A-5A94B21B6833}"/>
              </a:ext>
            </a:extLst>
          </p:cNvPr>
          <p:cNvSpPr txBox="1"/>
          <p:nvPr/>
        </p:nvSpPr>
        <p:spPr>
          <a:xfrm>
            <a:off x="2576217" y="3259216"/>
            <a:ext cx="1656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2 polarizations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3D1B458A-08DF-4841-A0F0-E624C94BECE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57056" y="2678482"/>
            <a:ext cx="1806788" cy="50590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DD127A8-4702-421B-BC4C-8D5E473E1A99}"/>
              </a:ext>
            </a:extLst>
          </p:cNvPr>
          <p:cNvSpPr txBox="1"/>
          <p:nvPr/>
        </p:nvSpPr>
        <p:spPr>
          <a:xfrm>
            <a:off x="4278442" y="2287669"/>
            <a:ext cx="2263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Occupation number: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A9C0B9D9-6C09-4E00-9C88-A6D5A985021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47765" y="2666626"/>
            <a:ext cx="1994566" cy="720726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87E8785E-A28C-4070-9097-82670F15834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43543" y="2545409"/>
            <a:ext cx="1978553" cy="1072346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404E394-6D85-49B9-9C39-10004B98568F}"/>
              </a:ext>
            </a:extLst>
          </p:cNvPr>
          <p:cNvCxnSpPr/>
          <p:nvPr/>
        </p:nvCxnSpPr>
        <p:spPr>
          <a:xfrm>
            <a:off x="2839453" y="3555226"/>
            <a:ext cx="0" cy="2420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Graphic 21">
            <a:extLst>
              <a:ext uri="{FF2B5EF4-FFF2-40B4-BE49-F238E27FC236}">
                <a16:creationId xmlns:a16="http://schemas.microsoft.com/office/drawing/2014/main" id="{F1E1E8D9-59C1-4EA7-8C5F-F87BE6A832D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21360221">
            <a:off x="-20439" y="4478281"/>
            <a:ext cx="548991" cy="505072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9347F1A1-7603-442D-9D0B-A58CC510A3FF}"/>
              </a:ext>
            </a:extLst>
          </p:cNvPr>
          <p:cNvGrpSpPr/>
          <p:nvPr/>
        </p:nvGrpSpPr>
        <p:grpSpPr>
          <a:xfrm>
            <a:off x="7101840" y="1881589"/>
            <a:ext cx="5090160" cy="802744"/>
            <a:chOff x="6118838" y="3583602"/>
            <a:chExt cx="5295668" cy="802744"/>
          </a:xfrm>
        </p:grpSpPr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993EF1F9-745E-4D32-B3B0-9B76994436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9734200" y="3684858"/>
              <a:ext cx="1680306" cy="701488"/>
            </a:xfrm>
            <a:prstGeom prst="rect">
              <a:avLst/>
            </a:prstGeom>
          </p:spPr>
        </p:pic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BA6DB843-9233-4B4C-8115-7D2C107D611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6118838" y="3583602"/>
              <a:ext cx="3738013" cy="765617"/>
            </a:xfrm>
            <a:prstGeom prst="rect">
              <a:avLst/>
            </a:prstGeom>
          </p:spPr>
        </p:pic>
      </p:grpSp>
      <p:pic>
        <p:nvPicPr>
          <p:cNvPr id="27" name="Graphic 26">
            <a:extLst>
              <a:ext uri="{FF2B5EF4-FFF2-40B4-BE49-F238E27FC236}">
                <a16:creationId xmlns:a16="http://schemas.microsoft.com/office/drawing/2014/main" id="{81786441-8168-4DAA-B6A3-6AA2B5929B1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813901" y="3700226"/>
            <a:ext cx="4177350" cy="855602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B7E27B5C-897A-452B-B312-8FE5AD8A690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813901" y="4381467"/>
            <a:ext cx="1647360" cy="730272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889108B7-AF8F-4898-8E9B-465B832BB408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676640" y="4390217"/>
            <a:ext cx="2874473" cy="730272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588FADE8-98B9-4E4D-8A19-8D94762FB9F2}"/>
              </a:ext>
            </a:extLst>
          </p:cNvPr>
          <p:cNvSpPr txBox="1"/>
          <p:nvPr/>
        </p:nvSpPr>
        <p:spPr>
          <a:xfrm>
            <a:off x="4420311" y="3423257"/>
            <a:ext cx="1751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Photon density: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0064D52-E302-44B8-9333-076C97239F91}"/>
              </a:ext>
            </a:extLst>
          </p:cNvPr>
          <p:cNvGrpSpPr/>
          <p:nvPr/>
        </p:nvGrpSpPr>
        <p:grpSpPr>
          <a:xfrm>
            <a:off x="3350422" y="5028125"/>
            <a:ext cx="4503389" cy="1887847"/>
            <a:chOff x="3350422" y="5028125"/>
            <a:chExt cx="4503389" cy="1887847"/>
          </a:xfrm>
        </p:grpSpPr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8C6A109D-4E4A-4301-B49C-52430E999B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4658870" y="6222139"/>
              <a:ext cx="1081088" cy="693833"/>
            </a:xfrm>
            <a:prstGeom prst="rect">
              <a:avLst/>
            </a:prstGeom>
          </p:spPr>
        </p:pic>
        <p:pic>
          <p:nvPicPr>
            <p:cNvPr id="42" name="Graphic 41">
              <a:extLst>
                <a:ext uri="{FF2B5EF4-FFF2-40B4-BE49-F238E27FC236}">
                  <a16:creationId xmlns:a16="http://schemas.microsoft.com/office/drawing/2014/main" id="{AA084122-B118-49B5-A7A9-E4D7D7B73C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6307485" y="6007639"/>
              <a:ext cx="1546326" cy="865206"/>
            </a:xfrm>
            <a:prstGeom prst="rect">
              <a:avLst/>
            </a:prstGeom>
          </p:spPr>
        </p:pic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2C80059C-F369-422A-B918-BAD1CEBE2231}"/>
                </a:ext>
              </a:extLst>
            </p:cNvPr>
            <p:cNvGrpSpPr/>
            <p:nvPr/>
          </p:nvGrpSpPr>
          <p:grpSpPr>
            <a:xfrm>
              <a:off x="4102692" y="5028125"/>
              <a:ext cx="3751119" cy="1145369"/>
              <a:chOff x="4102692" y="5028125"/>
              <a:chExt cx="3751119" cy="1145369"/>
            </a:xfrm>
          </p:grpSpPr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E386B09-D523-4EB3-8DA7-93EFEFC2D634}"/>
                  </a:ext>
                </a:extLst>
              </p:cNvPr>
              <p:cNvSpPr txBox="1"/>
              <p:nvPr/>
            </p:nvSpPr>
            <p:spPr>
              <a:xfrm>
                <a:off x="4448610" y="5028125"/>
                <a:ext cx="171495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MY" dirty="0"/>
                  <a:t>Energy density:</a:t>
                </a:r>
              </a:p>
            </p:txBody>
          </p:sp>
          <p:pic>
            <p:nvPicPr>
              <p:cNvPr id="44" name="Graphic 43">
                <a:extLst>
                  <a:ext uri="{FF2B5EF4-FFF2-40B4-BE49-F238E27FC236}">
                    <a16:creationId xmlns:a16="http://schemas.microsoft.com/office/drawing/2014/main" id="{AFCA32E0-4816-4467-974C-D49C52599B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>
                <a:extLst>
                  <a:ext uri="{96DAC541-7B7A-43D3-8B79-37D633B846F1}">
                    <asvg:svgBlip xmlns:asvg="http://schemas.microsoft.com/office/drawing/2016/SVG/main" r:embed="rId28"/>
                  </a:ext>
                </a:extLst>
              </a:blip>
              <a:stretch>
                <a:fillRect/>
              </a:stretch>
            </p:blipFill>
            <p:spPr>
              <a:xfrm>
                <a:off x="4102692" y="5334428"/>
                <a:ext cx="3751119" cy="839066"/>
              </a:xfrm>
              <a:prstGeom prst="rect">
                <a:avLst/>
              </a:prstGeom>
            </p:spPr>
          </p:pic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686F58DD-94F4-44AC-95DD-D2801FDB5293}"/>
                </a:ext>
              </a:extLst>
            </p:cNvPr>
            <p:cNvSpPr txBox="1"/>
            <p:nvPr/>
          </p:nvSpPr>
          <p:spPr>
            <a:xfrm>
              <a:off x="3350422" y="6356390"/>
              <a:ext cx="13832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Stefan’s law:</a:t>
              </a: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B482378C-99F3-4FBD-9F8E-607F9D69C6C5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479518" y="4415216"/>
            <a:ext cx="3694318" cy="22976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9D9A481-C622-4518-B6E5-FEDD44AB4BFA}"/>
              </a:ext>
            </a:extLst>
          </p:cNvPr>
          <p:cNvSpPr txBox="1"/>
          <p:nvPr/>
        </p:nvSpPr>
        <p:spPr>
          <a:xfrm>
            <a:off x="8961443" y="2758416"/>
            <a:ext cx="27223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>
                <a:solidFill>
                  <a:srgbClr val="FF0000"/>
                </a:solidFill>
              </a:rPr>
              <a:t>μ</a:t>
            </a:r>
            <a:r>
              <a:rPr lang="en-MY" dirty="0">
                <a:solidFill>
                  <a:srgbClr val="FF0000"/>
                </a:solidFill>
              </a:rPr>
              <a:t>=0! Number of particles is NOT conserved.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FFA3F05-5E61-49E4-80EB-DDAFEE1213C3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5247720" y="5541383"/>
            <a:ext cx="369332" cy="3693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FD60230-D397-4D93-999A-06C924A49780}"/>
              </a:ext>
            </a:extLst>
          </p:cNvPr>
          <p:cNvSpPr txBox="1"/>
          <p:nvPr/>
        </p:nvSpPr>
        <p:spPr>
          <a:xfrm>
            <a:off x="8898316" y="3491886"/>
            <a:ext cx="32183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N is the Lagrange multiplier arise from the constraint of N.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C9AB9FE3-EC9D-478E-9B81-16751425B9E7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79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ACF2A-2886-45F8-B80B-9AC423AD4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Non-interacting bosons: Phonon (Lattice vibrations) </a:t>
            </a:r>
            <a:endParaRPr lang="en-MY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2CC5BA-7BC2-4F7E-B552-AD07446F09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3" y="1964680"/>
            <a:ext cx="2867425" cy="469648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C998D301-3FFE-4DF6-A326-E10728EA674F}"/>
              </a:ext>
            </a:extLst>
          </p:cNvPr>
          <p:cNvGrpSpPr/>
          <p:nvPr/>
        </p:nvGrpSpPr>
        <p:grpSpPr>
          <a:xfrm>
            <a:off x="7101840" y="1881589"/>
            <a:ext cx="5090160" cy="802744"/>
            <a:chOff x="6118838" y="3583602"/>
            <a:chExt cx="5295668" cy="802744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619612C6-EB6F-417B-9C15-9537BE68A2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734200" y="3684858"/>
              <a:ext cx="1680306" cy="701488"/>
            </a:xfrm>
            <a:prstGeom prst="rect">
              <a:avLst/>
            </a:prstGeom>
          </p:spPr>
        </p:pic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1BBE533-A5F0-4C7B-ACE8-93214090B2D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118838" y="3583602"/>
              <a:ext cx="3738013" cy="765617"/>
            </a:xfrm>
            <a:prstGeom prst="rect">
              <a:avLst/>
            </a:prstGeom>
          </p:spPr>
        </p:pic>
      </p:grpSp>
      <p:pic>
        <p:nvPicPr>
          <p:cNvPr id="8" name="Graphic 7">
            <a:extLst>
              <a:ext uri="{FF2B5EF4-FFF2-40B4-BE49-F238E27FC236}">
                <a16:creationId xmlns:a16="http://schemas.microsoft.com/office/drawing/2014/main" id="{4FD35258-EDD6-43EE-8AA7-37D799FB571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24222" y="2319767"/>
            <a:ext cx="1103906" cy="4978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8D16740-51E5-497D-A320-161D18C1AC43}"/>
              </a:ext>
            </a:extLst>
          </p:cNvPr>
          <p:cNvSpPr txBox="1"/>
          <p:nvPr/>
        </p:nvSpPr>
        <p:spPr>
          <a:xfrm flipH="1">
            <a:off x="3891553" y="1940299"/>
            <a:ext cx="2270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Phonon energy: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1C9BE569-CE33-4084-A5E4-E1B35BA899D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731339" y="3431887"/>
            <a:ext cx="1500146" cy="816536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464F7021-5DC8-4229-B0B5-6A42379D368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667158" y="4379389"/>
            <a:ext cx="3890584" cy="76561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F031AE8-83E8-45AD-ABFF-6516627CD578}"/>
              </a:ext>
            </a:extLst>
          </p:cNvPr>
          <p:cNvSpPr txBox="1"/>
          <p:nvPr/>
        </p:nvSpPr>
        <p:spPr>
          <a:xfrm>
            <a:off x="5303853" y="3018608"/>
            <a:ext cx="2995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All possible vibrating modes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A478415-2F2C-488A-942D-EE63F027C4DC}"/>
              </a:ext>
            </a:extLst>
          </p:cNvPr>
          <p:cNvCxnSpPr/>
          <p:nvPr/>
        </p:nvCxnSpPr>
        <p:spPr>
          <a:xfrm flipH="1">
            <a:off x="5171370" y="3387470"/>
            <a:ext cx="461053" cy="1834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304CC87-3D6F-4AFD-B150-7DC2DDC4AB76}"/>
              </a:ext>
            </a:extLst>
          </p:cNvPr>
          <p:cNvSpPr txBox="1"/>
          <p:nvPr/>
        </p:nvSpPr>
        <p:spPr>
          <a:xfrm>
            <a:off x="3073448" y="2810155"/>
            <a:ext cx="2474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3 vibrational directions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4B2F791-8806-4992-9AAD-AADDC86AB1B5}"/>
              </a:ext>
            </a:extLst>
          </p:cNvPr>
          <p:cNvCxnSpPr>
            <a:cxnSpLocks/>
            <a:stCxn id="21" idx="2"/>
          </p:cNvCxnSpPr>
          <p:nvPr/>
        </p:nvCxnSpPr>
        <p:spPr>
          <a:xfrm flipH="1">
            <a:off x="4309380" y="3179487"/>
            <a:ext cx="1491" cy="3836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75A2D26-24B8-4EE9-B857-F24F4C16D366}"/>
              </a:ext>
            </a:extLst>
          </p:cNvPr>
          <p:cNvGrpSpPr/>
          <p:nvPr/>
        </p:nvGrpSpPr>
        <p:grpSpPr>
          <a:xfrm>
            <a:off x="3920130" y="5407701"/>
            <a:ext cx="3697422" cy="915087"/>
            <a:chOff x="4712277" y="5465374"/>
            <a:chExt cx="3697422" cy="915087"/>
          </a:xfrm>
        </p:grpSpPr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8B6C696F-8878-4C4B-88FC-6F3CCDCE3D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4712277" y="5465374"/>
              <a:ext cx="1954154" cy="545755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4885910-C5AD-48D6-B24F-2938F7B55C37}"/>
                </a:ext>
              </a:extLst>
            </p:cNvPr>
            <p:cNvSpPr txBox="1"/>
            <p:nvPr/>
          </p:nvSpPr>
          <p:spPr>
            <a:xfrm>
              <a:off x="4712277" y="6011129"/>
              <a:ext cx="36974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Cut off frequency: Debye frequency</a:t>
              </a:r>
            </a:p>
          </p:txBody>
        </p:sp>
      </p:grpSp>
      <p:sp>
        <p:nvSpPr>
          <p:cNvPr id="28" name="Left Brace 27">
            <a:extLst>
              <a:ext uri="{FF2B5EF4-FFF2-40B4-BE49-F238E27FC236}">
                <a16:creationId xmlns:a16="http://schemas.microsoft.com/office/drawing/2014/main" id="{67DAD9A2-BBF7-4471-9E11-50969D481CDA}"/>
              </a:ext>
            </a:extLst>
          </p:cNvPr>
          <p:cNvSpPr/>
          <p:nvPr/>
        </p:nvSpPr>
        <p:spPr>
          <a:xfrm rot="5400000">
            <a:off x="6429210" y="4023732"/>
            <a:ext cx="207891" cy="71131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83666BB-74E3-4245-8F23-FA2A10052626}"/>
              </a:ext>
            </a:extLst>
          </p:cNvPr>
          <p:cNvSpPr txBox="1"/>
          <p:nvPr/>
        </p:nvSpPr>
        <p:spPr>
          <a:xfrm>
            <a:off x="5793719" y="3773418"/>
            <a:ext cx="1823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Density of states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D1E30A4-5F0D-4CB7-BAC4-72E318857243}"/>
              </a:ext>
            </a:extLst>
          </p:cNvPr>
          <p:cNvGrpSpPr/>
          <p:nvPr/>
        </p:nvGrpSpPr>
        <p:grpSpPr>
          <a:xfrm>
            <a:off x="7740295" y="3112417"/>
            <a:ext cx="3776791" cy="3700871"/>
            <a:chOff x="7740295" y="3112417"/>
            <a:chExt cx="3776791" cy="3700871"/>
          </a:xfrm>
        </p:grpSpPr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A2015F08-6F32-423B-B7CD-E4289EC575F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7740295" y="3785548"/>
              <a:ext cx="3776791" cy="3027740"/>
            </a:xfrm>
            <a:prstGeom prst="rect">
              <a:avLst/>
            </a:prstGeom>
          </p:spPr>
        </p:pic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9775644D-A132-447E-9969-91B42CB9EF1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7762129" y="3112417"/>
              <a:ext cx="2995820" cy="1036290"/>
            </a:xfrm>
            <a:prstGeom prst="rect">
              <a:avLst/>
            </a:prstGeom>
          </p:spPr>
        </p:pic>
      </p:grpSp>
      <p:pic>
        <p:nvPicPr>
          <p:cNvPr id="35" name="Graphic 34">
            <a:extLst>
              <a:ext uri="{FF2B5EF4-FFF2-40B4-BE49-F238E27FC236}">
                <a16:creationId xmlns:a16="http://schemas.microsoft.com/office/drawing/2014/main" id="{0693A344-6F1C-458F-A67A-A97F072C8D8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780356" y="4997683"/>
            <a:ext cx="586183" cy="545756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B79BB6A2-5963-410D-BEAB-1FC5D25B3B18}"/>
              </a:ext>
            </a:extLst>
          </p:cNvPr>
          <p:cNvGrpSpPr/>
          <p:nvPr/>
        </p:nvGrpSpPr>
        <p:grpSpPr>
          <a:xfrm>
            <a:off x="9306777" y="4527068"/>
            <a:ext cx="1103906" cy="880633"/>
            <a:chOff x="9306777" y="4527068"/>
            <a:chExt cx="1103906" cy="880633"/>
          </a:xfrm>
        </p:grpSpPr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09C7D34C-67B4-46E2-9C4E-DA4F841FFB9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306777" y="4527068"/>
              <a:ext cx="1103906" cy="497840"/>
            </a:xfrm>
            <a:prstGeom prst="rect">
              <a:avLst/>
            </a:prstGeom>
          </p:spPr>
        </p:pic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41150B30-E7C5-4C8E-BE8E-815CCED87FA6}"/>
                </a:ext>
              </a:extLst>
            </p:cNvPr>
            <p:cNvCxnSpPr/>
            <p:nvPr/>
          </p:nvCxnSpPr>
          <p:spPr>
            <a:xfrm>
              <a:off x="9711891" y="4974792"/>
              <a:ext cx="654517" cy="4329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8FA1037-B101-448B-A607-E1D63FD630BA}"/>
              </a:ext>
            </a:extLst>
          </p:cNvPr>
          <p:cNvGrpSpPr/>
          <p:nvPr/>
        </p:nvGrpSpPr>
        <p:grpSpPr>
          <a:xfrm>
            <a:off x="10857297" y="3785548"/>
            <a:ext cx="881666" cy="697787"/>
            <a:chOff x="10857297" y="3785548"/>
            <a:chExt cx="881666" cy="697787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114ACA0-F46E-45AA-B00F-547A93239E8E}"/>
                </a:ext>
              </a:extLst>
            </p:cNvPr>
            <p:cNvCxnSpPr/>
            <p:nvPr/>
          </p:nvCxnSpPr>
          <p:spPr>
            <a:xfrm flipH="1">
              <a:off x="10857297" y="4242516"/>
              <a:ext cx="317634" cy="24081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132A62A4-A06C-40A1-935C-D6DC3186A6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0953054" y="3785548"/>
              <a:ext cx="785909" cy="611263"/>
            </a:xfrm>
            <a:prstGeom prst="rect">
              <a:avLst/>
            </a:prstGeom>
          </p:spPr>
        </p:pic>
      </p:grpSp>
      <p:pic>
        <p:nvPicPr>
          <p:cNvPr id="30" name="Picture 29">
            <a:extLst>
              <a:ext uri="{FF2B5EF4-FFF2-40B4-BE49-F238E27FC236}">
                <a16:creationId xmlns:a16="http://schemas.microsoft.com/office/drawing/2014/main" id="{F2F03D9E-7C4D-46BB-AD2D-5B97685ED3EB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007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ACF2A-2886-45F8-B80B-9AC423AD4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Non-interacting bosons: Phonon (Lattice vibrations) </a:t>
            </a:r>
            <a:endParaRPr lang="en-MY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998D301-3FFE-4DF6-A326-E10728EA674F}"/>
              </a:ext>
            </a:extLst>
          </p:cNvPr>
          <p:cNvGrpSpPr/>
          <p:nvPr/>
        </p:nvGrpSpPr>
        <p:grpSpPr>
          <a:xfrm>
            <a:off x="7101840" y="1881589"/>
            <a:ext cx="5090160" cy="802744"/>
            <a:chOff x="6118838" y="3583602"/>
            <a:chExt cx="5295668" cy="802744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619612C6-EB6F-417B-9C15-9537BE68A2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734200" y="3684858"/>
              <a:ext cx="1680306" cy="701488"/>
            </a:xfrm>
            <a:prstGeom prst="rect">
              <a:avLst/>
            </a:prstGeom>
          </p:spPr>
        </p:pic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1BBE533-A5F0-4C7B-ACE8-93214090B2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118838" y="3583602"/>
              <a:ext cx="3738013" cy="765617"/>
            </a:xfrm>
            <a:prstGeom prst="rect">
              <a:avLst/>
            </a:prstGeom>
          </p:spPr>
        </p:pic>
      </p:grpSp>
      <p:pic>
        <p:nvPicPr>
          <p:cNvPr id="8" name="Graphic 7">
            <a:extLst>
              <a:ext uri="{FF2B5EF4-FFF2-40B4-BE49-F238E27FC236}">
                <a16:creationId xmlns:a16="http://schemas.microsoft.com/office/drawing/2014/main" id="{4FD35258-EDD6-43EE-8AA7-37D799FB571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24222" y="2319767"/>
            <a:ext cx="1103906" cy="4978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8D16740-51E5-497D-A320-161D18C1AC43}"/>
              </a:ext>
            </a:extLst>
          </p:cNvPr>
          <p:cNvSpPr txBox="1"/>
          <p:nvPr/>
        </p:nvSpPr>
        <p:spPr>
          <a:xfrm flipH="1">
            <a:off x="3891553" y="1940299"/>
            <a:ext cx="2270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Phonon energy: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75A2D26-24B8-4EE9-B857-F24F4C16D366}"/>
              </a:ext>
            </a:extLst>
          </p:cNvPr>
          <p:cNvGrpSpPr/>
          <p:nvPr/>
        </p:nvGrpSpPr>
        <p:grpSpPr>
          <a:xfrm>
            <a:off x="5147686" y="2817607"/>
            <a:ext cx="1954154" cy="915087"/>
            <a:chOff x="4712277" y="5465374"/>
            <a:chExt cx="1954154" cy="915087"/>
          </a:xfrm>
        </p:grpSpPr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8B6C696F-8878-4C4B-88FC-6F3CCDCE3D3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712277" y="5465374"/>
              <a:ext cx="1954154" cy="545755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4885910-C5AD-48D6-B24F-2938F7B55C37}"/>
                </a:ext>
              </a:extLst>
            </p:cNvPr>
            <p:cNvSpPr txBox="1"/>
            <p:nvPr/>
          </p:nvSpPr>
          <p:spPr>
            <a:xfrm>
              <a:off x="4712277" y="6011129"/>
              <a:ext cx="19096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 Debye frequency</a:t>
              </a:r>
            </a:p>
          </p:txBody>
        </p:sp>
      </p:grpSp>
      <p:pic>
        <p:nvPicPr>
          <p:cNvPr id="33" name="Picture 32">
            <a:extLst>
              <a:ext uri="{FF2B5EF4-FFF2-40B4-BE49-F238E27FC236}">
                <a16:creationId xmlns:a16="http://schemas.microsoft.com/office/drawing/2014/main" id="{A2015F08-6F32-423B-B7CD-E4289EC575F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40295" y="3785548"/>
            <a:ext cx="3776791" cy="3027740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ECD57606-326F-46F2-8D20-EF4C5B715A49}"/>
              </a:ext>
            </a:extLst>
          </p:cNvPr>
          <p:cNvSpPr txBox="1"/>
          <p:nvPr/>
        </p:nvSpPr>
        <p:spPr>
          <a:xfrm>
            <a:off x="712058" y="2500139"/>
            <a:ext cx="14711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Total energy: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C0BA8B53-A46C-446C-B33D-CD152A38801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32362" y="3027444"/>
            <a:ext cx="3697423" cy="808811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07FACA6F-7290-4D67-808A-F5C92CF83AC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89217" y="4844965"/>
            <a:ext cx="876305" cy="638663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07B9BF64-B573-4836-978D-4C79676183B3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035930" y="3817221"/>
            <a:ext cx="1109764" cy="499394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6DA9FFE0-BAB9-4DD2-BBA5-446AB8AC2766}"/>
              </a:ext>
            </a:extLst>
          </p:cNvPr>
          <p:cNvSpPr txBox="1"/>
          <p:nvPr/>
        </p:nvSpPr>
        <p:spPr>
          <a:xfrm>
            <a:off x="40939" y="3874755"/>
            <a:ext cx="2023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Change of variable</a:t>
            </a: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720B876E-315B-42F1-BE0F-5D5F5CC5960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01271" y="4316615"/>
            <a:ext cx="1794295" cy="721072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3476A51A-3BC4-418F-B9B7-5C9A359C4828}"/>
              </a:ext>
            </a:extLst>
          </p:cNvPr>
          <p:cNvSpPr txBox="1"/>
          <p:nvPr/>
        </p:nvSpPr>
        <p:spPr>
          <a:xfrm>
            <a:off x="40939" y="4956847"/>
            <a:ext cx="7897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where</a:t>
            </a:r>
          </a:p>
        </p:txBody>
      </p:sp>
      <p:pic>
        <p:nvPicPr>
          <p:cNvPr id="42" name="Graphic 41">
            <a:extLst>
              <a:ext uri="{FF2B5EF4-FFF2-40B4-BE49-F238E27FC236}">
                <a16:creationId xmlns:a16="http://schemas.microsoft.com/office/drawing/2014/main" id="{FE420CEF-C46A-4922-9E28-71358A0FD77A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36657" y="5395567"/>
            <a:ext cx="1954155" cy="616411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915CF801-C801-40C9-8327-4C8A88E5F1D3}"/>
              </a:ext>
            </a:extLst>
          </p:cNvPr>
          <p:cNvSpPr txBox="1"/>
          <p:nvPr/>
        </p:nvSpPr>
        <p:spPr>
          <a:xfrm>
            <a:off x="1719568" y="4954075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with</a:t>
            </a:r>
          </a:p>
        </p:txBody>
      </p:sp>
      <p:pic>
        <p:nvPicPr>
          <p:cNvPr id="45" name="Graphic 44">
            <a:extLst>
              <a:ext uri="{FF2B5EF4-FFF2-40B4-BE49-F238E27FC236}">
                <a16:creationId xmlns:a16="http://schemas.microsoft.com/office/drawing/2014/main" id="{0A772E85-3977-4AF3-89DC-08258C974783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356036" y="4928063"/>
            <a:ext cx="1303167" cy="395343"/>
          </a:xfrm>
          <a:prstGeom prst="rect">
            <a:avLst/>
          </a:prstGeom>
        </p:spPr>
      </p:pic>
      <p:pic>
        <p:nvPicPr>
          <p:cNvPr id="47" name="Graphic 46">
            <a:extLst>
              <a:ext uri="{FF2B5EF4-FFF2-40B4-BE49-F238E27FC236}">
                <a16:creationId xmlns:a16="http://schemas.microsoft.com/office/drawing/2014/main" id="{8FD1558F-102D-434A-BA45-CC2F007CD95F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85843" y="6005766"/>
            <a:ext cx="3426476" cy="736157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DAC2CD96-3681-473B-9EB0-720D390F1165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995606" y="3808562"/>
            <a:ext cx="3595784" cy="2928762"/>
          </a:xfrm>
          <a:prstGeom prst="rect">
            <a:avLst/>
          </a:prstGeom>
        </p:spPr>
      </p:pic>
      <p:pic>
        <p:nvPicPr>
          <p:cNvPr id="51" name="Graphic 50">
            <a:extLst>
              <a:ext uri="{FF2B5EF4-FFF2-40B4-BE49-F238E27FC236}">
                <a16:creationId xmlns:a16="http://schemas.microsoft.com/office/drawing/2014/main" id="{C98DB410-3684-4A55-AD46-8B09905A9DDC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5291137" y="4524718"/>
            <a:ext cx="2168338" cy="577368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4B7C109F-0F61-4B82-95C0-1BEBE060D54D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2257825" y="5392794"/>
            <a:ext cx="190500" cy="219075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311D8D83-857E-4B0B-BDD8-39C81EE7640B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7762129" y="3112417"/>
            <a:ext cx="2995820" cy="103629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6DE7CFE6-6CA4-4B25-9229-D3E87CA81988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189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4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ACF2A-2886-45F8-B80B-9AC423AD4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Statistics for Non-interacting bosons</a:t>
            </a:r>
            <a:endParaRPr lang="en-MY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4FD35258-EDD6-43EE-8AA7-37D799FB57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58629" y="3272566"/>
            <a:ext cx="1092198" cy="4978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8D16740-51E5-497D-A320-161D18C1AC43}"/>
              </a:ext>
            </a:extLst>
          </p:cNvPr>
          <p:cNvSpPr txBox="1"/>
          <p:nvPr/>
        </p:nvSpPr>
        <p:spPr>
          <a:xfrm flipH="1">
            <a:off x="8425959" y="2893098"/>
            <a:ext cx="2246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Phonon energy:</a:t>
            </a:r>
          </a:p>
        </p:txBody>
      </p:sp>
      <p:pic>
        <p:nvPicPr>
          <p:cNvPr id="28" name="Graphic 27">
            <a:extLst>
              <a:ext uri="{FF2B5EF4-FFF2-40B4-BE49-F238E27FC236}">
                <a16:creationId xmlns:a16="http://schemas.microsoft.com/office/drawing/2014/main" id="{74217952-6EBC-44E8-8BAB-43EA36DE28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04083" y="3120268"/>
            <a:ext cx="1890109" cy="81608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D600F69E-7176-49EA-A8C8-E795F6EB0064}"/>
              </a:ext>
            </a:extLst>
          </p:cNvPr>
          <p:cNvSpPr txBox="1"/>
          <p:nvPr/>
        </p:nvSpPr>
        <p:spPr>
          <a:xfrm flipH="1">
            <a:off x="4429871" y="2887477"/>
            <a:ext cx="2246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Photon energy:</a:t>
            </a:r>
          </a:p>
        </p:txBody>
      </p:sp>
      <p:pic>
        <p:nvPicPr>
          <p:cNvPr id="30" name="Graphic 29">
            <a:extLst>
              <a:ext uri="{FF2B5EF4-FFF2-40B4-BE49-F238E27FC236}">
                <a16:creationId xmlns:a16="http://schemas.microsoft.com/office/drawing/2014/main" id="{F1EFC694-EFEC-4EA9-A1DA-ED041D3197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57831" y="3429000"/>
            <a:ext cx="1092198" cy="49784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FF12188E-A378-4195-989B-AD17F2482EBB}"/>
              </a:ext>
            </a:extLst>
          </p:cNvPr>
          <p:cNvSpPr txBox="1"/>
          <p:nvPr/>
        </p:nvSpPr>
        <p:spPr>
          <a:xfrm flipH="1">
            <a:off x="1404082" y="2722927"/>
            <a:ext cx="2246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Ideal Bose gas: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4982807-4F35-4291-9A6F-7E8268D23DDE}"/>
              </a:ext>
            </a:extLst>
          </p:cNvPr>
          <p:cNvSpPr txBox="1"/>
          <p:nvPr/>
        </p:nvSpPr>
        <p:spPr>
          <a:xfrm>
            <a:off x="1147810" y="5578094"/>
            <a:ext cx="10231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 dirty="0"/>
              <a:t>Interactions between bosons? Advanced topic: Quantum many-body/ fields theoretic techniques.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8E8D50B-C55A-4CF1-8DD7-4AF1597118C6}"/>
              </a:ext>
            </a:extLst>
          </p:cNvPr>
          <p:cNvSpPr txBox="1"/>
          <p:nvPr/>
        </p:nvSpPr>
        <p:spPr>
          <a:xfrm>
            <a:off x="1186313" y="4971374"/>
            <a:ext cx="9557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 dirty="0"/>
              <a:t>Real system has a much more complicated energy spectrum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215908A-3199-4C0C-9D67-F3A029597D62}"/>
              </a:ext>
            </a:extLst>
          </p:cNvPr>
          <p:cNvCxnSpPr/>
          <p:nvPr/>
        </p:nvCxnSpPr>
        <p:spPr>
          <a:xfrm flipV="1">
            <a:off x="490888" y="4059454"/>
            <a:ext cx="11540691" cy="112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6B498A5-3009-40DE-A3E5-8F94A994AC6B}"/>
              </a:ext>
            </a:extLst>
          </p:cNvPr>
          <p:cNvSpPr txBox="1"/>
          <p:nvPr/>
        </p:nvSpPr>
        <p:spPr>
          <a:xfrm>
            <a:off x="801827" y="2204710"/>
            <a:ext cx="41091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b="1" dirty="0"/>
              <a:t>We have consider the simple system: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5D2838-A925-4B75-86A0-D6EF48167283}"/>
              </a:ext>
            </a:extLst>
          </p:cNvPr>
          <p:cNvSpPr txBox="1"/>
          <p:nvPr/>
        </p:nvSpPr>
        <p:spPr>
          <a:xfrm>
            <a:off x="877225" y="4369661"/>
            <a:ext cx="15745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b="1" dirty="0"/>
              <a:t>In real cases: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3BCB5EF-7BE0-41EB-B436-7D4EFA2842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8393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6D630-90E3-4944-8F93-D7CE1BB3A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Phonon in real materials</a:t>
            </a:r>
            <a:endParaRPr lang="en-MY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8C3C477-DC16-435F-9783-0F99DEDEED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3047" y="2268554"/>
            <a:ext cx="7620000" cy="4457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DBF8842-3F6E-4CA1-8DCD-90D1674CAD3B}"/>
              </a:ext>
            </a:extLst>
          </p:cNvPr>
          <p:cNvSpPr txBox="1"/>
          <p:nvPr/>
        </p:nvSpPr>
        <p:spPr>
          <a:xfrm>
            <a:off x="327259" y="4706516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Our model:</a:t>
            </a:r>
            <a:endParaRPr lang="en-MY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35DEB2D-05AF-4341-85DC-917A170846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2175" y="5202726"/>
            <a:ext cx="1103906" cy="49784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E57BB089-A9F0-4AA8-A6BF-D5ED2C2685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7259" y="5651642"/>
            <a:ext cx="2995820" cy="10362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E180F5-ABAB-4D34-873F-AFA4542DFB0B}"/>
              </a:ext>
            </a:extLst>
          </p:cNvPr>
          <p:cNvSpPr txBox="1"/>
          <p:nvPr/>
        </p:nvSpPr>
        <p:spPr>
          <a:xfrm>
            <a:off x="2194560" y="2291294"/>
            <a:ext cx="2995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Real materials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1917934-E7C7-4F4C-A983-4276693FD0C7}"/>
              </a:ext>
            </a:extLst>
          </p:cNvPr>
          <p:cNvSpPr/>
          <p:nvPr/>
        </p:nvSpPr>
        <p:spPr>
          <a:xfrm>
            <a:off x="5072514" y="3850105"/>
            <a:ext cx="760395" cy="53901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0E9889C-6A89-4ADD-8EA4-A1947628627E}"/>
              </a:ext>
            </a:extLst>
          </p:cNvPr>
          <p:cNvSpPr/>
          <p:nvPr/>
        </p:nvSpPr>
        <p:spPr>
          <a:xfrm>
            <a:off x="5082139" y="6076430"/>
            <a:ext cx="760395" cy="53901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CC82A96-471A-4D24-ACDD-2AB4EAC698A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1886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Statistical physics phy301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Non-interacting fermions</a:t>
            </a:r>
          </a:p>
          <a:p>
            <a:endParaRPr lang="en-US" dirty="0"/>
          </a:p>
          <a:p>
            <a:r>
              <a:rPr lang="en-US" dirty="0"/>
              <a:t>Idea gas, electrons in solid</a:t>
            </a:r>
          </a:p>
        </p:txBody>
      </p:sp>
    </p:spTree>
    <p:extLst>
      <p:ext uri="{BB962C8B-B14F-4D97-AF65-F5344CB8AC3E}">
        <p14:creationId xmlns:p14="http://schemas.microsoft.com/office/powerpoint/2010/main" val="5458870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ACF2A-2886-45F8-B80B-9AC423AD4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Non-interacting Fermi gas (Nonrelativistic)</a:t>
            </a:r>
            <a:endParaRPr lang="en-MY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BCF1AA-1BFA-4C6E-8F91-D07992C2F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510" y="3723282"/>
            <a:ext cx="3219952" cy="82963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58124196-FC78-40DE-A4DD-590AA71187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93559" y="2265715"/>
            <a:ext cx="2880084" cy="114335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F13B8A97-FDA4-4BF4-AD63-DF6DAC85A0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0304" y="2381264"/>
            <a:ext cx="1910370" cy="8160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B2C79E7-B3D8-4B44-9CEE-2FF4DB8A1660}"/>
              </a:ext>
            </a:extLst>
          </p:cNvPr>
          <p:cNvSpPr txBox="1"/>
          <p:nvPr/>
        </p:nvSpPr>
        <p:spPr>
          <a:xfrm>
            <a:off x="379896" y="2067047"/>
            <a:ext cx="1736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Non-relativistic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5EFB83D-88C8-407A-8DFE-92864C0EFFAC}"/>
              </a:ext>
            </a:extLst>
          </p:cNvPr>
          <p:cNvSpPr/>
          <p:nvPr/>
        </p:nvSpPr>
        <p:spPr>
          <a:xfrm>
            <a:off x="470304" y="2472491"/>
            <a:ext cx="1993763" cy="72485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2FEC0F2-1FC5-4289-8F71-8864164053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7510" y="4589811"/>
            <a:ext cx="3219952" cy="81364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B5730DC-D9F3-46F8-B9B7-F3550DE50BB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27462" y="3793840"/>
            <a:ext cx="1448002" cy="69542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D0CAE1E-D5EF-4BB9-95FF-BBF496FA930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87020" y="4712171"/>
            <a:ext cx="1343212" cy="704948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DAD625DD-0007-4CE3-AED8-72E79F4F7C2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855937" y="3858748"/>
            <a:ext cx="447976" cy="447976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552A074D-CFA3-499B-88C3-1E1DAAFFDBE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965802" y="4840657"/>
            <a:ext cx="447976" cy="447976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F9DCC44-A046-4215-8AD9-719E5A65B51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11423" y="2193057"/>
            <a:ext cx="2324424" cy="39058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CA8AF200-5353-47E3-A1B8-1622383D786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7510" y="5735428"/>
            <a:ext cx="5315692" cy="104789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5264C0A7-9796-40BB-961F-2F42E9B71C0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4813" y="5488839"/>
            <a:ext cx="2382159" cy="350976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C5B7AB65-6C53-46E7-8435-6939F0F27520}"/>
              </a:ext>
            </a:extLst>
          </p:cNvPr>
          <p:cNvSpPr txBox="1"/>
          <p:nvPr/>
        </p:nvSpPr>
        <p:spPr>
          <a:xfrm>
            <a:off x="4361507" y="3256737"/>
            <a:ext cx="1884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degeneracy: spin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4663BF2-1763-4AB2-A840-3A17151CCAFC}"/>
              </a:ext>
            </a:extLst>
          </p:cNvPr>
          <p:cNvCxnSpPr>
            <a:stCxn id="32" idx="1"/>
          </p:cNvCxnSpPr>
          <p:nvPr/>
        </p:nvCxnSpPr>
        <p:spPr>
          <a:xfrm flipH="1">
            <a:off x="4148488" y="3441403"/>
            <a:ext cx="213019" cy="4173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C3614DE2-3E4E-4B18-8AF3-5F67D3C93818}"/>
              </a:ext>
            </a:extLst>
          </p:cNvPr>
          <p:cNvGrpSpPr/>
          <p:nvPr/>
        </p:nvGrpSpPr>
        <p:grpSpPr>
          <a:xfrm>
            <a:off x="6086529" y="2786086"/>
            <a:ext cx="6208408" cy="3362734"/>
            <a:chOff x="6086529" y="2786086"/>
            <a:chExt cx="6208408" cy="3362734"/>
          </a:xfrm>
        </p:grpSpPr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B73121A2-90E1-4193-BB6E-54D93485BF4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6100876" y="2786086"/>
              <a:ext cx="4123385" cy="701489"/>
            </a:xfrm>
            <a:prstGeom prst="rect">
              <a:avLst/>
            </a:prstGeom>
          </p:spPr>
        </p:pic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252D467-9E66-47AF-AEB0-706204316976}"/>
                </a:ext>
              </a:extLst>
            </p:cNvPr>
            <p:cNvGrpSpPr/>
            <p:nvPr/>
          </p:nvGrpSpPr>
          <p:grpSpPr>
            <a:xfrm>
              <a:off x="6118838" y="3583602"/>
              <a:ext cx="5393091" cy="765617"/>
              <a:chOff x="6118838" y="3583602"/>
              <a:chExt cx="5393091" cy="765617"/>
            </a:xfrm>
          </p:grpSpPr>
          <p:pic>
            <p:nvPicPr>
              <p:cNvPr id="17" name="Graphic 16">
                <a:extLst>
                  <a:ext uri="{FF2B5EF4-FFF2-40B4-BE49-F238E27FC236}">
                    <a16:creationId xmlns:a16="http://schemas.microsoft.com/office/drawing/2014/main" id="{B21E8DF3-B6BC-4334-BD33-5505F375F9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9831623" y="3583602"/>
                <a:ext cx="1680306" cy="701488"/>
              </a:xfrm>
              <a:prstGeom prst="rect">
                <a:avLst/>
              </a:prstGeom>
            </p:spPr>
          </p:pic>
          <p:pic>
            <p:nvPicPr>
              <p:cNvPr id="18" name="Graphic 17">
                <a:extLst>
                  <a:ext uri="{FF2B5EF4-FFF2-40B4-BE49-F238E27FC236}">
                    <a16:creationId xmlns:a16="http://schemas.microsoft.com/office/drawing/2014/main" id="{A6B7FA5E-8408-42B3-BE1A-B1875DF3CB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6118838" y="3583602"/>
                <a:ext cx="3738013" cy="765617"/>
              </a:xfrm>
              <a:prstGeom prst="rect">
                <a:avLst/>
              </a:prstGeom>
            </p:spPr>
          </p:pic>
        </p:grpSp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DAD526B5-58C0-45B3-8A26-A7EBCAC8173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rcRect t="-1" r="30179" b="-12264"/>
            <a:stretch/>
          </p:blipFill>
          <p:spPr>
            <a:xfrm>
              <a:off x="6086529" y="5308535"/>
              <a:ext cx="4231754" cy="840285"/>
            </a:xfrm>
            <a:prstGeom prst="rect">
              <a:avLst/>
            </a:prstGeom>
          </p:spPr>
        </p:pic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11B66A6-32CC-415E-B9FE-74A46E70485E}"/>
                </a:ext>
              </a:extLst>
            </p:cNvPr>
            <p:cNvGrpSpPr/>
            <p:nvPr/>
          </p:nvGrpSpPr>
          <p:grpSpPr>
            <a:xfrm>
              <a:off x="6092645" y="4589811"/>
              <a:ext cx="4921662" cy="515259"/>
              <a:chOff x="6092645" y="4589811"/>
              <a:chExt cx="4921662" cy="515259"/>
            </a:xfrm>
          </p:grpSpPr>
          <p:pic>
            <p:nvPicPr>
              <p:cNvPr id="21" name="Graphic 20">
                <a:extLst>
                  <a:ext uri="{FF2B5EF4-FFF2-40B4-BE49-F238E27FC236}">
                    <a16:creationId xmlns:a16="http://schemas.microsoft.com/office/drawing/2014/main" id="{BBE1E5E8-6870-4F2E-A17C-C1A4E5776B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>
                <a:extLst>
                  <a:ext uri="{96DAC541-7B7A-43D3-8B79-37D633B846F1}">
                    <asvg:svgBlip xmlns:asvg="http://schemas.microsoft.com/office/drawing/2016/SVG/main" r:embed="rId24"/>
                  </a:ext>
                </a:extLst>
              </a:blip>
              <a:stretch>
                <a:fillRect/>
              </a:stretch>
            </p:blipFill>
            <p:spPr>
              <a:xfrm>
                <a:off x="6092645" y="4595454"/>
                <a:ext cx="1736950" cy="493660"/>
              </a:xfrm>
              <a:prstGeom prst="rect">
                <a:avLst/>
              </a:prstGeom>
            </p:spPr>
          </p:pic>
          <p:pic>
            <p:nvPicPr>
              <p:cNvPr id="22" name="Graphic 21">
                <a:extLst>
                  <a:ext uri="{FF2B5EF4-FFF2-40B4-BE49-F238E27FC236}">
                    <a16:creationId xmlns:a16="http://schemas.microsoft.com/office/drawing/2014/main" id="{46BC3AF8-BA2A-44E2-9872-EBBBD217C9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rcRect/>
              <a:stretch/>
            </p:blipFill>
            <p:spPr>
              <a:xfrm>
                <a:off x="8637468" y="4589811"/>
                <a:ext cx="2376839" cy="515259"/>
              </a:xfrm>
              <a:prstGeom prst="rect">
                <a:avLst/>
              </a:prstGeom>
            </p:spPr>
          </p:pic>
        </p:grpSp>
        <p:pic>
          <p:nvPicPr>
            <p:cNvPr id="35" name="Graphic 34">
              <a:extLst>
                <a:ext uri="{FF2B5EF4-FFF2-40B4-BE49-F238E27FC236}">
                  <a16:creationId xmlns:a16="http://schemas.microsoft.com/office/drawing/2014/main" id="{2ED0FDDB-19A8-42E9-844C-C0DAACA4A0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rcRect/>
            <a:stretch/>
          </p:blipFill>
          <p:spPr>
            <a:xfrm>
              <a:off x="10176137" y="5274398"/>
              <a:ext cx="2118800" cy="765617"/>
            </a:xfrm>
            <a:prstGeom prst="rect">
              <a:avLst/>
            </a:prstGeom>
          </p:spPr>
        </p:pic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C69CB035-2D96-499C-98AD-BC75ADC56635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246318" y="5918802"/>
            <a:ext cx="4583460" cy="898877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B8B888CE-0D30-4075-94E2-5DF74656CB9D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765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ACF2A-2886-45F8-B80B-9AC423AD4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Thermodynamics of idea Fermi gas (Any temperature)</a:t>
            </a:r>
            <a:endParaRPr lang="en-MY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BCF1AA-1BFA-4C6E-8F91-D07992C2F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510" y="3723282"/>
            <a:ext cx="3219952" cy="82963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58124196-FC78-40DE-A4DD-590AA71187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93559" y="2265715"/>
            <a:ext cx="2880084" cy="114335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F13B8A97-FDA4-4BF4-AD63-DF6DAC85A0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0304" y="2381264"/>
            <a:ext cx="1910370" cy="8160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B2C79E7-B3D8-4B44-9CEE-2FF4DB8A1660}"/>
              </a:ext>
            </a:extLst>
          </p:cNvPr>
          <p:cNvSpPr txBox="1"/>
          <p:nvPr/>
        </p:nvSpPr>
        <p:spPr>
          <a:xfrm>
            <a:off x="379896" y="2067047"/>
            <a:ext cx="1736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Non-relativistic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5EFB83D-88C8-407A-8DFE-92864C0EFFAC}"/>
              </a:ext>
            </a:extLst>
          </p:cNvPr>
          <p:cNvSpPr/>
          <p:nvPr/>
        </p:nvSpPr>
        <p:spPr>
          <a:xfrm>
            <a:off x="470304" y="2472491"/>
            <a:ext cx="1993763" cy="72485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2FEC0F2-1FC5-4289-8F71-8864164053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7510" y="4589811"/>
            <a:ext cx="3219952" cy="81364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B5730DC-D9F3-46F8-B9B7-F3550DE50BB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27462" y="3793840"/>
            <a:ext cx="1448002" cy="69542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D0CAE1E-D5EF-4BB9-95FF-BBF496FA930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87020" y="4712171"/>
            <a:ext cx="1343212" cy="704948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DAD625DD-0007-4CE3-AED8-72E79F4F7C2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855937" y="3858748"/>
            <a:ext cx="447976" cy="447976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552A074D-CFA3-499B-88C3-1E1DAAFFDBE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965802" y="4840657"/>
            <a:ext cx="447976" cy="44797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CA8AF200-5353-47E3-A1B8-1622383D786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7510" y="5735428"/>
            <a:ext cx="5315692" cy="104789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5264C0A7-9796-40BB-961F-2F42E9B71C0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4813" y="5488839"/>
            <a:ext cx="2382159" cy="350976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C5B7AB65-6C53-46E7-8435-6939F0F27520}"/>
              </a:ext>
            </a:extLst>
          </p:cNvPr>
          <p:cNvSpPr txBox="1"/>
          <p:nvPr/>
        </p:nvSpPr>
        <p:spPr>
          <a:xfrm>
            <a:off x="4361507" y="3256737"/>
            <a:ext cx="1884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degeneracy: spin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4663BF2-1763-4AB2-A840-3A17151CCAFC}"/>
              </a:ext>
            </a:extLst>
          </p:cNvPr>
          <p:cNvCxnSpPr>
            <a:stCxn id="32" idx="1"/>
          </p:cNvCxnSpPr>
          <p:nvPr/>
        </p:nvCxnSpPr>
        <p:spPr>
          <a:xfrm flipH="1">
            <a:off x="4148488" y="3441403"/>
            <a:ext cx="213019" cy="4173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5756FDFF-BBFF-4301-8183-877B3847BF0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70395" y="2458311"/>
            <a:ext cx="4276925" cy="147748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E5D5CD7-529A-4AFE-9968-26490AD310BC}"/>
              </a:ext>
            </a:extLst>
          </p:cNvPr>
          <p:cNvSpPr txBox="1"/>
          <p:nvPr/>
        </p:nvSpPr>
        <p:spPr>
          <a:xfrm>
            <a:off x="7007925" y="1941806"/>
            <a:ext cx="20009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400" b="1" dirty="0"/>
              <a:t>Total Energy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4348A02-20CB-41E1-9F16-63B4CB862CB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33211" y="4373986"/>
            <a:ext cx="1505160" cy="69542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8E1471E2-6346-4F41-83D8-BE8CD9A963BC}"/>
              </a:ext>
            </a:extLst>
          </p:cNvPr>
          <p:cNvSpPr txBox="1"/>
          <p:nvPr/>
        </p:nvSpPr>
        <p:spPr>
          <a:xfrm>
            <a:off x="7160325" y="3935795"/>
            <a:ext cx="26554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400" b="1" dirty="0"/>
              <a:t>Equation of state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E03DF1B-183F-4D41-A2D5-6B273113E4FA}"/>
              </a:ext>
            </a:extLst>
          </p:cNvPr>
          <p:cNvGrpSpPr/>
          <p:nvPr/>
        </p:nvGrpSpPr>
        <p:grpSpPr>
          <a:xfrm>
            <a:off x="7160325" y="5076209"/>
            <a:ext cx="4905324" cy="1564137"/>
            <a:chOff x="7160325" y="5076209"/>
            <a:chExt cx="4905324" cy="1564137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96A2D3B-6D89-4960-80EE-7A1D5A5C711F}"/>
                </a:ext>
              </a:extLst>
            </p:cNvPr>
            <p:cNvSpPr txBox="1"/>
            <p:nvPr/>
          </p:nvSpPr>
          <p:spPr>
            <a:xfrm>
              <a:off x="7160325" y="5076209"/>
              <a:ext cx="213866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2400" b="1" dirty="0"/>
                <a:t>Heat capacity</a:t>
              </a:r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1A659E87-2AAE-4B19-A254-1AC2FAEC019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7258614" y="5735428"/>
              <a:ext cx="2973301" cy="904918"/>
            </a:xfrm>
            <a:prstGeom prst="rect">
              <a:avLst/>
            </a:pr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7847D467-2FB1-4D8B-AE82-00C98E9166D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9767131" y="5083798"/>
              <a:ext cx="2298518" cy="585897"/>
            </a:xfrm>
            <a:prstGeom prst="rect">
              <a:avLst/>
            </a:prstGeom>
          </p:spPr>
        </p:pic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D1AEF0DB-E1A7-4FA1-B48A-E9CB4B30643A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267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ACF2A-2886-45F8-B80B-9AC423AD4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Thermodynamics of idea Fermi gas</a:t>
            </a:r>
            <a:endParaRPr lang="en-MY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BCF1AA-1BFA-4C6E-8F91-D07992C2F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510" y="3723282"/>
            <a:ext cx="3219952" cy="82963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58124196-FC78-40DE-A4DD-590AA71187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93559" y="2265715"/>
            <a:ext cx="2880084" cy="114335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F13B8A97-FDA4-4BF4-AD63-DF6DAC85A0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0304" y="2381264"/>
            <a:ext cx="1910370" cy="8160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B2C79E7-B3D8-4B44-9CEE-2FF4DB8A1660}"/>
              </a:ext>
            </a:extLst>
          </p:cNvPr>
          <p:cNvSpPr txBox="1"/>
          <p:nvPr/>
        </p:nvSpPr>
        <p:spPr>
          <a:xfrm>
            <a:off x="379896" y="2067047"/>
            <a:ext cx="1736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Non-relativistic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5EFB83D-88C8-407A-8DFE-92864C0EFFAC}"/>
              </a:ext>
            </a:extLst>
          </p:cNvPr>
          <p:cNvSpPr/>
          <p:nvPr/>
        </p:nvSpPr>
        <p:spPr>
          <a:xfrm>
            <a:off x="470304" y="2472491"/>
            <a:ext cx="1993763" cy="72485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2FEC0F2-1FC5-4289-8F71-8864164053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7510" y="4589811"/>
            <a:ext cx="3219952" cy="81364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B5730DC-D9F3-46F8-B9B7-F3550DE50BB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27462" y="3793840"/>
            <a:ext cx="1448002" cy="69542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D0CAE1E-D5EF-4BB9-95FF-BBF496FA930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87020" y="4712171"/>
            <a:ext cx="1343212" cy="704948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DAD625DD-0007-4CE3-AED8-72E79F4F7C2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855937" y="3858748"/>
            <a:ext cx="447976" cy="447976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552A074D-CFA3-499B-88C3-1E1DAAFFDBE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965802" y="4840657"/>
            <a:ext cx="447976" cy="44797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CA8AF200-5353-47E3-A1B8-1622383D786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9008" y="5799277"/>
            <a:ext cx="5315692" cy="104789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5264C0A7-9796-40BB-961F-2F42E9B71C0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4813" y="5488839"/>
            <a:ext cx="2382159" cy="350976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C5B7AB65-6C53-46E7-8435-6939F0F27520}"/>
              </a:ext>
            </a:extLst>
          </p:cNvPr>
          <p:cNvSpPr txBox="1"/>
          <p:nvPr/>
        </p:nvSpPr>
        <p:spPr>
          <a:xfrm>
            <a:off x="4361507" y="3256737"/>
            <a:ext cx="1884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degeneracy: spin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4663BF2-1763-4AB2-A840-3A17151CCAFC}"/>
              </a:ext>
            </a:extLst>
          </p:cNvPr>
          <p:cNvCxnSpPr>
            <a:stCxn id="32" idx="1"/>
          </p:cNvCxnSpPr>
          <p:nvPr/>
        </p:nvCxnSpPr>
        <p:spPr>
          <a:xfrm flipH="1">
            <a:off x="4148488" y="3441403"/>
            <a:ext cx="213019" cy="4173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E5D5CD7-529A-4AFE-9968-26490AD310BC}"/>
              </a:ext>
            </a:extLst>
          </p:cNvPr>
          <p:cNvSpPr txBox="1"/>
          <p:nvPr/>
        </p:nvSpPr>
        <p:spPr>
          <a:xfrm>
            <a:off x="7007925" y="1941806"/>
            <a:ext cx="25595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400" b="1" dirty="0"/>
              <a:t>Virial expansion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E03DF1B-183F-4D41-A2D5-6B273113E4FA}"/>
              </a:ext>
            </a:extLst>
          </p:cNvPr>
          <p:cNvGrpSpPr/>
          <p:nvPr/>
        </p:nvGrpSpPr>
        <p:grpSpPr>
          <a:xfrm>
            <a:off x="7007925" y="3707193"/>
            <a:ext cx="3022984" cy="1357452"/>
            <a:chOff x="7160325" y="5076209"/>
            <a:chExt cx="3022984" cy="1357452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96A2D3B-6D89-4960-80EE-7A1D5A5C711F}"/>
                </a:ext>
              </a:extLst>
            </p:cNvPr>
            <p:cNvSpPr txBox="1"/>
            <p:nvPr/>
          </p:nvSpPr>
          <p:spPr>
            <a:xfrm>
              <a:off x="7160325" y="5076209"/>
              <a:ext cx="213866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2400" b="1" dirty="0"/>
                <a:t>Heat capacity</a:t>
              </a:r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1A659E87-2AAE-4B19-A254-1AC2FAEC019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7210008" y="5528743"/>
              <a:ext cx="2973301" cy="904918"/>
            </a:xfrm>
            <a:prstGeom prst="rect">
              <a:avLst/>
            </a:prstGeom>
          </p:spPr>
        </p:pic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E7393DAF-FD0A-4A1B-AF74-C065BCE55E2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00405" y="2569052"/>
            <a:ext cx="3543795" cy="100026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67FFC1E-4F3C-4763-B94E-591649BE1F3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907887" y="5139891"/>
            <a:ext cx="6255186" cy="172054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2E6C2E3-12F5-4087-82B7-13C6A079C82E}"/>
              </a:ext>
            </a:extLst>
          </p:cNvPr>
          <p:cNvSpPr txBox="1"/>
          <p:nvPr/>
        </p:nvSpPr>
        <p:spPr>
          <a:xfrm>
            <a:off x="7007925" y="1590312"/>
            <a:ext cx="3412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>
                <a:solidFill>
                  <a:srgbClr val="FF0000"/>
                </a:solidFill>
              </a:rPr>
              <a:t>(High-temperature, low density)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24981BB8-98DA-4CA0-9F69-9447A71B148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0378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ACF2A-2886-45F8-B80B-9AC423AD4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Thermodynamics of idea Fermi gas (T=0)</a:t>
            </a:r>
            <a:endParaRPr lang="en-MY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13B8A97-FDA4-4BF4-AD63-DF6DAC85A0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0304" y="2381264"/>
            <a:ext cx="1910370" cy="8160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B2C79E7-B3D8-4B44-9CEE-2FF4DB8A1660}"/>
              </a:ext>
            </a:extLst>
          </p:cNvPr>
          <p:cNvSpPr txBox="1"/>
          <p:nvPr/>
        </p:nvSpPr>
        <p:spPr>
          <a:xfrm>
            <a:off x="379896" y="2067047"/>
            <a:ext cx="1736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Non-relativistic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5EFB83D-88C8-407A-8DFE-92864C0EFFAC}"/>
              </a:ext>
            </a:extLst>
          </p:cNvPr>
          <p:cNvSpPr/>
          <p:nvPr/>
        </p:nvSpPr>
        <p:spPr>
          <a:xfrm>
            <a:off x="470304" y="2472491"/>
            <a:ext cx="1993763" cy="72485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96C473C-FAF0-4760-985D-25FA6AF512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556" y="4144809"/>
            <a:ext cx="5656108" cy="257414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5CE00A7-AD48-4F7A-A26F-63D8F299DB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2168" y="3346891"/>
            <a:ext cx="4032733" cy="892742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A6D9A4CC-4857-4091-AD92-4D7B2430FBE3}"/>
              </a:ext>
            </a:extLst>
          </p:cNvPr>
          <p:cNvGrpSpPr/>
          <p:nvPr/>
        </p:nvGrpSpPr>
        <p:grpSpPr>
          <a:xfrm>
            <a:off x="3834062" y="2772844"/>
            <a:ext cx="1507958" cy="750698"/>
            <a:chOff x="6095999" y="1997720"/>
            <a:chExt cx="1507958" cy="750698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158A766-F332-4F72-8A51-930DFED0E055}"/>
                </a:ext>
              </a:extLst>
            </p:cNvPr>
            <p:cNvSpPr txBox="1"/>
            <p:nvPr/>
          </p:nvSpPr>
          <p:spPr>
            <a:xfrm>
              <a:off x="6375133" y="1997720"/>
              <a:ext cx="11128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T=0 limit</a:t>
              </a:r>
            </a:p>
          </p:txBody>
        </p:sp>
        <p:sp>
          <p:nvSpPr>
            <p:cNvPr id="19" name="Left Brace 18">
              <a:extLst>
                <a:ext uri="{FF2B5EF4-FFF2-40B4-BE49-F238E27FC236}">
                  <a16:creationId xmlns:a16="http://schemas.microsoft.com/office/drawing/2014/main" id="{B6AB9DE9-9CAF-438E-B632-C374C3526685}"/>
                </a:ext>
              </a:extLst>
            </p:cNvPr>
            <p:cNvSpPr/>
            <p:nvPr/>
          </p:nvSpPr>
          <p:spPr>
            <a:xfrm rot="5400000">
              <a:off x="6665313" y="1809774"/>
              <a:ext cx="369330" cy="1507958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AF03F02-46B9-4335-9D88-FE96047EF020}"/>
              </a:ext>
            </a:extLst>
          </p:cNvPr>
          <p:cNvGrpSpPr/>
          <p:nvPr/>
        </p:nvGrpSpPr>
        <p:grpSpPr>
          <a:xfrm>
            <a:off x="6565895" y="1936975"/>
            <a:ext cx="3195002" cy="401272"/>
            <a:chOff x="6565895" y="2443285"/>
            <a:chExt cx="3195002" cy="401272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95366023-C8EC-4816-9E44-7F978C0F42D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565895" y="2443285"/>
              <a:ext cx="400106" cy="352474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E37BAC58-7672-4876-B1D0-7C2E550BA7D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345791" y="2491134"/>
              <a:ext cx="295316" cy="304843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01C2F3D3-124B-406C-AABF-34A1F2A0DA3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041580" y="2506107"/>
              <a:ext cx="228632" cy="266737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907A2A27-332A-42FD-8E4C-260F7B57BC4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989000" y="2453977"/>
              <a:ext cx="1771897" cy="390580"/>
            </a:xfrm>
            <a:prstGeom prst="rect">
              <a:avLst/>
            </a:prstGeom>
          </p:spPr>
        </p:pic>
      </p:grpSp>
      <p:pic>
        <p:nvPicPr>
          <p:cNvPr id="41" name="Graphic 40">
            <a:extLst>
              <a:ext uri="{FF2B5EF4-FFF2-40B4-BE49-F238E27FC236}">
                <a16:creationId xmlns:a16="http://schemas.microsoft.com/office/drawing/2014/main" id="{83B83BDD-4C15-4B40-B315-57133FA13118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r="30442" b="-11081"/>
          <a:stretch/>
        </p:blipFill>
        <p:spPr>
          <a:xfrm>
            <a:off x="5958041" y="4188504"/>
            <a:ext cx="4215864" cy="831425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B955B3E7-3864-4DFB-A8BA-80FBD7F1262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6757948" y="2358499"/>
            <a:ext cx="1593544" cy="1109430"/>
          </a:xfrm>
          <a:prstGeom prst="rect">
            <a:avLst/>
          </a:prstGeom>
        </p:spPr>
      </p:pic>
      <p:grpSp>
        <p:nvGrpSpPr>
          <p:cNvPr id="43" name="Group 42">
            <a:extLst>
              <a:ext uri="{FF2B5EF4-FFF2-40B4-BE49-F238E27FC236}">
                <a16:creationId xmlns:a16="http://schemas.microsoft.com/office/drawing/2014/main" id="{B70CEA09-208E-4473-8B0C-DEA763CC44B6}"/>
              </a:ext>
            </a:extLst>
          </p:cNvPr>
          <p:cNvGrpSpPr/>
          <p:nvPr/>
        </p:nvGrpSpPr>
        <p:grpSpPr>
          <a:xfrm>
            <a:off x="6620835" y="3467929"/>
            <a:ext cx="5393091" cy="765617"/>
            <a:chOff x="6118838" y="3583602"/>
            <a:chExt cx="5393091" cy="765617"/>
          </a:xfrm>
        </p:grpSpPr>
        <p:pic>
          <p:nvPicPr>
            <p:cNvPr id="44" name="Graphic 43">
              <a:extLst>
                <a:ext uri="{FF2B5EF4-FFF2-40B4-BE49-F238E27FC236}">
                  <a16:creationId xmlns:a16="http://schemas.microsoft.com/office/drawing/2014/main" id="{4D321F0F-B47B-4273-92AA-98201E11F93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831623" y="3583602"/>
              <a:ext cx="1680306" cy="701488"/>
            </a:xfrm>
            <a:prstGeom prst="rect">
              <a:avLst/>
            </a:prstGeom>
          </p:spPr>
        </p:pic>
        <p:pic>
          <p:nvPicPr>
            <p:cNvPr id="45" name="Graphic 44">
              <a:extLst>
                <a:ext uri="{FF2B5EF4-FFF2-40B4-BE49-F238E27FC236}">
                  <a16:creationId xmlns:a16="http://schemas.microsoft.com/office/drawing/2014/main" id="{6D39F76C-4604-4522-937A-855D07C2C7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6118838" y="3583602"/>
              <a:ext cx="3738013" cy="765617"/>
            </a:xfrm>
            <a:prstGeom prst="rect">
              <a:avLst/>
            </a:prstGeom>
          </p:spPr>
        </p:pic>
      </p:grpSp>
      <p:pic>
        <p:nvPicPr>
          <p:cNvPr id="51" name="Graphic 50">
            <a:extLst>
              <a:ext uri="{FF2B5EF4-FFF2-40B4-BE49-F238E27FC236}">
                <a16:creationId xmlns:a16="http://schemas.microsoft.com/office/drawing/2014/main" id="{D5A52E62-D09E-4D0A-9C23-5B1BEA8F823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>
          <a:xfrm>
            <a:off x="10073200" y="4178879"/>
            <a:ext cx="2118800" cy="765617"/>
          </a:xfrm>
          <a:prstGeom prst="rect">
            <a:avLst/>
          </a:prstGeom>
        </p:spPr>
      </p:pic>
      <p:pic>
        <p:nvPicPr>
          <p:cNvPr id="57" name="Graphic 56">
            <a:extLst>
              <a:ext uri="{FF2B5EF4-FFF2-40B4-BE49-F238E27FC236}">
                <a16:creationId xmlns:a16="http://schemas.microsoft.com/office/drawing/2014/main" id="{E50E856D-B65E-40B2-8313-D4912FCB411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>
          <a:xfrm>
            <a:off x="6031805" y="5053780"/>
            <a:ext cx="3700678" cy="832210"/>
          </a:xfrm>
          <a:prstGeom prst="rect">
            <a:avLst/>
          </a:prstGeom>
        </p:spPr>
      </p:pic>
      <p:pic>
        <p:nvPicPr>
          <p:cNvPr id="65" name="Graphic 64">
            <a:extLst>
              <a:ext uri="{FF2B5EF4-FFF2-40B4-BE49-F238E27FC236}">
                <a16:creationId xmlns:a16="http://schemas.microsoft.com/office/drawing/2014/main" id="{00E37A28-CD1D-4C69-8F40-F9B9FD91E946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600113" y="5063624"/>
            <a:ext cx="2626474" cy="791309"/>
          </a:xfrm>
          <a:prstGeom prst="rect">
            <a:avLst/>
          </a:prstGeom>
        </p:spPr>
      </p:pic>
      <p:pic>
        <p:nvPicPr>
          <p:cNvPr id="67" name="Graphic 66">
            <a:extLst>
              <a:ext uri="{FF2B5EF4-FFF2-40B4-BE49-F238E27FC236}">
                <a16:creationId xmlns:a16="http://schemas.microsoft.com/office/drawing/2014/main" id="{C98AF327-92FE-42E1-A9AF-9D9A90979E78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0171229" y="5993112"/>
            <a:ext cx="1922741" cy="722951"/>
          </a:xfrm>
          <a:prstGeom prst="rect">
            <a:avLst/>
          </a:prstGeom>
        </p:spPr>
      </p:pic>
      <p:pic>
        <p:nvPicPr>
          <p:cNvPr id="69" name="Graphic 68">
            <a:extLst>
              <a:ext uri="{FF2B5EF4-FFF2-40B4-BE49-F238E27FC236}">
                <a16:creationId xmlns:a16="http://schemas.microsoft.com/office/drawing/2014/main" id="{9616493E-2252-43FC-B5F2-A98C79AC215B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7641107" y="5975960"/>
            <a:ext cx="1239944" cy="814291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913FA23B-C8D2-4905-B49D-18B2F4E3706A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481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ACF2A-2886-45F8-B80B-9AC423AD4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Thermodynamics of idea Fermi gas (T=0)</a:t>
            </a:r>
            <a:endParaRPr lang="en-MY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13B8A97-FDA4-4BF4-AD63-DF6DAC85A0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0304" y="2381264"/>
            <a:ext cx="1910370" cy="8160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B2C79E7-B3D8-4B44-9CEE-2FF4DB8A1660}"/>
              </a:ext>
            </a:extLst>
          </p:cNvPr>
          <p:cNvSpPr txBox="1"/>
          <p:nvPr/>
        </p:nvSpPr>
        <p:spPr>
          <a:xfrm>
            <a:off x="379896" y="2067047"/>
            <a:ext cx="1736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Non-relativistic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5EFB83D-88C8-407A-8DFE-92864C0EFFAC}"/>
              </a:ext>
            </a:extLst>
          </p:cNvPr>
          <p:cNvSpPr/>
          <p:nvPr/>
        </p:nvSpPr>
        <p:spPr>
          <a:xfrm>
            <a:off x="470304" y="2472491"/>
            <a:ext cx="1993763" cy="72485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96C473C-FAF0-4760-985D-25FA6AF512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556" y="4144809"/>
            <a:ext cx="5656108" cy="257414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5CE00A7-AD48-4F7A-A26F-63D8F299DB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2168" y="3346891"/>
            <a:ext cx="4032733" cy="892742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A6D9A4CC-4857-4091-AD92-4D7B2430FBE3}"/>
              </a:ext>
            </a:extLst>
          </p:cNvPr>
          <p:cNvGrpSpPr/>
          <p:nvPr/>
        </p:nvGrpSpPr>
        <p:grpSpPr>
          <a:xfrm>
            <a:off x="3834062" y="2772844"/>
            <a:ext cx="1507958" cy="750698"/>
            <a:chOff x="6095999" y="1997720"/>
            <a:chExt cx="1507958" cy="750698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158A766-F332-4F72-8A51-930DFED0E055}"/>
                </a:ext>
              </a:extLst>
            </p:cNvPr>
            <p:cNvSpPr txBox="1"/>
            <p:nvPr/>
          </p:nvSpPr>
          <p:spPr>
            <a:xfrm>
              <a:off x="6375133" y="1997720"/>
              <a:ext cx="11128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T=0 limit</a:t>
              </a:r>
            </a:p>
          </p:txBody>
        </p:sp>
        <p:sp>
          <p:nvSpPr>
            <p:cNvPr id="19" name="Left Brace 18">
              <a:extLst>
                <a:ext uri="{FF2B5EF4-FFF2-40B4-BE49-F238E27FC236}">
                  <a16:creationId xmlns:a16="http://schemas.microsoft.com/office/drawing/2014/main" id="{B6AB9DE9-9CAF-438E-B632-C374C3526685}"/>
                </a:ext>
              </a:extLst>
            </p:cNvPr>
            <p:cNvSpPr/>
            <p:nvPr/>
          </p:nvSpPr>
          <p:spPr>
            <a:xfrm rot="5400000">
              <a:off x="6665313" y="1809774"/>
              <a:ext cx="369330" cy="1507958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AF03F02-46B9-4335-9D88-FE96047EF020}"/>
              </a:ext>
            </a:extLst>
          </p:cNvPr>
          <p:cNvGrpSpPr/>
          <p:nvPr/>
        </p:nvGrpSpPr>
        <p:grpSpPr>
          <a:xfrm>
            <a:off x="6565895" y="1936975"/>
            <a:ext cx="3195002" cy="401272"/>
            <a:chOff x="6565895" y="2443285"/>
            <a:chExt cx="3195002" cy="401272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95366023-C8EC-4816-9E44-7F978C0F42D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565895" y="2443285"/>
              <a:ext cx="400106" cy="352474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E37BAC58-7672-4876-B1D0-7C2E550BA7D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345791" y="2491134"/>
              <a:ext cx="295316" cy="304843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01C2F3D3-124B-406C-AABF-34A1F2A0DA3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041580" y="2506107"/>
              <a:ext cx="228632" cy="266737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907A2A27-332A-42FD-8E4C-260F7B57BC4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989000" y="2453977"/>
              <a:ext cx="1771897" cy="390580"/>
            </a:xfrm>
            <a:prstGeom prst="rect">
              <a:avLst/>
            </a:prstGeom>
          </p:spPr>
        </p:pic>
      </p:grpSp>
      <p:pic>
        <p:nvPicPr>
          <p:cNvPr id="65" name="Graphic 64">
            <a:extLst>
              <a:ext uri="{FF2B5EF4-FFF2-40B4-BE49-F238E27FC236}">
                <a16:creationId xmlns:a16="http://schemas.microsoft.com/office/drawing/2014/main" id="{00E37A28-CD1D-4C69-8F40-F9B9FD91E946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13417"/>
          <a:stretch/>
        </p:blipFill>
        <p:spPr>
          <a:xfrm>
            <a:off x="6401162" y="2655974"/>
            <a:ext cx="2274065" cy="791309"/>
          </a:xfrm>
          <a:prstGeom prst="rect">
            <a:avLst/>
          </a:prstGeom>
        </p:spPr>
      </p:pic>
      <p:pic>
        <p:nvPicPr>
          <p:cNvPr id="67" name="Graphic 66">
            <a:extLst>
              <a:ext uri="{FF2B5EF4-FFF2-40B4-BE49-F238E27FC236}">
                <a16:creationId xmlns:a16="http://schemas.microsoft.com/office/drawing/2014/main" id="{C98AF327-92FE-42E1-A9AF-9D9A90979E7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279115" y="2590355"/>
            <a:ext cx="1922741" cy="72295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E49047-CB23-4334-830D-6F35B163AA4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86036" y="4144809"/>
            <a:ext cx="2774154" cy="167392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7648362-2894-4C22-86B7-B4AEF5017FF8}"/>
              </a:ext>
            </a:extLst>
          </p:cNvPr>
          <p:cNvSpPr txBox="1"/>
          <p:nvPr/>
        </p:nvSpPr>
        <p:spPr>
          <a:xfrm>
            <a:off x="6310037" y="3651900"/>
            <a:ext cx="24563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000" b="1" dirty="0"/>
              <a:t>Total energy at T=0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36BE93C-590B-4DD3-B2D0-58B84A53C28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323847" y="4487232"/>
            <a:ext cx="1878009" cy="72295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AE44077-4EC8-459E-AB5D-4E6C5B1C22C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53422" y="6110588"/>
            <a:ext cx="2192050" cy="610643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3629B260-31E9-493F-93C7-842E50B6A331}"/>
              </a:ext>
            </a:extLst>
          </p:cNvPr>
          <p:cNvSpPr txBox="1"/>
          <p:nvPr/>
        </p:nvSpPr>
        <p:spPr>
          <a:xfrm>
            <a:off x="6216224" y="5708648"/>
            <a:ext cx="12332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000" b="1" dirty="0"/>
              <a:t>Pressure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034F19E-042F-4DF4-8824-01581374C298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612914" y="6027139"/>
            <a:ext cx="2889276" cy="77496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F4F46C6-5DFC-4ABD-ADC6-9020565067EE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5806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ACF2A-2886-45F8-B80B-9AC423AD4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Thermodynamics of idea Fermi gas (Low-temperature)</a:t>
            </a:r>
            <a:endParaRPr lang="en-MY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13B8A97-FDA4-4BF4-AD63-DF6DAC85A0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0304" y="2381264"/>
            <a:ext cx="1910370" cy="8160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B2C79E7-B3D8-4B44-9CEE-2FF4DB8A1660}"/>
              </a:ext>
            </a:extLst>
          </p:cNvPr>
          <p:cNvSpPr txBox="1"/>
          <p:nvPr/>
        </p:nvSpPr>
        <p:spPr>
          <a:xfrm>
            <a:off x="379896" y="2067047"/>
            <a:ext cx="1736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Non-relativistic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5EFB83D-88C8-407A-8DFE-92864C0EFFAC}"/>
              </a:ext>
            </a:extLst>
          </p:cNvPr>
          <p:cNvSpPr/>
          <p:nvPr/>
        </p:nvSpPr>
        <p:spPr>
          <a:xfrm>
            <a:off x="470304" y="2472491"/>
            <a:ext cx="1993763" cy="72485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96C473C-FAF0-4760-985D-25FA6AF512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556" y="4144809"/>
            <a:ext cx="5656108" cy="257414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5CE00A7-AD48-4F7A-A26F-63D8F299DB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2168" y="3346891"/>
            <a:ext cx="4032733" cy="892742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A6D9A4CC-4857-4091-AD92-4D7B2430FBE3}"/>
              </a:ext>
            </a:extLst>
          </p:cNvPr>
          <p:cNvGrpSpPr/>
          <p:nvPr/>
        </p:nvGrpSpPr>
        <p:grpSpPr>
          <a:xfrm>
            <a:off x="3834062" y="2772844"/>
            <a:ext cx="1507958" cy="750698"/>
            <a:chOff x="6095999" y="1997720"/>
            <a:chExt cx="1507958" cy="750698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158A766-F332-4F72-8A51-930DFED0E055}"/>
                </a:ext>
              </a:extLst>
            </p:cNvPr>
            <p:cNvSpPr txBox="1"/>
            <p:nvPr/>
          </p:nvSpPr>
          <p:spPr>
            <a:xfrm>
              <a:off x="6375133" y="1997720"/>
              <a:ext cx="11128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T=0 limit</a:t>
              </a:r>
            </a:p>
          </p:txBody>
        </p:sp>
        <p:sp>
          <p:nvSpPr>
            <p:cNvPr id="19" name="Left Brace 18">
              <a:extLst>
                <a:ext uri="{FF2B5EF4-FFF2-40B4-BE49-F238E27FC236}">
                  <a16:creationId xmlns:a16="http://schemas.microsoft.com/office/drawing/2014/main" id="{B6AB9DE9-9CAF-438E-B632-C374C3526685}"/>
                </a:ext>
              </a:extLst>
            </p:cNvPr>
            <p:cNvSpPr/>
            <p:nvPr/>
          </p:nvSpPr>
          <p:spPr>
            <a:xfrm rot="5400000">
              <a:off x="6665313" y="1809774"/>
              <a:ext cx="369330" cy="1507958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67648362-2894-4C22-86B7-B4AEF5017FF8}"/>
              </a:ext>
            </a:extLst>
          </p:cNvPr>
          <p:cNvSpPr txBox="1"/>
          <p:nvPr/>
        </p:nvSpPr>
        <p:spPr>
          <a:xfrm>
            <a:off x="6253738" y="3021210"/>
            <a:ext cx="30349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000" b="1" dirty="0"/>
              <a:t>Sommerfeld expansion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D7F4A3C-D41E-4C48-B43B-020E1F925F7D}"/>
              </a:ext>
            </a:extLst>
          </p:cNvPr>
          <p:cNvGrpSpPr/>
          <p:nvPr/>
        </p:nvGrpSpPr>
        <p:grpSpPr>
          <a:xfrm>
            <a:off x="1677418" y="4130974"/>
            <a:ext cx="3847483" cy="2141810"/>
            <a:chOff x="1677418" y="4130974"/>
            <a:chExt cx="3847483" cy="2141810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F7EF2F5B-BACB-4640-9961-6685F070950E}"/>
                </a:ext>
              </a:extLst>
            </p:cNvPr>
            <p:cNvSpPr/>
            <p:nvPr/>
          </p:nvSpPr>
          <p:spPr>
            <a:xfrm>
              <a:off x="3522846" y="4523874"/>
              <a:ext cx="2002055" cy="1748910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56232B0-4464-47CF-9796-95E0D933F7C1}"/>
                </a:ext>
              </a:extLst>
            </p:cNvPr>
            <p:cNvSpPr txBox="1"/>
            <p:nvPr/>
          </p:nvSpPr>
          <p:spPr>
            <a:xfrm>
              <a:off x="1677418" y="4130974"/>
              <a:ext cx="240202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dirty="0">
                  <a:solidFill>
                    <a:srgbClr val="FF0000"/>
                  </a:solidFill>
                </a:rPr>
                <a:t>Relevant fluctuations (thermal average)</a:t>
              </a:r>
            </a:p>
          </p:txBody>
        </p:sp>
      </p:grpSp>
      <p:pic>
        <p:nvPicPr>
          <p:cNvPr id="28" name="Graphic 27">
            <a:extLst>
              <a:ext uri="{FF2B5EF4-FFF2-40B4-BE49-F238E27FC236}">
                <a16:creationId xmlns:a16="http://schemas.microsoft.com/office/drawing/2014/main" id="{2740E300-DF3A-4E34-BBC0-DA2220716BF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65973" y="2924882"/>
            <a:ext cx="1533859" cy="54492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CD4C5C7-E1D1-4417-A734-C8F732AF74A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48649" y="1953651"/>
            <a:ext cx="4619223" cy="91059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7ABCC3A-4337-4A41-93B5-5A374A68C09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48414" y="4470328"/>
            <a:ext cx="6116514" cy="73434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B3AC9B85-408B-4836-8285-F3ECFD4916B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24338" y="3496928"/>
            <a:ext cx="2428774" cy="70943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39E61626-1B5D-42C1-B6A3-E983B0F87EE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25492" y="3558804"/>
            <a:ext cx="2620952" cy="73655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8F7EF719-75EB-483F-B2D0-2D177C8D494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144104" y="5303292"/>
            <a:ext cx="1047896" cy="381053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F98F60EF-24B7-4AB1-81AE-7F259CBC46E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48648" y="5816441"/>
            <a:ext cx="5410431" cy="673188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E6A41B29-2BF8-42A0-BE53-7E8D4E9401F9}"/>
              </a:ext>
            </a:extLst>
          </p:cNvPr>
          <p:cNvSpPr txBox="1"/>
          <p:nvPr/>
        </p:nvSpPr>
        <p:spPr>
          <a:xfrm>
            <a:off x="6245075" y="2784470"/>
            <a:ext cx="2091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>
                <a:solidFill>
                  <a:srgbClr val="FF0000"/>
                </a:solidFill>
              </a:rPr>
              <a:t>(Low-temperature)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9D75AD2-E892-4296-9059-68D6AA16D1E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0355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E179F-A7CC-4411-8D0D-50CFFDB26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Sommerfeld expansion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58DAF8-88F1-4C76-9349-4BEFBCE216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969" y="4037041"/>
            <a:ext cx="3591426" cy="7811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753AF8-329F-459B-BA47-2D6EEE31BE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138" y="2093549"/>
            <a:ext cx="4658375" cy="195800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0F20BE4-75D7-49A2-A100-66BDE1C174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391" y="4991309"/>
            <a:ext cx="4848902" cy="80021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46FD6B5-4182-484A-ABFD-C4DB8BD6C2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8582" y="2373239"/>
            <a:ext cx="2657846" cy="43821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3A89326-1F1B-47DD-8DC1-0CAB50AA60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1955" y="3057473"/>
            <a:ext cx="4706007" cy="74305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F9C74C8-54BE-41F6-94D4-0EFE929DF7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1411" y="3887219"/>
            <a:ext cx="4658375" cy="177189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970EFE8-F4CB-48A7-B915-C37C27945F8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66896" y="5963308"/>
            <a:ext cx="971686" cy="40010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CC88297-2C05-4CF1-8E61-8870838D3F3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91470" y="5871411"/>
            <a:ext cx="5200530" cy="67756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7287838-E9F2-4542-8244-548C0A5CB9C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23890" y="5990034"/>
            <a:ext cx="3788110" cy="7467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94FC9EE-9C99-4109-BB6D-50EBA376D9B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7891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ACF2A-2886-45F8-B80B-9AC423AD4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Thermodynamics of idea Fermi gas (T ≠ 0)</a:t>
            </a:r>
            <a:endParaRPr lang="en-MY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13B8A97-FDA4-4BF4-AD63-DF6DAC85A0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0304" y="2381264"/>
            <a:ext cx="1910370" cy="8160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B2C79E7-B3D8-4B44-9CEE-2FF4DB8A1660}"/>
              </a:ext>
            </a:extLst>
          </p:cNvPr>
          <p:cNvSpPr txBox="1"/>
          <p:nvPr/>
        </p:nvSpPr>
        <p:spPr>
          <a:xfrm>
            <a:off x="379896" y="2067047"/>
            <a:ext cx="1736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Non-relativistic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5EFB83D-88C8-407A-8DFE-92864C0EFFAC}"/>
              </a:ext>
            </a:extLst>
          </p:cNvPr>
          <p:cNvSpPr/>
          <p:nvPr/>
        </p:nvSpPr>
        <p:spPr>
          <a:xfrm>
            <a:off x="470304" y="2472491"/>
            <a:ext cx="1993763" cy="72485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96C473C-FAF0-4760-985D-25FA6AF512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556" y="4144809"/>
            <a:ext cx="5656108" cy="257414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5CE00A7-AD48-4F7A-A26F-63D8F299DB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2168" y="3346891"/>
            <a:ext cx="4032733" cy="892742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A6D9A4CC-4857-4091-AD92-4D7B2430FBE3}"/>
              </a:ext>
            </a:extLst>
          </p:cNvPr>
          <p:cNvGrpSpPr/>
          <p:nvPr/>
        </p:nvGrpSpPr>
        <p:grpSpPr>
          <a:xfrm>
            <a:off x="3834062" y="2772844"/>
            <a:ext cx="1507958" cy="750698"/>
            <a:chOff x="6095999" y="1997720"/>
            <a:chExt cx="1507958" cy="750698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158A766-F332-4F72-8A51-930DFED0E055}"/>
                </a:ext>
              </a:extLst>
            </p:cNvPr>
            <p:cNvSpPr txBox="1"/>
            <p:nvPr/>
          </p:nvSpPr>
          <p:spPr>
            <a:xfrm>
              <a:off x="6375133" y="1997720"/>
              <a:ext cx="11128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T=0 limit</a:t>
              </a:r>
            </a:p>
          </p:txBody>
        </p:sp>
        <p:sp>
          <p:nvSpPr>
            <p:cNvPr id="19" name="Left Brace 18">
              <a:extLst>
                <a:ext uri="{FF2B5EF4-FFF2-40B4-BE49-F238E27FC236}">
                  <a16:creationId xmlns:a16="http://schemas.microsoft.com/office/drawing/2014/main" id="{B6AB9DE9-9CAF-438E-B632-C374C3526685}"/>
                </a:ext>
              </a:extLst>
            </p:cNvPr>
            <p:cNvSpPr/>
            <p:nvPr/>
          </p:nvSpPr>
          <p:spPr>
            <a:xfrm rot="5400000">
              <a:off x="6665313" y="1809774"/>
              <a:ext cx="369330" cy="1507958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67648362-2894-4C22-86B7-B4AEF5017FF8}"/>
              </a:ext>
            </a:extLst>
          </p:cNvPr>
          <p:cNvSpPr txBox="1"/>
          <p:nvPr/>
        </p:nvSpPr>
        <p:spPr>
          <a:xfrm>
            <a:off x="6253738" y="3021210"/>
            <a:ext cx="30349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000" b="1" dirty="0"/>
              <a:t>Sommerfeld expansion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D7F4A3C-D41E-4C48-B43B-020E1F925F7D}"/>
              </a:ext>
            </a:extLst>
          </p:cNvPr>
          <p:cNvGrpSpPr/>
          <p:nvPr/>
        </p:nvGrpSpPr>
        <p:grpSpPr>
          <a:xfrm>
            <a:off x="1677418" y="4130974"/>
            <a:ext cx="3847483" cy="2141810"/>
            <a:chOff x="1677418" y="4130974"/>
            <a:chExt cx="3847483" cy="2141810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F7EF2F5B-BACB-4640-9961-6685F070950E}"/>
                </a:ext>
              </a:extLst>
            </p:cNvPr>
            <p:cNvSpPr/>
            <p:nvPr/>
          </p:nvSpPr>
          <p:spPr>
            <a:xfrm>
              <a:off x="3522846" y="4523874"/>
              <a:ext cx="2002055" cy="1748910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56232B0-4464-47CF-9796-95E0D933F7C1}"/>
                </a:ext>
              </a:extLst>
            </p:cNvPr>
            <p:cNvSpPr txBox="1"/>
            <p:nvPr/>
          </p:nvSpPr>
          <p:spPr>
            <a:xfrm>
              <a:off x="1677418" y="4130974"/>
              <a:ext cx="240202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dirty="0">
                  <a:solidFill>
                    <a:srgbClr val="FF0000"/>
                  </a:solidFill>
                </a:rPr>
                <a:t>Relevant fluctuations (thermal average)</a:t>
              </a:r>
            </a:p>
          </p:txBody>
        </p:sp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A5FE9605-B8CF-4BAA-B968-5290B9326552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45026"/>
          <a:stretch/>
        </p:blipFill>
        <p:spPr>
          <a:xfrm>
            <a:off x="6496310" y="4186142"/>
            <a:ext cx="4293581" cy="1573569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2740E300-DF3A-4E34-BBC0-DA2220716BF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65973" y="2924882"/>
            <a:ext cx="1533859" cy="54492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CD4C5C7-E1D1-4417-A734-C8F732AF74A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48649" y="1953651"/>
            <a:ext cx="4619223" cy="91059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000A485-C38B-48E7-AC98-95F65C8A0667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73983" b="-1714"/>
          <a:stretch/>
        </p:blipFill>
        <p:spPr>
          <a:xfrm>
            <a:off x="6351931" y="5857767"/>
            <a:ext cx="4451284" cy="82292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67D6208-457B-47C2-A0B3-D660DEBBB1F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140E65B-2F53-4B2A-AB53-6732D5D0B4D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65708" y="3484016"/>
            <a:ext cx="5200530" cy="677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303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9C464-0EFA-4C85-8FEA-B989F923F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Thermodynamics of idea Fermi gas (T ≠ 0)</a:t>
            </a:r>
            <a:endParaRPr lang="en-MY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EDBA25-3C5C-4FB9-A21F-A34A52080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390" y="2774333"/>
            <a:ext cx="5354980" cy="76166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B6A172A-DB6C-45DA-920B-5D269FCA278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1582" b="13212"/>
          <a:stretch/>
        </p:blipFill>
        <p:spPr>
          <a:xfrm>
            <a:off x="4098910" y="5197972"/>
            <a:ext cx="3570507" cy="761666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8CCD5BA-0CF1-4AC0-9AEF-3B6C94699ED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3051"/>
          <a:stretch/>
        </p:blipFill>
        <p:spPr>
          <a:xfrm>
            <a:off x="9180791" y="2820169"/>
            <a:ext cx="2283691" cy="79130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76A0AF6-76DA-4A2C-86E8-89A6322BD731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-1" r="87711" b="1561"/>
          <a:stretch/>
        </p:blipFill>
        <p:spPr>
          <a:xfrm>
            <a:off x="1447800" y="1927161"/>
            <a:ext cx="395691" cy="80094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67DA1A8-57F9-4B15-B272-ACCBFAF2CE6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43491" y="1999160"/>
            <a:ext cx="1343212" cy="704948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BDC54F12-F211-46C2-AB38-E9C0668E7C0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116571" y="2155057"/>
            <a:ext cx="447976" cy="447976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22F89EED-428A-4546-A0CA-6F438E526FA2}"/>
              </a:ext>
            </a:extLst>
          </p:cNvPr>
          <p:cNvGrpSpPr/>
          <p:nvPr/>
        </p:nvGrpSpPr>
        <p:grpSpPr>
          <a:xfrm>
            <a:off x="1447800" y="3429001"/>
            <a:ext cx="4913753" cy="1164000"/>
            <a:chOff x="1447800" y="3429001"/>
            <a:chExt cx="4913753" cy="116400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2F2C098-C136-4A9E-BCD1-F82F44964D8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447800" y="3812878"/>
              <a:ext cx="3095324" cy="780123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F7548C0-05D2-4A98-9033-D5E5D950A3EF}"/>
                </a:ext>
              </a:extLst>
            </p:cNvPr>
            <p:cNvSpPr txBox="1"/>
            <p:nvPr/>
          </p:nvSpPr>
          <p:spPr>
            <a:xfrm>
              <a:off x="4774131" y="4202939"/>
              <a:ext cx="15874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(zeroth order)</a:t>
              </a: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4EB6B202-6010-4C7D-A8F1-41FCE27245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47899" y="3429001"/>
              <a:ext cx="0" cy="5847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AC1A8D96-AD40-4CFF-8600-E1F41FB6C098}"/>
              </a:ext>
            </a:extLst>
          </p:cNvPr>
          <p:cNvSpPr txBox="1"/>
          <p:nvPr/>
        </p:nvSpPr>
        <p:spPr>
          <a:xfrm>
            <a:off x="3564547" y="6189044"/>
            <a:ext cx="4995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>
                <a:solidFill>
                  <a:srgbClr val="FF0000"/>
                </a:solidFill>
              </a:rPr>
              <a:t>Chemical potential is very close to Fermi energy.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ED84C92-24DE-41E2-8F27-7F8C7985602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8917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9C464-0EFA-4C85-8FEA-B989F923F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Thermodynamics of idea Fermi gas (T ≠ 0)</a:t>
            </a:r>
            <a:endParaRPr lang="en-MY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11435E-1978-4DAB-A39C-C23A2CD535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99" y="3612075"/>
            <a:ext cx="4276925" cy="1477484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8CCD5BA-0CF1-4AC0-9AEF-3B6C94699ED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3051"/>
          <a:stretch/>
        </p:blipFill>
        <p:spPr>
          <a:xfrm>
            <a:off x="9180791" y="2820169"/>
            <a:ext cx="2283691" cy="79130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C52A535-B789-4FC8-A2C9-1D802BE3EF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0654" y="5242308"/>
            <a:ext cx="3466474" cy="81436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2598C62-F8A4-4629-A30A-EC5559A688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2022" y="6064511"/>
            <a:ext cx="3143737" cy="761666"/>
          </a:xfrm>
          <a:prstGeom prst="rect">
            <a:avLst/>
          </a:prstGeom>
          <a:ln>
            <a:noFill/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F007120-B461-4DA1-9B5D-6EF5826DA05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1881" y="6094125"/>
            <a:ext cx="3667368" cy="732052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D11F9B1-83BC-4ED0-9E8D-C2E875400CF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45181" y="6045320"/>
            <a:ext cx="2019301" cy="761666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76A0AF6-76DA-4A2C-86E8-89A6322BD731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t="-1" r="87711" b="1561"/>
          <a:stretch/>
        </p:blipFill>
        <p:spPr>
          <a:xfrm>
            <a:off x="1581991" y="2178560"/>
            <a:ext cx="395691" cy="80094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67DA1A8-57F9-4B15-B272-ACCBFAF2CE6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77682" y="2250559"/>
            <a:ext cx="1343212" cy="704948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BDC54F12-F211-46C2-AB38-E9C0668E7C0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250762" y="2406456"/>
            <a:ext cx="447976" cy="44797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E633535-1A79-4AEA-A057-0D993F0A54C4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t="21582" b="13212"/>
          <a:stretch/>
        </p:blipFill>
        <p:spPr>
          <a:xfrm>
            <a:off x="4593974" y="2224937"/>
            <a:ext cx="3570507" cy="761666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BF987D8-F6E2-429C-843A-B69BED77D37D}"/>
              </a:ext>
            </a:extLst>
          </p:cNvPr>
          <p:cNvSpPr txBox="1"/>
          <p:nvPr/>
        </p:nvSpPr>
        <p:spPr>
          <a:xfrm>
            <a:off x="1230654" y="3242743"/>
            <a:ext cx="17684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Internal energy: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D0CC17C-4311-4F25-A9EA-D6590788B432}"/>
              </a:ext>
            </a:extLst>
          </p:cNvPr>
          <p:cNvSpPr/>
          <p:nvPr/>
        </p:nvSpPr>
        <p:spPr>
          <a:xfrm>
            <a:off x="4966636" y="4119810"/>
            <a:ext cx="250257" cy="23100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E2F3172-CC09-4DF8-95CC-CD128FA74A9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8621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9C464-0EFA-4C85-8FEA-B989F923F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Thermodynamics of idea Fermi gas (T ≠ 0)</a:t>
            </a:r>
            <a:endParaRPr lang="en-MY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78CCD5BA-0CF1-4AC0-9AEF-3B6C94699ED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3051"/>
          <a:stretch/>
        </p:blipFill>
        <p:spPr>
          <a:xfrm>
            <a:off x="9180791" y="2820169"/>
            <a:ext cx="2283691" cy="79130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F007120-B461-4DA1-9B5D-6EF5826DA0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012" y="3251800"/>
            <a:ext cx="4045526" cy="807537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76A0AF6-76DA-4A2C-86E8-89A6322BD73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-1" r="87711" b="1561"/>
          <a:stretch/>
        </p:blipFill>
        <p:spPr>
          <a:xfrm>
            <a:off x="1581991" y="2178560"/>
            <a:ext cx="395691" cy="80094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67DA1A8-57F9-4B15-B272-ACCBFAF2CE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77682" y="2250559"/>
            <a:ext cx="1343212" cy="704948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BDC54F12-F211-46C2-AB38-E9C0668E7C0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250762" y="2406456"/>
            <a:ext cx="447976" cy="44797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E633535-1A79-4AEA-A057-0D993F0A54C4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t="21582" b="13212"/>
          <a:stretch/>
        </p:blipFill>
        <p:spPr>
          <a:xfrm>
            <a:off x="4593974" y="2224937"/>
            <a:ext cx="3570507" cy="761666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44F5C7F-071E-44FA-8918-FEA0A815EE4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69576" y="4317200"/>
            <a:ext cx="2019301" cy="761666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010BEDB-B9A5-4532-A889-DC26E7A06FB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9582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49821-7CAF-41B4-BB3B-B341C5496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electron gas in metals</a:t>
            </a:r>
            <a:endParaRPr lang="en-MY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D886F5-13F3-4509-8BF0-D04604FDD8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925" y="2178171"/>
            <a:ext cx="1965039" cy="7082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E4EA5C-AF3F-4D49-971A-C1583F2C92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7925" y="3148698"/>
            <a:ext cx="4506109" cy="1966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D09E9A4-6F54-4A4C-8F02-11DF25EF4D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3839" y="3950249"/>
            <a:ext cx="1028844" cy="56205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5B4FDDC-9180-45B7-AEA6-4F1F48EB8D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7925" y="4764778"/>
            <a:ext cx="3353268" cy="35247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18F8BDD-12C0-4BE6-84B3-12D420DA22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74559" y="4060583"/>
            <a:ext cx="3458058" cy="24768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590EE5A-D312-4281-AD22-529E99D96C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2617" y="4101490"/>
            <a:ext cx="638264" cy="20957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C575803-42AA-44EA-AAD8-4B115311AD6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7925" y="5455728"/>
            <a:ext cx="3143689" cy="80021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22800D2-7BA1-4652-821C-A243370D9D1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75550" y="4926259"/>
            <a:ext cx="1933845" cy="60015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9497E34-3785-4765-9EBB-CD9793C445A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78491" y="5731992"/>
            <a:ext cx="1562318" cy="523948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03076CC-A81F-405B-81C5-7264E320E58D}"/>
              </a:ext>
            </a:extLst>
          </p:cNvPr>
          <p:cNvSpPr txBox="1"/>
          <p:nvPr/>
        </p:nvSpPr>
        <p:spPr>
          <a:xfrm>
            <a:off x="6096000" y="5526418"/>
            <a:ext cx="746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Total: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98B4665-C45C-4029-8E5E-E599F50F6165}"/>
              </a:ext>
            </a:extLst>
          </p:cNvPr>
          <p:cNvSpPr txBox="1"/>
          <p:nvPr/>
        </p:nvSpPr>
        <p:spPr>
          <a:xfrm>
            <a:off x="6059469" y="4638806"/>
            <a:ext cx="10020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electron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D9397BD-9F61-4CED-B22C-DE65C441DF4B}"/>
              </a:ext>
            </a:extLst>
          </p:cNvPr>
          <p:cNvSpPr txBox="1"/>
          <p:nvPr/>
        </p:nvSpPr>
        <p:spPr>
          <a:xfrm>
            <a:off x="7039806" y="6162255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phonon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04FF2B78-8A2D-4C0F-9561-DA7E03317F3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41218" y="2393780"/>
            <a:ext cx="3658111" cy="308653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E598084-5FCA-4B9D-9EB0-84BD2BAD0AC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2514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ACF2A-2886-45F8-B80B-9AC423AD4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Non-interacting Fermion: electrons in metal</a:t>
            </a:r>
            <a:endParaRPr lang="en-MY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13D60A-F80F-41E1-BE95-55D84F746870}"/>
              </a:ext>
            </a:extLst>
          </p:cNvPr>
          <p:cNvSpPr txBox="1"/>
          <p:nvPr/>
        </p:nvSpPr>
        <p:spPr>
          <a:xfrm>
            <a:off x="1135781" y="2165685"/>
            <a:ext cx="34747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Pauli </a:t>
            </a:r>
            <a:r>
              <a:rPr lang="en-US" sz="2000" b="1" dirty="0" err="1"/>
              <a:t>paramagnetism</a:t>
            </a:r>
            <a:r>
              <a:rPr lang="en-US" sz="2000" b="1" dirty="0"/>
              <a:t> (T=0)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A97E60-29D3-462D-9C15-D4BF28470E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9171" y="2646648"/>
            <a:ext cx="1971950" cy="7240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61479B0-FA54-4DF4-9467-9CE657C915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9152" y="4053248"/>
            <a:ext cx="2862008" cy="67687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686D2B6-C6D0-4215-A856-D188F88054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9153" y="4935838"/>
            <a:ext cx="2707990" cy="65165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0BF1BCC-30A9-470B-9EF3-DEBB68B26DE6}"/>
              </a:ext>
            </a:extLst>
          </p:cNvPr>
          <p:cNvSpPr txBox="1"/>
          <p:nvPr/>
        </p:nvSpPr>
        <p:spPr>
          <a:xfrm>
            <a:off x="1135781" y="3630139"/>
            <a:ext cx="2775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Splitting  of Fermi energy:</a:t>
            </a:r>
            <a:endParaRPr lang="en-MY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7AFD1E8-860E-4FED-970A-3B9F0D8265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2857" y="3010777"/>
            <a:ext cx="6298090" cy="61936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303D953-A7EC-46A1-92B7-6B5D37943606}"/>
              </a:ext>
            </a:extLst>
          </p:cNvPr>
          <p:cNvSpPr txBox="1"/>
          <p:nvPr/>
        </p:nvSpPr>
        <p:spPr>
          <a:xfrm>
            <a:off x="5330792" y="2565795"/>
            <a:ext cx="1699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Magnetization:</a:t>
            </a:r>
            <a:endParaRPr lang="en-MY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A5EBD7-C8AD-44F5-9FB1-69856E1235DD}"/>
              </a:ext>
            </a:extLst>
          </p:cNvPr>
          <p:cNvSpPr txBox="1"/>
          <p:nvPr/>
        </p:nvSpPr>
        <p:spPr>
          <a:xfrm>
            <a:off x="5330792" y="3683916"/>
            <a:ext cx="159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Susceptibility:</a:t>
            </a:r>
            <a:endParaRPr lang="en-MY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2990D4D5-6A41-4524-A7FC-8AA8A42766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7494" y="4053248"/>
            <a:ext cx="3347276" cy="73668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A574061-6311-40F6-BB83-F430A060B7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87877" y="5101257"/>
            <a:ext cx="1753191" cy="624900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2BB7B4E3-BDB9-4A8C-9424-38C722B87B00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13417"/>
          <a:stretch/>
        </p:blipFill>
        <p:spPr>
          <a:xfrm>
            <a:off x="9953914" y="4753892"/>
            <a:ext cx="1896177" cy="65981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066C99F-BB6F-4F88-AFC3-06DA8B470A2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0295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ACF2A-2886-45F8-B80B-9AC423AD4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Non-interacting Fermion: electrons in metal</a:t>
            </a:r>
            <a:endParaRPr lang="en-MY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087014-3DAA-4827-BE14-9CFD8E3F9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8171" y="1924810"/>
            <a:ext cx="4532817" cy="17163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4907D0F-A846-4719-B64F-17D38DCF8B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640" y="2535017"/>
            <a:ext cx="2724856" cy="8365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71B7295-D09E-44B9-A73C-DE0FEF73A3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0998" y="3473418"/>
            <a:ext cx="1334151" cy="54678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D3D5821-85C8-4A17-BFDF-B0B66934E8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7261" y="3733260"/>
            <a:ext cx="2749195" cy="54026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777E79D-3AFA-410C-990F-77322D2299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5102" y="4437713"/>
            <a:ext cx="7920324" cy="101655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B0B5D09-0438-44B3-BB5A-F341743A7DD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90585" y="5644429"/>
            <a:ext cx="7047928" cy="49538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479ED9B-4876-4145-8E4C-8B59A39200FC}"/>
              </a:ext>
            </a:extLst>
          </p:cNvPr>
          <p:cNvSpPr txBox="1"/>
          <p:nvPr/>
        </p:nvSpPr>
        <p:spPr>
          <a:xfrm>
            <a:off x="1135781" y="2165685"/>
            <a:ext cx="34747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Pauli </a:t>
            </a:r>
            <a:r>
              <a:rPr lang="en-US" sz="2000" b="1" dirty="0" err="1"/>
              <a:t>paramagnetism</a:t>
            </a:r>
            <a:r>
              <a:rPr lang="en-US" sz="2000" b="1" dirty="0"/>
              <a:t> (T≠0)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F173FE0-BBA5-421A-9D7A-AA415A2A201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9171" y="2646648"/>
            <a:ext cx="1971950" cy="72400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0A69856-66C1-4170-8621-00888E9EE14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2130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ACF2A-2886-45F8-B80B-9AC423AD4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Non-interacting Fermion: electrons in metal</a:t>
            </a:r>
            <a:endParaRPr lang="en-MY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777E79D-3AFA-410C-990F-77322D2299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9031" y="2724416"/>
            <a:ext cx="7920324" cy="10165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479ED9B-4876-4145-8E4C-8B59A39200FC}"/>
              </a:ext>
            </a:extLst>
          </p:cNvPr>
          <p:cNvSpPr txBox="1"/>
          <p:nvPr/>
        </p:nvSpPr>
        <p:spPr>
          <a:xfrm>
            <a:off x="1135781" y="2165685"/>
            <a:ext cx="34747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Pauli </a:t>
            </a:r>
            <a:r>
              <a:rPr lang="en-US" sz="2000" b="1" dirty="0" err="1"/>
              <a:t>paramagnetism</a:t>
            </a:r>
            <a:r>
              <a:rPr lang="en-US" sz="2000" b="1" dirty="0"/>
              <a:t> (T≠0)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F173FE0-BBA5-421A-9D7A-AA415A2A2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9171" y="2646648"/>
            <a:ext cx="1971950" cy="72400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3A14D2E-8060-4B88-8232-82520C86B4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9234" y="3899588"/>
            <a:ext cx="5017507" cy="701536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6EF5C8D6-C387-4774-BD36-592F8811008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55241" y="4015791"/>
            <a:ext cx="2465493" cy="58533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5952BFE-77F6-41A2-8243-C4AA6DE1083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78609" y="4954679"/>
            <a:ext cx="4832423" cy="68937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48777822-C228-4C0D-964C-AEC4AFF05C6C}"/>
              </a:ext>
            </a:extLst>
          </p:cNvPr>
          <p:cNvSpPr txBox="1"/>
          <p:nvPr/>
        </p:nvSpPr>
        <p:spPr>
          <a:xfrm>
            <a:off x="1129225" y="4494511"/>
            <a:ext cx="3698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Keep the largest term in the sum</a:t>
            </a:r>
            <a:endParaRPr lang="en-MY" b="1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0E411EC-9B1E-4D60-AACD-5EA6B59AA55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76905" y="5721716"/>
            <a:ext cx="3014517" cy="391495"/>
          </a:xfrm>
          <a:prstGeom prst="rect">
            <a:avLst/>
          </a:prstGeom>
        </p:spPr>
      </p:pic>
      <p:sp>
        <p:nvSpPr>
          <p:cNvPr id="3" name="Right Brace 2">
            <a:extLst>
              <a:ext uri="{FF2B5EF4-FFF2-40B4-BE49-F238E27FC236}">
                <a16:creationId xmlns:a16="http://schemas.microsoft.com/office/drawing/2014/main" id="{E2FEA451-6A21-4FB3-A2D0-CDE7C6821B8C}"/>
              </a:ext>
            </a:extLst>
          </p:cNvPr>
          <p:cNvSpPr/>
          <p:nvPr/>
        </p:nvSpPr>
        <p:spPr>
          <a:xfrm rot="16200000">
            <a:off x="7754854" y="1755283"/>
            <a:ext cx="400110" cy="197194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87EBE694-ADA3-4A27-A6EA-DA1AD55B4C3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19912" y="2070289"/>
            <a:ext cx="2483970" cy="41638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5325B0D-6E0C-40C7-B9DC-121C1E9BE42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4282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ACF2A-2886-45F8-B80B-9AC423AD4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Non-interacting Fermion: electrons in metal</a:t>
            </a:r>
            <a:endParaRPr lang="en-MY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79ED9B-4876-4145-8E4C-8B59A39200FC}"/>
              </a:ext>
            </a:extLst>
          </p:cNvPr>
          <p:cNvSpPr txBox="1"/>
          <p:nvPr/>
        </p:nvSpPr>
        <p:spPr>
          <a:xfrm>
            <a:off x="1135781" y="2165685"/>
            <a:ext cx="34747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Pauli </a:t>
            </a:r>
            <a:r>
              <a:rPr lang="en-US" sz="2000" b="1" dirty="0" err="1"/>
              <a:t>paramagnetism</a:t>
            </a:r>
            <a:r>
              <a:rPr lang="en-US" sz="2000" b="1" dirty="0"/>
              <a:t> (T≠0)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F173FE0-BBA5-421A-9D7A-AA415A2A2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9171" y="2646648"/>
            <a:ext cx="1971950" cy="72400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48777822-C228-4C0D-964C-AEC4AFF05C6C}"/>
              </a:ext>
            </a:extLst>
          </p:cNvPr>
          <p:cNvSpPr txBox="1"/>
          <p:nvPr/>
        </p:nvSpPr>
        <p:spPr>
          <a:xfrm>
            <a:off x="5493724" y="2461982"/>
            <a:ext cx="3153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The most probable N</a:t>
            </a:r>
            <a:r>
              <a:rPr lang="en-US" b="1" baseline="30000" dirty="0"/>
              <a:t>+</a:t>
            </a:r>
            <a:r>
              <a:rPr lang="en-US" b="1" dirty="0"/>
              <a:t> term</a:t>
            </a:r>
            <a:endParaRPr lang="en-MY" b="1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0E411EC-9B1E-4D60-AACD-5EA6B59AA5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4164" y="2838738"/>
            <a:ext cx="3014517" cy="39149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D328736-2C33-4CE6-B5BD-DB92AC757A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3206" y="3697847"/>
            <a:ext cx="4320484" cy="458113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589EF099-CE05-40B5-B35B-E517C51A5F94}"/>
              </a:ext>
            </a:extLst>
          </p:cNvPr>
          <p:cNvSpPr txBox="1"/>
          <p:nvPr/>
        </p:nvSpPr>
        <p:spPr>
          <a:xfrm>
            <a:off x="1375319" y="3786628"/>
            <a:ext cx="1779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Magnetization</a:t>
            </a:r>
            <a:endParaRPr lang="en-MY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8F47CD-9218-43B6-A684-01806AC1F6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9025" y="3627768"/>
            <a:ext cx="3014821" cy="561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2211510-0ED0-49AB-8B37-8561880A16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97630" y="4444329"/>
            <a:ext cx="2979296" cy="7949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B2A1CDD-2647-41BB-A99A-1CE8126063A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68045" y="4230424"/>
            <a:ext cx="1444284" cy="71215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43B2417-2567-46C8-BCEE-9FEF107C6228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28924"/>
          <a:stretch/>
        </p:blipFill>
        <p:spPr>
          <a:xfrm>
            <a:off x="8199628" y="5004259"/>
            <a:ext cx="2537787" cy="116807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09043A2-1366-4DC2-A208-69E04370A23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38658" y="5588298"/>
            <a:ext cx="2286534" cy="841623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1889F0C4-B4F2-4372-A0FA-E344DE2A016A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13417"/>
          <a:stretch/>
        </p:blipFill>
        <p:spPr>
          <a:xfrm>
            <a:off x="8898681" y="6110659"/>
            <a:ext cx="1896177" cy="6598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0B0A268-967B-4ADF-AD7C-AE59D8B2087E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t="12357"/>
          <a:stretch/>
        </p:blipFill>
        <p:spPr>
          <a:xfrm>
            <a:off x="8089430" y="4543663"/>
            <a:ext cx="2229161" cy="53434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B0D1AD2-EB4F-4E64-8DF5-FBDA974A3F5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166594"/>
      </p:ext>
    </p:extLst>
  </p:cSld>
  <p:clrMapOvr>
    <a:masterClrMapping/>
  </p:clrMapOvr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DABC8823-184B-4644-A75D-3E6E67686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F5AC6E30-7B7B-4C46-BDB0-FC53F1E05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 · 中文翻译与导读 1/2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ABF64CCF-A741-4341-A798-7C5D6D814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L09-01｜忠实翻译与术语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00CCE594-847C-40E3-9CD6-DDE1AF6A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【忠实翻译】统计物理 PHY301：无相互作用玻色子——理想 Bose 气体、黑体辐射与声子。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ideal Bose gas｜理想玻色气体：玻色子之间不相互作用的模型。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Bose–Einstein condensation｜玻色—爱因斯坦凝聚：宏观粒子数进入单一最低能态。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7FB8DE01-292E-48C1-A4B7-70DBB0921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87577963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B94DCEDF-F1C5-4FC9-B2F4-E6A8DE319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A7487703-827C-4B9F-8BA6-96AC12D2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 · 中文翻译与导读 2/2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037A838C-DB28-4601-80D0-639E5F008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L09-01｜入门讲解与易错点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DE6E593D-09BD-4289-B624-8B93330A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【从零讲懂】本讲先研究有守恒粒子数的理想 Bose 气体与 Bose–Einstein 凝聚，再比较粒子数不守恒的光子和声子；后半讲转入理想 Fermi 气体、低温 Sommerfeld 展开、金属电子热容与 Pauli 顺磁性。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第8讲：Bose/Fermi 占据数、巨正则系综、热波长。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“理想”表示忽略相互作用，不表示温度高或行为经典。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9A16C227-0D4F-4F33-87DE-5920819C8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9412856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99ED1661-287C-457A-9CA4-A932AEB3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772E14E6-C89C-4815-B171-9FBA2F2BC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DE0CE762-E634-4F9C-AD92-64A6E34DE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L09-02｜忠实翻译与术语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5D21B7F0-A3B4-4DF8-B71A-408D30C8D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【忠实翻译】非相对论玻色子的单粒子能量为 εk=ℏ²k²/(2m)。巨配分函数按 k 态因子化，压力由 lnQ 得到；粒子数要把 ε=0 基态 N₀=z/(1−z) 与激发态积分分开。连续极限用三维态密度把 k 求和化成积分。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ground-state occupation N₀｜基态占据 N₀：k=0 单粒子态中的粒子数。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density of states｜态密度：单位能量区间内可用单粒子态数。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FAA929DA-5C07-4FB4-90AE-5AD84BD14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3686129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E13708B1-B17F-4CFC-A4BA-82B785135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A0D20E6B-A711-4E15-BA13-3128D8951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79D25816-B3AD-48F1-A4A9-F28E93FFB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L09-02｜入门讲解与易错点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1FC65577-7E09-4297-B5A9-72090035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【从零讲懂】分开基态是 BEC 推导的关键：对有限能量间隔，连续积分可以近似大量激发态，却会漏掉单独一个但可能有 O(N) 粒子的 k=0 态。玻色要求 z≤1（若基态能设为0），否则基态几何级数不收敛。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第8讲第11页：玻色巨配分函数。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三维 k 空间态计数。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BEC 附近不能把 k=0 基态也粗暴并入连续积分。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9AF0E615-6EEC-41D5-812A-9FB039C4D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819557732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89EDBDAD-2445-4E61-9BC2-2CD19580A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7902F371-DF3C-4F43-A524-F18194D86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553034E8-F7CC-41C7-AA4F-9BE856E18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L09-02｜公式与符号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5FB1736F-7F61-4A87-9324-657AED61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ε_k=ℏ²k²/(2m)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Q=∏_k[1-ze^{-βε_k}]^{-1}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3. PV=kBT lnQ=-kBT∑_k ln(1-ze^{-βε_k})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4. N=∑_k1/(z^{-1}e^{βε_k}-1)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5. N₀=z/(1-z)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5F1C305B-D400-43B9-83E0-2E37A50D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2133414810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D629DC82-E75E-4630-B49E-560E0AB8B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349640F8-0371-4539-8BC6-F6B1624B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3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4D524214-EA57-4E12-8563-049D9985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L09-03｜忠实翻译与术语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C173C4B6-F446-413E-94D8-709F425F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【忠实翻译】定义 Bose 函数 gν(z)=Γ(ν)^{-1}∫₀∞x^{ν−1}/(z^{-1}e^x−1)dx=z+z²/2^ν+…。于是激发态密度 (N−N₀)/V=λ^{-3}g_{3/2}(z)，压力 P=(kBT/λ³)g_{5/2}(z)，其中 λ 为热波长。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Bose function｜Bose 函数：由玻色占据积分产生的特殊函数。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Gamma function｜Gamma 函数：阶乘的连续推广。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Riemann zeta function｜黎曼 zeta 函数：gν(1)=ζ(ν)。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FE571A49-B13B-48DE-93C0-C9CBDC5D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217971726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6A488D48-030D-4B96-9159-C248BA59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3790DBE9-5F72-45BD-8A61-0BAD3529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3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03DB3D92-CE49-4352-93FF-B98D426F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L09-03｜入门讲解与易错点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7B5EDF0E-2B3D-44AA-9D8C-61F4D775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【从零讲懂】指数 3/2 来自三维自由粒子态密度 ε^{1/2}，再乘占据积分；压力多一个能量/积分阶数，出现 5/2。gν(1)=ζ(ν) 只有 ν&gt;1 时有限，这个数学事实决定三维自由 Bose 气体可凝聚。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第9讲第2页：基态与激发态分离。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变量代换与积分。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源页顶部压力/lnQ 的基态项符号视觉上疑似缺少负号；标准为 -V^{-1}ln(1-z)，应保留歧义标记。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2716A6E7-942A-4B6E-B77B-E5232F3A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893231757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506D57C0-5AD1-4241-B713-D7EAC6D5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4663EA72-2EC0-4CD9-969C-9F92A196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3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94E545BD-DA39-461D-8649-1E65342B7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L09-03｜公式与符号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60E12B24-C347-4501-BC14-1559B358D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g_ν(z)=1/Γ(ν)∫₀∞x^{ν-1}/(z^{-1}e^x-1)dx=∑_{l=1}∞z^l/l^ν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(N-N₀)/V=λ^{-3}g_{3/2}(z)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3. P=(kBT/λ³)g_{5/2}(z)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4. λ=h/√(2πmkBT)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907A68A2-F884-4A22-A9DE-5DC316F3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088647664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D01C09A7-66BE-48D3-A78B-C286A045D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55687345-FC7B-4D98-8B1B-B51C47396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4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717CB91A-4E85-4FF8-8C69-DB58EE0C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L09-04｜忠实翻译与术语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A4415144-6212-4D49-BD5B-E82216AB8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【忠实翻译】在高温低密度下消去 z，可把 Bose 气体状态方程写成 P/(nkBT)=1+a₂(nλ³)+a₃(nλ³)²+…；课件给出 a₁=1、a₂=-1/(4√2)、a₃≈-0.00330、a₄≈-0.00011。负的第二维里系数表现出纯交换统计造成的“有效吸引”。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virial coefficient｜维里系数：密度展开中编码统计或相互作用修正的系数。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statistical attraction｜统计吸引：Bose 交换对称造成的聚束效应，并非真实势能。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86988F41-64DD-4CEA-812B-B5D0225B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4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500830811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2B876055-00A1-45A8-A1A4-D4EAD16E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AE333F9F-AC4E-4971-AE94-535E84C8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4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F1242DB2-12F9-4A4C-A21E-E2CFADB17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L09-04｜入门讲解与易错点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3E3C50C2-14CB-4B81-8159-3E9E65CDB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【从零讲懂】这里没有真实相互作用；压力低于经典值来自玻色子更愿意占据同一状态。展开参数是相空间密度 nλ³，只有它远小于1时逐项截断可靠。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第9讲第3页：gν(z) 的级数。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级数反演与 nλ³≪1。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统计吸引不等于粒子之间存在负势能。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EDAA4B77-7E37-4364-8475-389EE3214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4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2029679434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C07D855F-36AD-41A5-9EF9-CCB077F1B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C96706AC-9B43-4617-8096-86EC2FF39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4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7427DDDB-5B47-4EFF-B291-3A91B58D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L09-04｜公式与符号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970F04F4-5060-4A42-9FA7-1406AAF1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Pv/(kBT)=∑_{l=1}^∞a_l(λ³/v)^{l-1}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a₁=1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3. a₂=-1/(4√2)=-0.17678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4. a₃=-(2/(9√3)-1/8)=-0.00330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5. a₄=-(3/32+5/(32√2)-1/(2√6))=-0.00011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6. v≡1/n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F0251F38-8331-4404-9626-1EF5955E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4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2102293295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CBA3D6C4-44E6-460B-B99F-EFB23F2CB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A91BEF89-397D-4950-858C-28C9C98A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5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A4D36609-5F05-427E-A4C1-06203AFA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L09-05｜忠实翻译与术语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9CBEEAE5-FC6D-496C-8A48-60FEB984D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【忠实翻译】自由非相对论 Bose 气体满足 U=(3/2)PV。把维里展开代入可得高温下 U 与 CV 的量子修正；随着 nλ³ 增大，热容偏离经典 3NkB/2。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internal energy｜内能：所有占据态能量的统计平均。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heat capacity C_V｜定容热容：固定 V、N 时内能对温度的导数。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93FEB2B6-A4DD-4507-85B9-DF4C2A2B3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5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116487053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8EED38BD-74FA-419A-A6A5-91844817F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7236982F-0F59-4FCC-BF2B-ABB49DD6E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5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A61D5139-6248-4D1B-9892-E71A3F4AD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L09-05｜入门讲解与易错点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0C7F6890-B166-4493-AD35-0981B79D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【从零讲懂】关系 P=2U/(3V) 来自色散 ε∝k² 的尺度性质，而不是 Bose 特有。求 CV 时要在 N、V 固定下对 T 求导；λ³∝T^{-3/2}，所以密度修正本身也依赖温度。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第9讲第4页：Bose 维里展开。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第5讲：理想气体 U 与 P 的尺度关系。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对 T 求导时不能把 λ 当常数。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1E187E36-06D6-453F-85FA-9C5ABAE83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5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799330473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39F96F54-68E1-4200-BB10-13F2C09B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26E4F92A-9AE9-4A23-B2C8-1D897AC1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5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3B64EC5B-8E05-4905-8C60-9ADE5BF0D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L09-05｜公式与符号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4984CAA9-D360-498C-9913-5342FF843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U=-(∂lnQ/∂β)_{z,V}=kBT²{∂[PV/(kBT)]/∂T}_{z,V}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U=(3/2)kBT(V/λ³)g_{5/2}(z)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3. P=(2/3)(U/V)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4. C_V/(NkB)=(3/2)∑_{l=1}^∞[(5-3l)/2]a_l(λ³/v)^{l-1}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5. C_V/(NkB)=(3/2)[1+0.0884(λ³/v)+0.0066(λ³/v)²+0.0004(λ³/v)³+…]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6. λ=h/(2πmkBT)^{1/2}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E737C9E4-1344-41EB-B80E-8D2F63B2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5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60369984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34379CE0-3828-454E-90AF-65674B7A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35D9DF82-B0E1-471D-865A-BB46B6B9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6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863E4FB9-CEAA-4A66-9997-65B58120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L09-06｜忠实翻译与术语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525D9BFA-F96F-4C47-AD79-E90BD2D7B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【忠实翻译】总密度为 N/V=λ^{-3}g_{3/2}(z)+z/[V(1−z)]。由于 0≤z≤1，激发态密度最大为 ζ(3/2)/λ³=2.612/λ³；若总密度更大，额外粒子不能再装入激发态，只能宏观占据基态。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excited-state saturation｜激发态饱和：z→1 后激发态最多只能容纳有限密度。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macroscopic occupation｜宏观占据：某单态的粒子数与总 N 同阶。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AE49DD3B-EF1E-4F74-8AC7-3BC53B0A4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6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943480500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DD278D2D-620D-476A-90FD-AA12360F5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819E9426-F1F0-412F-A83D-E7E9F0C4F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6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63137B97-08AD-4919-9179-80868EA67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L09-06｜入门讲解与易错点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A871D2EB-1146-4F5D-B9C4-30B98821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【从零讲懂】BEC 是“激发态容量饱和”而非粒子互相吸引结团。有限温度下把 z 推到1后，激发态数由 T 和 V 固定；增加 N 只会增加 N₀。热力学极限中单个基态仍可承载有限比例 N₀/N。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第9讲第2–3页：N₀ 与 Bose 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z→1 时 N₀ 不能继续用连续态密度积分代替。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E76E387B-4061-4C83-91EE-D72432F7D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6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26692592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41ADD698-C077-4ABE-B2A7-D9D6FFF0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29D0EC4B-6CE5-4871-9F56-957B4C068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6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92DF37B8-AEDA-4E0E-A79C-AC771615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L09-06｜公式与符号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A9555182-1A6E-4E6F-80D7-15490AE49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N/V=λ^{-3}g_{3/2}(z)+z/[V(1-z)]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0≤z≤1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3. n_ex,max=ζ(3/2)/λ³=2.612/λ³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5EB4E158-EAEB-4C8C-B2F5-91CFCAD25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6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525086658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3007441A-9F15-402D-86F6-7C87E5E7B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0887F15D-2FA0-48EC-8111-83A606258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7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6E7FCD2C-2990-466F-A2A7-072EAFEEF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L09-07｜忠实翻译与术语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B69A055F-A1E2-4BD5-AFE8-1EC19D90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【忠实翻译】令临界点 N₀刚开始宏观出现、z=1，可得 Tc=h²/(2πmkB)[N/(Vζ(3/2))]^{2/3}。T&lt;Tc 时激发态比例 N_ex/N=(T/Tc)^{3/2}，凝聚比例 N₀/N=1−(T/Tc)^{3/2}。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critical temperature T_c｜临界温度：凝聚基态开始出现宏观占据的温度。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condensate fraction｜凝聚分数：N₀/N。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9C584E48-F221-4468-A64E-E8583BAD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7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13252656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43C2FD21-942E-4EAC-979B-D4B881F16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450B65B2-5B7D-4570-AE3B-6AF08041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7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C84F5D42-C959-4AB5-8642-72E8AB0F5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L09-07｜入门讲解与易错点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461E591F-0AEA-4991-A00B-3006C5E8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【从零讲懂】Tc 随密度 n^{2/3} 增大、随质量 m 增大而降低。凝聚比例来自 λ^{-3}∝T^{3/2}；降温后激发态容量缩小，被挤出的粒子进入基态。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第9讲第6页：激发态最大密度。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理想气体 BEC 的 Tc 不是粒子相互作用导致的配对温度。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9412108C-EA3A-4159-AB5E-3BC5A16DD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7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22616881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CD1E8A3B-448C-42A6-B629-57820033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6D24DF26-598D-4104-A67A-86D1CC96A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7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08C3F8CA-3668-4881-A2EF-7CF2DE1A3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L09-07｜公式与符号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6B152CE5-AC30-4D72-AB45-919F73298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T_c=h²/(2πmkB)[N/(Vζ(3/2))]^{2/3}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N_ex/N=(T/T_c)^{3/2}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3. N₀/N=1-(T/T_c)^{3/2}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82E1CECF-D488-4E73-B677-696F48C6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7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298637461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45DDA443-0E83-491B-8E9C-7DFB76FA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6972933B-37C1-499A-90DB-37F2D104E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8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6416AD58-0A0D-485C-B6AA-B695C0AD0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L09-08｜忠实翻译与术语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8E4EE017-47BF-4498-8624-B2ADE9045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【忠实翻译】T&lt;Tc 时 z=1，压力 P=kBTζ(5/2)/λ³ 只依赖 T，不随体积/总密度变化，因此理想 Bose 气体在凝聚相表现出无限等温可压缩率。T&gt;Tc 时 z 随 V 变化，P=(N/V)kBT·g_{5/2}(z)/g_{3/2}(z)。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isothermal compressibility｜等温可压缩率：密度对压强的静态响应。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condensed phase｜凝聚相：N₀/N 在热力学极限非零的相。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8FBC7708-6187-44F0-8663-DE3D5C18D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8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392463286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95C17F17-A1FA-47E0-9A6F-5C35B84C6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E51441E1-69A2-4E31-A689-6681CDF3C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8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5911BB5E-B844-49F5-9F19-A12BBE936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L09-08｜入门讲解与易错点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AF4981A3-3978-4C3F-8A48-46C1D7C87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【从零讲懂】凝聚相里压缩系统主要把粒子在基态与激发态之间重新分配，而激发态产生的压力固定，所以 ∂P/∂V=0。真实气体的弱相互作用会恢复有限压缩率，理想模型的“无限软”是重要但不现实的极限。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第9讲第7页：Tc 与凝聚分数。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第6讲第7页：可压缩率。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“压力与 V 无关”是理想凝聚相结论；不可直接套到有相互作用冷原子。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AAEA9005-4D83-4F38-8E64-2EC590BA1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8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856419025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DF13F151-116D-44ED-B5C0-5B3BCA73D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28A0D7F7-805E-45A9-9DAB-5A7CA60C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8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795CAFAF-1B77-42EA-99A7-DC391240F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L09-08｜公式与符号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021AFF88-16C6-44BE-A1E0-11B3EC0EB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T&lt;Tc: P=kBTζ(5/2)/λ³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κ_T=-(1/V)(∂V/∂P)T→∞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3. T&gt;Tc: P=nkBT g_{5/2}(z)/g_{3/2}(z)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091B1AAF-2DD9-4A3D-BAFD-D899FD1B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8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672033560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28997A26-4DC3-4878-93CB-3FB6BC04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13FCF175-9B87-4426-B147-FFA1164E7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9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5D4A7E22-FC18-4F12-90DB-69C61DE7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L09-09｜忠实翻译与术语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54D17F67-806A-43C7-A6D9-8AD4167E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【忠实翻译】理想 Bose 气体的 CV 在 Tc 附近连续但有尖点：低温侧按 T^{3/2} 增长，在 Tc 取约 1.925NkB；高温侧需要同时考虑 z(T) 的变化。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cusp｜尖点：函数连续但斜率或更高导数不连续的形状。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chemical-potential pinning｜化学势钉扎：凝聚相中 μ=ε₀（取 ε₀=0）。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E39DF752-8A87-4603-9A5D-3B695C435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9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273139478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F2CA73BA-F10F-4D6A-A3C9-25BBE1FA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B9E1D01E-0479-4352-863F-CED88A57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9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751767FF-E5E4-4CF7-904C-B17CF26E4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L09-09｜入门讲解与易错点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0A75E5F5-B644-47AA-8E22-7F2654B21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【从零讲懂】该尖点来自化学势在 Tc 以下钉在0、以上随温度变化。三维均匀理想 Bose 气体的热容本身不跳跃，但导数不光滑；不要把所有连续相变都想成同一种发散。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第9讲第7–8页：凝聚分数与压力。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图中的 1.925 是每粒子以 kB 为单位的热容，不是临界指数。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90256460-DB6C-4CBA-8684-7F6DE5374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9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05478267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FA48ABCE-0CE8-4685-B121-E5AE25E61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BB07458A-34A5-4600-BEDB-554005788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9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B866007A-CD7B-4EBB-83DE-9DE13B120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L09-09｜公式与符号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EE57112A-F773-4E5C-9084-BF58A424E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C_V/(NkB)=(1/NkB)(∂U/∂T)_{N,V}=(3/2){∂[PV/(NkB)]/∂T}_v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T&lt;T_c: C_V/(NkB)=(15/4)ζ(5/2)v/λ³=(15/4)[ζ(5/2)/ζ(3/2)](T/T_c)^{3/2}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3. T&gt;T_c: C_V/(NkB)=15g_{5/2}(z)/(4g_{3/2}(z))-9g_{3/2}(z)/(4g_{1/2}(z))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4. (1/z)(∂z/∂T)_v=-(3/2T)g_{3/2}(z)/g_{1/2}(z)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5. C_V(T_c)≈1.925NkB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AA3F7E6A-F343-452D-8EA1-B94324609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9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759939958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228D04CB-7C54-4D03-B970-E85E0D64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2C45ADEF-8958-4CF4-BB8C-F3D44403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10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02B93CDD-1585-4488-991C-98D12283A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L09-10｜忠实翻译与术语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4B5F51B6-2415-4A66-984D-18A6DFBFB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【忠实翻译】对两个全同粒子，位置表象的两体密度矩阵相对经典结果多出因子 1±exp(-2πr₁₂²/λ²)：加号为 Bose，减号为 Fermi。于是玻色子在小距离概率增强、费米子减弱，可类比为统计吸引与统计排斥。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exchange term｜交换项：交换两粒子路径产生的量子干涉项。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statistical force｜统计力：用有效势语言描述交换导致的聚束/反聚束。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5BDE4081-B61F-413F-B57D-830B52FF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10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775241604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687734A5-92C2-49C7-8024-CFFF71671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EDC8C1BE-323C-4544-817E-AC1D428D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10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EA905811-AEAC-49AB-8521-34EE50BB1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L09-10｜入门讲解与易错点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C1F8D7C2-D2A1-48E4-94AE-3344F3D29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【从零讲懂】这不是额外势能，而是波函数交换项造成的干涉。距离远大于 λ 时指数项消失，回到经典可分辨粒子；距离小于 λ 时交换效应显著，并对应维里系数的符号。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第8讲第2–4页：交换对称性。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第9讲第4页：维里修正。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统计“力”并非 Hamiltonian 中新增的真实二体相互作用。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C5114F79-4E20-4988-899F-9CBF1B24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10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345919647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63077CEC-CD83-469C-9373-03A6CBB1C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2B2C5567-64C4-4354-B88C-87096C30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10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CF9A0D97-D7F9-4012-A817-E4125157E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L09-10｜公式与符号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49456863-D5CF-4A22-9087-61AE4AB8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⟨r₁,r₂|e^{-βĤ}|r₁,r₂⟩=[1±exp(-2πr₁₂²/λ²)]/(2λ⁶)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Q₂(V,T)=(1/(2λ⁶))∬[1±exp(-2πr₁₂²/λ²)]d³r₁d³r₂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3. Q₂(V,T)=(1/2)(V/λ³)²[1±(1/2^{3/2})(λ³/V)]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4. + : bosons, - : fermions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1C694A15-FFCA-42F1-825C-F6BA1E34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10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125733244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A917977E-742F-45AB-9D22-7C00C9FE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F19DAAF5-23FB-4D1C-91C0-5C942A8F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11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691F7F7A-D207-4383-9016-31565BE1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L09-11｜忠实翻译与术语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F8BA0289-8BF8-4638-BEEB-6914278C3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【忠实翻译】BEC 需要三点：粒子数近似守恒；热力学极限中 z→1 时激发态密度有有限上限；达到凝聚相后 z=1 且 N₀ 可占总粒子的宏观比例。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number conservation｜粒子数守恒：决定化学势需由 N 约束求出的条件。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thermodynamic limit｜热力学极限：V,N→∞ 且 n 固定。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C7B3A149-FBB7-4964-9143-DB951F76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11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720151393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F3CC6199-F21A-4B11-9DFD-6E293A366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433F6326-9226-4A69-A3B1-AB42EC7A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11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374309FE-682D-40D8-A155-BE89E5B6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L09-11｜入门讲解与易错点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88DA4299-042F-47FC-A165-BC97A889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【从零讲懂】若粒子数不守恒（如平衡光子），化学势通常固定为0，改变温度会改变总粒子数而非迫使多余粒子进基态。若低能态密度使激发态积分发散，也不会在有限温度饱和；这解释均匀一维、二维理想 Bose 气体为何无常规有限温 BEC。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第9讲第6–7页：激发态饱和与凝聚分数。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z=1 是把基态能量设为0后的说法；一般是 μ→ε₀。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FE1E49A5-7CE8-4816-8E99-3418DC637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11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609097972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F81997E8-5F45-46F7-84EF-C25DB9FFC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90F3AB5B-8B37-4B7A-8614-023F815AD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11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55ACC951-FAF7-4189-8DFE-60AE9BC8E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L09-11｜公式与符号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6DC9DD51-BDA0-47CD-A39E-775CE0AC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N_ex,max/V=λ^{-3}ζ(3/2) (3D free gas)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T_c=h²/(2πmkB)[N/(Vζ(3/2))]^{2/3}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3. BEC: z=1, N₀=O(N)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DFCC5EE1-4F8C-42E0-95DD-FF389B3F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11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2115578253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C801D836-6574-4652-96A8-66C847B80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8CC4F8F4-E33B-4A54-870C-28BB4084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12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7075D62A-E159-47BB-A960-5D855C78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L09-12｜忠实翻译与术语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5CC97925-266E-45C7-9E2B-F0F2B34D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【忠实翻译】冷原子实验常用三维谐振子光阱。能级与态密度不同于均匀盒，临界温度满足 kBTc/(ℏω₀)=[N/ζ(3)]^{1/3}。Rb 原子凝聚温度约 100 nK；实际气体弱相互作用。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optical trap｜光学阱：用激光诱导势束缚中性原子。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harmonic oscillator length｜谐振子长度：a_α=√(ℏ/mω_α)，基态空间尺度。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7AE5EB50-32FF-42D9-8F5B-92B7ED45B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413437298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E082DFA7-A3D7-4D1E-B3F2-22CE550B7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94150451-CAF9-4D63-8DB9-E829006A2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12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4B9B0922-AF77-436C-AAEF-6B802BFE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L09-12｜入门讲解与易错点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62BD40FE-9149-45B4-B02E-DA35A5B3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【从零讲懂】陷阱势使低能态密度改变，因此 Tc 的 N 标度从均匀气体的 N^{2/3}/V^{2/3} 变成 N^{1/3}ω₀。实验常比较热云尺度与谐振子基态尺度，以观察中心凝聚峰。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三维量子谐振子与态密度。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第9讲第7页：均匀气体 Tc。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光阱中的 Tc 公式不能直接使用均匀体积 V 的公式。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B7BC43A3-97EA-4047-B854-34572158A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553564531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F9AC9EC1-A776-4094-9623-AA906B5A9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F7AABB7F-B514-4D84-9250-66ED775FA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12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A871975E-D3E4-470F-9722-294E4570B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L09-12｜公式与符号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80F6CDA9-7E90-4291-AE83-BEA7C94A3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V(r)=½m(ω₁²x²+ω₂²y²+ω₃²z²)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ε_{l₁,l₂,l₃}=ℏω₁l₁+ℏω₂l₂+ℏω₃l₃+½ℏ(ω₁+ω₂+ω₃)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3. Π(μ,T)=-(kBT)⁴/[2(ℏω₀)³]∫₀^∞x²ln(1-e^{-x}e^{βμ})dx=(kBT)⁴g₄(z)/(ℏω₀)³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4. N(μ,T)=(∂Π/∂μ)_T=(kBT/ℏω₀)³g₃(z)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5. kBT_c/(ℏω₀)=[N/ζ(3)]^{1/3}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6. a_α=√(ℏ/(mω_α))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7. a_thermal=√(kBT/(mω_α²))=a_α√(kBT/(ℏω_α))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D02EF888-8041-4696-B431-3BEAF5035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8537866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D1FD1A60-D2E5-4A79-A6ED-CF9BB124A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68224F7B-D90D-448D-939C-3AF9DCC42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13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F2100FA5-C1F0-4007-BDC6-D44CD22FB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L09-13｜忠实翻译与术语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5F1EBAD3-4863-41E6-9A1C-86D6389C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【忠实翻译】液态 ⁴He 在 Tc≈2.17 K 发生超流转变，表现出近零黏滞等现象，热容出现著名 λ 形峰。它是强相互作用 Bose 系统，不能用理想 Bose 气体定量解释。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superfluidity｜超流：具有无黏滞流与量子涡旋等性质的宏观量子相。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lambda transition｜λ 转变：⁴He 热容呈 λ 形的连续相变。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AEDCA52C-D2B2-4899-A2A7-39176B44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326407972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CA2FE7C6-FD8E-4C5B-8FCE-B20134BA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B15AC2E3-45CC-4961-BE8C-4FFAE97D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13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0DB25B8D-796A-46E0-9E6C-80D5DE2A7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L09-13｜入门讲解与易错点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3A937B60-DC49-4CEF-AB16-F0F36A1B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【从零讲懂】⁴He 原子是复合玻色子，因此 BEC 思想仍提供直觉，但液氦密度高、相互作用强；凝聚分数与超流分数也不是同一个量。λ 峰反映临界涨落，需更先进多体与场论方法。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第9讲第6–11页：理想 BEC。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第6讲：临界涨落。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超流性不等同于理想气体基态占据；相互作用对超流刚度至关重要。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2F3BBBDA-2CD4-4866-89EB-FB4DB338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61774491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60FBCEE2-DCCF-4BC8-A81E-4D6B98156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6909A7E6-5735-470F-B1CE-7E62D5A72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13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DB9BB8E9-62BB-445C-9779-B360C951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L09-13｜公式与符号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0701BC17-B232-45EB-A687-F54ABC0E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T_λ≈2.17 K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5243315A-93AF-44A2-BFB2-A9D15061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152017679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C96E481D-1049-4223-8B64-BE6EBAA97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DEF54B48-36E4-46A4-B275-0CE76469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14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D4CDFB79-01C2-465A-88AE-276C0F4CC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L09-14｜忠实翻译与术语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5D1F29A0-6692-41DA-8B61-5C875766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【忠实翻译】腔内光子是无质量玻色子，能量 ε=pc=ℏω，每个波矢有两个偏振。光子数不守恒，故平衡化学势 μ=0。积分 Bose 占据得到能量密度 U/V=σT⁴，其中课件定义 σ=π²kB⁴/[15(ℏc)³]。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blackbody radiation｜黑体辐射：热平衡腔内电磁场。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polarization｜偏振：光子的两种横向自由度。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Stefan law｜Stefan 定律：总辐射能量密度或通量随 T⁴。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A3282BC3-65FB-4308-9132-CDBE9EE58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14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996648287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F5F6FD29-37D5-4548-B43E-A99FD0BB0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34284B9F-C58D-46FC-BBAB-ABA999FA2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14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0E4076B7-C270-4999-A96A-09BBDCE4D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L09-14｜入门讲解与易错点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6BB6607E-B5C0-4070-9ADE-AF847A57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【从零讲懂】加热腔壁会创造更多光子，冷却会吸收光子，所以无需固定 N。T⁴ 来自三维光子态密度∝ω²再乘每个光子能量 ℏω。课件 σ 是能量密度系数，不要与辐射通量的 Stefan–Boltzmann 常数（多一个 c/4）混淆。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第8讲 Bose 占据；三维 k 空间积分。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光子 μ=0 的原因是粒子数不守恒，不是光子没有能量。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8AF6447E-2B06-4BC5-AF91-42070D7DD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14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610693542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E1328632-B8C9-4511-A8DD-2ED64DC8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66E1ACBB-C834-47A7-B3B4-3D4FDF450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14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66E11D29-ED2B-42B8-8902-EB5C030BE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L09-14｜公式与符号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CC1239FA-10B4-4999-9979-0716EA35B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ε=pc=ℏω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μ_photon=0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3. n̄_ω=1/(e^{βℏω}-1)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4. U/V=σT⁴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5. σ=π²kB⁴/[15(ℏc)³] (slide definition)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6. Planck spectrum peak label: x≈2.8214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6C2CB231-E1F0-44F5-915A-38FB20F0E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14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866478831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626D8C19-EB36-4062-AFE0-A9E76F1C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4BDDA7BB-94C9-427E-9D05-828D6F16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15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09B3EB7E-EB43-436D-8E6C-3969312C4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L09-15｜忠实翻译与术语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55B2BECD-9ED9-4633-B194-7A742FC4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【忠实翻译】声子是晶格振动的玻色准粒子。Debye 模型取低能线性色散 ε=pc=ℏω，并把三种声学极化合并；用截止频率 ωD 保证总模数为3N，得到 ωD=(6π²n)^{1/3}c 与 g(ω)=3Vω²/(2π²c³)。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phonon｜声子：晶格正常模量子化后的准粒子。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Debye frequency｜德拜频率：通过总模数固定的高频截止。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acoustic branch｜声学支：k→0 时 ω→0 的晶格振动支。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D7655A05-29F1-41B3-BDDB-6F012B4C3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15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2121078497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C9FB720D-1C3D-41CE-B9DA-A3ACAC0C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C35A499D-EDF3-4E76-844C-0CE38EDE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15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41E01E74-63E1-474A-AB8D-790047E59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L09-15｜入门讲解与易错点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09EB2D9E-ABE2-4EF4-BBD1-EEA5AEB4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【从零讲懂】真实晶格只有有限自由度，不能把线性色散延伸到无限 k；Debye 截止正是用“模式总数=3N”确定。声子数不守恒，所以 μ=0。三种方向近似使用同一声速 c，是模型简化。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简谐振子、正常模、态密度。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Debye 截止不是某个真实尖锐物理边界，而是保持模式总数的近似。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4BF5072F-A4CA-42D9-93CA-3A9CF609A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15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413915922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C326CAE3-FB3B-4412-8849-38B6826E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3B9F87AA-E307-46C5-AE8C-2942020E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15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7F557678-A9E5-4DDA-A9A7-8AB034D3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L09-15｜公式与符号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13FB9707-AEDE-4496-9526-6FA4EAFF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ε=pc=ℏω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∫₀^{ωD}g(ω)dω=3N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3. ω_D=(6π²n)^{1/3}c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4. g(ω)=3Vω²/(2π²c³), 0≤ω≤ω_D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33FC507E-6420-41EB-98D6-DAB024F3B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15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593347951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6FB42037-5C73-4618-82B0-F2265ED8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179C41AC-095A-4A30-8446-6CBE7360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16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63D25EBE-963B-44AD-86F9-422427898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L09-16｜忠实翻译与术语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27BD451B-7300-41D3-A560-35D840684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【忠实翻译】声子总能量 U=∫₀^{ωD}g(ω)ℏω/[e^{βℏω}−1]dω。定义 kBTD=ℏωD、u=TD/T 和 Debye 函数 D(u)=3u^{-3}∫₀^u t³/(e^t−1)dt，可写 U/N=3kBTD(u)。高温回到 3NkBT，低温给出 CV∝T³。图中实验比较列出 Al、Cu、Au、Pb 的 Debye 温度约 396、309、215、95 K。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Debye temperature｜德拜温度：由最大声子频率换算的温标。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Dulong–Petit law｜杜隆—珀替定律：高温晶格热容趋于3NkB。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0E4D196F-2494-4F1D-AFEF-732495A22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16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20557954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B884CF8D-14F0-4222-B951-83F67D43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0C3A8BCD-BD31-4325-8EB3-A6991E47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16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232E6F7A-C834-4B24-9455-64A2E4351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L09-16｜入门讲解与易错点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48E1DE97-0A6F-4110-B24F-83E0D9FEC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【从零讲懂】高温时每个3N模式按能均分贡献 kBT；低温只激发长波低频模式，而三维态密度∝ω²，积分产生 T⁴ 内能和 T³ 热容。这是 Debye 模型最重要的实验成功。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第9讲第15页：Debye 态密度。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Bose 积分与渐近展开。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低温 T³ 是三维线性色散声子结果，不是所有维度和所有色散都相同。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53920D3E-02ED-430F-88DD-F3F064B7E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16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251176741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68F367FF-DD09-4E10-A67A-44ABFADE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03CB4162-F650-4F2F-8F11-592183AB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16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1AE39875-966A-4F34-876B-BECC5A78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L09-16｜公式与符号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3732C8D7-3181-4CF8-BC05-A27BC249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U=∫₀^{ωD}dω g(ω)ℏω/(e^{βℏω}-1)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kBT_D=ℏω_D, u=T_D/T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3. U/N=3kBT D(u)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4. D(u)=3/u³∫₀^u t³/(e^t-1)dt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5. T≫T_D: C_V→3NkB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6. T≪T_D: C_V∝T³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C5CA0C74-917D-49B7-9577-46B5546C6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16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229799808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2E86A06A-C8C7-4158-884C-8DBF1833B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F13EF448-2068-4629-97CA-5E3D7BEB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17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2FC5F7D2-5FAB-405A-BF30-64405453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L09-17｜忠实翻译与术语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7C135F6B-8066-4A1D-991D-678279B9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【忠实翻译】理想 Bose 气体：ε=p²/(2m)、粒子数守恒，可有 BEC；光子：ε=pc、两偏振、μ=0，给出黑体 T⁴；声子：低能 ε=pc、三支、μ=0，给出低温 T³ 热容。真实玻色系统的相互作用需量子多体或场论方法。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dispersion relation｜色散关系：能量 ε 与动量/波矢的关系。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quasiparticle｜准粒子：集体激发的粒子化描述，如声子。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D28F5F33-6E77-4140-BB77-D057F6F1D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17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670583368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89048015-CAD3-4F4F-923E-4321AAE5A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BF626403-7B2C-4AA9-B439-942A31569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17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DCD23FA3-818B-4102-AF0E-DA41C11CF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L09-17｜入门讲解与易错点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9A9A4139-3949-477E-A26A-48038DD5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【从零讲懂】比较三类系统时先问三件事：色散关系是什么？简并/极化数是多少？粒子数是否守恒、μ 是否必须求解？这三项决定态密度、占据积分和低温幂律。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第9讲第2–16页。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相同的 Bose 分布不意味着所有玻色系统热力学相同；色散和守恒律同样关键。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736578B8-40DB-451D-930C-EF53A5A68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17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646604433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703A9F76-3BDC-49C9-8950-932D97A7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968CE697-9C5D-4359-8631-3A4F968AE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17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6941C9B3-2C28-49CF-8338-E96057D5C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L09-17｜公式与符号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4F0BD55C-8D9A-4A15-AADC-37F49DCC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massive free boson: ε=p²/(2m)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photon/low-k phonon: ε=pc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3. μ_photon=μ_phonon=0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028EC9A4-3AD6-4C95-B2ED-3794A819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17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867264748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2E48C468-4DA7-487A-B058-D6EBDDD1D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69FB5A7D-C19A-4DEA-BDD5-FAB6C94CB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18 · 中文翻译与导读 1/2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D96D4BC5-49A9-45C0-89F3-2AEE1443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L09-18｜忠实翻译与术语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362D6D53-C7A2-4804-A989-2DFB262B0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【忠实翻译】Debye 模型把声学支近似为各向同性线性色散；真实材料（图示 diamond、graphite、c-BN、h-BN）的声子谱包含多条声学/光学支、各向异性、带隙与非线性。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phonon dispersion｜声子色散：ω 随晶体动量 k 的关系。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optical phonon｜光学声子：多原子晶胞中相对振动产生的有限频率支。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anisotropy｜各向异性：物性随晶向不同。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5CF75EDA-543C-48E7-BCAC-6CBEFAF60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18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811186250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842F8439-B944-458F-A7D1-9A71D417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F3B48E6F-1606-4E51-A7F5-084928EC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18 · 中文翻译与导读 2/2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167C64BC-0E4A-4D54-9D0F-1E929FD08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L09-18｜入门讲解与易错点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C6A0CF56-51E7-4600-BD3E-0887A343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【从零讲懂】Debye 近似只在 k→0、低温长波范围最可靠。单位胞含多个原子时会出现光学支；层状材料不同方向耦合不同，色散强烈各向异性。做定量热容或输运需要真实声子谱。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第9讲第15–16页：Debye 线性色散。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晶格正常模基础。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不能把 Debye 的一条直线当作整个 Brillouin 区的真实谱。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BCB0BEA6-6D0C-4AEE-AC12-024F0162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18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579849146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6BC89EDD-7FDE-4352-9FCA-D6FD4221A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CD046A5E-C9DD-44B4-8AED-5DB1BB1E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19 · 中文翻译与导读 1/2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F82ED454-1785-4FDE-AAFB-28673001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L09-19｜忠实翻译与术语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35DB4BD4-EFFA-41C5-9AA8-CD8F74E9B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【忠实翻译】统计物理 PHY301：无相互作用费米子——理想 Fermi 气体与固体中的电子。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ideal Fermi gas｜理想费米气体：忽略相互作用但保留反对称性的费米子系统。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degeneracy pressure｜简并压强：Pauli 原理在零温产生的压力。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9A98855D-0D90-4ABB-B591-E5B6E4A96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19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323880954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F6FC6A5B-32E4-4AAC-B208-4B7D77A91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448812C4-5C1A-4C50-AD33-73B6F90D6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19 · 中文翻译与导读 2/2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49C9997C-D5D6-43B4-B024-11ADCD4B8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L09-19｜入门讲解与易错点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04F3F4FD-0417-4EE0-8852-F159E674D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【从零讲懂】接下来研究 Pauli 不相容如何在 T=0 仍产生有限 Fermi 能、简并压强和线性低温热容，并用电子气模型解释金属热容与 Pauli 顺磁性。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第8讲：Fermi–Dirac 分布。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T=0 的费米气体并非所有粒子静止；态从0填满到 εF。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B9DA0142-3755-4899-87BD-145E57BD7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19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194864660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32FA1D0D-0C61-47B8-99C7-C93930587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3021573A-6204-4B4B-98D8-E3A9B347E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20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61417FE2-86F2-4BA3-A739-A28D86FB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L09-20｜忠实翻译与术语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E0F88672-9FC4-4B99-846B-6799D5FBA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【忠实翻译】非相对论 Fermi 气体 εk=ℏ²k²/(2m)，每个 k 态还可有自旋简并 g。定义 Fermi 函数 fν(z)=Γ(ν)^{-1}∫₀∞x^{ν−1}/(z^{-1}e^x+1)dx=z−z²/2^ν+…。于是 P=(gkBT/λ³)f5/2(z)，N/V=(g/λ³)f3/2(z)。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Fermi function｜Fermi 函数：Fermi–Dirac 占据积分产生的特殊函数。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spin degeneracy g｜自旋简并度：每个空间态可容纳的独立自旋态数。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5E2F90D3-7897-4678-BA70-9C9852CF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20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413411583"/>
      </p:ext>
    </p:extLst>
  </p:cSld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4AF25E4E-B2B8-46DD-91F8-B53B48F2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DE96F3B7-C72C-441F-94ED-E0088C9A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20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BEEB585E-13EB-4EF4-A255-344A6B51B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L09-20｜入门讲解与易错点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3E97897F-F99F-4E31-81BF-7D4C20673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【从零讲懂】与 Bose 函数相比级数符号交替，反映泡利阻塞。自旋简并 g 直接乘态数；电子通常 g=2。给定 n、T 后由第二式求 z，再代回第一式得到压力。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第8讲第7、11页：FD 分布与巨配分函数。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g 不是粒子数，而是每个动量态的内禀简并数。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C12B1160-37B6-46E0-84D0-19D23E9F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20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969268821"/>
      </p:ext>
    </p:extLst>
  </p:cSld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1589140E-C407-4EBB-87D1-555A109C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E0CA8138-F0AE-4430-8F30-7EFEEC790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20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7B557990-95B9-48FE-A563-ADE2E7B05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L09-20｜公式与符号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8748B2BA-14D4-4A2D-9F0E-AF0E592C5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ε_k=ℏ²k²/(2m)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f_ν(z)=1/Γ(ν)∫₀∞x^{ν-1}/(z^{-1}e^x+1)dx=∑_{l=1}∞(-1)^{l+1}z^l/l^ν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3. P=gkBTλ^{-3}f_{5/2}(z)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4. n=gλ^{-3}f_{3/2}(z)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0314AB14-DA75-4FBA-8EEF-1A99A6CE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20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253219781"/>
      </p:ext>
    </p:extLst>
  </p:cSld>
</p:sld>
</file>

<file path=ppt/slides/slide9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93EB6AA9-8C71-4ACE-B9E3-A142E39D9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C4DA528E-EBD5-4D7C-B869-A7581FF6D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21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AFC3643D-A0FB-43E1-BA8B-DB0BC9F61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L09-21｜忠实翻译与术语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34C5B76F-B7D9-49F8-AC9E-2B37BDD0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【忠实翻译】任意温度下 U=(3/2)gVkBTλ^{-3}f5/2(z)=(3/2)NkBT f5/2/f3/2，且 P=2U/(3V)。固定 N 求热容时需考虑 z(T)，课件给出 CV/(NkB)=15f5/2/(4f3/2)−9f3/2/(4f1/2)。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equation of state｜状态方程：P、V、T、N 之间的关系。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fixed-number derivative｜定粒子数导数：求 CV 时隐含 μ(T) 变化。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25E7E537-A4A0-450E-BEF6-C73A59D24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21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2140827281"/>
      </p:ext>
    </p:extLst>
  </p:cSld>
</p:sld>
</file>

<file path=ppt/slides/slide9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9C8DFE45-EBB3-46D2-925D-E3B89B1F8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70A10749-21AE-4E7E-8140-D54C409A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21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CED7D159-F414-4426-841D-04225678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L09-21｜入门讲解与易错点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9C9D6FAD-4FF8-47FB-8A16-CEE78316A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【从零讲懂】P=2U/3V 仍由二次色散的尺度性质决定。CV 的第二项正是化学势随温度调整以保持 N 不变的贡献；若误把 z 固定，会得到错误热容。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第9讲第20页：Fermi 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求 CV 时不能固定 z；物理定义固定 N、V。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04B3BEF0-C41F-477B-9434-F43C32180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21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453603659"/>
      </p:ext>
    </p:extLst>
  </p:cSld>
</p:sld>
</file>

<file path=ppt/slides/slide9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22F76E8A-B302-4AF9-80C9-23060557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118B5121-3681-4EF5-8F2C-6013B178D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21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D6C0BEC3-15BE-4AEE-ACAF-3E77B9824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L09-21｜公式与符号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6BF1E885-DD75-43CF-8EE5-7864F0B6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U=(3/2)gVkBTλ^{-3}f_{5/2}(z)=(3/2)NkBT f_{5/2}(z)/f_{3/2}(z)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P=2U/(3V)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3. (1/z)(∂z/∂T)_v=-(3/2T)f_{3/2}(z)/f_{1/2}(z)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4. C_V/(NkB)=15f_{5/2}(z)/(4f_{3/2}(z))-9f_{3/2}(z)/(4f_{1/2}(z))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9CEDB08D-DE9D-4A3E-BC8B-5B50EF5D8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21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730109189"/>
      </p:ext>
    </p:extLst>
  </p:cSld>
</p:sld>
</file>

<file path=ppt/slides/slide9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6C94207A-80B8-4355-94EA-D67FD875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6ECBFF76-CEDA-4BFE-A970-4AE593212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22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5B44745D-5D9E-467E-B336-5D6ECAD1A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L09-22｜忠实翻译与术语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D1B781C4-8FEF-41C0-B302-CA7B65A25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【忠实翻译】高温低密度下 Fermi 气体也可按 nλ³/g 展开。与 Bose 相反，第二维里修正为正，压力高于经典值，体现 Pauli 统计排斥；热容量子修正的首项相应为负。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statistical repulsion｜统计排斥：Pauli 阻塞造成的有效压力升高。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virial expansion｜维里展开：按简并参数展开状态方程。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29D93CA1-8FC8-4915-AF23-3A14E7D4D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019468931"/>
      </p:ext>
    </p:extLst>
  </p:cSld>
</p:sld>
</file>

<file path=ppt/slides/slide9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9F77E32F-4E8C-4469-AC00-F8E064D64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445DEC28-593C-4D40-A08A-1EFFA6B2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22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7AC48C76-8289-4A18-8BEE-9531D39DB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L09-22｜入门讲解与易错点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1A2D7A5B-B01E-4BBF-9338-CD2E60EF0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【从零讲懂】费米子不能挤入已占据态，因此在同密度同温度下需要占据更高动量态，产生更高压力。随着 nλ³/g→0，交换效应消失并回到 PV=NkBT。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第9讲第20–21页。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第9讲第4页：Bose 维里展开作对照。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正的维里修正不代表存在真实排斥势。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DCFB220B-C203-4C57-9C35-D4FDD6D1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244009779"/>
      </p:ext>
    </p:extLst>
  </p:cSld>
</p:sld>
</file>

<file path=ppt/slides/slide9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1D88A82A-2175-4CB9-9C3E-1202A06F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214AB9C8-D221-47AE-863B-E19573319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22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3B3723AE-86F1-4518-A03D-49E604BB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L09-22｜公式与符号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E4523F85-79A6-4270-9F22-B6107D32B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PV/(NkBT)=∑_{l=1}^∞(-1)^{l-1}a_l(λ³/(gv))^{l-1}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C_V=(3/2)NkB∑_{l=1}^∞(-1)^{l-1}[(5-3l)/2]a_l(λ³/(gv))^{l-1}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3. C_V=(3/2)NkB[1-0.0884(λ³/(gv))+0.0066(λ³/(gv))²-0.0004(λ³/(gv))³+…]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76D0A7B2-9C78-4E8E-B5D8-22FF82FA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423036758"/>
      </p:ext>
    </p:extLst>
  </p:cSld>
</p:sld>
</file>

<file path=ppt/slides/slide9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40719BEA-AAA8-489F-B909-D7E96345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7E71C982-C1DC-4F4F-BB87-AADFDCBEC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23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964E3B30-7E44-4C95-B36E-20649625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L09-23｜忠实翻译与术语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109B82C8-288F-45C8-BDF6-D825F6C97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【忠实翻译】T=0 时 Fermi–Dirac 分布成为阶跃：ε&lt;μ₀ 的态全部占满，ε&gt;μ₀ 的态为空，μ₀=εF。三维计数得到 pF=ℏ(6π²N/(gV))^{1/3}，εF=ℏ²(6π²N/(gV))^{2/3}/(2m)。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Fermi energy εF｜费米能：T=0 时最高占据单粒子态能量。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Fermi momentum pF｜费米动量：T=0 占据球半径。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Fermi surface｜费米面：动量空间中占据与空态的边界。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CA712400-A005-4062-92F3-8197D3AA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896581324"/>
      </p:ext>
    </p:extLst>
  </p:cSld>
</p:sld>
</file>

<file path=ppt/slides/slide10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83208999-B37D-4A66-8515-7C1D7D580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AA5D1CDA-11AE-43DE-B001-C61E9E933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23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60CD4E3E-7DFA-440C-810A-537CFA44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L09-23｜入门讲解与易错点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45DA0F32-280A-40F0-88D0-5E7250A0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【从零讲懂】动量空间中占满半径 pF 的球。即使温度为零，Pauli 原理迫使后来的粒子占据更高动量，所以存在有限动能。Fermi 面是该球的边界，低温响应主要由它附近薄壳贡献。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三维 k 空间态数与自旋简并。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第9讲第20页：FD 占据。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源页左下角似写 εF=pF²/(2π)，疑为排版/识别错误；标准且同页右侧一致的是 pF²/(2m)。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ED70FBD6-99F6-4818-87BA-FAAF1CC9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095281234"/>
      </p:ext>
    </p:extLst>
  </p:cSld>
</p:sld>
</file>

<file path=ppt/slides/slide10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4193F8F1-45B6-46A6-9E75-1E4A32FC0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E8356FF6-89C0-4883-B9C9-0FBAB9F4A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23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D02BD210-C0BC-4C80-9E02-82F0E801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L09-23｜公式与符号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815E7EBC-24F7-4082-8D16-9224D43C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T=0: n_F(ε)=Θ(ε_F-ε)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p_F=ℏ(6π²N/(gV))^{1/3}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3. ε_F=p_F²/(2m)=ℏ²(6π²N/(gV))^{2/3}/(2m)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21988DCE-363E-47F0-A1E2-8C7535291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456560844"/>
      </p:ext>
    </p:extLst>
  </p:cSld>
</p:sld>
</file>

<file path=ppt/slides/slide10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10AB7124-0D8A-4011-8242-B47F06389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FA1E5FCD-5516-4C7D-A28B-EFBBDFDA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24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642AE115-F69F-4109-AD6D-843E0CC2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L09-24｜忠实翻译与术语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4419440E-01C9-4EB9-828D-AC3672DDD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【忠实翻译】积分填满的 Fermi 球得到零温总能 E₀/N=(3/5)εF。即使 T=0 仍有压强 P₀=2E₀/(3V)=(2/5)nεF∝n^{5/3}，称为简并压强。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ground-state energy｜基态能：T=0 多体系统的最低总能量。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degeneracy pressure｜简并压强：由 Pauli 填充产生的零温压力。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899CE4F4-7632-441F-9C22-36974FC9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24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481177622"/>
      </p:ext>
    </p:extLst>
  </p:cSld>
</p:sld>
</file>

<file path=ppt/slides/slide10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187800EA-B614-4AB3-A451-9D212250F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11844404-DBD6-44A4-B8B0-D6B723D1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24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52CF511D-7E4F-42DC-872A-BEACCF7A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L09-24｜入门讲解与易错点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FC3676F8-BAC2-406A-981D-6C947F0DC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【从零讲懂】3/5 来自三维态密度∝ε^{1/2}的加权平均。压缩系统会增大 pF 与 εF，因此需要做功，即产生压力；它完全来自反对称性和量子运动，不依赖热碰撞。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第9讲第23页：Fermi 球和 εF。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零温不等于零内能；只有经典理想气体会在 T→0 的错误外推中给出零动能。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D1AE5BAA-AFA4-432B-871A-D397FD841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24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541151266"/>
      </p:ext>
    </p:extLst>
  </p:cSld>
</p:sld>
</file>

<file path=ppt/slides/slide10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B1BF44E4-8B1C-4438-81C3-E19586E9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522FA193-7434-4315-90FB-7F44265DE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24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2BF41DC3-496C-4506-871D-890EC0F1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L09-24｜公式与符号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E0CB6758-E16A-488F-A55C-74645CD9B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E₀=(4πgV/h³)∫₀^{p_F}(p²/(2m))p²dp=(2πgV/(5mh³))p_F⁵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E₀/N=3p_F²/(10m)=(3/5)ε_F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3. P₀=2E₀/(3V)=(2/5)nε_F=(6π²/g)^{2/3}[ℏ²/(5m)]n^{5/3}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E83030CA-E8E5-4814-87D1-6C4F96498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24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994071287"/>
      </p:ext>
    </p:extLst>
  </p:cSld>
</p:sld>
</file>

<file path=ppt/slides/slide10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67A3602C-6B50-4B3C-AB64-944AD3FF9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184535D6-1ADC-4806-910B-0E5BA727A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25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2BF0F1D4-2FF7-4963-9F48-7DF6E2679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L09-25｜忠实翻译与术语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691D3A4F-507D-43CF-A2F1-C08A2C7CE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【忠实翻译】当 εF≫kBT 时，Fermi 分布只在 μ 附近宽度约 kBT 的窄区偏离阶跃。对 I=∫₀∞H(ε)f(ε)dε，Sommerfeld 展开给 I≈∫₀^μH(ε)dε+[π²/(6β²)]H′(μ)+更高偶次项。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Sommerfeld expansion｜索末菲展开：Fermi 积分的低温渐近展开。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thermal shell｜热激发薄壳：Fermi 面附近宽度约 kBT 的活跃能量区。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61A7549C-398A-435D-85D2-EC2995DB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25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707426965"/>
      </p:ext>
    </p:extLst>
  </p:cSld>
</p:sld>
</file>

<file path=ppt/slides/slide10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3B9A910E-E914-41D7-A0C8-B07F1190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F673E0DC-B470-4A7D-9C2F-A6E39984D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25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4D9BF89E-1904-4E4C-AB7C-3713AB1C3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L09-25｜入门讲解与易错点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79D96D91-A9DA-4CE2-9A17-2BC5F274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【从零讲懂】低温激发只把 Fermi 面下方少量粒子提升到上方，深处态因 Pauli 阻塞不参与。Sommerfeld 展开把平滑函数 H 在 μ 附近导数转成 T²、T⁴… 修正，是简并费米体系的核心工具。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第9讲第23–24页：T=0 Fermi 面。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Taylor 展开与分部积分。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展开条件是 kBT/εF≪1，不是“任意 T≠0”。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0670CA3D-F20F-429C-8A81-53CDE31B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25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892559944"/>
      </p:ext>
    </p:extLst>
  </p:cSld>
</p:sld>
</file>

<file path=ppt/slides/slide10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AC1A2173-5D9A-4F99-B631-843D9CD8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E6189668-D1DA-4985-A956-0DA1B78C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25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DA468F33-A242-427C-BFD9-4EAB204C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L09-25｜公式与符号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554E7D65-1B7B-4C4A-8236-066131E1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ε_F≫kBT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I=∫₀∞H(ε)/[e^{β(ε-μ)}+1] dε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3. I≈∫₀^μH(ε)dε+[π²/(6β²)]H′(μ)+…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DF52CD2D-6054-4307-BBAA-143F662E7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25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558277255"/>
      </p:ext>
    </p:extLst>
  </p:cSld>
</p:sld>
</file>

<file path=ppt/slides/slide10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996430B9-03C6-46F8-B6D3-ABDA4B2B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FD8C1AD6-670D-4C44-8379-E0B5AA3F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26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40E77ABA-C8D0-4CE6-9343-89C280304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L09-26｜忠实翻译与术语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B0692982-0CD5-4032-9CBF-51BFBA6F4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【忠实翻译】令 ξ=lnz=βμ≫1，可将 fν(e^ξ) 展开为 ξ^ν/Γ(ν+1) 乘以 [1+ν(ν−1)π²/(6ξ²)+ν(ν−1)(ν−2)(ν−3)7π⁴/(360ξ⁴)+…]。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asymptotic series｜渐近级数：在小参数极限逐阶逼近而未必全局收敛的级数。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reduced chemical potential ξ｜约化化学势 ξ：ξ=βμ。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FDAE37C0-8A1F-43AC-A7E9-29C1805B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26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891052729"/>
      </p:ext>
    </p:extLst>
  </p:cSld>
</p:sld>
</file>

<file path=ppt/slides/slide10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8BA8670E-62C7-4F9C-814D-0EF34FFB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73D8D255-5E42-461C-8E5D-CD2208A07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26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836ACB41-4253-4EF7-9244-9AC14755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L09-26｜入门讲解与易错点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6F62BDBD-2F1D-41E3-A2C4-CDC915409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【从零讲懂】主项对应 T=0 阶跃积分；1/ξ²∼(kBT/μ)² 是首个热修正。只出现偶次幂源于 Fermi 函数围绕 μ 的粒子—空穴对称结构。不同 ν 代入后即可得到 N、U、P 所需的三个 Fermi 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第9讲第25页：Sommerfeld 展开。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Gamma 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当 ξ 不大时不能只取低阶 Sommerfeld 项。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B0A870EB-A3F8-4471-9AD2-424D05BD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26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005692579"/>
      </p:ext>
    </p:extLst>
  </p:cSld>
</p:sld>
</file>

<file path=ppt/slides/slide1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463B1FBB-C5C6-42B7-803E-0C1E61ED5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D4AA6649-6DE8-42B6-9EE5-48B6130C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26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3F2DC32F-D0B4-404B-8498-33EA7ADB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L09-26｜公式与符号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D561945D-B4C3-4673-BE28-94E67DA1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ξ=ln z=βμ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f_ν(e^ξ)≈ξ^ν/Γ(ν+1)[1+ν(ν-1)π²/(6ξ²)+ν(ν-1)(ν-2)(ν-3)7π⁴/(360ξ⁴)+…]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3526C491-6556-448B-8475-4A4C7DB07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26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364931638"/>
      </p:ext>
    </p:extLst>
  </p:cSld>
</p:sld>
</file>

<file path=ppt/slides/slide1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8D147E27-51F0-4EAB-BA78-E292EF04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DE273048-F956-40D8-8CDC-D33D0F84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27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D989B721-5542-4B74-B012-BDD6C03B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L09-27｜忠实翻译与术语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595BA940-F0E2-4E49-A7AD-04921AE5B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【忠实翻译】将通式分别取 ν=5/2、3/2、1/2，得到 f5/2、f3/2、f1/2 的低温展开，供内能、粒子数与热容公式使用。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Fermi integral order｜Fermi 积分阶数：由态密度和额外能量幂决定的 ν。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76C16CF6-0288-4893-8868-C3E4AE541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27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746274820"/>
      </p:ext>
    </p:extLst>
  </p:cSld>
</p:sld>
</file>

<file path=ppt/slides/slide1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6859A8BE-53C8-4842-9E59-8B0D9E959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A10D07D6-3FC8-433B-8CFC-6EF50BA8B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27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2AD2E0B3-3D8F-4C8E-BB88-CFB7A851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L09-27｜入门讲解与易错点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87F10E22-7DAE-4C3A-BD28-755E80680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【从零讲懂】不要死背三条长式；掌握上一页通式并知道每个函数出现在哪里：f3/2 固定 N，f5/2 给 P 与 U，f1/2 来自对 z 或 μ 的导数。计算时先统一保留到同一 T 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第9讲第26页：通用展开。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不同 ν 的 Gamma 分母和修正系数不同，不能只替换指数而漏改系数。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18B8DBF0-7010-4654-BCE1-9C2E91FF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27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787199278"/>
      </p:ext>
    </p:extLst>
  </p:cSld>
</p:sld>
</file>

<file path=ppt/slides/slide1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76F965E5-FF48-4E9B-847A-F3CE34AD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637ECB95-9A05-4749-97E1-87B9B6F66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27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59425E29-E6C6-495E-B780-8EB516AC9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L09-27｜公式与符号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3E4DA029-E028-4C86-846A-13ED2199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f_{5/2}(e^ξ)≈ξ^{5/2}/Γ(7/2)[1+5π²/(8ξ²)-7π⁴/(384ξ⁴)+…]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f_{3/2}(e^ξ)≈ξ^{3/2}/Γ(5/2)[1+π²/(8ξ²)+7π⁴/(640ξ⁴)+…]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3. f_{1/2}(e^ξ)≈ξ^{1/2}/Γ(3/2)[1-π²/(24ξ²)-7π⁴/(384ξ⁴)+…]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EC6D2DB1-BC45-4157-8735-2D7FCCC5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27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2060288239"/>
      </p:ext>
    </p:extLst>
  </p:cSld>
</p:sld>
</file>

<file path=ppt/slides/slide1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85E18888-D8A2-47E7-B41F-304E00D61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43C376A7-E0AD-4A7B-8EE9-8844C3CC8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28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DDEA3435-2792-45FB-A867-48CC75313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L09-28｜忠实翻译与术语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0BF6C0DD-137D-4C52-BACA-2FF2E9305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【忠实翻译】固定 N，把 f3/2 的展开与 T=0 粒子数比较，可得 μ=kBTlnz≈εF[1−(π²/12)(kBT/εF)²]。因此低温升高时化学势从 εF 略微下降。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chemical-potential shift｜化学势位移：固定 N 时 μ 相对 εF 的有限温修正。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Fermi temperature｜费米温度：T_F=ε_F/kB。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5F4E4853-0B5D-4667-9473-82CA3E562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28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874889846"/>
      </p:ext>
    </p:extLst>
  </p:cSld>
</p:sld>
</file>

<file path=ppt/slides/slide1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46EC3CA5-2846-4901-8CF5-5862585A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74AC3E70-C592-4B2F-A37C-72F944897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28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DAE40F43-F1E4-40AD-B148-CBBEC814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L09-28｜入门讲解与易错点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0D816698-851F-4742-9CD4-24EF5214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【从零讲懂】温度使 Fermi 面变钝；由于三维态密度随能量上升，为保持总粒子数不变，μ 必须略向下移。修正从 T² 开始，没有线性项。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第9讲第23、27页：εF 与 f3/2 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固定 N 时 μ 不是常数 εF；但在 T≪TF 时差异只有 O(T²)。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源页首行把 N 与 gλ^{-3}f_{3/2} 直接相等，量纲上疑似漏写 /V；下一行及前页明确使用 N/V。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10FE8E0F-B6AC-46A4-8127-5033DC2E5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28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701347043"/>
      </p:ext>
    </p:extLst>
  </p:cSld>
</p:sld>
</file>

<file path=ppt/slides/slide1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DFE4A7B1-7F52-44AB-B344-465CEFC77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15392A88-D558-4B57-BDB7-EE66DD61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28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3932B1E4-D007-43AE-AC3A-A0EC69E6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L09-28｜公式与符号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9C70C324-ACAB-437B-83A7-37F957E03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Source slide visibly prints: N=(g/λ³)f_{3/2}(z) (the expected density form is N/V=(g/λ³)f_{3/2}(z))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N/V=(4πg/3)(2m/h²)^{3/2}(kBT lnz)^{3/2}[1+(π²/8)(lnz)^{-2}+…]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3. μ=kBT lnz≈(3N/(4πgV))^{2/3}h²/(2m) (zeroth order)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4. μ=kBT lnz≈ε_F[1-(π²/12)(kBT/ε_F)²]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2E344D71-95C3-4EC4-952E-58143E5A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28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753384843"/>
      </p:ext>
    </p:extLst>
  </p:cSld>
</p:sld>
</file>

<file path=ppt/slides/slide1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94D03C9B-D9AF-444C-B029-844F935B1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B0306889-E872-47FB-85E7-B7969F879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29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B5F1E5F9-7682-4DFB-9E81-06CFD2B75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L09-29｜忠实翻译与术语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F322F8C0-9AD0-4676-A01E-8B3EEBAE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【忠实翻译】代入 μ(T) 后，U/N=(3/5)εF[1+(5π²/12)(kBT/εF)²+…]；P=2U/(3V)；CV/(NkB)=(π²/2)(kBT/εF)+…。因此简并电子热容在低温与 T 成正比。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linear electronic heat capacity｜线性电子热容：金属低温电子贡献 C_e=γT。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Fermi temperature T_F｜费米温度：衡量简并程度的 εF/kB。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E7329A90-A89B-4680-A658-2CADF8BDC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29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665046084"/>
      </p:ext>
    </p:extLst>
  </p:cSld>
</p:sld>
</file>

<file path=ppt/slides/slide1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CAD1C6AD-C516-495D-BEF7-8A06881B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0E0FB129-AD4F-47A7-B22E-E08E917B2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29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54F4CA2D-60AA-4A00-9F5E-02E678EE1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L09-29｜入门讲解与易错点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88563362-2BCA-4F4B-9AFF-6C1BA621C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【从零讲懂】只有 Fermi 面附近比例约 T/TF 的电子能被热激发，每个活跃电子贡献约 kB，所以总电子热容约 NkB(T/TF)，远小于经典 3NkB/2。U 的首修正是 T²，对 T 求导自然得到线性 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第9讲第28页：μ(T)。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第9讲第24页：零温 U、P。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经典能均分会严重高估低温金属电子热容，因为绝大多数电子被 Pauli 阻塞。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8A1F4591-925C-4317-9823-80DC0F49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29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924702328"/>
      </p:ext>
    </p:extLst>
  </p:cSld>
</p:sld>
</file>

<file path=ppt/slides/slide1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B213A6C7-210F-4928-8091-256C33798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10C94A91-949A-497B-B905-633E61D08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29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230D4D6D-052F-4A27-80F2-9CF720F7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L09-29｜公式与符号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CBFEF9FB-BF17-4C8B-93A7-5C1206136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U/N=(3/5)ε_F[1+(5π²/12)(kBT/ε_F)²+…]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P=(2/5)nε_F[1+(5π²/12)(kBT/ε_F)²+…]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3. C_V/(NkB)=(π²/2)(kBT/ε_F)+…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23FF4736-5BD2-481A-A88E-FC9B510E7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29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2047317716"/>
      </p:ext>
    </p:extLst>
  </p:cSld>
</p:sld>
</file>

<file path=ppt/slides/slide1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969D2088-A3D7-4E5E-ABDC-C7B02855B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452A2B09-856F-47C0-BAF0-E027467FE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30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102C5281-10CB-412D-AAC5-C0E5EA8F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L09-30｜忠实翻译与术语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E34EB5DA-22AC-477A-AFAD-23709F81E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【忠实翻译】低温理想 Fermi 气体的结论：μ 接近但略低于 εF；U 和 P 相对零温值有 T² 修正；CV∝T。所有小参数都是 kBT/εF=T/TF。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degenerate regime｜简并区：T≪TF、Pauli 统计主导的温区。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187A1359-FF01-46FE-8642-D734C015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30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587046367"/>
      </p:ext>
    </p:extLst>
  </p:cSld>
</p:sld>
</file>

<file path=ppt/slides/slide1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1FCFC699-FB34-432C-9F9D-9F61659A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5898A34E-F157-40D6-8A45-25D40CF37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30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C0FB6314-A867-4717-AF61-499EB2EF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L09-30｜入门讲解与易错点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623A5AF3-F876-401A-9EC4-98CB49AF3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【从零讲懂】做题顺序：先由密度求 pF、εF、TF；判断 T/TF 是否足够小；再使用 Sommerfeld 结果。若 T 与 TF 同阶，则应回到完整 Fermi 函数而非低温展开。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第9讲第23–29页。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Sommerfeld 公式不可外推到 T≫TF 的经典区。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1837BDD3-3D83-4D4D-8227-BBADC66CC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30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968862298"/>
      </p:ext>
    </p:extLst>
  </p:cSld>
</p:sld>
</file>

<file path=ppt/slides/slide1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EA27F8EF-EE6A-45CC-8DB4-EA342C801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1657EC7F-ECCF-4E44-9979-4B221B23C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30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E29E936F-3D2D-479A-9BFA-2CC31F781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L09-30｜公式与符号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EBB663C0-E8D4-4A31-A3EC-9369280B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μ/ε_F=1-(π²/12)(T/T_F)²+…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U/U₀=1+(5π²/12)(T/T_F)²+…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3. C_V/(NkB)=(π²/2)(T/T_F)+…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BDA52FE1-D7FC-4357-853A-BC9A3A765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30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316962442"/>
      </p:ext>
    </p:extLst>
  </p:cSld>
</p:sld>
</file>

<file path=ppt/slides/slide1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B308F0AC-3B24-45FB-9D86-C343E7C71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35674277-546A-4BFB-BFA8-778C35483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31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375AEE5D-FCE0-4351-A028-B9F51838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L09-31｜忠实翻译与术语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81E2BB35-601C-45A5-8ED8-E47D2F41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【忠实翻译】把金属导电电子视为有效质量 m′ 的 Fermi 气体：εF=(3N/8πV)^{2/3}h²/(2m′)。对钠用每原子导电电子数 ne=1、每晶胞原子数 na=2、晶格常数 a=4.29 Å，课件估算 εF≈3.14 eV、TF≈3.64×10⁴ K。低温总热容为 CV=γT+δT³：电子线性项加声子 Debye T³ 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effective mass m′｜有效质量：能带曲率对电子动力学的等效质量。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Sommerfeld coefficient γ｜索末菲系数：电子线性热容系数。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C1CA1D61-D94A-4411-B3FD-AAFD1DEB9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31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882383525"/>
      </p:ext>
    </p:extLst>
  </p:cSld>
</p:sld>
</file>

<file path=ppt/slides/slide1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652AA72C-77DB-4531-9FD4-3E2409424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9A69E320-9EC5-445C-821D-E9AF24A96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31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D8403219-4329-4A59-882D-A58336288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L09-31｜入门讲解与易错点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829849F3-1C45-4EFD-B72D-9D9CEFD7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【从零讲懂】画 CV/T 对 T² 应得直线：截距 γ 给电子态密度，斜率 δ 给声子贡献。有效质量 m′ 把周期晶格能带效应吸收到一个参数；自由电子估算能抓住数量级但不适用于所有金属。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第9讲第16页：声子 T³。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第9讲第29页：费米电子线性热容。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图的纵轴是 CV/T、横轴是 T²；直线截距不是 CV 本身。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BFC6430B-7006-4C44-B42D-6420C9C2B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31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340982482"/>
      </p:ext>
    </p:extLst>
  </p:cSld>
</p:sld>
</file>

<file path=ppt/slides/slide1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7D03CA7A-E58A-4AB5-9F77-63AF55680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117184B0-6860-4E00-BDAA-472C3BDCE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31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41000B88-2708-415B-830A-A3E493E2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L09-31｜公式与符号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9CFACB38-BF1A-4E5F-97B8-F177D0A0F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ε_F=(3N/8πV)^{2/3}h²/(2m′)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N/V=n_e n_a/a³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3. (ε_F)_Na≈3.14 eV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4. (T_F)_Na≈3.64×10⁴ K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5. C_V=(π²/2)NkB(kBT/ε_F)+δT³=γT+δT³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4CFC38D4-9535-43B5-BDFC-E832419B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31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689197630"/>
      </p:ext>
    </p:extLst>
  </p:cSld>
</p:sld>
</file>

<file path=ppt/slides/slide1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4ABD1577-0D2B-4F5F-8590-92E80F95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0E71DE0B-0924-4498-9B45-5D892C58D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32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F5F20368-BA2D-4E6B-BA53-32EA578F9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L09-32｜忠实翻译与术语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F725DE7E-361D-419D-859D-9998C2A1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【忠实翻译】外磁场使两种自旋能量 ε=p²/(2m)∓μ*B 分裂。T=0 时两自旋 Fermi 海粒子数 N± 不同，产生 M=μ*(N+−N−)。对小 B 展开得到 χ₀=limB→0 M/(VB)=3nμ*²/(2εF)。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Pauli paramagnetism｜泡利顺磁性：简并电子自旋对磁场的弱顺磁响应。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Zeeman splitting｜Zeeman 分裂：磁矩与外场耦合导致能级分裂。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C4908B44-F163-4159-A7B6-AC08D992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32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312301002"/>
      </p:ext>
    </p:extLst>
  </p:cSld>
</p:sld>
</file>

<file path=ppt/slides/slide1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173735D1-437B-4C19-8144-0F974A275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E4F9B82B-76FA-42F1-8963-85B49E89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32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3E54208F-5938-4F39-91CE-5FE7C4DCA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L09-32｜入门讲解与易错点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53B4D892-509D-46DD-9BE2-F12C05D0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【从零讲懂】磁场只让 Fermi 面附近电子从较高能自旋支转移到较低能支，深处成对占据的电子互相抵消。因此 Pauli 顺磁率与态密度 D(εF) 成正比，且远小于把所有磁矩都当自由经典自旋的 Curie 响应。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第9讲第23页：Fermi 球。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Taylor 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N+ 与 N− 的定义取决于 μ* 与 B 的符号约定；物理结果是低能支占据更多。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60EF61D1-3C80-4AB6-A55D-13F6A10D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32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381989752"/>
      </p:ext>
    </p:extLst>
  </p:cSld>
</p:sld>
</file>

<file path=ppt/slides/slide1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FDAEDA42-DF76-40D6-96C3-8FFDBDE5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25E53E67-6976-48F7-959F-2BD61EA2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32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263B9378-DFB6-4F02-B7AB-23A9E41DC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L09-32｜公式与符号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62D38408-D5CB-48FC-B86E-BEED4999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ε=p²/(2m)-μ*·B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N±=(4πV/3h³){2m(ε_F±μ*B)}^{3/2}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3. M=μ*(N+-N-)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4. χ₀=lim_{B→0}M/(VB)=3nμ*²/(2ε_F)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10458181-03DF-41AF-A6E9-ACFC3BD4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32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439743365"/>
      </p:ext>
    </p:extLst>
  </p:cSld>
</p:sld>
</file>

<file path=ppt/slides/slide1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D7EA067D-54FD-4362-BDB8-310D91DB8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3F90B16A-FDBD-4BFA-9F9D-52BD65FC1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33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94A5D4A5-2715-4F31-A8DA-BCC507BC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L09-33｜忠实翻译与术语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7FC52892-D437-472D-BA7F-8C69C8AB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【忠实翻译】T≠0 且总 N 固定时，把两自旋占据 n_p±=0或1 分开。能量 En=∑p(n_p++n_p−)p²/(2m)−μ*B(N+−N−)。正则配分函数对 N+ 求和，并在每个自旋支内分别对固定粒子数配置求和。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spin-resolved occupation｜自旋分辨占据：分别记录两种 Zeeman 支的粒子数。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canonical partition function｜正则配分函数：总粒子数严格固定的状态和。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789DA7D6-A54B-420C-B0A5-9483961C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33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522413227"/>
      </p:ext>
    </p:extLst>
  </p:cSld>
</p:sld>
</file>

<file path=ppt/slides/slide1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43AFF593-DB63-4FE2-B5CC-725FC60D2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FB2E3C23-0EF9-4E38-8BF9-7143FAA4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33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8927E1A0-959B-4052-8EC0-3A05ABD9D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L09-33｜入门讲解与易错点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DDED47EB-883B-4910-BDA9-DCF35769F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【从零讲懂】磁场项只依赖 N+−N−，而动能配分函数可写成两个无场 Fermi 气体因子 Q₀(N+)Q₀(N−)。这把问题降成“不同自旋分配 N+ 的概率”，为最大项近似做准备。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第9讲第32页：T=0 Pauli 顺磁性。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第8讲第11页：正则计数困难。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两个带双撇号的求和各自受 N+、N− 约束，不能当作独立巨正则乘积。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2DDBCF8F-F65E-40C9-8A4D-C412D047B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33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830198618"/>
      </p:ext>
    </p:extLst>
  </p:cSld>
</p:sld>
</file>

<file path=ppt/slides/slide1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1415B3D0-BAEA-4976-BEA9-2A761E324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44AC33DF-B928-4792-863E-1EE6DB96E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33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338229C8-CC69-40B5-9E53-9A9319A4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L09-33｜公式与符号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16C318A0-F053-4466-82A2-040B2A20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n_p^+,n_p^-=0 or 1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E_n=∑p(n_p^++n_p^-)p²/(2m)-μ*B(N^+-N^-)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3. N^++N^-=N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4. Q(N)=∑_{N^+=0}^N e^{βμ*B(2N^+-N)}Q₀(N^+)Q₀(N-N^+)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C8D62CDA-F7F0-4E53-BAF8-A603753AD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33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871052207"/>
      </p:ext>
    </p:extLst>
  </p:cSld>
</p:sld>
</file>

<file path=ppt/slides/slide1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C468254E-A75A-4ED5-B2E3-CA6ABD4CE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489F430E-3736-4172-ACE0-A0FE1C586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34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DE34E1FF-B08F-4740-B6E3-66A13E68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L09-34｜忠实翻译与术语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BDE47C1E-ED31-4D49-A20C-A5A6BBFEB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【忠实翻译】定义 A₀(N±)=−kBTlnQ₀(N±)。大 N 时正则和由最大项支配；对 N+ 取极值，得到 μ₀(N̄+)−μ₀(N−N̄+)=2μ*B，即两自旋支的无场化学势差平衡 Zeeman 分裂。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saddle-point approximation｜鞍点/最大项近似：大系统求和由指数最大项主导。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spin chemical potential｜自旋支化学势：改变某一自旋人口的自由能代价。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8F9944E4-43D6-47DA-9180-5FC56BF7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34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2012431849"/>
      </p:ext>
    </p:extLst>
  </p:cSld>
</p:sld>
</file>

<file path=ppt/slides/slide1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F14779DC-96D9-4F36-B33D-E5F4A89F5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C19313A9-5F54-4E74-8208-E0A32B638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34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6DCAB8FB-5059-4DE2-AC41-2F3801570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L09-34｜入门讲解与易错点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2253A33B-9286-4D19-82EB-06E96DCA9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【从零讲懂】这与化学反应平衡相同：把一个电子从 - 支移到 + 支，动能自由能代价必须等于磁场收益。最大项近似依赖分布在 N+ 上足够尖锐，热力学极限成立。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第9讲第33页：固定 N 的配分函数。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自由能导数 μ=∂A/∂N。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最大项条件中的两个化学势都由同一无场 Fermi 气体函数 μ₀(N) 计算，但参数 N 不同。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62B4186A-5891-4AFD-B51B-8A5692950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34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315257365"/>
      </p:ext>
    </p:extLst>
  </p:cSld>
</p:sld>
</file>

<file path=ppt/slides/slide1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116A3223-46DA-40C3-A24F-03A2AC00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1B9BCA84-4055-4CCD-9A77-D38EBB40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34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CE469FB1-1D1F-48A5-8263-7929D59D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L09-34｜公式与符号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8808F81F-CAA4-43D1-886C-9595BC20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A₀(N±)=-kBT lnQ₀(N±)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Q(N)=e^{-βμ*BN}∑_{N^+=0}^N e^{2βμ*BN^+}Q₀(N^+)Q₀(N-N^+)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3. μ₀(N̄^+)-μ₀(N-N̄^+)=2μ*B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30F1B362-0FB0-43B5-9C34-71BC0AE3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34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466424061"/>
      </p:ext>
    </p:extLst>
  </p:cSld>
</p:sld>
</file>

<file path=ppt/slides/slide1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A51F7A84-CA9D-46C6-87B5-5EEEB430F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36569A10-A59E-41C4-B859-BFD40FB63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35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CE6C4279-E5FB-4D9C-A586-B26AEC19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L09-35｜忠实翻译与术语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A45D973E-6205-433D-84CD-024EBC4EA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【忠实翻译】写 N̄+=(1+r)N/2、N̄−=(1−r)N/2，磁化 M=μ*Nr。线性化最概然条件得到 r≈2μ*B/[∂μ₀(xN)/∂x]x=1/2，故 χ=M/(VB)。代入低温化学势展开，课件给 χ≈χ₀[1−(π²/12)(kBT/εF)²]。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finite-temperature susceptibility｜有限温磁化率：温度非零时的线性磁响应。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spin polarization r｜自旋极化 r：两自旋人口差除以总粒子数。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A6F42905-E2BF-407C-B9C9-247E9128D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35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939442932"/>
      </p:ext>
    </p:extLst>
  </p:cSld>
</p:sld>
</file>

<file path=ppt/slides/slide1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8D2176A6-F7E2-44F3-957A-376D1708E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F1865328-B74C-4DB4-9EB5-D5271474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35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7BF99D5A-B4BE-4CDE-9243-4E48A6EE6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L09-35｜入门讲解与易错点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9A33820C-942D-46D9-B7A0-994EE2AA1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【从零讲懂】有限温度把 Fermi 面抹宽，使 εF 附近的有效态密度略变，从而 Pauli 顺磁率出现 T² 修正。核心仍是只有 Fermi 面附近电子能改变自旋占据。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第9讲第28页：μ(T)。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第9讲第34页：最概然自旋人口。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本页结果是低温、弱场展开；不能用于 kBT∼εF 或强 Zeeman 分裂。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EC5EE3DA-44E1-41D0-821F-5AF84DA1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35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971456314"/>
      </p:ext>
    </p:extLst>
  </p:cSld>
</p:sld>
</file>

<file path=ppt/slides/slide1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2557DC2A-BDF9-4CE4-8C0F-F5383A78D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9F83974F-003C-444D-9A64-0818FA94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35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975EE09A-79C3-44F2-9F56-6C6C27AC5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L09-35｜公式与符号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8C0B33FF-3D6E-4319-9FF8-93EE27D6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N̄^+=(1+r)N/2, N̄^-=(1-r)N/2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M=μ*Nr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3. χ=M/(VB)=2nμ*²/[∂μ₀(xN)/∂x]_{x=1/2}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4. χ≈χ₀[1-(π²/12)(kBT/ε_F)²]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5. ε_F=ℏ²(6π²N/(gV))^{2/3}/(2m)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47E08FDE-1344-45EB-93B8-62E56E450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35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917115367"/>
      </p:ext>
    </p:extLst>
  </p:cSld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Custom 1">
      <a:majorFont>
        <a:latin typeface="Cambria"/>
        <a:ea typeface=""/>
        <a:cs typeface=""/>
      </a:majorFont>
      <a:minorFont>
        <a:latin typeface="Constantia"/>
        <a:ea typeface=""/>
        <a:cs typeface="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50534</TotalTime>
  <Words>772</Words>
  <Application>Microsoft Office PowerPoint</Application>
  <PresentationFormat>Widescreen</PresentationFormat>
  <Paragraphs>170</Paragraphs>
  <Slides>137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Arial</vt:lpstr>
      <vt:lpstr>Calibri</vt:lpstr>
      <vt:lpstr>Cambria</vt:lpstr>
      <vt:lpstr>Constantia</vt:lpstr>
      <vt:lpstr>Tw Cen MT</vt:lpstr>
      <vt:lpstr>Wingdings 3</vt:lpstr>
      <vt:lpstr>Integral</vt:lpstr>
      <vt:lpstr>Statistical physics phy301</vt:lpstr>
      <vt:lpstr>Non-interacting: bose gas (Nonrelativistic)</vt:lpstr>
      <vt:lpstr>Non-interacting: bose gas (Nonrelativistic)</vt:lpstr>
      <vt:lpstr>Idea bose gas: Thermodynamics</vt:lpstr>
      <vt:lpstr>Idea bose gas: Thermodynamics</vt:lpstr>
      <vt:lpstr>Non-interacting bose gas: Bose-einstein condensation</vt:lpstr>
      <vt:lpstr>Non-interacting bose gas: Bose-einstein condensation</vt:lpstr>
      <vt:lpstr>Non-interacting: bose gas Bose-einstein condensation</vt:lpstr>
      <vt:lpstr>Non-interacting: bose gas Bose-einstein condensation</vt:lpstr>
      <vt:lpstr>Possible reason for bose-Einstein condensation</vt:lpstr>
      <vt:lpstr>What is the condition for BEC</vt:lpstr>
      <vt:lpstr>Atomic gas in optical trap</vt:lpstr>
      <vt:lpstr>Superfluid in He4</vt:lpstr>
      <vt:lpstr>Non-interacting bosons: Black body (cavity EM fields) </vt:lpstr>
      <vt:lpstr>Non-interacting bosons: Phonon (Lattice vibrations) </vt:lpstr>
      <vt:lpstr>Non-interacting bosons: Phonon (Lattice vibrations) </vt:lpstr>
      <vt:lpstr>Statistics for Non-interacting bosons</vt:lpstr>
      <vt:lpstr>Phonon in real materials</vt:lpstr>
      <vt:lpstr>Statistical physics phy301</vt:lpstr>
      <vt:lpstr>Non-interacting Fermi gas (Nonrelativistic)</vt:lpstr>
      <vt:lpstr>Thermodynamics of idea Fermi gas (Any temperature)</vt:lpstr>
      <vt:lpstr>Thermodynamics of idea Fermi gas</vt:lpstr>
      <vt:lpstr>Thermodynamics of idea Fermi gas (T=0)</vt:lpstr>
      <vt:lpstr>Thermodynamics of idea Fermi gas (T=0)</vt:lpstr>
      <vt:lpstr>Thermodynamics of idea Fermi gas (Low-temperature)</vt:lpstr>
      <vt:lpstr>Sommerfeld expansion</vt:lpstr>
      <vt:lpstr>Thermodynamics of idea Fermi gas (T ≠ 0)</vt:lpstr>
      <vt:lpstr>Thermodynamics of idea Fermi gas (T ≠ 0)</vt:lpstr>
      <vt:lpstr>Thermodynamics of idea Fermi gas (T ≠ 0)</vt:lpstr>
      <vt:lpstr>Thermodynamics of idea Fermi gas (T ≠ 0)</vt:lpstr>
      <vt:lpstr>The electron gas in metals</vt:lpstr>
      <vt:lpstr>Non-interacting Fermion: electrons in metal</vt:lpstr>
      <vt:lpstr>Non-interacting Fermion: electrons in metal</vt:lpstr>
      <vt:lpstr>Non-interacting Fermion: electrons in metal</vt:lpstr>
      <vt:lpstr>Non-interacting Fermion: electrons in metal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Mechanics phy101</dc:title>
  <dc:creator>Kok Wee Song</dc:creator>
  <cp:lastModifiedBy>Song Kok Wee</cp:lastModifiedBy>
  <cp:revision>1673</cp:revision>
  <dcterms:created xsi:type="dcterms:W3CDTF">2024-08-25T23:32:26Z</dcterms:created>
  <dcterms:modified xsi:type="dcterms:W3CDTF">2025-10-29T12:03:39Z</dcterms:modified>
</cp:coreProperties>
</file>