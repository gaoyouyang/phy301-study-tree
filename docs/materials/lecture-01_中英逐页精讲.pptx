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7"/>
  </p:notesMasterIdLst>
  <p:sldIdLst>
    <p:sldId id="256" r:id="rId2"/>
    <p:sldId id="627" r:id="rId32"/>
    <p:sldId id="628" r:id="rId33"/>
    <p:sldId id="400" r:id="rId3"/>
    <p:sldId id="629" r:id="rId34"/>
    <p:sldId id="630" r:id="rId35"/>
    <p:sldId id="619" r:id="rId4"/>
    <p:sldId id="631" r:id="rId36"/>
    <p:sldId id="632" r:id="rId37"/>
    <p:sldId id="262" r:id="rId5"/>
    <p:sldId id="633" r:id="rId38"/>
    <p:sldId id="634" r:id="rId39"/>
    <p:sldId id="264" r:id="rId6"/>
    <p:sldId id="635" r:id="rId40"/>
    <p:sldId id="636" r:id="rId41"/>
    <p:sldId id="637" r:id="rId42"/>
    <p:sldId id="263" r:id="rId7"/>
    <p:sldId id="638" r:id="rId43"/>
    <p:sldId id="639" r:id="rId44"/>
    <p:sldId id="269" r:id="rId8"/>
    <p:sldId id="640" r:id="rId45"/>
    <p:sldId id="641" r:id="rId46"/>
    <p:sldId id="273" r:id="rId9"/>
    <p:sldId id="642" r:id="rId47"/>
    <p:sldId id="643" r:id="rId48"/>
    <p:sldId id="268" r:id="rId10"/>
    <p:sldId id="644" r:id="rId49"/>
    <p:sldId id="645" r:id="rId50"/>
    <p:sldId id="646" r:id="rId51"/>
    <p:sldId id="624" r:id="rId11"/>
    <p:sldId id="647" r:id="rId52"/>
    <p:sldId id="648" r:id="rId53"/>
    <p:sldId id="270" r:id="rId12"/>
    <p:sldId id="649" r:id="rId54"/>
    <p:sldId id="650" r:id="rId55"/>
    <p:sldId id="271" r:id="rId13"/>
    <p:sldId id="651" r:id="rId56"/>
    <p:sldId id="652" r:id="rId57"/>
    <p:sldId id="653" r:id="rId58"/>
    <p:sldId id="272" r:id="rId14"/>
    <p:sldId id="654" r:id="rId59"/>
    <p:sldId id="655" r:id="rId60"/>
    <p:sldId id="656" r:id="rId61"/>
    <p:sldId id="277" r:id="rId15"/>
    <p:sldId id="657" r:id="rId62"/>
    <p:sldId id="658" r:id="rId63"/>
    <p:sldId id="659" r:id="rId64"/>
    <p:sldId id="278" r:id="rId16"/>
    <p:sldId id="660" r:id="rId65"/>
    <p:sldId id="661" r:id="rId66"/>
    <p:sldId id="662" r:id="rId67"/>
    <p:sldId id="402" r:id="rId17"/>
    <p:sldId id="663" r:id="rId68"/>
    <p:sldId id="664" r:id="rId69"/>
    <p:sldId id="665" r:id="rId70"/>
    <p:sldId id="625" r:id="rId18"/>
    <p:sldId id="666" r:id="rId71"/>
    <p:sldId id="667" r:id="rId72"/>
    <p:sldId id="279" r:id="rId19"/>
    <p:sldId id="668" r:id="rId73"/>
    <p:sldId id="669" r:id="rId74"/>
    <p:sldId id="670" r:id="rId75"/>
    <p:sldId id="281" r:id="rId20"/>
    <p:sldId id="671" r:id="rId76"/>
    <p:sldId id="672" r:id="rId77"/>
    <p:sldId id="673" r:id="rId78"/>
    <p:sldId id="626" r:id="rId21"/>
    <p:sldId id="674" r:id="rId79"/>
    <p:sldId id="675" r:id="rId80"/>
    <p:sldId id="280" r:id="rId22"/>
    <p:sldId id="676" r:id="rId81"/>
    <p:sldId id="677" r:id="rId82"/>
    <p:sldId id="678" r:id="rId83"/>
    <p:sldId id="294" r:id="rId23"/>
    <p:sldId id="679" r:id="rId84"/>
    <p:sldId id="680" r:id="rId85"/>
    <p:sldId id="681" r:id="rId86"/>
    <p:sldId id="295" r:id="rId24"/>
    <p:sldId id="682" r:id="rId87"/>
    <p:sldId id="683" r:id="rId88"/>
    <p:sldId id="684" r:id="rId89"/>
    <p:sldId id="296" r:id="rId25"/>
    <p:sldId id="685" r:id="rId90"/>
    <p:sldId id="686" r:id="rId91"/>
    <p:sldId id="687" r:id="rId92"/>
    <p:sldId id="282" r:id="rId26"/>
    <p:sldId id="688" r:id="rId93"/>
    <p:sldId id="689" r:id="rId94"/>
    <p:sldId id="690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95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already learn many of them in the high school. You know how to solve those problem. Today, I will give you a little perspective, Not just teach you how to solve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35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already learn many of them in the high school. You know how to solve those problem. Today, I will give you a little perspective, Not just teach you how to solve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emf"/><Relationship Id="rId3" Type="http://schemas.openxmlformats.org/officeDocument/2006/relationships/image" Target="../media/image10.emf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17" Type="http://schemas.openxmlformats.org/officeDocument/2006/relationships/image" Target="../media/image2.png"/><Relationship Id="rId2" Type="http://schemas.openxmlformats.org/officeDocument/2006/relationships/image" Target="../media/image9.emf"/><Relationship Id="rId16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5" Type="http://schemas.openxmlformats.org/officeDocument/2006/relationships/image" Target="../media/image11.emf"/><Relationship Id="rId15" Type="http://schemas.openxmlformats.org/officeDocument/2006/relationships/image" Target="../media/image21.emf"/><Relationship Id="rId10" Type="http://schemas.openxmlformats.org/officeDocument/2006/relationships/image" Target="../media/image16.emf"/><Relationship Id="rId4" Type="http://schemas.openxmlformats.org/officeDocument/2006/relationships/image" Target="../media/image5.png"/><Relationship Id="rId9" Type="http://schemas.openxmlformats.org/officeDocument/2006/relationships/image" Target="../media/image15.emf"/><Relationship Id="rId1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image" Target="../media/image40.png"/><Relationship Id="rId5" Type="http://schemas.openxmlformats.org/officeDocument/2006/relationships/image" Target="../media/image35.emf"/><Relationship Id="rId10" Type="http://schemas.openxmlformats.org/officeDocument/2006/relationships/image" Target="../media/image2.png"/><Relationship Id="rId4" Type="http://schemas.openxmlformats.org/officeDocument/2006/relationships/image" Target="../media/image34.emf"/><Relationship Id="rId9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image" Target="../media/image49.emf"/><Relationship Id="rId18" Type="http://schemas.openxmlformats.org/officeDocument/2006/relationships/image" Target="../media/image52.emf"/><Relationship Id="rId3" Type="http://schemas.openxmlformats.org/officeDocument/2006/relationships/image" Target="../media/image41.emf"/><Relationship Id="rId21" Type="http://schemas.openxmlformats.org/officeDocument/2006/relationships/image" Target="../media/image55.emf"/><Relationship Id="rId7" Type="http://schemas.openxmlformats.org/officeDocument/2006/relationships/image" Target="../media/image44.emf"/><Relationship Id="rId12" Type="http://schemas.openxmlformats.org/officeDocument/2006/relationships/image" Target="../media/image48.emf"/><Relationship Id="rId17" Type="http://schemas.openxmlformats.org/officeDocument/2006/relationships/image" Target="../media/image51.emf"/><Relationship Id="rId2" Type="http://schemas.openxmlformats.org/officeDocument/2006/relationships/image" Target="../media/image32.emf"/><Relationship Id="rId16" Type="http://schemas.openxmlformats.org/officeDocument/2006/relationships/image" Target="../media/image39.emf"/><Relationship Id="rId20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11" Type="http://schemas.openxmlformats.org/officeDocument/2006/relationships/image" Target="../media/image31.emf"/><Relationship Id="rId24" Type="http://schemas.openxmlformats.org/officeDocument/2006/relationships/image" Target="../media/image58.svg"/><Relationship Id="rId5" Type="http://schemas.openxmlformats.org/officeDocument/2006/relationships/image" Target="../media/image42.emf"/><Relationship Id="rId15" Type="http://schemas.openxmlformats.org/officeDocument/2006/relationships/image" Target="../media/image38.emf"/><Relationship Id="rId23" Type="http://schemas.openxmlformats.org/officeDocument/2006/relationships/image" Target="../media/image57.png"/><Relationship Id="rId10" Type="http://schemas.openxmlformats.org/officeDocument/2006/relationships/image" Target="../media/image47.emf"/><Relationship Id="rId19" Type="http://schemas.openxmlformats.org/officeDocument/2006/relationships/image" Target="../media/image53.emf"/><Relationship Id="rId4" Type="http://schemas.openxmlformats.org/officeDocument/2006/relationships/image" Target="../media/image36.emf"/><Relationship Id="rId9" Type="http://schemas.openxmlformats.org/officeDocument/2006/relationships/image" Target="../media/image46.emf"/><Relationship Id="rId14" Type="http://schemas.openxmlformats.org/officeDocument/2006/relationships/image" Target="../media/image50.emf"/><Relationship Id="rId22" Type="http://schemas.openxmlformats.org/officeDocument/2006/relationships/image" Target="../media/image5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41.emf"/><Relationship Id="rId7" Type="http://schemas.openxmlformats.org/officeDocument/2006/relationships/image" Target="../media/image61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36.emf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71.emf"/><Relationship Id="rId18" Type="http://schemas.openxmlformats.org/officeDocument/2006/relationships/image" Target="../media/image76.png"/><Relationship Id="rId3" Type="http://schemas.openxmlformats.org/officeDocument/2006/relationships/image" Target="../media/image64.svg"/><Relationship Id="rId7" Type="http://schemas.openxmlformats.org/officeDocument/2006/relationships/image" Target="../media/image65.emf"/><Relationship Id="rId12" Type="http://schemas.openxmlformats.org/officeDocument/2006/relationships/image" Target="../media/image70.emf"/><Relationship Id="rId17" Type="http://schemas.openxmlformats.org/officeDocument/2006/relationships/image" Target="../media/image75.svg"/><Relationship Id="rId2" Type="http://schemas.openxmlformats.org/officeDocument/2006/relationships/image" Target="../media/image63.png"/><Relationship Id="rId16" Type="http://schemas.openxmlformats.org/officeDocument/2006/relationships/image" Target="../media/image74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image" Target="../media/image69.emf"/><Relationship Id="rId5" Type="http://schemas.openxmlformats.org/officeDocument/2006/relationships/image" Target="../media/image41.emf"/><Relationship Id="rId15" Type="http://schemas.openxmlformats.org/officeDocument/2006/relationships/image" Target="../media/image73.emf"/><Relationship Id="rId10" Type="http://schemas.openxmlformats.org/officeDocument/2006/relationships/image" Target="../media/image68.emf"/><Relationship Id="rId19" Type="http://schemas.openxmlformats.org/officeDocument/2006/relationships/image" Target="../media/image77.svg"/><Relationship Id="rId4" Type="http://schemas.openxmlformats.org/officeDocument/2006/relationships/image" Target="../media/image32.emf"/><Relationship Id="rId9" Type="http://schemas.openxmlformats.org/officeDocument/2006/relationships/image" Target="../media/image67.emf"/><Relationship Id="rId14" Type="http://schemas.openxmlformats.org/officeDocument/2006/relationships/image" Target="../media/image7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emf"/><Relationship Id="rId7" Type="http://schemas.openxmlformats.org/officeDocument/2006/relationships/image" Target="../media/image8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emf"/><Relationship Id="rId4" Type="http://schemas.openxmlformats.org/officeDocument/2006/relationships/image" Target="../media/image79.emf"/><Relationship Id="rId9" Type="http://schemas.openxmlformats.org/officeDocument/2006/relationships/image" Target="../media/image8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11" Type="http://schemas.openxmlformats.org/officeDocument/2006/relationships/image" Target="../media/image31.emf"/><Relationship Id="rId5" Type="http://schemas.openxmlformats.org/officeDocument/2006/relationships/image" Target="../media/image88.emf"/><Relationship Id="rId10" Type="http://schemas.openxmlformats.org/officeDocument/2006/relationships/image" Target="../media/image2.png"/><Relationship Id="rId4" Type="http://schemas.openxmlformats.org/officeDocument/2006/relationships/image" Target="../media/image87.emf"/><Relationship Id="rId9" Type="http://schemas.openxmlformats.org/officeDocument/2006/relationships/image" Target="../media/image9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6.svg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image" Target="../media/image101.emf"/><Relationship Id="rId7" Type="http://schemas.openxmlformats.org/officeDocument/2006/relationships/image" Target="../media/image105.emf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jpeg"/><Relationship Id="rId5" Type="http://schemas.openxmlformats.org/officeDocument/2006/relationships/image" Target="../media/image103.jpeg"/><Relationship Id="rId4" Type="http://schemas.openxmlformats.org/officeDocument/2006/relationships/image" Target="../media/image102.emf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8.emf"/><Relationship Id="rId7" Type="http://schemas.openxmlformats.org/officeDocument/2006/relationships/image" Target="../media/image111.emf"/><Relationship Id="rId12" Type="http://schemas.openxmlformats.org/officeDocument/2006/relationships/image" Target="../media/image2.png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emf"/><Relationship Id="rId11" Type="http://schemas.openxmlformats.org/officeDocument/2006/relationships/image" Target="../media/image115.svg"/><Relationship Id="rId5" Type="http://schemas.openxmlformats.org/officeDocument/2006/relationships/image" Target="../media/image110.emf"/><Relationship Id="rId10" Type="http://schemas.openxmlformats.org/officeDocument/2006/relationships/image" Target="../media/image114.png"/><Relationship Id="rId4" Type="http://schemas.openxmlformats.org/officeDocument/2006/relationships/image" Target="../media/image109.emf"/><Relationship Id="rId9" Type="http://schemas.openxmlformats.org/officeDocument/2006/relationships/image" Target="../media/image11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3.emf"/><Relationship Id="rId7" Type="http://schemas.openxmlformats.org/officeDocument/2006/relationships/image" Target="../media/image111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jpeg"/><Relationship Id="rId3" Type="http://schemas.openxmlformats.org/officeDocument/2006/relationships/image" Target="../media/image120.emf"/><Relationship Id="rId7" Type="http://schemas.openxmlformats.org/officeDocument/2006/relationships/image" Target="../media/image124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10" Type="http://schemas.openxmlformats.org/officeDocument/2006/relationships/image" Target="../media/image2.png"/><Relationship Id="rId4" Type="http://schemas.openxmlformats.org/officeDocument/2006/relationships/image" Target="../media/image121.emf"/><Relationship Id="rId9" Type="http://schemas.openxmlformats.org/officeDocument/2006/relationships/image" Target="../media/image12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and 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E7433-3010-4CEE-8506-A24A75FD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5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59" y="2408942"/>
            <a:ext cx="10845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Attendance</a:t>
            </a:r>
            <a:r>
              <a:rPr lang="en-US" sz="2800" b="1" dirty="0"/>
              <a:t> is mandatory.</a:t>
            </a:r>
            <a:r>
              <a:rPr lang="en-US" sz="2800" dirty="0"/>
              <a:t> Please sign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59" y="3304065"/>
            <a:ext cx="565738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Evaluation:</a:t>
            </a:r>
            <a:r>
              <a:rPr lang="en-US" sz="2800" dirty="0"/>
              <a:t> Assignment (30%), </a:t>
            </a:r>
          </a:p>
          <a:p>
            <a:endParaRPr lang="en-US" sz="2800" dirty="0"/>
          </a:p>
          <a:p>
            <a:r>
              <a:rPr lang="en-US" sz="2800" dirty="0"/>
              <a:t>                      Mid-term exam (30%),</a:t>
            </a:r>
          </a:p>
          <a:p>
            <a:endParaRPr lang="en-US" sz="2800" dirty="0"/>
          </a:p>
          <a:p>
            <a:r>
              <a:rPr lang="en-US" sz="2800" dirty="0"/>
              <a:t>                      Final exam (40%)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3105834"/>
            <a:ext cx="3307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u="sng" dirty="0"/>
              <a:t>3  assignments</a:t>
            </a:r>
          </a:p>
          <a:p>
            <a:pPr algn="ctr"/>
            <a:r>
              <a:rPr lang="en-US" b="1" u="sng" dirty="0"/>
              <a:t>[</a:t>
            </a:r>
            <a:r>
              <a:rPr lang="en-US" b="1" u="sng" dirty="0" err="1"/>
              <a:t>moodle</a:t>
            </a:r>
            <a:r>
              <a:rPr lang="en-US" b="1" u="sng" dirty="0"/>
              <a:t>, online submission]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4309985"/>
            <a:ext cx="919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week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5252596"/>
            <a:ext cx="17518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 week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451F37-CDCD-4D23-8765-2DC14ED1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8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Office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3828" y="2093976"/>
            <a:ext cx="6290440" cy="2364828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u="sng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OFFICE (A1 379)</a:t>
            </a:r>
          </a:p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Wed     12 pm </a:t>
            </a:r>
            <a:r>
              <a:rPr lang="mr-IN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–</a:t>
            </a:r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2 pm</a:t>
            </a:r>
          </a:p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Thu     2 pm </a:t>
            </a:r>
            <a:r>
              <a:rPr lang="mr-IN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–</a:t>
            </a:r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4 pm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2F25-4708-45E3-84C9-F7DAA3FD4EA2}"/>
              </a:ext>
            </a:extLst>
          </p:cNvPr>
          <p:cNvSpPr txBox="1"/>
          <p:nvPr/>
        </p:nvSpPr>
        <p:spPr>
          <a:xfrm>
            <a:off x="4035971" y="4800076"/>
            <a:ext cx="3617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Email: kokwee.song@xmu.edu.my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CB0CE-6EF7-4B56-9803-C36DC5D0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8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489609" y="3085408"/>
            <a:ext cx="7344423" cy="3706440"/>
            <a:chOff x="2489609" y="3085408"/>
            <a:chExt cx="7344423" cy="370644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609" y="3085408"/>
              <a:ext cx="7344423" cy="37064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160654" y="3121047"/>
              <a:ext cx="2673378" cy="807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statistical Physics/mechanics?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485" y="3332339"/>
            <a:ext cx="1535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Wikipedia: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457" y="2331076"/>
            <a:ext cx="6982625" cy="6053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182" y="1455313"/>
            <a:ext cx="1856944" cy="26539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8838" y="2698257"/>
            <a:ext cx="174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Mehran </a:t>
            </a:r>
            <a:r>
              <a:rPr lang="en-US" dirty="0" err="1"/>
              <a:t>Kardar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89DB6-E17D-4D39-BB69-8854C408BF48}"/>
              </a:ext>
            </a:extLst>
          </p:cNvPr>
          <p:cNvSpPr/>
          <p:nvPr/>
        </p:nvSpPr>
        <p:spPr>
          <a:xfrm>
            <a:off x="2489609" y="6051550"/>
            <a:ext cx="4131908" cy="740297"/>
          </a:xfrm>
          <a:custGeom>
            <a:avLst/>
            <a:gdLst>
              <a:gd name="connsiteX0" fmla="*/ 0 w 4131908"/>
              <a:gd name="connsiteY0" fmla="*/ 0 h 737889"/>
              <a:gd name="connsiteX1" fmla="*/ 4131908 w 4131908"/>
              <a:gd name="connsiteY1" fmla="*/ 0 h 737889"/>
              <a:gd name="connsiteX2" fmla="*/ 4131908 w 4131908"/>
              <a:gd name="connsiteY2" fmla="*/ 737889 h 737889"/>
              <a:gd name="connsiteX3" fmla="*/ 0 w 4131908"/>
              <a:gd name="connsiteY3" fmla="*/ 737889 h 737889"/>
              <a:gd name="connsiteX4" fmla="*/ 0 w 4131908"/>
              <a:gd name="connsiteY4" fmla="*/ 0 h 737889"/>
              <a:gd name="connsiteX0" fmla="*/ 0 w 4131908"/>
              <a:gd name="connsiteY0" fmla="*/ 2408 h 740297"/>
              <a:gd name="connsiteX1" fmla="*/ 1868608 w 4131908"/>
              <a:gd name="connsiteY1" fmla="*/ 0 h 740297"/>
              <a:gd name="connsiteX2" fmla="*/ 4131908 w 4131908"/>
              <a:gd name="connsiteY2" fmla="*/ 2408 h 740297"/>
              <a:gd name="connsiteX3" fmla="*/ 4131908 w 4131908"/>
              <a:gd name="connsiteY3" fmla="*/ 740297 h 740297"/>
              <a:gd name="connsiteX4" fmla="*/ 0 w 4131908"/>
              <a:gd name="connsiteY4" fmla="*/ 740297 h 740297"/>
              <a:gd name="connsiteX5" fmla="*/ 0 w 4131908"/>
              <a:gd name="connsiteY5" fmla="*/ 2408 h 740297"/>
              <a:gd name="connsiteX0" fmla="*/ 0 w 4131908"/>
              <a:gd name="connsiteY0" fmla="*/ 2408 h 740297"/>
              <a:gd name="connsiteX1" fmla="*/ 1872841 w 4131908"/>
              <a:gd name="connsiteY1" fmla="*/ 224367 h 740297"/>
              <a:gd name="connsiteX2" fmla="*/ 1868608 w 4131908"/>
              <a:gd name="connsiteY2" fmla="*/ 0 h 740297"/>
              <a:gd name="connsiteX3" fmla="*/ 4131908 w 4131908"/>
              <a:gd name="connsiteY3" fmla="*/ 2408 h 740297"/>
              <a:gd name="connsiteX4" fmla="*/ 4131908 w 4131908"/>
              <a:gd name="connsiteY4" fmla="*/ 740297 h 740297"/>
              <a:gd name="connsiteX5" fmla="*/ 0 w 4131908"/>
              <a:gd name="connsiteY5" fmla="*/ 740297 h 740297"/>
              <a:gd name="connsiteX6" fmla="*/ 0 w 4131908"/>
              <a:gd name="connsiteY6" fmla="*/ 2408 h 740297"/>
              <a:gd name="connsiteX0" fmla="*/ 0 w 4131908"/>
              <a:gd name="connsiteY0" fmla="*/ 237358 h 740297"/>
              <a:gd name="connsiteX1" fmla="*/ 1872841 w 4131908"/>
              <a:gd name="connsiteY1" fmla="*/ 224367 h 740297"/>
              <a:gd name="connsiteX2" fmla="*/ 1868608 w 4131908"/>
              <a:gd name="connsiteY2" fmla="*/ 0 h 740297"/>
              <a:gd name="connsiteX3" fmla="*/ 4131908 w 4131908"/>
              <a:gd name="connsiteY3" fmla="*/ 2408 h 740297"/>
              <a:gd name="connsiteX4" fmla="*/ 4131908 w 4131908"/>
              <a:gd name="connsiteY4" fmla="*/ 740297 h 740297"/>
              <a:gd name="connsiteX5" fmla="*/ 0 w 4131908"/>
              <a:gd name="connsiteY5" fmla="*/ 740297 h 740297"/>
              <a:gd name="connsiteX6" fmla="*/ 0 w 4131908"/>
              <a:gd name="connsiteY6" fmla="*/ 237358 h 7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1908" h="740297">
                <a:moveTo>
                  <a:pt x="0" y="237358"/>
                </a:moveTo>
                <a:lnTo>
                  <a:pt x="1872841" y="224367"/>
                </a:lnTo>
                <a:lnTo>
                  <a:pt x="1868608" y="0"/>
                </a:lnTo>
                <a:lnTo>
                  <a:pt x="4131908" y="2408"/>
                </a:lnTo>
                <a:lnTo>
                  <a:pt x="4131908" y="740297"/>
                </a:lnTo>
                <a:lnTo>
                  <a:pt x="0" y="740297"/>
                </a:lnTo>
                <a:lnTo>
                  <a:pt x="0" y="237358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51154D-969B-4056-B018-59BD22E8F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statistics?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262" y="2073415"/>
            <a:ext cx="10589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Statistics allows us to learn certain properties of a complex phenomena.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3961" y="4543713"/>
            <a:ext cx="8067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Statistics DOES NOT tell you why, but the behavior/pattern of your observation.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9262" y="2923634"/>
            <a:ext cx="10589803" cy="1226037"/>
            <a:chOff x="589262" y="2923634"/>
            <a:chExt cx="10589803" cy="1226037"/>
          </a:xfrm>
        </p:grpSpPr>
        <p:sp>
          <p:nvSpPr>
            <p:cNvPr id="49" name="TextBox 48"/>
            <p:cNvSpPr txBox="1"/>
            <p:nvPr/>
          </p:nvSpPr>
          <p:spPr>
            <a:xfrm>
              <a:off x="589262" y="2923634"/>
              <a:ext cx="3022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Problem in a large system: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54049" y="3503340"/>
              <a:ext cx="101250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~10</a:t>
              </a:r>
              <a:r>
                <a:rPr lang="en-US" b="1" baseline="30000" dirty="0"/>
                <a:t>23</a:t>
              </a:r>
              <a:r>
                <a:rPr lang="en-US" b="1" dirty="0"/>
                <a:t> particles, impossible to keep track </a:t>
              </a:r>
            </a:p>
            <a:p>
              <a:r>
                <a:rPr lang="en-US" b="1" dirty="0"/>
                <a:t>                                               → Macroscopic behavior, we do not care the details of each particles. 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A4A4C2D-8A2D-4F48-BDDD-8035E778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0A6671-6FA6-46F3-A748-7BD0986A1480}"/>
              </a:ext>
            </a:extLst>
          </p:cNvPr>
          <p:cNvSpPr txBox="1"/>
          <p:nvPr/>
        </p:nvSpPr>
        <p:spPr>
          <a:xfrm>
            <a:off x="1822120" y="5702127"/>
            <a:ext cx="846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Statistical physics/mechanics = statistical model + law of physics /mechanics</a:t>
            </a:r>
          </a:p>
        </p:txBody>
      </p:sp>
    </p:spTree>
    <p:extLst>
      <p:ext uri="{BB962C8B-B14F-4D97-AF65-F5344CB8AC3E}">
        <p14:creationId xmlns:p14="http://schemas.microsoft.com/office/powerpoint/2010/main" val="141498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PHY301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624064"/>
            <a:ext cx="853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Thermodynamic and its statistical approach (in </a:t>
            </a:r>
            <a:r>
              <a:rPr lang="en-US" sz="2400" b="1" dirty="0"/>
              <a:t>classical systems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337392"/>
            <a:ext cx="667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Statistical formulation for large </a:t>
            </a:r>
            <a:r>
              <a:rPr lang="en-US" sz="2400" b="1" dirty="0"/>
              <a:t>quantum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073848"/>
            <a:ext cx="675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b="1" dirty="0"/>
              <a:t>Phase transition</a:t>
            </a:r>
            <a:r>
              <a:rPr lang="en-US" sz="2400" dirty="0"/>
              <a:t> for classical and quantum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760103"/>
            <a:ext cx="4121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b="1" dirty="0"/>
              <a:t>Non-equilibrium</a:t>
            </a:r>
            <a:r>
              <a:rPr lang="en-US" sz="2400" dirty="0"/>
              <a:t> phenomena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219B5-536D-4F83-8102-13366B63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901C8FE-ABA6-440F-8A15-CA314307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300" y="3156649"/>
            <a:ext cx="1812608" cy="284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90EE2B-E5FB-422A-BF86-9077D3E1CA21}"/>
              </a:ext>
            </a:extLst>
          </p:cNvPr>
          <p:cNvSpPr txBox="1"/>
          <p:nvPr/>
        </p:nvSpPr>
        <p:spPr>
          <a:xfrm>
            <a:off x="8209356" y="5934670"/>
            <a:ext cx="3616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Kerson Huang,</a:t>
            </a:r>
          </a:p>
          <a:p>
            <a:pPr algn="ctr"/>
            <a:r>
              <a:rPr lang="en-US" dirty="0"/>
              <a:t>Introduction to statistical physics,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 CRC press (2009)</a:t>
            </a:r>
          </a:p>
        </p:txBody>
      </p:sp>
    </p:spTree>
    <p:extLst>
      <p:ext uri="{BB962C8B-B14F-4D97-AF65-F5344CB8AC3E}">
        <p14:creationId xmlns:p14="http://schemas.microsoft.com/office/powerpoint/2010/main" val="239103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123" y="1901578"/>
            <a:ext cx="1789096" cy="26539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4" y="1970468"/>
            <a:ext cx="1856944" cy="2653916"/>
          </a:xfrm>
          <a:prstGeom prst="rect">
            <a:avLst/>
          </a:prstGeom>
        </p:spPr>
      </p:pic>
      <p:pic>
        <p:nvPicPr>
          <p:cNvPr id="2050" name="Picture 2" descr="https://m.media-amazon.com/images/I/71AU+3aGJ1L._SL124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848" y="1942116"/>
            <a:ext cx="2163119" cy="268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630" y="4642964"/>
            <a:ext cx="34070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Mehran </a:t>
            </a:r>
            <a:r>
              <a:rPr lang="en-US" dirty="0" err="1"/>
              <a:t>Kardar</a:t>
            </a:r>
            <a:r>
              <a:rPr lang="en-US" dirty="0"/>
              <a:t>, </a:t>
            </a:r>
          </a:p>
          <a:p>
            <a:pPr algn="ctr"/>
            <a:r>
              <a:rPr lang="en-US" dirty="0"/>
              <a:t>Statistical Physics of Particles, </a:t>
            </a:r>
          </a:p>
          <a:p>
            <a:pPr algn="ctr"/>
            <a:r>
              <a:rPr lang="en-US" dirty="0"/>
              <a:t>Cambridge University press (2007)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5098" y="4624384"/>
            <a:ext cx="26786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R.K. </a:t>
            </a:r>
            <a:r>
              <a:rPr lang="en-US" dirty="0" err="1"/>
              <a:t>Pathria</a:t>
            </a:r>
            <a:r>
              <a:rPr lang="en-US" dirty="0"/>
              <a:t>, Paul D. Beale,</a:t>
            </a:r>
          </a:p>
          <a:p>
            <a:pPr algn="ctr"/>
            <a:r>
              <a:rPr lang="en-US" dirty="0"/>
              <a:t>Statistical Mechanics,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Academic Press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5374" y="4642964"/>
            <a:ext cx="2170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Kerson Huang,</a:t>
            </a:r>
          </a:p>
          <a:p>
            <a:pPr algn="ctr"/>
            <a:r>
              <a:rPr lang="en-US" dirty="0"/>
              <a:t>Statistical Mechanics,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 Wiley (1991)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3957" y="6072729"/>
            <a:ext cx="10050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Statistical mechanics has a non-uniform viewpoints across difference textbooks.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0971" y="5469098"/>
            <a:ext cx="2719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(Dated, old style, but good)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0E5066-1826-4C2B-B8DA-335119342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9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Recap of thermodynamic and kinetic theory of (idea) gas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85DD1-B84D-477A-A5E0-E3581655E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2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0FCFA910-9AB1-45F6-ABEA-1D0A042A8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986" y="5520358"/>
            <a:ext cx="1782934" cy="1253626"/>
          </a:xfrm>
          <a:prstGeom prst="rect">
            <a:avLst/>
          </a:prstGeom>
        </p:spPr>
      </p:pic>
      <p:sp>
        <p:nvSpPr>
          <p:cNvPr id="20" name="Freeform 19"/>
          <p:cNvSpPr/>
          <p:nvPr/>
        </p:nvSpPr>
        <p:spPr>
          <a:xfrm>
            <a:off x="1197735" y="4582068"/>
            <a:ext cx="1983347" cy="711684"/>
          </a:xfrm>
          <a:custGeom>
            <a:avLst/>
            <a:gdLst>
              <a:gd name="connsiteX0" fmla="*/ 0 w 1983347"/>
              <a:gd name="connsiteY0" fmla="*/ 118721 h 711684"/>
              <a:gd name="connsiteX1" fmla="*/ 811369 w 1983347"/>
              <a:gd name="connsiteY1" fmla="*/ 711149 h 711684"/>
              <a:gd name="connsiteX2" fmla="*/ 1107583 w 1983347"/>
              <a:gd name="connsiteY2" fmla="*/ 28569 h 711684"/>
              <a:gd name="connsiteX3" fmla="*/ 1983347 w 1983347"/>
              <a:gd name="connsiteY3" fmla="*/ 118721 h 711684"/>
              <a:gd name="connsiteX4" fmla="*/ 1983347 w 1983347"/>
              <a:gd name="connsiteY4" fmla="*/ 118721 h 711684"/>
              <a:gd name="connsiteX5" fmla="*/ 1983347 w 1983347"/>
              <a:gd name="connsiteY5" fmla="*/ 118721 h 71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3347" h="711684">
                <a:moveTo>
                  <a:pt x="0" y="118721"/>
                </a:moveTo>
                <a:cubicBezTo>
                  <a:pt x="313386" y="422447"/>
                  <a:pt x="626772" y="726174"/>
                  <a:pt x="811369" y="711149"/>
                </a:cubicBezTo>
                <a:cubicBezTo>
                  <a:pt x="995966" y="696124"/>
                  <a:pt x="912253" y="127307"/>
                  <a:pt x="1107583" y="28569"/>
                </a:cubicBezTo>
                <a:cubicBezTo>
                  <a:pt x="1302913" y="-70169"/>
                  <a:pt x="1983347" y="118721"/>
                  <a:pt x="1983347" y="118721"/>
                </a:cubicBezTo>
                <a:lnTo>
                  <a:pt x="1983347" y="118721"/>
                </a:lnTo>
                <a:lnTo>
                  <a:pt x="1983347" y="118721"/>
                </a:lnTo>
              </a:path>
            </a:pathLst>
          </a:cu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84" y="2240833"/>
            <a:ext cx="7607453" cy="824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78809" y="2695838"/>
            <a:ext cx="174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Mehran </a:t>
            </a:r>
            <a:r>
              <a:rPr lang="en-US" dirty="0" err="1"/>
              <a:t>Kardar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527" y="707709"/>
            <a:ext cx="1856944" cy="26539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24128" y="4597757"/>
            <a:ext cx="289517" cy="2833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78" y="4233845"/>
            <a:ext cx="308399" cy="16912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1313645" y="4301543"/>
            <a:ext cx="500239" cy="29621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86" y="5037562"/>
            <a:ext cx="779585" cy="3517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07" y="4652276"/>
            <a:ext cx="225559" cy="17429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3884" y="4104208"/>
            <a:ext cx="243767" cy="1973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806" y="6524930"/>
            <a:ext cx="1046402" cy="204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632" y="5408507"/>
            <a:ext cx="13784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/>
              <a:t>State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(measurable)</a:t>
            </a:r>
          </a:p>
        </p:txBody>
      </p:sp>
      <p:sp>
        <p:nvSpPr>
          <p:cNvPr id="21" name="Oval 20"/>
          <p:cNvSpPr/>
          <p:nvPr/>
        </p:nvSpPr>
        <p:spPr>
          <a:xfrm>
            <a:off x="3065172" y="4597757"/>
            <a:ext cx="289517" cy="2833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3492" y="4937910"/>
            <a:ext cx="958850" cy="36306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2378614" y="4818039"/>
            <a:ext cx="508004" cy="1257604"/>
            <a:chOff x="2378614" y="4818039"/>
            <a:chExt cx="508004" cy="1257604"/>
          </a:xfrm>
        </p:grpSpPr>
        <p:sp>
          <p:nvSpPr>
            <p:cNvPr id="25" name="Right Arrow 24"/>
            <p:cNvSpPr/>
            <p:nvPr/>
          </p:nvSpPr>
          <p:spPr>
            <a:xfrm rot="15009644">
              <a:off x="2133491" y="5063162"/>
              <a:ext cx="862884" cy="372637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81818" y="5758143"/>
              <a:ext cx="304800" cy="31750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2755671" y="3978748"/>
            <a:ext cx="335259" cy="593826"/>
            <a:chOff x="2755671" y="3978748"/>
            <a:chExt cx="335259" cy="593826"/>
          </a:xfrm>
        </p:grpSpPr>
        <p:cxnSp>
          <p:nvCxnSpPr>
            <p:cNvPr id="29" name="Straight Arrow Connector 28"/>
            <p:cNvCxnSpPr/>
            <p:nvPr/>
          </p:nvCxnSpPr>
          <p:spPr>
            <a:xfrm flipH="1" flipV="1">
              <a:off x="2946171" y="4344715"/>
              <a:ext cx="144759" cy="227859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55671" y="3978748"/>
              <a:ext cx="309501" cy="299184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2257570" y="6144527"/>
            <a:ext cx="205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Newton’s laws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8973" y="3282579"/>
            <a:ext cx="134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Mechanics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3452" y="3176959"/>
            <a:ext cx="209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Thermodynamics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90361" y="3842860"/>
            <a:ext cx="1423754" cy="1068283"/>
            <a:chOff x="6890361" y="3842860"/>
            <a:chExt cx="1423754" cy="1068283"/>
          </a:xfrm>
        </p:grpSpPr>
        <p:sp>
          <p:nvSpPr>
            <p:cNvPr id="41" name="TextBox 40"/>
            <p:cNvSpPr txBox="1"/>
            <p:nvPr/>
          </p:nvSpPr>
          <p:spPr>
            <a:xfrm>
              <a:off x="7624388" y="454181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76788" y="394723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6890361" y="3842860"/>
              <a:ext cx="1262770" cy="983712"/>
              <a:chOff x="6890361" y="3842860"/>
              <a:chExt cx="1262770" cy="983712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890361" y="3842860"/>
                <a:ext cx="1158936" cy="9837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014788" y="3932211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334615" y="3865668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7615804" y="4224132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008348" y="4389411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439790" y="4331456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321735" y="4187643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dirty="0"/>
                  <a:t> </a:t>
                </a:r>
              </a:p>
            </p:txBody>
          </p:sp>
        </p:grpSp>
      </p:grpSp>
      <p:sp>
        <p:nvSpPr>
          <p:cNvPr id="45" name="TextBox 44"/>
          <p:cNvSpPr txBox="1"/>
          <p:nvPr/>
        </p:nvSpPr>
        <p:spPr>
          <a:xfrm>
            <a:off x="6134465" y="5283682"/>
            <a:ext cx="31586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/>
              <a:t>Macro-State</a:t>
            </a:r>
          </a:p>
          <a:p>
            <a:pPr marL="342900" lvl="0" indent="-342900" defTabSz="914400">
              <a:defRPr/>
            </a:pPr>
            <a:r>
              <a:rPr lang="en-US" dirty="0"/>
              <a:t>(thermodynamics coordinate)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561" y="5035622"/>
            <a:ext cx="1340942" cy="295932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0155854" y="3450005"/>
            <a:ext cx="1838026" cy="1967261"/>
            <a:chOff x="10155854" y="3450005"/>
            <a:chExt cx="1838026" cy="1967261"/>
          </a:xfrm>
        </p:grpSpPr>
        <p:sp>
          <p:nvSpPr>
            <p:cNvPr id="47" name="Rectangle 46"/>
            <p:cNvSpPr/>
            <p:nvPr/>
          </p:nvSpPr>
          <p:spPr>
            <a:xfrm>
              <a:off x="10155854" y="3450005"/>
              <a:ext cx="1766282" cy="15203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424462" y="372836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600108" y="4009483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881297" y="436794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273841" y="4533226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456553" y="4595474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427208" y="398947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1385600" y="4331903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219313" y="364073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192791" y="5090808"/>
              <a:ext cx="1729345" cy="326458"/>
            </a:xfrm>
            <a:prstGeom prst="rect">
              <a:avLst/>
            </a:prstGeom>
          </p:spPr>
        </p:pic>
      </p:grpSp>
      <p:sp>
        <p:nvSpPr>
          <p:cNvPr id="62" name="TextBox 61"/>
          <p:cNvSpPr txBox="1"/>
          <p:nvPr/>
        </p:nvSpPr>
        <p:spPr>
          <a:xfrm>
            <a:off x="8117080" y="6023873"/>
            <a:ext cx="351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Laws of thermodynamics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4660856" y="3794452"/>
            <a:ext cx="2191576" cy="1389136"/>
            <a:chOff x="4660856" y="3794452"/>
            <a:chExt cx="2191576" cy="1389136"/>
          </a:xfrm>
        </p:grpSpPr>
        <p:sp>
          <p:nvSpPr>
            <p:cNvPr id="65" name="TextBox 64"/>
            <p:cNvSpPr txBox="1"/>
            <p:nvPr/>
          </p:nvSpPr>
          <p:spPr>
            <a:xfrm>
              <a:off x="4660856" y="3794452"/>
              <a:ext cx="21915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Equilibrium:</a:t>
              </a:r>
            </a:p>
            <a:p>
              <a:r>
                <a:rPr lang="en-US" dirty="0"/>
                <a:t>Measurement doesn’t change in time</a:t>
              </a: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>
              <a:off x="5886802" y="5183588"/>
              <a:ext cx="8310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5884164" y="4700788"/>
              <a:ext cx="0" cy="482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84280" y="3908905"/>
            <a:ext cx="1943096" cy="1278412"/>
            <a:chOff x="8184280" y="3908905"/>
            <a:chExt cx="1943096" cy="1278412"/>
          </a:xfrm>
        </p:grpSpPr>
        <p:sp>
          <p:nvSpPr>
            <p:cNvPr id="58" name="Right Arrow 57"/>
            <p:cNvSpPr/>
            <p:nvPr/>
          </p:nvSpPr>
          <p:spPr>
            <a:xfrm rot="21554729">
              <a:off x="8243008" y="4180766"/>
              <a:ext cx="1656350" cy="402732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680148" y="3908905"/>
              <a:ext cx="835338" cy="216036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90718" y="4582051"/>
              <a:ext cx="838958" cy="211502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8846542" y="415906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184280" y="4817985"/>
              <a:ext cx="19430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(generalized force)</a:t>
              </a:r>
              <a:endParaRPr lang="en-US" dirty="0"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A92F3DF2-7C6B-453C-BE29-83294376591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" grpId="0" animBg="1"/>
      <p:bldP spid="19" grpId="0"/>
      <p:bldP spid="21" grpId="0" animBg="1"/>
      <p:bldP spid="33" grpId="0"/>
      <p:bldP spid="35" grpId="0"/>
      <p:bldP spid="36" grpId="0"/>
      <p:bldP spid="45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4148-6900-4235-B7A5-A22604D5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system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6A1BC-3524-4436-94E2-3669629F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357" y="1750207"/>
            <a:ext cx="4424240" cy="3984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3B8C0-05A4-4086-B67D-3964ACA79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2" y="4636522"/>
            <a:ext cx="2060294" cy="434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BF65E-E9AF-4556-B098-6166E955011C}"/>
              </a:ext>
            </a:extLst>
          </p:cNvPr>
          <p:cNvSpPr txBox="1"/>
          <p:nvPr/>
        </p:nvSpPr>
        <p:spPr>
          <a:xfrm>
            <a:off x="655472" y="2622771"/>
            <a:ext cx="3202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Equilibrium:</a:t>
            </a:r>
          </a:p>
          <a:p>
            <a:r>
              <a:rPr lang="en-US" dirty="0"/>
              <a:t>Not all thermodynamic quantities are independent.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0F922-0913-446E-A749-456C4FBECB8B}"/>
              </a:ext>
            </a:extLst>
          </p:cNvPr>
          <p:cNvSpPr txBox="1"/>
          <p:nvPr/>
        </p:nvSpPr>
        <p:spPr>
          <a:xfrm>
            <a:off x="467872" y="5566428"/>
            <a:ext cx="251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Examples: 1) Ideal gas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EE91EA-EACE-4FFE-A6D3-AAE8CDE7C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89" y="5999079"/>
            <a:ext cx="1851949" cy="57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6CE290-FD56-435F-B070-8DCA2FFD7A72}"/>
              </a:ext>
            </a:extLst>
          </p:cNvPr>
          <p:cNvSpPr txBox="1"/>
          <p:nvPr/>
        </p:nvSpPr>
        <p:spPr>
          <a:xfrm>
            <a:off x="655472" y="3921709"/>
            <a:ext cx="2638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Equation of states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A40B1D-5D6B-4193-B4D2-B8366A69053C}"/>
              </a:ext>
            </a:extLst>
          </p:cNvPr>
          <p:cNvGrpSpPr/>
          <p:nvPr/>
        </p:nvGrpSpPr>
        <p:grpSpPr>
          <a:xfrm>
            <a:off x="3652230" y="5567850"/>
            <a:ext cx="3383464" cy="1244515"/>
            <a:chOff x="3652230" y="5481223"/>
            <a:chExt cx="3383464" cy="124451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5CA4A8-E428-4AA7-A0C3-000AEB6A4131}"/>
                </a:ext>
              </a:extLst>
            </p:cNvPr>
            <p:cNvSpPr txBox="1"/>
            <p:nvPr/>
          </p:nvSpPr>
          <p:spPr>
            <a:xfrm>
              <a:off x="3652230" y="5481223"/>
              <a:ext cx="3383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Examples: 2) Magnetic system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BC733B7-B25C-411C-A9CF-575060FCB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8676" y="5849133"/>
              <a:ext cx="1319514" cy="76971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50F3E4-4817-4FC7-BC75-C7FA57E1E204}"/>
                </a:ext>
              </a:extLst>
            </p:cNvPr>
            <p:cNvSpPr txBox="1"/>
            <p:nvPr/>
          </p:nvSpPr>
          <p:spPr>
            <a:xfrm flipH="1">
              <a:off x="3785059" y="6417961"/>
              <a:ext cx="2055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/>
                <a:t>(magnetization)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35BA715-18EF-465B-A4C9-B3FB8A56FB7D}"/>
              </a:ext>
            </a:extLst>
          </p:cNvPr>
          <p:cNvSpPr txBox="1"/>
          <p:nvPr/>
        </p:nvSpPr>
        <p:spPr>
          <a:xfrm flipH="1">
            <a:off x="5997485" y="5941444"/>
            <a:ext cx="20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/>
              <a:t>(magnetic field)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A67B18-EED9-410D-B3D3-DB5AD47903C2}"/>
              </a:ext>
            </a:extLst>
          </p:cNvPr>
          <p:cNvSpPr txBox="1"/>
          <p:nvPr/>
        </p:nvSpPr>
        <p:spPr>
          <a:xfrm>
            <a:off x="7844111" y="5782146"/>
            <a:ext cx="4120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These macroscopic phenomena can be derived microscopically by using statistics.</a:t>
            </a:r>
          </a:p>
        </p:txBody>
      </p:sp>
    </p:spTree>
    <p:extLst>
      <p:ext uri="{BB962C8B-B14F-4D97-AF65-F5344CB8AC3E}">
        <p14:creationId xmlns:p14="http://schemas.microsoft.com/office/powerpoint/2010/main" val="370934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735865"/>
            <a:ext cx="6113612" cy="49673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27346" y="22619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172140" y="4100437"/>
            <a:ext cx="1158936" cy="9837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296567" y="41897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6394" y="412324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97583" y="4481709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0127" y="46469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6167" y="47993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21569" y="458903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03514" y="444522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914" y="363184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6227" y="4136924"/>
            <a:ext cx="826230" cy="750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4140654" y="422627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60481" y="415973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4243" y="451819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0278" y="436150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65656" y="4329304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51385" y="4481707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2699" y="3615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2859110" y="5780046"/>
            <a:ext cx="886508" cy="8860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3458083" y="57717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30936" y="570521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2125" y="606367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1643" y="62289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20709" y="63813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36111" y="6171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15024" y="624613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51561" y="532614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183346" y="5209505"/>
            <a:ext cx="1605840" cy="849864"/>
            <a:chOff x="1183346" y="5209505"/>
            <a:chExt cx="1605840" cy="84986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1763059" y="5209505"/>
              <a:ext cx="1026127" cy="849864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183346" y="5608627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equilibrium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858036" y="5039928"/>
            <a:ext cx="1601656" cy="1155549"/>
            <a:chOff x="3858036" y="5039928"/>
            <a:chExt cx="1601656" cy="1155549"/>
          </a:xfrm>
        </p:grpSpPr>
        <p:cxnSp>
          <p:nvCxnSpPr>
            <p:cNvPr id="101" name="Straight Arrow Connector 100"/>
            <p:cNvCxnSpPr/>
            <p:nvPr/>
          </p:nvCxnSpPr>
          <p:spPr>
            <a:xfrm flipH="1">
              <a:off x="3858036" y="5039928"/>
              <a:ext cx="716207" cy="1155549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4268340" y="5595380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equilibrium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384856" y="3768610"/>
            <a:ext cx="1605613" cy="806578"/>
            <a:chOff x="2384856" y="3768610"/>
            <a:chExt cx="1605613" cy="806578"/>
          </a:xfrm>
        </p:grpSpPr>
        <p:sp>
          <p:nvSpPr>
            <p:cNvPr id="104" name="TextBox 103"/>
            <p:cNvSpPr txBox="1"/>
            <p:nvPr/>
          </p:nvSpPr>
          <p:spPr>
            <a:xfrm>
              <a:off x="2528954" y="3768610"/>
              <a:ext cx="11913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Must be in </a:t>
              </a:r>
            </a:p>
            <a:p>
              <a:r>
                <a:rPr lang="en-US" dirty="0"/>
                <a:t>equilibrium</a:t>
              </a: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>
              <a:off x="2384856" y="4537750"/>
              <a:ext cx="1605613" cy="37438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6056543" y="3831288"/>
            <a:ext cx="592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Seem trivial but very important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temperature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586" y="4760883"/>
            <a:ext cx="655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two system is in equilibrium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both have same temperature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496752-E55C-4922-95FB-933089B6DA39}"/>
              </a:ext>
            </a:extLst>
          </p:cNvPr>
          <p:cNvSpPr txBox="1"/>
          <p:nvPr/>
        </p:nvSpPr>
        <p:spPr>
          <a:xfrm>
            <a:off x="8944617" y="5216854"/>
            <a:ext cx="3557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How to measure temperature</a:t>
            </a:r>
            <a:endParaRPr lang="en-MY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C2BF9E-7A62-4F4A-8B61-B9E7A8C34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0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6599528" cy="11272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39" y="4324389"/>
            <a:ext cx="2205510" cy="1877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090" y="6372024"/>
            <a:ext cx="1854560" cy="375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6135" y="3694617"/>
            <a:ext cx="491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the statement of energy conservation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09705-9043-43E4-9387-5EE785E85487}"/>
              </a:ext>
            </a:extLst>
          </p:cNvPr>
          <p:cNvSpPr txBox="1"/>
          <p:nvPr/>
        </p:nvSpPr>
        <p:spPr>
          <a:xfrm>
            <a:off x="1541069" y="5027403"/>
            <a:ext cx="330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Similar to work-Energy theorem in mechanics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8A1DA-D74D-45B0-A30A-25859910FD62}"/>
              </a:ext>
            </a:extLst>
          </p:cNvPr>
          <p:cNvSpPr txBox="1"/>
          <p:nvPr/>
        </p:nvSpPr>
        <p:spPr>
          <a:xfrm>
            <a:off x="6390290" y="6332607"/>
            <a:ext cx="133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(closed)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7877B1-7AB0-493F-980E-B9AEAF8ACB88}"/>
              </a:ext>
            </a:extLst>
          </p:cNvPr>
          <p:cNvGrpSpPr/>
          <p:nvPr/>
        </p:nvGrpSpPr>
        <p:grpSpPr>
          <a:xfrm>
            <a:off x="7726874" y="5150056"/>
            <a:ext cx="3017326" cy="595956"/>
            <a:chOff x="7726874" y="5150056"/>
            <a:chExt cx="3017326" cy="59595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6874" y="5150056"/>
              <a:ext cx="1625334" cy="59595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57A972-BE91-4AB1-9671-FBB742ABDF80}"/>
                </a:ext>
              </a:extLst>
            </p:cNvPr>
            <p:cNvSpPr txBox="1"/>
            <p:nvPr/>
          </p:nvSpPr>
          <p:spPr>
            <a:xfrm>
              <a:off x="9407616" y="5239716"/>
              <a:ext cx="1336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(open)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0E933BE-1BE4-4461-A561-6DE01C20C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7CDBE5-8C5C-4D47-B971-7577A5139DAE}"/>
              </a:ext>
            </a:extLst>
          </p:cNvPr>
          <p:cNvGrpSpPr/>
          <p:nvPr/>
        </p:nvGrpSpPr>
        <p:grpSpPr>
          <a:xfrm>
            <a:off x="8352481" y="5448034"/>
            <a:ext cx="3118354" cy="1019576"/>
            <a:chOff x="8352481" y="5448034"/>
            <a:chExt cx="3118354" cy="101957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9197CC-1AC3-4339-9C20-7CF010A1F3F7}"/>
                </a:ext>
              </a:extLst>
            </p:cNvPr>
            <p:cNvSpPr txBox="1"/>
            <p:nvPr/>
          </p:nvSpPr>
          <p:spPr>
            <a:xfrm flipH="1">
              <a:off x="8352481" y="6098278"/>
              <a:ext cx="31183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convention of the sign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EEB5A0D-C34F-4BE1-BC7C-2C82782CD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8080" y="5448034"/>
              <a:ext cx="0" cy="64008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0836"/>
          <a:stretch/>
        </p:blipFill>
        <p:spPr>
          <a:xfrm>
            <a:off x="7011081" y="1958240"/>
            <a:ext cx="1518012" cy="13622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44884"/>
          <a:stretch/>
        </p:blipFill>
        <p:spPr>
          <a:xfrm>
            <a:off x="9274674" y="3315975"/>
            <a:ext cx="2817203" cy="1358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E06756-3600-4C5A-B8EB-3A0ED4064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409"/>
          <a:stretch/>
        </p:blipFill>
        <p:spPr>
          <a:xfrm>
            <a:off x="9130376" y="2006026"/>
            <a:ext cx="2893609" cy="1362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82BF29-FBB3-4361-A4AC-661A684243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478"/>
          <a:stretch/>
        </p:blipFill>
        <p:spPr>
          <a:xfrm>
            <a:off x="6989379" y="3230578"/>
            <a:ext cx="1662310" cy="135872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BB47959-F21C-4558-84E0-AA8CDC8B6746}"/>
              </a:ext>
            </a:extLst>
          </p:cNvPr>
          <p:cNvSpPr/>
          <p:nvPr/>
        </p:nvSpPr>
        <p:spPr>
          <a:xfrm rot="10800000">
            <a:off x="8746015" y="2598607"/>
            <a:ext cx="384361" cy="255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EA06409-34B6-425E-9004-84A01AB6669C}"/>
              </a:ext>
            </a:extLst>
          </p:cNvPr>
          <p:cNvSpPr/>
          <p:nvPr/>
        </p:nvSpPr>
        <p:spPr>
          <a:xfrm rot="10800000">
            <a:off x="8746014" y="3621880"/>
            <a:ext cx="384361" cy="255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297B15-2600-4AB0-9BFB-5B5900451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37" y="5181089"/>
            <a:ext cx="2482150" cy="1692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E76F3A-ED09-4C6F-AB34-B6451107F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7E5D6F4-3E66-49A2-91F3-C95C56A17AC6}"/>
              </a:ext>
            </a:extLst>
          </p:cNvPr>
          <p:cNvGrpSpPr/>
          <p:nvPr/>
        </p:nvGrpSpPr>
        <p:grpSpPr>
          <a:xfrm>
            <a:off x="2354319" y="4508711"/>
            <a:ext cx="4073470" cy="2306097"/>
            <a:chOff x="8098105" y="1580941"/>
            <a:chExt cx="4073470" cy="23060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7FBDBE4-9E41-4C25-877C-AEAA9362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40513" y="1580941"/>
              <a:ext cx="2831062" cy="2306097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8D99DD3-14C9-4E2F-A0F1-BCE61458C5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8105" y="2525221"/>
              <a:ext cx="1545019" cy="44010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F7E9C3-9C93-40AA-9CFC-BC364C195A29}"/>
              </a:ext>
            </a:extLst>
          </p:cNvPr>
          <p:cNvGrpSpPr/>
          <p:nvPr/>
        </p:nvGrpSpPr>
        <p:grpSpPr>
          <a:xfrm>
            <a:off x="9664064" y="4628013"/>
            <a:ext cx="2347547" cy="1836208"/>
            <a:chOff x="9664064" y="4628013"/>
            <a:chExt cx="2347547" cy="183620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2CBF59D-0086-457A-8076-B0A932092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47960" y="5153920"/>
              <a:ext cx="2163651" cy="59814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C183005-36F6-4439-A986-2A3461FB9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26884" y="6202151"/>
              <a:ext cx="1858320" cy="26207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5FA327-0CB7-4BEF-9F00-6BD88DAD3E24}"/>
                </a:ext>
              </a:extLst>
            </p:cNvPr>
            <p:cNvSpPr txBox="1"/>
            <p:nvPr/>
          </p:nvSpPr>
          <p:spPr>
            <a:xfrm>
              <a:off x="9664064" y="4628013"/>
              <a:ext cx="23081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Engine efficiency: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031F8D-0E7A-44BE-B31E-BCC0107C63CF}"/>
              </a:ext>
            </a:extLst>
          </p:cNvPr>
          <p:cNvGrpSpPr/>
          <p:nvPr/>
        </p:nvGrpSpPr>
        <p:grpSpPr>
          <a:xfrm>
            <a:off x="-36298" y="2984938"/>
            <a:ext cx="1112036" cy="444062"/>
            <a:chOff x="-36298" y="2984938"/>
            <a:chExt cx="1112036" cy="44406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51F33A0-F091-45E6-9560-049524726AF9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831F4F-D48A-4048-B7D0-7ECCB3815D7B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EB1353-2C16-4F79-8F0B-5230CCA68330}"/>
              </a:ext>
            </a:extLst>
          </p:cNvPr>
          <p:cNvGrpSpPr/>
          <p:nvPr/>
        </p:nvGrpSpPr>
        <p:grpSpPr>
          <a:xfrm>
            <a:off x="-36298" y="3596868"/>
            <a:ext cx="1112036" cy="444062"/>
            <a:chOff x="-36298" y="2984938"/>
            <a:chExt cx="1112036" cy="44406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75F53C7-D471-47FB-9C9B-26A039640627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F71CF97-EE14-4814-A404-951B8135A0B3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E7A9AEB-6DD5-44AD-8148-C31CC156B0BD}"/>
              </a:ext>
            </a:extLst>
          </p:cNvPr>
          <p:cNvSpPr/>
          <p:nvPr/>
        </p:nvSpPr>
        <p:spPr>
          <a:xfrm>
            <a:off x="9274675" y="2006026"/>
            <a:ext cx="951892" cy="1309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8E8AD2-FFC0-406D-A027-C19A01DC49A6}"/>
              </a:ext>
            </a:extLst>
          </p:cNvPr>
          <p:cNvSpPr/>
          <p:nvPr/>
        </p:nvSpPr>
        <p:spPr>
          <a:xfrm>
            <a:off x="9304029" y="3429322"/>
            <a:ext cx="1080192" cy="1198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1E7CFF-DF84-4FEF-8BA7-47CF5B5B7F6C}"/>
              </a:ext>
            </a:extLst>
          </p:cNvPr>
          <p:cNvSpPr txBox="1"/>
          <p:nvPr/>
        </p:nvSpPr>
        <p:spPr>
          <a:xfrm>
            <a:off x="4991039" y="4836479"/>
            <a:ext cx="199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Reversible process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F34F173-3F71-41AB-895B-9E28411160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CBC8A6-1878-422D-8138-E91D952C35E6}"/>
              </a:ext>
            </a:extLst>
          </p:cNvPr>
          <p:cNvGrpSpPr/>
          <p:nvPr/>
        </p:nvGrpSpPr>
        <p:grpSpPr>
          <a:xfrm>
            <a:off x="6382730" y="5333228"/>
            <a:ext cx="3326393" cy="1251040"/>
            <a:chOff x="6382730" y="5333228"/>
            <a:chExt cx="3326393" cy="125104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671E90-F5E4-4325-8352-EF9B56B1C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2730" y="5655650"/>
              <a:ext cx="3326393" cy="92861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BFBF4C-5859-4711-9F32-61945C4CFF5F}"/>
                </a:ext>
              </a:extLst>
            </p:cNvPr>
            <p:cNvSpPr txBox="1"/>
            <p:nvPr/>
          </p:nvSpPr>
          <p:spPr>
            <a:xfrm>
              <a:off x="7115569" y="5333228"/>
              <a:ext cx="726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Proof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210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26" grpId="0" animBg="1"/>
      <p:bldP spid="31" grpId="0" animBg="1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5961997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337525" y="1767828"/>
            <a:ext cx="1016876" cy="789572"/>
            <a:chOff x="8337525" y="1767828"/>
            <a:chExt cx="1016876" cy="789572"/>
          </a:xfrm>
        </p:grpSpPr>
        <p:sp>
          <p:nvSpPr>
            <p:cNvPr id="21" name="Rectangle 20"/>
            <p:cNvSpPr/>
            <p:nvPr/>
          </p:nvSpPr>
          <p:spPr>
            <a:xfrm>
              <a:off x="8337525" y="1767828"/>
              <a:ext cx="585989" cy="33564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99956" y="1786990"/>
              <a:ext cx="333744" cy="313517"/>
            </a:xfrm>
            <a:prstGeom prst="rect">
              <a:avLst/>
            </a:prstGeom>
          </p:spPr>
        </p:pic>
        <p:cxnSp>
          <p:nvCxnSpPr>
            <p:cNvPr id="24" name="Straight Arrow Connector 23"/>
            <p:cNvCxnSpPr/>
            <p:nvPr/>
          </p:nvCxnSpPr>
          <p:spPr>
            <a:xfrm flipH="1">
              <a:off x="8630519" y="2116351"/>
              <a:ext cx="1" cy="44104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7412" y="2194143"/>
              <a:ext cx="576989" cy="322723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7269226" y="1684782"/>
            <a:ext cx="750643" cy="1201028"/>
            <a:chOff x="7269226" y="1684782"/>
            <a:chExt cx="750643" cy="1201028"/>
          </a:xfrm>
        </p:grpSpPr>
        <p:sp>
          <p:nvSpPr>
            <p:cNvPr id="25" name="Right Arrow 24"/>
            <p:cNvSpPr/>
            <p:nvPr/>
          </p:nvSpPr>
          <p:spPr>
            <a:xfrm rot="14006589">
              <a:off x="7352984" y="2218924"/>
              <a:ext cx="1014820" cy="318951"/>
            </a:xfrm>
            <a:prstGeom prst="rightArrow">
              <a:avLst/>
            </a:prstGeom>
            <a:gradFill>
              <a:gsLst>
                <a:gs pos="0">
                  <a:schemeClr val="bg1">
                    <a:alpha val="60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69226" y="1684782"/>
              <a:ext cx="344297" cy="251244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9381669" y="3866567"/>
            <a:ext cx="1313177" cy="520204"/>
            <a:chOff x="9381669" y="3866567"/>
            <a:chExt cx="1313177" cy="52020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9642739" y="3866567"/>
              <a:ext cx="465412" cy="311399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0108857" y="3993679"/>
              <a:ext cx="585989" cy="33564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54493" y="4033469"/>
              <a:ext cx="294715" cy="30453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81669" y="4062268"/>
              <a:ext cx="550672" cy="324503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7322485" y="75735"/>
            <a:ext cx="4070939" cy="462521"/>
            <a:chOff x="7322485" y="75735"/>
            <a:chExt cx="4070939" cy="462521"/>
          </a:xfrm>
        </p:grpSpPr>
        <p:sp>
          <p:nvSpPr>
            <p:cNvPr id="43" name="Rectangle 42"/>
            <p:cNvSpPr/>
            <p:nvPr/>
          </p:nvSpPr>
          <p:spPr>
            <a:xfrm>
              <a:off x="7322485" y="75735"/>
              <a:ext cx="4070939" cy="46252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53652" y="173124"/>
              <a:ext cx="356976" cy="325478"/>
            </a:xfrm>
            <a:prstGeom prst="rect">
              <a:avLst/>
            </a:prstGeom>
          </p:spPr>
        </p:pic>
      </p:grpSp>
      <p:pic>
        <p:nvPicPr>
          <p:cNvPr id="61" name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677" y="5541600"/>
            <a:ext cx="1625334" cy="595956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6682261" y="555775"/>
            <a:ext cx="2641660" cy="1203049"/>
            <a:chOff x="6682261" y="555775"/>
            <a:chExt cx="2641660" cy="1203049"/>
          </a:xfrm>
        </p:grpSpPr>
        <p:grpSp>
          <p:nvGrpSpPr>
            <p:cNvPr id="14" name="Group 13"/>
            <p:cNvGrpSpPr/>
            <p:nvPr/>
          </p:nvGrpSpPr>
          <p:grpSpPr>
            <a:xfrm>
              <a:off x="7325926" y="555775"/>
              <a:ext cx="1922066" cy="1203049"/>
              <a:chOff x="7325926" y="555775"/>
              <a:chExt cx="1922066" cy="1203049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 flipH="1">
                <a:off x="8636615" y="1317775"/>
                <a:ext cx="1" cy="441049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flipH="1">
                <a:off x="8642711" y="555775"/>
                <a:ext cx="1" cy="441049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/>
              <p:cNvSpPr/>
              <p:nvPr/>
            </p:nvSpPr>
            <p:spPr>
              <a:xfrm>
                <a:off x="8013044" y="965447"/>
                <a:ext cx="1234948" cy="3504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Carnot</a:t>
                </a:r>
              </a:p>
            </p:txBody>
          </p:sp>
          <p:cxnSp>
            <p:nvCxnSpPr>
              <p:cNvPr id="52" name="Straight Arrow Connector 51"/>
              <p:cNvCxnSpPr/>
              <p:nvPr/>
            </p:nvCxnSpPr>
            <p:spPr>
              <a:xfrm flipH="1">
                <a:off x="7325926" y="1152248"/>
                <a:ext cx="696067" cy="218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82261" y="990279"/>
              <a:ext cx="546608" cy="273304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46932" y="1377279"/>
              <a:ext cx="576989" cy="322723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9936405" y="529286"/>
            <a:ext cx="2255595" cy="3455708"/>
            <a:chOff x="9936405" y="529286"/>
            <a:chExt cx="2255595" cy="3455708"/>
          </a:xfrm>
        </p:grpSpPr>
        <p:cxnSp>
          <p:nvCxnSpPr>
            <p:cNvPr id="44" name="Straight Arrow Connector 43"/>
            <p:cNvCxnSpPr/>
            <p:nvPr/>
          </p:nvCxnSpPr>
          <p:spPr>
            <a:xfrm flipH="1" flipV="1">
              <a:off x="10549208" y="2442656"/>
              <a:ext cx="30015" cy="1542338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9941904" y="2086752"/>
              <a:ext cx="1234948" cy="3504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Carnot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H="1" flipV="1">
              <a:off x="10518338" y="529286"/>
              <a:ext cx="30015" cy="1542338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99368" y="2115215"/>
              <a:ext cx="592632" cy="310889"/>
            </a:xfrm>
            <a:prstGeom prst="rect">
              <a:avLst/>
            </a:prstGeom>
          </p:spPr>
        </p:pic>
        <p:cxnSp>
          <p:nvCxnSpPr>
            <p:cNvPr id="57" name="Straight Arrow Connector 56"/>
            <p:cNvCxnSpPr>
              <a:cxnSpLocks/>
              <a:stCxn id="54" idx="1"/>
              <a:endCxn id="50" idx="6"/>
            </p:cNvCxnSpPr>
            <p:nvPr/>
          </p:nvCxnSpPr>
          <p:spPr>
            <a:xfrm flipH="1" flipV="1">
              <a:off x="11176852" y="2261956"/>
              <a:ext cx="422516" cy="8704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36405" y="3190540"/>
              <a:ext cx="550672" cy="324503"/>
            </a:xfrm>
            <a:prstGeom prst="rect">
              <a:avLst/>
            </a:prstGeom>
          </p:spPr>
        </p:pic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2458" y="5475040"/>
            <a:ext cx="2316555" cy="58628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9826884" y="5153920"/>
            <a:ext cx="2184727" cy="1310301"/>
            <a:chOff x="9826884" y="5153920"/>
            <a:chExt cx="2184727" cy="1310301"/>
          </a:xfrm>
        </p:grpSpPr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847960" y="5153920"/>
              <a:ext cx="2163651" cy="5981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826884" y="6202151"/>
              <a:ext cx="1858320" cy="26207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6876272" y="2281206"/>
            <a:ext cx="3065632" cy="2527503"/>
            <a:chOff x="6876272" y="2281206"/>
            <a:chExt cx="3065632" cy="2527503"/>
          </a:xfrm>
        </p:grpSpPr>
        <p:sp>
          <p:nvSpPr>
            <p:cNvPr id="10" name="TextBox 9"/>
            <p:cNvSpPr txBox="1"/>
            <p:nvPr/>
          </p:nvSpPr>
          <p:spPr>
            <a:xfrm>
              <a:off x="8117409" y="3098843"/>
              <a:ext cx="13481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Engine Cycle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7228869" y="2516866"/>
              <a:ext cx="0" cy="2059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228869" y="4576901"/>
              <a:ext cx="2217313" cy="322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/>
            <p:cNvSpPr/>
            <p:nvPr/>
          </p:nvSpPr>
          <p:spPr>
            <a:xfrm>
              <a:off x="7322485" y="2553561"/>
              <a:ext cx="2619419" cy="1829229"/>
            </a:xfrm>
            <a:custGeom>
              <a:avLst/>
              <a:gdLst>
                <a:gd name="connsiteX0" fmla="*/ 583598 w 2415754"/>
                <a:gd name="connsiteY0" fmla="*/ 1314480 h 1611067"/>
                <a:gd name="connsiteX1" fmla="*/ 1291936 w 2415754"/>
                <a:gd name="connsiteY1" fmla="*/ 1610694 h 1611067"/>
                <a:gd name="connsiteX2" fmla="*/ 1601029 w 2415754"/>
                <a:gd name="connsiteY2" fmla="*/ 1250085 h 1611067"/>
                <a:gd name="connsiteX3" fmla="*/ 2386640 w 2415754"/>
                <a:gd name="connsiteY3" fmla="*/ 1018266 h 1611067"/>
                <a:gd name="connsiteX4" fmla="*/ 2180578 w 2415754"/>
                <a:gd name="connsiteY4" fmla="*/ 464474 h 1611067"/>
                <a:gd name="connsiteX5" fmla="*/ 1549513 w 2415754"/>
                <a:gd name="connsiteY5" fmla="*/ 78108 h 1611067"/>
                <a:gd name="connsiteX6" fmla="*/ 673750 w 2415754"/>
                <a:gd name="connsiteY6" fmla="*/ 39471 h 1611067"/>
                <a:gd name="connsiteX7" fmla="*/ 326020 w 2415754"/>
                <a:gd name="connsiteY7" fmla="*/ 528869 h 1611067"/>
                <a:gd name="connsiteX8" fmla="*/ 918448 w 2415754"/>
                <a:gd name="connsiteY8" fmla="*/ 876598 h 1611067"/>
                <a:gd name="connsiteX9" fmla="*/ 4048 w 2415754"/>
                <a:gd name="connsiteY9" fmla="*/ 1108418 h 1611067"/>
                <a:gd name="connsiteX10" fmla="*/ 583598 w 2415754"/>
                <a:gd name="connsiteY10" fmla="*/ 1314480 h 1611067"/>
                <a:gd name="connsiteX0" fmla="*/ 2180578 w 2416669"/>
                <a:gd name="connsiteY0" fmla="*/ 464474 h 1611067"/>
                <a:gd name="connsiteX1" fmla="*/ 1549513 w 2416669"/>
                <a:gd name="connsiteY1" fmla="*/ 78108 h 1611067"/>
                <a:gd name="connsiteX2" fmla="*/ 673750 w 2416669"/>
                <a:gd name="connsiteY2" fmla="*/ 39471 h 1611067"/>
                <a:gd name="connsiteX3" fmla="*/ 326020 w 2416669"/>
                <a:gd name="connsiteY3" fmla="*/ 528869 h 1611067"/>
                <a:gd name="connsiteX4" fmla="*/ 918448 w 2416669"/>
                <a:gd name="connsiteY4" fmla="*/ 876598 h 1611067"/>
                <a:gd name="connsiteX5" fmla="*/ 4048 w 2416669"/>
                <a:gd name="connsiteY5" fmla="*/ 1108418 h 1611067"/>
                <a:gd name="connsiteX6" fmla="*/ 583598 w 2416669"/>
                <a:gd name="connsiteY6" fmla="*/ 1314480 h 1611067"/>
                <a:gd name="connsiteX7" fmla="*/ 1291936 w 2416669"/>
                <a:gd name="connsiteY7" fmla="*/ 1610694 h 1611067"/>
                <a:gd name="connsiteX8" fmla="*/ 1601029 w 2416669"/>
                <a:gd name="connsiteY8" fmla="*/ 1250085 h 1611067"/>
                <a:gd name="connsiteX9" fmla="*/ 2386640 w 2416669"/>
                <a:gd name="connsiteY9" fmla="*/ 1018266 h 1611067"/>
                <a:gd name="connsiteX10" fmla="*/ 2272018 w 2416669"/>
                <a:gd name="connsiteY10" fmla="*/ 555914 h 1611067"/>
                <a:gd name="connsiteX0" fmla="*/ 2180578 w 2410123"/>
                <a:gd name="connsiteY0" fmla="*/ 464474 h 1611067"/>
                <a:gd name="connsiteX1" fmla="*/ 1549513 w 2410123"/>
                <a:gd name="connsiteY1" fmla="*/ 78108 h 1611067"/>
                <a:gd name="connsiteX2" fmla="*/ 673750 w 2410123"/>
                <a:gd name="connsiteY2" fmla="*/ 39471 h 1611067"/>
                <a:gd name="connsiteX3" fmla="*/ 326020 w 2410123"/>
                <a:gd name="connsiteY3" fmla="*/ 528869 h 1611067"/>
                <a:gd name="connsiteX4" fmla="*/ 918448 w 2410123"/>
                <a:gd name="connsiteY4" fmla="*/ 876598 h 1611067"/>
                <a:gd name="connsiteX5" fmla="*/ 4048 w 2410123"/>
                <a:gd name="connsiteY5" fmla="*/ 1108418 h 1611067"/>
                <a:gd name="connsiteX6" fmla="*/ 583598 w 2410123"/>
                <a:gd name="connsiteY6" fmla="*/ 1314480 h 1611067"/>
                <a:gd name="connsiteX7" fmla="*/ 1291936 w 2410123"/>
                <a:gd name="connsiteY7" fmla="*/ 1610694 h 1611067"/>
                <a:gd name="connsiteX8" fmla="*/ 1601029 w 2410123"/>
                <a:gd name="connsiteY8" fmla="*/ 1250085 h 1611067"/>
                <a:gd name="connsiteX9" fmla="*/ 2386640 w 2410123"/>
                <a:gd name="connsiteY9" fmla="*/ 1018266 h 1611067"/>
                <a:gd name="connsiteX10" fmla="*/ 2194745 w 2410123"/>
                <a:gd name="connsiteY10" fmla="*/ 478641 h 1611067"/>
                <a:gd name="connsiteX0" fmla="*/ 2180578 w 2404187"/>
                <a:gd name="connsiteY0" fmla="*/ 464474 h 1611067"/>
                <a:gd name="connsiteX1" fmla="*/ 1549513 w 2404187"/>
                <a:gd name="connsiteY1" fmla="*/ 78108 h 1611067"/>
                <a:gd name="connsiteX2" fmla="*/ 673750 w 2404187"/>
                <a:gd name="connsiteY2" fmla="*/ 39471 h 1611067"/>
                <a:gd name="connsiteX3" fmla="*/ 326020 w 2404187"/>
                <a:gd name="connsiteY3" fmla="*/ 528869 h 1611067"/>
                <a:gd name="connsiteX4" fmla="*/ 918448 w 2404187"/>
                <a:gd name="connsiteY4" fmla="*/ 876598 h 1611067"/>
                <a:gd name="connsiteX5" fmla="*/ 4048 w 2404187"/>
                <a:gd name="connsiteY5" fmla="*/ 1108418 h 1611067"/>
                <a:gd name="connsiteX6" fmla="*/ 583598 w 2404187"/>
                <a:gd name="connsiteY6" fmla="*/ 1314480 h 1611067"/>
                <a:gd name="connsiteX7" fmla="*/ 1291936 w 2404187"/>
                <a:gd name="connsiteY7" fmla="*/ 1610694 h 1611067"/>
                <a:gd name="connsiteX8" fmla="*/ 1601029 w 2404187"/>
                <a:gd name="connsiteY8" fmla="*/ 1250085 h 1611067"/>
                <a:gd name="connsiteX9" fmla="*/ 2386640 w 2404187"/>
                <a:gd name="connsiteY9" fmla="*/ 1018266 h 1611067"/>
                <a:gd name="connsiteX10" fmla="*/ 2143230 w 2404187"/>
                <a:gd name="connsiteY10" fmla="*/ 414246 h 1611067"/>
                <a:gd name="connsiteX0" fmla="*/ 2180578 w 2408483"/>
                <a:gd name="connsiteY0" fmla="*/ 464474 h 1611067"/>
                <a:gd name="connsiteX1" fmla="*/ 1549513 w 2408483"/>
                <a:gd name="connsiteY1" fmla="*/ 78108 h 1611067"/>
                <a:gd name="connsiteX2" fmla="*/ 673750 w 2408483"/>
                <a:gd name="connsiteY2" fmla="*/ 39471 h 1611067"/>
                <a:gd name="connsiteX3" fmla="*/ 326020 w 2408483"/>
                <a:gd name="connsiteY3" fmla="*/ 528869 h 1611067"/>
                <a:gd name="connsiteX4" fmla="*/ 918448 w 2408483"/>
                <a:gd name="connsiteY4" fmla="*/ 876598 h 1611067"/>
                <a:gd name="connsiteX5" fmla="*/ 4048 w 2408483"/>
                <a:gd name="connsiteY5" fmla="*/ 1108418 h 1611067"/>
                <a:gd name="connsiteX6" fmla="*/ 583598 w 2408483"/>
                <a:gd name="connsiteY6" fmla="*/ 1314480 h 1611067"/>
                <a:gd name="connsiteX7" fmla="*/ 1291936 w 2408483"/>
                <a:gd name="connsiteY7" fmla="*/ 1610694 h 1611067"/>
                <a:gd name="connsiteX8" fmla="*/ 1601029 w 2408483"/>
                <a:gd name="connsiteY8" fmla="*/ 1250085 h 1611067"/>
                <a:gd name="connsiteX9" fmla="*/ 2386640 w 2408483"/>
                <a:gd name="connsiteY9" fmla="*/ 1018266 h 1611067"/>
                <a:gd name="connsiteX10" fmla="*/ 2181867 w 2408483"/>
                <a:gd name="connsiteY10" fmla="*/ 452883 h 161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8483" h="1611067">
                  <a:moveTo>
                    <a:pt x="2180578" y="464474"/>
                  </a:moveTo>
                  <a:cubicBezTo>
                    <a:pt x="2041057" y="307781"/>
                    <a:pt x="1800651" y="148942"/>
                    <a:pt x="1549513" y="78108"/>
                  </a:cubicBezTo>
                  <a:cubicBezTo>
                    <a:pt x="1298375" y="7274"/>
                    <a:pt x="877666" y="-35656"/>
                    <a:pt x="673750" y="39471"/>
                  </a:cubicBezTo>
                  <a:cubicBezTo>
                    <a:pt x="469834" y="114598"/>
                    <a:pt x="285237" y="389348"/>
                    <a:pt x="326020" y="528869"/>
                  </a:cubicBezTo>
                  <a:cubicBezTo>
                    <a:pt x="366803" y="668390"/>
                    <a:pt x="972110" y="780006"/>
                    <a:pt x="918448" y="876598"/>
                  </a:cubicBezTo>
                  <a:cubicBezTo>
                    <a:pt x="864786" y="973189"/>
                    <a:pt x="53417" y="1033291"/>
                    <a:pt x="4048" y="1108418"/>
                  </a:cubicBezTo>
                  <a:cubicBezTo>
                    <a:pt x="-45321" y="1183545"/>
                    <a:pt x="368950" y="1230767"/>
                    <a:pt x="583598" y="1314480"/>
                  </a:cubicBezTo>
                  <a:cubicBezTo>
                    <a:pt x="798246" y="1398193"/>
                    <a:pt x="1122364" y="1621427"/>
                    <a:pt x="1291936" y="1610694"/>
                  </a:cubicBezTo>
                  <a:cubicBezTo>
                    <a:pt x="1461508" y="1599961"/>
                    <a:pt x="1418578" y="1348823"/>
                    <a:pt x="1601029" y="1250085"/>
                  </a:cubicBezTo>
                  <a:cubicBezTo>
                    <a:pt x="1783480" y="1151347"/>
                    <a:pt x="2289834" y="1151133"/>
                    <a:pt x="2386640" y="1018266"/>
                  </a:cubicBezTo>
                  <a:cubicBezTo>
                    <a:pt x="2483446" y="885399"/>
                    <a:pt x="2229948" y="518136"/>
                    <a:pt x="2181867" y="452883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876272" y="2281206"/>
              <a:ext cx="342900" cy="3175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466529" y="4465809"/>
              <a:ext cx="342900" cy="342900"/>
            </a:xfrm>
            <a:prstGeom prst="rect">
              <a:avLst/>
            </a:prstGeom>
          </p:spPr>
        </p:pic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53969" y="1024394"/>
            <a:ext cx="1461965" cy="294176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3285014" y="6025429"/>
            <a:ext cx="9101849" cy="781380"/>
            <a:chOff x="3285014" y="6025429"/>
            <a:chExt cx="9101849" cy="781380"/>
          </a:xfrm>
        </p:grpSpPr>
        <p:sp>
          <p:nvSpPr>
            <p:cNvPr id="30" name="Right Brace 29"/>
            <p:cNvSpPr/>
            <p:nvPr/>
          </p:nvSpPr>
          <p:spPr>
            <a:xfrm rot="5400000">
              <a:off x="7072953" y="5422134"/>
              <a:ext cx="304830" cy="15114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285014" y="6437477"/>
              <a:ext cx="91018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 work done to the environment ≤ 0 (Kelvin: cannot turn all the heat to +work)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50C2AF5-ECD7-474A-B4B1-996D43AE1AF4}"/>
              </a:ext>
            </a:extLst>
          </p:cNvPr>
          <p:cNvGrpSpPr/>
          <p:nvPr/>
        </p:nvGrpSpPr>
        <p:grpSpPr>
          <a:xfrm>
            <a:off x="4525075" y="5429380"/>
            <a:ext cx="4415974" cy="736628"/>
            <a:chOff x="4525075" y="5429380"/>
            <a:chExt cx="4415974" cy="736628"/>
          </a:xfrm>
        </p:grpSpPr>
        <p:sp>
          <p:nvSpPr>
            <p:cNvPr id="23" name="Right Arrow 22"/>
            <p:cNvSpPr/>
            <p:nvPr/>
          </p:nvSpPr>
          <p:spPr>
            <a:xfrm flipH="1">
              <a:off x="8030579" y="5636993"/>
              <a:ext cx="910470" cy="31518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525075" y="5429380"/>
              <a:ext cx="3310864" cy="73662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C21F2D-BE28-486C-834E-1559762AB09E}"/>
              </a:ext>
            </a:extLst>
          </p:cNvPr>
          <p:cNvGrpSpPr/>
          <p:nvPr/>
        </p:nvGrpSpPr>
        <p:grpSpPr>
          <a:xfrm>
            <a:off x="1958905" y="5640678"/>
            <a:ext cx="1763707" cy="553010"/>
            <a:chOff x="1958905" y="5640678"/>
            <a:chExt cx="1763707" cy="553010"/>
          </a:xfrm>
        </p:grpSpPr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329114" y="5647493"/>
              <a:ext cx="1393498" cy="546195"/>
            </a:xfrm>
            <a:prstGeom prst="rect">
              <a:avLst/>
            </a:prstGeom>
          </p:spPr>
        </p:pic>
        <p:sp>
          <p:nvSpPr>
            <p:cNvPr id="65" name="Right Arrow 22">
              <a:extLst>
                <a:ext uri="{FF2B5EF4-FFF2-40B4-BE49-F238E27FC236}">
                  <a16:creationId xmlns:a16="http://schemas.microsoft.com/office/drawing/2014/main" id="{6ECF0CBB-FE07-4731-9D07-9ECBCFB595B8}"/>
                </a:ext>
              </a:extLst>
            </p:cNvPr>
            <p:cNvSpPr/>
            <p:nvPr/>
          </p:nvSpPr>
          <p:spPr>
            <a:xfrm rot="10800000" flipH="1">
              <a:off x="1958905" y="5640678"/>
              <a:ext cx="265109" cy="31149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Arc 25"/>
          <p:cNvSpPr/>
          <p:nvPr/>
        </p:nvSpPr>
        <p:spPr>
          <a:xfrm>
            <a:off x="7655374" y="1949396"/>
            <a:ext cx="2804857" cy="3419722"/>
          </a:xfrm>
          <a:prstGeom prst="arc">
            <a:avLst>
              <a:gd name="adj1" fmla="val 16200000"/>
              <a:gd name="adj2" fmla="val 340098"/>
            </a:avLst>
          </a:prstGeom>
          <a:ln w="28575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8990659">
            <a:off x="7257694" y="1724659"/>
            <a:ext cx="3312585" cy="3419722"/>
          </a:xfrm>
          <a:prstGeom prst="arc">
            <a:avLst>
              <a:gd name="adj1" fmla="val 15304271"/>
              <a:gd name="adj2" fmla="val 5555147"/>
            </a:avLst>
          </a:prstGeom>
          <a:ln w="28575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92D68A7-B974-4C6C-BADF-A0C2820DA1CD}"/>
              </a:ext>
            </a:extLst>
          </p:cNvPr>
          <p:cNvGrpSpPr/>
          <p:nvPr/>
        </p:nvGrpSpPr>
        <p:grpSpPr>
          <a:xfrm>
            <a:off x="-36298" y="2984938"/>
            <a:ext cx="1112036" cy="444062"/>
            <a:chOff x="-36298" y="2984938"/>
            <a:chExt cx="1112036" cy="444062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E8FD861-3826-4990-9E5F-EB513C125FBF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7293B7-C7E4-4BF8-A6E0-44C27397BB29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184AC34-55F1-4D72-8824-F68C3644EB35}"/>
              </a:ext>
            </a:extLst>
          </p:cNvPr>
          <p:cNvGrpSpPr/>
          <p:nvPr/>
        </p:nvGrpSpPr>
        <p:grpSpPr>
          <a:xfrm>
            <a:off x="-36298" y="3596868"/>
            <a:ext cx="1112036" cy="444062"/>
            <a:chOff x="-36298" y="2984938"/>
            <a:chExt cx="1112036" cy="444062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D30AC44-DEE5-454E-9F48-B70EB7A46F61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C831A15-9842-4CEE-A510-C6AE5816CB25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9D40B47-E986-40DA-918B-87D28013668F}"/>
              </a:ext>
            </a:extLst>
          </p:cNvPr>
          <p:cNvGrpSpPr/>
          <p:nvPr/>
        </p:nvGrpSpPr>
        <p:grpSpPr>
          <a:xfrm>
            <a:off x="-42799" y="4400911"/>
            <a:ext cx="1112036" cy="444062"/>
            <a:chOff x="-36298" y="2984938"/>
            <a:chExt cx="1112036" cy="444062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6B5DD0C-F512-497A-99D7-81224CCC96E5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79FE2CA-D5C8-40D7-91FB-7A436FF9EA6C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45762DF-5294-43FD-883C-C82C07647F4A}"/>
              </a:ext>
            </a:extLst>
          </p:cNvPr>
          <p:cNvSpPr txBox="1"/>
          <p:nvPr/>
        </p:nvSpPr>
        <p:spPr>
          <a:xfrm>
            <a:off x="177930" y="6325329"/>
            <a:ext cx="2533733" cy="37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0" i="0" dirty="0">
                <a:solidFill>
                  <a:srgbClr val="111111"/>
                </a:solidFill>
                <a:effectLst/>
                <a:latin typeface="Roboto" panose="020B0604020202020204" pitchFamily="2" charset="0"/>
              </a:rPr>
              <a:t>Reversible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⇒</a:t>
            </a:r>
            <a:r>
              <a:rPr lang="en-MY" b="0" i="0" dirty="0">
                <a:solidFill>
                  <a:srgbClr val="111111"/>
                </a:solidFill>
                <a:effectLst/>
                <a:latin typeface="Roboto" panose="020B0604020202020204" pitchFamily="2" charset="0"/>
              </a:rPr>
              <a:t> Equality </a:t>
            </a:r>
            <a:endParaRPr lang="en-M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0EA4B7-604E-4B9D-A599-7D3893F73403}"/>
              </a:ext>
            </a:extLst>
          </p:cNvPr>
          <p:cNvSpPr txBox="1"/>
          <p:nvPr/>
        </p:nvSpPr>
        <p:spPr>
          <a:xfrm>
            <a:off x="9664064" y="4628013"/>
            <a:ext cx="2308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Engine efficiency: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91FA346-8856-483A-A95A-355BCC034C2C}"/>
              </a:ext>
            </a:extLst>
          </p:cNvPr>
          <p:cNvGrpSpPr/>
          <p:nvPr/>
        </p:nvGrpSpPr>
        <p:grpSpPr>
          <a:xfrm>
            <a:off x="4525075" y="5396246"/>
            <a:ext cx="753204" cy="805905"/>
            <a:chOff x="4525075" y="5396246"/>
            <a:chExt cx="753204" cy="80590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834EED4-785A-4D29-8EC5-AB263E2BE6BC}"/>
                </a:ext>
              </a:extLst>
            </p:cNvPr>
            <p:cNvSpPr/>
            <p:nvPr/>
          </p:nvSpPr>
          <p:spPr>
            <a:xfrm>
              <a:off x="4525075" y="5396246"/>
              <a:ext cx="753204" cy="805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006311" y="5452991"/>
              <a:ext cx="230138" cy="55791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18E75AD-91A7-42AB-ABFD-C4BEA5F70084}"/>
              </a:ext>
            </a:extLst>
          </p:cNvPr>
          <p:cNvGrpSpPr/>
          <p:nvPr/>
        </p:nvGrpSpPr>
        <p:grpSpPr>
          <a:xfrm>
            <a:off x="5855713" y="5409266"/>
            <a:ext cx="2157331" cy="966576"/>
            <a:chOff x="5855713" y="5409266"/>
            <a:chExt cx="2157331" cy="96657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D4064EB-A91B-4153-96C6-5B8988A7EA96}"/>
                </a:ext>
              </a:extLst>
            </p:cNvPr>
            <p:cNvSpPr/>
            <p:nvPr/>
          </p:nvSpPr>
          <p:spPr>
            <a:xfrm>
              <a:off x="5911951" y="5409266"/>
              <a:ext cx="2101093" cy="966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21AFAAC-FA28-4BAA-87BC-67AFAD501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855713" y="5486118"/>
              <a:ext cx="664181" cy="5031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33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3" grpId="0" animBg="1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7909665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89415" y="5358411"/>
            <a:ext cx="235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entropy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442" y="1527982"/>
            <a:ext cx="1220409" cy="128042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208" y="2884343"/>
            <a:ext cx="1351170" cy="4323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58208" y="1152939"/>
            <a:ext cx="174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Reversible cycle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197224" y="3607921"/>
            <a:ext cx="4857671" cy="997746"/>
            <a:chOff x="7197224" y="3607921"/>
            <a:chExt cx="4857671" cy="997746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97224" y="3607921"/>
              <a:ext cx="4857671" cy="693953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8462269" y="4236335"/>
              <a:ext cx="1972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Path independent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470284" y="4810181"/>
            <a:ext cx="3284622" cy="908245"/>
            <a:chOff x="7470284" y="4810181"/>
            <a:chExt cx="3284622" cy="90824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90177" y="5053346"/>
              <a:ext cx="2364729" cy="66508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7470284" y="4810181"/>
              <a:ext cx="11042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Entropy 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EA87F9-1E3F-4339-B560-D8E7B01476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4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1C4A702-0D9B-4CAC-AB4A-5E54CB233BAD}"/>
              </a:ext>
            </a:extLst>
          </p:cNvPr>
          <p:cNvGrpSpPr/>
          <p:nvPr/>
        </p:nvGrpSpPr>
        <p:grpSpPr>
          <a:xfrm>
            <a:off x="6070776" y="1849821"/>
            <a:ext cx="2219100" cy="942592"/>
            <a:chOff x="6070776" y="1849821"/>
            <a:chExt cx="2219100" cy="9425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A4A075-9730-4CC7-9349-A7AEC6672ADD}"/>
                </a:ext>
              </a:extLst>
            </p:cNvPr>
            <p:cNvSpPr/>
            <p:nvPr/>
          </p:nvSpPr>
          <p:spPr>
            <a:xfrm>
              <a:off x="6070776" y="1849821"/>
              <a:ext cx="2219100" cy="942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714D1AB-1D7F-4B01-9CAA-B99CF4DC2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28869" y="2091814"/>
              <a:ext cx="910954" cy="439210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54516D3-C148-409E-9F2A-030A3679B24E}"/>
              </a:ext>
            </a:extLst>
          </p:cNvPr>
          <p:cNvSpPr/>
          <p:nvPr/>
        </p:nvSpPr>
        <p:spPr>
          <a:xfrm>
            <a:off x="6074187" y="1856803"/>
            <a:ext cx="813225" cy="9425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397C2-54B1-4097-AF0D-EFA84AAA95D0}"/>
              </a:ext>
            </a:extLst>
          </p:cNvPr>
          <p:cNvSpPr/>
          <p:nvPr/>
        </p:nvSpPr>
        <p:spPr>
          <a:xfrm>
            <a:off x="6070776" y="1849821"/>
            <a:ext cx="2219100" cy="958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7909665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522" y="902453"/>
            <a:ext cx="3006598" cy="22196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0561" y="3187481"/>
            <a:ext cx="2423023" cy="750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5698" y="4187662"/>
            <a:ext cx="2238502" cy="6457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589" y="5122005"/>
            <a:ext cx="2219101" cy="60179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445337" y="5882779"/>
            <a:ext cx="4587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 always increase in a isolated system.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9413" y="6518579"/>
            <a:ext cx="901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Determine the evolution of the system. Equilibrium state has the maximum entropy.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2424" y="5173828"/>
            <a:ext cx="828059" cy="4893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029" y="6023332"/>
            <a:ext cx="1072135" cy="19044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9872" y="5861292"/>
            <a:ext cx="1962049" cy="51452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8057" y="6028597"/>
            <a:ext cx="383322" cy="1880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9415" y="5358411"/>
            <a:ext cx="235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entropy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0032683" y="833179"/>
            <a:ext cx="1358046" cy="571582"/>
            <a:chOff x="10032683" y="833179"/>
            <a:chExt cx="1358046" cy="571582"/>
          </a:xfrm>
        </p:grpSpPr>
        <p:grpSp>
          <p:nvGrpSpPr>
            <p:cNvPr id="22" name="Group 21"/>
            <p:cNvGrpSpPr/>
            <p:nvPr/>
          </p:nvGrpSpPr>
          <p:grpSpPr>
            <a:xfrm>
              <a:off x="10032683" y="833179"/>
              <a:ext cx="1358046" cy="438606"/>
              <a:chOff x="10032683" y="833179"/>
              <a:chExt cx="1358046" cy="4386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0369296" y="833179"/>
                <a:ext cx="10214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isolated 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>
                <a:off x="10032683" y="1087119"/>
                <a:ext cx="336613" cy="1846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01082" y="1179452"/>
              <a:ext cx="757859" cy="225309"/>
            </a:xfrm>
            <a:prstGeom prst="rect">
              <a:avLst/>
            </a:prstGeom>
          </p:spPr>
        </p:pic>
      </p:grpSp>
      <p:sp>
        <p:nvSpPr>
          <p:cNvPr id="25" name="Rounded Rectangle 24"/>
          <p:cNvSpPr/>
          <p:nvPr/>
        </p:nvSpPr>
        <p:spPr>
          <a:xfrm>
            <a:off x="2566122" y="5723795"/>
            <a:ext cx="2641982" cy="74773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E1E7A-B36B-4F50-B329-F677C1C603BF}"/>
              </a:ext>
            </a:extLst>
          </p:cNvPr>
          <p:cNvSpPr/>
          <p:nvPr/>
        </p:nvSpPr>
        <p:spPr>
          <a:xfrm>
            <a:off x="6894511" y="1849822"/>
            <a:ext cx="95224" cy="949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3FF4F8FF-A7BC-43F3-9455-3741037F89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12463" y="2017477"/>
            <a:ext cx="871538" cy="42784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534F81A-7FC9-405D-9018-40552BC58F67}"/>
              </a:ext>
            </a:extLst>
          </p:cNvPr>
          <p:cNvSpPr/>
          <p:nvPr/>
        </p:nvSpPr>
        <p:spPr>
          <a:xfrm>
            <a:off x="8204483" y="1842839"/>
            <a:ext cx="95224" cy="949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B774C5-0646-4ABE-BCED-523B1EF58D72}"/>
              </a:ext>
            </a:extLst>
          </p:cNvPr>
          <p:cNvGrpSpPr/>
          <p:nvPr/>
        </p:nvGrpSpPr>
        <p:grpSpPr>
          <a:xfrm>
            <a:off x="7047954" y="2153274"/>
            <a:ext cx="975541" cy="406037"/>
            <a:chOff x="7276554" y="2153274"/>
            <a:chExt cx="975541" cy="406037"/>
          </a:xfrm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5465A622-2F4E-472E-893F-DB1527A9B091}"/>
                </a:ext>
              </a:extLst>
            </p:cNvPr>
            <p:cNvSpPr/>
            <p:nvPr/>
          </p:nvSpPr>
          <p:spPr>
            <a:xfrm rot="10800000">
              <a:off x="7276554" y="2231400"/>
              <a:ext cx="574826" cy="228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819018B-637A-448F-A680-5B122D429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78385" y="2153274"/>
              <a:ext cx="473710" cy="406037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DE5091C-817A-4A5F-A2CF-1574831DBDC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7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96296E-6 L -0.10742 0.0020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78" y="9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2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55" grpId="0"/>
      <p:bldP spid="58" grpId="0"/>
      <p:bldP spid="25" grpId="0" animBg="1"/>
      <p:bldP spid="9" grpId="0" animBg="1"/>
      <p:bldP spid="35" grpId="0" animBg="1"/>
      <p:bldP spid="3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104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Condition for equilibrium?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01085A-2DE4-4C0B-B786-2BD57CB5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6B14E-41CF-4D08-9B33-83E006EFC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699" y="3052822"/>
            <a:ext cx="2407534" cy="3761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68DE03-6838-4F1D-AECF-A9D8A0A80C27}"/>
              </a:ext>
            </a:extLst>
          </p:cNvPr>
          <p:cNvSpPr txBox="1"/>
          <p:nvPr/>
        </p:nvSpPr>
        <p:spPr>
          <a:xfrm flipH="1">
            <a:off x="3387285" y="2695864"/>
            <a:ext cx="164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  <a:r>
              <a:rPr lang="en-MY" baseline="30000" dirty="0"/>
              <a:t>st</a:t>
            </a:r>
            <a:r>
              <a:rPr lang="en-MY" dirty="0"/>
              <a:t> law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5AA7D5-D67A-4948-A9F2-E97266D75408}"/>
              </a:ext>
            </a:extLst>
          </p:cNvPr>
          <p:cNvSpPr txBox="1"/>
          <p:nvPr/>
        </p:nvSpPr>
        <p:spPr>
          <a:xfrm flipH="1">
            <a:off x="7163876" y="2590601"/>
            <a:ext cx="164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</a:t>
            </a:r>
            <a:r>
              <a:rPr lang="en-MY" baseline="30000" dirty="0"/>
              <a:t>nd</a:t>
            </a:r>
            <a:r>
              <a:rPr lang="en-MY" dirty="0"/>
              <a:t> law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BA0C64E-1A5B-4676-A258-D11B6A394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354" y="3027421"/>
            <a:ext cx="1504709" cy="34724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C650E7-3EF5-471C-9BA1-0B449A32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997" y="3584448"/>
            <a:ext cx="5301205" cy="105329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FBC5F6F-29E4-4334-B9FF-86119E9307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3876" y="4092883"/>
            <a:ext cx="1504708" cy="429916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2330D03-5E90-48AF-9C2F-53CF40AFE763}"/>
              </a:ext>
            </a:extLst>
          </p:cNvPr>
          <p:cNvGrpSpPr/>
          <p:nvPr/>
        </p:nvGrpSpPr>
        <p:grpSpPr>
          <a:xfrm>
            <a:off x="518160" y="3935324"/>
            <a:ext cx="3535682" cy="613391"/>
            <a:chOff x="518160" y="3935324"/>
            <a:chExt cx="3535682" cy="61339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EF9CB4-C917-4B5A-A400-5F2434D0FEAB}"/>
                </a:ext>
              </a:extLst>
            </p:cNvPr>
            <p:cNvSpPr txBox="1"/>
            <p:nvPr/>
          </p:nvSpPr>
          <p:spPr>
            <a:xfrm flipH="1">
              <a:off x="518160" y="4179383"/>
              <a:ext cx="3535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chemeClr val="accent2"/>
                  </a:solidFill>
                </a:rPr>
                <a:t>Each steps are in equilibrium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3DDC274-1E0D-404A-A5AD-9AA04D324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040" y="3935324"/>
              <a:ext cx="477520" cy="331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2C1D222-798B-430F-9662-C20923802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4884" y="5523550"/>
            <a:ext cx="1041722" cy="34724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705F98E-6B6C-4EEE-A63A-3DD8C4B60C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7705" y="4945190"/>
            <a:ext cx="2060294" cy="1788289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19492C3A-7C50-4686-ABBF-801F187F29CC}"/>
              </a:ext>
            </a:extLst>
          </p:cNvPr>
          <p:cNvGrpSpPr/>
          <p:nvPr/>
        </p:nvGrpSpPr>
        <p:grpSpPr>
          <a:xfrm>
            <a:off x="518160" y="5878920"/>
            <a:ext cx="3535682" cy="674678"/>
            <a:chOff x="1662319" y="3935324"/>
            <a:chExt cx="3535682" cy="67467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7AE1A6E-B411-42B5-AA69-9CE4D52E0C9A}"/>
                </a:ext>
              </a:extLst>
            </p:cNvPr>
            <p:cNvSpPr txBox="1"/>
            <p:nvPr/>
          </p:nvSpPr>
          <p:spPr>
            <a:xfrm flipH="1">
              <a:off x="1662319" y="4240670"/>
              <a:ext cx="3535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chemeClr val="accent2"/>
                  </a:solidFill>
                </a:rPr>
                <a:t>Function of entropy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0D3375B-B4DB-478A-AE53-5A922E605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040" y="3935324"/>
              <a:ext cx="477520" cy="331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E09A70B-EB14-4B4D-A67F-CBCA8EFB56C5}"/>
              </a:ext>
            </a:extLst>
          </p:cNvPr>
          <p:cNvSpPr txBox="1"/>
          <p:nvPr/>
        </p:nvSpPr>
        <p:spPr>
          <a:xfrm flipH="1">
            <a:off x="7163876" y="5564466"/>
            <a:ext cx="450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May not convenient for measurements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88790A-ACB9-4D89-9D94-1AD03DCFB9AC}"/>
              </a:ext>
            </a:extLst>
          </p:cNvPr>
          <p:cNvSpPr txBox="1"/>
          <p:nvPr/>
        </p:nvSpPr>
        <p:spPr>
          <a:xfrm flipH="1">
            <a:off x="7163876" y="6174641"/>
            <a:ext cx="4285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Instead of described by internal energy,</a:t>
            </a:r>
          </a:p>
          <a:p>
            <a:r>
              <a:rPr lang="en-MY" dirty="0"/>
              <a:t>we use thermodynamics potential.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400E27-6E20-47F1-B6C6-076F22775F37}"/>
              </a:ext>
            </a:extLst>
          </p:cNvPr>
          <p:cNvGrpSpPr/>
          <p:nvPr/>
        </p:nvGrpSpPr>
        <p:grpSpPr>
          <a:xfrm>
            <a:off x="4009706" y="2510318"/>
            <a:ext cx="3433635" cy="640302"/>
            <a:chOff x="8768080" y="4807732"/>
            <a:chExt cx="3433635" cy="64030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2BA3B98-7990-4DEC-821A-0624245630CF}"/>
                </a:ext>
              </a:extLst>
            </p:cNvPr>
            <p:cNvSpPr txBox="1"/>
            <p:nvPr/>
          </p:nvSpPr>
          <p:spPr>
            <a:xfrm flipH="1">
              <a:off x="9083361" y="4807732"/>
              <a:ext cx="31183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watch the sign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3897A6B-2AD4-471B-9A74-FA2FB20EA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080" y="5072681"/>
              <a:ext cx="389574" cy="3753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866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03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reach equilibrium?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0351" y="2620190"/>
            <a:ext cx="7572953" cy="964258"/>
          </a:xfrm>
          <a:custGeom>
            <a:avLst/>
            <a:gdLst>
              <a:gd name="connsiteX0" fmla="*/ 0 w 6568973"/>
              <a:gd name="connsiteY0" fmla="*/ 0 h 836422"/>
              <a:gd name="connsiteX1" fmla="*/ 6568973 w 6568973"/>
              <a:gd name="connsiteY1" fmla="*/ 0 h 836422"/>
              <a:gd name="connsiteX2" fmla="*/ 6568973 w 6568973"/>
              <a:gd name="connsiteY2" fmla="*/ 580210 h 836422"/>
              <a:gd name="connsiteX3" fmla="*/ 548641 w 6568973"/>
              <a:gd name="connsiteY3" fmla="*/ 580210 h 836422"/>
              <a:gd name="connsiteX4" fmla="*/ 548641 w 6568973"/>
              <a:gd name="connsiteY4" fmla="*/ 836422 h 836422"/>
              <a:gd name="connsiteX5" fmla="*/ 0 w 6568973"/>
              <a:gd name="connsiteY5" fmla="*/ 836422 h 836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8973" h="836422">
                <a:moveTo>
                  <a:pt x="0" y="0"/>
                </a:moveTo>
                <a:lnTo>
                  <a:pt x="6568973" y="0"/>
                </a:lnTo>
                <a:lnTo>
                  <a:pt x="6568973" y="580210"/>
                </a:lnTo>
                <a:lnTo>
                  <a:pt x="548641" y="580210"/>
                </a:lnTo>
                <a:lnTo>
                  <a:pt x="548641" y="836422"/>
                </a:lnTo>
                <a:lnTo>
                  <a:pt x="0" y="836422"/>
                </a:lnTo>
                <a:close/>
              </a:path>
            </a:pathLst>
          </a:cu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911" y="2649912"/>
            <a:ext cx="1971757" cy="5687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2D889A-2022-47F8-BE8B-C9C1D2576A1B}"/>
              </a:ext>
            </a:extLst>
          </p:cNvPr>
          <p:cNvGrpSpPr/>
          <p:nvPr/>
        </p:nvGrpSpPr>
        <p:grpSpPr>
          <a:xfrm>
            <a:off x="530351" y="3582124"/>
            <a:ext cx="10213849" cy="672084"/>
            <a:chOff x="530351" y="3582124"/>
            <a:chExt cx="10213849" cy="67208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A0154E-7C74-4C95-86A4-420701A59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0351" y="3676429"/>
              <a:ext cx="7395573" cy="577779"/>
            </a:xfrm>
            <a:custGeom>
              <a:avLst/>
              <a:gdLst>
                <a:gd name="connsiteX0" fmla="*/ 0 w 7395573"/>
                <a:gd name="connsiteY0" fmla="*/ 0 h 577779"/>
                <a:gd name="connsiteX1" fmla="*/ 7395573 w 7395573"/>
                <a:gd name="connsiteY1" fmla="*/ 0 h 577779"/>
                <a:gd name="connsiteX2" fmla="*/ 7395573 w 7395573"/>
                <a:gd name="connsiteY2" fmla="*/ 297115 h 577779"/>
                <a:gd name="connsiteX3" fmla="*/ 3894504 w 7395573"/>
                <a:gd name="connsiteY3" fmla="*/ 297115 h 577779"/>
                <a:gd name="connsiteX4" fmla="*/ 3894504 w 7395573"/>
                <a:gd name="connsiteY4" fmla="*/ 365219 h 577779"/>
                <a:gd name="connsiteX5" fmla="*/ 3840481 w 7395573"/>
                <a:gd name="connsiteY5" fmla="*/ 365219 h 577779"/>
                <a:gd name="connsiteX6" fmla="*/ 3840481 w 7395573"/>
                <a:gd name="connsiteY6" fmla="*/ 577779 h 577779"/>
                <a:gd name="connsiteX7" fmla="*/ 0 w 7395573"/>
                <a:gd name="connsiteY7" fmla="*/ 577779 h 5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95573" h="577779">
                  <a:moveTo>
                    <a:pt x="0" y="0"/>
                  </a:moveTo>
                  <a:lnTo>
                    <a:pt x="7395573" y="0"/>
                  </a:lnTo>
                  <a:lnTo>
                    <a:pt x="7395573" y="297115"/>
                  </a:lnTo>
                  <a:lnTo>
                    <a:pt x="3894504" y="297115"/>
                  </a:lnTo>
                  <a:lnTo>
                    <a:pt x="3894504" y="365219"/>
                  </a:lnTo>
                  <a:lnTo>
                    <a:pt x="3840481" y="365219"/>
                  </a:lnTo>
                  <a:lnTo>
                    <a:pt x="3840481" y="577779"/>
                  </a:lnTo>
                  <a:lnTo>
                    <a:pt x="0" y="577779"/>
                  </a:lnTo>
                  <a:close/>
                </a:path>
              </a:pathLst>
            </a:cu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47911" y="3582124"/>
              <a:ext cx="1796289" cy="5466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BD4A39-3CEB-40D1-9191-F1E8E709319D}"/>
              </a:ext>
            </a:extLst>
          </p:cNvPr>
          <p:cNvGrpSpPr/>
          <p:nvPr/>
        </p:nvGrpSpPr>
        <p:grpSpPr>
          <a:xfrm>
            <a:off x="530351" y="4413512"/>
            <a:ext cx="10844785" cy="643448"/>
            <a:chOff x="530351" y="4413512"/>
            <a:chExt cx="10844785" cy="64344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0D975A-5FB4-4D00-BF6A-24F2D4234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0351" y="4449707"/>
              <a:ext cx="7242050" cy="607253"/>
            </a:xfrm>
            <a:custGeom>
              <a:avLst/>
              <a:gdLst>
                <a:gd name="connsiteX0" fmla="*/ 0 w 7242050"/>
                <a:gd name="connsiteY0" fmla="*/ 0 h 607253"/>
                <a:gd name="connsiteX1" fmla="*/ 7242050 w 7242050"/>
                <a:gd name="connsiteY1" fmla="*/ 0 h 607253"/>
                <a:gd name="connsiteX2" fmla="*/ 7242050 w 7242050"/>
                <a:gd name="connsiteY2" fmla="*/ 294498 h 607253"/>
                <a:gd name="connsiteX3" fmla="*/ 3579194 w 7242050"/>
                <a:gd name="connsiteY3" fmla="*/ 294498 h 607253"/>
                <a:gd name="connsiteX4" fmla="*/ 3579194 w 7242050"/>
                <a:gd name="connsiteY4" fmla="*/ 607253 h 607253"/>
                <a:gd name="connsiteX5" fmla="*/ 0 w 7242050"/>
                <a:gd name="connsiteY5" fmla="*/ 607253 h 60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050" h="607253">
                  <a:moveTo>
                    <a:pt x="0" y="0"/>
                  </a:moveTo>
                  <a:lnTo>
                    <a:pt x="7242050" y="0"/>
                  </a:lnTo>
                  <a:lnTo>
                    <a:pt x="7242050" y="294498"/>
                  </a:lnTo>
                  <a:lnTo>
                    <a:pt x="3579194" y="294498"/>
                  </a:lnTo>
                  <a:lnTo>
                    <a:pt x="3579194" y="607253"/>
                  </a:lnTo>
                  <a:lnTo>
                    <a:pt x="0" y="607253"/>
                  </a:lnTo>
                  <a:close/>
                </a:path>
              </a:pathLst>
            </a:cu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97038" y="4413512"/>
              <a:ext cx="2578098" cy="49443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335024" y="51795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</a:t>
            </a:r>
            <a:r>
              <a:rPr lang="en-US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699267" y="3294372"/>
            <a:ext cx="4469044" cy="895742"/>
            <a:chOff x="7602820" y="4804424"/>
            <a:chExt cx="4469044" cy="895742"/>
          </a:xfrm>
        </p:grpSpPr>
        <p:sp>
          <p:nvSpPr>
            <p:cNvPr id="22" name="TextBox 21"/>
            <p:cNvSpPr txBox="1"/>
            <p:nvPr/>
          </p:nvSpPr>
          <p:spPr>
            <a:xfrm>
              <a:off x="7602820" y="5300056"/>
              <a:ext cx="44690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Minimize the potentials</a:t>
              </a:r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⇒ </a:t>
              </a:r>
              <a:r>
                <a:rPr lang="en-US" sz="2000" dirty="0"/>
                <a:t>equilibrium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8947911" y="4804424"/>
              <a:ext cx="0" cy="4442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A55AC8-27F9-49AB-8593-A015D9E96522}"/>
              </a:ext>
            </a:extLst>
          </p:cNvPr>
          <p:cNvGrpSpPr/>
          <p:nvPr/>
        </p:nvGrpSpPr>
        <p:grpSpPr>
          <a:xfrm>
            <a:off x="2486113" y="3307097"/>
            <a:ext cx="2942721" cy="2918497"/>
            <a:chOff x="2486113" y="3307097"/>
            <a:chExt cx="2942721" cy="291849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A405FC-D54B-4C85-AF61-605B4AA46FE0}"/>
                </a:ext>
              </a:extLst>
            </p:cNvPr>
            <p:cNvGrpSpPr/>
            <p:nvPr/>
          </p:nvGrpSpPr>
          <p:grpSpPr>
            <a:xfrm>
              <a:off x="2486113" y="3307097"/>
              <a:ext cx="2942721" cy="2343730"/>
              <a:chOff x="2486113" y="3307097"/>
              <a:chExt cx="2942721" cy="2343730"/>
            </a:xfrm>
          </p:grpSpPr>
          <p:pic>
            <p:nvPicPr>
              <p:cNvPr id="12" name="Picture 2" descr="Isentrophic Compression | Glenn Research Center | NASA">
                <a:extLst>
                  <a:ext uri="{FF2B5EF4-FFF2-40B4-BE49-F238E27FC236}">
                    <a16:creationId xmlns:a16="http://schemas.microsoft.com/office/drawing/2014/main" id="{1F4F6621-EE43-4DDB-96B4-29B3B2258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39" r="68822" b="38266"/>
              <a:stretch/>
            </p:blipFill>
            <p:spPr bwMode="auto">
              <a:xfrm>
                <a:off x="2486113" y="3676429"/>
                <a:ext cx="1830714" cy="1974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D6DD2BE-5FA2-47EA-91A1-ECE3EBDD4BCE}"/>
                  </a:ext>
                </a:extLst>
              </p:cNvPr>
              <p:cNvGrpSpPr/>
              <p:nvPr/>
            </p:nvGrpSpPr>
            <p:grpSpPr>
              <a:xfrm>
                <a:off x="3677896" y="3307097"/>
                <a:ext cx="1750938" cy="987174"/>
                <a:chOff x="3677896" y="3307097"/>
                <a:chExt cx="1750938" cy="987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906817-67E8-43C8-BBB3-87466B463BF8}"/>
                    </a:ext>
                  </a:extLst>
                </p:cNvPr>
                <p:cNvSpPr txBox="1"/>
                <p:nvPr/>
              </p:nvSpPr>
              <p:spPr>
                <a:xfrm>
                  <a:off x="3863662" y="3307097"/>
                  <a:ext cx="15651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External force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F014CFC-41D6-4056-A1B8-C84C18207388}"/>
                    </a:ext>
                  </a:extLst>
                </p:cNvPr>
                <p:cNvCxnSpPr>
                  <a:cxnSpLocks/>
                  <a:stCxn id="13" idx="1"/>
                </p:cNvCxnSpPr>
                <p:nvPr/>
              </p:nvCxnSpPr>
              <p:spPr>
                <a:xfrm flipH="1">
                  <a:off x="3677896" y="3491763"/>
                  <a:ext cx="185766" cy="8025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9" name="Picture 2" descr="Isentrophic Compression | Glenn Research Center | NASA">
              <a:extLst>
                <a:ext uri="{FF2B5EF4-FFF2-40B4-BE49-F238E27FC236}">
                  <a16:creationId xmlns:a16="http://schemas.microsoft.com/office/drawing/2014/main" id="{9B9BD89F-D06E-4C96-B4C0-899B5606E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14" t="1217" r="639" b="85792"/>
            <a:stretch/>
          </p:blipFill>
          <p:spPr bwMode="auto">
            <a:xfrm>
              <a:off x="3434133" y="5654278"/>
              <a:ext cx="936352" cy="57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4" descr="Helmholtz Free Energy: Definition and Equation">
            <a:extLst>
              <a:ext uri="{FF2B5EF4-FFF2-40B4-BE49-F238E27FC236}">
                <a16:creationId xmlns:a16="http://schemas.microsoft.com/office/drawing/2014/main" id="{CD4B8BCC-BABF-4626-9BB6-88117A0E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028" y="4190113"/>
            <a:ext cx="2757732" cy="24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E710441-E761-455F-B026-86C1FC921558}"/>
              </a:ext>
            </a:extLst>
          </p:cNvPr>
          <p:cNvGrpSpPr/>
          <p:nvPr/>
        </p:nvGrpSpPr>
        <p:grpSpPr>
          <a:xfrm>
            <a:off x="7611533" y="4841749"/>
            <a:ext cx="4469044" cy="895742"/>
            <a:chOff x="7602820" y="4804424"/>
            <a:chExt cx="4469044" cy="89574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7F7D07-D5C4-4B5B-BA25-D1A4FCEF66FC}"/>
                </a:ext>
              </a:extLst>
            </p:cNvPr>
            <p:cNvSpPr txBox="1"/>
            <p:nvPr/>
          </p:nvSpPr>
          <p:spPr>
            <a:xfrm>
              <a:off x="7602820" y="5300056"/>
              <a:ext cx="44690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Minimize the potentials</a:t>
              </a:r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⇒ </a:t>
              </a:r>
              <a:r>
                <a:rPr lang="en-US" sz="2000" dirty="0"/>
                <a:t>equilibrium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FA63C1D-D86B-4DE6-9A30-EFCEC4C53D58}"/>
                </a:ext>
              </a:extLst>
            </p:cNvPr>
            <p:cNvCxnSpPr/>
            <p:nvPr/>
          </p:nvCxnSpPr>
          <p:spPr>
            <a:xfrm flipV="1">
              <a:off x="8947911" y="4804424"/>
              <a:ext cx="0" cy="4442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101085A-2DE4-4C0B-B786-2BD57CB51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AA62CB-BB98-4A3F-8D3D-92AA8C5074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911" y="6017912"/>
            <a:ext cx="1625334" cy="59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5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59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Law of thermodynamic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8083166" cy="702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189" y="3511296"/>
            <a:ext cx="1648975" cy="5153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94560" y="4426446"/>
            <a:ext cx="888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particles stay exactly at its lowest energy state. No thermal fluctuations is allowed.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49AD53-B8A0-49BB-8017-F72B75489B14}"/>
              </a:ext>
            </a:extLst>
          </p:cNvPr>
          <p:cNvGrpSpPr/>
          <p:nvPr/>
        </p:nvGrpSpPr>
        <p:grpSpPr>
          <a:xfrm>
            <a:off x="1556084" y="5063277"/>
            <a:ext cx="8665946" cy="906671"/>
            <a:chOff x="1556084" y="5063277"/>
            <a:chExt cx="8665946" cy="90667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8AB7987-F40F-4218-AD3C-C1177E090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89532" y="5063277"/>
              <a:ext cx="1732498" cy="5001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FF1095-2C73-43B9-80BA-31E9C23D760F}"/>
                </a:ext>
              </a:extLst>
            </p:cNvPr>
            <p:cNvSpPr txBox="1"/>
            <p:nvPr/>
          </p:nvSpPr>
          <p:spPr>
            <a:xfrm>
              <a:off x="1556084" y="5100513"/>
              <a:ext cx="7124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a thermal system, a single particle energy fluctuation </a:t>
              </a:r>
              <a:r>
                <a:rPr lang="en-MY" dirty="0">
                  <a:latin typeface="Cambria" panose="02040503050406030204" pitchFamily="18" charset="0"/>
                  <a:ea typeface="Cambria" panose="02040503050406030204" pitchFamily="18" charset="0"/>
                </a:rPr>
                <a:t>~ in the range</a:t>
              </a:r>
              <a:endParaRPr lang="en-MY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493D1C-96B7-4391-8F7C-2137C6E8E93F}"/>
                </a:ext>
              </a:extLst>
            </p:cNvPr>
            <p:cNvGrpSpPr/>
            <p:nvPr/>
          </p:nvGrpSpPr>
          <p:grpSpPr>
            <a:xfrm>
              <a:off x="7568905" y="5469845"/>
              <a:ext cx="2223386" cy="500103"/>
              <a:chOff x="7568905" y="5469845"/>
              <a:chExt cx="2223386" cy="50010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B7A934-2880-4F49-8ED8-60B3D1FC49E5}"/>
                  </a:ext>
                </a:extLst>
              </p:cNvPr>
              <p:cNvSpPr txBox="1"/>
              <p:nvPr/>
            </p:nvSpPr>
            <p:spPr>
              <a:xfrm>
                <a:off x="7568905" y="5600616"/>
                <a:ext cx="2223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MY" dirty="0">
                    <a:latin typeface="Cambria" panose="02040503050406030204" pitchFamily="18" charset="0"/>
                    <a:ea typeface="Cambria" panose="02040503050406030204" pitchFamily="18" charset="0"/>
                  </a:rPr>
                  <a:t>Ground state energy</a:t>
                </a:r>
                <a:endParaRPr lang="en-MY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9678746-20D4-472F-AF0F-928074F50986}"/>
                  </a:ext>
                </a:extLst>
              </p:cNvPr>
              <p:cNvCxnSpPr/>
              <p:nvPr/>
            </p:nvCxnSpPr>
            <p:spPr>
              <a:xfrm flipV="1">
                <a:off x="8816741" y="5469845"/>
                <a:ext cx="0" cy="161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7E7F58A-03EB-415B-A956-FD7EE77BC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8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1794-A54C-4A16-B1B8-C290BF89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Phase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3A069-1DB0-4EE4-A5E2-6286C008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2509519"/>
            <a:ext cx="3012443" cy="3304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29F2A-9D2D-4A87-9395-A45D5ED8AFF8}"/>
              </a:ext>
            </a:extLst>
          </p:cNvPr>
          <p:cNvSpPr txBox="1"/>
          <p:nvPr/>
        </p:nvSpPr>
        <p:spPr>
          <a:xfrm flipH="1">
            <a:off x="888999" y="2010807"/>
            <a:ext cx="301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Phase diagram of water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8B07CB-8AA0-4135-90DE-EEDEB73A661A}"/>
              </a:ext>
            </a:extLst>
          </p:cNvPr>
          <p:cNvGrpSpPr/>
          <p:nvPr/>
        </p:nvGrpSpPr>
        <p:grpSpPr>
          <a:xfrm>
            <a:off x="4643120" y="1924752"/>
            <a:ext cx="3743961" cy="3889462"/>
            <a:chOff x="7000240" y="2206546"/>
            <a:chExt cx="3743961" cy="38894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F90F04-C4E0-42C8-B08C-E28FD43FE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0241" y="2675447"/>
              <a:ext cx="3743960" cy="342056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1F7B-DC2A-4E0A-9E63-3046F34FE10B}"/>
                </a:ext>
              </a:extLst>
            </p:cNvPr>
            <p:cNvSpPr txBox="1"/>
            <p:nvPr/>
          </p:nvSpPr>
          <p:spPr>
            <a:xfrm flipH="1">
              <a:off x="7000240" y="2206546"/>
              <a:ext cx="301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Changing temperature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8A0703-1FE5-4678-99C5-59548BB6DAE6}"/>
              </a:ext>
            </a:extLst>
          </p:cNvPr>
          <p:cNvGrpSpPr/>
          <p:nvPr/>
        </p:nvGrpSpPr>
        <p:grpSpPr>
          <a:xfrm>
            <a:off x="8678937" y="1924752"/>
            <a:ext cx="3349679" cy="1588323"/>
            <a:chOff x="8678937" y="1924752"/>
            <a:chExt cx="3349679" cy="15883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6508DA-33D9-4B02-B73D-DFE678DA4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78937" y="2866744"/>
              <a:ext cx="3349679" cy="64633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240DC1-3F7D-46C2-8652-BB666A3B3C38}"/>
                </a:ext>
              </a:extLst>
            </p:cNvPr>
            <p:cNvSpPr txBox="1"/>
            <p:nvPr/>
          </p:nvSpPr>
          <p:spPr>
            <a:xfrm>
              <a:off x="8678937" y="1924752"/>
              <a:ext cx="21310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b="1" dirty="0"/>
                <a:t>Equation of state</a:t>
              </a:r>
            </a:p>
            <a:p>
              <a:r>
                <a:rPr lang="en-MY" b="1" dirty="0"/>
                <a:t>(van der Waal gas)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FABB62-B430-42ED-B491-F2EC95E2D102}"/>
              </a:ext>
            </a:extLst>
          </p:cNvPr>
          <p:cNvSpPr txBox="1"/>
          <p:nvPr/>
        </p:nvSpPr>
        <p:spPr>
          <a:xfrm>
            <a:off x="1069298" y="6232986"/>
            <a:ext cx="10295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All the laws and equation of states are the statistical result of many-particles system </a:t>
            </a:r>
          </a:p>
        </p:txBody>
      </p:sp>
    </p:spTree>
    <p:extLst>
      <p:ext uri="{BB962C8B-B14F-4D97-AF65-F5344CB8AC3E}">
        <p14:creationId xmlns:p14="http://schemas.microsoft.com/office/powerpoint/2010/main" val="36865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Kinetic theory of gas</a:t>
            </a:r>
            <a:br>
              <a:rPr lang="en-US" sz="3600" dirty="0"/>
            </a:br>
            <a:r>
              <a:rPr lang="en-US" sz="3600" dirty="0"/>
              <a:t>(1</a:t>
            </a:r>
            <a:r>
              <a:rPr lang="en-US" sz="3600" baseline="30000" dirty="0"/>
              <a:t>st</a:t>
            </a:r>
            <a:r>
              <a:rPr lang="en-US" sz="3600" dirty="0"/>
              <a:t> statistical approach)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658" y="853643"/>
            <a:ext cx="1579288" cy="21261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74556" y="3058776"/>
            <a:ext cx="3291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 S. J. Blundell and K. M. Blundell, </a:t>
            </a:r>
          </a:p>
          <a:p>
            <a:pPr algn="ctr"/>
            <a:r>
              <a:rPr lang="en-US" dirty="0"/>
              <a:t>Concepts in thermal physics, </a:t>
            </a:r>
          </a:p>
          <a:p>
            <a:pPr algn="ctr"/>
            <a:r>
              <a:rPr lang="en-US" dirty="0"/>
              <a:t> Oxford University Press, (2010)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4465" y="2500779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Part II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" y="2285999"/>
            <a:ext cx="3204718" cy="188385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5E1CC18-A973-451E-83E7-BFD2155E3788}"/>
              </a:ext>
            </a:extLst>
          </p:cNvPr>
          <p:cNvGrpSpPr/>
          <p:nvPr/>
        </p:nvGrpSpPr>
        <p:grpSpPr>
          <a:xfrm>
            <a:off x="1377357" y="6305113"/>
            <a:ext cx="5411737" cy="473202"/>
            <a:chOff x="1377357" y="6305113"/>
            <a:chExt cx="5411737" cy="473202"/>
          </a:xfrm>
        </p:grpSpPr>
        <p:sp>
          <p:nvSpPr>
            <p:cNvPr id="12" name="TextBox 11"/>
            <p:cNvSpPr txBox="1"/>
            <p:nvPr/>
          </p:nvSpPr>
          <p:spPr>
            <a:xfrm>
              <a:off x="1377357" y="6316650"/>
              <a:ext cx="2812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Same distribution for </a:t>
              </a: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7462" y="6422120"/>
              <a:ext cx="1028700" cy="3429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5424361" y="6305113"/>
              <a:ext cx="1364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(isotropic)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7299" y="3335775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7A3FB-00B9-4F18-9482-E55985BEBF16}"/>
              </a:ext>
            </a:extLst>
          </p:cNvPr>
          <p:cNvGrpSpPr/>
          <p:nvPr/>
        </p:nvGrpSpPr>
        <p:grpSpPr>
          <a:xfrm>
            <a:off x="3654277" y="4000987"/>
            <a:ext cx="8399334" cy="2857013"/>
            <a:chOff x="3654277" y="4000987"/>
            <a:chExt cx="8399334" cy="2857013"/>
          </a:xfrm>
        </p:grpSpPr>
        <p:pic>
          <p:nvPicPr>
            <p:cNvPr id="11266" name="Picture 2" descr="https://upload.wikimedia.org/wikipedia/commons/thumb/a/ad/Boltzmann2.jpg/225px-Boltzmann2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390" y="4000987"/>
              <a:ext cx="1923221" cy="2359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9823354" y="6457890"/>
              <a:ext cx="21836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Ludwig Boltzmann</a:t>
              </a:r>
            </a:p>
          </p:txBody>
        </p:sp>
        <p:pic>
          <p:nvPicPr>
            <p:cNvPr id="13" name="Picture 4" descr="https://upload.wikimedia.org/wikipedia/en/thumb/4/42/Db_James_Clerk_Maxwell_in_his_40s_-2-7.jpg/220px-Db_James_Clerk_Maxwell_in_his_40s_-2-7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1979" y="4016656"/>
              <a:ext cx="1944312" cy="2456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7106312" y="6455271"/>
              <a:ext cx="2621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 James Clerk Maxwell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07375B-0905-42B5-9B56-87A0749D5D8F}"/>
                </a:ext>
              </a:extLst>
            </p:cNvPr>
            <p:cNvSpPr txBox="1"/>
            <p:nvPr/>
          </p:nvSpPr>
          <p:spPr>
            <a:xfrm>
              <a:off x="3654277" y="5059978"/>
              <a:ext cx="3661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Maxwell–Boltzmann distribution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CE26CF-4340-4875-B6C1-3BA19E85B2BB}"/>
              </a:ext>
            </a:extLst>
          </p:cNvPr>
          <p:cNvGrpSpPr/>
          <p:nvPr/>
        </p:nvGrpSpPr>
        <p:grpSpPr>
          <a:xfrm>
            <a:off x="3840480" y="2434645"/>
            <a:ext cx="3489040" cy="2909553"/>
            <a:chOff x="3840480" y="2434645"/>
            <a:chExt cx="3489040" cy="29095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9CFD1E-CEF5-4FD0-8213-56478F226E58}"/>
                </a:ext>
              </a:extLst>
            </p:cNvPr>
            <p:cNvGrpSpPr/>
            <p:nvPr/>
          </p:nvGrpSpPr>
          <p:grpSpPr>
            <a:xfrm>
              <a:off x="3840480" y="2434645"/>
              <a:ext cx="3489040" cy="2909553"/>
              <a:chOff x="3840480" y="2434645"/>
              <a:chExt cx="3489040" cy="2909553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40480" y="2820478"/>
                <a:ext cx="3425048" cy="2523720"/>
              </a:xfrm>
              <a:prstGeom prst="rect">
                <a:avLst/>
              </a:prstGeom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4090556" y="2434645"/>
                <a:ext cx="3238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Velocity distribution in x-direction</a:t>
                </a:r>
              </a:p>
            </p:txBody>
          </p:sp>
        </p:grp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6B5FF177-14AB-419A-ADB3-D8B0E15379CC}"/>
                </a:ext>
              </a:extLst>
            </p:cNvPr>
            <p:cNvSpPr/>
            <p:nvPr/>
          </p:nvSpPr>
          <p:spPr>
            <a:xfrm rot="2111416">
              <a:off x="3996213" y="3349422"/>
              <a:ext cx="1056478" cy="3331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6D7D40-EEAA-46ED-914A-5B877E4AE243}"/>
              </a:ext>
            </a:extLst>
          </p:cNvPr>
          <p:cNvGrpSpPr/>
          <p:nvPr/>
        </p:nvGrpSpPr>
        <p:grpSpPr>
          <a:xfrm>
            <a:off x="226310" y="4982423"/>
            <a:ext cx="4023622" cy="1228427"/>
            <a:chOff x="226310" y="4982423"/>
            <a:chExt cx="4023622" cy="122842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6310" y="5329765"/>
              <a:ext cx="4023622" cy="881085"/>
            </a:xfrm>
            <a:prstGeom prst="rect">
              <a:avLst/>
            </a:prstGeom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0F86202-2C08-4B00-9F46-3CAD73A7C841}"/>
                </a:ext>
              </a:extLst>
            </p:cNvPr>
            <p:cNvSpPr/>
            <p:nvPr/>
          </p:nvSpPr>
          <p:spPr>
            <a:xfrm rot="9482392">
              <a:off x="2912695" y="4982423"/>
              <a:ext cx="1056478" cy="3331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B61FF0A3-20E7-4305-AFAC-B7623620B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0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6" y="2084832"/>
            <a:ext cx="2784595" cy="291021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42F9E16-2FDB-4B15-915F-F6405CB67F70}"/>
              </a:ext>
            </a:extLst>
          </p:cNvPr>
          <p:cNvGrpSpPr/>
          <p:nvPr/>
        </p:nvGrpSpPr>
        <p:grpSpPr>
          <a:xfrm>
            <a:off x="694944" y="2395728"/>
            <a:ext cx="8789377" cy="830997"/>
            <a:chOff x="694944" y="2395728"/>
            <a:chExt cx="8789377" cy="830997"/>
          </a:xfrm>
        </p:grpSpPr>
        <p:sp>
          <p:nvSpPr>
            <p:cNvPr id="7" name="TextBox 6"/>
            <p:cNvSpPr txBox="1"/>
            <p:nvPr/>
          </p:nvSpPr>
          <p:spPr>
            <a:xfrm>
              <a:off x="694944" y="2395728"/>
              <a:ext cx="72090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Probability of finding a particle with VELOCITY between </a:t>
              </a:r>
            </a:p>
            <a:p>
              <a:r>
                <a:rPr lang="en-US" sz="2400" dirty="0"/>
                <a:t>and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3051" y="2512472"/>
              <a:ext cx="1221270" cy="295594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877" y="2863418"/>
              <a:ext cx="3860585" cy="326730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415" y="4075155"/>
            <a:ext cx="5300880" cy="72323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10" y="5479053"/>
            <a:ext cx="4023622" cy="8810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35ABDF-9AB5-4635-88A0-277CEE3476BB}"/>
              </a:ext>
            </a:extLst>
          </p:cNvPr>
          <p:cNvGrpSpPr/>
          <p:nvPr/>
        </p:nvGrpSpPr>
        <p:grpSpPr>
          <a:xfrm>
            <a:off x="694944" y="4731804"/>
            <a:ext cx="9116301" cy="1457921"/>
            <a:chOff x="694944" y="4731804"/>
            <a:chExt cx="9116301" cy="14579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A30CCA-ED3F-4D5E-8BBC-1C57BA319A08}"/>
                </a:ext>
              </a:extLst>
            </p:cNvPr>
            <p:cNvGrpSpPr/>
            <p:nvPr/>
          </p:nvGrpSpPr>
          <p:grpSpPr>
            <a:xfrm>
              <a:off x="694944" y="4731804"/>
              <a:ext cx="7554825" cy="1457921"/>
              <a:chOff x="694944" y="4731804"/>
              <a:chExt cx="7554825" cy="1457921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694944" y="4731804"/>
                <a:ext cx="7554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Probability of finding a particle with SPEED between     and</a:t>
                </a:r>
              </a:p>
            </p:txBody>
          </p:sp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1640" y="5423925"/>
                <a:ext cx="6436160" cy="765800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68548" y="4893818"/>
              <a:ext cx="203200" cy="215900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98516" y="4817017"/>
              <a:ext cx="1112729" cy="329277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6B5C3E25-90D9-4B8B-81FB-FF70579A6B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3085" y="3376786"/>
            <a:ext cx="5507057" cy="6617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B783D8-13AE-4387-AAE1-A7D323794E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1970316"/>
            <a:ext cx="7554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Probability of finding a particle with SPEED between     and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85" y="2132330"/>
            <a:ext cx="203200" cy="215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350" y="2029025"/>
            <a:ext cx="1112729" cy="3292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623" y="2839343"/>
            <a:ext cx="3545625" cy="2709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945" y="3817081"/>
            <a:ext cx="4254839" cy="17241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508" y="5541264"/>
            <a:ext cx="6711696" cy="8191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56350" y="5766170"/>
            <a:ext cx="29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⇒ equipartition of energy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C2C042-E7D7-4C48-962B-2F3D526AA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5423925"/>
            <a:ext cx="6436160" cy="765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46CFCA-E980-4FE9-A5C3-BB4FA01B53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5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7.40741E-7 L 0.00508 -0.4145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-2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01" y="1785194"/>
            <a:ext cx="4118443" cy="29618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084832"/>
            <a:ext cx="1039368" cy="2996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50" y="2329606"/>
            <a:ext cx="3384580" cy="39141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743" y="4041646"/>
            <a:ext cx="5615051" cy="153619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00" y="5787719"/>
            <a:ext cx="2277364" cy="7426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32920-5226-4B8F-A38E-2A6448D0CD5B}"/>
              </a:ext>
            </a:extLst>
          </p:cNvPr>
          <p:cNvGrpSpPr/>
          <p:nvPr/>
        </p:nvGrpSpPr>
        <p:grpSpPr>
          <a:xfrm>
            <a:off x="1257428" y="5250159"/>
            <a:ext cx="2110942" cy="1480234"/>
            <a:chOff x="1257428" y="5250159"/>
            <a:chExt cx="2110942" cy="1480234"/>
          </a:xfrm>
        </p:grpSpPr>
        <p:sp>
          <p:nvSpPr>
            <p:cNvPr id="31" name="TextBox 30"/>
            <p:cNvSpPr txBox="1"/>
            <p:nvPr/>
          </p:nvSpPr>
          <p:spPr>
            <a:xfrm>
              <a:off x="1272540" y="5250159"/>
              <a:ext cx="20958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Taking average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43946" y="5787719"/>
              <a:ext cx="1469136" cy="573881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257428" y="6330283"/>
              <a:ext cx="18421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(previous slide)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660178" y="5838380"/>
            <a:ext cx="261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⇒ Ideal gas law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6459" y="856092"/>
            <a:ext cx="1798885" cy="213572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975024" y="2954295"/>
            <a:ext cx="33197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D. Halliday, R. Resnick, J. Walker,</a:t>
            </a:r>
          </a:p>
          <a:p>
            <a:pPr algn="ctr"/>
            <a:r>
              <a:rPr lang="en-US" dirty="0"/>
              <a:t>Fundamentals of Physics, </a:t>
            </a:r>
          </a:p>
          <a:p>
            <a:pPr algn="ctr"/>
            <a:r>
              <a:rPr lang="en-US" dirty="0"/>
              <a:t>10th Ed, Wiley (2013)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245AA5-0A2E-4833-AB79-60794303F131}"/>
              </a:ext>
            </a:extLst>
          </p:cNvPr>
          <p:cNvGrpSpPr/>
          <p:nvPr/>
        </p:nvGrpSpPr>
        <p:grpSpPr>
          <a:xfrm>
            <a:off x="1187669" y="2991820"/>
            <a:ext cx="6424948" cy="1333268"/>
            <a:chOff x="1187669" y="2991820"/>
            <a:chExt cx="6424948" cy="1333268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91759" y="2991820"/>
              <a:ext cx="2620858" cy="830371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BB5E461-DE6E-44CF-967B-0261EA71936C}"/>
                </a:ext>
              </a:extLst>
            </p:cNvPr>
            <p:cNvSpPr/>
            <p:nvPr/>
          </p:nvSpPr>
          <p:spPr>
            <a:xfrm>
              <a:off x="1187669" y="3689131"/>
              <a:ext cx="1124607" cy="147145"/>
            </a:xfrm>
            <a:custGeom>
              <a:avLst/>
              <a:gdLst>
                <a:gd name="connsiteX0" fmla="*/ 1124607 w 1124607"/>
                <a:gd name="connsiteY0" fmla="*/ 147145 h 147145"/>
                <a:gd name="connsiteX1" fmla="*/ 0 w 1124607"/>
                <a:gd name="connsiteY1" fmla="*/ 94593 h 147145"/>
                <a:gd name="connsiteX2" fmla="*/ 1124607 w 1124607"/>
                <a:gd name="connsiteY2" fmla="*/ 0 h 14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07" h="147145">
                  <a:moveTo>
                    <a:pt x="1124607" y="147145"/>
                  </a:moveTo>
                  <a:cubicBezTo>
                    <a:pt x="562303" y="133131"/>
                    <a:pt x="0" y="119117"/>
                    <a:pt x="0" y="94593"/>
                  </a:cubicBezTo>
                  <a:cubicBezTo>
                    <a:pt x="0" y="70069"/>
                    <a:pt x="562303" y="35034"/>
                    <a:pt x="1124607" y="0"/>
                  </a:cubicBezTo>
                </a:path>
              </a:pathLst>
            </a:custGeom>
            <a:ln w="28575"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827E006-1FE1-4FDA-A480-2E2ED6E1C2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172" t="49707" r="77455" b="13973"/>
            <a:stretch/>
          </p:blipFill>
          <p:spPr>
            <a:xfrm>
              <a:off x="1496454" y="3897912"/>
              <a:ext cx="682060" cy="42717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6598758-CAAB-422F-9F0E-64F9DE8C2A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074" y="2633552"/>
            <a:ext cx="66303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Ideal gas law and equipartition of energy are </a:t>
            </a:r>
          </a:p>
          <a:p>
            <a:pPr algn="ctr"/>
            <a:r>
              <a:rPr lang="en-US" sz="2400" b="1" dirty="0"/>
              <a:t>the result of statistical behavior of a large system.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A5366D-A6E3-4848-ACAB-202F32910D5A}"/>
              </a:ext>
            </a:extLst>
          </p:cNvPr>
          <p:cNvGrpSpPr/>
          <p:nvPr/>
        </p:nvGrpSpPr>
        <p:grpSpPr>
          <a:xfrm>
            <a:off x="626220" y="4050327"/>
            <a:ext cx="10939560" cy="1380199"/>
            <a:chOff x="482479" y="4072242"/>
            <a:chExt cx="10939560" cy="138019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1423" y="4072242"/>
              <a:ext cx="6436160" cy="7658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4907755" y="4990776"/>
              <a:ext cx="65142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Statistical model for ideal (non-interacting) gas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2479" y="5052331"/>
              <a:ext cx="39481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Maxwell–Boltzmann distribution ⇒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861670" y="5952164"/>
            <a:ext cx="7294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more general statistical model </a:t>
            </a:r>
            <a:r>
              <a:rPr lang="en-US" sz="2400" b="1" dirty="0"/>
              <a:t>⇒ ensemble theory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31F2E-7CAC-419C-9212-AF6A13FB3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2685444-1F08-46DE-BDA3-91EFA78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8FD5A6B-9F4F-4CB7-BFA6-F9EA437D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D6C1F93-EF69-4EA3-8C38-32A11F4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页｜Thermodynamics and Statistical Physics PHY301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6B65F5-9151-4B54-A3AF-8020562F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《热力学与统计物理 PHY301》。授课教师：Kok Wee Song。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DF15C3F-D401-4F8F-A681-1C4E0F6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749626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5E1850C-F638-4F4F-B684-3F82332B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7F0081E-7DAC-46EA-BE9C-C002AD82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7D33118-8774-4EFA-9CE8-E1F92943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3C11B9-9CFB-4CCB-A412-9EDE7E29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这是课程总入口。热力学描述温度、热、功、熵等宏观规律；统计物理从大量粒子的微观状态与概率出发，解释这些规律为什么出现。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E56F1BB-51ED-4F89-81B8-F953C10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44987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FFECB46-3197-40E1-BF76-BF1A0F80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4A23F2C-8D81-4A21-8095-50FE9C5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B0CB8B2-97CA-44CC-B11A-ECC1ADC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页｜Before we start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430ADBA-08D3-42B3-A3DD-309ABCF5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开始前说明：必须出勤并签到。总评由作业 30%、期中考试 30%、期末考试 40% 构成。共有 3 次作业，通过 Moodle 在线提交；期中在第 8 周，期末在考试周。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1C7C8D5-E3DE-42AC-A9F4-3BE57AC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95720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97A59C-9C4B-431B-94E5-BFF054A1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C55C875-CE73-4ECA-A948-2191150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9CA83AA-7137-4A95-8496-10DC171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D77E7B3-AB8A-4D78-8BEA-DCCAAF9E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作业和期中合计占 60%，所以不能只在期末突击。把三次作业当成三轮诊断：第一次查相空间与 Liouville，第二次查经典系综，第三次查量子统计。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E10F702-DC48-45BF-B305-7226C6C3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47496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84F3D7C-F958-424A-B164-C32D08EB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C400E00-6089-4A50-8832-65EB36D1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33D484-4AC4-4E2A-B192-2DE33FA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页｜My Office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DA9E85E-98F9-4226-B514-4301F2B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教师办公室：A1 379。答疑时间：周三 12:00–14:00；周四 14:00–16:00。邮箱：kokwee.song@xmu.edu.my。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74ACC2B-4ED9-4272-B1C8-19A493F3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536130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3374CF5-B661-4765-8EB9-DB5BC438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2913A99-B51F-4973-A969-CC057A7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DFB8377-1A20-4CE5-BB54-CA09995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64E3DC4-5CE4-483F-ABF2-B2D8CC9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遇到卡住的推导时，先把“从哪一行到哪一行不懂”写清，再去答疑。公式截图加上自己的尝试，比只说“我不会”更容易得到有效帮助。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F52E001-418D-452F-9E10-75D7FE9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35217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361A7AA-FE1D-4CCD-815B-17CB36F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13F3765-A73E-4038-8B2B-B1AF816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36950C5-5A8C-46BA-9D91-A37F6BDC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页｜What is statistical physics/mechanics?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4C78462-BA72-4ACF-93DD-DEE8520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统计物理或统计力学是什么？Kardar 的表述：统计力学是一种概率方法，用来研究具有大量自由度的系统在平衡时的宏观性质。Wikipedia 的要点是：它把统计方法和概率论用于大量微观实体，并建立微观性质与宏观可观测量之间的联系。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B65F1A8-8BF4-4F67-9870-9EADE86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630330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E3598A-A566-4ED7-93C3-296CE0F5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EF1D77A-FCD5-4368-939E-BA39784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696CF6-9FC4-4455-89EE-63A040F1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6EF76FD-A727-43D7-A2CB-1C054C1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一句话抓住主线：先规定微观态，再给每个微观态概率，最后对可观测量取平均。温度、压强和熵不是额外塞进来的，而是大量自由度的集体结果。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E5A491F-B917-4DCA-BF0C-B20AA59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084047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905B068-2A26-4986-9033-596910FD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296EE46-8501-4070-BDF0-0D663F7D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CC832F6-8E52-4BF4-B627-13EB8DDC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页｜Why statistics?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B205F5E-6B66-4833-BA40-7066F39A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为什么需要统计？统计让我们从复杂现象中学习某些性质。它通常告诉我们观测到的行为或模式，而不单独回答“为什么”。一个宏观系统约有 10²³ 个粒子，不可能逐一追踪；我们关心宏观行为，而不关心每个粒子的全部细节。统计物理等于统计模型加物理或力学定律。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F7EFE1-1309-493C-8A34-AFC30563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83854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D9CDA38-2030-48B1-9A5E-CED763C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9274D44-5448-4F82-AC22-8AA9A4EA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5F2007C-49E0-4B23-83B4-3D80CE6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C1DDE72-0D06-4D03-B3EF-752A054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~ 10²³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典型宏观粒子数的数量级，不是精确固定值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26AA361-B695-4DFE-9C31-FF683C7A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87319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FDF4F4-E36B-44BA-B97B-24F68CD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2551236-AFAB-46D0-95EA-FFE5A842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B43B05D-8571-44F7-BC01-50A0E514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3D0FF77-5748-471E-9E0E-50CD6F5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大量粒子看似更难，宏观预测反而更稳定，因为随机起伏相互抵消。理论仍受 Newton 或 Hamilton 动力学约束；统计模型不能任意选择。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A07C0FF-D97B-4210-BEEA-5CC5590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8182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D88BE07-9686-4A59-B297-F4AFD7A8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690BE1-457B-453A-8543-5326432F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C4941CF-2B5E-4E5D-AC1A-AE26E84B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页｜Sketch of PHY301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BFF4B51-C1F6-43DE-956C-74043213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PHY301 内容概览：经典系统中的热力学及其统计解释；大型量子系统的统计表述；经典和量子系统的相变；非平衡现象。主要参考书之一是 Kerson Huang《Introduction to Statistical Physics》，CRC Press，2009。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902DBA-793D-4455-B0E4-33B441E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519346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5E078C1-0668-40DB-A0EF-5EF8EE8F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193D04D-16D0-42FE-A203-BBFBFA83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48CEA0-5272-4A48-A6F2-A4EDBB5A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810E270-2E00-4F9D-AFDD-5F515559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课程先走经典链条“热力学→相空间→三个系综→相变”，再把相同框架换成量子态和占据数，最后讨论扩散、Langevin 与 Fokker–Planck。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AA13FE5-F82F-4C5B-A051-2D05FF4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642861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592C1D-D721-4C4A-8E46-268781B4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CCB7522-A741-4502-B18F-D2FB319F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2F327BB-99AF-47EB-951F-D1E77412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页｜Additional References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3147B9-C472-43D3-9D90-A85D0DBA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补充参考：Mehran Kardar《Statistical Physics of Particles》(2007)；R. K. Pathria 与 Paul D. Beale《Statistical Mechanics》(2021)；Kerson Huang《Statistical Mechanics》(1991，较旧的写法，但很好)。不同教材对统计力学的组织和视角并不统一。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26DF613-5A21-4FEE-AF5B-DB78162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232391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FDDA621-89ED-4F2C-B8E1-0CA9EBA6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A918B2-CD89-44E8-96A0-81E2D05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BDEC6CF-6983-4EAB-BCEC-6583033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B03123F-9138-4885-BB11-36F8527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不要并行通读三本书。以老师课件为主线：Kardar 适合概念和推导，Pathria 适合系统查公式，Huang 适合对照传统记号。记号不同不等于物理不同。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3AC3211-2B06-430E-B532-0891C2A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544767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8AFE23F-3132-4C9A-9436-140924B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61A7D14-E3D6-4BF5-8CAC-C994A29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A7A6E39-8544-4B95-BFD0-D1844A7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页｜Recap of thermodynamics and kinetic theory of i…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D5E28D2-CA49-4673-8511-020F75F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本节主题：回顾热力学与理想气体动理学。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9871115-203C-4D1F-A250-4C4AE96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017892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D667F5F-A19D-484A-B07D-3506E06C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4EBF680-42B9-4A5C-834E-0881DD86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A2C00B-2B0C-475B-A8B5-7B56290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4C797A-3E7A-4E38-A560-93A1C120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这一段承担桥梁作用。先弄清平衡、四条定律和热力学势，再用 Maxwell–Boltzmann 分布看到第一个完整的统计模型。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8E1C9BE-F705-4E1E-B72F-58C6542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269168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E2CAA7-004F-49FC-B226-8F5484B2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88A680-DCD9-4D08-80A9-BBBDD65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D05B5E0-D632-4EA9-A0AD-7A8247C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页｜Thermodynamic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4668CB5-5456-4D03-8B9B-72CC405A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热力学是对热平衡宏观系统性质的唯象描述。力学用位置 x、动量 p 等描述可测微观状态，并服从 Newton 定律；热力学用 P、V、T、E 等坐标描述宏观态。平衡表示宏观测量不随时间改变。状态可以沿温度变化 T→T′，或受广义力使 P→P′，并服从热力学定律。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099D7B-8E95-473F-8691-CCB8BEA7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782793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B52A549-4FD7-4BBB-9223-B8F89A0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0B81ADF-0117-4144-B661-867F28B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E21032E-68BB-4FB9-803D-B33DE47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DD7BBC8-901A-4D21-8275-29D7212A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 = mv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经典质点动量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(P,V,T,E) → (P′,V′,T′,E′)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宏观状态改变的示意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92813CD-4B69-4D0D-908F-004E1E5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244002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23692B1-7FBE-4DDD-AF9B-028A27D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70ACCC-646C-4C99-A27C-3BC246A9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F82FE27-B0FB-4D1D-9C32-2D0A14F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3818C15-B1A2-41E0-AD02-633CCD0B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平衡不等于粒子停止。微观粒子仍高速运动，只是宏观概率分布与平均量稳定。宏观态用少数坐标压缩了海量微观信息。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B503EA7-C89D-4636-8F29-0064A9D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1591008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67B4101-581A-464A-B170-A6DB1D2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A4A1F5-2B2D-40DC-8F86-FA15DA50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0A174D8-BBF7-4EDF-9D66-C249AC98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页｜Thermodynamic system: equations of state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E5F35DA-FAE7-454F-95E0-3D26A51C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在平衡态，并非所有热力学量都独立，它们由状态方程联系。例 1 是理想气体，例 2 是磁性系统，涉及磁化强度和磁场。这些宏观现象可以借助统计方法从微观层面导出。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C7876EA-8F32-4E29-9568-1C482F59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702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F47EF66-5AE4-4DA1-B0D4-BA698F3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C3548FF-0D1F-4DA6-8C31-6996DE0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86D73C2-1D6F-4B04-9BD0-F6AA486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184EDD7-6758-4C9E-9048-F13FFDD2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状态方程减少独立变量数。例如知道理想气体的 N、V、T 就能确定 P。磁性系统中外场与磁化的关系扮演类似角色。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33A40D3-370C-400A-9162-C92CB7B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8519280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F23C3C5-F890-4EB8-B28A-CF8ED02A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309FF17-F800-43CF-B09E-DE970283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E3B6CC6-17B6-4B6E-A79D-5F33FAFD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页｜Zeroth law of thermodynamics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1043B2-D5E9-4F7A-A0A4-AE99E7BF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热力学第零定律：若系统 A 与系统 C 平衡，系统 B 也与 C 平衡，则 A 与 B 彼此平衡。看似平凡，却建立了温度概念。两系统热平衡意味着温度相同，也说明可以用第三个系统作为温度计。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B7513DA-33E0-43D3-9959-BD52707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835610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F74F58F-01D5-4268-8997-8229D05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95B31F-1B61-4981-8496-DA570089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ECA981-4222-471E-BA17-A8E6A09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9E0279A-8D6C-4DA1-9DBC-249AA97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第零定律给热平衡关系“可传递性”。温度计先和被测物达到热平衡，再用温度计状态标定温度。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0B70341-245F-4949-9FA3-209A4B02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170684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7B6A102-68F9-41F3-8C7C-B1F2E51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C6F606-2EA1-452C-89ED-D89E9ED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F498E3-B8C6-43E6-8AB8-A4FEE8B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页｜First law of thermodynamics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60D503B-2D5F-434F-944B-9BF486BB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热力学第一定律是能量守恒。对绝热隔离系统，从初态到终态所需的功只由初末态决定，与过程路径无关。封闭情形课件写 ΔW=E(Xf)−E(Xi)；开放过程写 dQ=dE−dW，并提醒注意功的符号约定。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1F1524B-D064-4628-ABD3-7E095BFC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7092168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516F115-48CF-4694-8F51-237DA10B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EFEDFA9-401A-4389-BA1F-A19B1FC7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C69712A-1AF7-4509-8E66-3B27B15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811A32E-5ADD-4AF5-BB31-28790BCB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ΔW = E(Xf) − E(Xi)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原页封闭情形的写法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dQ = dE − dW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原页开放情形的符号约定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4F08635-42B3-4D76-B46F-70DE8596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2712021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13E1A15-1EA5-4E21-9350-58DDF1A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4B8C64E-F3F4-4E78-BB5D-01579D08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BC4CD16-EE63-4C2A-A4FA-9A6E9FB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FE220B1-8474-4651-8DB0-20F22C2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 是状态函数，热和功是跨越边界的传递方式。不同教材对 dW 正负定义不同，必须先沿用课件约定再代数。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32FDE8-FB79-40BC-86E4-5B4EE475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74781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C351241-3356-49D5-994C-95E24B8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6368502-1F23-4F6B-BC42-94A4636D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ED4A5D-FD5B-4353-BDFB-1C8639B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页｜Second law: Kelvin, Clausius and Carnot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032CE0A-EF46-458F-AE60-18C1C6B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第二定律的等价表述：Kelvin 表述说，任何过程都不可能仅把热完全转化为功；Clausius 表述说，热不可能在没有其他影响时从冷物体传到热物体；Carnot 定理说，在温度 TH 和 TC 两热库间工作的热机，不会比 Carnot 热机更高效。可逆 Carnot 循环给出效率 η=W/QH=1−TC/TH，且 W=QH−QC。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555E438-DF4E-46A1-9760-56632DB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0252285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18A51F-B2A0-4DC2-963C-95048D7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407F7F3-D5D6-4238-86F5-18884099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67E86DD-33A5-49AB-8E93-9F8BBBCC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A212BD9-55A1-4359-A392-4B5A38F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η = W/QH = 1 − TC/TH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Carnot 热机效率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W = QH − QC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一周期能量守恒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B407C37-0A35-4B7F-9D00-0FD2C8A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8531784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E1025B7-77A4-4B55-A163-CEBAE284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F1D33E9-DAC4-41D8-A2BB-28952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607DC1C-1282-4E90-9DF4-382DD9D7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F7306D4-D57E-4607-814C-6587716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三种说法管的是同一个方向性限制。冰箱能把热从冷处送到热处，但必须输入功；热机能输出功，但必须向冷源排热。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93064D8-E1FA-4D06-893A-4D309D2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743366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ED07E3E-A3A1-4AE4-AB86-F0648C21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70E90E7-82C1-40E1-8529-CA7B9B14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134B352-77A0-4895-9A42-E89CE8A1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页｜Second law: Clausius inequality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FA3D045-C60A-467C-8037-05B25456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Clausius 定理：任何循环过程，不论可逆与否，都有 ∮dQ/T≤0；可逆循环取等号。课件用多个 Carnot 小循环拼接任意循环，并结合 dQ=dE−dW 说明不能把全部吸热都变成正功。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3F691CC-5317-4B0C-8C35-39EB57E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06391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CE103F1-BF4A-4AC7-8DD4-55EB024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E88FBA9-423C-4552-9717-9AC9A526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600DA0-2C9A-40BF-9BFF-75F2B42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371891D-8521-42B1-9E0D-0D90DA4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∮ dQi/Ti ≤ 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任意循环的 Clausius 不等式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dQ = dE − dW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原页沿用的第一定律符号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W = Σi dQi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循环时内能净变化为零后的关系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24F85C-CE9E-4B3E-BE85-C59C8FC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590117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9721C6-024D-4432-AE6A-FD3A5252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B1E4281-C27B-4E27-BEC5-0B8A873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728E59-FD39-48F6-A923-2977BD2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75631CE-536D-4378-9BA7-CC16F31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把循环边界切成许多与局部温度 Ti 接触的小段。对可逆过程，正反路径恰好抵消；不可逆过程只能使不等式更严格。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A36B6D-F2A7-41B3-90DD-EB5A746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632707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F8F53DB-4595-48E0-B6B5-1DC55680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F09C1FC-B85C-42BA-95AC-353AEB64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7A8F12A-DC9E-47E5-8708-7FAE6E52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页｜Entropy as a state function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BA8184C-D9F8-442E-9DB6-0E1CB9F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可逆循环满足 ∮dQrev/T=0。对 A 到 B 的两条可逆路径，闭合后得到两条路径上 ∫dQrev/T 相同，因此该积分与路径无关。定义熵差 S(B)−S(A)=∫A^B dQrev/T。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1009076-061C-446C-A2FD-4C1C95B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1513271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C750513-3167-48E4-9DB6-18EC1379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570CC2C-24C7-4CD5-BAA4-4E27BECB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BC0651-EEDD-47CF-8C54-CA78B50E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948900D-61A8-47D3-8680-4CE01ED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∮ dQrev/T = 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可逆循环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∫A^B dQrev(1)/T1 = ∫A^B dQrev(2)/T2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两条可逆路径给同一熵差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S(B) − S(A) = ∫A^B dQrev/T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热力学熵差定义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59E757-4090-486A-8D21-138E2B8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662652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6CC8BD0-7C0E-4AC6-8406-21ACB81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57E9E9E-0ED9-4050-8B13-8CD56D4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68550F8-2F6D-4664-8FB5-5608964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41040C3-4755-444A-AC02-91072A7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熵之所以能成为状态函数，关键不是“熵等于热除以温度”，而是可逆路径积分与路径无关。不可逆过程不能直接把实际 dQ/T 当作 dS。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F7A3D99-69A8-4462-BF86-74E0D69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322694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EA12524-313C-4826-B7FA-486EADB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725B3F7-4602-49A2-946A-7B59C0E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8AA3C71-75EE-4632-BD09-4F3B9DC9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页｜Entropy increase in an isolated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29C3FFD-F143-473C-8571-8AC5484F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把实际不可逆路径 A→B 与可逆返回路径 B→A 拼成循环，可得 ∫A^B dQ/T≤∫A^B dQrev/T。因此 S(B)−S(A)=∫A^B dQrev/T≥∫A^B dQ/T。孤立系统 dQ=0，于是 dS≥0。熵决定系统演化方向；平衡态具有最大熵。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AF0E08-961A-48BD-A943-D378143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438345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19E0A92-527E-485C-8128-0CFD818E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F99DF71-ADD1-45E5-8AF4-9B8EDBB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152C24-84B8-4547-B8DC-794E6AA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7615C0F-6EB5-47B5-8AB5-5801BB9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S(B)−S(A) = ∫A^B dQrev/T ≥ ∫A^B dQ/T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不可逆路径与可逆参考路径的比较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dS = dQrev/T ≥ dQ/T = 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孤立系统的熵增关系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86C9806-3FCC-4DF7-85BA-5E0221B0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4150788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16F930-1684-4FB1-9383-A152801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C727A9-7D83-4BE9-BB4C-AD64864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903697D-961F-4300-9A36-85D641D9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F56A834-607E-4DA8-832D-0D6CC063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“孤立系统熵不减”说的是系统加环境整体。一个非孤立子系统的熵可以下降，只要环境熵增加得更多。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45A07D0-4C7C-473F-A62F-2387BEC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9357393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059E63D-91B1-44AF-B32A-8A803FB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8A3485F-57A5-4A2F-97BC-BDB7E0D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F7DCC6D-5A17-4979-8E99-622A9A88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页｜Thermodynamic potential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A3865BB-94AC-4A46-87B4-3F41CB3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问题是：怎样判断平衡？课件把第一定律与第二定律结合，强调准静态每一步都接近平衡，并指出直接用内能或熵函数有时不便于实验控制，因此引入热力学势。注意符号。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B746743-4547-4512-9D27-9EA2155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86615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28C8E3-FE1D-4462-B5D2-459C932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2DF3E91-46E3-4991-A62E-049BBD49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65E2CFB-BC47-45B3-8412-DCA711E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8B7C365-7590-40D2-9E6F-91D10C0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不同实验固定的变量不同，所以要换成自然变量匹配的势。恒温恒容看 Helmholtz 自由能，恒温恒压看 Gibbs 自由能。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C6F9C6-BFC0-45B5-9289-20C4A60A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477187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C386CA6-01AF-48B6-9295-314D8F4B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7F268C7-843F-44B1-8D80-1019D02A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0793867-B115-4B55-8362-EB2ADBC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页｜How to reach equilibrium?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86131B2-C2B0-4DC1-B704-2B39134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怎样达到平衡？课件列出焓、Helmholtz 自由能和 Gibbs 自由能等热力学势。适当外界约束固定时，平衡对应相应势的最小值。原页写 H=E−J·x、F=E−TS、G=E−TS−J·x，并继续沿用 dQ=dE−dW。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06ED46C-DB55-4DFC-B6FE-60D237C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2030303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13F9A89-AA23-46F6-9091-C430EE0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A93DFA9-5CC6-4804-B422-E6BFEA2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6E584CE-126F-411C-ADD7-5DEE4AC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41FDA17-38F7-4DC9-9EFC-2F10289D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 = E − 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原页写法；符号随广义功约定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 = E − TS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Helmholtz 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 = E − TS − 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原页广义 Gibbs 势写法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dQ = dE − dW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原页符号约定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992EAF-3109-4E14-9DC6-224F3D5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370720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7AAFA0C-E691-43AC-BAE1-1BA578BC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C30644-DCC4-45F3-B844-0194808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22D49BC-F89B-4D75-A0A3-6859F1AA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C8A6F92-3174-4762-BDB9-819C3BF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J 与 x 是广义力和广义位移，课件的正负号取决于功项约定。对普通 P–V 系统通常需要按课内约定把 J·x 对应到 −PV 或其他功项，不能机械套符号。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00EAFF-6BD6-436C-A9F6-7C69625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872423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4602D8C-7545-4C78-81A9-85ACDBD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9E36394-026D-4BB8-8D72-7F143A7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6F3E765-E737-4435-899E-AFC779B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页｜Third law of thermodynamics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B43682E-60DA-46FF-A9AD-DC21D1F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第三定律：绝对零度时系统熵趋向一个普适常数，可取为零，即 lim(T→0)S(X,T)=0。课件解释为粒子都在最低能态，没有热涨落；有限温度时单粒子能量通常在基态之上约 kBT 的范围内起伏。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4BF348A-121E-4834-98CB-23C0831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7191162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F827AE6-B3F7-4BE1-ADDF-B3EA54AB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9AFE17C-8D29-4526-8FD7-E1B4E3BF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BBC6B3A-CFC5-426A-8DED-8D4977B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CE707EE-16C6-4E40-93C0-10EA0863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lim(T→0) S(X,T) = 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原页第三定律表达式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energy fluctuation scale ~ 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原页文字所指的热能尺度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500C918-4017-4543-BD3C-6B184B2D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5780458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7D49FAA-7818-48EF-94BA-3688E89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2FB407C-6263-4E76-A16F-971AEB0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D77ADC3-D0BF-4A1F-A84D-34A81DE4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6C4E6C2-7677-40C1-ACA1-3A8D5EE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更严格地说，零温熵是否恰为零取决于基态简并；理想完美晶体通常取零。本页的核心是低温时激发被冻结。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3C4A812-B165-4AF3-B2EA-19B01F5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5596960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7E87BD2-8B11-4276-A039-7B025F4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7ABDE3-E848-4B0D-ADE8-CD1E813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9CB6174-2075-4CE5-8003-44FE745B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页｜Phase transition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C08A27D-436C-490B-8FB4-FEC51234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相变示例包括水的相图、随温度改变发生的相变，以及 van der Waals 气体的状态方程。课件结论：热力学定律和状态方程都是多粒子系统的统计结果。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FB381C4-9B4E-44E5-B649-39BB11DE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251650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D3CD1B7-64AC-4308-859F-759D4AB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6AFB176-FD99-4C84-A805-F07F869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FA06DB7-4E7F-421C-8DAA-BA138580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5C7A0B2-31A0-4377-9F55-C78DB8C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相变说明“微观规律相同”不妨碍宏观性质突然改变。后面会用自由能、涨落与序参量描述这种集体现象。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AC4B78E-A8ED-48D6-BF30-9E64A3A4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4356081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8218ECE-BB75-4A10-B2B4-DA5720F4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C94DDA4-3E2E-43E0-BB51-8187E785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1031E41-5E82-4A32-8D27-7489948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页｜Kinetic theory of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8E19449-5797-413C-9E11-296C954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气体动理学是本课第一个统计方法。平衡时 x 方向速度分布为 Maxwell–Boltzmann 分布 g(vx)=√[m/(2πkBT)] exp[−mvx²/(2kBT)]；由于各向同性，vy、vz 具有相同分布。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F91D64A-5294-49DB-A942-BB061EB0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565079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0204DEA-F153-4AD6-BDB4-7992C95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90BB426-4F63-4CD6-88C6-5506D7A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C2E0BB-F7AE-4093-A051-942E0632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C8EC7E6-F47B-4BB7-A267-FC1A220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g(vx) = √[m/(2πkBT)] exp[−mvx²/(2kBT)]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单个速度分量的归一化密度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2CDB8A3-4680-4F94-BCB7-D65C1B8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3239475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5C4037A-1965-49F1-B3B0-234ECFF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2C3D51-F116-4948-81D8-B882AF0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C1340FF-34D8-4320-813B-EE366CA3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71B12F1-FF0C-4E19-AB96-5B8FCA4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单个速度分量是以 0 为中心的 Gaussian。温度越高，分布越宽；质量越大，分布越窄。各向同性表示没有优先空间方向。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126B8CE-A5D7-4520-AF6E-69CA7ED7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0829032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B488AEC-FB3C-4925-A957-CF292D7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81C91F-D703-4EA2-A5FF-85BE1F1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8D65A48-82F5-4EB9-BA4F-C919322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页｜Velocity and speed distributions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D1BE975-2F8F-4511-9BD5-15C872CD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粒子速度落在 (vx,vy,vz) 到 (vx+dvx,vy+dvy,vz+dvz) 的概率等于三个分量分布的乘积。改用球坐标后，体积元是 v²sinθ dv dθ dφ；积分角度得到速度大小落在 v 到 v+dv 的概率 P(v)=f(v)dv=(4/√π)(m/2kBT)^(3/2)v²exp[−mv²/(2kBT)]dv。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5E645A-5EEE-4BC3-8406-40FF570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930613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A6C5E12-5B88-4BCB-A389-EE7A8D5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D63E1BE-9FA2-40F9-B6E8-2D222A86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8BCDE00-588D-4BEA-8940-C61A9A12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A7D5916-B316-460C-B35C-059A231E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dP = (m/2πkBT)^(3/2) exp[−mv²/(2kBT)] v²sinθ dv dθ dφ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三维速度空间中的概率元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P(v)=f(v)dv=(4/√π)(m/2kBT)^(3/2)v²e^(−mv²/2kBT)dv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Maxwell 速率分布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22A4BB-3FDB-4616-BDAA-5288F2B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7688005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BF397C-7D7C-48CA-99D3-C2FCB9CF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53AD275-6164-4AA5-96D4-1646581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FC4F118-E736-4B77-8F21-A0EB0133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5438793-0D96-41B5-BA00-6B5977B7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velocity 是有方向的三维向量，speed 是非负标量。速度大小分布多出 v²，来自半径为 v 的球壳面积，所以 v=0 不是最可能速度。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0E1A92-EBD0-45F2-9648-82AB67B3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826442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DEB3B9-7712-42D9-B7EE-684180DA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93046E0-2E87-4242-9518-EC5449B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CF62A98-FE80-48ED-A000-0DD6B23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页｜Moments of the speed distribution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911915B-F1A9-4B75-8E27-68AEF70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速率分布给出平均速率 ⟨v⟩=∫₀∞vf(v)dv=√[8kBT/(πm)]，以及均方速率 ⟨v²⟩=∫₀∞v²f(v)dv=3kBT/m。各方向均方速度相加得到 ⟨vx²+vy²+vz²⟩=3kBT/m，从而得到能量均分。图中最概然速率、平均速率和方均根速率依次不同。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F708F6-D93A-4D59-A57C-7F99470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811235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D021998-CA17-430F-BDFD-26B4F45F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BF2DB42-7D3C-49C4-BD67-8572FA3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5D0E3D6-0677-4D97-BC5C-E8D4B92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6BC4C08-32FC-4198-A966-7E6741F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⟨v⟩ = √[8kBT/(πm)]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平均速率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⟨v²⟩ = 3kBT/m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均方速率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½m⟨v²⟩ = 3kBT/2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三个平动自由度的平均动能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4F44524-E366-40D7-8FD3-FED1A513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20329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D14414A-5BC5-4DE0-81E4-8287E11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9B7A51B-CDE9-4E79-93F2-3F922795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799D63C-FCA1-4D00-A6F1-8255754A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8E2596-2D3C-4E58-8097-DAD816B1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一定区分三种“典型速度”：峰值 vmp、均值 ⟨v⟩、方均根 vrms。它们数值不同，但都按 √(T/m) 缩放。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43FF45-C24A-4BE2-8B51-7FD66B35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791176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A20EDC1-3E56-473E-9EB7-EC7EF2C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5CB3A3B-42DC-4046-ACCF-9B76933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6843050-556B-478B-A112-65B512A1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页｜Pressure and the ideal-gas law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0C2A113-6BCC-4A95-998A-1BEB800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粒子撞击边长 L 的壁面时，x 动量改变 Δpx=(−mvx)−(mvx)=−2mvx；相邻撞击时间 2L/|vx|，所以对壁平均力大小为 mvx²/L。N 个粒子给出 P=(m/L³)Σi vxi²。取平均并用 ⟨vxi²⟩=kBT/m，得到 P=NkBT/L³，也就是 PV=NkBT。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EB0805D-D5DF-41AA-B5F6-D6C19A0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6737092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60C79BE-8CA5-43BA-BAFA-82D80BEC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3F94EF-92B2-4CAD-AF78-20F1DDE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78C6EDA-5F09-4090-A4AB-C85DAC43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E08FF9-598A-4EA4-A077-D23C510C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Δpx = −2mvx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一次弹性反射的粒子动量变化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|Δpx|/Δt = mvx²/L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单粒子对壁平均力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 = (m/L³) Σi vxi²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粒子的瞬时压强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 = 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F5F90E-411A-437D-9B1E-F3676C6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6847284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606B425-01E9-4776-8FF4-691826A9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EDFE496-4A7F-4B2A-9DD7-9EA38796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7127AE-ED5F-4BAC-9D09-036E75B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A0D5864-88A9-4B61-BE6C-4A28976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压强是大量粒子碰壁传递动量的通量。这里 L³=V，且只用 x 分量，因为研究的是垂直 x 墙面的动量。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40176BB-8ED3-461B-88DA-2FAC0CD7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1376268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1472DA-DCD1-499B-A100-DE14C4B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2468786-911F-4B8E-BAA0-DE64ABB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1490739-6794-45FF-9F6A-647BE47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页｜From kinetic theory to ensemble theory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8C49C07-AF04-4C72-96DC-DD0E7C8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理想气体定律和能量均分是大型系统统计行为的结果。Maxwell–Boltzmann 分布是理想、无相互作用气体的统计模型。更一般的统计模型将由系综理论给出。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39E3537-009A-4BD0-B134-08D0100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6320677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86BF865-EC9B-414E-BC2D-E2B745B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07A5352-878F-4E45-8F9B-EC646DB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D04ABE-C9CA-43E9-A69C-3B9E197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137F08F-0299-4C40-B1ED-2957D6B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P(v)=f(v)dv=(4/√π)(m/2kBT)^(3/2)v²e^(−mv²/2kBT)dv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本讲使用的具体统计模型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1E809C9-8229-4752-A7C9-B699BFE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8751941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5A2CBE3-2EEE-4584-8B9A-B6DA7C81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1C3183-9EA6-4A48-A621-1C627102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3B76BD-3398-4293-AD86-E8445C4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794D31E-A1AB-4E3A-93FF-6F48F0F0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这页把第一讲闭环：一个具体分布已经能导出宏观规律，但下一步需要统一规则来决定任意多粒子系统的概率分布。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870E2CA-FD96-4A00-8439-A209B9B4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12812682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977</Words>
  <Application>Microsoft Office PowerPoint</Application>
  <PresentationFormat>Widescreen</PresentationFormat>
  <Paragraphs>225</Paragraphs>
  <Slides>89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</vt:lpstr>
      <vt:lpstr>Constantia</vt:lpstr>
      <vt:lpstr>Roboto</vt:lpstr>
      <vt:lpstr>Tw Cen MT</vt:lpstr>
      <vt:lpstr>Wingdings 3</vt:lpstr>
      <vt:lpstr>Integral</vt:lpstr>
      <vt:lpstr>Thermodynamics and Statistical physics phy301</vt:lpstr>
      <vt:lpstr>Before we start</vt:lpstr>
      <vt:lpstr>My Office</vt:lpstr>
      <vt:lpstr>What is statistical Physics/mechanics?</vt:lpstr>
      <vt:lpstr>Why statistics?</vt:lpstr>
      <vt:lpstr>Sketch of PHY301</vt:lpstr>
      <vt:lpstr>Additional References</vt:lpstr>
      <vt:lpstr>Statistical physics phy301</vt:lpstr>
      <vt:lpstr>Thermodynamics system</vt:lpstr>
      <vt:lpstr>Thermodynamics system</vt:lpstr>
      <vt:lpstr>Laws of Thermodynamics</vt:lpstr>
      <vt:lpstr>Laws of Thermodynamics</vt:lpstr>
      <vt:lpstr>Laws of Thermodynamics</vt:lpstr>
      <vt:lpstr>Laws of Thermodynamics</vt:lpstr>
      <vt:lpstr>Laws of Thermodynamics</vt:lpstr>
      <vt:lpstr>Laws of Thermodynamics</vt:lpstr>
      <vt:lpstr>Thermodynamics potential</vt:lpstr>
      <vt:lpstr>Thermodynamics potential</vt:lpstr>
      <vt:lpstr>Laws of Thermodynamics</vt:lpstr>
      <vt:lpstr>Phase transition</vt:lpstr>
      <vt:lpstr>Kinetic theory of gas (1st statistical approach)</vt:lpstr>
      <vt:lpstr>Kinetic theory of gas</vt:lpstr>
      <vt:lpstr>Kinetic theory of gas</vt:lpstr>
      <vt:lpstr>Kinetic theory of gas</vt:lpstr>
      <vt:lpstr>Kinetic theory of 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1661</cp:revision>
  <dcterms:created xsi:type="dcterms:W3CDTF">2024-08-25T23:32:26Z</dcterms:created>
  <dcterms:modified xsi:type="dcterms:W3CDTF">2025-09-29T12:29:03Z</dcterms:modified>
</cp:coreProperties>
</file>