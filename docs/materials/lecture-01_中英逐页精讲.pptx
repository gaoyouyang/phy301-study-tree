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notesMasterIdLst>
    <p:notesMasterId r:id="rId27"/>
  </p:notesMasterIdLst>
  <p:sldIdLst>
    <p:sldId id="256" r:id="rId2"/>
    <p:sldId id="627" r:id="rId32"/>
    <p:sldId id="628" r:id="rId33"/>
    <p:sldId id="400" r:id="rId3"/>
    <p:sldId id="629" r:id="rId34"/>
    <p:sldId id="630" r:id="rId35"/>
    <p:sldId id="619" r:id="rId4"/>
    <p:sldId id="631" r:id="rId36"/>
    <p:sldId id="632" r:id="rId37"/>
    <p:sldId id="262" r:id="rId5"/>
    <p:sldId id="633" r:id="rId38"/>
    <p:sldId id="634" r:id="rId39"/>
    <p:sldId id="264" r:id="rId6"/>
    <p:sldId id="635" r:id="rId40"/>
    <p:sldId id="636" r:id="rId41"/>
    <p:sldId id="637" r:id="rId42"/>
    <p:sldId id="263" r:id="rId7"/>
    <p:sldId id="638" r:id="rId43"/>
    <p:sldId id="639" r:id="rId44"/>
    <p:sldId id="269" r:id="rId8"/>
    <p:sldId id="640" r:id="rId45"/>
    <p:sldId id="641" r:id="rId46"/>
    <p:sldId id="273" r:id="rId9"/>
    <p:sldId id="642" r:id="rId47"/>
    <p:sldId id="643" r:id="rId48"/>
    <p:sldId id="268" r:id="rId10"/>
    <p:sldId id="644" r:id="rId49"/>
    <p:sldId id="645" r:id="rId50"/>
    <p:sldId id="646" r:id="rId51"/>
    <p:sldId id="624" r:id="rId11"/>
    <p:sldId id="647" r:id="rId52"/>
    <p:sldId id="648" r:id="rId53"/>
    <p:sldId id="270" r:id="rId12"/>
    <p:sldId id="649" r:id="rId54"/>
    <p:sldId id="650" r:id="rId55"/>
    <p:sldId id="271" r:id="rId13"/>
    <p:sldId id="651" r:id="rId56"/>
    <p:sldId id="652" r:id="rId57"/>
    <p:sldId id="653" r:id="rId58"/>
    <p:sldId id="272" r:id="rId14"/>
    <p:sldId id="654" r:id="rId59"/>
    <p:sldId id="655" r:id="rId60"/>
    <p:sldId id="656" r:id="rId61"/>
    <p:sldId id="277" r:id="rId15"/>
    <p:sldId id="657" r:id="rId62"/>
    <p:sldId id="658" r:id="rId63"/>
    <p:sldId id="659" r:id="rId64"/>
    <p:sldId id="278" r:id="rId16"/>
    <p:sldId id="660" r:id="rId65"/>
    <p:sldId id="661" r:id="rId66"/>
    <p:sldId id="662" r:id="rId67"/>
    <p:sldId id="402" r:id="rId17"/>
    <p:sldId id="663" r:id="rId68"/>
    <p:sldId id="664" r:id="rId69"/>
    <p:sldId id="665" r:id="rId70"/>
    <p:sldId id="625" r:id="rId18"/>
    <p:sldId id="666" r:id="rId71"/>
    <p:sldId id="667" r:id="rId72"/>
    <p:sldId id="279" r:id="rId19"/>
    <p:sldId id="668" r:id="rId73"/>
    <p:sldId id="669" r:id="rId74"/>
    <p:sldId id="670" r:id="rId75"/>
    <p:sldId id="281" r:id="rId20"/>
    <p:sldId id="671" r:id="rId76"/>
    <p:sldId id="672" r:id="rId77"/>
    <p:sldId id="673" r:id="rId78"/>
    <p:sldId id="626" r:id="rId21"/>
    <p:sldId id="674" r:id="rId79"/>
    <p:sldId id="675" r:id="rId80"/>
    <p:sldId id="280" r:id="rId22"/>
    <p:sldId id="676" r:id="rId81"/>
    <p:sldId id="677" r:id="rId82"/>
    <p:sldId id="678" r:id="rId83"/>
    <p:sldId id="294" r:id="rId23"/>
    <p:sldId id="679" r:id="rId84"/>
    <p:sldId id="680" r:id="rId85"/>
    <p:sldId id="681" r:id="rId86"/>
    <p:sldId id="295" r:id="rId24"/>
    <p:sldId id="682" r:id="rId87"/>
    <p:sldId id="683" r:id="rId88"/>
    <p:sldId id="684" r:id="rId89"/>
    <p:sldId id="296" r:id="rId25"/>
    <p:sldId id="685" r:id="rId90"/>
    <p:sldId id="686" r:id="rId91"/>
    <p:sldId id="687" r:id="rId92"/>
    <p:sldId id="282" r:id="rId26"/>
    <p:sldId id="688" r:id="rId93"/>
    <p:sldId id="689" r:id="rId94"/>
    <p:sldId id="690" r:id="rId9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  <a:srgbClr val="1AA0D3"/>
    <a:srgbClr val="FFFFFF"/>
    <a:srgbClr val="DFE3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712"/>
  </p:normalViewPr>
  <p:slideViewPr>
    <p:cSldViewPr snapToGrid="0" snapToObjects="1">
      <p:cViewPr varScale="1">
        <p:scale>
          <a:sx n="66" d="100"/>
          <a:sy n="66" d="100"/>
        </p:scale>
        <p:origin x="66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C4CF7-F995-064A-A609-EA130F94374C}" type="datetimeFigureOut">
              <a:rPr lang="en-US" smtClean="0"/>
              <a:t>9/29/2025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F87CB1-692F-4249-B4E0-C0426D9B9C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F87CB1-692F-4249-B4E0-C0426D9B9CC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954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You already learn many of them in the high school. You know how to solve those problem. Today, I will give you a little perspective, Not just teach you how to solve problem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F87CB1-692F-4249-B4E0-C0426D9B9CC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335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You already learn many of them in the high school. You know how to solve those problem. Today, I will give you a little perspective, Not just teach you how to solve problem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F87CB1-692F-4249-B4E0-C0426D9B9CC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535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AD6EE87-EBD5-4F12-A48A-63ACA297AC8F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6371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726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7768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908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881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794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5409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6950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4918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558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9586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0298CD5-6C1E-4009-B41F-6DF62E31D3BE}" type="datetimeFigureOut">
              <a:rPr lang="en-US" smtClean="0"/>
              <a:pPr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0306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13" Type="http://schemas.openxmlformats.org/officeDocument/2006/relationships/image" Target="../media/image19.emf"/><Relationship Id="rId3" Type="http://schemas.openxmlformats.org/officeDocument/2006/relationships/image" Target="../media/image10.emf"/><Relationship Id="rId7" Type="http://schemas.openxmlformats.org/officeDocument/2006/relationships/image" Target="../media/image13.emf"/><Relationship Id="rId12" Type="http://schemas.openxmlformats.org/officeDocument/2006/relationships/image" Target="../media/image18.emf"/><Relationship Id="rId17" Type="http://schemas.openxmlformats.org/officeDocument/2006/relationships/image" Target="../media/image2.png"/><Relationship Id="rId2" Type="http://schemas.openxmlformats.org/officeDocument/2006/relationships/image" Target="../media/image9.emf"/><Relationship Id="rId16" Type="http://schemas.openxmlformats.org/officeDocument/2006/relationships/image" Target="../media/image2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emf"/><Relationship Id="rId11" Type="http://schemas.openxmlformats.org/officeDocument/2006/relationships/image" Target="../media/image17.emf"/><Relationship Id="rId5" Type="http://schemas.openxmlformats.org/officeDocument/2006/relationships/image" Target="../media/image11.emf"/><Relationship Id="rId15" Type="http://schemas.openxmlformats.org/officeDocument/2006/relationships/image" Target="../media/image21.emf"/><Relationship Id="rId10" Type="http://schemas.openxmlformats.org/officeDocument/2006/relationships/image" Target="../media/image16.emf"/><Relationship Id="rId4" Type="http://schemas.openxmlformats.org/officeDocument/2006/relationships/image" Target="../media/image5.png"/><Relationship Id="rId9" Type="http://schemas.openxmlformats.org/officeDocument/2006/relationships/image" Target="../media/image15.emf"/><Relationship Id="rId14" Type="http://schemas.openxmlformats.org/officeDocument/2006/relationships/image" Target="../media/image20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emf"/><Relationship Id="rId4" Type="http://schemas.openxmlformats.org/officeDocument/2006/relationships/image" Target="../media/image25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1.emf"/><Relationship Id="rId4" Type="http://schemas.openxmlformats.org/officeDocument/2006/relationships/image" Target="../media/image30.e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emf"/><Relationship Id="rId3" Type="http://schemas.openxmlformats.org/officeDocument/2006/relationships/image" Target="../media/image33.emf"/><Relationship Id="rId7" Type="http://schemas.openxmlformats.org/officeDocument/2006/relationships/image" Target="../media/image37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emf"/><Relationship Id="rId11" Type="http://schemas.openxmlformats.org/officeDocument/2006/relationships/image" Target="../media/image40.png"/><Relationship Id="rId5" Type="http://schemas.openxmlformats.org/officeDocument/2006/relationships/image" Target="../media/image35.emf"/><Relationship Id="rId10" Type="http://schemas.openxmlformats.org/officeDocument/2006/relationships/image" Target="../media/image2.png"/><Relationship Id="rId4" Type="http://schemas.openxmlformats.org/officeDocument/2006/relationships/image" Target="../media/image34.emf"/><Relationship Id="rId9" Type="http://schemas.openxmlformats.org/officeDocument/2006/relationships/image" Target="../media/image39.emf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emf"/><Relationship Id="rId13" Type="http://schemas.openxmlformats.org/officeDocument/2006/relationships/image" Target="../media/image49.emf"/><Relationship Id="rId18" Type="http://schemas.openxmlformats.org/officeDocument/2006/relationships/image" Target="../media/image52.emf"/><Relationship Id="rId3" Type="http://schemas.openxmlformats.org/officeDocument/2006/relationships/image" Target="../media/image41.emf"/><Relationship Id="rId21" Type="http://schemas.openxmlformats.org/officeDocument/2006/relationships/image" Target="../media/image55.emf"/><Relationship Id="rId7" Type="http://schemas.openxmlformats.org/officeDocument/2006/relationships/image" Target="../media/image44.emf"/><Relationship Id="rId12" Type="http://schemas.openxmlformats.org/officeDocument/2006/relationships/image" Target="../media/image48.emf"/><Relationship Id="rId17" Type="http://schemas.openxmlformats.org/officeDocument/2006/relationships/image" Target="../media/image51.emf"/><Relationship Id="rId2" Type="http://schemas.openxmlformats.org/officeDocument/2006/relationships/image" Target="../media/image32.emf"/><Relationship Id="rId16" Type="http://schemas.openxmlformats.org/officeDocument/2006/relationships/image" Target="../media/image39.emf"/><Relationship Id="rId20" Type="http://schemas.openxmlformats.org/officeDocument/2006/relationships/image" Target="../media/image5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emf"/><Relationship Id="rId11" Type="http://schemas.openxmlformats.org/officeDocument/2006/relationships/image" Target="../media/image31.emf"/><Relationship Id="rId24" Type="http://schemas.openxmlformats.org/officeDocument/2006/relationships/image" Target="../media/image58.svg"/><Relationship Id="rId5" Type="http://schemas.openxmlformats.org/officeDocument/2006/relationships/image" Target="../media/image42.emf"/><Relationship Id="rId15" Type="http://schemas.openxmlformats.org/officeDocument/2006/relationships/image" Target="../media/image38.emf"/><Relationship Id="rId23" Type="http://schemas.openxmlformats.org/officeDocument/2006/relationships/image" Target="../media/image57.png"/><Relationship Id="rId10" Type="http://schemas.openxmlformats.org/officeDocument/2006/relationships/image" Target="../media/image47.emf"/><Relationship Id="rId19" Type="http://schemas.openxmlformats.org/officeDocument/2006/relationships/image" Target="../media/image53.emf"/><Relationship Id="rId4" Type="http://schemas.openxmlformats.org/officeDocument/2006/relationships/image" Target="../media/image36.emf"/><Relationship Id="rId9" Type="http://schemas.openxmlformats.org/officeDocument/2006/relationships/image" Target="../media/image46.emf"/><Relationship Id="rId14" Type="http://schemas.openxmlformats.org/officeDocument/2006/relationships/image" Target="../media/image50.emf"/><Relationship Id="rId22" Type="http://schemas.openxmlformats.org/officeDocument/2006/relationships/image" Target="../media/image56.emf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emf"/><Relationship Id="rId3" Type="http://schemas.openxmlformats.org/officeDocument/2006/relationships/image" Target="../media/image41.emf"/><Relationship Id="rId7" Type="http://schemas.openxmlformats.org/officeDocument/2006/relationships/image" Target="../media/image61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emf"/><Relationship Id="rId5" Type="http://schemas.openxmlformats.org/officeDocument/2006/relationships/image" Target="../media/image59.emf"/><Relationship Id="rId4" Type="http://schemas.openxmlformats.org/officeDocument/2006/relationships/image" Target="../media/image36.emf"/><Relationship Id="rId9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emf"/><Relationship Id="rId13" Type="http://schemas.openxmlformats.org/officeDocument/2006/relationships/image" Target="../media/image71.emf"/><Relationship Id="rId18" Type="http://schemas.openxmlformats.org/officeDocument/2006/relationships/image" Target="../media/image76.png"/><Relationship Id="rId3" Type="http://schemas.openxmlformats.org/officeDocument/2006/relationships/image" Target="../media/image64.svg"/><Relationship Id="rId7" Type="http://schemas.openxmlformats.org/officeDocument/2006/relationships/image" Target="../media/image65.emf"/><Relationship Id="rId12" Type="http://schemas.openxmlformats.org/officeDocument/2006/relationships/image" Target="../media/image70.emf"/><Relationship Id="rId17" Type="http://schemas.openxmlformats.org/officeDocument/2006/relationships/image" Target="../media/image75.svg"/><Relationship Id="rId2" Type="http://schemas.openxmlformats.org/officeDocument/2006/relationships/image" Target="../media/image63.png"/><Relationship Id="rId16" Type="http://schemas.openxmlformats.org/officeDocument/2006/relationships/image" Target="../media/image74.png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emf"/><Relationship Id="rId11" Type="http://schemas.openxmlformats.org/officeDocument/2006/relationships/image" Target="../media/image69.emf"/><Relationship Id="rId5" Type="http://schemas.openxmlformats.org/officeDocument/2006/relationships/image" Target="../media/image41.emf"/><Relationship Id="rId15" Type="http://schemas.openxmlformats.org/officeDocument/2006/relationships/image" Target="../media/image73.emf"/><Relationship Id="rId10" Type="http://schemas.openxmlformats.org/officeDocument/2006/relationships/image" Target="../media/image68.emf"/><Relationship Id="rId19" Type="http://schemas.openxmlformats.org/officeDocument/2006/relationships/image" Target="../media/image77.svg"/><Relationship Id="rId4" Type="http://schemas.openxmlformats.org/officeDocument/2006/relationships/image" Target="../media/image32.emf"/><Relationship Id="rId9" Type="http://schemas.openxmlformats.org/officeDocument/2006/relationships/image" Target="../media/image67.emf"/><Relationship Id="rId14" Type="http://schemas.openxmlformats.org/officeDocument/2006/relationships/image" Target="../media/image72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emf"/><Relationship Id="rId3" Type="http://schemas.openxmlformats.org/officeDocument/2006/relationships/image" Target="../media/image78.emf"/><Relationship Id="rId7" Type="http://schemas.openxmlformats.org/officeDocument/2006/relationships/image" Target="../media/image82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emf"/><Relationship Id="rId4" Type="http://schemas.openxmlformats.org/officeDocument/2006/relationships/image" Target="../media/image79.emf"/><Relationship Id="rId9" Type="http://schemas.openxmlformats.org/officeDocument/2006/relationships/image" Target="../media/image84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jpeg"/><Relationship Id="rId3" Type="http://schemas.openxmlformats.org/officeDocument/2006/relationships/image" Target="../media/image86.emf"/><Relationship Id="rId7" Type="http://schemas.openxmlformats.org/officeDocument/2006/relationships/image" Target="../media/image90.emf"/><Relationship Id="rId2" Type="http://schemas.openxmlformats.org/officeDocument/2006/relationships/image" Target="../media/image8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emf"/><Relationship Id="rId11" Type="http://schemas.openxmlformats.org/officeDocument/2006/relationships/image" Target="../media/image31.emf"/><Relationship Id="rId5" Type="http://schemas.openxmlformats.org/officeDocument/2006/relationships/image" Target="../media/image88.emf"/><Relationship Id="rId10" Type="http://schemas.openxmlformats.org/officeDocument/2006/relationships/image" Target="../media/image2.png"/><Relationship Id="rId4" Type="http://schemas.openxmlformats.org/officeDocument/2006/relationships/image" Target="../media/image87.emf"/><Relationship Id="rId9" Type="http://schemas.openxmlformats.org/officeDocument/2006/relationships/image" Target="../media/image9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emf"/><Relationship Id="rId2" Type="http://schemas.openxmlformats.org/officeDocument/2006/relationships/image" Target="../media/image9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96.svg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emf"/><Relationship Id="rId2" Type="http://schemas.openxmlformats.org/officeDocument/2006/relationships/image" Target="../media/image9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e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emf"/><Relationship Id="rId3" Type="http://schemas.openxmlformats.org/officeDocument/2006/relationships/image" Target="../media/image101.emf"/><Relationship Id="rId7" Type="http://schemas.openxmlformats.org/officeDocument/2006/relationships/image" Target="../media/image105.emf"/><Relationship Id="rId2" Type="http://schemas.openxmlformats.org/officeDocument/2006/relationships/image" Target="../media/image10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jpeg"/><Relationship Id="rId5" Type="http://schemas.openxmlformats.org/officeDocument/2006/relationships/image" Target="../media/image103.jpeg"/><Relationship Id="rId4" Type="http://schemas.openxmlformats.org/officeDocument/2006/relationships/image" Target="../media/image102.emf"/><Relationship Id="rId9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emf"/><Relationship Id="rId3" Type="http://schemas.openxmlformats.org/officeDocument/2006/relationships/image" Target="../media/image108.emf"/><Relationship Id="rId7" Type="http://schemas.openxmlformats.org/officeDocument/2006/relationships/image" Target="../media/image111.emf"/><Relationship Id="rId12" Type="http://schemas.openxmlformats.org/officeDocument/2006/relationships/image" Target="../media/image2.png"/><Relationship Id="rId2" Type="http://schemas.openxmlformats.org/officeDocument/2006/relationships/image" Target="../media/image10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emf"/><Relationship Id="rId11" Type="http://schemas.openxmlformats.org/officeDocument/2006/relationships/image" Target="../media/image115.svg"/><Relationship Id="rId5" Type="http://schemas.openxmlformats.org/officeDocument/2006/relationships/image" Target="../media/image110.emf"/><Relationship Id="rId10" Type="http://schemas.openxmlformats.org/officeDocument/2006/relationships/image" Target="../media/image114.png"/><Relationship Id="rId4" Type="http://schemas.openxmlformats.org/officeDocument/2006/relationships/image" Target="../media/image109.emf"/><Relationship Id="rId9" Type="http://schemas.openxmlformats.org/officeDocument/2006/relationships/image" Target="../media/image113.e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13.emf"/><Relationship Id="rId7" Type="http://schemas.openxmlformats.org/officeDocument/2006/relationships/image" Target="../media/image111.emf"/><Relationship Id="rId2" Type="http://schemas.openxmlformats.org/officeDocument/2006/relationships/image" Target="../media/image11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emf"/><Relationship Id="rId5" Type="http://schemas.openxmlformats.org/officeDocument/2006/relationships/image" Target="../media/image117.emf"/><Relationship Id="rId4" Type="http://schemas.openxmlformats.org/officeDocument/2006/relationships/image" Target="../media/image116.e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jpeg"/><Relationship Id="rId3" Type="http://schemas.openxmlformats.org/officeDocument/2006/relationships/image" Target="../media/image120.emf"/><Relationship Id="rId7" Type="http://schemas.openxmlformats.org/officeDocument/2006/relationships/image" Target="../media/image124.emf"/><Relationship Id="rId2" Type="http://schemas.openxmlformats.org/officeDocument/2006/relationships/image" Target="../media/image11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3.emf"/><Relationship Id="rId5" Type="http://schemas.openxmlformats.org/officeDocument/2006/relationships/image" Target="../media/image122.emf"/><Relationship Id="rId10" Type="http://schemas.openxmlformats.org/officeDocument/2006/relationships/image" Target="../media/image2.png"/><Relationship Id="rId4" Type="http://schemas.openxmlformats.org/officeDocument/2006/relationships/image" Target="../media/image121.emf"/><Relationship Id="rId9" Type="http://schemas.openxmlformats.org/officeDocument/2006/relationships/image" Target="../media/image126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1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Thermodynamics and Statistical physics phy301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Lecturer: Kok Wee Song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7E7433-3010-4CEE-8506-A24A75FDE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38272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52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Before we 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7359" y="2408942"/>
            <a:ext cx="108450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Attendance</a:t>
            </a:r>
            <a:r>
              <a:rPr lang="en-US" sz="2800" b="1" dirty="0"/>
              <a:t> is mandatory.</a:t>
            </a:r>
            <a:r>
              <a:rPr lang="en-US" sz="2800" dirty="0"/>
              <a:t> Please sign 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7359" y="3304065"/>
            <a:ext cx="5657383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Evaluation:</a:t>
            </a:r>
            <a:r>
              <a:rPr lang="en-US" sz="2800" dirty="0"/>
              <a:t> Assignment (30%), </a:t>
            </a:r>
          </a:p>
          <a:p>
            <a:endParaRPr lang="en-US" sz="2800" dirty="0"/>
          </a:p>
          <a:p>
            <a:r>
              <a:rPr lang="en-US" sz="2800" dirty="0"/>
              <a:t>                      Mid-term exam (30%),</a:t>
            </a:r>
          </a:p>
          <a:p>
            <a:endParaRPr lang="en-US" sz="2800" dirty="0"/>
          </a:p>
          <a:p>
            <a:r>
              <a:rPr lang="en-US" sz="2800" dirty="0"/>
              <a:t>                      Final exam (40%)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0" y="3105834"/>
            <a:ext cx="330770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u="sng" dirty="0"/>
              <a:t>3  assignments</a:t>
            </a:r>
          </a:p>
          <a:p>
            <a:pPr algn="ctr"/>
            <a:r>
              <a:rPr lang="en-US" b="1" u="sng" dirty="0"/>
              <a:t>[</a:t>
            </a:r>
            <a:r>
              <a:rPr lang="en-US" b="1" u="sng" dirty="0" err="1"/>
              <a:t>moodle</a:t>
            </a:r>
            <a:r>
              <a:rPr lang="en-US" b="1" u="sng" dirty="0"/>
              <a:t>, online submission]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0" y="4309985"/>
            <a:ext cx="9190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week 8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0" y="5252596"/>
            <a:ext cx="17518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Exam week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451F37-CDCD-4D23-8765-2DC14ED13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08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 Office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53828" y="2093976"/>
            <a:ext cx="6290440" cy="2364828"/>
          </a:xfrm>
          <a:prstGeom prst="roundRect">
            <a:avLst/>
          </a:prstGeom>
          <a:solidFill>
            <a:schemeClr val="bg2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u="sng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OFFICE (A1 379)</a:t>
            </a:r>
          </a:p>
          <a:p>
            <a:pPr algn="ctr"/>
            <a:r>
              <a:rPr lang="en-US" sz="36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Wed     12 pm </a:t>
            </a:r>
            <a:r>
              <a:rPr lang="mr-IN" sz="36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–</a:t>
            </a:r>
            <a:r>
              <a:rPr lang="en-US" sz="36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2 pm</a:t>
            </a:r>
          </a:p>
          <a:p>
            <a:pPr algn="ctr"/>
            <a:r>
              <a:rPr lang="en-US" sz="36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Thu     2 pm </a:t>
            </a:r>
            <a:r>
              <a:rPr lang="mr-IN" sz="36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–</a:t>
            </a:r>
            <a:r>
              <a:rPr lang="en-US" sz="36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4 pm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752F25-4708-45E3-84C9-F7DAA3FD4EA2}"/>
              </a:ext>
            </a:extLst>
          </p:cNvPr>
          <p:cNvSpPr txBox="1"/>
          <p:nvPr/>
        </p:nvSpPr>
        <p:spPr>
          <a:xfrm>
            <a:off x="4035971" y="4800076"/>
            <a:ext cx="3617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Email: kokwee.song@xmu.edu.my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0CB0CE-6EF7-4B56-9803-C36DC5D006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484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2489609" y="3085408"/>
            <a:ext cx="7344423" cy="3706440"/>
            <a:chOff x="2489609" y="3085408"/>
            <a:chExt cx="7344423" cy="3706440"/>
          </a:xfrm>
        </p:grpSpPr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89609" y="3085408"/>
              <a:ext cx="7344423" cy="3706440"/>
            </a:xfrm>
            <a:prstGeom prst="rect">
              <a:avLst/>
            </a:prstGeom>
          </p:spPr>
        </p:pic>
        <p:sp>
          <p:nvSpPr>
            <p:cNvPr id="13" name="Rectangle 12"/>
            <p:cNvSpPr/>
            <p:nvPr/>
          </p:nvSpPr>
          <p:spPr>
            <a:xfrm>
              <a:off x="7160654" y="3121047"/>
              <a:ext cx="2673378" cy="8070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statistical Physics/mechanics?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3485" y="3332339"/>
            <a:ext cx="1535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Wikipedia: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0457" y="2331076"/>
            <a:ext cx="6982625" cy="60530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5182" y="1455313"/>
            <a:ext cx="1856944" cy="26539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8838" y="2698257"/>
            <a:ext cx="1742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Mehran </a:t>
            </a:r>
            <a:r>
              <a:rPr lang="en-US" dirty="0" err="1"/>
              <a:t>Kardar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489DB6-E17D-4D39-BB69-8854C408BF48}"/>
              </a:ext>
            </a:extLst>
          </p:cNvPr>
          <p:cNvSpPr/>
          <p:nvPr/>
        </p:nvSpPr>
        <p:spPr>
          <a:xfrm>
            <a:off x="2489609" y="6051550"/>
            <a:ext cx="4131908" cy="740297"/>
          </a:xfrm>
          <a:custGeom>
            <a:avLst/>
            <a:gdLst>
              <a:gd name="connsiteX0" fmla="*/ 0 w 4131908"/>
              <a:gd name="connsiteY0" fmla="*/ 0 h 737889"/>
              <a:gd name="connsiteX1" fmla="*/ 4131908 w 4131908"/>
              <a:gd name="connsiteY1" fmla="*/ 0 h 737889"/>
              <a:gd name="connsiteX2" fmla="*/ 4131908 w 4131908"/>
              <a:gd name="connsiteY2" fmla="*/ 737889 h 737889"/>
              <a:gd name="connsiteX3" fmla="*/ 0 w 4131908"/>
              <a:gd name="connsiteY3" fmla="*/ 737889 h 737889"/>
              <a:gd name="connsiteX4" fmla="*/ 0 w 4131908"/>
              <a:gd name="connsiteY4" fmla="*/ 0 h 737889"/>
              <a:gd name="connsiteX0" fmla="*/ 0 w 4131908"/>
              <a:gd name="connsiteY0" fmla="*/ 2408 h 740297"/>
              <a:gd name="connsiteX1" fmla="*/ 1868608 w 4131908"/>
              <a:gd name="connsiteY1" fmla="*/ 0 h 740297"/>
              <a:gd name="connsiteX2" fmla="*/ 4131908 w 4131908"/>
              <a:gd name="connsiteY2" fmla="*/ 2408 h 740297"/>
              <a:gd name="connsiteX3" fmla="*/ 4131908 w 4131908"/>
              <a:gd name="connsiteY3" fmla="*/ 740297 h 740297"/>
              <a:gd name="connsiteX4" fmla="*/ 0 w 4131908"/>
              <a:gd name="connsiteY4" fmla="*/ 740297 h 740297"/>
              <a:gd name="connsiteX5" fmla="*/ 0 w 4131908"/>
              <a:gd name="connsiteY5" fmla="*/ 2408 h 740297"/>
              <a:gd name="connsiteX0" fmla="*/ 0 w 4131908"/>
              <a:gd name="connsiteY0" fmla="*/ 2408 h 740297"/>
              <a:gd name="connsiteX1" fmla="*/ 1872841 w 4131908"/>
              <a:gd name="connsiteY1" fmla="*/ 224367 h 740297"/>
              <a:gd name="connsiteX2" fmla="*/ 1868608 w 4131908"/>
              <a:gd name="connsiteY2" fmla="*/ 0 h 740297"/>
              <a:gd name="connsiteX3" fmla="*/ 4131908 w 4131908"/>
              <a:gd name="connsiteY3" fmla="*/ 2408 h 740297"/>
              <a:gd name="connsiteX4" fmla="*/ 4131908 w 4131908"/>
              <a:gd name="connsiteY4" fmla="*/ 740297 h 740297"/>
              <a:gd name="connsiteX5" fmla="*/ 0 w 4131908"/>
              <a:gd name="connsiteY5" fmla="*/ 740297 h 740297"/>
              <a:gd name="connsiteX6" fmla="*/ 0 w 4131908"/>
              <a:gd name="connsiteY6" fmla="*/ 2408 h 740297"/>
              <a:gd name="connsiteX0" fmla="*/ 0 w 4131908"/>
              <a:gd name="connsiteY0" fmla="*/ 237358 h 740297"/>
              <a:gd name="connsiteX1" fmla="*/ 1872841 w 4131908"/>
              <a:gd name="connsiteY1" fmla="*/ 224367 h 740297"/>
              <a:gd name="connsiteX2" fmla="*/ 1868608 w 4131908"/>
              <a:gd name="connsiteY2" fmla="*/ 0 h 740297"/>
              <a:gd name="connsiteX3" fmla="*/ 4131908 w 4131908"/>
              <a:gd name="connsiteY3" fmla="*/ 2408 h 740297"/>
              <a:gd name="connsiteX4" fmla="*/ 4131908 w 4131908"/>
              <a:gd name="connsiteY4" fmla="*/ 740297 h 740297"/>
              <a:gd name="connsiteX5" fmla="*/ 0 w 4131908"/>
              <a:gd name="connsiteY5" fmla="*/ 740297 h 740297"/>
              <a:gd name="connsiteX6" fmla="*/ 0 w 4131908"/>
              <a:gd name="connsiteY6" fmla="*/ 237358 h 740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31908" h="740297">
                <a:moveTo>
                  <a:pt x="0" y="237358"/>
                </a:moveTo>
                <a:lnTo>
                  <a:pt x="1872841" y="224367"/>
                </a:lnTo>
                <a:lnTo>
                  <a:pt x="1868608" y="0"/>
                </a:lnTo>
                <a:lnTo>
                  <a:pt x="4131908" y="2408"/>
                </a:lnTo>
                <a:lnTo>
                  <a:pt x="4131908" y="740297"/>
                </a:lnTo>
                <a:lnTo>
                  <a:pt x="0" y="740297"/>
                </a:lnTo>
                <a:lnTo>
                  <a:pt x="0" y="237358"/>
                </a:lnTo>
                <a:close/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51154D-969B-4056-B018-59BD22E8FA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775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statistics?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89262" y="2073415"/>
            <a:ext cx="1058980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/>
              <a:t>Statistics allows us to learn certain properties of a complex phenomena.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83961" y="4543713"/>
            <a:ext cx="8067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Statistics DOES NOT tell you why, but the behavior/pattern of your observation.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589262" y="2923634"/>
            <a:ext cx="10589803" cy="1226037"/>
            <a:chOff x="589262" y="2923634"/>
            <a:chExt cx="10589803" cy="1226037"/>
          </a:xfrm>
        </p:grpSpPr>
        <p:sp>
          <p:nvSpPr>
            <p:cNvPr id="49" name="TextBox 48"/>
            <p:cNvSpPr txBox="1"/>
            <p:nvPr/>
          </p:nvSpPr>
          <p:spPr>
            <a:xfrm>
              <a:off x="589262" y="2923634"/>
              <a:ext cx="3022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Problem in a large system: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54049" y="3503340"/>
              <a:ext cx="1012501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~10</a:t>
              </a:r>
              <a:r>
                <a:rPr lang="en-US" b="1" baseline="30000" dirty="0"/>
                <a:t>23</a:t>
              </a:r>
              <a:r>
                <a:rPr lang="en-US" b="1" dirty="0"/>
                <a:t> particles, impossible to keep track </a:t>
              </a:r>
            </a:p>
            <a:p>
              <a:r>
                <a:rPr lang="en-US" b="1" dirty="0"/>
                <a:t>                                               → Macroscopic behavior, we do not care the details of each particles. </a:t>
              </a:r>
            </a:p>
          </p:txBody>
        </p: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DA4A4C2D-8A2D-4F48-BDDD-8035E7781C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60A6671-6FA6-46F3-A748-7BD0986A1480}"/>
              </a:ext>
            </a:extLst>
          </p:cNvPr>
          <p:cNvSpPr txBox="1"/>
          <p:nvPr/>
        </p:nvSpPr>
        <p:spPr>
          <a:xfrm>
            <a:off x="1822120" y="5702127"/>
            <a:ext cx="8464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Statistical physics/mechanics = statistical model + law of physics /mechanics</a:t>
            </a:r>
          </a:p>
        </p:txBody>
      </p:sp>
    </p:spTree>
    <p:extLst>
      <p:ext uri="{BB962C8B-B14F-4D97-AF65-F5344CB8AC3E}">
        <p14:creationId xmlns:p14="http://schemas.microsoft.com/office/powerpoint/2010/main" val="141498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Sketch of PHY301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2624064"/>
            <a:ext cx="85381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charset="0"/>
              <a:buChar char="•"/>
            </a:pPr>
            <a:r>
              <a:rPr lang="en-US" sz="2400" dirty="0"/>
              <a:t>Thermodynamic and its statistical approach (in </a:t>
            </a:r>
            <a:r>
              <a:rPr lang="en-US" sz="2400" b="1" dirty="0"/>
              <a:t>classical systems</a:t>
            </a:r>
            <a:r>
              <a:rPr lang="en-US" sz="2400" dirty="0"/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3337392"/>
            <a:ext cx="6678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charset="0"/>
              <a:buChar char="•"/>
            </a:pPr>
            <a:r>
              <a:rPr lang="en-US" sz="2400" dirty="0"/>
              <a:t>Statistical formulation for large </a:t>
            </a:r>
            <a:r>
              <a:rPr lang="en-US" sz="2400" b="1" dirty="0"/>
              <a:t>quantum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4073848"/>
            <a:ext cx="67567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charset="0"/>
              <a:buChar char="•"/>
            </a:pPr>
            <a:r>
              <a:rPr lang="en-US" sz="2400" b="1" dirty="0"/>
              <a:t>Phase transition</a:t>
            </a:r>
            <a:r>
              <a:rPr lang="en-US" sz="2400" dirty="0"/>
              <a:t> for classical and quantum 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760103"/>
            <a:ext cx="41216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charset="0"/>
              <a:buChar char="•"/>
            </a:pPr>
            <a:r>
              <a:rPr lang="en-US" sz="2400" b="1" dirty="0"/>
              <a:t>Non-equilibrium</a:t>
            </a:r>
            <a:r>
              <a:rPr lang="en-US" sz="2400" dirty="0"/>
              <a:t> phenomena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2219B5-536D-4F83-8102-13366B636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9901C8FE-ABA6-440F-8A15-CA3143079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1300" y="3156649"/>
            <a:ext cx="1812608" cy="2849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A90EE2B-E5FB-422A-BF86-9077D3E1CA21}"/>
              </a:ext>
            </a:extLst>
          </p:cNvPr>
          <p:cNvSpPr txBox="1"/>
          <p:nvPr/>
        </p:nvSpPr>
        <p:spPr>
          <a:xfrm>
            <a:off x="8209356" y="5934670"/>
            <a:ext cx="36165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 Kerson Huang,</a:t>
            </a:r>
          </a:p>
          <a:p>
            <a:pPr algn="ctr"/>
            <a:r>
              <a:rPr lang="en-US" dirty="0"/>
              <a:t>Introduction to statistical physics, </a:t>
            </a:r>
          </a:p>
          <a:p>
            <a:pPr algn="ctr"/>
            <a:r>
              <a:rPr lang="en-US" b="1" dirty="0"/>
              <a:t> ‎ </a:t>
            </a:r>
            <a:r>
              <a:rPr lang="en-US" dirty="0"/>
              <a:t> CRC press (2009)</a:t>
            </a:r>
          </a:p>
        </p:txBody>
      </p:sp>
    </p:spTree>
    <p:extLst>
      <p:ext uri="{BB962C8B-B14F-4D97-AF65-F5344CB8AC3E}">
        <p14:creationId xmlns:p14="http://schemas.microsoft.com/office/powerpoint/2010/main" val="239103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References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6123" y="1901578"/>
            <a:ext cx="1789096" cy="265391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244" y="1970468"/>
            <a:ext cx="1856944" cy="2653916"/>
          </a:xfrm>
          <a:prstGeom prst="rect">
            <a:avLst/>
          </a:prstGeom>
        </p:spPr>
      </p:pic>
      <p:pic>
        <p:nvPicPr>
          <p:cNvPr id="2050" name="Picture 2" descr="https://m.media-amazon.com/images/I/71AU+3aGJ1L._SL1240_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848" y="1942116"/>
            <a:ext cx="2163119" cy="2682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381630" y="4642964"/>
            <a:ext cx="34070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Mehran </a:t>
            </a:r>
            <a:r>
              <a:rPr lang="en-US" dirty="0" err="1"/>
              <a:t>Kardar</a:t>
            </a:r>
            <a:r>
              <a:rPr lang="en-US" dirty="0"/>
              <a:t>, </a:t>
            </a:r>
          </a:p>
          <a:p>
            <a:pPr algn="ctr"/>
            <a:r>
              <a:rPr lang="en-US" dirty="0"/>
              <a:t>Statistical Physics of Particles, </a:t>
            </a:r>
          </a:p>
          <a:p>
            <a:pPr algn="ctr"/>
            <a:r>
              <a:rPr lang="en-US" dirty="0"/>
              <a:t>Cambridge University press (2007)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5098" y="4624384"/>
            <a:ext cx="26786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 R.K. </a:t>
            </a:r>
            <a:r>
              <a:rPr lang="en-US" dirty="0" err="1"/>
              <a:t>Pathria</a:t>
            </a:r>
            <a:r>
              <a:rPr lang="en-US" dirty="0"/>
              <a:t>, Paul D. Beale,</a:t>
            </a:r>
          </a:p>
          <a:p>
            <a:pPr algn="ctr"/>
            <a:r>
              <a:rPr lang="en-US" dirty="0"/>
              <a:t>Statistical Mechanics, </a:t>
            </a:r>
          </a:p>
          <a:p>
            <a:pPr algn="ctr"/>
            <a:r>
              <a:rPr lang="en-US" b="1" dirty="0"/>
              <a:t> ‎ </a:t>
            </a:r>
            <a:r>
              <a:rPr lang="en-US" dirty="0"/>
              <a:t>Academic Press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65374" y="4642964"/>
            <a:ext cx="21705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 Kerson Huang,</a:t>
            </a:r>
          </a:p>
          <a:p>
            <a:pPr algn="ctr"/>
            <a:r>
              <a:rPr lang="en-US" dirty="0"/>
              <a:t>Statistical Mechanics, </a:t>
            </a:r>
          </a:p>
          <a:p>
            <a:pPr algn="ctr"/>
            <a:r>
              <a:rPr lang="en-US" b="1" dirty="0"/>
              <a:t> ‎ </a:t>
            </a:r>
            <a:r>
              <a:rPr lang="en-US" dirty="0"/>
              <a:t> Wiley (1991)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3957" y="6072729"/>
            <a:ext cx="100503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Statistical mechanics has a non-uniform viewpoints across difference textbooks.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0971" y="5469098"/>
            <a:ext cx="2719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(Dated, old style, but good)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80E5066-1826-4C2B-B8DA-335119342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695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Statistical physics phy301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Recap of thermodynamic and kinetic theory of (idea) gas</a:t>
            </a:r>
          </a:p>
          <a:p>
            <a:endParaRPr lang="en-US" dirty="0"/>
          </a:p>
          <a:p>
            <a:r>
              <a:rPr lang="en-US" dirty="0"/>
              <a:t>Lecturer: Kok Wee Song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885DD1-B84D-477A-A5E0-E3581655EF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38272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3207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0FCFA910-9AB1-45F6-ABEA-1D0A042A8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986" y="5520358"/>
            <a:ext cx="1782934" cy="1253626"/>
          </a:xfrm>
          <a:prstGeom prst="rect">
            <a:avLst/>
          </a:prstGeom>
        </p:spPr>
      </p:pic>
      <p:sp>
        <p:nvSpPr>
          <p:cNvPr id="20" name="Freeform 19"/>
          <p:cNvSpPr/>
          <p:nvPr/>
        </p:nvSpPr>
        <p:spPr>
          <a:xfrm>
            <a:off x="1197735" y="4582068"/>
            <a:ext cx="1983347" cy="711684"/>
          </a:xfrm>
          <a:custGeom>
            <a:avLst/>
            <a:gdLst>
              <a:gd name="connsiteX0" fmla="*/ 0 w 1983347"/>
              <a:gd name="connsiteY0" fmla="*/ 118721 h 711684"/>
              <a:gd name="connsiteX1" fmla="*/ 811369 w 1983347"/>
              <a:gd name="connsiteY1" fmla="*/ 711149 h 711684"/>
              <a:gd name="connsiteX2" fmla="*/ 1107583 w 1983347"/>
              <a:gd name="connsiteY2" fmla="*/ 28569 h 711684"/>
              <a:gd name="connsiteX3" fmla="*/ 1983347 w 1983347"/>
              <a:gd name="connsiteY3" fmla="*/ 118721 h 711684"/>
              <a:gd name="connsiteX4" fmla="*/ 1983347 w 1983347"/>
              <a:gd name="connsiteY4" fmla="*/ 118721 h 711684"/>
              <a:gd name="connsiteX5" fmla="*/ 1983347 w 1983347"/>
              <a:gd name="connsiteY5" fmla="*/ 118721 h 711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83347" h="711684">
                <a:moveTo>
                  <a:pt x="0" y="118721"/>
                </a:moveTo>
                <a:cubicBezTo>
                  <a:pt x="313386" y="422447"/>
                  <a:pt x="626772" y="726174"/>
                  <a:pt x="811369" y="711149"/>
                </a:cubicBezTo>
                <a:cubicBezTo>
                  <a:pt x="995966" y="696124"/>
                  <a:pt x="912253" y="127307"/>
                  <a:pt x="1107583" y="28569"/>
                </a:cubicBezTo>
                <a:cubicBezTo>
                  <a:pt x="1302913" y="-70169"/>
                  <a:pt x="1983347" y="118721"/>
                  <a:pt x="1983347" y="118721"/>
                </a:cubicBezTo>
                <a:lnTo>
                  <a:pt x="1983347" y="118721"/>
                </a:lnTo>
                <a:lnTo>
                  <a:pt x="1983347" y="118721"/>
                </a:lnTo>
              </a:path>
            </a:pathLst>
          </a:custGeom>
          <a:noFill/>
          <a:ln w="38100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Thermodynamics system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884" y="2240833"/>
            <a:ext cx="7607453" cy="82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78809" y="2695838"/>
            <a:ext cx="1742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Mehran </a:t>
            </a:r>
            <a:r>
              <a:rPr lang="en-US" dirty="0" err="1"/>
              <a:t>Kardar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4527" y="707709"/>
            <a:ext cx="1856944" cy="265391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024128" y="4597757"/>
            <a:ext cx="289517" cy="28333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78" y="4233845"/>
            <a:ext cx="308399" cy="169122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 flipV="1">
            <a:off x="1313645" y="4301543"/>
            <a:ext cx="500239" cy="296214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886" y="5037562"/>
            <a:ext cx="779585" cy="351764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007" y="4652276"/>
            <a:ext cx="225559" cy="174296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13884" y="4104208"/>
            <a:ext cx="243767" cy="19733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806" y="6524930"/>
            <a:ext cx="1046402" cy="204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4632" y="5408507"/>
            <a:ext cx="137845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en-US" sz="2400" dirty="0"/>
              <a:t>State</a:t>
            </a:r>
          </a:p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en-US" dirty="0"/>
              <a:t>(measurable)</a:t>
            </a:r>
          </a:p>
        </p:txBody>
      </p:sp>
      <p:sp>
        <p:nvSpPr>
          <p:cNvPr id="21" name="Oval 20"/>
          <p:cNvSpPr/>
          <p:nvPr/>
        </p:nvSpPr>
        <p:spPr>
          <a:xfrm>
            <a:off x="3065172" y="4597757"/>
            <a:ext cx="289517" cy="28333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83492" y="4937910"/>
            <a:ext cx="958850" cy="363060"/>
          </a:xfrm>
          <a:prstGeom prst="rect">
            <a:avLst/>
          </a:prstGeom>
        </p:spPr>
      </p:pic>
      <p:grpSp>
        <p:nvGrpSpPr>
          <p:cNvPr id="28" name="Group 27"/>
          <p:cNvGrpSpPr/>
          <p:nvPr/>
        </p:nvGrpSpPr>
        <p:grpSpPr>
          <a:xfrm>
            <a:off x="2378614" y="4818039"/>
            <a:ext cx="508004" cy="1257604"/>
            <a:chOff x="2378614" y="4818039"/>
            <a:chExt cx="508004" cy="1257604"/>
          </a:xfrm>
        </p:grpSpPr>
        <p:sp>
          <p:nvSpPr>
            <p:cNvPr id="25" name="Right Arrow 24"/>
            <p:cNvSpPr/>
            <p:nvPr/>
          </p:nvSpPr>
          <p:spPr>
            <a:xfrm rot="15009644">
              <a:off x="2133491" y="5063162"/>
              <a:ext cx="862884" cy="372637"/>
            </a:xfrm>
            <a:prstGeom prst="rightArrow">
              <a:avLst/>
            </a:prstGeom>
            <a:gradFill flip="none" rotWithShape="1">
              <a:gsLst>
                <a:gs pos="0">
                  <a:schemeClr val="bg1">
                    <a:lumMod val="50000"/>
                    <a:tint val="66000"/>
                    <a:satMod val="160000"/>
                  </a:schemeClr>
                </a:gs>
                <a:gs pos="50000">
                  <a:schemeClr val="bg1">
                    <a:lumMod val="50000"/>
                    <a:tint val="44500"/>
                    <a:satMod val="160000"/>
                  </a:schemeClr>
                </a:gs>
                <a:gs pos="100000">
                  <a:schemeClr val="bg1">
                    <a:lumMod val="50000"/>
                    <a:tint val="23500"/>
                    <a:satMod val="160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81818" y="5758143"/>
              <a:ext cx="304800" cy="317500"/>
            </a:xfrm>
            <a:prstGeom prst="rect">
              <a:avLst/>
            </a:prstGeom>
          </p:spPr>
        </p:pic>
      </p:grpSp>
      <p:grpSp>
        <p:nvGrpSpPr>
          <p:cNvPr id="3" name="Group 2"/>
          <p:cNvGrpSpPr/>
          <p:nvPr/>
        </p:nvGrpSpPr>
        <p:grpSpPr>
          <a:xfrm>
            <a:off x="2755671" y="3978748"/>
            <a:ext cx="335259" cy="593826"/>
            <a:chOff x="2755671" y="3978748"/>
            <a:chExt cx="335259" cy="593826"/>
          </a:xfrm>
        </p:grpSpPr>
        <p:cxnSp>
          <p:nvCxnSpPr>
            <p:cNvPr id="29" name="Straight Arrow Connector 28"/>
            <p:cNvCxnSpPr/>
            <p:nvPr/>
          </p:nvCxnSpPr>
          <p:spPr>
            <a:xfrm flipH="1" flipV="1">
              <a:off x="2946171" y="4344715"/>
              <a:ext cx="144759" cy="227859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2" name="Picture 31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755671" y="3978748"/>
              <a:ext cx="309501" cy="299184"/>
            </a:xfrm>
            <a:prstGeom prst="rect">
              <a:avLst/>
            </a:prstGeom>
          </p:spPr>
        </p:pic>
      </p:grpSp>
      <p:sp>
        <p:nvSpPr>
          <p:cNvPr id="33" name="TextBox 32"/>
          <p:cNvSpPr txBox="1"/>
          <p:nvPr/>
        </p:nvSpPr>
        <p:spPr>
          <a:xfrm>
            <a:off x="2257570" y="6144527"/>
            <a:ext cx="20518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en-US" sz="2400" dirty="0">
                <a:solidFill>
                  <a:srgbClr val="FF0000"/>
                </a:solidFill>
              </a:rPr>
              <a:t>Newton’s laws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8973" y="3282579"/>
            <a:ext cx="1345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Mechanics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83452" y="3176959"/>
            <a:ext cx="2094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Thermodynamics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6890361" y="3842860"/>
            <a:ext cx="1423754" cy="1068283"/>
            <a:chOff x="6890361" y="3842860"/>
            <a:chExt cx="1423754" cy="1068283"/>
          </a:xfrm>
        </p:grpSpPr>
        <p:sp>
          <p:nvSpPr>
            <p:cNvPr id="41" name="TextBox 40"/>
            <p:cNvSpPr txBox="1"/>
            <p:nvPr/>
          </p:nvSpPr>
          <p:spPr>
            <a:xfrm>
              <a:off x="7624388" y="4541811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 dirty="0"/>
                <a:t> 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776788" y="3947237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 dirty="0"/>
                <a:t> </a:t>
              </a:r>
            </a:p>
          </p:txBody>
        </p:sp>
        <p:grpSp>
          <p:nvGrpSpPr>
            <p:cNvPr id="9" name="Group 8"/>
            <p:cNvGrpSpPr/>
            <p:nvPr/>
          </p:nvGrpSpPr>
          <p:grpSpPr>
            <a:xfrm>
              <a:off x="6890361" y="3842860"/>
              <a:ext cx="1262770" cy="983712"/>
              <a:chOff x="6890361" y="3842860"/>
              <a:chExt cx="1262770" cy="983712"/>
            </a:xfrm>
          </p:grpSpPr>
          <p:sp>
            <p:nvSpPr>
              <p:cNvPr id="34" name="Rectangle 33"/>
              <p:cNvSpPr/>
              <p:nvPr/>
            </p:nvSpPr>
            <p:spPr>
              <a:xfrm>
                <a:off x="6890361" y="3842860"/>
                <a:ext cx="1158936" cy="98371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7014788" y="3932211"/>
                <a:ext cx="5373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charset="0"/>
                  <a:buChar char="•"/>
                </a:pPr>
                <a:r>
                  <a:rPr lang="en-US"/>
                  <a:t> </a:t>
                </a:r>
              </a:p>
            </p:txBody>
          </p:sp>
          <p:sp>
            <p:nvSpPr>
              <p:cNvPr id="38" name="TextBox 37"/>
              <p:cNvSpPr txBox="1"/>
              <p:nvPr/>
            </p:nvSpPr>
            <p:spPr>
              <a:xfrm>
                <a:off x="7334615" y="3865668"/>
                <a:ext cx="5373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charset="0"/>
                  <a:buChar char="•"/>
                </a:pPr>
                <a:r>
                  <a:rPr lang="en-US"/>
                  <a:t> </a:t>
                </a:r>
              </a:p>
            </p:txBody>
          </p:sp>
          <p:sp>
            <p:nvSpPr>
              <p:cNvPr id="39" name="TextBox 38"/>
              <p:cNvSpPr txBox="1"/>
              <p:nvPr/>
            </p:nvSpPr>
            <p:spPr>
              <a:xfrm>
                <a:off x="7615804" y="4224132"/>
                <a:ext cx="5373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charset="0"/>
                  <a:buChar char="•"/>
                </a:pPr>
                <a:r>
                  <a:rPr lang="en-US"/>
                  <a:t> </a:t>
                </a: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7008348" y="4389411"/>
                <a:ext cx="5373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charset="0"/>
                  <a:buChar char="•"/>
                </a:pPr>
                <a:r>
                  <a:rPr lang="en-US"/>
                  <a:t> </a:t>
                </a: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7439790" y="4331456"/>
                <a:ext cx="5373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charset="0"/>
                  <a:buChar char="•"/>
                </a:pPr>
                <a:r>
                  <a:rPr lang="en-US"/>
                  <a:t> </a:t>
                </a:r>
              </a:p>
            </p:txBody>
          </p:sp>
          <p:sp>
            <p:nvSpPr>
              <p:cNvPr id="44" name="TextBox 43"/>
              <p:cNvSpPr txBox="1"/>
              <p:nvPr/>
            </p:nvSpPr>
            <p:spPr>
              <a:xfrm>
                <a:off x="7321735" y="4187643"/>
                <a:ext cx="5373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buFont typeface="Arial" charset="0"/>
                  <a:buChar char="•"/>
                </a:pPr>
                <a:r>
                  <a:rPr lang="en-US" dirty="0"/>
                  <a:t> </a:t>
                </a:r>
              </a:p>
            </p:txBody>
          </p:sp>
        </p:grpSp>
      </p:grpSp>
      <p:sp>
        <p:nvSpPr>
          <p:cNvPr id="45" name="TextBox 44"/>
          <p:cNvSpPr txBox="1"/>
          <p:nvPr/>
        </p:nvSpPr>
        <p:spPr>
          <a:xfrm>
            <a:off x="6134465" y="5283682"/>
            <a:ext cx="315862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en-US" sz="2400" dirty="0"/>
              <a:t>Macro-State</a:t>
            </a:r>
          </a:p>
          <a:p>
            <a:pPr marL="342900" lvl="0" indent="-342900" defTabSz="914400">
              <a:defRPr/>
            </a:pPr>
            <a:r>
              <a:rPr lang="en-US" dirty="0"/>
              <a:t>(thermodynamics coordinate)</a:t>
            </a:r>
          </a:p>
        </p:txBody>
      </p:sp>
      <p:pic>
        <p:nvPicPr>
          <p:cNvPr id="46" name="Picture 4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43561" y="5035622"/>
            <a:ext cx="1340942" cy="295932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10155854" y="3450005"/>
            <a:ext cx="1838026" cy="1967261"/>
            <a:chOff x="10155854" y="3450005"/>
            <a:chExt cx="1838026" cy="1967261"/>
          </a:xfrm>
        </p:grpSpPr>
        <p:sp>
          <p:nvSpPr>
            <p:cNvPr id="47" name="Rectangle 46"/>
            <p:cNvSpPr/>
            <p:nvPr/>
          </p:nvSpPr>
          <p:spPr>
            <a:xfrm>
              <a:off x="10155854" y="3450005"/>
              <a:ext cx="1766282" cy="152038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0424462" y="3728361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/>
                <a:t> 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0600108" y="4009483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/>
                <a:t> 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881297" y="4367947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/>
                <a:t> 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10273841" y="4533226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/>
                <a:t> 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1456553" y="4595474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/>
                <a:t> 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1427208" y="3989470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/>
                <a:t> 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1385600" y="4331903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/>
                <a:t> 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1219313" y="3640730"/>
              <a:ext cx="5373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charset="0"/>
                <a:buChar char="•"/>
              </a:pPr>
              <a:r>
                <a:rPr lang="en-US" dirty="0"/>
                <a:t> </a:t>
              </a:r>
            </a:p>
          </p:txBody>
        </p:sp>
        <p:pic>
          <p:nvPicPr>
            <p:cNvPr id="61" name="Picture 60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0192791" y="5090808"/>
              <a:ext cx="1729345" cy="326458"/>
            </a:xfrm>
            <a:prstGeom prst="rect">
              <a:avLst/>
            </a:prstGeom>
          </p:spPr>
        </p:pic>
      </p:grpSp>
      <p:sp>
        <p:nvSpPr>
          <p:cNvPr id="62" name="TextBox 61"/>
          <p:cNvSpPr txBox="1"/>
          <p:nvPr/>
        </p:nvSpPr>
        <p:spPr>
          <a:xfrm>
            <a:off x="8117080" y="6023873"/>
            <a:ext cx="3513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en-US" sz="2400" dirty="0">
                <a:solidFill>
                  <a:srgbClr val="FF0000"/>
                </a:solidFill>
              </a:rPr>
              <a:t>Laws of thermodynamics</a:t>
            </a:r>
            <a:endParaRPr lang="en-US" dirty="0">
              <a:solidFill>
                <a:srgbClr val="FF0000"/>
              </a:solidFill>
            </a:endParaRPr>
          </a:p>
        </p:txBody>
      </p:sp>
      <p:grpSp>
        <p:nvGrpSpPr>
          <p:cNvPr id="70" name="Group 69"/>
          <p:cNvGrpSpPr/>
          <p:nvPr/>
        </p:nvGrpSpPr>
        <p:grpSpPr>
          <a:xfrm>
            <a:off x="4660856" y="3794452"/>
            <a:ext cx="2191576" cy="1389136"/>
            <a:chOff x="4660856" y="3794452"/>
            <a:chExt cx="2191576" cy="1389136"/>
          </a:xfrm>
        </p:grpSpPr>
        <p:sp>
          <p:nvSpPr>
            <p:cNvPr id="65" name="TextBox 64"/>
            <p:cNvSpPr txBox="1"/>
            <p:nvPr/>
          </p:nvSpPr>
          <p:spPr>
            <a:xfrm>
              <a:off x="4660856" y="3794452"/>
              <a:ext cx="219157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Equilibrium:</a:t>
              </a:r>
            </a:p>
            <a:p>
              <a:r>
                <a:rPr lang="en-US" dirty="0"/>
                <a:t>Measurement doesn’t change in time</a:t>
              </a:r>
            </a:p>
          </p:txBody>
        </p:sp>
        <p:cxnSp>
          <p:nvCxnSpPr>
            <p:cNvPr id="67" name="Straight Arrow Connector 66"/>
            <p:cNvCxnSpPr/>
            <p:nvPr/>
          </p:nvCxnSpPr>
          <p:spPr>
            <a:xfrm>
              <a:off x="5886802" y="5183588"/>
              <a:ext cx="831001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/>
            <p:cNvCxnSpPr/>
            <p:nvPr/>
          </p:nvCxnSpPr>
          <p:spPr>
            <a:xfrm>
              <a:off x="5884164" y="4700788"/>
              <a:ext cx="0" cy="4828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84280" y="3908905"/>
            <a:ext cx="1943096" cy="1278412"/>
            <a:chOff x="8184280" y="3908905"/>
            <a:chExt cx="1943096" cy="1278412"/>
          </a:xfrm>
        </p:grpSpPr>
        <p:sp>
          <p:nvSpPr>
            <p:cNvPr id="58" name="Right Arrow 57"/>
            <p:cNvSpPr/>
            <p:nvPr/>
          </p:nvSpPr>
          <p:spPr>
            <a:xfrm rot="21554729">
              <a:off x="8243008" y="4180766"/>
              <a:ext cx="1656350" cy="402732"/>
            </a:xfrm>
            <a:prstGeom prst="rightArrow">
              <a:avLst/>
            </a:prstGeom>
            <a:gradFill flip="none" rotWithShape="1">
              <a:gsLst>
                <a:gs pos="0">
                  <a:schemeClr val="bg1">
                    <a:lumMod val="50000"/>
                    <a:tint val="66000"/>
                    <a:satMod val="160000"/>
                  </a:schemeClr>
                </a:gs>
                <a:gs pos="50000">
                  <a:schemeClr val="bg1">
                    <a:lumMod val="50000"/>
                    <a:tint val="44500"/>
                    <a:satMod val="160000"/>
                  </a:schemeClr>
                </a:gs>
                <a:gs pos="100000">
                  <a:schemeClr val="bg1">
                    <a:lumMod val="50000"/>
                    <a:tint val="23500"/>
                    <a:satMod val="160000"/>
                  </a:scheme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3" name="Picture 62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680148" y="3908905"/>
              <a:ext cx="835338" cy="216036"/>
            </a:xfrm>
            <a:prstGeom prst="rect">
              <a:avLst/>
            </a:prstGeom>
          </p:spPr>
        </p:pic>
        <p:pic>
          <p:nvPicPr>
            <p:cNvPr id="64" name="Picture 63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690718" y="4582051"/>
              <a:ext cx="838958" cy="211502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8846542" y="4159065"/>
              <a:ext cx="3770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or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8184280" y="4817985"/>
              <a:ext cx="194309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/>
                <a:t>(generalized force)</a:t>
              </a:r>
              <a:endParaRPr lang="en-US" dirty="0"/>
            </a:p>
          </p:txBody>
        </p:sp>
      </p:grpSp>
      <p:pic>
        <p:nvPicPr>
          <p:cNvPr id="66" name="Picture 65">
            <a:extLst>
              <a:ext uri="{FF2B5EF4-FFF2-40B4-BE49-F238E27FC236}">
                <a16:creationId xmlns:a16="http://schemas.microsoft.com/office/drawing/2014/main" id="{A92F3DF2-7C6B-453C-BE29-83294376591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60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7" grpId="0" animBg="1"/>
      <p:bldP spid="19" grpId="0"/>
      <p:bldP spid="21" grpId="0" animBg="1"/>
      <p:bldP spid="33" grpId="0"/>
      <p:bldP spid="35" grpId="0"/>
      <p:bldP spid="36" grpId="0"/>
      <p:bldP spid="45" grpId="0"/>
      <p:bldP spid="6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84148-6900-4235-B7A5-A22604D51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Thermodynamics system</a:t>
            </a:r>
            <a:endParaRPr lang="en-MY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16A1BC-3524-4436-94E2-3669629F1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7357" y="1750207"/>
            <a:ext cx="4424240" cy="39848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3B8C0-05A4-4086-B67D-3964ACA79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162" y="4636522"/>
            <a:ext cx="2060294" cy="4340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CBF65E-E9AF-4556-B098-6166E955011C}"/>
              </a:ext>
            </a:extLst>
          </p:cNvPr>
          <p:cNvSpPr txBox="1"/>
          <p:nvPr/>
        </p:nvSpPr>
        <p:spPr>
          <a:xfrm>
            <a:off x="655472" y="2622771"/>
            <a:ext cx="32029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Equilibrium:</a:t>
            </a:r>
          </a:p>
          <a:p>
            <a:r>
              <a:rPr lang="en-US" dirty="0"/>
              <a:t>Not all thermodynamic quantities are independent.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20F922-0913-446E-A749-456C4FBECB8B}"/>
              </a:ext>
            </a:extLst>
          </p:cNvPr>
          <p:cNvSpPr txBox="1"/>
          <p:nvPr/>
        </p:nvSpPr>
        <p:spPr>
          <a:xfrm>
            <a:off x="467872" y="5566428"/>
            <a:ext cx="25159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Examples: 1) Ideal gas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BEE91EA-EACE-4FFE-A6D3-AAE8CDE7C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0989" y="5999079"/>
            <a:ext cx="1851949" cy="57873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6CE290-FD56-435F-B070-8DCA2FFD7A72}"/>
              </a:ext>
            </a:extLst>
          </p:cNvPr>
          <p:cNvSpPr txBox="1"/>
          <p:nvPr/>
        </p:nvSpPr>
        <p:spPr>
          <a:xfrm>
            <a:off x="655472" y="3921709"/>
            <a:ext cx="26382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lang="en-US" sz="2400" dirty="0">
                <a:solidFill>
                  <a:srgbClr val="FF0000"/>
                </a:solidFill>
              </a:rPr>
              <a:t>Equation of states</a:t>
            </a:r>
            <a:endParaRPr lang="en-US" dirty="0">
              <a:solidFill>
                <a:srgbClr val="FF0000"/>
              </a:solidFill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BA40B1D-5D6B-4193-B4D2-B8366A69053C}"/>
              </a:ext>
            </a:extLst>
          </p:cNvPr>
          <p:cNvGrpSpPr/>
          <p:nvPr/>
        </p:nvGrpSpPr>
        <p:grpSpPr>
          <a:xfrm>
            <a:off x="3652230" y="5567850"/>
            <a:ext cx="3383464" cy="1244515"/>
            <a:chOff x="3652230" y="5481223"/>
            <a:chExt cx="3383464" cy="124451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5CA4A8-E428-4AA7-A0C3-000AEB6A4131}"/>
                </a:ext>
              </a:extLst>
            </p:cNvPr>
            <p:cNvSpPr txBox="1"/>
            <p:nvPr/>
          </p:nvSpPr>
          <p:spPr>
            <a:xfrm>
              <a:off x="3652230" y="5481223"/>
              <a:ext cx="338346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Examples: 2) Magnetic system</a:t>
              </a: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BC733B7-B25C-411C-A9CF-575060FCB6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48676" y="5849133"/>
              <a:ext cx="1319514" cy="769716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B50F3E4-4817-4FC7-BC75-C7FA57E1E204}"/>
                </a:ext>
              </a:extLst>
            </p:cNvPr>
            <p:cNvSpPr txBox="1"/>
            <p:nvPr/>
          </p:nvSpPr>
          <p:spPr>
            <a:xfrm flipH="1">
              <a:off x="3785059" y="6417961"/>
              <a:ext cx="20556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MY" sz="1400" dirty="0"/>
                <a:t>(magnetization)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C35BA715-18EF-465B-A4C9-B3FB8A56FB7D}"/>
              </a:ext>
            </a:extLst>
          </p:cNvPr>
          <p:cNvSpPr txBox="1"/>
          <p:nvPr/>
        </p:nvSpPr>
        <p:spPr>
          <a:xfrm flipH="1">
            <a:off x="5997485" y="5941444"/>
            <a:ext cx="205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400" dirty="0"/>
              <a:t>(magnetic field)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A67B18-EED9-410D-B3D3-DB5AD47903C2}"/>
              </a:ext>
            </a:extLst>
          </p:cNvPr>
          <p:cNvSpPr txBox="1"/>
          <p:nvPr/>
        </p:nvSpPr>
        <p:spPr>
          <a:xfrm>
            <a:off x="7844111" y="5782146"/>
            <a:ext cx="4120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b="1" dirty="0">
                <a:solidFill>
                  <a:srgbClr val="FF0000"/>
                </a:solidFill>
              </a:rPr>
              <a:t>These macroscopic phenomena can be derived microscopically by using statistics.</a:t>
            </a:r>
          </a:p>
        </p:txBody>
      </p:sp>
    </p:spTree>
    <p:extLst>
      <p:ext uri="{BB962C8B-B14F-4D97-AF65-F5344CB8AC3E}">
        <p14:creationId xmlns:p14="http://schemas.microsoft.com/office/powerpoint/2010/main" val="3709340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22" grpId="0"/>
      <p:bldP spid="2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Laws of Thermodynamics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46" y="2735865"/>
            <a:ext cx="6113612" cy="49673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127346" y="2261956"/>
            <a:ext cx="256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  <a:r>
              <a:rPr lang="en-US" baseline="30000" dirty="0"/>
              <a:t>th</a:t>
            </a:r>
            <a:r>
              <a:rPr lang="en-US" dirty="0"/>
              <a:t> Law </a:t>
            </a:r>
            <a:r>
              <a:rPr lang="en-US"/>
              <a:t>of thermodynamic</a:t>
            </a:r>
            <a:endParaRPr lang="en-US" dirty="0"/>
          </a:p>
        </p:txBody>
      </p:sp>
      <p:sp>
        <p:nvSpPr>
          <p:cNvPr id="57" name="Rectangle 56"/>
          <p:cNvSpPr/>
          <p:nvPr/>
        </p:nvSpPr>
        <p:spPr>
          <a:xfrm>
            <a:off x="1172140" y="4100437"/>
            <a:ext cx="1158936" cy="9837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1296567" y="4189788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16394" y="4123245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97583" y="4481709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0127" y="4646988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06167" y="4799388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721569" y="4589033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03514" y="4445220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0914" y="363184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16227" y="4136924"/>
            <a:ext cx="826230" cy="7506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4140654" y="4226275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460481" y="415973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4243" y="451819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40278" y="4361501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65656" y="4329304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51385" y="448170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2699" y="361503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  <a:endParaRPr lang="en-US" dirty="0"/>
          </a:p>
        </p:txBody>
      </p:sp>
      <p:sp>
        <p:nvSpPr>
          <p:cNvPr id="92" name="Rectangle 91"/>
          <p:cNvSpPr/>
          <p:nvPr/>
        </p:nvSpPr>
        <p:spPr>
          <a:xfrm>
            <a:off x="2859110" y="5780046"/>
            <a:ext cx="886508" cy="88606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3458083" y="5771755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30936" y="570521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312125" y="606367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51643" y="6228955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20709" y="6381355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36111" y="6171000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15024" y="6246130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/>
              <a:t> 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51561" y="532614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grpSp>
        <p:nvGrpSpPr>
          <p:cNvPr id="103" name="Group 102"/>
          <p:cNvGrpSpPr/>
          <p:nvPr/>
        </p:nvGrpSpPr>
        <p:grpSpPr>
          <a:xfrm>
            <a:off x="1183346" y="5209505"/>
            <a:ext cx="1605840" cy="849864"/>
            <a:chOff x="1183346" y="5209505"/>
            <a:chExt cx="1605840" cy="849864"/>
          </a:xfrm>
        </p:grpSpPr>
        <p:cxnSp>
          <p:nvCxnSpPr>
            <p:cNvPr id="12" name="Straight Arrow Connector 11"/>
            <p:cNvCxnSpPr/>
            <p:nvPr/>
          </p:nvCxnSpPr>
          <p:spPr>
            <a:xfrm>
              <a:off x="1763059" y="5209505"/>
              <a:ext cx="1026127" cy="849864"/>
            </a:xfrm>
            <a:prstGeom prst="straightConnector1">
              <a:avLst/>
            </a:prstGeom>
            <a:ln w="76200"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183346" y="5608627"/>
              <a:ext cx="11913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equilibrium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3858036" y="5039928"/>
            <a:ext cx="1601656" cy="1155549"/>
            <a:chOff x="3858036" y="5039928"/>
            <a:chExt cx="1601656" cy="1155549"/>
          </a:xfrm>
        </p:grpSpPr>
        <p:cxnSp>
          <p:nvCxnSpPr>
            <p:cNvPr id="101" name="Straight Arrow Connector 100"/>
            <p:cNvCxnSpPr/>
            <p:nvPr/>
          </p:nvCxnSpPr>
          <p:spPr>
            <a:xfrm flipH="1">
              <a:off x="3858036" y="5039928"/>
              <a:ext cx="716207" cy="1155549"/>
            </a:xfrm>
            <a:prstGeom prst="straightConnector1">
              <a:avLst/>
            </a:prstGeom>
            <a:ln w="76200"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Box 101"/>
            <p:cNvSpPr txBox="1"/>
            <p:nvPr/>
          </p:nvSpPr>
          <p:spPr>
            <a:xfrm>
              <a:off x="4268340" y="5595380"/>
              <a:ext cx="11913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equilibrium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2384856" y="3768610"/>
            <a:ext cx="1605613" cy="806578"/>
            <a:chOff x="2384856" y="3768610"/>
            <a:chExt cx="1605613" cy="806578"/>
          </a:xfrm>
        </p:grpSpPr>
        <p:sp>
          <p:nvSpPr>
            <p:cNvPr id="104" name="TextBox 103"/>
            <p:cNvSpPr txBox="1"/>
            <p:nvPr/>
          </p:nvSpPr>
          <p:spPr>
            <a:xfrm>
              <a:off x="2528954" y="3768610"/>
              <a:ext cx="119135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Must be in </a:t>
              </a:r>
            </a:p>
            <a:p>
              <a:r>
                <a:rPr lang="en-US" dirty="0"/>
                <a:t>equilibrium</a:t>
              </a:r>
            </a:p>
          </p:txBody>
        </p:sp>
        <p:cxnSp>
          <p:nvCxnSpPr>
            <p:cNvPr id="105" name="Straight Arrow Connector 104"/>
            <p:cNvCxnSpPr/>
            <p:nvPr/>
          </p:nvCxnSpPr>
          <p:spPr>
            <a:xfrm>
              <a:off x="2384856" y="4537750"/>
              <a:ext cx="1605613" cy="37438"/>
            </a:xfrm>
            <a:prstGeom prst="straightConnector1">
              <a:avLst/>
            </a:prstGeom>
            <a:ln w="76200">
              <a:solidFill>
                <a:schemeClr val="bg1">
                  <a:lumMod val="5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" name="TextBox 107"/>
          <p:cNvSpPr txBox="1"/>
          <p:nvPr/>
        </p:nvSpPr>
        <p:spPr>
          <a:xfrm>
            <a:off x="6056543" y="3831288"/>
            <a:ext cx="59220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Seem trivial but very important 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⇒</a:t>
            </a:r>
            <a:r>
              <a:rPr lang="en-US" dirty="0"/>
              <a:t> concept of temperature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669586" y="4760883"/>
            <a:ext cx="655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two system is in equilibrium 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⇒</a:t>
            </a:r>
            <a:r>
              <a:rPr lang="en-US" dirty="0"/>
              <a:t> both have same temperature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496752-E55C-4922-95FB-933089B6DA39}"/>
              </a:ext>
            </a:extLst>
          </p:cNvPr>
          <p:cNvSpPr txBox="1"/>
          <p:nvPr/>
        </p:nvSpPr>
        <p:spPr>
          <a:xfrm>
            <a:off x="8944617" y="5216854"/>
            <a:ext cx="35577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⇒</a:t>
            </a:r>
            <a:r>
              <a:rPr lang="en-US" dirty="0"/>
              <a:t> How to measure temperature</a:t>
            </a:r>
            <a:endParaRPr lang="en-MY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87C2BF9E-7A62-4F4A-8B61-B9E7A8C34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769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/>
      <p:bldP spid="110" grpId="0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Laws of Thermodynamics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7346" y="2261956"/>
            <a:ext cx="2550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Law of thermodynamic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46" y="2808412"/>
            <a:ext cx="6599528" cy="112724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139" y="4324389"/>
            <a:ext cx="2205510" cy="1877959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6090" y="6372024"/>
            <a:ext cx="1854560" cy="3753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36135" y="3694617"/>
            <a:ext cx="4919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 is the statement of energy conservation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B09705-9043-43E4-9387-5EE785E85487}"/>
              </a:ext>
            </a:extLst>
          </p:cNvPr>
          <p:cNvSpPr txBox="1"/>
          <p:nvPr/>
        </p:nvSpPr>
        <p:spPr>
          <a:xfrm>
            <a:off x="1541069" y="5027403"/>
            <a:ext cx="330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Similar to work-Energy theorem in mechanics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8A1DA-D74D-45B0-A30A-25859910FD62}"/>
              </a:ext>
            </a:extLst>
          </p:cNvPr>
          <p:cNvSpPr txBox="1"/>
          <p:nvPr/>
        </p:nvSpPr>
        <p:spPr>
          <a:xfrm>
            <a:off x="6390290" y="6332607"/>
            <a:ext cx="1336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(closed)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7877B1-7AB0-493F-980E-B9AEAF8ACB88}"/>
              </a:ext>
            </a:extLst>
          </p:cNvPr>
          <p:cNvGrpSpPr/>
          <p:nvPr/>
        </p:nvGrpSpPr>
        <p:grpSpPr>
          <a:xfrm>
            <a:off x="7726874" y="5150056"/>
            <a:ext cx="3017326" cy="595956"/>
            <a:chOff x="7726874" y="5150056"/>
            <a:chExt cx="3017326" cy="595956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26874" y="5150056"/>
              <a:ext cx="1625334" cy="595956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157A972-BE91-4AB1-9671-FBB742ABDF80}"/>
                </a:ext>
              </a:extLst>
            </p:cNvPr>
            <p:cNvSpPr txBox="1"/>
            <p:nvPr/>
          </p:nvSpPr>
          <p:spPr>
            <a:xfrm>
              <a:off x="9407616" y="5239716"/>
              <a:ext cx="13365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MY" dirty="0"/>
                <a:t>(open)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60E933BE-1BE4-4461-A561-6DE01C20CC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F87CDBE5-8C5C-4D47-B971-7577A5139DAE}"/>
              </a:ext>
            </a:extLst>
          </p:cNvPr>
          <p:cNvGrpSpPr/>
          <p:nvPr/>
        </p:nvGrpSpPr>
        <p:grpSpPr>
          <a:xfrm>
            <a:off x="8352481" y="5448034"/>
            <a:ext cx="3118354" cy="1019576"/>
            <a:chOff x="8352481" y="5448034"/>
            <a:chExt cx="3118354" cy="1019576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A9197CC-1AC3-4339-9C20-7CF010A1F3F7}"/>
                </a:ext>
              </a:extLst>
            </p:cNvPr>
            <p:cNvSpPr txBox="1"/>
            <p:nvPr/>
          </p:nvSpPr>
          <p:spPr>
            <a:xfrm flipH="1">
              <a:off x="8352481" y="6098278"/>
              <a:ext cx="31183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MY" dirty="0">
                  <a:solidFill>
                    <a:srgbClr val="FF0000"/>
                  </a:solidFill>
                </a:rPr>
                <a:t>The convention of the sign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EEB5A0D-C34F-4BE1-BC7C-2C82782CD2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68080" y="5448034"/>
              <a:ext cx="0" cy="64008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81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Laws of Thermodynamics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7346" y="2261956"/>
            <a:ext cx="2609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Law of thermodynamic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46" y="2808411"/>
            <a:ext cx="5707301" cy="101661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/>
          <a:srcRect l="70836"/>
          <a:stretch/>
        </p:blipFill>
        <p:spPr>
          <a:xfrm>
            <a:off x="7011081" y="1958240"/>
            <a:ext cx="1518012" cy="136228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4"/>
          <a:srcRect r="44884"/>
          <a:stretch/>
        </p:blipFill>
        <p:spPr>
          <a:xfrm>
            <a:off x="9274674" y="3315975"/>
            <a:ext cx="2817203" cy="13587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E06756-3600-4C5A-B8EB-3A0ED40644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4409"/>
          <a:stretch/>
        </p:blipFill>
        <p:spPr>
          <a:xfrm>
            <a:off x="9130376" y="2006026"/>
            <a:ext cx="2893609" cy="13622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2BF29-FBB3-4361-A4AC-661A684243A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67478"/>
          <a:stretch/>
        </p:blipFill>
        <p:spPr>
          <a:xfrm>
            <a:off x="6989379" y="3230578"/>
            <a:ext cx="1662310" cy="1358721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5BB47959-F21C-4558-84E0-AA8CDC8B6746}"/>
              </a:ext>
            </a:extLst>
          </p:cNvPr>
          <p:cNvSpPr/>
          <p:nvPr/>
        </p:nvSpPr>
        <p:spPr>
          <a:xfrm rot="10800000">
            <a:off x="8746015" y="2598607"/>
            <a:ext cx="384361" cy="255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EA06409-34B6-425E-9004-84A01AB6669C}"/>
              </a:ext>
            </a:extLst>
          </p:cNvPr>
          <p:cNvSpPr/>
          <p:nvPr/>
        </p:nvSpPr>
        <p:spPr>
          <a:xfrm rot="10800000">
            <a:off x="8746014" y="3621880"/>
            <a:ext cx="384361" cy="255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4297B15-2600-4AB0-9BFB-5B5900451C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237" y="5181089"/>
            <a:ext cx="2482150" cy="169237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FE76F3A-ED09-4C6F-AB34-B6451107FF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45" y="3935086"/>
            <a:ext cx="5693426" cy="65421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7E5D6F4-3E66-49A2-91F3-C95C56A17AC6}"/>
              </a:ext>
            </a:extLst>
          </p:cNvPr>
          <p:cNvGrpSpPr/>
          <p:nvPr/>
        </p:nvGrpSpPr>
        <p:grpSpPr>
          <a:xfrm>
            <a:off x="2354319" y="4508711"/>
            <a:ext cx="4073470" cy="2306097"/>
            <a:chOff x="8098105" y="1580941"/>
            <a:chExt cx="4073470" cy="2306097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7FBDBE4-9E41-4C25-877C-AEAA9362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340513" y="1580941"/>
              <a:ext cx="2831062" cy="2306097"/>
            </a:xfrm>
            <a:prstGeom prst="rect">
              <a:avLst/>
            </a:prstGeom>
          </p:spPr>
        </p:pic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8D99DD3-14C9-4E2F-A0F1-BCE61458C5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8105" y="2525221"/>
              <a:ext cx="1545019" cy="44010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EF7E9C3-9C93-40AA-9CFC-BC364C195A29}"/>
              </a:ext>
            </a:extLst>
          </p:cNvPr>
          <p:cNvGrpSpPr/>
          <p:nvPr/>
        </p:nvGrpSpPr>
        <p:grpSpPr>
          <a:xfrm>
            <a:off x="9664064" y="4628013"/>
            <a:ext cx="2347547" cy="1836208"/>
            <a:chOff x="9664064" y="4628013"/>
            <a:chExt cx="2347547" cy="183620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E2CBF59D-0086-457A-8076-B0A932092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847960" y="5153920"/>
              <a:ext cx="2163651" cy="59814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C183005-36F6-4439-A986-2A3461FB93E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826884" y="6202151"/>
              <a:ext cx="1858320" cy="26207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85FA327-0CB7-4BEF-9F00-6BD88DAD3E24}"/>
                </a:ext>
              </a:extLst>
            </p:cNvPr>
            <p:cNvSpPr txBox="1"/>
            <p:nvPr/>
          </p:nvSpPr>
          <p:spPr>
            <a:xfrm>
              <a:off x="9664064" y="4628013"/>
              <a:ext cx="23081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Engine efficiency: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2031F8D-0E7A-44BE-B31E-BCC0107C63CF}"/>
              </a:ext>
            </a:extLst>
          </p:cNvPr>
          <p:cNvGrpSpPr/>
          <p:nvPr/>
        </p:nvGrpSpPr>
        <p:grpSpPr>
          <a:xfrm>
            <a:off x="-36298" y="2984938"/>
            <a:ext cx="1112036" cy="444062"/>
            <a:chOff x="-36298" y="2984938"/>
            <a:chExt cx="1112036" cy="44406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651F33A0-F091-45E6-9560-049524726AF9}"/>
                </a:ext>
              </a:extLst>
            </p:cNvPr>
            <p:cNvCxnSpPr/>
            <p:nvPr/>
          </p:nvCxnSpPr>
          <p:spPr>
            <a:xfrm>
              <a:off x="1024128" y="2984938"/>
              <a:ext cx="0" cy="44406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C831F4F-D48A-4048-B7D0-7ECCB3815D7B}"/>
                </a:ext>
              </a:extLst>
            </p:cNvPr>
            <p:cNvSpPr txBox="1"/>
            <p:nvPr/>
          </p:nvSpPr>
          <p:spPr>
            <a:xfrm>
              <a:off x="-36298" y="3006280"/>
              <a:ext cx="1112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sz="1600" dirty="0"/>
                <a:t>equivalent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AEB1353-2C16-4F79-8F0B-5230CCA68330}"/>
              </a:ext>
            </a:extLst>
          </p:cNvPr>
          <p:cNvGrpSpPr/>
          <p:nvPr/>
        </p:nvGrpSpPr>
        <p:grpSpPr>
          <a:xfrm>
            <a:off x="-36298" y="3596868"/>
            <a:ext cx="1112036" cy="444062"/>
            <a:chOff x="-36298" y="2984938"/>
            <a:chExt cx="1112036" cy="444062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F75F53C7-D471-47FB-9C9B-26A039640627}"/>
                </a:ext>
              </a:extLst>
            </p:cNvPr>
            <p:cNvCxnSpPr/>
            <p:nvPr/>
          </p:nvCxnSpPr>
          <p:spPr>
            <a:xfrm>
              <a:off x="1024128" y="2984938"/>
              <a:ext cx="0" cy="44406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F71CF97-EE14-4814-A404-951B8135A0B3}"/>
                </a:ext>
              </a:extLst>
            </p:cNvPr>
            <p:cNvSpPr txBox="1"/>
            <p:nvPr/>
          </p:nvSpPr>
          <p:spPr>
            <a:xfrm>
              <a:off x="-36298" y="3006280"/>
              <a:ext cx="1112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sz="1600" dirty="0"/>
                <a:t>equivalent</a:t>
              </a:r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CE7A9AEB-6DD5-44AD-8148-C31CC156B0BD}"/>
              </a:ext>
            </a:extLst>
          </p:cNvPr>
          <p:cNvSpPr/>
          <p:nvPr/>
        </p:nvSpPr>
        <p:spPr>
          <a:xfrm>
            <a:off x="9274675" y="2006026"/>
            <a:ext cx="951892" cy="13099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58E8AD2-FFC0-406D-A027-C19A01DC49A6}"/>
              </a:ext>
            </a:extLst>
          </p:cNvPr>
          <p:cNvSpPr/>
          <p:nvPr/>
        </p:nvSpPr>
        <p:spPr>
          <a:xfrm>
            <a:off x="9304029" y="3429322"/>
            <a:ext cx="1080192" cy="119869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1E7CFF-DF84-4FEF-8BA7-47CF5B5B7F6C}"/>
              </a:ext>
            </a:extLst>
          </p:cNvPr>
          <p:cNvSpPr txBox="1"/>
          <p:nvPr/>
        </p:nvSpPr>
        <p:spPr>
          <a:xfrm>
            <a:off x="4991039" y="4836479"/>
            <a:ext cx="1990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Reversible process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F34F173-3F71-41AB-895B-9E28411160A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CCBC8A6-1878-422D-8138-E91D952C35E6}"/>
              </a:ext>
            </a:extLst>
          </p:cNvPr>
          <p:cNvGrpSpPr/>
          <p:nvPr/>
        </p:nvGrpSpPr>
        <p:grpSpPr>
          <a:xfrm>
            <a:off x="6382730" y="5333228"/>
            <a:ext cx="3326393" cy="1251040"/>
            <a:chOff x="6382730" y="5333228"/>
            <a:chExt cx="3326393" cy="125104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D671E90-F5E4-4325-8352-EF9B56B1C8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382730" y="5655650"/>
              <a:ext cx="3326393" cy="928618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5BFBF4C-5859-4711-9F32-61945C4CFF5F}"/>
                </a:ext>
              </a:extLst>
            </p:cNvPr>
            <p:cNvSpPr txBox="1"/>
            <p:nvPr/>
          </p:nvSpPr>
          <p:spPr>
            <a:xfrm>
              <a:off x="7115569" y="5333228"/>
              <a:ext cx="7262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>Proof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2101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26" grpId="0" animBg="1"/>
      <p:bldP spid="31" grpId="0" animBg="1"/>
      <p:bldP spid="3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5961997" cy="1499616"/>
          </a:xfrm>
        </p:spPr>
        <p:txBody>
          <a:bodyPr/>
          <a:lstStyle/>
          <a:p>
            <a:r>
              <a:rPr lang="en-US" dirty="0"/>
              <a:t>Laws of Thermodynamics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7346" y="2261956"/>
            <a:ext cx="2609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Law of thermodynamic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46" y="2808411"/>
            <a:ext cx="5707301" cy="101661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44" y="4665730"/>
            <a:ext cx="5862391" cy="73051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45" y="3935086"/>
            <a:ext cx="5693426" cy="654213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8337525" y="1767828"/>
            <a:ext cx="1016876" cy="789572"/>
            <a:chOff x="8337525" y="1767828"/>
            <a:chExt cx="1016876" cy="789572"/>
          </a:xfrm>
        </p:grpSpPr>
        <p:sp>
          <p:nvSpPr>
            <p:cNvPr id="21" name="Rectangle 20"/>
            <p:cNvSpPr/>
            <p:nvPr/>
          </p:nvSpPr>
          <p:spPr>
            <a:xfrm>
              <a:off x="8337525" y="1767828"/>
              <a:ext cx="585989" cy="335644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99956" y="1786990"/>
              <a:ext cx="333744" cy="313517"/>
            </a:xfrm>
            <a:prstGeom prst="rect">
              <a:avLst/>
            </a:prstGeom>
          </p:spPr>
        </p:pic>
        <p:cxnSp>
          <p:nvCxnSpPr>
            <p:cNvPr id="24" name="Straight Arrow Connector 23"/>
            <p:cNvCxnSpPr/>
            <p:nvPr/>
          </p:nvCxnSpPr>
          <p:spPr>
            <a:xfrm flipH="1">
              <a:off x="8630519" y="2116351"/>
              <a:ext cx="1" cy="441049"/>
            </a:xfrm>
            <a:prstGeom prst="straightConnector1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8" name="Picture 27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777412" y="2194143"/>
              <a:ext cx="576989" cy="322723"/>
            </a:xfrm>
            <a:prstGeom prst="rect">
              <a:avLst/>
            </a:prstGeom>
          </p:spPr>
        </p:pic>
      </p:grpSp>
      <p:grpSp>
        <p:nvGrpSpPr>
          <p:cNvPr id="13" name="Group 12"/>
          <p:cNvGrpSpPr/>
          <p:nvPr/>
        </p:nvGrpSpPr>
        <p:grpSpPr>
          <a:xfrm>
            <a:off x="7269226" y="1684782"/>
            <a:ext cx="750643" cy="1201028"/>
            <a:chOff x="7269226" y="1684782"/>
            <a:chExt cx="750643" cy="1201028"/>
          </a:xfrm>
        </p:grpSpPr>
        <p:sp>
          <p:nvSpPr>
            <p:cNvPr id="25" name="Right Arrow 24"/>
            <p:cNvSpPr/>
            <p:nvPr/>
          </p:nvSpPr>
          <p:spPr>
            <a:xfrm rot="14006589">
              <a:off x="7352984" y="2218924"/>
              <a:ext cx="1014820" cy="318951"/>
            </a:xfrm>
            <a:prstGeom prst="rightArrow">
              <a:avLst/>
            </a:prstGeom>
            <a:gradFill>
              <a:gsLst>
                <a:gs pos="0">
                  <a:schemeClr val="bg1">
                    <a:alpha val="60000"/>
                  </a:schemeClr>
                </a:gs>
                <a:gs pos="74000">
                  <a:schemeClr val="bg1">
                    <a:lumMod val="75000"/>
                  </a:schemeClr>
                </a:gs>
                <a:gs pos="83000">
                  <a:schemeClr val="bg1">
                    <a:lumMod val="65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6" name="Picture 35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269226" y="1684782"/>
              <a:ext cx="344297" cy="251244"/>
            </a:xfrm>
            <a:prstGeom prst="rect">
              <a:avLst/>
            </a:prstGeom>
          </p:spPr>
        </p:pic>
      </p:grpSp>
      <p:grpSp>
        <p:nvGrpSpPr>
          <p:cNvPr id="9" name="Group 8"/>
          <p:cNvGrpSpPr/>
          <p:nvPr/>
        </p:nvGrpSpPr>
        <p:grpSpPr>
          <a:xfrm>
            <a:off x="9381669" y="3866567"/>
            <a:ext cx="1313177" cy="520204"/>
            <a:chOff x="9381669" y="3866567"/>
            <a:chExt cx="1313177" cy="520204"/>
          </a:xfrm>
        </p:grpSpPr>
        <p:cxnSp>
          <p:nvCxnSpPr>
            <p:cNvPr id="31" name="Straight Arrow Connector 30"/>
            <p:cNvCxnSpPr/>
            <p:nvPr/>
          </p:nvCxnSpPr>
          <p:spPr>
            <a:xfrm>
              <a:off x="9642739" y="3866567"/>
              <a:ext cx="465412" cy="311399"/>
            </a:xfrm>
            <a:prstGeom prst="straightConnector1">
              <a:avLst/>
            </a:prstGeom>
            <a:ln w="762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ectangle 34"/>
            <p:cNvSpPr/>
            <p:nvPr/>
          </p:nvSpPr>
          <p:spPr>
            <a:xfrm>
              <a:off x="10108857" y="3993679"/>
              <a:ext cx="585989" cy="335644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" name="Picture 36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254493" y="4033469"/>
              <a:ext cx="294715" cy="304539"/>
            </a:xfrm>
            <a:prstGeom prst="rect">
              <a:avLst/>
            </a:prstGeom>
          </p:spPr>
        </p:pic>
        <p:pic>
          <p:nvPicPr>
            <p:cNvPr id="38" name="Picture 37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381669" y="4062268"/>
              <a:ext cx="550672" cy="324503"/>
            </a:xfrm>
            <a:prstGeom prst="rect">
              <a:avLst/>
            </a:prstGeom>
          </p:spPr>
        </p:pic>
      </p:grpSp>
      <p:grpSp>
        <p:nvGrpSpPr>
          <p:cNvPr id="16" name="Group 15"/>
          <p:cNvGrpSpPr/>
          <p:nvPr/>
        </p:nvGrpSpPr>
        <p:grpSpPr>
          <a:xfrm>
            <a:off x="7322485" y="75735"/>
            <a:ext cx="4070939" cy="462521"/>
            <a:chOff x="7322485" y="75735"/>
            <a:chExt cx="4070939" cy="462521"/>
          </a:xfrm>
        </p:grpSpPr>
        <p:sp>
          <p:nvSpPr>
            <p:cNvPr id="43" name="Rectangle 42"/>
            <p:cNvSpPr/>
            <p:nvPr/>
          </p:nvSpPr>
          <p:spPr>
            <a:xfrm>
              <a:off x="7322485" y="75735"/>
              <a:ext cx="4070939" cy="462521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Picture 39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53652" y="173124"/>
              <a:ext cx="356976" cy="325478"/>
            </a:xfrm>
            <a:prstGeom prst="rect">
              <a:avLst/>
            </a:prstGeom>
          </p:spPr>
        </p:pic>
      </p:grpSp>
      <p:pic>
        <p:nvPicPr>
          <p:cNvPr id="61" name="Picture 6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4677" y="5541600"/>
            <a:ext cx="1625334" cy="595956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6682261" y="555775"/>
            <a:ext cx="2641660" cy="1203049"/>
            <a:chOff x="6682261" y="555775"/>
            <a:chExt cx="2641660" cy="1203049"/>
          </a:xfrm>
        </p:grpSpPr>
        <p:grpSp>
          <p:nvGrpSpPr>
            <p:cNvPr id="14" name="Group 13"/>
            <p:cNvGrpSpPr/>
            <p:nvPr/>
          </p:nvGrpSpPr>
          <p:grpSpPr>
            <a:xfrm>
              <a:off x="7325926" y="555775"/>
              <a:ext cx="1922066" cy="1203049"/>
              <a:chOff x="7325926" y="555775"/>
              <a:chExt cx="1922066" cy="1203049"/>
            </a:xfrm>
          </p:grpSpPr>
          <p:cxnSp>
            <p:nvCxnSpPr>
              <p:cNvPr id="47" name="Straight Arrow Connector 46"/>
              <p:cNvCxnSpPr/>
              <p:nvPr/>
            </p:nvCxnSpPr>
            <p:spPr>
              <a:xfrm flipH="1">
                <a:off x="8636615" y="1317775"/>
                <a:ext cx="1" cy="441049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/>
              <p:cNvCxnSpPr/>
              <p:nvPr/>
            </p:nvCxnSpPr>
            <p:spPr>
              <a:xfrm flipH="1">
                <a:off x="8642711" y="555775"/>
                <a:ext cx="1" cy="441049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Oval 45"/>
              <p:cNvSpPr/>
              <p:nvPr/>
            </p:nvSpPr>
            <p:spPr>
              <a:xfrm>
                <a:off x="8013044" y="965447"/>
                <a:ext cx="1234948" cy="35040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Carnot</a:t>
                </a:r>
              </a:p>
            </p:txBody>
          </p:sp>
          <p:cxnSp>
            <p:nvCxnSpPr>
              <p:cNvPr id="52" name="Straight Arrow Connector 51"/>
              <p:cNvCxnSpPr/>
              <p:nvPr/>
            </p:nvCxnSpPr>
            <p:spPr>
              <a:xfrm flipH="1">
                <a:off x="7325926" y="1152248"/>
                <a:ext cx="696067" cy="2183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3" name="Picture 52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82261" y="990279"/>
              <a:ext cx="546608" cy="273304"/>
            </a:xfrm>
            <a:prstGeom prst="rect">
              <a:avLst/>
            </a:prstGeom>
          </p:spPr>
        </p:pic>
        <p:pic>
          <p:nvPicPr>
            <p:cNvPr id="62" name="Picture 61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746932" y="1377279"/>
              <a:ext cx="576989" cy="322723"/>
            </a:xfrm>
            <a:prstGeom prst="rect">
              <a:avLst/>
            </a:prstGeom>
          </p:spPr>
        </p:pic>
      </p:grpSp>
      <p:grpSp>
        <p:nvGrpSpPr>
          <p:cNvPr id="18" name="Group 17"/>
          <p:cNvGrpSpPr/>
          <p:nvPr/>
        </p:nvGrpSpPr>
        <p:grpSpPr>
          <a:xfrm>
            <a:off x="9936405" y="529286"/>
            <a:ext cx="2255595" cy="3455708"/>
            <a:chOff x="9936405" y="529286"/>
            <a:chExt cx="2255595" cy="3455708"/>
          </a:xfrm>
        </p:grpSpPr>
        <p:cxnSp>
          <p:nvCxnSpPr>
            <p:cNvPr id="44" name="Straight Arrow Connector 43"/>
            <p:cNvCxnSpPr/>
            <p:nvPr/>
          </p:nvCxnSpPr>
          <p:spPr>
            <a:xfrm flipH="1" flipV="1">
              <a:off x="10549208" y="2442656"/>
              <a:ext cx="30015" cy="1542338"/>
            </a:xfrm>
            <a:prstGeom prst="straightConnector1">
              <a:avLst/>
            </a:prstGeom>
            <a:ln w="762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/>
            <p:cNvSpPr/>
            <p:nvPr/>
          </p:nvSpPr>
          <p:spPr>
            <a:xfrm>
              <a:off x="9941904" y="2086752"/>
              <a:ext cx="1234948" cy="35040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Carnot</a:t>
              </a:r>
            </a:p>
          </p:txBody>
        </p:sp>
        <p:cxnSp>
          <p:nvCxnSpPr>
            <p:cNvPr id="51" name="Straight Arrow Connector 50"/>
            <p:cNvCxnSpPr/>
            <p:nvPr/>
          </p:nvCxnSpPr>
          <p:spPr>
            <a:xfrm flipH="1" flipV="1">
              <a:off x="10518338" y="529286"/>
              <a:ext cx="30015" cy="1542338"/>
            </a:xfrm>
            <a:prstGeom prst="straightConnector1">
              <a:avLst/>
            </a:prstGeom>
            <a:ln w="762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4" name="Picture 53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1599368" y="2115215"/>
              <a:ext cx="592632" cy="310889"/>
            </a:xfrm>
            <a:prstGeom prst="rect">
              <a:avLst/>
            </a:prstGeom>
          </p:spPr>
        </p:pic>
        <p:cxnSp>
          <p:nvCxnSpPr>
            <p:cNvPr id="57" name="Straight Arrow Connector 56"/>
            <p:cNvCxnSpPr>
              <a:cxnSpLocks/>
              <a:stCxn id="54" idx="1"/>
              <a:endCxn id="50" idx="6"/>
            </p:cNvCxnSpPr>
            <p:nvPr/>
          </p:nvCxnSpPr>
          <p:spPr>
            <a:xfrm flipH="1" flipV="1">
              <a:off x="11176852" y="2261956"/>
              <a:ext cx="422516" cy="8704"/>
            </a:xfrm>
            <a:prstGeom prst="straightConnector1">
              <a:avLst/>
            </a:prstGeom>
            <a:ln w="76200">
              <a:solidFill>
                <a:srgbClr val="00B0F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3" name="Picture 62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936405" y="3190540"/>
              <a:ext cx="550672" cy="324503"/>
            </a:xfrm>
            <a:prstGeom prst="rect">
              <a:avLst/>
            </a:prstGeom>
          </p:spPr>
        </p:pic>
      </p:grpSp>
      <p:pic>
        <p:nvPicPr>
          <p:cNvPr id="66" name="Picture 6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2458" y="5475040"/>
            <a:ext cx="2316555" cy="586288"/>
          </a:xfrm>
          <a:prstGeom prst="rect">
            <a:avLst/>
          </a:prstGeom>
        </p:spPr>
      </p:pic>
      <p:grpSp>
        <p:nvGrpSpPr>
          <p:cNvPr id="27" name="Group 26"/>
          <p:cNvGrpSpPr/>
          <p:nvPr/>
        </p:nvGrpSpPr>
        <p:grpSpPr>
          <a:xfrm>
            <a:off x="9826884" y="5153920"/>
            <a:ext cx="2184727" cy="1310301"/>
            <a:chOff x="9826884" y="5153920"/>
            <a:chExt cx="2184727" cy="1310301"/>
          </a:xfrm>
        </p:grpSpPr>
        <p:pic>
          <p:nvPicPr>
            <p:cNvPr id="68" name="Picture 67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9847960" y="5153920"/>
              <a:ext cx="2163651" cy="598142"/>
            </a:xfrm>
            <a:prstGeom prst="rect">
              <a:avLst/>
            </a:prstGeom>
          </p:spPr>
        </p:pic>
        <p:pic>
          <p:nvPicPr>
            <p:cNvPr id="69" name="Picture 68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9826884" y="6202151"/>
              <a:ext cx="1858320" cy="262070"/>
            </a:xfrm>
            <a:prstGeom prst="rect">
              <a:avLst/>
            </a:prstGeom>
          </p:spPr>
        </p:pic>
      </p:grpSp>
      <p:grpSp>
        <p:nvGrpSpPr>
          <p:cNvPr id="6" name="Group 5"/>
          <p:cNvGrpSpPr/>
          <p:nvPr/>
        </p:nvGrpSpPr>
        <p:grpSpPr>
          <a:xfrm>
            <a:off x="6876272" y="2281206"/>
            <a:ext cx="3065632" cy="2527503"/>
            <a:chOff x="6876272" y="2281206"/>
            <a:chExt cx="3065632" cy="2527503"/>
          </a:xfrm>
        </p:grpSpPr>
        <p:sp>
          <p:nvSpPr>
            <p:cNvPr id="10" name="TextBox 9"/>
            <p:cNvSpPr txBox="1"/>
            <p:nvPr/>
          </p:nvSpPr>
          <p:spPr>
            <a:xfrm>
              <a:off x="8117409" y="3098843"/>
              <a:ext cx="13481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Engine Cycle</a:t>
              </a:r>
              <a:endParaRPr lang="en-US" dirty="0"/>
            </a:p>
          </p:txBody>
        </p:sp>
        <p:cxnSp>
          <p:nvCxnSpPr>
            <p:cNvPr id="15" name="Straight Arrow Connector 14"/>
            <p:cNvCxnSpPr/>
            <p:nvPr/>
          </p:nvCxnSpPr>
          <p:spPr>
            <a:xfrm flipV="1">
              <a:off x="7228869" y="2516866"/>
              <a:ext cx="0" cy="20595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>
              <a:off x="7228869" y="4576901"/>
              <a:ext cx="2217313" cy="322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/>
            <p:cNvSpPr/>
            <p:nvPr/>
          </p:nvSpPr>
          <p:spPr>
            <a:xfrm>
              <a:off x="7322485" y="2553561"/>
              <a:ext cx="2619419" cy="1829229"/>
            </a:xfrm>
            <a:custGeom>
              <a:avLst/>
              <a:gdLst>
                <a:gd name="connsiteX0" fmla="*/ 583598 w 2415754"/>
                <a:gd name="connsiteY0" fmla="*/ 1314480 h 1611067"/>
                <a:gd name="connsiteX1" fmla="*/ 1291936 w 2415754"/>
                <a:gd name="connsiteY1" fmla="*/ 1610694 h 1611067"/>
                <a:gd name="connsiteX2" fmla="*/ 1601029 w 2415754"/>
                <a:gd name="connsiteY2" fmla="*/ 1250085 h 1611067"/>
                <a:gd name="connsiteX3" fmla="*/ 2386640 w 2415754"/>
                <a:gd name="connsiteY3" fmla="*/ 1018266 h 1611067"/>
                <a:gd name="connsiteX4" fmla="*/ 2180578 w 2415754"/>
                <a:gd name="connsiteY4" fmla="*/ 464474 h 1611067"/>
                <a:gd name="connsiteX5" fmla="*/ 1549513 w 2415754"/>
                <a:gd name="connsiteY5" fmla="*/ 78108 h 1611067"/>
                <a:gd name="connsiteX6" fmla="*/ 673750 w 2415754"/>
                <a:gd name="connsiteY6" fmla="*/ 39471 h 1611067"/>
                <a:gd name="connsiteX7" fmla="*/ 326020 w 2415754"/>
                <a:gd name="connsiteY7" fmla="*/ 528869 h 1611067"/>
                <a:gd name="connsiteX8" fmla="*/ 918448 w 2415754"/>
                <a:gd name="connsiteY8" fmla="*/ 876598 h 1611067"/>
                <a:gd name="connsiteX9" fmla="*/ 4048 w 2415754"/>
                <a:gd name="connsiteY9" fmla="*/ 1108418 h 1611067"/>
                <a:gd name="connsiteX10" fmla="*/ 583598 w 2415754"/>
                <a:gd name="connsiteY10" fmla="*/ 1314480 h 1611067"/>
                <a:gd name="connsiteX0" fmla="*/ 2180578 w 2416669"/>
                <a:gd name="connsiteY0" fmla="*/ 464474 h 1611067"/>
                <a:gd name="connsiteX1" fmla="*/ 1549513 w 2416669"/>
                <a:gd name="connsiteY1" fmla="*/ 78108 h 1611067"/>
                <a:gd name="connsiteX2" fmla="*/ 673750 w 2416669"/>
                <a:gd name="connsiteY2" fmla="*/ 39471 h 1611067"/>
                <a:gd name="connsiteX3" fmla="*/ 326020 w 2416669"/>
                <a:gd name="connsiteY3" fmla="*/ 528869 h 1611067"/>
                <a:gd name="connsiteX4" fmla="*/ 918448 w 2416669"/>
                <a:gd name="connsiteY4" fmla="*/ 876598 h 1611067"/>
                <a:gd name="connsiteX5" fmla="*/ 4048 w 2416669"/>
                <a:gd name="connsiteY5" fmla="*/ 1108418 h 1611067"/>
                <a:gd name="connsiteX6" fmla="*/ 583598 w 2416669"/>
                <a:gd name="connsiteY6" fmla="*/ 1314480 h 1611067"/>
                <a:gd name="connsiteX7" fmla="*/ 1291936 w 2416669"/>
                <a:gd name="connsiteY7" fmla="*/ 1610694 h 1611067"/>
                <a:gd name="connsiteX8" fmla="*/ 1601029 w 2416669"/>
                <a:gd name="connsiteY8" fmla="*/ 1250085 h 1611067"/>
                <a:gd name="connsiteX9" fmla="*/ 2386640 w 2416669"/>
                <a:gd name="connsiteY9" fmla="*/ 1018266 h 1611067"/>
                <a:gd name="connsiteX10" fmla="*/ 2272018 w 2416669"/>
                <a:gd name="connsiteY10" fmla="*/ 555914 h 1611067"/>
                <a:gd name="connsiteX0" fmla="*/ 2180578 w 2410123"/>
                <a:gd name="connsiteY0" fmla="*/ 464474 h 1611067"/>
                <a:gd name="connsiteX1" fmla="*/ 1549513 w 2410123"/>
                <a:gd name="connsiteY1" fmla="*/ 78108 h 1611067"/>
                <a:gd name="connsiteX2" fmla="*/ 673750 w 2410123"/>
                <a:gd name="connsiteY2" fmla="*/ 39471 h 1611067"/>
                <a:gd name="connsiteX3" fmla="*/ 326020 w 2410123"/>
                <a:gd name="connsiteY3" fmla="*/ 528869 h 1611067"/>
                <a:gd name="connsiteX4" fmla="*/ 918448 w 2410123"/>
                <a:gd name="connsiteY4" fmla="*/ 876598 h 1611067"/>
                <a:gd name="connsiteX5" fmla="*/ 4048 w 2410123"/>
                <a:gd name="connsiteY5" fmla="*/ 1108418 h 1611067"/>
                <a:gd name="connsiteX6" fmla="*/ 583598 w 2410123"/>
                <a:gd name="connsiteY6" fmla="*/ 1314480 h 1611067"/>
                <a:gd name="connsiteX7" fmla="*/ 1291936 w 2410123"/>
                <a:gd name="connsiteY7" fmla="*/ 1610694 h 1611067"/>
                <a:gd name="connsiteX8" fmla="*/ 1601029 w 2410123"/>
                <a:gd name="connsiteY8" fmla="*/ 1250085 h 1611067"/>
                <a:gd name="connsiteX9" fmla="*/ 2386640 w 2410123"/>
                <a:gd name="connsiteY9" fmla="*/ 1018266 h 1611067"/>
                <a:gd name="connsiteX10" fmla="*/ 2194745 w 2410123"/>
                <a:gd name="connsiteY10" fmla="*/ 478641 h 1611067"/>
                <a:gd name="connsiteX0" fmla="*/ 2180578 w 2404187"/>
                <a:gd name="connsiteY0" fmla="*/ 464474 h 1611067"/>
                <a:gd name="connsiteX1" fmla="*/ 1549513 w 2404187"/>
                <a:gd name="connsiteY1" fmla="*/ 78108 h 1611067"/>
                <a:gd name="connsiteX2" fmla="*/ 673750 w 2404187"/>
                <a:gd name="connsiteY2" fmla="*/ 39471 h 1611067"/>
                <a:gd name="connsiteX3" fmla="*/ 326020 w 2404187"/>
                <a:gd name="connsiteY3" fmla="*/ 528869 h 1611067"/>
                <a:gd name="connsiteX4" fmla="*/ 918448 w 2404187"/>
                <a:gd name="connsiteY4" fmla="*/ 876598 h 1611067"/>
                <a:gd name="connsiteX5" fmla="*/ 4048 w 2404187"/>
                <a:gd name="connsiteY5" fmla="*/ 1108418 h 1611067"/>
                <a:gd name="connsiteX6" fmla="*/ 583598 w 2404187"/>
                <a:gd name="connsiteY6" fmla="*/ 1314480 h 1611067"/>
                <a:gd name="connsiteX7" fmla="*/ 1291936 w 2404187"/>
                <a:gd name="connsiteY7" fmla="*/ 1610694 h 1611067"/>
                <a:gd name="connsiteX8" fmla="*/ 1601029 w 2404187"/>
                <a:gd name="connsiteY8" fmla="*/ 1250085 h 1611067"/>
                <a:gd name="connsiteX9" fmla="*/ 2386640 w 2404187"/>
                <a:gd name="connsiteY9" fmla="*/ 1018266 h 1611067"/>
                <a:gd name="connsiteX10" fmla="*/ 2143230 w 2404187"/>
                <a:gd name="connsiteY10" fmla="*/ 414246 h 1611067"/>
                <a:gd name="connsiteX0" fmla="*/ 2180578 w 2408483"/>
                <a:gd name="connsiteY0" fmla="*/ 464474 h 1611067"/>
                <a:gd name="connsiteX1" fmla="*/ 1549513 w 2408483"/>
                <a:gd name="connsiteY1" fmla="*/ 78108 h 1611067"/>
                <a:gd name="connsiteX2" fmla="*/ 673750 w 2408483"/>
                <a:gd name="connsiteY2" fmla="*/ 39471 h 1611067"/>
                <a:gd name="connsiteX3" fmla="*/ 326020 w 2408483"/>
                <a:gd name="connsiteY3" fmla="*/ 528869 h 1611067"/>
                <a:gd name="connsiteX4" fmla="*/ 918448 w 2408483"/>
                <a:gd name="connsiteY4" fmla="*/ 876598 h 1611067"/>
                <a:gd name="connsiteX5" fmla="*/ 4048 w 2408483"/>
                <a:gd name="connsiteY5" fmla="*/ 1108418 h 1611067"/>
                <a:gd name="connsiteX6" fmla="*/ 583598 w 2408483"/>
                <a:gd name="connsiteY6" fmla="*/ 1314480 h 1611067"/>
                <a:gd name="connsiteX7" fmla="*/ 1291936 w 2408483"/>
                <a:gd name="connsiteY7" fmla="*/ 1610694 h 1611067"/>
                <a:gd name="connsiteX8" fmla="*/ 1601029 w 2408483"/>
                <a:gd name="connsiteY8" fmla="*/ 1250085 h 1611067"/>
                <a:gd name="connsiteX9" fmla="*/ 2386640 w 2408483"/>
                <a:gd name="connsiteY9" fmla="*/ 1018266 h 1611067"/>
                <a:gd name="connsiteX10" fmla="*/ 2181867 w 2408483"/>
                <a:gd name="connsiteY10" fmla="*/ 452883 h 161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8483" h="1611067">
                  <a:moveTo>
                    <a:pt x="2180578" y="464474"/>
                  </a:moveTo>
                  <a:cubicBezTo>
                    <a:pt x="2041057" y="307781"/>
                    <a:pt x="1800651" y="148942"/>
                    <a:pt x="1549513" y="78108"/>
                  </a:cubicBezTo>
                  <a:cubicBezTo>
                    <a:pt x="1298375" y="7274"/>
                    <a:pt x="877666" y="-35656"/>
                    <a:pt x="673750" y="39471"/>
                  </a:cubicBezTo>
                  <a:cubicBezTo>
                    <a:pt x="469834" y="114598"/>
                    <a:pt x="285237" y="389348"/>
                    <a:pt x="326020" y="528869"/>
                  </a:cubicBezTo>
                  <a:cubicBezTo>
                    <a:pt x="366803" y="668390"/>
                    <a:pt x="972110" y="780006"/>
                    <a:pt x="918448" y="876598"/>
                  </a:cubicBezTo>
                  <a:cubicBezTo>
                    <a:pt x="864786" y="973189"/>
                    <a:pt x="53417" y="1033291"/>
                    <a:pt x="4048" y="1108418"/>
                  </a:cubicBezTo>
                  <a:cubicBezTo>
                    <a:pt x="-45321" y="1183545"/>
                    <a:pt x="368950" y="1230767"/>
                    <a:pt x="583598" y="1314480"/>
                  </a:cubicBezTo>
                  <a:cubicBezTo>
                    <a:pt x="798246" y="1398193"/>
                    <a:pt x="1122364" y="1621427"/>
                    <a:pt x="1291936" y="1610694"/>
                  </a:cubicBezTo>
                  <a:cubicBezTo>
                    <a:pt x="1461508" y="1599961"/>
                    <a:pt x="1418578" y="1348823"/>
                    <a:pt x="1601029" y="1250085"/>
                  </a:cubicBezTo>
                  <a:cubicBezTo>
                    <a:pt x="1783480" y="1151347"/>
                    <a:pt x="2289834" y="1151133"/>
                    <a:pt x="2386640" y="1018266"/>
                  </a:cubicBezTo>
                  <a:cubicBezTo>
                    <a:pt x="2483446" y="885399"/>
                    <a:pt x="2229948" y="518136"/>
                    <a:pt x="2181867" y="452883"/>
                  </a:cubicBezTo>
                </a:path>
              </a:pathLst>
            </a:custGeom>
            <a:noFill/>
            <a:ln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876272" y="2281206"/>
              <a:ext cx="342900" cy="317500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9466529" y="4465809"/>
              <a:ext cx="342900" cy="342900"/>
            </a:xfrm>
            <a:prstGeom prst="rect">
              <a:avLst/>
            </a:prstGeom>
          </p:spPr>
        </p:pic>
      </p:grpSp>
      <p:pic>
        <p:nvPicPr>
          <p:cNvPr id="29" name="Picture 2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953969" y="1024394"/>
            <a:ext cx="1461965" cy="294176"/>
          </a:xfrm>
          <a:prstGeom prst="rect">
            <a:avLst/>
          </a:prstGeom>
        </p:spPr>
      </p:pic>
      <p:grpSp>
        <p:nvGrpSpPr>
          <p:cNvPr id="41" name="Group 40"/>
          <p:cNvGrpSpPr/>
          <p:nvPr/>
        </p:nvGrpSpPr>
        <p:grpSpPr>
          <a:xfrm>
            <a:off x="3285014" y="6025429"/>
            <a:ext cx="9101849" cy="781380"/>
            <a:chOff x="3285014" y="6025429"/>
            <a:chExt cx="9101849" cy="781380"/>
          </a:xfrm>
        </p:grpSpPr>
        <p:sp>
          <p:nvSpPr>
            <p:cNvPr id="30" name="Right Brace 29"/>
            <p:cNvSpPr/>
            <p:nvPr/>
          </p:nvSpPr>
          <p:spPr>
            <a:xfrm rot="5400000">
              <a:off x="7072953" y="5422134"/>
              <a:ext cx="304830" cy="1511419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3285014" y="6437477"/>
              <a:ext cx="91018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Net work done to the environment ≤ 0 (Kelvin: cannot turn all the heat to +work)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50C2AF5-ECD7-474A-B4B1-996D43AE1AF4}"/>
              </a:ext>
            </a:extLst>
          </p:cNvPr>
          <p:cNvGrpSpPr/>
          <p:nvPr/>
        </p:nvGrpSpPr>
        <p:grpSpPr>
          <a:xfrm>
            <a:off x="4525075" y="5429380"/>
            <a:ext cx="4415974" cy="736628"/>
            <a:chOff x="4525075" y="5429380"/>
            <a:chExt cx="4415974" cy="736628"/>
          </a:xfrm>
        </p:grpSpPr>
        <p:sp>
          <p:nvSpPr>
            <p:cNvPr id="23" name="Right Arrow 22"/>
            <p:cNvSpPr/>
            <p:nvPr/>
          </p:nvSpPr>
          <p:spPr>
            <a:xfrm flipH="1">
              <a:off x="8030579" y="5636993"/>
              <a:ext cx="910470" cy="31518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2" name="Picture 31"/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525075" y="5429380"/>
              <a:ext cx="3310864" cy="736628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FC21F2D-BE28-486C-834E-1559762AB09E}"/>
              </a:ext>
            </a:extLst>
          </p:cNvPr>
          <p:cNvGrpSpPr/>
          <p:nvPr/>
        </p:nvGrpSpPr>
        <p:grpSpPr>
          <a:xfrm>
            <a:off x="1958905" y="5640678"/>
            <a:ext cx="1763707" cy="553010"/>
            <a:chOff x="1958905" y="5640678"/>
            <a:chExt cx="1763707" cy="553010"/>
          </a:xfrm>
        </p:grpSpPr>
        <p:pic>
          <p:nvPicPr>
            <p:cNvPr id="64" name="Picture 63"/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2329114" y="5647493"/>
              <a:ext cx="1393498" cy="546195"/>
            </a:xfrm>
            <a:prstGeom prst="rect">
              <a:avLst/>
            </a:prstGeom>
          </p:spPr>
        </p:pic>
        <p:sp>
          <p:nvSpPr>
            <p:cNvPr id="65" name="Right Arrow 22">
              <a:extLst>
                <a:ext uri="{FF2B5EF4-FFF2-40B4-BE49-F238E27FC236}">
                  <a16:creationId xmlns:a16="http://schemas.microsoft.com/office/drawing/2014/main" id="{6ECF0CBB-FE07-4731-9D07-9ECBCFB595B8}"/>
                </a:ext>
              </a:extLst>
            </p:cNvPr>
            <p:cNvSpPr/>
            <p:nvPr/>
          </p:nvSpPr>
          <p:spPr>
            <a:xfrm rot="10800000" flipH="1">
              <a:off x="1958905" y="5640678"/>
              <a:ext cx="265109" cy="311497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6" name="Arc 25"/>
          <p:cNvSpPr/>
          <p:nvPr/>
        </p:nvSpPr>
        <p:spPr>
          <a:xfrm>
            <a:off x="7655374" y="1949396"/>
            <a:ext cx="2804857" cy="3419722"/>
          </a:xfrm>
          <a:prstGeom prst="arc">
            <a:avLst>
              <a:gd name="adj1" fmla="val 16200000"/>
              <a:gd name="adj2" fmla="val 340098"/>
            </a:avLst>
          </a:prstGeom>
          <a:ln w="28575">
            <a:solidFill>
              <a:srgbClr val="00B050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c 72"/>
          <p:cNvSpPr/>
          <p:nvPr/>
        </p:nvSpPr>
        <p:spPr>
          <a:xfrm rot="8990659">
            <a:off x="7257694" y="1724659"/>
            <a:ext cx="3312585" cy="3419722"/>
          </a:xfrm>
          <a:prstGeom prst="arc">
            <a:avLst>
              <a:gd name="adj1" fmla="val 15304271"/>
              <a:gd name="adj2" fmla="val 5555147"/>
            </a:avLst>
          </a:prstGeom>
          <a:ln w="28575">
            <a:solidFill>
              <a:srgbClr val="00B050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92D68A7-B974-4C6C-BADF-A0C2820DA1CD}"/>
              </a:ext>
            </a:extLst>
          </p:cNvPr>
          <p:cNvGrpSpPr/>
          <p:nvPr/>
        </p:nvGrpSpPr>
        <p:grpSpPr>
          <a:xfrm>
            <a:off x="-36298" y="2984938"/>
            <a:ext cx="1112036" cy="444062"/>
            <a:chOff x="-36298" y="2984938"/>
            <a:chExt cx="1112036" cy="444062"/>
          </a:xfrm>
        </p:grpSpPr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9E8FD861-3826-4990-9E5F-EB513C125FBF}"/>
                </a:ext>
              </a:extLst>
            </p:cNvPr>
            <p:cNvCxnSpPr/>
            <p:nvPr/>
          </p:nvCxnSpPr>
          <p:spPr>
            <a:xfrm>
              <a:off x="1024128" y="2984938"/>
              <a:ext cx="0" cy="44406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E7293B7-C7E4-4BF8-A6E0-44C27397BB29}"/>
                </a:ext>
              </a:extLst>
            </p:cNvPr>
            <p:cNvSpPr txBox="1"/>
            <p:nvPr/>
          </p:nvSpPr>
          <p:spPr>
            <a:xfrm>
              <a:off x="-36298" y="3006280"/>
              <a:ext cx="1112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sz="1600" dirty="0"/>
                <a:t>equivalent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84AC34-55F1-4D72-8824-F68C3644EB35}"/>
              </a:ext>
            </a:extLst>
          </p:cNvPr>
          <p:cNvGrpSpPr/>
          <p:nvPr/>
        </p:nvGrpSpPr>
        <p:grpSpPr>
          <a:xfrm>
            <a:off x="-36298" y="3596868"/>
            <a:ext cx="1112036" cy="444062"/>
            <a:chOff x="-36298" y="2984938"/>
            <a:chExt cx="1112036" cy="444062"/>
          </a:xfrm>
        </p:grpSpPr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AD30AC44-DEE5-454E-9F48-B70EB7A46F61}"/>
                </a:ext>
              </a:extLst>
            </p:cNvPr>
            <p:cNvCxnSpPr/>
            <p:nvPr/>
          </p:nvCxnSpPr>
          <p:spPr>
            <a:xfrm>
              <a:off x="1024128" y="2984938"/>
              <a:ext cx="0" cy="44406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C831A15-9842-4CEE-A510-C6AE5816CB25}"/>
                </a:ext>
              </a:extLst>
            </p:cNvPr>
            <p:cNvSpPr txBox="1"/>
            <p:nvPr/>
          </p:nvSpPr>
          <p:spPr>
            <a:xfrm>
              <a:off x="-36298" y="3006280"/>
              <a:ext cx="1112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sz="1600" dirty="0"/>
                <a:t>equivalent</a:t>
              </a:r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9D40B47-E986-40DA-918B-87D28013668F}"/>
              </a:ext>
            </a:extLst>
          </p:cNvPr>
          <p:cNvGrpSpPr/>
          <p:nvPr/>
        </p:nvGrpSpPr>
        <p:grpSpPr>
          <a:xfrm>
            <a:off x="-42799" y="4400911"/>
            <a:ext cx="1112036" cy="444062"/>
            <a:chOff x="-36298" y="2984938"/>
            <a:chExt cx="1112036" cy="444062"/>
          </a:xfrm>
        </p:grpSpPr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C6B5DD0C-F512-497A-99D7-81224CCC96E5}"/>
                </a:ext>
              </a:extLst>
            </p:cNvPr>
            <p:cNvCxnSpPr/>
            <p:nvPr/>
          </p:nvCxnSpPr>
          <p:spPr>
            <a:xfrm>
              <a:off x="1024128" y="2984938"/>
              <a:ext cx="0" cy="44406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79FE2CA-D5C8-40D7-91FB-7A436FF9EA6C}"/>
                </a:ext>
              </a:extLst>
            </p:cNvPr>
            <p:cNvSpPr txBox="1"/>
            <p:nvPr/>
          </p:nvSpPr>
          <p:spPr>
            <a:xfrm>
              <a:off x="-36298" y="3006280"/>
              <a:ext cx="111203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sz="1600" dirty="0"/>
                <a:t>equivalent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245762DF-5294-43FD-883C-C82C07647F4A}"/>
              </a:ext>
            </a:extLst>
          </p:cNvPr>
          <p:cNvSpPr txBox="1"/>
          <p:nvPr/>
        </p:nvSpPr>
        <p:spPr>
          <a:xfrm>
            <a:off x="177930" y="6325329"/>
            <a:ext cx="2533733" cy="371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b="0" i="0" dirty="0">
                <a:solidFill>
                  <a:srgbClr val="111111"/>
                </a:solidFill>
                <a:effectLst/>
                <a:latin typeface="Roboto" panose="020B0604020202020204" pitchFamily="2" charset="0"/>
              </a:rPr>
              <a:t>Reversible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 ⇒</a:t>
            </a:r>
            <a:r>
              <a:rPr lang="en-MY" b="0" i="0" dirty="0">
                <a:solidFill>
                  <a:srgbClr val="111111"/>
                </a:solidFill>
                <a:effectLst/>
                <a:latin typeface="Roboto" panose="020B0604020202020204" pitchFamily="2" charset="0"/>
              </a:rPr>
              <a:t> Equality </a:t>
            </a:r>
            <a:endParaRPr lang="en-MY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0EA4B7-604E-4B9D-A599-7D3893F73403}"/>
              </a:ext>
            </a:extLst>
          </p:cNvPr>
          <p:cNvSpPr txBox="1"/>
          <p:nvPr/>
        </p:nvSpPr>
        <p:spPr>
          <a:xfrm>
            <a:off x="9664064" y="4628013"/>
            <a:ext cx="2308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Engine efficiency: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91FA346-8856-483A-A95A-355BCC034C2C}"/>
              </a:ext>
            </a:extLst>
          </p:cNvPr>
          <p:cNvGrpSpPr/>
          <p:nvPr/>
        </p:nvGrpSpPr>
        <p:grpSpPr>
          <a:xfrm>
            <a:off x="4525075" y="5396246"/>
            <a:ext cx="753204" cy="805905"/>
            <a:chOff x="4525075" y="5396246"/>
            <a:chExt cx="753204" cy="805905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834EED4-785A-4D29-8EC5-AB263E2BE6BC}"/>
                </a:ext>
              </a:extLst>
            </p:cNvPr>
            <p:cNvSpPr/>
            <p:nvPr/>
          </p:nvSpPr>
          <p:spPr>
            <a:xfrm>
              <a:off x="4525075" y="5396246"/>
              <a:ext cx="753204" cy="8059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pic>
          <p:nvPicPr>
            <p:cNvPr id="72" name="Picture 71"/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5006311" y="5452991"/>
              <a:ext cx="230138" cy="55791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18E75AD-91A7-42AB-ABFD-C4BEA5F70084}"/>
              </a:ext>
            </a:extLst>
          </p:cNvPr>
          <p:cNvGrpSpPr/>
          <p:nvPr/>
        </p:nvGrpSpPr>
        <p:grpSpPr>
          <a:xfrm>
            <a:off x="5855713" y="5409266"/>
            <a:ext cx="2157331" cy="966576"/>
            <a:chOff x="5855713" y="5409266"/>
            <a:chExt cx="2157331" cy="966576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5D4064EB-A91B-4153-96C6-5B8988A7EA96}"/>
                </a:ext>
              </a:extLst>
            </p:cNvPr>
            <p:cNvSpPr/>
            <p:nvPr/>
          </p:nvSpPr>
          <p:spPr>
            <a:xfrm>
              <a:off x="5911951" y="5409266"/>
              <a:ext cx="2101093" cy="9665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 dirty="0"/>
            </a:p>
          </p:txBody>
        </p: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F21AFAAC-FA28-4BAA-87BC-67AFAD501C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5855713" y="5486118"/>
              <a:ext cx="664181" cy="50316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83325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73" grpId="0" animBg="1"/>
      <p:bldP spid="8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7909665" cy="1499616"/>
          </a:xfrm>
        </p:spPr>
        <p:txBody>
          <a:bodyPr/>
          <a:lstStyle/>
          <a:p>
            <a:r>
              <a:rPr lang="en-US" dirty="0"/>
              <a:t>Laws of Thermodynamics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7346" y="2261956"/>
            <a:ext cx="2609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Law of thermodynamic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46" y="2808411"/>
            <a:ext cx="5707301" cy="101661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44" y="4665730"/>
            <a:ext cx="5862391" cy="73051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45" y="3935086"/>
            <a:ext cx="5693426" cy="654213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089415" y="5358411"/>
            <a:ext cx="2352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⇒</a:t>
            </a:r>
            <a:r>
              <a:rPr lang="en-US" dirty="0"/>
              <a:t> concept of entropy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6442" y="1527982"/>
            <a:ext cx="1220409" cy="1280429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8208" y="2884343"/>
            <a:ext cx="1351170" cy="43237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58208" y="1152939"/>
            <a:ext cx="1745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Reversible cycle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7197224" y="3607921"/>
            <a:ext cx="4857671" cy="997746"/>
            <a:chOff x="7197224" y="3607921"/>
            <a:chExt cx="4857671" cy="997746"/>
          </a:xfrm>
        </p:grpSpPr>
        <p:pic>
          <p:nvPicPr>
            <p:cNvPr id="22" name="Picture 21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197224" y="3607921"/>
              <a:ext cx="4857671" cy="693953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8462269" y="4236335"/>
              <a:ext cx="19724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Path independent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7470284" y="4810181"/>
            <a:ext cx="3284622" cy="908245"/>
            <a:chOff x="7470284" y="4810181"/>
            <a:chExt cx="3284622" cy="908245"/>
          </a:xfrm>
        </p:grpSpPr>
        <p:pic>
          <p:nvPicPr>
            <p:cNvPr id="23" name="Picture 22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0177" y="5053346"/>
              <a:ext cx="2364729" cy="665080"/>
            </a:xfrm>
            <a:prstGeom prst="rect">
              <a:avLst/>
            </a:prstGeom>
          </p:spPr>
        </p:pic>
        <p:sp>
          <p:nvSpPr>
            <p:cNvPr id="24" name="Rectangle 23"/>
            <p:cNvSpPr/>
            <p:nvPr/>
          </p:nvSpPr>
          <p:spPr>
            <a:xfrm>
              <a:off x="7470284" y="4810181"/>
              <a:ext cx="11042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/>
                <a:t>Entropy </a:t>
              </a: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7EA87F9-1E3F-4339-B560-D8E7B01476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645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C1C4A702-0D9B-4CAC-AB4A-5E54CB233BAD}"/>
              </a:ext>
            </a:extLst>
          </p:cNvPr>
          <p:cNvGrpSpPr/>
          <p:nvPr/>
        </p:nvGrpSpPr>
        <p:grpSpPr>
          <a:xfrm>
            <a:off x="6070776" y="1849821"/>
            <a:ext cx="2219100" cy="942592"/>
            <a:chOff x="6070776" y="1849821"/>
            <a:chExt cx="2219100" cy="942592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4A4A075-9730-4CC7-9349-A7AEC6672ADD}"/>
                </a:ext>
              </a:extLst>
            </p:cNvPr>
            <p:cNvSpPr/>
            <p:nvPr/>
          </p:nvSpPr>
          <p:spPr>
            <a:xfrm>
              <a:off x="6070776" y="1849821"/>
              <a:ext cx="2219100" cy="94259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6714D1AB-1D7F-4B01-9CAA-B99CF4DC2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28869" y="2091814"/>
              <a:ext cx="910954" cy="439210"/>
            </a:xfrm>
            <a:prstGeom prst="rect">
              <a:avLst/>
            </a:prstGeom>
          </p:spPr>
        </p:pic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954516D3-C148-409E-9F2A-030A3679B24E}"/>
              </a:ext>
            </a:extLst>
          </p:cNvPr>
          <p:cNvSpPr/>
          <p:nvPr/>
        </p:nvSpPr>
        <p:spPr>
          <a:xfrm>
            <a:off x="6074187" y="1856803"/>
            <a:ext cx="813225" cy="94259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C397C2-54B1-4097-AF0D-EFA84AAA95D0}"/>
              </a:ext>
            </a:extLst>
          </p:cNvPr>
          <p:cNvSpPr/>
          <p:nvPr/>
        </p:nvSpPr>
        <p:spPr>
          <a:xfrm>
            <a:off x="6070776" y="1849821"/>
            <a:ext cx="2219100" cy="9585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7909665" cy="1499616"/>
          </a:xfrm>
        </p:spPr>
        <p:txBody>
          <a:bodyPr/>
          <a:lstStyle/>
          <a:p>
            <a:r>
              <a:rPr lang="en-US" dirty="0"/>
              <a:t>Laws of Thermodynamics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7346" y="2261956"/>
            <a:ext cx="2609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Law of thermodynamic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46" y="2808411"/>
            <a:ext cx="5707301" cy="101661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44" y="4665730"/>
            <a:ext cx="5862391" cy="73051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45" y="3935086"/>
            <a:ext cx="5693426" cy="65421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0522" y="902453"/>
            <a:ext cx="3006598" cy="221963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60561" y="3187481"/>
            <a:ext cx="2423023" cy="75049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5698" y="4187662"/>
            <a:ext cx="2238502" cy="64572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80589" y="5122005"/>
            <a:ext cx="2219101" cy="60179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5445337" y="5882779"/>
            <a:ext cx="4587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Entropy always increase in a isolated system.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89413" y="6518579"/>
            <a:ext cx="9010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⇒</a:t>
            </a:r>
            <a:r>
              <a:rPr lang="en-US" dirty="0"/>
              <a:t> Determine the evolution of the system. Equilibrium state has the maximum entropy.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endParaRPr lang="en-US" dirty="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72424" y="5173828"/>
            <a:ext cx="828059" cy="489307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60029" y="6023332"/>
            <a:ext cx="1072135" cy="190445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49872" y="5861292"/>
            <a:ext cx="1962049" cy="514523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28057" y="6028597"/>
            <a:ext cx="383322" cy="18804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89415" y="5358411"/>
            <a:ext cx="2352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⇒</a:t>
            </a:r>
            <a:r>
              <a:rPr lang="en-US" dirty="0"/>
              <a:t> concept of entropy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10032683" y="833179"/>
            <a:ext cx="1358046" cy="571582"/>
            <a:chOff x="10032683" y="833179"/>
            <a:chExt cx="1358046" cy="571582"/>
          </a:xfrm>
        </p:grpSpPr>
        <p:grpSp>
          <p:nvGrpSpPr>
            <p:cNvPr id="22" name="Group 21"/>
            <p:cNvGrpSpPr/>
            <p:nvPr/>
          </p:nvGrpSpPr>
          <p:grpSpPr>
            <a:xfrm>
              <a:off x="10032683" y="833179"/>
              <a:ext cx="1358046" cy="438606"/>
              <a:chOff x="10032683" y="833179"/>
              <a:chExt cx="1358046" cy="438606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0369296" y="833179"/>
                <a:ext cx="102143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dirty="0"/>
                  <a:t>isolated </a:t>
                </a:r>
              </a:p>
            </p:txBody>
          </p:sp>
          <p:cxnSp>
            <p:nvCxnSpPr>
              <p:cNvPr id="15" name="Straight Arrow Connector 14"/>
              <p:cNvCxnSpPr/>
              <p:nvPr/>
            </p:nvCxnSpPr>
            <p:spPr>
              <a:xfrm flipH="1">
                <a:off x="10032683" y="1087119"/>
                <a:ext cx="336613" cy="1846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3" name="Picture 22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0501082" y="1179452"/>
              <a:ext cx="757859" cy="225309"/>
            </a:xfrm>
            <a:prstGeom prst="rect">
              <a:avLst/>
            </a:prstGeom>
          </p:spPr>
        </p:pic>
      </p:grpSp>
      <p:sp>
        <p:nvSpPr>
          <p:cNvPr id="25" name="Rounded Rectangle 24"/>
          <p:cNvSpPr/>
          <p:nvPr/>
        </p:nvSpPr>
        <p:spPr>
          <a:xfrm>
            <a:off x="2566122" y="5723795"/>
            <a:ext cx="2641982" cy="747734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4BE1E7A-B36B-4F50-B329-F677C1C603BF}"/>
              </a:ext>
            </a:extLst>
          </p:cNvPr>
          <p:cNvSpPr/>
          <p:nvPr/>
        </p:nvSpPr>
        <p:spPr>
          <a:xfrm>
            <a:off x="6894511" y="1849822"/>
            <a:ext cx="95224" cy="9495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3FF4F8FF-A7BC-43F3-9455-3741037F89F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012463" y="2017477"/>
            <a:ext cx="871538" cy="427846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4534F81A-7FC9-405D-9018-40552BC58F67}"/>
              </a:ext>
            </a:extLst>
          </p:cNvPr>
          <p:cNvSpPr/>
          <p:nvPr/>
        </p:nvSpPr>
        <p:spPr>
          <a:xfrm>
            <a:off x="8204483" y="1842839"/>
            <a:ext cx="95224" cy="9495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FB774C5-0646-4ABE-BCED-523B1EF58D72}"/>
              </a:ext>
            </a:extLst>
          </p:cNvPr>
          <p:cNvGrpSpPr/>
          <p:nvPr/>
        </p:nvGrpSpPr>
        <p:grpSpPr>
          <a:xfrm>
            <a:off x="7047954" y="2153274"/>
            <a:ext cx="975541" cy="406037"/>
            <a:chOff x="7276554" y="2153274"/>
            <a:chExt cx="975541" cy="406037"/>
          </a:xfrm>
        </p:grpSpPr>
        <p:sp>
          <p:nvSpPr>
            <p:cNvPr id="30" name="Arrow: Right 29">
              <a:extLst>
                <a:ext uri="{FF2B5EF4-FFF2-40B4-BE49-F238E27FC236}">
                  <a16:creationId xmlns:a16="http://schemas.microsoft.com/office/drawing/2014/main" id="{5465A622-2F4E-472E-893F-DB1527A9B091}"/>
                </a:ext>
              </a:extLst>
            </p:cNvPr>
            <p:cNvSpPr/>
            <p:nvPr/>
          </p:nvSpPr>
          <p:spPr>
            <a:xfrm rot="10800000">
              <a:off x="7276554" y="2231400"/>
              <a:ext cx="574826" cy="2286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pic>
          <p:nvPicPr>
            <p:cNvPr id="33" name="Graphic 32">
              <a:extLst>
                <a:ext uri="{FF2B5EF4-FFF2-40B4-BE49-F238E27FC236}">
                  <a16:creationId xmlns:a16="http://schemas.microsoft.com/office/drawing/2014/main" id="{A819018B-637A-448F-A680-5B122D4293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778385" y="2153274"/>
              <a:ext cx="473710" cy="406037"/>
            </a:xfrm>
            <a:prstGeom prst="rect">
              <a:avLst/>
            </a:prstGeom>
          </p:spPr>
        </p:pic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ADE5091C-817A-4A5F-A2CF-1574831DBDC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072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42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2.96296E-6 L -0.10742 0.00209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378" y="93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37" dur="21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0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600"/>
                            </p:stCondLst>
                            <p:childTnLst>
                              <p:par>
                                <p:cTn id="40" presetID="10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1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500"/>
                            </p:stCondLst>
                            <p:childTnLst>
                              <p:par>
                                <p:cTn id="8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100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1" grpId="1" animBg="1"/>
      <p:bldP spid="55" grpId="0"/>
      <p:bldP spid="58" grpId="0"/>
      <p:bldP spid="25" grpId="0" animBg="1"/>
      <p:bldP spid="9" grpId="0" animBg="1"/>
      <p:bldP spid="35" grpId="0" animBg="1"/>
      <p:bldP spid="35" grpId="1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Thermodynamics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5024" y="2084832"/>
            <a:ext cx="41045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Condition for equilibrium?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101085A-2DE4-4C0B-B786-2BD57CB51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26B14E-41CF-4D08-9B33-83E006EFC7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4699" y="3052822"/>
            <a:ext cx="2407534" cy="37617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668DE03-6838-4F1D-AECF-A9D8A0A80C27}"/>
              </a:ext>
            </a:extLst>
          </p:cNvPr>
          <p:cNvSpPr txBox="1"/>
          <p:nvPr/>
        </p:nvSpPr>
        <p:spPr>
          <a:xfrm flipH="1">
            <a:off x="3387285" y="2695864"/>
            <a:ext cx="16408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1</a:t>
            </a:r>
            <a:r>
              <a:rPr lang="en-MY" baseline="30000" dirty="0"/>
              <a:t>st</a:t>
            </a:r>
            <a:r>
              <a:rPr lang="en-MY" dirty="0"/>
              <a:t> law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5AA7D5-D67A-4948-A9F2-E97266D75408}"/>
              </a:ext>
            </a:extLst>
          </p:cNvPr>
          <p:cNvSpPr txBox="1"/>
          <p:nvPr/>
        </p:nvSpPr>
        <p:spPr>
          <a:xfrm flipH="1">
            <a:off x="7163876" y="2590601"/>
            <a:ext cx="16408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2</a:t>
            </a:r>
            <a:r>
              <a:rPr lang="en-MY" baseline="30000" dirty="0"/>
              <a:t>nd</a:t>
            </a:r>
            <a:r>
              <a:rPr lang="en-MY" dirty="0"/>
              <a:t> law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BA0C64E-1A5B-4676-A258-D11B6A394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354" y="3027421"/>
            <a:ext cx="1504709" cy="34724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0C650E7-3EF5-471C-9BA1-0B449A3254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0997" y="3584448"/>
            <a:ext cx="5301205" cy="1053296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FFBC5F6F-29E4-4334-B9FF-86119E9307B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63876" y="4092883"/>
            <a:ext cx="1504708" cy="429916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92330D03-5E90-48AF-9C2F-53CF40AFE763}"/>
              </a:ext>
            </a:extLst>
          </p:cNvPr>
          <p:cNvGrpSpPr/>
          <p:nvPr/>
        </p:nvGrpSpPr>
        <p:grpSpPr>
          <a:xfrm>
            <a:off x="518160" y="3935324"/>
            <a:ext cx="3535682" cy="613391"/>
            <a:chOff x="518160" y="3935324"/>
            <a:chExt cx="3535682" cy="613391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DEF9CB4-C917-4B5A-A400-5F2434D0FEAB}"/>
                </a:ext>
              </a:extLst>
            </p:cNvPr>
            <p:cNvSpPr txBox="1"/>
            <p:nvPr/>
          </p:nvSpPr>
          <p:spPr>
            <a:xfrm flipH="1">
              <a:off x="518160" y="4179383"/>
              <a:ext cx="35356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MY" dirty="0">
                  <a:solidFill>
                    <a:schemeClr val="accent2"/>
                  </a:solidFill>
                </a:rPr>
                <a:t>Each steps are in equilibrium</a:t>
              </a: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3DDC274-1E0D-404A-A5AD-9AA04D3241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7040" y="3935324"/>
              <a:ext cx="477520" cy="3318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D2C1D222-798B-430F-9662-C20923802C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84884" y="5523550"/>
            <a:ext cx="1041722" cy="347241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705F98E-6B6C-4EEE-A63A-3DD8C4B60C0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7705" y="4945190"/>
            <a:ext cx="2060294" cy="1788289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19492C3A-7C50-4686-ABBF-801F187F29CC}"/>
              </a:ext>
            </a:extLst>
          </p:cNvPr>
          <p:cNvGrpSpPr/>
          <p:nvPr/>
        </p:nvGrpSpPr>
        <p:grpSpPr>
          <a:xfrm>
            <a:off x="518160" y="5878920"/>
            <a:ext cx="3535682" cy="674678"/>
            <a:chOff x="1662319" y="3935324"/>
            <a:chExt cx="3535682" cy="674678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7AE1A6E-B411-42B5-AA69-9CE4D52E0C9A}"/>
                </a:ext>
              </a:extLst>
            </p:cNvPr>
            <p:cNvSpPr txBox="1"/>
            <p:nvPr/>
          </p:nvSpPr>
          <p:spPr>
            <a:xfrm flipH="1">
              <a:off x="1662319" y="4240670"/>
              <a:ext cx="35356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MY" dirty="0">
                  <a:solidFill>
                    <a:schemeClr val="accent2"/>
                  </a:solidFill>
                </a:rPr>
                <a:t>Function of entropy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90D3375B-B4DB-478A-AE53-5A922E6059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87040" y="3935324"/>
              <a:ext cx="477520" cy="3318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1E09A70B-EB14-4B4D-A67F-CBCA8EFB56C5}"/>
              </a:ext>
            </a:extLst>
          </p:cNvPr>
          <p:cNvSpPr txBox="1"/>
          <p:nvPr/>
        </p:nvSpPr>
        <p:spPr>
          <a:xfrm flipH="1">
            <a:off x="7163876" y="5564466"/>
            <a:ext cx="450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>
                <a:solidFill>
                  <a:srgbClr val="FF0000"/>
                </a:solidFill>
              </a:rPr>
              <a:t>May not convenient for measurements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88790A-ACB9-4D89-9D94-1AD03DCFB9AC}"/>
              </a:ext>
            </a:extLst>
          </p:cNvPr>
          <p:cNvSpPr txBox="1"/>
          <p:nvPr/>
        </p:nvSpPr>
        <p:spPr>
          <a:xfrm flipH="1">
            <a:off x="7163876" y="6174641"/>
            <a:ext cx="4285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/>
              <a:t>Instead of described by internal energy,</a:t>
            </a:r>
          </a:p>
          <a:p>
            <a:r>
              <a:rPr lang="en-MY" dirty="0"/>
              <a:t>we use thermodynamics potential.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4400E27-6E20-47F1-B6C6-076F22775F37}"/>
              </a:ext>
            </a:extLst>
          </p:cNvPr>
          <p:cNvGrpSpPr/>
          <p:nvPr/>
        </p:nvGrpSpPr>
        <p:grpSpPr>
          <a:xfrm>
            <a:off x="4009706" y="2510318"/>
            <a:ext cx="3433635" cy="640302"/>
            <a:chOff x="8768080" y="4807732"/>
            <a:chExt cx="3433635" cy="64030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2BA3B98-7990-4DEC-821A-0624245630CF}"/>
                </a:ext>
              </a:extLst>
            </p:cNvPr>
            <p:cNvSpPr txBox="1"/>
            <p:nvPr/>
          </p:nvSpPr>
          <p:spPr>
            <a:xfrm flipH="1">
              <a:off x="9083361" y="4807732"/>
              <a:ext cx="31183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MY" dirty="0">
                  <a:solidFill>
                    <a:srgbClr val="FF0000"/>
                  </a:solidFill>
                </a:rPr>
                <a:t>watch the sign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F3897A6B-2AD4-471B-9A74-FA2FB20EA8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68080" y="5072681"/>
              <a:ext cx="389574" cy="375353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8664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Thermodynamics potential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5024" y="2084832"/>
            <a:ext cx="40308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How to reach equilibrium?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30351" y="2620190"/>
            <a:ext cx="7572953" cy="964258"/>
          </a:xfrm>
          <a:custGeom>
            <a:avLst/>
            <a:gdLst>
              <a:gd name="connsiteX0" fmla="*/ 0 w 6568973"/>
              <a:gd name="connsiteY0" fmla="*/ 0 h 836422"/>
              <a:gd name="connsiteX1" fmla="*/ 6568973 w 6568973"/>
              <a:gd name="connsiteY1" fmla="*/ 0 h 836422"/>
              <a:gd name="connsiteX2" fmla="*/ 6568973 w 6568973"/>
              <a:gd name="connsiteY2" fmla="*/ 580210 h 836422"/>
              <a:gd name="connsiteX3" fmla="*/ 548641 w 6568973"/>
              <a:gd name="connsiteY3" fmla="*/ 580210 h 836422"/>
              <a:gd name="connsiteX4" fmla="*/ 548641 w 6568973"/>
              <a:gd name="connsiteY4" fmla="*/ 836422 h 836422"/>
              <a:gd name="connsiteX5" fmla="*/ 0 w 6568973"/>
              <a:gd name="connsiteY5" fmla="*/ 836422 h 836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68973" h="836422">
                <a:moveTo>
                  <a:pt x="0" y="0"/>
                </a:moveTo>
                <a:lnTo>
                  <a:pt x="6568973" y="0"/>
                </a:lnTo>
                <a:lnTo>
                  <a:pt x="6568973" y="580210"/>
                </a:lnTo>
                <a:lnTo>
                  <a:pt x="548641" y="580210"/>
                </a:lnTo>
                <a:lnTo>
                  <a:pt x="548641" y="836422"/>
                </a:lnTo>
                <a:lnTo>
                  <a:pt x="0" y="836422"/>
                </a:lnTo>
                <a:close/>
              </a:path>
            </a:pathLst>
          </a:cu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7911" y="2649912"/>
            <a:ext cx="1971757" cy="56877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42D889A-2022-47F8-BE8B-C9C1D2576A1B}"/>
              </a:ext>
            </a:extLst>
          </p:cNvPr>
          <p:cNvGrpSpPr/>
          <p:nvPr/>
        </p:nvGrpSpPr>
        <p:grpSpPr>
          <a:xfrm>
            <a:off x="530351" y="3582124"/>
            <a:ext cx="10213849" cy="672084"/>
            <a:chOff x="530351" y="3582124"/>
            <a:chExt cx="10213849" cy="67208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4A0154E-7C74-4C95-86A4-420701A59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530351" y="3676429"/>
              <a:ext cx="7395573" cy="577779"/>
            </a:xfrm>
            <a:custGeom>
              <a:avLst/>
              <a:gdLst>
                <a:gd name="connsiteX0" fmla="*/ 0 w 7395573"/>
                <a:gd name="connsiteY0" fmla="*/ 0 h 577779"/>
                <a:gd name="connsiteX1" fmla="*/ 7395573 w 7395573"/>
                <a:gd name="connsiteY1" fmla="*/ 0 h 577779"/>
                <a:gd name="connsiteX2" fmla="*/ 7395573 w 7395573"/>
                <a:gd name="connsiteY2" fmla="*/ 297115 h 577779"/>
                <a:gd name="connsiteX3" fmla="*/ 3894504 w 7395573"/>
                <a:gd name="connsiteY3" fmla="*/ 297115 h 577779"/>
                <a:gd name="connsiteX4" fmla="*/ 3894504 w 7395573"/>
                <a:gd name="connsiteY4" fmla="*/ 365219 h 577779"/>
                <a:gd name="connsiteX5" fmla="*/ 3840481 w 7395573"/>
                <a:gd name="connsiteY5" fmla="*/ 365219 h 577779"/>
                <a:gd name="connsiteX6" fmla="*/ 3840481 w 7395573"/>
                <a:gd name="connsiteY6" fmla="*/ 577779 h 577779"/>
                <a:gd name="connsiteX7" fmla="*/ 0 w 7395573"/>
                <a:gd name="connsiteY7" fmla="*/ 577779 h 5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395573" h="577779">
                  <a:moveTo>
                    <a:pt x="0" y="0"/>
                  </a:moveTo>
                  <a:lnTo>
                    <a:pt x="7395573" y="0"/>
                  </a:lnTo>
                  <a:lnTo>
                    <a:pt x="7395573" y="297115"/>
                  </a:lnTo>
                  <a:lnTo>
                    <a:pt x="3894504" y="297115"/>
                  </a:lnTo>
                  <a:lnTo>
                    <a:pt x="3894504" y="365219"/>
                  </a:lnTo>
                  <a:lnTo>
                    <a:pt x="3840481" y="365219"/>
                  </a:lnTo>
                  <a:lnTo>
                    <a:pt x="3840481" y="577779"/>
                  </a:lnTo>
                  <a:lnTo>
                    <a:pt x="0" y="577779"/>
                  </a:lnTo>
                  <a:close/>
                </a:path>
              </a:pathLst>
            </a:custGeom>
          </p:spPr>
        </p:pic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47911" y="3582124"/>
              <a:ext cx="1796289" cy="546697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5BD4A39-3CEB-40D1-9191-F1E8E709319D}"/>
              </a:ext>
            </a:extLst>
          </p:cNvPr>
          <p:cNvGrpSpPr/>
          <p:nvPr/>
        </p:nvGrpSpPr>
        <p:grpSpPr>
          <a:xfrm>
            <a:off x="530351" y="4413512"/>
            <a:ext cx="10844785" cy="643448"/>
            <a:chOff x="530351" y="4413512"/>
            <a:chExt cx="10844785" cy="64344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E0D975A-5FB4-4D00-BF6A-24F2D4234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530351" y="4449707"/>
              <a:ext cx="7242050" cy="607253"/>
            </a:xfrm>
            <a:custGeom>
              <a:avLst/>
              <a:gdLst>
                <a:gd name="connsiteX0" fmla="*/ 0 w 7242050"/>
                <a:gd name="connsiteY0" fmla="*/ 0 h 607253"/>
                <a:gd name="connsiteX1" fmla="*/ 7242050 w 7242050"/>
                <a:gd name="connsiteY1" fmla="*/ 0 h 607253"/>
                <a:gd name="connsiteX2" fmla="*/ 7242050 w 7242050"/>
                <a:gd name="connsiteY2" fmla="*/ 294498 h 607253"/>
                <a:gd name="connsiteX3" fmla="*/ 3579194 w 7242050"/>
                <a:gd name="connsiteY3" fmla="*/ 294498 h 607253"/>
                <a:gd name="connsiteX4" fmla="*/ 3579194 w 7242050"/>
                <a:gd name="connsiteY4" fmla="*/ 607253 h 607253"/>
                <a:gd name="connsiteX5" fmla="*/ 0 w 7242050"/>
                <a:gd name="connsiteY5" fmla="*/ 607253 h 607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42050" h="607253">
                  <a:moveTo>
                    <a:pt x="0" y="0"/>
                  </a:moveTo>
                  <a:lnTo>
                    <a:pt x="7242050" y="0"/>
                  </a:lnTo>
                  <a:lnTo>
                    <a:pt x="7242050" y="294498"/>
                  </a:lnTo>
                  <a:lnTo>
                    <a:pt x="3579194" y="294498"/>
                  </a:lnTo>
                  <a:lnTo>
                    <a:pt x="3579194" y="607253"/>
                  </a:lnTo>
                  <a:lnTo>
                    <a:pt x="0" y="607253"/>
                  </a:lnTo>
                  <a:close/>
                </a:path>
              </a:pathLst>
            </a:custGeom>
          </p:spPr>
        </p:pic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797038" y="4413512"/>
              <a:ext cx="2578098" cy="494430"/>
            </a:xfrm>
            <a:prstGeom prst="rect">
              <a:avLst/>
            </a:prstGeom>
          </p:spPr>
        </p:pic>
      </p:grpSp>
      <p:sp>
        <p:nvSpPr>
          <p:cNvPr id="20" name="TextBox 19"/>
          <p:cNvSpPr txBox="1"/>
          <p:nvPr/>
        </p:nvSpPr>
        <p:spPr>
          <a:xfrm>
            <a:off x="1335024" y="5179545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mr-IN" dirty="0"/>
              <a:t>……</a:t>
            </a:r>
            <a:r>
              <a:rPr lang="en-US" dirty="0"/>
              <a:t>.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7699267" y="3294372"/>
            <a:ext cx="4469044" cy="895742"/>
            <a:chOff x="7602820" y="4804424"/>
            <a:chExt cx="4469044" cy="895742"/>
          </a:xfrm>
        </p:grpSpPr>
        <p:sp>
          <p:nvSpPr>
            <p:cNvPr id="22" name="TextBox 21"/>
            <p:cNvSpPr txBox="1"/>
            <p:nvPr/>
          </p:nvSpPr>
          <p:spPr>
            <a:xfrm>
              <a:off x="7602820" y="5300056"/>
              <a:ext cx="446904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Minimize the potentials</a:t>
              </a:r>
              <a:r>
                <a:rPr lang="en-US" sz="2000" dirty="0">
                  <a:latin typeface="Cambria" panose="02040503050406030204" pitchFamily="18" charset="0"/>
                  <a:ea typeface="Cambria" panose="02040503050406030204" pitchFamily="18" charset="0"/>
                </a:rPr>
                <a:t> ⇒ </a:t>
              </a:r>
              <a:r>
                <a:rPr lang="en-US" sz="2000" dirty="0"/>
                <a:t>equilibrium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 flipV="1">
              <a:off x="8947911" y="4804424"/>
              <a:ext cx="0" cy="4442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6A55AC8-27F9-49AB-8593-A015D9E96522}"/>
              </a:ext>
            </a:extLst>
          </p:cNvPr>
          <p:cNvGrpSpPr/>
          <p:nvPr/>
        </p:nvGrpSpPr>
        <p:grpSpPr>
          <a:xfrm>
            <a:off x="2486113" y="3307097"/>
            <a:ext cx="2942721" cy="2918497"/>
            <a:chOff x="2486113" y="3307097"/>
            <a:chExt cx="2942721" cy="2918497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32A405FC-D54B-4C85-AF61-605B4AA46FE0}"/>
                </a:ext>
              </a:extLst>
            </p:cNvPr>
            <p:cNvGrpSpPr/>
            <p:nvPr/>
          </p:nvGrpSpPr>
          <p:grpSpPr>
            <a:xfrm>
              <a:off x="2486113" y="3307097"/>
              <a:ext cx="2942721" cy="2343730"/>
              <a:chOff x="2486113" y="3307097"/>
              <a:chExt cx="2942721" cy="2343730"/>
            </a:xfrm>
          </p:grpSpPr>
          <p:pic>
            <p:nvPicPr>
              <p:cNvPr id="12" name="Picture 2" descr="Isentrophic Compression | Glenn Research Center | NASA">
                <a:extLst>
                  <a:ext uri="{FF2B5EF4-FFF2-40B4-BE49-F238E27FC236}">
                    <a16:creationId xmlns:a16="http://schemas.microsoft.com/office/drawing/2014/main" id="{1F4F6621-EE43-4DDB-96B4-29B3B22580B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6839" r="68822" b="38266"/>
              <a:stretch/>
            </p:blipFill>
            <p:spPr bwMode="auto">
              <a:xfrm>
                <a:off x="2486113" y="3676429"/>
                <a:ext cx="1830714" cy="1974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FD6DD2BE-5FA2-47EA-91A1-ECE3EBDD4BCE}"/>
                  </a:ext>
                </a:extLst>
              </p:cNvPr>
              <p:cNvGrpSpPr/>
              <p:nvPr/>
            </p:nvGrpSpPr>
            <p:grpSpPr>
              <a:xfrm>
                <a:off x="3677896" y="3307097"/>
                <a:ext cx="1750938" cy="987174"/>
                <a:chOff x="3677896" y="3307097"/>
                <a:chExt cx="1750938" cy="987174"/>
              </a:xfrm>
            </p:grpSpPr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2906817-67E8-43C8-BBB3-87466B463BF8}"/>
                    </a:ext>
                  </a:extLst>
                </p:cNvPr>
                <p:cNvSpPr txBox="1"/>
                <p:nvPr/>
              </p:nvSpPr>
              <p:spPr>
                <a:xfrm>
                  <a:off x="3863662" y="3307097"/>
                  <a:ext cx="156517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MY" dirty="0"/>
                    <a:t>External force</a:t>
                  </a:r>
                </a:p>
              </p:txBody>
            </p: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AF014CFC-41D6-4056-A1B8-C84C18207388}"/>
                    </a:ext>
                  </a:extLst>
                </p:cNvPr>
                <p:cNvCxnSpPr>
                  <a:cxnSpLocks/>
                  <a:stCxn id="13" idx="1"/>
                </p:cNvCxnSpPr>
                <p:nvPr/>
              </p:nvCxnSpPr>
              <p:spPr>
                <a:xfrm flipH="1">
                  <a:off x="3677896" y="3491763"/>
                  <a:ext cx="185766" cy="80250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29" name="Picture 2" descr="Isentrophic Compression | Glenn Research Center | NASA">
              <a:extLst>
                <a:ext uri="{FF2B5EF4-FFF2-40B4-BE49-F238E27FC236}">
                  <a16:creationId xmlns:a16="http://schemas.microsoft.com/office/drawing/2014/main" id="{9B9BD89F-D06E-4C96-B4C0-899B5606ED7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3414" t="1217" r="639" b="85792"/>
            <a:stretch/>
          </p:blipFill>
          <p:spPr bwMode="auto">
            <a:xfrm>
              <a:off x="3434133" y="5654278"/>
              <a:ext cx="936352" cy="5713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8" name="Picture 4" descr="Helmholtz Free Energy: Definition and Equation">
            <a:extLst>
              <a:ext uri="{FF2B5EF4-FFF2-40B4-BE49-F238E27FC236}">
                <a16:creationId xmlns:a16="http://schemas.microsoft.com/office/drawing/2014/main" id="{CD4B8BCC-BABF-4626-9BB6-88117A0E1A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2028" y="4190113"/>
            <a:ext cx="2757732" cy="249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1E710441-E761-455F-B026-86C1FC921558}"/>
              </a:ext>
            </a:extLst>
          </p:cNvPr>
          <p:cNvGrpSpPr/>
          <p:nvPr/>
        </p:nvGrpSpPr>
        <p:grpSpPr>
          <a:xfrm>
            <a:off x="7611533" y="4841749"/>
            <a:ext cx="4469044" cy="895742"/>
            <a:chOff x="7602820" y="4804424"/>
            <a:chExt cx="4469044" cy="89574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D7F7D07-D5C4-4B5B-BA25-D1A4FCEF66FC}"/>
                </a:ext>
              </a:extLst>
            </p:cNvPr>
            <p:cNvSpPr txBox="1"/>
            <p:nvPr/>
          </p:nvSpPr>
          <p:spPr>
            <a:xfrm>
              <a:off x="7602820" y="5300056"/>
              <a:ext cx="446904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Minimize the potentials</a:t>
              </a:r>
              <a:r>
                <a:rPr lang="en-US" sz="2000" dirty="0">
                  <a:latin typeface="Cambria" panose="02040503050406030204" pitchFamily="18" charset="0"/>
                  <a:ea typeface="Cambria" panose="02040503050406030204" pitchFamily="18" charset="0"/>
                </a:rPr>
                <a:t> ⇒ </a:t>
              </a:r>
              <a:r>
                <a:rPr lang="en-US" sz="2000" dirty="0"/>
                <a:t>equilibrium</a:t>
              </a: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FA63C1D-D86B-4DE6-9A30-EFCEC4C53D58}"/>
                </a:ext>
              </a:extLst>
            </p:cNvPr>
            <p:cNvCxnSpPr/>
            <p:nvPr/>
          </p:nvCxnSpPr>
          <p:spPr>
            <a:xfrm flipV="1">
              <a:off x="8947911" y="4804424"/>
              <a:ext cx="0" cy="4442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1" name="Picture 30">
            <a:extLst>
              <a:ext uri="{FF2B5EF4-FFF2-40B4-BE49-F238E27FC236}">
                <a16:creationId xmlns:a16="http://schemas.microsoft.com/office/drawing/2014/main" id="{5101085A-2DE4-4C0B-B786-2BD57CB51C9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BAA62CB-BB98-4A3F-8D3D-92AA8C50743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47911" y="6017912"/>
            <a:ext cx="1625334" cy="595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455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Laws of Thermodynamics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7346" y="2261956"/>
            <a:ext cx="259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Law of thermodynamic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46" y="2808412"/>
            <a:ext cx="8083166" cy="70288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5189" y="3511296"/>
            <a:ext cx="1648975" cy="51530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94560" y="4426446"/>
            <a:ext cx="8884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Every particles stay exactly at its lowest energy state. No thermal fluctuations is allowed.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F49AD53-B8A0-49BB-8017-F72B75489B14}"/>
              </a:ext>
            </a:extLst>
          </p:cNvPr>
          <p:cNvGrpSpPr/>
          <p:nvPr/>
        </p:nvGrpSpPr>
        <p:grpSpPr>
          <a:xfrm>
            <a:off x="1556084" y="5063277"/>
            <a:ext cx="8665946" cy="906671"/>
            <a:chOff x="1556084" y="5063277"/>
            <a:chExt cx="8665946" cy="906671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E8AB7987-F40F-4218-AD3C-C1177E090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489532" y="5063277"/>
              <a:ext cx="1732498" cy="50010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5FF1095-2C73-43B9-80BA-31E9C23D760F}"/>
                </a:ext>
              </a:extLst>
            </p:cNvPr>
            <p:cNvSpPr txBox="1"/>
            <p:nvPr/>
          </p:nvSpPr>
          <p:spPr>
            <a:xfrm>
              <a:off x="1556084" y="5100513"/>
              <a:ext cx="71245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MY" dirty="0"/>
                <a:t>In a thermal system, a single particle energy fluctuation </a:t>
              </a:r>
              <a:r>
                <a:rPr lang="en-MY" dirty="0">
                  <a:latin typeface="Cambria" panose="02040503050406030204" pitchFamily="18" charset="0"/>
                  <a:ea typeface="Cambria" panose="02040503050406030204" pitchFamily="18" charset="0"/>
                </a:rPr>
                <a:t>~ in the range</a:t>
              </a:r>
              <a:endParaRPr lang="en-MY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6493D1C-96B7-4391-8F7C-2137C6E8E93F}"/>
                </a:ext>
              </a:extLst>
            </p:cNvPr>
            <p:cNvGrpSpPr/>
            <p:nvPr/>
          </p:nvGrpSpPr>
          <p:grpSpPr>
            <a:xfrm>
              <a:off x="7568905" y="5469845"/>
              <a:ext cx="2223386" cy="500103"/>
              <a:chOff x="7568905" y="5469845"/>
              <a:chExt cx="2223386" cy="500103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FB7A934-2880-4F49-8ED8-60B3D1FC49E5}"/>
                  </a:ext>
                </a:extLst>
              </p:cNvPr>
              <p:cNvSpPr txBox="1"/>
              <p:nvPr/>
            </p:nvSpPr>
            <p:spPr>
              <a:xfrm>
                <a:off x="7568905" y="5600616"/>
                <a:ext cx="22233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MY" dirty="0">
                    <a:latin typeface="Cambria" panose="02040503050406030204" pitchFamily="18" charset="0"/>
                    <a:ea typeface="Cambria" panose="02040503050406030204" pitchFamily="18" charset="0"/>
                  </a:rPr>
                  <a:t>Ground state energy</a:t>
                </a:r>
                <a:endParaRPr lang="en-MY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99678746-20D4-472F-AF0F-928074F50986}"/>
                  </a:ext>
                </a:extLst>
              </p:cNvPr>
              <p:cNvCxnSpPr/>
              <p:nvPr/>
            </p:nvCxnSpPr>
            <p:spPr>
              <a:xfrm flipV="1">
                <a:off x="8816741" y="5469845"/>
                <a:ext cx="0" cy="16162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17E7F58A-03EB-415B-A956-FD7EE77BCE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185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81794-A54C-4A16-B1B8-C290BF892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MY" dirty="0"/>
              <a:t>Phase transition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93A069-1DB0-4EE4-A5E2-6286C0084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9" y="2509519"/>
            <a:ext cx="3012443" cy="3304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529F2A-9D2D-4A87-9395-A45D5ED8AFF8}"/>
              </a:ext>
            </a:extLst>
          </p:cNvPr>
          <p:cNvSpPr txBox="1"/>
          <p:nvPr/>
        </p:nvSpPr>
        <p:spPr>
          <a:xfrm flipH="1">
            <a:off x="888999" y="2010807"/>
            <a:ext cx="30124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b="1" dirty="0"/>
              <a:t>Phase diagram of water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F8B07CB-8AA0-4135-90DE-EEDEB73A661A}"/>
              </a:ext>
            </a:extLst>
          </p:cNvPr>
          <p:cNvGrpSpPr/>
          <p:nvPr/>
        </p:nvGrpSpPr>
        <p:grpSpPr>
          <a:xfrm>
            <a:off x="4643120" y="1924752"/>
            <a:ext cx="3743961" cy="3889462"/>
            <a:chOff x="7000240" y="2206546"/>
            <a:chExt cx="3743961" cy="388946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EF90F04-C4E0-42C8-B08C-E28FD43FE6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00241" y="2675447"/>
              <a:ext cx="3743960" cy="3420561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F891F7B-DC2A-4E0A-9E63-3046F34FE10B}"/>
                </a:ext>
              </a:extLst>
            </p:cNvPr>
            <p:cNvSpPr txBox="1"/>
            <p:nvPr/>
          </p:nvSpPr>
          <p:spPr>
            <a:xfrm flipH="1">
              <a:off x="7000240" y="2206546"/>
              <a:ext cx="30124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MY" b="1" dirty="0"/>
                <a:t>Changing temperature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98A0703-1FE5-4678-99C5-59548BB6DAE6}"/>
              </a:ext>
            </a:extLst>
          </p:cNvPr>
          <p:cNvGrpSpPr/>
          <p:nvPr/>
        </p:nvGrpSpPr>
        <p:grpSpPr>
          <a:xfrm>
            <a:off x="8678937" y="1924752"/>
            <a:ext cx="3349679" cy="1588323"/>
            <a:chOff x="8678937" y="1924752"/>
            <a:chExt cx="3349679" cy="158832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596508DA-33D9-4B02-B73D-DFE678DA45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678937" y="2866744"/>
              <a:ext cx="3349679" cy="64633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3240DC1-3F7D-46C2-8652-BB666A3B3C38}"/>
                </a:ext>
              </a:extLst>
            </p:cNvPr>
            <p:cNvSpPr txBox="1"/>
            <p:nvPr/>
          </p:nvSpPr>
          <p:spPr>
            <a:xfrm>
              <a:off x="8678937" y="1924752"/>
              <a:ext cx="2131028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MY" b="1" dirty="0"/>
                <a:t>Equation of state</a:t>
              </a:r>
            </a:p>
            <a:p>
              <a:r>
                <a:rPr lang="en-MY" b="1" dirty="0"/>
                <a:t>(van der Waal gas)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6FABB62-B430-42ED-B491-F2EC95E2D102}"/>
              </a:ext>
            </a:extLst>
          </p:cNvPr>
          <p:cNvSpPr txBox="1"/>
          <p:nvPr/>
        </p:nvSpPr>
        <p:spPr>
          <a:xfrm>
            <a:off x="1069298" y="6232986"/>
            <a:ext cx="102956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All the laws and equation of states are the statistical result of many-particles system </a:t>
            </a:r>
          </a:p>
        </p:txBody>
      </p:sp>
    </p:spTree>
    <p:extLst>
      <p:ext uri="{BB962C8B-B14F-4D97-AF65-F5344CB8AC3E}">
        <p14:creationId xmlns:p14="http://schemas.microsoft.com/office/powerpoint/2010/main" val="3686523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Kinetic theory of gas</a:t>
            </a:r>
            <a:br>
              <a:rPr lang="en-US" sz="3600" dirty="0"/>
            </a:br>
            <a:r>
              <a:rPr lang="en-US" sz="3600" dirty="0"/>
              <a:t>(1</a:t>
            </a:r>
            <a:r>
              <a:rPr lang="en-US" sz="3600" baseline="30000" dirty="0"/>
              <a:t>st</a:t>
            </a:r>
            <a:r>
              <a:rPr lang="en-US" sz="3600" dirty="0"/>
              <a:t> statistical approach)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658" y="853643"/>
            <a:ext cx="1579288" cy="21261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74556" y="3058776"/>
            <a:ext cx="32914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  S. J. Blundell and K. M. Blundell, </a:t>
            </a:r>
          </a:p>
          <a:p>
            <a:pPr algn="ctr"/>
            <a:r>
              <a:rPr lang="en-US" dirty="0"/>
              <a:t>Concepts in thermal physics, </a:t>
            </a:r>
          </a:p>
          <a:p>
            <a:pPr algn="ctr"/>
            <a:r>
              <a:rPr lang="en-US" dirty="0"/>
              <a:t> Oxford University Press, (2010)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84465" y="2500779"/>
            <a:ext cx="8066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Part II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62" y="2285999"/>
            <a:ext cx="3204718" cy="1883855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25E1CC18-A973-451E-83E7-BFD2155E3788}"/>
              </a:ext>
            </a:extLst>
          </p:cNvPr>
          <p:cNvGrpSpPr/>
          <p:nvPr/>
        </p:nvGrpSpPr>
        <p:grpSpPr>
          <a:xfrm>
            <a:off x="1377357" y="6305113"/>
            <a:ext cx="5411737" cy="473202"/>
            <a:chOff x="1377357" y="6305113"/>
            <a:chExt cx="5411737" cy="473202"/>
          </a:xfrm>
        </p:grpSpPr>
        <p:sp>
          <p:nvSpPr>
            <p:cNvPr id="12" name="TextBox 11"/>
            <p:cNvSpPr txBox="1"/>
            <p:nvPr/>
          </p:nvSpPr>
          <p:spPr>
            <a:xfrm>
              <a:off x="1377357" y="6316650"/>
              <a:ext cx="281224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Same distribution for </a:t>
              </a:r>
            </a:p>
          </p:txBody>
        </p:sp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27462" y="6422120"/>
              <a:ext cx="1028700" cy="3429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5424361" y="6305113"/>
              <a:ext cx="136473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(isotropic)</a:t>
              </a: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47299" y="3335775"/>
            <a:ext cx="1176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Equilibrium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3F7A3FB-00B9-4F18-9482-E55985BEBF16}"/>
              </a:ext>
            </a:extLst>
          </p:cNvPr>
          <p:cNvGrpSpPr/>
          <p:nvPr/>
        </p:nvGrpSpPr>
        <p:grpSpPr>
          <a:xfrm>
            <a:off x="3654277" y="4000987"/>
            <a:ext cx="8399334" cy="2857013"/>
            <a:chOff x="3654277" y="4000987"/>
            <a:chExt cx="8399334" cy="2857013"/>
          </a:xfrm>
        </p:grpSpPr>
        <p:pic>
          <p:nvPicPr>
            <p:cNvPr id="11266" name="Picture 2" descr="https://upload.wikimedia.org/wikipedia/commons/thumb/a/ad/Boltzmann2.jpg/225px-Boltzmann2.jpg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0390" y="4000987"/>
              <a:ext cx="1923221" cy="23591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/>
            <p:cNvSpPr txBox="1"/>
            <p:nvPr/>
          </p:nvSpPr>
          <p:spPr>
            <a:xfrm>
              <a:off x="9823354" y="6457890"/>
              <a:ext cx="218361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Ludwig Boltzmann</a:t>
              </a:r>
            </a:p>
          </p:txBody>
        </p:sp>
        <p:pic>
          <p:nvPicPr>
            <p:cNvPr id="13" name="Picture 4" descr="https://upload.wikimedia.org/wikipedia/en/thumb/4/42/Db_James_Clerk_Maxwell_in_his_40s_-2-7.jpg/220px-Db_James_Clerk_Maxwell_in_his_40s_-2-7.jpg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41979" y="4016656"/>
              <a:ext cx="1944312" cy="2456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/>
            <p:cNvSpPr txBox="1"/>
            <p:nvPr/>
          </p:nvSpPr>
          <p:spPr>
            <a:xfrm>
              <a:off x="7106312" y="6455271"/>
              <a:ext cx="262193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 James Clerk Maxwell 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07375B-0905-42B5-9B56-87A0749D5D8F}"/>
                </a:ext>
              </a:extLst>
            </p:cNvPr>
            <p:cNvSpPr txBox="1"/>
            <p:nvPr/>
          </p:nvSpPr>
          <p:spPr>
            <a:xfrm>
              <a:off x="3654277" y="5059978"/>
              <a:ext cx="366125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Maxwell–Boltzmann distribution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6CE26CF-4340-4875-B6C1-3BA19E85B2BB}"/>
              </a:ext>
            </a:extLst>
          </p:cNvPr>
          <p:cNvGrpSpPr/>
          <p:nvPr/>
        </p:nvGrpSpPr>
        <p:grpSpPr>
          <a:xfrm>
            <a:off x="3840480" y="2434645"/>
            <a:ext cx="3489040" cy="2909553"/>
            <a:chOff x="3840480" y="2434645"/>
            <a:chExt cx="3489040" cy="290955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F9CFD1E-CEF5-4FD0-8213-56478F226E58}"/>
                </a:ext>
              </a:extLst>
            </p:cNvPr>
            <p:cNvGrpSpPr/>
            <p:nvPr/>
          </p:nvGrpSpPr>
          <p:grpSpPr>
            <a:xfrm>
              <a:off x="3840480" y="2434645"/>
              <a:ext cx="3489040" cy="2909553"/>
              <a:chOff x="3840480" y="2434645"/>
              <a:chExt cx="3489040" cy="2909553"/>
            </a:xfrm>
          </p:grpSpPr>
          <p:pic>
            <p:nvPicPr>
              <p:cNvPr id="8" name="Picture 7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840480" y="2820478"/>
                <a:ext cx="3425048" cy="2523720"/>
              </a:xfrm>
              <a:prstGeom prst="rect">
                <a:avLst/>
              </a:prstGeom>
            </p:spPr>
          </p:pic>
          <p:sp>
            <p:nvSpPr>
              <p:cNvPr id="16" name="TextBox 15"/>
              <p:cNvSpPr txBox="1"/>
              <p:nvPr/>
            </p:nvSpPr>
            <p:spPr>
              <a:xfrm>
                <a:off x="4090556" y="2434645"/>
                <a:ext cx="32389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Velocity distribution in x-direction</a:t>
                </a:r>
              </a:p>
            </p:txBody>
          </p:sp>
        </p:grpSp>
        <p:sp>
          <p:nvSpPr>
            <p:cNvPr id="17" name="Arrow: Right 16">
              <a:extLst>
                <a:ext uri="{FF2B5EF4-FFF2-40B4-BE49-F238E27FC236}">
                  <a16:creationId xmlns:a16="http://schemas.microsoft.com/office/drawing/2014/main" id="{6B5FF177-14AB-419A-ADB3-D8B0E15379CC}"/>
                </a:ext>
              </a:extLst>
            </p:cNvPr>
            <p:cNvSpPr/>
            <p:nvPr/>
          </p:nvSpPr>
          <p:spPr>
            <a:xfrm rot="2111416">
              <a:off x="3996213" y="3349422"/>
              <a:ext cx="1056478" cy="33312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D6D7D40-EEAA-46ED-914A-5B877E4AE243}"/>
              </a:ext>
            </a:extLst>
          </p:cNvPr>
          <p:cNvGrpSpPr/>
          <p:nvPr/>
        </p:nvGrpSpPr>
        <p:grpSpPr>
          <a:xfrm>
            <a:off x="226310" y="4982423"/>
            <a:ext cx="4023622" cy="1228427"/>
            <a:chOff x="226310" y="4982423"/>
            <a:chExt cx="4023622" cy="1228427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26310" y="5329765"/>
              <a:ext cx="4023622" cy="881085"/>
            </a:xfrm>
            <a:prstGeom prst="rect">
              <a:avLst/>
            </a:prstGeom>
          </p:spPr>
        </p:pic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F0F86202-2C08-4B00-9F46-3CAD73A7C841}"/>
                </a:ext>
              </a:extLst>
            </p:cNvPr>
            <p:cNvSpPr/>
            <p:nvPr/>
          </p:nvSpPr>
          <p:spPr>
            <a:xfrm rot="9482392">
              <a:off x="2912695" y="4982423"/>
              <a:ext cx="1056478" cy="333124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B61FF0A3-20E7-4305-AFAC-B7623620B4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400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Kinetic theory of gas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2016" y="2084832"/>
            <a:ext cx="2784595" cy="291021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A42F9E16-2FDB-4B15-915F-F6405CB67F70}"/>
              </a:ext>
            </a:extLst>
          </p:cNvPr>
          <p:cNvGrpSpPr/>
          <p:nvPr/>
        </p:nvGrpSpPr>
        <p:grpSpPr>
          <a:xfrm>
            <a:off x="694944" y="2395728"/>
            <a:ext cx="8789377" cy="830997"/>
            <a:chOff x="694944" y="2395728"/>
            <a:chExt cx="8789377" cy="830997"/>
          </a:xfrm>
        </p:grpSpPr>
        <p:sp>
          <p:nvSpPr>
            <p:cNvPr id="7" name="TextBox 6"/>
            <p:cNvSpPr txBox="1"/>
            <p:nvPr/>
          </p:nvSpPr>
          <p:spPr>
            <a:xfrm>
              <a:off x="694944" y="2395728"/>
              <a:ext cx="7209025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Probability of finding a particle with VELOCITY between </a:t>
              </a:r>
            </a:p>
            <a:p>
              <a:r>
                <a:rPr lang="en-US" sz="2400" dirty="0"/>
                <a:t>and</a:t>
              </a:r>
            </a:p>
          </p:txBody>
        </p:sp>
        <p:pic>
          <p:nvPicPr>
            <p:cNvPr id="17" name="Picture 16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63051" y="2512472"/>
              <a:ext cx="1221270" cy="295594"/>
            </a:xfrm>
            <a:prstGeom prst="rect">
              <a:avLst/>
            </a:prstGeom>
          </p:spPr>
        </p:pic>
        <p:pic>
          <p:nvPicPr>
            <p:cNvPr id="20" name="Picture 19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59877" y="2863418"/>
              <a:ext cx="3860585" cy="326730"/>
            </a:xfrm>
            <a:prstGeom prst="rect">
              <a:avLst/>
            </a:prstGeom>
          </p:spPr>
        </p:pic>
      </p:grpSp>
      <p:pic>
        <p:nvPicPr>
          <p:cNvPr id="23" name="Picture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1415" y="4075155"/>
            <a:ext cx="5300880" cy="723234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310" y="5479053"/>
            <a:ext cx="4023622" cy="88108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B35ABDF-9AB5-4635-88A0-277CEE3476BB}"/>
              </a:ext>
            </a:extLst>
          </p:cNvPr>
          <p:cNvGrpSpPr/>
          <p:nvPr/>
        </p:nvGrpSpPr>
        <p:grpSpPr>
          <a:xfrm>
            <a:off x="694944" y="4731804"/>
            <a:ext cx="9116301" cy="1457921"/>
            <a:chOff x="694944" y="4731804"/>
            <a:chExt cx="9116301" cy="145792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0A30CCA-ED3F-4D5E-8BBC-1C57BA319A08}"/>
                </a:ext>
              </a:extLst>
            </p:cNvPr>
            <p:cNvGrpSpPr/>
            <p:nvPr/>
          </p:nvGrpSpPr>
          <p:grpSpPr>
            <a:xfrm>
              <a:off x="694944" y="4731804"/>
              <a:ext cx="7554825" cy="1457921"/>
              <a:chOff x="694944" y="4731804"/>
              <a:chExt cx="7554825" cy="1457921"/>
            </a:xfrm>
          </p:grpSpPr>
          <p:sp>
            <p:nvSpPr>
              <p:cNvPr id="25" name="TextBox 24"/>
              <p:cNvSpPr txBox="1"/>
              <p:nvPr/>
            </p:nvSpPr>
            <p:spPr>
              <a:xfrm>
                <a:off x="694944" y="4731804"/>
                <a:ext cx="75548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Probability of finding a particle with SPEED between     and</a:t>
                </a:r>
              </a:p>
            </p:txBody>
          </p:sp>
          <p:pic>
            <p:nvPicPr>
              <p:cNvPr id="28" name="Picture 27"/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691640" y="5423925"/>
                <a:ext cx="6436160" cy="765800"/>
              </a:xfrm>
              <a:prstGeom prst="rect">
                <a:avLst/>
              </a:prstGeom>
            </p:spPr>
          </p:pic>
        </p:grpSp>
        <p:pic>
          <p:nvPicPr>
            <p:cNvPr id="24" name="Picture 23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68548" y="4893818"/>
              <a:ext cx="203200" cy="215900"/>
            </a:xfrm>
            <a:prstGeom prst="rect">
              <a:avLst/>
            </a:prstGeom>
          </p:spPr>
        </p:pic>
        <p:pic>
          <p:nvPicPr>
            <p:cNvPr id="27" name="Picture 26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698516" y="4817017"/>
              <a:ext cx="1112729" cy="329277"/>
            </a:xfrm>
            <a:prstGeom prst="rect">
              <a:avLst/>
            </a:prstGeom>
          </p:spPr>
        </p:pic>
      </p:grpSp>
      <p:pic>
        <p:nvPicPr>
          <p:cNvPr id="18" name="Graphic 17">
            <a:extLst>
              <a:ext uri="{FF2B5EF4-FFF2-40B4-BE49-F238E27FC236}">
                <a16:creationId xmlns:a16="http://schemas.microsoft.com/office/drawing/2014/main" id="{6B5C3E25-90D9-4B8B-81FB-FF70579A6B4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713085" y="3376786"/>
            <a:ext cx="5507057" cy="66179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AB783D8-13AE-4387-AAE1-A7D323794EB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44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Kinetic theory of gas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" y="1970316"/>
            <a:ext cx="75548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Probability of finding a particle with SPEED between     and</a:t>
            </a:r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385" y="2132330"/>
            <a:ext cx="203200" cy="2159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350" y="2029025"/>
            <a:ext cx="1112729" cy="32927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9623" y="2839343"/>
            <a:ext cx="3545625" cy="270987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4945" y="3817081"/>
            <a:ext cx="4254839" cy="172418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6508" y="5541264"/>
            <a:ext cx="6711696" cy="8191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756350" y="5766170"/>
            <a:ext cx="29589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⇒ equipartition of energy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C2C042-E7D7-4C48-962B-2F3D526AA1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1640" y="5423925"/>
            <a:ext cx="6436160" cy="765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46CFCA-E980-4FE9-A5C3-BB4FA01B53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453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7.40741E-7 L 0.00508 -0.4145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" y="-2074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01" y="1785194"/>
            <a:ext cx="4118443" cy="296189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Kinetic theory of gas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5272" y="2084832"/>
            <a:ext cx="1039368" cy="299638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150" y="2329606"/>
            <a:ext cx="3384580" cy="391414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5743" y="4041646"/>
            <a:ext cx="5615051" cy="1536193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78300" y="5787719"/>
            <a:ext cx="2277364" cy="742619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77332920-5226-4B8F-A38E-2A6448D0CD5B}"/>
              </a:ext>
            </a:extLst>
          </p:cNvPr>
          <p:cNvGrpSpPr/>
          <p:nvPr/>
        </p:nvGrpSpPr>
        <p:grpSpPr>
          <a:xfrm>
            <a:off x="1257428" y="5250159"/>
            <a:ext cx="2110942" cy="1480234"/>
            <a:chOff x="1257428" y="5250159"/>
            <a:chExt cx="2110942" cy="1480234"/>
          </a:xfrm>
        </p:grpSpPr>
        <p:sp>
          <p:nvSpPr>
            <p:cNvPr id="31" name="TextBox 30"/>
            <p:cNvSpPr txBox="1"/>
            <p:nvPr/>
          </p:nvSpPr>
          <p:spPr>
            <a:xfrm>
              <a:off x="1272540" y="5250159"/>
              <a:ext cx="20958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Taking average</a:t>
              </a:r>
            </a:p>
          </p:txBody>
        </p:sp>
        <p:pic>
          <p:nvPicPr>
            <p:cNvPr id="34" name="Picture 33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443946" y="5787719"/>
              <a:ext cx="1469136" cy="573881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1257428" y="6330283"/>
              <a:ext cx="184217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(previous slide)</a:t>
              </a:r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6660178" y="5838380"/>
            <a:ext cx="26167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⇒ Ideal gas law</a:t>
            </a:r>
          </a:p>
        </p:txBody>
      </p:sp>
      <p:pic>
        <p:nvPicPr>
          <p:cNvPr id="38" name="Picture 3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6459" y="856092"/>
            <a:ext cx="1798885" cy="2135728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8975024" y="2954295"/>
            <a:ext cx="331976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D. Halliday, R. Resnick, J. Walker,</a:t>
            </a:r>
          </a:p>
          <a:p>
            <a:pPr algn="ctr"/>
            <a:r>
              <a:rPr lang="en-US" dirty="0"/>
              <a:t>Fundamentals of Physics, </a:t>
            </a:r>
          </a:p>
          <a:p>
            <a:pPr algn="ctr"/>
            <a:r>
              <a:rPr lang="en-US" dirty="0"/>
              <a:t>10th Ed, Wiley (2013)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0245AA5-0A2E-4833-AB79-60794303F131}"/>
              </a:ext>
            </a:extLst>
          </p:cNvPr>
          <p:cNvGrpSpPr/>
          <p:nvPr/>
        </p:nvGrpSpPr>
        <p:grpSpPr>
          <a:xfrm>
            <a:off x="1187669" y="2991820"/>
            <a:ext cx="6424948" cy="1333268"/>
            <a:chOff x="1187669" y="2991820"/>
            <a:chExt cx="6424948" cy="1333268"/>
          </a:xfrm>
        </p:grpSpPr>
        <p:pic>
          <p:nvPicPr>
            <p:cNvPr id="26" name="Picture 25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991759" y="2991820"/>
              <a:ext cx="2620858" cy="830371"/>
            </a:xfrm>
            <a:prstGeom prst="rect">
              <a:avLst/>
            </a:prstGeom>
          </p:spPr>
        </p:pic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BB5E461-DE6E-44CF-967B-0261EA71936C}"/>
                </a:ext>
              </a:extLst>
            </p:cNvPr>
            <p:cNvSpPr/>
            <p:nvPr/>
          </p:nvSpPr>
          <p:spPr>
            <a:xfrm>
              <a:off x="1187669" y="3689131"/>
              <a:ext cx="1124607" cy="147145"/>
            </a:xfrm>
            <a:custGeom>
              <a:avLst/>
              <a:gdLst>
                <a:gd name="connsiteX0" fmla="*/ 1124607 w 1124607"/>
                <a:gd name="connsiteY0" fmla="*/ 147145 h 147145"/>
                <a:gd name="connsiteX1" fmla="*/ 0 w 1124607"/>
                <a:gd name="connsiteY1" fmla="*/ 94593 h 147145"/>
                <a:gd name="connsiteX2" fmla="*/ 1124607 w 1124607"/>
                <a:gd name="connsiteY2" fmla="*/ 0 h 147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607" h="147145">
                  <a:moveTo>
                    <a:pt x="1124607" y="147145"/>
                  </a:moveTo>
                  <a:cubicBezTo>
                    <a:pt x="562303" y="133131"/>
                    <a:pt x="0" y="119117"/>
                    <a:pt x="0" y="94593"/>
                  </a:cubicBezTo>
                  <a:cubicBezTo>
                    <a:pt x="0" y="70069"/>
                    <a:pt x="562303" y="35034"/>
                    <a:pt x="1124607" y="0"/>
                  </a:cubicBezTo>
                </a:path>
              </a:pathLst>
            </a:custGeom>
            <a:ln w="28575">
              <a:headEnd type="arrow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7827E006-1FE1-4FDA-A480-2E2ED6E1C2D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4172" t="49707" r="77455" b="13973"/>
            <a:stretch/>
          </p:blipFill>
          <p:spPr>
            <a:xfrm>
              <a:off x="1496454" y="3897912"/>
              <a:ext cx="682060" cy="42717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6598758-CAAB-422F-9F0E-64F9DE8C2A8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2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Kinetic theory of 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8074" y="2633552"/>
            <a:ext cx="663034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Ideal gas law and equipartition of energy are </a:t>
            </a:r>
          </a:p>
          <a:p>
            <a:pPr algn="ctr"/>
            <a:r>
              <a:rPr lang="en-US" sz="2400" b="1" dirty="0"/>
              <a:t>the result of statistical behavior of a large system.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FA5366D-A6E3-4848-ACAB-202F32910D5A}"/>
              </a:ext>
            </a:extLst>
          </p:cNvPr>
          <p:cNvGrpSpPr/>
          <p:nvPr/>
        </p:nvGrpSpPr>
        <p:grpSpPr>
          <a:xfrm>
            <a:off x="626220" y="4050327"/>
            <a:ext cx="10939560" cy="1380199"/>
            <a:chOff x="482479" y="4072242"/>
            <a:chExt cx="10939560" cy="1380199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21423" y="4072242"/>
              <a:ext cx="6436160" cy="7658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4907755" y="4990776"/>
              <a:ext cx="651428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Statistical model for ideal (non-interacting) gas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2479" y="5052331"/>
              <a:ext cx="39481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Maxwell–Boltzmann distribution ⇒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861670" y="5952164"/>
            <a:ext cx="72942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 more general statistical model </a:t>
            </a:r>
            <a:r>
              <a:rPr lang="en-US" sz="2400" b="1" dirty="0"/>
              <a:t>⇒ ensemble theory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8C31F2E-7CAC-419C-9212-AF6A13FB3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833" y="-25816"/>
            <a:ext cx="3959441" cy="81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28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87EDC9E5-2986-459F-8009-33661E391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07541466-0E49-4E29-8798-6BACB380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DE3A096A-7DE8-4DEC-961F-EBEE3C7E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 页｜Thermodynamics and Statistical Physics PHY301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F92D7EB6-C365-4B4C-A8D1-3CF4E4F2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《热力学与统计物理 PHY301》。授课教师：Kok Wee Song。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803A6970-EC58-4D9F-A90C-DA2F962F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7176173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8D3C20EE-1BE9-4A8D-81BB-EC68373A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637666BE-45F6-4862-9F05-E782A6F4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A1DD69FE-395E-4B49-A59C-50FD134B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498E7AF3-31F2-4993-9F2C-F6D0AABF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这是课程总入口。热力学描述温度、热、功、熵等宏观规律；统计物理从大量粒子的微观状态与概率出发，解释这些规律为什么出现。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25E39AA9-7206-4EB4-99AD-1BA415D0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53122152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68270E4D-EA27-4447-89F2-853F8D8A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264615ED-5373-4708-8301-6CFA127C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6A9F3E49-80C2-4496-AED7-C769563F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 页｜Before we start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4B7723B8-F31D-4C8A-A711-5F92BEE9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开始前说明：必须出勤并签到。总评由作业 30%、期中考试 30%、期末考试 40% 构成。共有 3 次作业，通过 Moodle 在线提交；期中在第 8 周，期末在考试周。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2EDC8341-467C-4E14-B20B-CF114DD0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65710481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D40797A8-9A4C-49B9-8BA7-CA859181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F0D9D0F7-6D29-4527-8B99-C696E108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6C9D2D6E-DE37-4391-8A41-1D957413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968A6B67-3DE1-419B-9B22-663C4025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作业和期中合计占 60%，所以不能只在期末突击。把三次作业当成三轮诊断：第一次查相空间与 Liouville，第二次查经典系综，第三次查量子统计。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8D53F029-F2E4-4385-8849-B6302973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02861683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7BC7C802-EB51-4829-B4B4-78EB9832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012C2714-E685-4F04-B65F-5B286F45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3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3CF6081A-D19F-4299-B0D6-2ABC4CA1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3 页｜My Office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F94A5C19-991A-4891-A7FD-F5E53651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教师办公室：A1 379。答疑时间：周三 12:00–14:00；周四 14:00–16:00。邮箱：kokwee.song@xmu.edu.my。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E5DED269-57DB-48C6-8D05-F5308A3D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3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30119055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1F6BBAF1-C96B-4C4A-9B3F-8A5B09A6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96A66D35-F278-49FF-97AA-EAA1CFED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3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23FEAA7E-038D-4B94-9FFA-8661446A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3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1B4376B8-0272-4F85-A8B7-76A39448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遇到卡住的推导时，先把“从哪一行到哪一行不懂”写清，再去答疑。公式截图加上自己的尝试，比只说“我不会”更容易得到有效帮助。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7E074A85-226E-4AC2-88FB-5EE5E61C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3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92912223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782D9900-4C99-4092-AB78-4598CEF8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5235F412-B013-4756-A757-1C31D6F1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4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984A3BC1-D305-4605-9A7D-FD7D3DC5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4 页｜What is statistical physics/mechanics?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5C4BED78-83EE-4292-9601-EAC6D660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统计物理或统计力学是什么？Kardar 的表述：统计力学是一种概率方法，用来研究具有大量自由度的系统在平衡时的宏观性质。Wikipedia 的要点是：它把统计方法和概率论用于大量微观实体，并建立微观性质与宏观可观测量之间的联系。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ED275DFD-8925-467B-A259-A008C349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4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6553619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04D8D202-30FB-456C-8C11-EE832D5A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50A3876B-B4D3-44A6-A5A0-611E75AA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4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E8ECC3C1-13C4-4807-8D8E-DDE78922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4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0B5FCD39-9A32-4016-BD0E-E675061D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一句话抓住主线：先规定微观态，再给每个微观态概率，最后对可观测量取平均。温度、压强和熵不是额外塞进来的，而是大量自由度的集体结果。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2BEFB696-C06C-419D-BA9A-1B1A86FB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4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84974835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B82B789D-B3B3-46C9-90DC-34AC0727E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35278E21-418A-448D-9ECA-A485CA8C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5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98B6BAAA-136A-41B6-92A3-3DF69CFA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5 页｜Why statistics?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D34BDD66-38CC-4A0B-9474-F7CB9073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为什么需要统计？统计让我们从复杂现象中学习某些性质。它通常告诉我们观测到的行为或模式，而不单独回答“为什么”。一个宏观系统约有 10²³ 个粒子，不可能逐一追踪；我们关心宏观行为，而不关心每个粒子的全部细节。统计物理等于统计模型加物理或力学定律。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DB2EA3E5-F365-4CDF-B96A-63DF6142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5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203802305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72034897-60DA-4C43-8758-AB191C91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DBF7A192-4696-4A97-BB58-2E20BCBA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5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5D3B41DB-7F98-41F0-8F9D-F3735694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5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16AA38FC-0BBB-470D-A729-1F55FED1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N ~ 10²³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典型宏观粒子数的数量级，不是精确固定值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CB811792-3B6B-4CFE-A04B-075C078C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5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36868357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33F854F3-934D-4060-A1EA-FEE86FC7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BE20414E-2C34-49A9-AEEA-6FE930C6C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5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F771C4B7-E52F-4094-B0ED-8C5C07C7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5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3B1E07EE-6E50-4651-B37D-6F67A5A1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大量粒子看似更难，宏观预测反而更稳定，因为随机起伏相互抵消。理论仍受 Newton 或 Hamilton 动力学约束；统计模型不能任意选择。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84267844-8EAA-4982-91A0-4AC42018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5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38007334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665398C0-2B1D-4150-AA0C-396A1156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92C970C8-ED86-4EA1-BA50-F6A6F48D4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6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C4B15C6F-1C88-4D40-B838-AA565614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6 页｜Sketch of PHY301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40B8DDAD-A87E-4F15-835A-B85FE702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PHY301 内容概览：经典系统中的热力学及其统计解释；大型量子系统的统计表述；经典和量子系统的相变；非平衡现象。主要参考书之一是 Kerson Huang《Introduction to Statistical Physics》，CRC Press，2009。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2FDA98B0-82FA-4B30-8FA0-1E7907321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6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23867036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D05FAF04-0AE9-43B2-AF8E-AA80A406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2E4A59B6-23E2-4E9A-A53F-20B6C7CB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6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ADD31428-86AB-409A-AAAA-2E308052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6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4873ADD0-C0D0-4A0A-9435-A951E7DE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课程先走经典链条“热力学→相空间→三个系综→相变”，再把相同框架换成量子态和占据数，最后讨论扩散、Langevin 与 Fokker–Planck。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8399D857-A08D-4BAF-8B04-027996FF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6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46644007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33756B79-F126-4EB0-9FF3-EB4107839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624530FD-6A09-47F6-B70E-D97F24D2E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7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86AE4DEF-620A-40A0-B0B2-57968444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7 页｜Additional References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29578934-BDC4-46C4-B203-D7559766C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补充参考：Mehran Kardar《Statistical Physics of Particles》(2007)；R. K. Pathria 与 Paul D. Beale《Statistical Mechanics》(2021)；Kerson Huang《Statistical Mechanics》(1991，较旧的写法，但很好)。不同教材对统计力学的组织和视角并不统一。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D8845026-4A4A-48E5-9C47-1D330671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7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200462420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D755E676-FE8C-48DD-8579-3C774FA4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361F3BA4-BB73-4ED5-B939-FE806AFB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7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C6EF710B-5620-461B-B196-C550CECA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7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E29BC1A4-D249-4E4A-862C-BBF8EF4E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不要并行通读三本书。以老师课件为主线：Kardar 适合概念和推导，Pathria 适合系统查公式，Huang 适合对照传统记号。记号不同不等于物理不同。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0241AE86-10AA-4517-AAB7-FC80D20D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7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3434464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7221D05D-17FB-41AE-BF31-C54EDB6A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5AFA4C2A-EB20-4448-A59C-44BEB098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8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582E4CF5-303A-4E38-96C9-24FCAC1D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8 页｜Recap of thermodynamics and kinetic theory of ideal gas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00995FFE-CB3A-4056-99A5-E737E51F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本节主题：回顾热力学与理想气体动理学。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587948FC-73A8-4379-A445-19CF69E8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8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57163023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6CE4B769-9BD0-4691-A3F0-03F4201D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F2A28EEE-9055-4767-AA97-24BF2589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8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762429E2-82AA-49B9-8D91-7EF29275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8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19DD9288-01F1-4020-A43A-1E75B527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这一段承担桥梁作用。先弄清平衡、四条定律和热力学势，再用 Maxwell–Boltzmann 分布看到第一个完整的统计模型。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C4A522B1-7C97-4841-ADE0-81429771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8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02871777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D5A3434D-97B3-4DBC-BE8D-1A5D86D9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3FAFCA26-8AB3-4D72-8466-9260C881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9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EF787E8A-B04A-468E-8A70-D0CCB7516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9 页｜Thermodynamic system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BD0C2F94-B286-4572-9E0F-C2CB7797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热力学是对热平衡宏观系统性质的唯象描述。力学用位置 x、动量 p 等描述可测微观状态，并服从 Newton 定律；热力学用 P、V、T、E 等坐标描述宏观态。平衡表示宏观测量不随时间改变。状态可以沿温度变化 T→T′，或受广义力使 P→P′，并服从热力学定律。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5FBCC2C3-CD70-4AB3-8C56-24128159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9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94145232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902A1E5D-EECF-4810-BC59-C660EA38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3FDD359D-9BCC-468C-AFCE-55862B4C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9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B8D24327-9DEC-448B-A25A-6BC50A3A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9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DE610962-E061-44CF-B66D-648ECEBB6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p = mv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经典质点动量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(P,V,T,E) → (P′,V′,T′,E′)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宏观状态改变的示意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074BBB30-F7A2-454C-A364-0CE9E608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9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84212896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6C2C51D8-95DB-4410-9AB3-8F03EEB9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FA340E6A-0F81-4DE2-904E-A0080291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9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37ECEAF2-E5B7-457D-924C-60C83764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9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8BB4D458-9566-4394-A374-750E0B3D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平衡不等于粒子停止。微观粒子仍高速运动，只是宏观概率分布与平均量稳定。宏观态用少数坐标压缩了海量微观信息。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829C7266-73FA-4968-B193-F544C307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9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72316465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8DF8CCAC-54CE-44E5-9E44-55F3BB16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44402503-5B46-427D-B3B6-B9C1BA82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10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948636CC-3492-411F-A5D5-C8B0C61F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10 页｜Thermodynamic system: equations of state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4EE4C7AA-C954-46E1-92E9-495C29005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在平衡态，并非所有热力学量都独立，它们由状态方程联系。例 1 是理想气体，例 2 是磁性系统，涉及磁化强度和磁场。这些宏观现象可以借助统计方法从微观层面导出。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72C54A19-27C0-4EBD-8E25-225F1876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10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39599749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BD594696-4678-419A-850A-44CD446A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992CC862-BB2A-4811-A14A-3DAE3310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10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694E58AE-E67C-49FE-B043-6F2D19D3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10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F011E95B-C356-4F52-8281-5B4839D9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状态方程减少独立变量数。例如知道理想气体的 N、V、T 就能确定 P。磁性系统中外场与磁化的关系扮演类似角色。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114C306C-5785-4FFB-A374-3E461554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10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15049149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2F0CA892-4B6A-43CF-91FB-0B889062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4C888292-FE2C-476A-B5B6-7E2801CA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11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F0C7B11C-0398-4825-A912-0E207AF8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11 页｜Zeroth law of thermodynamics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EDD230B5-D35F-4424-B97B-BE985404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热力学第零定律：若系统 A 与系统 C 平衡，系统 B 也与 C 平衡，则 A 与 B 彼此平衡。看似平凡，却建立了温度概念。两系统热平衡意味着温度相同，也说明可以用第三个系统作为温度计。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5C4840C8-BFD6-4EC3-BF8C-EA214362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11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81826342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4216C81F-8F1B-4763-9315-EC085B87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F4856E66-59B4-4A1B-9C45-730B31A2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11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7E3B4FA2-6D7B-4DFC-AC0D-2C5141D9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11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2768FEE7-B916-4E8D-AEB3-6F01508B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第零定律给热平衡关系“可传递性”。温度计先和被测物达到热平衡，再用温度计状态标定温度。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93E405FA-164E-4416-B2B9-8B4009E4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11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099901906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7094E8D5-23A4-41C3-B58E-6B39A4CB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E0EAD6CC-6D6A-43C4-8435-C2C4DDC5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12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CA778D98-1F0E-4CCE-888B-D69EE022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12 页｜First law of thermodynamics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CFD93277-0CEE-45A6-811B-5DB81733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热力学第一定律是能量守恒。对绝热隔离系统，从初态到终态所需的功只由初末态决定，与过程路径无关。封闭情形课件写 ΔW=E(Xf)−E(Xi)；开放过程写 dQ=dE−dW，并提醒注意功的符号约定。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7862DC48-3B48-4F9F-8343-4C4995340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12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17844040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79A9CE10-787F-42BC-B27A-9E5DA34BF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CF1A7AD1-B8C7-4475-9B2A-721951A0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12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88E4636A-422A-4EE3-8162-217FC54E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12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D1B6CF4B-C95A-4B43-ACBE-5E05A0BF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ΔW = E(Xf) − E(Xi)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原页封闭情形的写法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dQ = dE − dW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原页开放情形的符号约定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9F78DAB6-4C9A-45F9-9F04-58C7EBF7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12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630695628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72835B55-05DF-4C3C-8739-48BB11EA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08629799-DB81-4E61-A7B6-26FB0FFA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12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543A6D7E-63E5-45CE-BFD3-2D51ADD3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12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7896ABF1-9644-4475-AD00-A0253039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E 是状态函数，热和功是跨越边界的传递方式。不同教材对 dW 正负定义不同，必须先沿用课件约定再代数。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117E350A-0332-48A4-9F62-05374623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12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87761988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05AED495-AD2B-4CDE-ACAA-0147596E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F5EEDBF6-FA4C-4DBC-833C-387A0C3D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13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D5F51CF7-8867-4BBE-8CEC-7D2D533D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13 页｜Second law: Kelvin, Clausius and Carnot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52A34711-D3E1-4A47-A8C8-322608B2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第二定律的等价表述：Kelvin 表述说，任何过程都不可能仅把热完全转化为功；Clausius 表述说，热不可能在没有其他影响时从冷物体传到热物体；Carnot 定理说，在温度 TH 和 TC 两热库间工作的热机，不会比 Carnot 热机更高效。可逆 Carnot 循环给出效率 η=W/QH=1−TC/TH，且 W=QH−QC。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78D2DEDA-F99A-42EB-839E-89DD29047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13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340303584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9554F8E2-736C-4ACD-8E0A-0E63888F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D891C0AC-A99A-49B0-AF96-16DE5EB0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13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CBD453E9-AC02-4767-B439-8030ABE4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13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C64FD43F-8E09-4191-AA46-A83742A89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η = W/QH = 1 − TC/TH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Carnot 热机效率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W = QH − QC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一周期能量守恒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CA7344E4-22E4-4831-9465-47244687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13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569567840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DF5C53BF-9E65-4C67-8E0B-AE26BFF1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0CD40389-845C-4CC9-9CE6-8B709DEF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13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05001B96-CAA4-4EF0-A8D2-26DBDC84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13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15D1CCD3-5E2E-4F28-A2AE-619DE0E9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三种说法管的是同一个方向性限制。冰箱能把热从冷处送到热处，但必须输入功；热机能输出功，但必须向冷源排热。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5F30C8E7-846C-44DF-9A6C-210F05A7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13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705685055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FD4E786F-50D2-4842-A8EF-8127A4C9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AC70301A-B8B0-415C-B8D8-74E65BA2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14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1C6662CC-BB50-4294-AAA9-43B70CAD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14 页｜Second law: Clausius inequality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46E2467E-49E9-4E53-8975-3E23821C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Clausius 定理：任何循环过程，不论可逆与否，都有 ∮dQ/T≤0；可逆循环取等号。课件用多个 Carnot 小循环拼接任意循环，并结合 dQ=dE−dW 说明不能把全部吸热都变成正功。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EC535309-DEB4-41E0-ADAF-C4863782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14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2041343971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E21E0ECB-1748-4FB8-8DFC-315DEE80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270CA417-3F8D-43F7-9E5D-399C5973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14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6F4B755B-6549-46D4-A088-EFA789CE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14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388FCBD6-2298-40C7-BF8A-8D79E0CC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∮ dQi/Ti ≤ 0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任意循环的 Clausius 不等式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dQ = dE − dW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原页沿用的第一定律符号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W = Σi dQi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循环时内能净变化为零后的关系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9DB75624-0D16-437F-A968-6F3C4362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14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994019024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CD519018-EEF2-45B5-A961-32CB11D9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5D6B4483-6DF8-4709-9451-A7B2069D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14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EBCA174D-9E88-41C0-B5B0-BF8E9402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14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32BFF169-B3E0-4CD9-81D9-B37D2798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把循环边界切成许多与局部温度 Ti 接触的小段。对可逆过程，正反路径恰好抵消；不可逆过程只能使不等式更严格。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05DCB13C-95D0-4A3F-9683-C74FD496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14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8707393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5223AC3F-AED6-48F3-8C41-E0B67529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12504879-D9AA-4B3B-9C04-A4860CDB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15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B06265EB-0BCF-464D-BF40-B0415808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15 页｜Entropy as a state function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E444D7D9-79E1-46EC-B02D-86FE9C1C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可逆循环满足 ∮dQrev/T=0。对 A 到 B 的两条可逆路径，闭合后得到两条路径上 ∫dQrev/T 相同，因此该积分与路径无关。定义熵差 S(B)−S(A)=∫A^B dQrev/T。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A4E21197-FBBB-4B26-93B4-10630820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15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399977434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0E4AAB48-9ECD-43D1-AE3D-01184C72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D0EC0915-0A52-416C-AC7E-78491335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15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9BF828D8-4B39-4B78-BDCE-567C9BB8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15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51E1785D-A7CD-489E-AC7D-409D5505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∮ dQrev/T = 0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可逆循环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∫A^B dQrev(1)/T1 = ∫A^B dQrev(2)/T2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两条可逆路径给同一熵差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S(B) − S(A) = ∫A^B dQrev/T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热力学熵差定义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1EB0F9A8-8332-4A74-98AE-13E3891B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15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066408147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32BA37DB-106D-42DE-B93D-F407498D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BD02F681-9788-4EA1-AB61-BFD0E978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15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74F60189-D282-46F6-8B1B-2385D569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15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C49E7685-C606-403B-B259-AD950BF2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熵之所以能成为状态函数，关键不是“熵等于热除以温度”，而是可逆路径积分与路径无关。不可逆过程不能直接把实际 dQ/T 当作 dS。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1F244600-C345-4BE9-BFE3-832A5781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15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3795732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2D31F9B9-CD50-4A3A-94C4-19935612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CE16402F-3EBA-46AE-9E2A-5471BA2E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16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C20E91F9-401C-40B4-9421-E11B6C36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16 页｜Entropy increase in an isolated system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A6F317F2-1447-4CDB-8262-AF34796C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把实际不可逆路径 A→B 与可逆返回路径 B→A 拼成循环，可得 ∫A^B dQ/T≤∫A^B dQrev/T。因此 S(B)−S(A)=∫A^B dQrev/T≥∫A^B dQ/T。孤立系统 dQ=0，于是 dS≥0。熵决定系统演化方向；平衡态具有最大熵。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9E6ADE03-7B5B-489C-898A-4BE4842E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16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953763870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30C4AD8C-7C01-4322-965B-4C95E985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9E057154-6869-4FB0-805D-0558A494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16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F4717C30-CE9C-4BCF-A885-EE782E8C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16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5669FD87-2C77-430F-8F7E-CB66AD8A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S(B)−S(A) = ∫A^B dQrev/T ≥ ∫A^B dQ/T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不可逆路径与可逆参考路径的比较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dS = dQrev/T ≥ dQ/T = 0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孤立系统的熵增关系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33D65E43-0555-43BC-9DA0-B0D41FC1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16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2054196372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DB1FF857-493D-43D7-96F2-9AD5B419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1AA98862-473F-43AB-A240-9BFBB634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16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2C525B98-8205-4AB3-9121-C9833FE7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16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45D8F658-E766-4147-9880-89E43BFB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“孤立系统熵不减”说的是系统加环境整体。一个非孤立子系统的熵可以下降，只要环境熵增加得更多。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C40C4D5E-4298-4090-A13A-D808F1A8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16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702084054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B3C5013C-D765-4AF0-9B35-A1A5EBE7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E1BE0A3E-580E-4950-8C8A-AC7EDDA1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17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2F4A964C-7039-4BE5-A6B8-C2E06BD0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17 页｜Thermodynamic potential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6438B29E-F4D7-46F9-B603-970079FC5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问题是：怎样判断平衡？课件把第一定律与第二定律结合，强调准静态每一步都接近平衡，并指出直接用内能或熵函数有时不便于实验控制，因此引入热力学势。注意符号。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56B087E5-7EE4-4FC2-80A1-B722CFCB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17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05147051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11D316EE-2F7C-45C5-B045-540197A7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4826C2E5-90C9-479B-8963-C19E85E1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17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B87FD56F-E969-4FD3-A6F6-2BA1FDFF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17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FFBE8EEF-A142-4A7E-8E8D-9553F26D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不同实验固定的变量不同，所以要换成自然变量匹配的势。恒温恒容看 Helmholtz 自由能，恒温恒压看 Gibbs 自由能。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FCF507FF-1E9C-46A4-9F0F-883E07A9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17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290473341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F77A2703-324C-4602-91EB-50D5FBB7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4B00391D-B50C-461F-80A7-A6CAF8BB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18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44FC8FA3-7516-4FED-B87B-7CABB006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18 页｜How to reach equilibrium?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BD8C6170-0FD9-4B04-B24E-65D65E16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怎样达到平衡？课件列出焓、Helmholtz 自由能和 Gibbs 自由能等热力学势。适当外界约束固定时，平衡对应相应势的最小值。原页写 H=E−J·x、F=E−TS、G=E−TS−J·x，并继续沿用 dQ=dE−dW。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4E2FB339-4359-4E42-9BA6-6CFDEFB3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18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279809295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36730F5B-3A7E-436F-8648-55D5666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E168EF9C-8328-4704-8B08-37DBC677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18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6DC43AF0-E7F8-4ED0-B835-8C9C534D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18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C80CD85E-D937-4DBE-9D1E-A6DB87ED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H = E − J·x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原页写法；符号随广义功约定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F = E − TS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Helmholtz 自由能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G = E − TS − J·x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原页广义 Gibbs 势写法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dQ = dE − dW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原页符号约定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49A3D62C-64D7-44BA-8DBD-0DD85B44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18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571084727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31F9483C-FF5E-4AF2-8537-F654A702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F741D2A5-0786-4482-95BE-B647F463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18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9F102B1E-64D1-4712-9EB9-27C27CE5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18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75E8C1FD-2C35-4BA0-9D11-32B69899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J 与 x 是广义力和广义位移，课件的正负号取决于功项约定。对普通 P–V 系统通常需要按课内约定把 J·x 对应到 −PV 或其他功项，不能机械套符号。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EC404C6C-F348-4EDE-AE5C-CEFF56A10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18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968298095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F2A8814A-5838-40FB-B397-EB3874DA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7E7ACF0F-244D-4EC5-ABE2-88B9B0EE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19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1576A71B-EB74-4F21-BDFF-CC2E4D91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19 页｜Third law of thermodynamics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AD8A77EC-7A8E-4000-824A-DD8354AF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第三定律：绝对零度时系统熵趋向一个普适常数，可取为零，即 lim(T→0)S(X,T)=0。课件解释为粒子都在最低能态，没有热涨落；有限温度时单粒子能量通常在基态之上约 kBT 的范围内起伏。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265B8C83-1796-4ED1-8D4F-F14290D7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19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833748530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FEB8CAEA-A3D4-4B8E-BC11-2739DDCC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15327EB8-3D07-4A86-83E4-D93FD078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19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59B986FF-B188-4B9D-AB64-A53970FB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19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76EC083F-BBA3-4997-A9CE-54F1E90E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lim(T→0) S(X,T) = 0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原页第三定律表达式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energy fluctuation scale ~ kBT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原页文字所指的热能尺度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9E97F5AA-EB3E-488A-B163-2F3859FE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19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382047652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A0D231D0-B57E-4524-8111-8C021336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F008ED7F-3E92-4BAB-97B9-C8464872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19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06892DDB-788F-48DC-9EB0-2472DA05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19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FCBFF606-DF34-4B93-B1BB-89584057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更严格地说，零温熵是否恰为零取决于基态简并；理想完美晶体通常取零。本页的核心是低温时激发被冻结。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39DA65B3-333C-4D01-AEB3-9678345F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19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136876232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43024897-CC38-4404-B391-E165922B2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2C995FF2-E94C-4099-A594-927F3925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20 · 中文翻译与导读 1/2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94FFC382-158C-480D-AD76-671BEA9B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20 页｜Phase transition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C99F1254-F3E0-4866-A56C-F37678D1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相变示例包括水的相图、随温度改变发生的相变，以及 van der Waals 气体的状态方程。课件结论：热力学定律和状态方程都是多粒子系统的统计结果。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0D5976B4-2E5D-43DA-88E6-5F85C866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20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86569585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EE47EB56-76F0-441A-9F18-F9F4485E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D6F74E73-C7EB-4CDF-B8C9-61A76B68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20 · 中文翻译与导读 2/2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F275D76D-58F4-4E88-AAB2-751C34FC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20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EBF6F96C-B758-4DFF-B18D-2AF2EAC7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相变说明“微观规律相同”不妨碍宏观性质突然改变。后面会用自由能、涨落与序参量描述这种集体现象。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722EE69B-8F39-4DC0-BEE3-41E8F60E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20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2018415784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7E0034AF-2CD7-4EB1-8C3B-7E23F9D8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21802C1D-56E9-4F4C-9A8D-66F58500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21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A7B89ABB-3371-4A0E-82C5-380DF372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21 页｜Kinetic theory of gas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06528607-6A44-4A43-A795-7AE078B2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气体动理学是本课第一个统计方法。平衡时 x 方向速度分布为 Maxwell–Boltzmann 分布 g(vx)=√[m/(2πkBT)] exp[−mvx²/(2kBT)]；由于各向同性，vy、vz 具有相同分布。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41A38501-0BEB-4EB4-AC40-5EF3FDC0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21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355566478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950308A3-732E-4E2A-8079-F0358855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994E5E26-B536-4AF4-BCAA-1882C81E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21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F7D9F61A-251A-4DAA-9DAE-6EACE482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21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489DE090-3558-4AE4-831B-E54D2DDA8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g(vx) = √[m/(2πkBT)] exp[−mvx²/(2kBT)]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单个速度分量的归一化密度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AD1BC890-D0B0-434D-987E-E08564A1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21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648112276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3143F6DF-B266-4E38-889E-AE4C3A2F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78BAB70D-3142-4691-B619-BDF3EC2C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21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2C51EC78-C6CC-475B-BF5B-0C0080D8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21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B2D886A8-667E-4D78-BD87-0B2D0DAC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单个速度分量是以 0 为中心的 Gaussian。温度越高，分布越宽；质量越大，分布越窄。各向同性表示没有优先空间方向。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7FF24181-823B-42B1-8D6C-F427120D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21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2029269395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063CBA25-49AD-4A68-A020-A7EFB66A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9C6555FE-5838-4FBF-80B2-8FD34FCD8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22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194A1755-6C42-40F5-94A3-C746C855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22 页｜Velocity and speed distributions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2C286949-014C-47C0-8DBA-80858589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粒子速度落在 (vx,vy,vz) 到 (vx+dvx,vy+dvy,vz+dvz) 的概率等于三个分量分布的乘积。改用球坐标后，体积元是 v²sinθ dv dθ dφ；积分角度得到速度大小落在 v 到 v+dv 的概率 P(v)=f(v)dv=(4/√π)(m/2kBT)^(3/2)v²exp[−mv²/(2kBT)]dv。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8E7F24F9-0246-4CDA-9E23-A2D921E4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22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401560721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63660AD7-EDF9-4D09-ADBE-59507D83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EEF6A94A-7B82-40E0-A457-483572CF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22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AD23B9A7-B3A2-4E20-B0AB-9FBC7B39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22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0796CBBC-2848-4DD4-A74A-752D0D44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dP = (m/2πkBT)^(3/2) exp[−mv²/(2kBT)] v²sinθ dv dθ dφ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三维速度空间中的概率元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P(v)=f(v)dv=(4/√π)(m/2kBT)^(3/2)v²e^(−mv²/2kBT)dv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Maxwell 速率分布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B428EADD-79A6-4130-9DE6-EBE3006F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22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959690020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98669233-96BF-4887-874A-B762FDB2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55D842BA-8AF6-4216-B3EA-BFF05C36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22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A7BBEDA2-0CD9-4D2C-B19D-5A0F7761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22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A16BF0B4-FA09-442B-AF55-853BDB15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velocity 是有方向的三维向量，speed 是非负标量。速度大小分布多出 v²，来自半径为 v 的球壳面积，所以 v=0 不是最可能速度。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BA700635-947A-4DC6-AC3D-D0B10B18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22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765527046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96D2315D-DF5F-440E-B86D-942B1056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EFD6B914-6CD5-4E2B-AF9C-DB764D6B6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23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D92C0A01-3FF1-448D-869E-2CEAF0EA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23 页｜Moments of the speed distribution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77038381-2AA5-47A5-90A8-59D3E584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速率分布给出平均速率 ⟨v⟩=∫₀∞vf(v)dv=√[8kBT/(πm)]，以及均方速率 ⟨v²⟩=∫₀∞v²f(v)dv=3kBT/m。各方向均方速度相加得到 ⟨vx²+vy²+vz²⟩=3kBT/m，从而得到能量均分。图中最概然速率、平均速率和方均根速率依次不同。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3E3970DB-A6FD-4D9B-9194-6AE6E296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23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614873833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C465FFC6-AF45-4677-8F7B-40D1E69C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56FC1166-AD4E-4EA2-A0E9-552D3ACA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23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A7A80DAD-6ECB-4BB3-B011-E8B7C2FC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23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727ECDFA-5CC7-4F39-8ED8-897664A0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⟨v⟩ = √[8kBT/(πm)]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平均速率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⟨v²⟩ = 3kBT/m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均方速率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½m⟨v²⟩ = 3kBT/2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三个平动自由度的平均动能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D451F47F-B9F4-4149-9349-34CE269C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23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598514724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43A56A2D-2F72-4299-9F95-62DA3800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6DAFDAE3-123B-4262-A41D-5CAD40CD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23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37EF7EC5-88A6-4162-959B-666A5AC9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23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834600C5-BE62-4FDF-93DD-04AAFB54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一定区分三种“典型速度”：峰值 vmp、均值 ⟨v⟩、方均根 vrms。它们数值不同，但都按 √(T/m) 缩放。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855E6E46-E3E5-4FDA-98D3-23B53334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23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287603413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1C1C6F8F-B1F1-4B9D-8F2E-B2922053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E82A4368-4EF3-4FFF-AFAB-888C477D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24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63734033-7208-472C-9943-042A9077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24 页｜Pressure and the ideal-gas law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548118DA-C9C8-4BCF-9DF1-F7512516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粒子撞击边长 L 的壁面时，x 动量改变 Δpx=(−mvx)−(mvx)=−2mvx；相邻撞击时间 2L/|vx|，所以对壁平均力大小为 mvx²/L。N 个粒子给出 P=(m/L³)Σi vxi²。取平均并用 ⟨vxi²⟩=kBT/m，得到 P=NkBT/L³，也就是 PV=NkBT。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A66CD6AA-9F07-4FD8-A4FF-8EAB43118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24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169000983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CB312548-D4F8-4D1A-A4D7-B6AC289F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069D4E02-30AD-42EA-9C97-F07E5BDC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24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06EA894E-6799-48B8-8FDC-22F036E8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24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D7AEDA3F-74DB-4829-8037-79A4BB3D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Δpx = −2mvx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一次弹性反射的粒子动量变化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|Δpx|/Δt = mvx²/L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单粒子对壁平均力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P = (m/L³) Σi vxi²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N 粒子的瞬时压强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PV = NkBT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理想气体状态方程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E934FB81-1742-4D65-BD2F-0A6F94FE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24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1512899612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06BE10AB-F3A6-4274-B801-F08FBFFA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9EF1ED2C-49E5-4EAE-A03C-657A3323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24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B54B2912-5814-4143-913E-CF0D6F69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24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2C641A9B-ACC5-4EEC-85BE-248EE2B3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压强是大量粒子碰壁传递动量的通量。这里 L³=V，且只用 x 分量，因为研究的是垂直 x 墙面的动量。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5F3B2AEF-B1BA-4250-92EC-8FD24548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24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534944000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63A06ED4-3D29-4EA3-8063-5D78C17C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943BC6AE-74CA-4742-9BF6-58EFD33D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25 · 中文翻译与导读 1/3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CDF4DFC4-CC82-498F-BB02-2D352122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25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25 页｜From kinetic theory to ensemble theory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25678ED8-A6EC-4C70-A356-C63DEBB4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理想气体定律和能量均分是大型系统统计行为的结果。Maxwell–Boltzmann 分布是理想、无相互作用气体的统计模型。更一般的统计模型将由系综理论给出。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FA814774-C873-4A94-8635-DA13562F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25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894293472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B3C093F5-7B91-4A34-8454-1345E7F9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1A1EA2B1-601D-4640-B6A4-74890D92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25 · 中文翻译与导读 2/3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0D929326-488A-4F84-9475-E6BCECBF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25 页｜公式与符号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16D5317B-CA97-4FD8-9618-2CE044D3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P(v)=f(v)dv=(4/√π)(m/2kBT)^(3/2)v²e^(−mv²/2kBT)dv</a:t>
            </a:r>
          </a:p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本讲使用的具体统计模型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CA54D6D7-3C64-4045-8E37-F96ED5CE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25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787726088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ranslation-accent">
            <a:extLst xmlns:a="http://schemas.openxmlformats.org/drawingml/2006/main">
              <a:ext uri="{FF2B5EF4-FFF2-40B4-BE49-F238E27FC236}">
                <a16:creationId xmlns:a16="http://schemas.microsoft.com/office/drawing/2014/main" id="{44822FFA-968E-4BF8-830E-F889075B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" name="translation-page-label">
            <a:extLst xmlns:a="http://schemas.openxmlformats.org/drawingml/2006/main">
              <a:ext uri="{FF2B5EF4-FFF2-40B4-BE49-F238E27FC236}">
                <a16:creationId xmlns:a16="http://schemas.microsoft.com/office/drawing/2014/main" id="{3147C74F-F274-4CEF-8EB1-02EEDC5B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defRPr>
            </a:pPr>
            <a:r>
              <a:rPr sz="1200" b="1">
                <a:solidFill>
                  <a:srgbClr val="2563EB"/>
                </a:solidFill>
                <a:latin typeface="Arial"/>
                <a:ea typeface="Hiragino Sans GB"/>
                <a:cs typeface="Arial"/>
              </a:rPr>
              <a:t>原始页 25 · 中文翻译与导读 3/3</a:t>
            </a:r>
          </a:p>
        </p:txBody>
      </p:sp>
      <p:sp>
        <p:nvSpPr>
          <p:cNvPr id="3" name="translation-title">
            <a:extLst xmlns:a="http://schemas.openxmlformats.org/drawingml/2006/main">
              <a:ext uri="{FF2B5EF4-FFF2-40B4-BE49-F238E27FC236}">
                <a16:creationId xmlns:a16="http://schemas.microsoft.com/office/drawing/2014/main" id="{4406DE7D-B4CF-4B0A-8F46-10C8F754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Hiragino Sans GB"/>
                <a:cs typeface="Arial"/>
              </a:rPr>
              <a:t>原第 25 页｜怎么理解</a:t>
            </a:r>
          </a:p>
        </p:txBody>
      </p:sp>
      <p:sp>
        <p:nvSpPr>
          <p:cNvPr id="4" name="translation-body">
            <a:extLst xmlns:a="http://schemas.openxmlformats.org/drawingml/2006/main">
              <a:ext uri="{FF2B5EF4-FFF2-40B4-BE49-F238E27FC236}">
                <a16:creationId xmlns:a16="http://schemas.microsoft.com/office/drawing/2014/main" id="{C3B7E85C-EF9F-411B-A52C-73BE704F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430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defRPr>
            </a:pPr>
            <a:r>
              <a:rPr sz="1725" b="0">
                <a:solidFill>
                  <a:srgbClr val="334155"/>
                </a:solidFill>
                <a:latin typeface="Arial"/>
                <a:ea typeface="Hiragino Sans GB"/>
                <a:cs typeface="Arial"/>
              </a:rPr>
              <a:t>这页把第一讲闭环：一个具体分布已经能导出宏观规律，但下一步需要统一规则来决定任意多粒子系统的概率分布。</a:t>
            </a:r>
          </a:p>
        </p:txBody>
      </p:sp>
      <p:sp>
        <p:nvSpPr>
          <p:cNvPr id="5" name="translation-footer">
            <a:extLst xmlns:a="http://schemas.openxmlformats.org/drawingml/2006/main">
              <a:ext uri="{FF2B5EF4-FFF2-40B4-BE49-F238E27FC236}">
                <a16:creationId xmlns:a16="http://schemas.microsoft.com/office/drawing/2014/main" id="{DDB69E46-D2D0-42E7-96A9-FA496D5C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914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defRPr>
            </a:pPr>
            <a:r>
              <a:rPr sz="975" b="0">
                <a:solidFill>
                  <a:srgbClr val="64748B"/>
                </a:solidFill>
                <a:latin typeface="Arial"/>
                <a:ea typeface="Hiragino Sans GB"/>
                <a:cs typeface="Arial"/>
              </a:rPr>
              <a:t>阅读顺序：先完整观看原始页 25 的动画，再阅读本页。</a:t>
            </a:r>
          </a:p>
        </p:txBody>
      </p:sp>
    </p:spTree>
    <p:extLst>
      <p:ext uri="{BB962C8B-B14F-4D97-AF65-F5344CB8AC3E}">
        <p14:creationId xmlns:p14="http://schemas.microsoft.com/office/powerpoint/2010/main" val="74814271"/>
      </p:ext>
    </p:extLst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Custom 1">
      <a:majorFont>
        <a:latin typeface="Cambria"/>
        <a:ea typeface=""/>
        <a:cs typeface=""/>
      </a:majorFont>
      <a:minorFont>
        <a:latin typeface="Constantia"/>
        <a:ea typeface=""/>
        <a:cs typeface="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50103</TotalTime>
  <Words>977</Words>
  <Application>Microsoft Office PowerPoint</Application>
  <PresentationFormat>Widescreen</PresentationFormat>
  <Paragraphs>225</Paragraphs>
  <Slides>89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Arial</vt:lpstr>
      <vt:lpstr>Calibri</vt:lpstr>
      <vt:lpstr>Cambria</vt:lpstr>
      <vt:lpstr>Constantia</vt:lpstr>
      <vt:lpstr>Roboto</vt:lpstr>
      <vt:lpstr>Tw Cen MT</vt:lpstr>
      <vt:lpstr>Wingdings 3</vt:lpstr>
      <vt:lpstr>Integral</vt:lpstr>
      <vt:lpstr>Thermodynamics and Statistical physics phy301</vt:lpstr>
      <vt:lpstr>Before we start</vt:lpstr>
      <vt:lpstr>My Office</vt:lpstr>
      <vt:lpstr>What is statistical Physics/mechanics?</vt:lpstr>
      <vt:lpstr>Why statistics?</vt:lpstr>
      <vt:lpstr>Sketch of PHY301</vt:lpstr>
      <vt:lpstr>Additional References</vt:lpstr>
      <vt:lpstr>Statistical physics phy301</vt:lpstr>
      <vt:lpstr>Thermodynamics system</vt:lpstr>
      <vt:lpstr>Thermodynamics system</vt:lpstr>
      <vt:lpstr>Laws of Thermodynamics</vt:lpstr>
      <vt:lpstr>Laws of Thermodynamics</vt:lpstr>
      <vt:lpstr>Laws of Thermodynamics</vt:lpstr>
      <vt:lpstr>Laws of Thermodynamics</vt:lpstr>
      <vt:lpstr>Laws of Thermodynamics</vt:lpstr>
      <vt:lpstr>Laws of Thermodynamics</vt:lpstr>
      <vt:lpstr>Thermodynamics potential</vt:lpstr>
      <vt:lpstr>Thermodynamics potential</vt:lpstr>
      <vt:lpstr>Laws of Thermodynamics</vt:lpstr>
      <vt:lpstr>Phase transition</vt:lpstr>
      <vt:lpstr>Kinetic theory of gas (1st statistical approach)</vt:lpstr>
      <vt:lpstr>Kinetic theory of gas</vt:lpstr>
      <vt:lpstr>Kinetic theory of gas</vt:lpstr>
      <vt:lpstr>Kinetic theory of gas</vt:lpstr>
      <vt:lpstr>Kinetic theory of gas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Mechanics phy101</dc:title>
  <dc:creator>Kok Wee Song</dc:creator>
  <cp:lastModifiedBy>Song Kok Wee</cp:lastModifiedBy>
  <cp:revision>1661</cp:revision>
  <dcterms:created xsi:type="dcterms:W3CDTF">2024-08-25T23:32:26Z</dcterms:created>
  <dcterms:modified xsi:type="dcterms:W3CDTF">2025-09-29T12:29:03Z</dcterms:modified>
</cp:coreProperties>
</file>