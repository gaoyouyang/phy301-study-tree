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1"/>
  </p:notesMasterIdLst>
  <p:sldIdLst>
    <p:sldId id="289" r:id="rId2"/>
    <p:sldId id="495" r:id="rId26"/>
    <p:sldId id="496" r:id="rId27"/>
    <p:sldId id="470" r:id="rId3"/>
    <p:sldId id="497" r:id="rId28"/>
    <p:sldId id="498" r:id="rId29"/>
    <p:sldId id="499" r:id="rId30"/>
    <p:sldId id="471" r:id="rId4"/>
    <p:sldId id="500" r:id="rId31"/>
    <p:sldId id="501" r:id="rId32"/>
    <p:sldId id="502" r:id="rId33"/>
    <p:sldId id="473" r:id="rId5"/>
    <p:sldId id="503" r:id="rId34"/>
    <p:sldId id="504" r:id="rId35"/>
    <p:sldId id="505" r:id="rId36"/>
    <p:sldId id="474" r:id="rId6"/>
    <p:sldId id="506" r:id="rId37"/>
    <p:sldId id="507" r:id="rId38"/>
    <p:sldId id="508" r:id="rId39"/>
    <p:sldId id="479" r:id="rId7"/>
    <p:sldId id="509" r:id="rId40"/>
    <p:sldId id="510" r:id="rId41"/>
    <p:sldId id="511" r:id="rId42"/>
    <p:sldId id="485" r:id="rId8"/>
    <p:sldId id="512" r:id="rId43"/>
    <p:sldId id="513" r:id="rId44"/>
    <p:sldId id="514" r:id="rId45"/>
    <p:sldId id="475" r:id="rId9"/>
    <p:sldId id="515" r:id="rId46"/>
    <p:sldId id="516" r:id="rId47"/>
    <p:sldId id="288" r:id="rId10"/>
    <p:sldId id="517" r:id="rId48"/>
    <p:sldId id="518" r:id="rId49"/>
    <p:sldId id="403" r:id="rId11"/>
    <p:sldId id="519" r:id="rId50"/>
    <p:sldId id="520" r:id="rId51"/>
    <p:sldId id="521" r:id="rId52"/>
    <p:sldId id="486" r:id="rId12"/>
    <p:sldId id="522" r:id="rId53"/>
    <p:sldId id="523" r:id="rId54"/>
    <p:sldId id="524" r:id="rId55"/>
    <p:sldId id="487" r:id="rId13"/>
    <p:sldId id="525" r:id="rId56"/>
    <p:sldId id="526" r:id="rId57"/>
    <p:sldId id="527" r:id="rId58"/>
    <p:sldId id="488" r:id="rId14"/>
    <p:sldId id="528" r:id="rId59"/>
    <p:sldId id="529" r:id="rId60"/>
    <p:sldId id="530" r:id="rId61"/>
    <p:sldId id="489" r:id="rId15"/>
    <p:sldId id="531" r:id="rId62"/>
    <p:sldId id="532" r:id="rId63"/>
    <p:sldId id="533" r:id="rId64"/>
    <p:sldId id="290" r:id="rId16"/>
    <p:sldId id="534" r:id="rId65"/>
    <p:sldId id="535" r:id="rId66"/>
    <p:sldId id="536" r:id="rId67"/>
    <p:sldId id="490" r:id="rId17"/>
    <p:sldId id="537" r:id="rId68"/>
    <p:sldId id="538" r:id="rId69"/>
    <p:sldId id="539" r:id="rId70"/>
    <p:sldId id="491" r:id="rId18"/>
    <p:sldId id="540" r:id="rId71"/>
    <p:sldId id="541" r:id="rId72"/>
    <p:sldId id="542" r:id="rId73"/>
    <p:sldId id="493" r:id="rId19"/>
    <p:sldId id="543" r:id="rId74"/>
    <p:sldId id="544" r:id="rId75"/>
    <p:sldId id="545" r:id="rId76"/>
    <p:sldId id="494" r:id="rId20"/>
    <p:sldId id="546" r:id="rId77"/>
    <p:sldId id="547" r:id="rId78"/>
    <p:sldId id="548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sv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emf"/><Relationship Id="rId10" Type="http://schemas.openxmlformats.org/officeDocument/2006/relationships/image" Target="../media/image10.svg"/><Relationship Id="rId4" Type="http://schemas.openxmlformats.org/officeDocument/2006/relationships/image" Target="../media/image4.em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emf"/><Relationship Id="rId3" Type="http://schemas.openxmlformats.org/officeDocument/2006/relationships/image" Target="../media/image13.emf"/><Relationship Id="rId21" Type="http://schemas.openxmlformats.org/officeDocument/2006/relationships/image" Target="../media/image31.sv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emf"/><Relationship Id="rId2" Type="http://schemas.openxmlformats.org/officeDocument/2006/relationships/image" Target="../media/image12.emf"/><Relationship Id="rId16" Type="http://schemas.openxmlformats.org/officeDocument/2006/relationships/image" Target="../media/image26.jpe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png"/><Relationship Id="rId5" Type="http://schemas.openxmlformats.org/officeDocument/2006/relationships/image" Target="../media/image15.emf"/><Relationship Id="rId15" Type="http://schemas.openxmlformats.org/officeDocument/2006/relationships/image" Target="../media/image25.emf"/><Relationship Id="rId23" Type="http://schemas.openxmlformats.org/officeDocument/2006/relationships/image" Target="../media/image11.png"/><Relationship Id="rId10" Type="http://schemas.openxmlformats.org/officeDocument/2006/relationships/image" Target="../media/image20.svg"/><Relationship Id="rId19" Type="http://schemas.openxmlformats.org/officeDocument/2006/relationships/image" Target="../media/image29.emf"/><Relationship Id="rId4" Type="http://schemas.openxmlformats.org/officeDocument/2006/relationships/image" Target="../media/image14.emf"/><Relationship Id="rId9" Type="http://schemas.openxmlformats.org/officeDocument/2006/relationships/image" Target="../media/image19.png"/><Relationship Id="rId14" Type="http://schemas.openxmlformats.org/officeDocument/2006/relationships/image" Target="../media/image24.svg"/><Relationship Id="rId22" Type="http://schemas.openxmlformats.org/officeDocument/2006/relationships/image" Target="../media/image3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emf"/><Relationship Id="rId4" Type="http://schemas.openxmlformats.org/officeDocument/2006/relationships/image" Target="../media/image3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image" Target="../media/image45.emf"/><Relationship Id="rId18" Type="http://schemas.openxmlformats.org/officeDocument/2006/relationships/image" Target="../media/image50.emf"/><Relationship Id="rId3" Type="http://schemas.openxmlformats.org/officeDocument/2006/relationships/image" Target="../media/image15.emf"/><Relationship Id="rId7" Type="http://schemas.openxmlformats.org/officeDocument/2006/relationships/image" Target="../media/image39.emf"/><Relationship Id="rId12" Type="http://schemas.openxmlformats.org/officeDocument/2006/relationships/image" Target="../media/image44.emf"/><Relationship Id="rId17" Type="http://schemas.openxmlformats.org/officeDocument/2006/relationships/image" Target="../media/image49.emf"/><Relationship Id="rId2" Type="http://schemas.openxmlformats.org/officeDocument/2006/relationships/image" Target="../media/image36.emf"/><Relationship Id="rId16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image" Target="../media/image43.svg"/><Relationship Id="rId5" Type="http://schemas.openxmlformats.org/officeDocument/2006/relationships/image" Target="../media/image14.emf"/><Relationship Id="rId15" Type="http://schemas.openxmlformats.org/officeDocument/2006/relationships/image" Target="../media/image47.emf"/><Relationship Id="rId10" Type="http://schemas.openxmlformats.org/officeDocument/2006/relationships/image" Target="../media/image42.png"/><Relationship Id="rId19" Type="http://schemas.openxmlformats.org/officeDocument/2006/relationships/image" Target="../media/image11.png"/><Relationship Id="rId4" Type="http://schemas.openxmlformats.org/officeDocument/2006/relationships/image" Target="../media/image37.emf"/><Relationship Id="rId9" Type="http://schemas.openxmlformats.org/officeDocument/2006/relationships/image" Target="../media/image41.emf"/><Relationship Id="rId14" Type="http://schemas.openxmlformats.org/officeDocument/2006/relationships/image" Target="../media/image4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18" Type="http://schemas.openxmlformats.org/officeDocument/2006/relationships/image" Target="../media/image66.png"/><Relationship Id="rId3" Type="http://schemas.openxmlformats.org/officeDocument/2006/relationships/image" Target="../media/image52.emf"/><Relationship Id="rId21" Type="http://schemas.openxmlformats.org/officeDocument/2006/relationships/image" Target="../media/image69.sv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65.emf"/><Relationship Id="rId2" Type="http://schemas.openxmlformats.org/officeDocument/2006/relationships/image" Target="../media/image51.emf"/><Relationship Id="rId16" Type="http://schemas.openxmlformats.org/officeDocument/2006/relationships/image" Target="../media/image64.emf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image" Target="../media/image60.png"/><Relationship Id="rId24" Type="http://schemas.openxmlformats.org/officeDocument/2006/relationships/image" Target="../media/image11.png"/><Relationship Id="rId5" Type="http://schemas.openxmlformats.org/officeDocument/2006/relationships/image" Target="../media/image54.emf"/><Relationship Id="rId15" Type="http://schemas.openxmlformats.org/officeDocument/2006/relationships/image" Target="../media/image49.emf"/><Relationship Id="rId23" Type="http://schemas.openxmlformats.org/officeDocument/2006/relationships/image" Target="../media/image71.svg"/><Relationship Id="rId10" Type="http://schemas.openxmlformats.org/officeDocument/2006/relationships/image" Target="../media/image59.svg"/><Relationship Id="rId19" Type="http://schemas.openxmlformats.org/officeDocument/2006/relationships/image" Target="../media/image67.svg"/><Relationship Id="rId4" Type="http://schemas.openxmlformats.org/officeDocument/2006/relationships/image" Target="../media/image53.emf"/><Relationship Id="rId9" Type="http://schemas.openxmlformats.org/officeDocument/2006/relationships/image" Target="../media/image58.png"/><Relationship Id="rId14" Type="http://schemas.openxmlformats.org/officeDocument/2006/relationships/image" Target="../media/image63.svg"/><Relationship Id="rId22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svg"/><Relationship Id="rId18" Type="http://schemas.openxmlformats.org/officeDocument/2006/relationships/image" Target="../media/image84.png"/><Relationship Id="rId3" Type="http://schemas.openxmlformats.org/officeDocument/2006/relationships/image" Target="../media/image54.emf"/><Relationship Id="rId21" Type="http://schemas.openxmlformats.org/officeDocument/2006/relationships/image" Target="../media/image87.svg"/><Relationship Id="rId7" Type="http://schemas.openxmlformats.org/officeDocument/2006/relationships/image" Target="../media/image73.emf"/><Relationship Id="rId12" Type="http://schemas.openxmlformats.org/officeDocument/2006/relationships/image" Target="../media/image78.png"/><Relationship Id="rId17" Type="http://schemas.openxmlformats.org/officeDocument/2006/relationships/image" Target="../media/image83.svg"/><Relationship Id="rId2" Type="http://schemas.openxmlformats.org/officeDocument/2006/relationships/image" Target="../media/image72.emf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11" Type="http://schemas.openxmlformats.org/officeDocument/2006/relationships/image" Target="../media/image77.svg"/><Relationship Id="rId24" Type="http://schemas.openxmlformats.org/officeDocument/2006/relationships/image" Target="../media/image11.png"/><Relationship Id="rId5" Type="http://schemas.openxmlformats.org/officeDocument/2006/relationships/image" Target="../media/image68.png"/><Relationship Id="rId15" Type="http://schemas.openxmlformats.org/officeDocument/2006/relationships/image" Target="../media/image81.svg"/><Relationship Id="rId23" Type="http://schemas.openxmlformats.org/officeDocument/2006/relationships/image" Target="../media/image89.svg"/><Relationship Id="rId10" Type="http://schemas.openxmlformats.org/officeDocument/2006/relationships/image" Target="../media/image76.png"/><Relationship Id="rId19" Type="http://schemas.openxmlformats.org/officeDocument/2006/relationships/image" Target="../media/image85.svg"/><Relationship Id="rId4" Type="http://schemas.openxmlformats.org/officeDocument/2006/relationships/image" Target="../media/image65.emf"/><Relationship Id="rId9" Type="http://schemas.openxmlformats.org/officeDocument/2006/relationships/image" Target="../media/image75.sv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svg"/><Relationship Id="rId3" Type="http://schemas.openxmlformats.org/officeDocument/2006/relationships/image" Target="../media/image91.svg"/><Relationship Id="rId7" Type="http://schemas.openxmlformats.org/officeDocument/2006/relationships/image" Target="../media/image95.svg"/><Relationship Id="rId12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svg"/><Relationship Id="rId5" Type="http://schemas.openxmlformats.org/officeDocument/2006/relationships/image" Target="../media/image93.sv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sv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3.emf"/><Relationship Id="rId7" Type="http://schemas.openxmlformats.org/officeDocument/2006/relationships/image" Target="../media/image10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10" Type="http://schemas.openxmlformats.org/officeDocument/2006/relationships/image" Target="../media/image11.png"/><Relationship Id="rId4" Type="http://schemas.openxmlformats.org/officeDocument/2006/relationships/image" Target="../media/image4.emf"/><Relationship Id="rId9" Type="http://schemas.openxmlformats.org/officeDocument/2006/relationships/image" Target="../media/image33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sv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9" Type="http://schemas.openxmlformats.org/officeDocument/2006/relationships/image" Target="../media/image141.svg"/><Relationship Id="rId21" Type="http://schemas.openxmlformats.org/officeDocument/2006/relationships/image" Target="../media/image123.svg"/><Relationship Id="rId34" Type="http://schemas.openxmlformats.org/officeDocument/2006/relationships/image" Target="../media/image136.png"/><Relationship Id="rId7" Type="http://schemas.openxmlformats.org/officeDocument/2006/relationships/image" Target="../media/image111.svg"/><Relationship Id="rId12" Type="http://schemas.openxmlformats.org/officeDocument/2006/relationships/image" Target="../media/image114.png"/><Relationship Id="rId17" Type="http://schemas.openxmlformats.org/officeDocument/2006/relationships/image" Target="../media/image119.svg"/><Relationship Id="rId25" Type="http://schemas.openxmlformats.org/officeDocument/2006/relationships/image" Target="../media/image127.svg"/><Relationship Id="rId33" Type="http://schemas.openxmlformats.org/officeDocument/2006/relationships/image" Target="../media/image135.svg"/><Relationship Id="rId38" Type="http://schemas.openxmlformats.org/officeDocument/2006/relationships/image" Target="../media/image140.png"/><Relationship Id="rId2" Type="http://schemas.openxmlformats.org/officeDocument/2006/relationships/image" Target="../media/image106.png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29" Type="http://schemas.openxmlformats.org/officeDocument/2006/relationships/image" Target="../media/image1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3.svg"/><Relationship Id="rId24" Type="http://schemas.openxmlformats.org/officeDocument/2006/relationships/image" Target="../media/image126.png"/><Relationship Id="rId32" Type="http://schemas.openxmlformats.org/officeDocument/2006/relationships/image" Target="../media/image134.png"/><Relationship Id="rId37" Type="http://schemas.openxmlformats.org/officeDocument/2006/relationships/image" Target="../media/image139.svg"/><Relationship Id="rId40" Type="http://schemas.openxmlformats.org/officeDocument/2006/relationships/image" Target="../media/image11.png"/><Relationship Id="rId5" Type="http://schemas.openxmlformats.org/officeDocument/2006/relationships/image" Target="../media/image109.svg"/><Relationship Id="rId15" Type="http://schemas.openxmlformats.org/officeDocument/2006/relationships/image" Target="../media/image117.svg"/><Relationship Id="rId23" Type="http://schemas.openxmlformats.org/officeDocument/2006/relationships/image" Target="../media/image125.svg"/><Relationship Id="rId28" Type="http://schemas.openxmlformats.org/officeDocument/2006/relationships/image" Target="../media/image130.png"/><Relationship Id="rId36" Type="http://schemas.openxmlformats.org/officeDocument/2006/relationships/image" Target="../media/image138.png"/><Relationship Id="rId10" Type="http://schemas.openxmlformats.org/officeDocument/2006/relationships/image" Target="../media/image112.png"/><Relationship Id="rId19" Type="http://schemas.openxmlformats.org/officeDocument/2006/relationships/image" Target="../media/image121.svg"/><Relationship Id="rId31" Type="http://schemas.openxmlformats.org/officeDocument/2006/relationships/image" Target="../media/image133.svg"/><Relationship Id="rId4" Type="http://schemas.openxmlformats.org/officeDocument/2006/relationships/image" Target="../media/image108.png"/><Relationship Id="rId9" Type="http://schemas.openxmlformats.org/officeDocument/2006/relationships/image" Target="../media/image105.sv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svg"/><Relationship Id="rId30" Type="http://schemas.openxmlformats.org/officeDocument/2006/relationships/image" Target="../media/image132.png"/><Relationship Id="rId35" Type="http://schemas.openxmlformats.org/officeDocument/2006/relationships/image" Target="../media/image137.svg"/><Relationship Id="rId8" Type="http://schemas.openxmlformats.org/officeDocument/2006/relationships/image" Target="../media/image104.png"/><Relationship Id="rId3" Type="http://schemas.openxmlformats.org/officeDocument/2006/relationships/image" Target="../media/image107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svg"/><Relationship Id="rId18" Type="http://schemas.openxmlformats.org/officeDocument/2006/relationships/image" Target="../media/image136.png"/><Relationship Id="rId26" Type="http://schemas.openxmlformats.org/officeDocument/2006/relationships/image" Target="../media/image148.png"/><Relationship Id="rId39" Type="http://schemas.openxmlformats.org/officeDocument/2006/relationships/image" Target="../media/image135.svg"/><Relationship Id="rId21" Type="http://schemas.openxmlformats.org/officeDocument/2006/relationships/image" Target="../media/image143.svg"/><Relationship Id="rId34" Type="http://schemas.openxmlformats.org/officeDocument/2006/relationships/image" Target="../media/image156.png"/><Relationship Id="rId42" Type="http://schemas.openxmlformats.org/officeDocument/2006/relationships/image" Target="../media/image11.png"/><Relationship Id="rId7" Type="http://schemas.openxmlformats.org/officeDocument/2006/relationships/image" Target="../media/image111.sv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20" Type="http://schemas.openxmlformats.org/officeDocument/2006/relationships/image" Target="../media/image142.png"/><Relationship Id="rId29" Type="http://schemas.openxmlformats.org/officeDocument/2006/relationships/image" Target="../media/image151.svg"/><Relationship Id="rId41" Type="http://schemas.openxmlformats.org/officeDocument/2006/relationships/image" Target="../media/image1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05.svg"/><Relationship Id="rId24" Type="http://schemas.openxmlformats.org/officeDocument/2006/relationships/image" Target="../media/image146.png"/><Relationship Id="rId32" Type="http://schemas.openxmlformats.org/officeDocument/2006/relationships/image" Target="../media/image154.png"/><Relationship Id="rId37" Type="http://schemas.openxmlformats.org/officeDocument/2006/relationships/image" Target="../media/image139.svg"/><Relationship Id="rId40" Type="http://schemas.openxmlformats.org/officeDocument/2006/relationships/image" Target="../media/image140.png"/><Relationship Id="rId5" Type="http://schemas.openxmlformats.org/officeDocument/2006/relationships/image" Target="../media/image109.svg"/><Relationship Id="rId15" Type="http://schemas.openxmlformats.org/officeDocument/2006/relationships/image" Target="../media/image119.svg"/><Relationship Id="rId23" Type="http://schemas.openxmlformats.org/officeDocument/2006/relationships/image" Target="../media/image145.svg"/><Relationship Id="rId28" Type="http://schemas.openxmlformats.org/officeDocument/2006/relationships/image" Target="../media/image150.png"/><Relationship Id="rId36" Type="http://schemas.openxmlformats.org/officeDocument/2006/relationships/image" Target="../media/image138.png"/><Relationship Id="rId10" Type="http://schemas.openxmlformats.org/officeDocument/2006/relationships/image" Target="../media/image104.png"/><Relationship Id="rId19" Type="http://schemas.openxmlformats.org/officeDocument/2006/relationships/image" Target="../media/image137.svg"/><Relationship Id="rId31" Type="http://schemas.openxmlformats.org/officeDocument/2006/relationships/image" Target="../media/image153.svg"/><Relationship Id="rId4" Type="http://schemas.openxmlformats.org/officeDocument/2006/relationships/image" Target="../media/image108.png"/><Relationship Id="rId9" Type="http://schemas.openxmlformats.org/officeDocument/2006/relationships/image" Target="../media/image115.svg"/><Relationship Id="rId14" Type="http://schemas.openxmlformats.org/officeDocument/2006/relationships/image" Target="../media/image118.png"/><Relationship Id="rId22" Type="http://schemas.openxmlformats.org/officeDocument/2006/relationships/image" Target="../media/image144.png"/><Relationship Id="rId27" Type="http://schemas.openxmlformats.org/officeDocument/2006/relationships/image" Target="../media/image149.svg"/><Relationship Id="rId30" Type="http://schemas.openxmlformats.org/officeDocument/2006/relationships/image" Target="../media/image152.png"/><Relationship Id="rId35" Type="http://schemas.openxmlformats.org/officeDocument/2006/relationships/image" Target="../media/image157.svg"/><Relationship Id="rId8" Type="http://schemas.openxmlformats.org/officeDocument/2006/relationships/image" Target="../media/image114.png"/><Relationship Id="rId3" Type="http://schemas.openxmlformats.org/officeDocument/2006/relationships/image" Target="../media/image107.svg"/><Relationship Id="rId12" Type="http://schemas.openxmlformats.org/officeDocument/2006/relationships/image" Target="../media/image112.png"/><Relationship Id="rId17" Type="http://schemas.openxmlformats.org/officeDocument/2006/relationships/image" Target="../media/image121.svg"/><Relationship Id="rId25" Type="http://schemas.openxmlformats.org/officeDocument/2006/relationships/image" Target="../media/image147.svg"/><Relationship Id="rId33" Type="http://schemas.openxmlformats.org/officeDocument/2006/relationships/image" Target="../media/image155.svg"/><Relationship Id="rId38" Type="http://schemas.openxmlformats.org/officeDocument/2006/relationships/image" Target="../media/image13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svg"/><Relationship Id="rId18" Type="http://schemas.openxmlformats.org/officeDocument/2006/relationships/image" Target="../media/image148.png"/><Relationship Id="rId26" Type="http://schemas.openxmlformats.org/officeDocument/2006/relationships/image" Target="../media/image160.png"/><Relationship Id="rId39" Type="http://schemas.openxmlformats.org/officeDocument/2006/relationships/image" Target="../media/image135.svg"/><Relationship Id="rId21" Type="http://schemas.openxmlformats.org/officeDocument/2006/relationships/image" Target="../media/image151.svg"/><Relationship Id="rId34" Type="http://schemas.openxmlformats.org/officeDocument/2006/relationships/image" Target="../media/image136.png"/><Relationship Id="rId42" Type="http://schemas.openxmlformats.org/officeDocument/2006/relationships/image" Target="../media/image11.png"/><Relationship Id="rId7" Type="http://schemas.openxmlformats.org/officeDocument/2006/relationships/image" Target="../media/image111.svg"/><Relationship Id="rId2" Type="http://schemas.openxmlformats.org/officeDocument/2006/relationships/image" Target="../media/image106.png"/><Relationship Id="rId16" Type="http://schemas.openxmlformats.org/officeDocument/2006/relationships/image" Target="../media/image142.png"/><Relationship Id="rId20" Type="http://schemas.openxmlformats.org/officeDocument/2006/relationships/image" Target="../media/image150.png"/><Relationship Id="rId29" Type="http://schemas.openxmlformats.org/officeDocument/2006/relationships/image" Target="../media/image163.svg"/><Relationship Id="rId41" Type="http://schemas.openxmlformats.org/officeDocument/2006/relationships/image" Target="../media/image1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3.svg"/><Relationship Id="rId24" Type="http://schemas.openxmlformats.org/officeDocument/2006/relationships/image" Target="../media/image158.png"/><Relationship Id="rId32" Type="http://schemas.openxmlformats.org/officeDocument/2006/relationships/image" Target="../media/image114.png"/><Relationship Id="rId37" Type="http://schemas.openxmlformats.org/officeDocument/2006/relationships/image" Target="../media/image139.svg"/><Relationship Id="rId40" Type="http://schemas.openxmlformats.org/officeDocument/2006/relationships/image" Target="../media/image140.png"/><Relationship Id="rId5" Type="http://schemas.openxmlformats.org/officeDocument/2006/relationships/image" Target="../media/image109.svg"/><Relationship Id="rId15" Type="http://schemas.openxmlformats.org/officeDocument/2006/relationships/image" Target="../media/image121.svg"/><Relationship Id="rId23" Type="http://schemas.openxmlformats.org/officeDocument/2006/relationships/image" Target="../media/image103.svg"/><Relationship Id="rId28" Type="http://schemas.openxmlformats.org/officeDocument/2006/relationships/image" Target="../media/image162.png"/><Relationship Id="rId36" Type="http://schemas.openxmlformats.org/officeDocument/2006/relationships/image" Target="../media/image138.png"/><Relationship Id="rId10" Type="http://schemas.openxmlformats.org/officeDocument/2006/relationships/image" Target="../media/image112.png"/><Relationship Id="rId19" Type="http://schemas.openxmlformats.org/officeDocument/2006/relationships/image" Target="../media/image149.svg"/><Relationship Id="rId31" Type="http://schemas.openxmlformats.org/officeDocument/2006/relationships/image" Target="../media/image165.svg"/><Relationship Id="rId4" Type="http://schemas.openxmlformats.org/officeDocument/2006/relationships/image" Target="../media/image108.png"/><Relationship Id="rId9" Type="http://schemas.openxmlformats.org/officeDocument/2006/relationships/image" Target="../media/image105.svg"/><Relationship Id="rId14" Type="http://schemas.openxmlformats.org/officeDocument/2006/relationships/image" Target="../media/image120.png"/><Relationship Id="rId22" Type="http://schemas.openxmlformats.org/officeDocument/2006/relationships/image" Target="../media/image102.png"/><Relationship Id="rId27" Type="http://schemas.openxmlformats.org/officeDocument/2006/relationships/image" Target="../media/image161.svg"/><Relationship Id="rId30" Type="http://schemas.openxmlformats.org/officeDocument/2006/relationships/image" Target="../media/image164.png"/><Relationship Id="rId35" Type="http://schemas.openxmlformats.org/officeDocument/2006/relationships/image" Target="../media/image137.svg"/><Relationship Id="rId8" Type="http://schemas.openxmlformats.org/officeDocument/2006/relationships/image" Target="../media/image104.png"/><Relationship Id="rId3" Type="http://schemas.openxmlformats.org/officeDocument/2006/relationships/image" Target="../media/image107.svg"/><Relationship Id="rId12" Type="http://schemas.openxmlformats.org/officeDocument/2006/relationships/image" Target="../media/image118.png"/><Relationship Id="rId17" Type="http://schemas.openxmlformats.org/officeDocument/2006/relationships/image" Target="../media/image143.svg"/><Relationship Id="rId25" Type="http://schemas.openxmlformats.org/officeDocument/2006/relationships/image" Target="../media/image159.svg"/><Relationship Id="rId33" Type="http://schemas.openxmlformats.org/officeDocument/2006/relationships/image" Target="../media/image115.svg"/><Relationship Id="rId38" Type="http://schemas.openxmlformats.org/officeDocument/2006/relationships/image" Target="../media/image1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1.png"/><Relationship Id="rId18" Type="http://schemas.openxmlformats.org/officeDocument/2006/relationships/image" Target="../media/image176.svg"/><Relationship Id="rId3" Type="http://schemas.openxmlformats.org/officeDocument/2006/relationships/image" Target="../media/image103.svg"/><Relationship Id="rId21" Type="http://schemas.openxmlformats.org/officeDocument/2006/relationships/image" Target="../media/image11.png"/><Relationship Id="rId7" Type="http://schemas.openxmlformats.org/officeDocument/2006/relationships/image" Target="../media/image167.svg"/><Relationship Id="rId12" Type="http://schemas.openxmlformats.org/officeDocument/2006/relationships/image" Target="../media/image135.svg"/><Relationship Id="rId17" Type="http://schemas.openxmlformats.org/officeDocument/2006/relationships/image" Target="../media/image175.png"/><Relationship Id="rId2" Type="http://schemas.openxmlformats.org/officeDocument/2006/relationships/image" Target="../media/image102.png"/><Relationship Id="rId16" Type="http://schemas.openxmlformats.org/officeDocument/2006/relationships/image" Target="../media/image174.svg"/><Relationship Id="rId20" Type="http://schemas.openxmlformats.org/officeDocument/2006/relationships/image" Target="../media/image17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34.png"/><Relationship Id="rId5" Type="http://schemas.openxmlformats.org/officeDocument/2006/relationships/image" Target="../media/image105.svg"/><Relationship Id="rId15" Type="http://schemas.openxmlformats.org/officeDocument/2006/relationships/image" Target="../media/image173.png"/><Relationship Id="rId10" Type="http://schemas.openxmlformats.org/officeDocument/2006/relationships/image" Target="../media/image170.png"/><Relationship Id="rId19" Type="http://schemas.openxmlformats.org/officeDocument/2006/relationships/image" Target="../media/image177.png"/><Relationship Id="rId4" Type="http://schemas.openxmlformats.org/officeDocument/2006/relationships/image" Target="../media/image104.png"/><Relationship Id="rId9" Type="http://schemas.openxmlformats.org/officeDocument/2006/relationships/image" Target="../media/image169.svg"/><Relationship Id="rId14" Type="http://schemas.openxmlformats.org/officeDocument/2006/relationships/image" Target="../media/image17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svg"/><Relationship Id="rId18" Type="http://schemas.openxmlformats.org/officeDocument/2006/relationships/image" Target="../media/image191.png"/><Relationship Id="rId3" Type="http://schemas.openxmlformats.org/officeDocument/2006/relationships/image" Target="../media/image172.svg"/><Relationship Id="rId21" Type="http://schemas.openxmlformats.org/officeDocument/2006/relationships/image" Target="../media/image194.png"/><Relationship Id="rId7" Type="http://schemas.openxmlformats.org/officeDocument/2006/relationships/image" Target="../media/image180.svg"/><Relationship Id="rId12" Type="http://schemas.openxmlformats.org/officeDocument/2006/relationships/image" Target="../media/image185.png"/><Relationship Id="rId17" Type="http://schemas.openxmlformats.org/officeDocument/2006/relationships/image" Target="../media/image190.svg"/><Relationship Id="rId2" Type="http://schemas.openxmlformats.org/officeDocument/2006/relationships/image" Target="../media/image171.png"/><Relationship Id="rId16" Type="http://schemas.openxmlformats.org/officeDocument/2006/relationships/image" Target="../media/image189.png"/><Relationship Id="rId20" Type="http://schemas.openxmlformats.org/officeDocument/2006/relationships/image" Target="../media/image19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svg"/><Relationship Id="rId5" Type="http://schemas.openxmlformats.org/officeDocument/2006/relationships/image" Target="../media/image174.svg"/><Relationship Id="rId15" Type="http://schemas.openxmlformats.org/officeDocument/2006/relationships/image" Target="../media/image188.svg"/><Relationship Id="rId23" Type="http://schemas.openxmlformats.org/officeDocument/2006/relationships/image" Target="../media/image11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4" Type="http://schemas.openxmlformats.org/officeDocument/2006/relationships/image" Target="../media/image173.png"/><Relationship Id="rId9" Type="http://schemas.openxmlformats.org/officeDocument/2006/relationships/image" Target="../media/image182.svg"/><Relationship Id="rId14" Type="http://schemas.openxmlformats.org/officeDocument/2006/relationships/image" Target="../media/image187.png"/><Relationship Id="rId22" Type="http://schemas.openxmlformats.org/officeDocument/2006/relationships/image" Target="../media/image19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3.svg"/><Relationship Id="rId3" Type="http://schemas.openxmlformats.org/officeDocument/2006/relationships/image" Target="../media/image172.svg"/><Relationship Id="rId7" Type="http://schemas.openxmlformats.org/officeDocument/2006/relationships/image" Target="../media/image180.svg"/><Relationship Id="rId12" Type="http://schemas.openxmlformats.org/officeDocument/2006/relationships/image" Target="../media/image192.png"/><Relationship Id="rId17" Type="http://schemas.openxmlformats.org/officeDocument/2006/relationships/image" Target="../media/image11.png"/><Relationship Id="rId2" Type="http://schemas.openxmlformats.org/officeDocument/2006/relationships/image" Target="../media/image171.png"/><Relationship Id="rId16" Type="http://schemas.openxmlformats.org/officeDocument/2006/relationships/image" Target="../media/image19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8.svg"/><Relationship Id="rId5" Type="http://schemas.openxmlformats.org/officeDocument/2006/relationships/image" Target="../media/image174.svg"/><Relationship Id="rId15" Type="http://schemas.openxmlformats.org/officeDocument/2006/relationships/image" Target="../media/image197.png"/><Relationship Id="rId10" Type="http://schemas.openxmlformats.org/officeDocument/2006/relationships/image" Target="../media/image187.png"/><Relationship Id="rId4" Type="http://schemas.openxmlformats.org/officeDocument/2006/relationships/image" Target="../media/image173.png"/><Relationship Id="rId9" Type="http://schemas.openxmlformats.org/officeDocument/2006/relationships/image" Target="../media/image186.svg"/><Relationship Id="rId14" Type="http://schemas.openxmlformats.org/officeDocument/2006/relationships/image" Target="../media/image19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3.svg"/><Relationship Id="rId18" Type="http://schemas.openxmlformats.org/officeDocument/2006/relationships/image" Target="../media/image200.png"/><Relationship Id="rId3" Type="http://schemas.openxmlformats.org/officeDocument/2006/relationships/image" Target="../media/image172.svg"/><Relationship Id="rId21" Type="http://schemas.openxmlformats.org/officeDocument/2006/relationships/image" Target="../media/image11.png"/><Relationship Id="rId7" Type="http://schemas.openxmlformats.org/officeDocument/2006/relationships/image" Target="../media/image180.svg"/><Relationship Id="rId12" Type="http://schemas.openxmlformats.org/officeDocument/2006/relationships/image" Target="../media/image192.png"/><Relationship Id="rId17" Type="http://schemas.openxmlformats.org/officeDocument/2006/relationships/image" Target="../media/image199.png"/><Relationship Id="rId2" Type="http://schemas.openxmlformats.org/officeDocument/2006/relationships/image" Target="../media/image171.png"/><Relationship Id="rId16" Type="http://schemas.openxmlformats.org/officeDocument/2006/relationships/image" Target="../media/image196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8.svg"/><Relationship Id="rId5" Type="http://schemas.openxmlformats.org/officeDocument/2006/relationships/image" Target="../media/image174.svg"/><Relationship Id="rId15" Type="http://schemas.openxmlformats.org/officeDocument/2006/relationships/image" Target="../media/image198.svg"/><Relationship Id="rId10" Type="http://schemas.openxmlformats.org/officeDocument/2006/relationships/image" Target="../media/image187.png"/><Relationship Id="rId19" Type="http://schemas.openxmlformats.org/officeDocument/2006/relationships/image" Target="../media/image201.png"/><Relationship Id="rId4" Type="http://schemas.openxmlformats.org/officeDocument/2006/relationships/image" Target="../media/image173.png"/><Relationship Id="rId9" Type="http://schemas.openxmlformats.org/officeDocument/2006/relationships/image" Target="../media/image186.svg"/><Relationship Id="rId14" Type="http://schemas.openxmlformats.org/officeDocument/2006/relationships/image" Target="../media/image19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svg"/><Relationship Id="rId13" Type="http://schemas.openxmlformats.org/officeDocument/2006/relationships/image" Target="../media/image213.png"/><Relationship Id="rId18" Type="http://schemas.openxmlformats.org/officeDocument/2006/relationships/image" Target="../media/image218.svg"/><Relationship Id="rId26" Type="http://schemas.openxmlformats.org/officeDocument/2006/relationships/image" Target="../media/image226.svg"/><Relationship Id="rId3" Type="http://schemas.openxmlformats.org/officeDocument/2006/relationships/image" Target="../media/image203.png"/><Relationship Id="rId21" Type="http://schemas.openxmlformats.org/officeDocument/2006/relationships/image" Target="../media/image221.png"/><Relationship Id="rId7" Type="http://schemas.openxmlformats.org/officeDocument/2006/relationships/image" Target="../media/image207.png"/><Relationship Id="rId12" Type="http://schemas.openxmlformats.org/officeDocument/2006/relationships/image" Target="../media/image212.svg"/><Relationship Id="rId17" Type="http://schemas.openxmlformats.org/officeDocument/2006/relationships/image" Target="../media/image217.png"/><Relationship Id="rId25" Type="http://schemas.openxmlformats.org/officeDocument/2006/relationships/image" Target="../media/image225.png"/><Relationship Id="rId2" Type="http://schemas.openxmlformats.org/officeDocument/2006/relationships/image" Target="../media/image202.png"/><Relationship Id="rId16" Type="http://schemas.openxmlformats.org/officeDocument/2006/relationships/image" Target="../media/image216.svg"/><Relationship Id="rId20" Type="http://schemas.openxmlformats.org/officeDocument/2006/relationships/image" Target="../media/image2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svg"/><Relationship Id="rId11" Type="http://schemas.openxmlformats.org/officeDocument/2006/relationships/image" Target="../media/image211.png"/><Relationship Id="rId24" Type="http://schemas.openxmlformats.org/officeDocument/2006/relationships/image" Target="../media/image224.svg"/><Relationship Id="rId5" Type="http://schemas.openxmlformats.org/officeDocument/2006/relationships/image" Target="../media/image205.png"/><Relationship Id="rId15" Type="http://schemas.openxmlformats.org/officeDocument/2006/relationships/image" Target="../media/image215.png"/><Relationship Id="rId23" Type="http://schemas.openxmlformats.org/officeDocument/2006/relationships/image" Target="../media/image223.png"/><Relationship Id="rId10" Type="http://schemas.openxmlformats.org/officeDocument/2006/relationships/image" Target="../media/image210.svg"/><Relationship Id="rId19" Type="http://schemas.openxmlformats.org/officeDocument/2006/relationships/image" Target="../media/image219.png"/><Relationship Id="rId4" Type="http://schemas.openxmlformats.org/officeDocument/2006/relationships/image" Target="../media/image204.svg"/><Relationship Id="rId9" Type="http://schemas.openxmlformats.org/officeDocument/2006/relationships/image" Target="../media/image209.png"/><Relationship Id="rId14" Type="http://schemas.openxmlformats.org/officeDocument/2006/relationships/image" Target="../media/image214.svg"/><Relationship Id="rId22" Type="http://schemas.openxmlformats.org/officeDocument/2006/relationships/image" Target="../media/image222.svg"/><Relationship Id="rId27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 for classical statistical mechanics</a:t>
            </a:r>
          </a:p>
        </p:txBody>
      </p:sp>
    </p:spTree>
    <p:extLst>
      <p:ext uri="{BB962C8B-B14F-4D97-AF65-F5344CB8AC3E}">
        <p14:creationId xmlns:p14="http://schemas.microsoft.com/office/powerpoint/2010/main" val="1732924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249424"/>
            <a:ext cx="498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The microstates      </a:t>
            </a:r>
            <a:r>
              <a:rPr lang="en-US" sz="2400" b="1" dirty="0"/>
              <a:t>of a large system.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218" y="2412746"/>
            <a:ext cx="237744" cy="29718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9703C41-DDF4-40A3-97C9-75564D6B3493}"/>
              </a:ext>
            </a:extLst>
          </p:cNvPr>
          <p:cNvGrpSpPr/>
          <p:nvPr/>
        </p:nvGrpSpPr>
        <p:grpSpPr>
          <a:xfrm>
            <a:off x="7555484" y="1760273"/>
            <a:ext cx="4449103" cy="3435767"/>
            <a:chOff x="7454138" y="1880092"/>
            <a:chExt cx="4449103" cy="34357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0AAE96-594B-4460-B71B-05C5028CA2B6}"/>
                </a:ext>
              </a:extLst>
            </p:cNvPr>
            <p:cNvGrpSpPr/>
            <p:nvPr/>
          </p:nvGrpSpPr>
          <p:grpSpPr>
            <a:xfrm>
              <a:off x="7454138" y="1880092"/>
              <a:ext cx="4449103" cy="3435767"/>
              <a:chOff x="7454138" y="1880092"/>
              <a:chExt cx="4449103" cy="3435767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724" y="2041344"/>
                <a:ext cx="3332988" cy="3274515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7454138" y="1880092"/>
                <a:ext cx="4449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Phase space</a:t>
                </a:r>
                <a:r>
                  <a:rPr lang="en-US" dirty="0"/>
                  <a:t>: collection of all available states</a:t>
                </a:r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7696" y="4498848"/>
              <a:ext cx="1761488" cy="21717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0A3A92B-A6A2-488E-8384-F11B7C4618B4}"/>
              </a:ext>
            </a:extLst>
          </p:cNvPr>
          <p:cNvGrpSpPr/>
          <p:nvPr/>
        </p:nvGrpSpPr>
        <p:grpSpPr>
          <a:xfrm>
            <a:off x="463683" y="3083306"/>
            <a:ext cx="7447128" cy="802654"/>
            <a:chOff x="123933" y="3083306"/>
            <a:chExt cx="7447128" cy="80265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462" y="3083306"/>
              <a:ext cx="6922599" cy="720598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E5C954-9EB0-4295-8A57-A1C18E2E4AAE}"/>
                </a:ext>
              </a:extLst>
            </p:cNvPr>
            <p:cNvGrpSpPr/>
            <p:nvPr/>
          </p:nvGrpSpPr>
          <p:grpSpPr>
            <a:xfrm>
              <a:off x="123933" y="3362740"/>
              <a:ext cx="595958" cy="523220"/>
              <a:chOff x="123933" y="3362740"/>
              <a:chExt cx="595958" cy="52322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B7994C2-E6CD-464C-B239-2E6413259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933" y="3530011"/>
                <a:ext cx="237744" cy="297180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C62B9E-9D65-4FB3-B809-4502723EEB47}"/>
                  </a:ext>
                </a:extLst>
              </p:cNvPr>
              <p:cNvSpPr txBox="1"/>
              <p:nvPr/>
            </p:nvSpPr>
            <p:spPr>
              <a:xfrm>
                <a:off x="336453" y="3362740"/>
                <a:ext cx="3834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</a:t>
                </a:r>
                <a:endParaRPr lang="en-MY" sz="2800"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348D381-30C3-4626-987E-06A1A9AFF277}"/>
              </a:ext>
            </a:extLst>
          </p:cNvPr>
          <p:cNvSpPr txBox="1"/>
          <p:nvPr/>
        </p:nvSpPr>
        <p:spPr>
          <a:xfrm>
            <a:off x="8616671" y="4650364"/>
            <a:ext cx="338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point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 huge space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E2F3F6-55E3-42AA-8D45-999B31E39D53}"/>
              </a:ext>
            </a:extLst>
          </p:cNvPr>
          <p:cNvGrpSpPr/>
          <p:nvPr/>
        </p:nvGrpSpPr>
        <p:grpSpPr>
          <a:xfrm>
            <a:off x="701427" y="5728294"/>
            <a:ext cx="10491590" cy="622889"/>
            <a:chOff x="732033" y="6342304"/>
            <a:chExt cx="10491590" cy="622889"/>
          </a:xfrm>
        </p:grpSpPr>
        <p:sp>
          <p:nvSpPr>
            <p:cNvPr id="16" name="TextBox 15"/>
            <p:cNvSpPr txBox="1"/>
            <p:nvPr/>
          </p:nvSpPr>
          <p:spPr>
            <a:xfrm>
              <a:off x="732033" y="6405829"/>
              <a:ext cx="104915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The physical law for each particles MUST not be violated </a:t>
              </a:r>
              <a:r>
                <a:rPr lang="en-US" sz="2400" b="1" dirty="0"/>
                <a:t>⇒        </a:t>
              </a:r>
              <a:r>
                <a:rPr lang="en-US" sz="2400" b="1" dirty="0">
                  <a:solidFill>
                    <a:srgbClr val="FF0000"/>
                  </a:solidFill>
                </a:rPr>
                <a:t> is not arbitrary.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D9735A35-11D5-453F-AB2C-7477A74DD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25662" y="6342304"/>
              <a:ext cx="867595" cy="622889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16ACDB1-9EE5-4A06-A9C0-F9743FF6AD08}"/>
              </a:ext>
            </a:extLst>
          </p:cNvPr>
          <p:cNvGrpSpPr/>
          <p:nvPr/>
        </p:nvGrpSpPr>
        <p:grpSpPr>
          <a:xfrm>
            <a:off x="839046" y="4041328"/>
            <a:ext cx="6324466" cy="1418003"/>
            <a:chOff x="1965746" y="2492761"/>
            <a:chExt cx="6324466" cy="141800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FC229BA-7643-42D2-913C-ACFE4032A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94959" y="2492761"/>
              <a:ext cx="1595253" cy="141800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1772E3-BD97-4614-B266-B77913F726B9}"/>
                </a:ext>
              </a:extLst>
            </p:cNvPr>
            <p:cNvSpPr txBox="1"/>
            <p:nvPr/>
          </p:nvSpPr>
          <p:spPr>
            <a:xfrm>
              <a:off x="1965746" y="2898861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27D415-499F-4B93-B9ED-719AEF1E5C7B}"/>
              </a:ext>
            </a:extLst>
          </p:cNvPr>
          <p:cNvGrpSpPr/>
          <p:nvPr/>
        </p:nvGrpSpPr>
        <p:grpSpPr>
          <a:xfrm>
            <a:off x="9396769" y="2811925"/>
            <a:ext cx="2624180" cy="795766"/>
            <a:chOff x="9396769" y="2811925"/>
            <a:chExt cx="2624180" cy="79576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171D08C-DBD7-467A-9FD4-8DD979DFC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78004" y="2811925"/>
              <a:ext cx="712601" cy="51161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BA3499-5C81-4038-83C3-411309A55F90}"/>
                </a:ext>
              </a:extLst>
            </p:cNvPr>
            <p:cNvSpPr txBox="1"/>
            <p:nvPr/>
          </p:nvSpPr>
          <p:spPr>
            <a:xfrm>
              <a:off x="9396769" y="3238359"/>
              <a:ext cx="2624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Probability distribution?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92C0347-F2C7-4E12-A15C-A37B2C20CB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0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1028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CA89663-244C-4325-BC83-687CDF80C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1280160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DB4C35C3-9309-49D8-A1C0-7C77602F5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3053740" y="2852571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17755B68-384F-4FB6-9C25-3FFF983A5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4823684" y="2868068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E8A057B-1F63-4136-800E-CA5AE9CCE4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7914926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92E54764-763A-4F05-9945-456F29B71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9703048" y="285592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D9EEEA-3497-4076-A67B-29D6B858B6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8561" y="4964438"/>
            <a:ext cx="5128165" cy="54410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CBDE2FE-4377-4E1B-BDAC-9DE696D535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4503" y="5776027"/>
            <a:ext cx="8631936" cy="3323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545A78E-5FBC-4325-BAEF-23DAE71E94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9724" y="5030436"/>
            <a:ext cx="3659029" cy="534165"/>
          </a:xfrm>
          <a:prstGeom prst="rect">
            <a:avLst/>
          </a:prstGeom>
        </p:spPr>
      </p:pic>
      <p:sp>
        <p:nvSpPr>
          <p:cNvPr id="41" name="Equals 40">
            <a:extLst>
              <a:ext uri="{FF2B5EF4-FFF2-40B4-BE49-F238E27FC236}">
                <a16:creationId xmlns:a16="http://schemas.microsoft.com/office/drawing/2014/main" id="{D0BA15AC-D364-4C0D-B691-421DBB33F292}"/>
              </a:ext>
            </a:extLst>
          </p:cNvPr>
          <p:cNvSpPr/>
          <p:nvPr/>
        </p:nvSpPr>
        <p:spPr>
          <a:xfrm>
            <a:off x="5287947" y="5113302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60162D-EF97-4301-B47B-5390785A26A3}"/>
              </a:ext>
            </a:extLst>
          </p:cNvPr>
          <p:cNvGrpSpPr/>
          <p:nvPr/>
        </p:nvGrpSpPr>
        <p:grpSpPr>
          <a:xfrm>
            <a:off x="2929733" y="2680138"/>
            <a:ext cx="3983131" cy="1869466"/>
            <a:chOff x="2929733" y="2680138"/>
            <a:chExt cx="3983131" cy="18694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F183ABA-04B0-4CBE-A76B-E097BF24E23E}"/>
                </a:ext>
              </a:extLst>
            </p:cNvPr>
            <p:cNvSpPr/>
            <p:nvPr/>
          </p:nvSpPr>
          <p:spPr>
            <a:xfrm>
              <a:off x="2929733" y="2680138"/>
              <a:ext cx="3983131" cy="183253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758B4C1B-DE3B-4989-A530-C3299F1787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61626" b="-3382"/>
            <a:stretch/>
          </p:blipFill>
          <p:spPr>
            <a:xfrm>
              <a:off x="3407132" y="4075901"/>
              <a:ext cx="1236892" cy="473703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09C4A188-4EEE-468C-98FB-84972CD3A8B0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36439" t="17458"/>
          <a:stretch/>
        </p:blipFill>
        <p:spPr>
          <a:xfrm>
            <a:off x="4713350" y="4173207"/>
            <a:ext cx="2048732" cy="3782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7BE57C0-0DCE-47FE-8629-FCBB142B210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71129AA-DB9C-4B22-AC99-F1F139E3CB8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0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form of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6822" y="3338092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421" y="3916028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76765" y="3907987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573" y="5514870"/>
            <a:ext cx="2026626" cy="58547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974" y="5561338"/>
            <a:ext cx="6251393" cy="49253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074843" y="5471630"/>
            <a:ext cx="6398246" cy="6431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77533-2AAA-481A-B15E-DE3CCC5C117A}"/>
              </a:ext>
            </a:extLst>
          </p:cNvPr>
          <p:cNvSpPr txBox="1"/>
          <p:nvPr/>
        </p:nvSpPr>
        <p:spPr>
          <a:xfrm>
            <a:off x="9827394" y="4967465"/>
            <a:ext cx="215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Conserve quantities</a:t>
            </a:r>
            <a:endParaRPr lang="en-MY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C47AFA-E619-4FBF-9A4F-22CA8570FA56}"/>
              </a:ext>
            </a:extLst>
          </p:cNvPr>
          <p:cNvCxnSpPr/>
          <p:nvPr/>
        </p:nvCxnSpPr>
        <p:spPr>
          <a:xfrm flipH="1">
            <a:off x="10299032" y="5336797"/>
            <a:ext cx="96252" cy="224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9A82235-6DA0-4FE5-979F-2615C2702F42}"/>
              </a:ext>
            </a:extLst>
          </p:cNvPr>
          <p:cNvSpPr txBox="1"/>
          <p:nvPr/>
        </p:nvSpPr>
        <p:spPr>
          <a:xfrm>
            <a:off x="9258233" y="6331363"/>
            <a:ext cx="2705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N, V, total momentum, …</a:t>
            </a:r>
            <a:endParaRPr lang="en-MY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E4C41D-4BC8-41D5-9756-8686D16A454E}"/>
              </a:ext>
            </a:extLst>
          </p:cNvPr>
          <p:cNvGrpSpPr/>
          <p:nvPr/>
        </p:nvGrpSpPr>
        <p:grpSpPr>
          <a:xfrm>
            <a:off x="2539131" y="1861953"/>
            <a:ext cx="6768498" cy="1812698"/>
            <a:chOff x="1965746" y="2492761"/>
            <a:chExt cx="6768498" cy="181269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EBF7BCA-AD79-4E73-AFEE-BF7A32982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4959" y="2492761"/>
              <a:ext cx="2039285" cy="181269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808A727-5201-4370-9504-121061A151FB}"/>
                </a:ext>
              </a:extLst>
            </p:cNvPr>
            <p:cNvSpPr txBox="1"/>
            <p:nvPr/>
          </p:nvSpPr>
          <p:spPr>
            <a:xfrm>
              <a:off x="1965746" y="3129693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C624B06-D63D-4010-B436-1D6B544BAD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0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22285" y="1702275"/>
            <a:ext cx="3925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Microcanonical ensemble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24" y="3423158"/>
            <a:ext cx="3004463" cy="4905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780422" y="2353597"/>
            <a:ext cx="1499616" cy="1589468"/>
            <a:chOff x="1719072" y="2580196"/>
            <a:chExt cx="1499616" cy="1589468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8045" y="2641865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58868" y="3410433"/>
              <a:ext cx="1251551" cy="25652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models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6416" y="2543280"/>
            <a:ext cx="3904936" cy="6865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0026" y="2334450"/>
            <a:ext cx="1426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Conserve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D27659-FC1C-40BF-9D73-658E2C037F32}"/>
              </a:ext>
            </a:extLst>
          </p:cNvPr>
          <p:cNvGrpSpPr/>
          <p:nvPr/>
        </p:nvGrpSpPr>
        <p:grpSpPr>
          <a:xfrm>
            <a:off x="323381" y="4241309"/>
            <a:ext cx="5524308" cy="2617506"/>
            <a:chOff x="323381" y="4241309"/>
            <a:chExt cx="5524308" cy="2617506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DB90B6A-DBA5-445D-B059-E4EC2E638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1630" y="4823088"/>
              <a:ext cx="2834185" cy="1995905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0D1D9D4-DB58-4963-8CC6-3A125C1BD105}"/>
                </a:ext>
              </a:extLst>
            </p:cNvPr>
            <p:cNvSpPr txBox="1"/>
            <p:nvPr/>
          </p:nvSpPr>
          <p:spPr>
            <a:xfrm>
              <a:off x="323381" y="4241309"/>
              <a:ext cx="31268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Canonical ensemble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2B155E8-9D9A-497D-93CD-3AE74BCA06CF}"/>
                </a:ext>
              </a:extLst>
            </p:cNvPr>
            <p:cNvGrpSpPr/>
            <p:nvPr/>
          </p:nvGrpSpPr>
          <p:grpSpPr>
            <a:xfrm>
              <a:off x="2266771" y="4842735"/>
              <a:ext cx="1539302" cy="774348"/>
              <a:chOff x="2848295" y="4589372"/>
              <a:chExt cx="1539302" cy="774348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56269646-4C05-4637-9F01-1B0DCE6EC1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8295" y="5075148"/>
                <a:ext cx="311658" cy="288572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35CA3B-59DF-4C03-828F-F6EE330E3FC4}"/>
                  </a:ext>
                </a:extLst>
              </p:cNvPr>
              <p:cNvSpPr txBox="1"/>
              <p:nvPr/>
            </p:nvSpPr>
            <p:spPr>
              <a:xfrm>
                <a:off x="3159953" y="4589372"/>
                <a:ext cx="12276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Fluctuate</a:t>
                </a:r>
                <a:endParaRPr lang="en-MY" sz="2000" dirty="0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0711C1BB-CF5B-4BE3-83F2-C2E86561BE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59953" y="4934124"/>
                <a:ext cx="372519" cy="2055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56B5DD3-E657-409A-B85A-2C27F2550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81018" y="4894067"/>
              <a:ext cx="2566671" cy="942196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E621632-92EA-4B70-815A-4AA35B26F0D2}"/>
                </a:ext>
              </a:extLst>
            </p:cNvPr>
            <p:cNvGrpSpPr/>
            <p:nvPr/>
          </p:nvGrpSpPr>
          <p:grpSpPr>
            <a:xfrm>
              <a:off x="3346161" y="5769860"/>
              <a:ext cx="2465891" cy="1088955"/>
              <a:chOff x="8292901" y="5866320"/>
              <a:chExt cx="2465891" cy="108895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5D8AB1CE-57B3-472E-ABFC-ECDB77D54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92901" y="6055950"/>
                <a:ext cx="2465891" cy="899325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8654D8-3D02-4CBD-8F80-2F20C5A4F6DE}"/>
                  </a:ext>
                </a:extLst>
              </p:cNvPr>
              <p:cNvSpPr txBox="1"/>
              <p:nvPr/>
            </p:nvSpPr>
            <p:spPr>
              <a:xfrm>
                <a:off x="8292901" y="5866320"/>
                <a:ext cx="1974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Partition function</a:t>
                </a:r>
              </a:p>
            </p:txBody>
          </p:sp>
        </p:grp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2DC0E490-EF0B-47C2-A02C-20BF708193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3009" y="3480004"/>
            <a:ext cx="803780" cy="51352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3AF506F-FCE2-41E8-8BA8-2A9FBED302A2}"/>
              </a:ext>
            </a:extLst>
          </p:cNvPr>
          <p:cNvGrpSpPr/>
          <p:nvPr/>
        </p:nvGrpSpPr>
        <p:grpSpPr>
          <a:xfrm>
            <a:off x="6538348" y="1854892"/>
            <a:ext cx="5506432" cy="2324218"/>
            <a:chOff x="6538348" y="1854892"/>
            <a:chExt cx="5506432" cy="2324218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A2ED609-CAAE-473C-B68F-26458086E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38348" y="2322690"/>
              <a:ext cx="2398489" cy="153796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BE2DE1-E268-42E4-B93F-04E16F3BF1E8}"/>
                </a:ext>
              </a:extLst>
            </p:cNvPr>
            <p:cNvSpPr txBox="1"/>
            <p:nvPr/>
          </p:nvSpPr>
          <p:spPr>
            <a:xfrm>
              <a:off x="6680294" y="1854892"/>
              <a:ext cx="40407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Gibbs Canonical ensemble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B747E92-7645-43A8-87BD-EE93A52B4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798058" y="3582639"/>
              <a:ext cx="2546471" cy="59647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62F0BFD-7CD8-4A7A-B576-DD873AB18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700687" y="3238344"/>
              <a:ext cx="2340281" cy="374445"/>
            </a:xfrm>
            <a:prstGeom prst="rect">
              <a:avLst/>
            </a:prstGeom>
          </p:spPr>
        </p:pic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37F1F20-2608-412D-8A6B-F212EB43F9D0}"/>
                </a:ext>
              </a:extLst>
            </p:cNvPr>
            <p:cNvGrpSpPr/>
            <p:nvPr/>
          </p:nvGrpSpPr>
          <p:grpSpPr>
            <a:xfrm>
              <a:off x="8485730" y="2357575"/>
              <a:ext cx="3559050" cy="732256"/>
              <a:chOff x="8615112" y="2309623"/>
              <a:chExt cx="3559050" cy="732256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44AE8646-6D1D-4018-A06C-CFA2E128A3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t="1" r="75333" b="-35526"/>
              <a:stretch/>
            </p:blipFill>
            <p:spPr>
              <a:xfrm>
                <a:off x="8615112" y="2489815"/>
                <a:ext cx="1150546" cy="461665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A77FE080-F8D1-4DBB-8C06-09567A3BA5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l="23849" t="-9922" r="24729" b="-12280"/>
              <a:stretch/>
            </p:blipFill>
            <p:spPr>
              <a:xfrm>
                <a:off x="9775673" y="2309623"/>
                <a:ext cx="2398489" cy="416275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A54F856C-EC98-40A8-84E9-5D80D378BD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l="78319" t="-32339" r="-820" b="-2015"/>
              <a:stretch/>
            </p:blipFill>
            <p:spPr>
              <a:xfrm>
                <a:off x="10675388" y="2584211"/>
                <a:ext cx="1049517" cy="457668"/>
              </a:xfrm>
              <a:prstGeom prst="rect">
                <a:avLst/>
              </a:prstGeom>
            </p:spPr>
          </p:pic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E6C7CA0-B25A-46B2-97A8-7C5AC5B896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75673" y="2614011"/>
                <a:ext cx="23984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0420666-8C15-4943-A637-09E8C90C3B9B}"/>
              </a:ext>
            </a:extLst>
          </p:cNvPr>
          <p:cNvGrpSpPr/>
          <p:nvPr/>
        </p:nvGrpSpPr>
        <p:grpSpPr>
          <a:xfrm>
            <a:off x="5761817" y="4192834"/>
            <a:ext cx="6218655" cy="2474679"/>
            <a:chOff x="5761817" y="4192834"/>
            <a:chExt cx="6218655" cy="2474679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0B74EE1-8E35-4977-B120-AF15FA4CE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99610" y="4716239"/>
              <a:ext cx="2655342" cy="1951274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653AFEF-BF01-4ED1-8374-D977452D991E}"/>
                </a:ext>
              </a:extLst>
            </p:cNvPr>
            <p:cNvGrpSpPr/>
            <p:nvPr/>
          </p:nvGrpSpPr>
          <p:grpSpPr>
            <a:xfrm>
              <a:off x="8583812" y="5769860"/>
              <a:ext cx="3396660" cy="876478"/>
              <a:chOff x="3969323" y="4684043"/>
              <a:chExt cx="3396660" cy="876478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D9AD4A5F-7A1C-4FDE-9A31-10565BD72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98568" y="4910645"/>
                <a:ext cx="3067415" cy="649876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1B98A31-DA84-446A-9A48-B990D5321DCC}"/>
                  </a:ext>
                </a:extLst>
              </p:cNvPr>
              <p:cNvSpPr txBox="1"/>
              <p:nvPr/>
            </p:nvSpPr>
            <p:spPr>
              <a:xfrm>
                <a:off x="3969323" y="4684043"/>
                <a:ext cx="2655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Grand Partition function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2D19A14-1FB8-4C76-BA0E-389FB9C4AC2B}"/>
                </a:ext>
              </a:extLst>
            </p:cNvPr>
            <p:cNvSpPr txBox="1"/>
            <p:nvPr/>
          </p:nvSpPr>
          <p:spPr>
            <a:xfrm>
              <a:off x="5761817" y="4192834"/>
              <a:ext cx="41090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Grand Canonical ensemble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41E9935-244E-440E-9BC3-5C0A073A0400}"/>
                </a:ext>
              </a:extLst>
            </p:cNvPr>
            <p:cNvGrpSpPr/>
            <p:nvPr/>
          </p:nvGrpSpPr>
          <p:grpSpPr>
            <a:xfrm>
              <a:off x="8605113" y="4665923"/>
              <a:ext cx="3288503" cy="1011084"/>
              <a:chOff x="8903497" y="4665923"/>
              <a:chExt cx="3288503" cy="1011084"/>
            </a:xfrm>
          </p:grpSpPr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2EE60B8-8EA1-4F4A-A940-EF524687C1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/>
              <a:srcRect r="76349"/>
              <a:stretch/>
            </p:blipFill>
            <p:spPr>
              <a:xfrm>
                <a:off x="8903497" y="4909061"/>
                <a:ext cx="833421" cy="418924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A61A845F-4824-4ECA-BC46-8250A28E28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/>
              <a:srcRect l="23680" t="-7266" r="8257" b="16681"/>
              <a:stretch/>
            </p:blipFill>
            <p:spPr>
              <a:xfrm>
                <a:off x="9736918" y="4665923"/>
                <a:ext cx="2398489" cy="379482"/>
              </a:xfrm>
              <a:prstGeom prst="rect">
                <a:avLst/>
              </a:prstGeom>
            </p:spPr>
          </p:pic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C9CAB243-8372-4DFA-87BC-AF9E94C25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93511" y="5064162"/>
                <a:ext cx="23984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A51C8AC8-BE49-433B-8BCE-D91DA68385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/>
              <a:srcRect r="65785" b="8218"/>
              <a:stretch/>
            </p:blipFill>
            <p:spPr>
              <a:xfrm>
                <a:off x="10563639" y="5080536"/>
                <a:ext cx="1049518" cy="596471"/>
              </a:xfrm>
              <a:prstGeom prst="rect">
                <a:avLst/>
              </a:prstGeom>
            </p:spPr>
          </p:pic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E4FD23FF-4366-4DB0-8425-B06E225840F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1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ensemble models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62" y="2009000"/>
            <a:ext cx="7958918" cy="20919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1C48E0D-A597-426D-BCEF-B080EA81D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265" y="5888604"/>
            <a:ext cx="1701709" cy="7022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9D82A9-3748-48EC-AFC0-584C4189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170" y="3929102"/>
            <a:ext cx="1832059" cy="3221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10E5ED-A865-457B-8688-5F65A0705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064" y="5529339"/>
            <a:ext cx="1832059" cy="32184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B48F69-4177-49A4-966C-939400259E71}"/>
              </a:ext>
            </a:extLst>
          </p:cNvPr>
          <p:cNvGrpSpPr/>
          <p:nvPr/>
        </p:nvGrpSpPr>
        <p:grpSpPr>
          <a:xfrm>
            <a:off x="2961205" y="5968691"/>
            <a:ext cx="1459988" cy="738294"/>
            <a:chOff x="8580652" y="3243080"/>
            <a:chExt cx="1459988" cy="73829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5A29724-2451-499D-955E-3BB05FAC5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86475"/>
            <a:stretch/>
          </p:blipFill>
          <p:spPr>
            <a:xfrm>
              <a:off x="8580652" y="3243081"/>
              <a:ext cx="729994" cy="73829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B56EE30-CC54-43D4-BCBA-3ADC0C7367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6475"/>
            <a:stretch/>
          </p:blipFill>
          <p:spPr>
            <a:xfrm>
              <a:off x="9310646" y="3243080"/>
              <a:ext cx="729994" cy="73829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85D330-62F2-42D4-8398-102ED45DFE79}"/>
              </a:ext>
            </a:extLst>
          </p:cNvPr>
          <p:cNvSpPr txBox="1"/>
          <p:nvPr/>
        </p:nvSpPr>
        <p:spPr>
          <a:xfrm>
            <a:off x="413886" y="39585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167FAFE-D2B4-4616-A65C-47D836EBA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6413" y="3910825"/>
            <a:ext cx="788621" cy="49069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6F2EBCB-795F-48B7-855F-9548A8122B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71916" y="3999506"/>
            <a:ext cx="2231603" cy="38810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6F90A3-E3BB-43E9-B1F1-A12EC899F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0694" y="4434201"/>
            <a:ext cx="2323673" cy="41707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193AE23-BD58-49AD-BAC3-508A5D46B61E}"/>
              </a:ext>
            </a:extLst>
          </p:cNvPr>
          <p:cNvSpPr txBox="1"/>
          <p:nvPr/>
        </p:nvSpPr>
        <p:spPr>
          <a:xfrm>
            <a:off x="420528" y="4431203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3E4E4AEB-1558-464D-8D5D-DA424D8A2D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06957" y="4431203"/>
            <a:ext cx="1076476" cy="4784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B542344-ABDC-4A1B-8163-FE4EEA9526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9030" y="4383354"/>
            <a:ext cx="2531407" cy="536315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311A117-776A-404C-B1E6-1BF549661620}"/>
              </a:ext>
            </a:extLst>
          </p:cNvPr>
          <p:cNvGrpSpPr/>
          <p:nvPr/>
        </p:nvGrpSpPr>
        <p:grpSpPr>
          <a:xfrm>
            <a:off x="8443741" y="5394650"/>
            <a:ext cx="2775974" cy="828915"/>
            <a:chOff x="7779806" y="5487521"/>
            <a:chExt cx="2775974" cy="828915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8D80917-F0D2-40CF-A6FC-3DEF57DD7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43700" y="6092343"/>
              <a:ext cx="1701709" cy="2240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209DC4-69FE-40E7-9B61-B18119C79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r="32626"/>
            <a:stretch/>
          </p:blipFill>
          <p:spPr>
            <a:xfrm>
              <a:off x="7779806" y="5487521"/>
              <a:ext cx="2775974" cy="494432"/>
            </a:xfrm>
            <a:prstGeom prst="rect">
              <a:avLst/>
            </a:prstGeom>
          </p:spPr>
        </p:pic>
      </p:grpSp>
      <p:pic>
        <p:nvPicPr>
          <p:cNvPr id="54" name="Graphic 53">
            <a:extLst>
              <a:ext uri="{FF2B5EF4-FFF2-40B4-BE49-F238E27FC236}">
                <a16:creationId xmlns:a16="http://schemas.microsoft.com/office/drawing/2014/main" id="{28780D82-5464-41EF-8C11-8481A6D0D4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64504" y="6189694"/>
            <a:ext cx="1401030" cy="708386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1F5ADAA-735A-4779-97DF-9169B3166B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934780" y="5532577"/>
            <a:ext cx="1511875" cy="41706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9F944D7-58B3-4563-A388-0C74D4C085BD}"/>
              </a:ext>
            </a:extLst>
          </p:cNvPr>
          <p:cNvSpPr txBox="1"/>
          <p:nvPr/>
        </p:nvSpPr>
        <p:spPr>
          <a:xfrm>
            <a:off x="3209899" y="5199334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Canonical</a:t>
            </a:r>
            <a:endParaRPr lang="en-MY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401B50-5246-45DD-8DB9-545680EEF188}"/>
              </a:ext>
            </a:extLst>
          </p:cNvPr>
          <p:cNvSpPr txBox="1"/>
          <p:nvPr/>
        </p:nvSpPr>
        <p:spPr>
          <a:xfrm>
            <a:off x="5719064" y="51073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2EFA9F-4B38-47B2-93EC-8A784FE3151D}"/>
              </a:ext>
            </a:extLst>
          </p:cNvPr>
          <p:cNvSpPr txBox="1"/>
          <p:nvPr/>
        </p:nvSpPr>
        <p:spPr>
          <a:xfrm>
            <a:off x="8452471" y="5051801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DB79F3-1345-48A9-9822-10FB17013B66}"/>
              </a:ext>
            </a:extLst>
          </p:cNvPr>
          <p:cNvSpPr txBox="1"/>
          <p:nvPr/>
        </p:nvSpPr>
        <p:spPr>
          <a:xfrm>
            <a:off x="171682" y="4851271"/>
            <a:ext cx="369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Connection to thermodynamics:</a:t>
            </a:r>
            <a:endParaRPr lang="en-MY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D46C30-62DC-46F6-813F-AC4B4F4F595F}"/>
              </a:ext>
            </a:extLst>
          </p:cNvPr>
          <p:cNvSpPr txBox="1"/>
          <p:nvPr/>
        </p:nvSpPr>
        <p:spPr>
          <a:xfrm>
            <a:off x="231017" y="5172408"/>
            <a:ext cx="173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Microcanonical</a:t>
            </a:r>
            <a:endParaRPr lang="en-MY" dirty="0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CDDE88A7-6762-4566-B88E-5ED1AAE9DB1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2510" y="5666080"/>
            <a:ext cx="1017085" cy="694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A3F79AB-562D-4429-8616-E9ADF1F5837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0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6395-29FB-4274-AE0F-9BBCB925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Connection to Thermodynamics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34AC5-366E-4E22-B290-5FBEB655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172" y="2231564"/>
            <a:ext cx="7010846" cy="2951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610057-BDDB-4168-96D6-B0D03E955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25" y="2948463"/>
            <a:ext cx="1832059" cy="321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5D6840-53DE-44A8-A8C8-82A3906394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2626"/>
          <a:stretch/>
        </p:blipFill>
        <p:spPr>
          <a:xfrm>
            <a:off x="434477" y="3440430"/>
            <a:ext cx="2775974" cy="49443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2397095-8C6D-46E6-95B3-B6CC5E6E9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980" y="2316104"/>
            <a:ext cx="1511875" cy="4170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7ECA58-D25B-4226-A98C-5B18A84A8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747" y="4442267"/>
            <a:ext cx="1625334" cy="5959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724081-E582-43E7-AAFD-8CB7307735AA}"/>
              </a:ext>
            </a:extLst>
          </p:cNvPr>
          <p:cNvSpPr txBox="1"/>
          <p:nvPr/>
        </p:nvSpPr>
        <p:spPr>
          <a:xfrm>
            <a:off x="182880" y="4186897"/>
            <a:ext cx="115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First Law: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DA640E9-FA0F-4BDB-8FF9-F06246ABBA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71939" y="4442267"/>
            <a:ext cx="1247286" cy="44902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E0E1B71-D0B8-4D8E-B989-1CB93BFEB0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07779" y="2231564"/>
            <a:ext cx="635117" cy="43550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D3676B8-7678-4217-B747-E493AF76F8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589" y="5337009"/>
            <a:ext cx="2590355" cy="41723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ADC58D3-A4D0-4194-8C8E-9E8F3D3BAA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0185" y="5719835"/>
            <a:ext cx="1890659" cy="47708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4DDD98-2A43-438C-9817-4A1616CD8D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89017" y="5399901"/>
            <a:ext cx="4170041" cy="47708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E543E1-DF5B-4256-9957-093099CA74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2665" y="6196917"/>
            <a:ext cx="1303314" cy="42932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BF28AB5-E639-4BFF-B39B-B0C62D5206F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14372" y="6076918"/>
            <a:ext cx="2221687" cy="6680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71FB41E-2147-4A1B-9828-6B10B56C00EA}"/>
              </a:ext>
            </a:extLst>
          </p:cNvPr>
          <p:cNvSpPr txBox="1"/>
          <p:nvPr/>
        </p:nvSpPr>
        <p:spPr>
          <a:xfrm>
            <a:off x="9625337" y="5505990"/>
            <a:ext cx="1842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Sign convention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25CD0DB1-0974-4B4B-9CA4-742645276C5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65302" y="5873044"/>
            <a:ext cx="1762626" cy="45760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56F1A2-B008-4529-AFC2-051BBA343A66}"/>
              </a:ext>
            </a:extLst>
          </p:cNvPr>
          <p:cNvSpPr txBox="1"/>
          <p:nvPr/>
        </p:nvSpPr>
        <p:spPr>
          <a:xfrm>
            <a:off x="9942896" y="6306233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(Clausius)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0F27CF-EDF9-4F55-A0E5-00300C1E546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55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5146" y="2864477"/>
            <a:ext cx="99417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derive the laws of thermodynamics from statistical ensemble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Ideal gas (non-interaction), 2-level system, different ensemble models give the same thermodynamics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Gibbs paradox: correction factor for identical particles.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Virial theorem: Generalized equipartition of energy.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Interaction and phase transition: van der Waal gas and </a:t>
            </a:r>
            <a:r>
              <a:rPr lang="en-US" sz="2400" dirty="0" err="1"/>
              <a:t>Ising</a:t>
            </a:r>
            <a:r>
              <a:rPr lang="en-US" sz="2400" dirty="0"/>
              <a:t>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Mean-field method and Landau Free energy.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DDAE0-FB5A-4B16-A8DA-C4EBD2E7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0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formalism in quantum system.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59643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F364-E66F-4D90-8496-04D690E2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74706"/>
            <a:ext cx="9720072" cy="1499616"/>
          </a:xfrm>
        </p:spPr>
        <p:txBody>
          <a:bodyPr/>
          <a:lstStyle/>
          <a:p>
            <a:r>
              <a:rPr lang="en-MY" dirty="0"/>
              <a:t>Quantum regime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288C17-F108-4CCB-A597-50C7BC7B9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3852" y="2858810"/>
            <a:ext cx="1016875" cy="91095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61C70A9-4BCC-4689-8709-767AD45E0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897" y="2952690"/>
            <a:ext cx="1597160" cy="8077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41C2D1-3152-44D2-AA9F-954C0D3C7D9E}"/>
              </a:ext>
            </a:extLst>
          </p:cNvPr>
          <p:cNvSpPr txBox="1"/>
          <p:nvPr/>
        </p:nvSpPr>
        <p:spPr>
          <a:xfrm>
            <a:off x="492897" y="2480166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Statistical mechanics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9EE1B-79E9-403B-BA02-ABC5F4761ECE}"/>
              </a:ext>
            </a:extLst>
          </p:cNvPr>
          <p:cNvSpPr txBox="1"/>
          <p:nvPr/>
        </p:nvSpPr>
        <p:spPr>
          <a:xfrm>
            <a:off x="2995338" y="2489478"/>
            <a:ext cx="227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mechanics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689E37E-7C9C-4DE5-89B9-F9ABECCF6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70" y="2603129"/>
            <a:ext cx="1937522" cy="10268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8CCABB4-674D-4F16-A726-FD626DCF3E15}"/>
              </a:ext>
            </a:extLst>
          </p:cNvPr>
          <p:cNvGrpSpPr/>
          <p:nvPr/>
        </p:nvGrpSpPr>
        <p:grpSpPr>
          <a:xfrm>
            <a:off x="4430727" y="4334125"/>
            <a:ext cx="2442528" cy="1206073"/>
            <a:chOff x="4430727" y="4334125"/>
            <a:chExt cx="2442528" cy="1206073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1FC9EA7-8918-4B82-B99B-F6D4BD244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74908" y="4629247"/>
              <a:ext cx="1377019" cy="91095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88D813-465F-4413-A62E-ACCB10918D2E}"/>
                </a:ext>
              </a:extLst>
            </p:cNvPr>
            <p:cNvSpPr txBox="1"/>
            <p:nvPr/>
          </p:nvSpPr>
          <p:spPr>
            <a:xfrm>
              <a:off x="4430727" y="4334125"/>
              <a:ext cx="2442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Inter-particle distance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F8298BC-8B24-4E67-BEAD-20335E532797}"/>
              </a:ext>
            </a:extLst>
          </p:cNvPr>
          <p:cNvGrpSpPr/>
          <p:nvPr/>
        </p:nvGrpSpPr>
        <p:grpSpPr>
          <a:xfrm>
            <a:off x="656225" y="4357042"/>
            <a:ext cx="3623043" cy="941812"/>
            <a:chOff x="656225" y="4357042"/>
            <a:chExt cx="3623043" cy="941812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B4E63F4-456C-438E-93B1-682CE24B6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54369" y="4777806"/>
              <a:ext cx="907010" cy="52104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056327D-A110-4B3B-82CC-8A2348F30EF5}"/>
                </a:ext>
              </a:extLst>
            </p:cNvPr>
            <p:cNvSpPr txBox="1"/>
            <p:nvPr/>
          </p:nvSpPr>
          <p:spPr>
            <a:xfrm>
              <a:off x="656225" y="4357042"/>
              <a:ext cx="362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Condition for quantum statistic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87E5BC-E4F5-43E4-BF89-E5BAEF660BCA}"/>
              </a:ext>
            </a:extLst>
          </p:cNvPr>
          <p:cNvGrpSpPr/>
          <p:nvPr/>
        </p:nvGrpSpPr>
        <p:grpSpPr>
          <a:xfrm>
            <a:off x="1761896" y="5647626"/>
            <a:ext cx="9037602" cy="1196467"/>
            <a:chOff x="1761896" y="5647626"/>
            <a:chExt cx="9037602" cy="1196467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66E6C09-06AA-43C3-A1A1-D9DA7D225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85454" y="5647626"/>
              <a:ext cx="2250577" cy="82713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2522F-EB3A-41E6-BE0A-93726770AC00}"/>
                </a:ext>
              </a:extLst>
            </p:cNvPr>
            <p:cNvSpPr txBox="1"/>
            <p:nvPr/>
          </p:nvSpPr>
          <p:spPr>
            <a:xfrm>
              <a:off x="1761896" y="6474761"/>
              <a:ext cx="9037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 statistical mechanics breakdown in very low temperature or high-density system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013DE9-8CDC-4469-B42D-643078FAE61D}"/>
              </a:ext>
            </a:extLst>
          </p:cNvPr>
          <p:cNvSpPr txBox="1"/>
          <p:nvPr/>
        </p:nvSpPr>
        <p:spPr>
          <a:xfrm>
            <a:off x="6280697" y="3751176"/>
            <a:ext cx="529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average de Broglie wave length of each particles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F9F2B7-F2AC-4995-857E-EE7C7E6684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2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28D8-DF5E-44AF-97C8-CB6CDD31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Classical vs Quantum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0A3A68-0CDF-4B5F-AFFC-7533437272D2}"/>
              </a:ext>
            </a:extLst>
          </p:cNvPr>
          <p:cNvGrpSpPr/>
          <p:nvPr/>
        </p:nvGrpSpPr>
        <p:grpSpPr>
          <a:xfrm>
            <a:off x="119374" y="2084832"/>
            <a:ext cx="4077911" cy="1900546"/>
            <a:chOff x="781839" y="2814712"/>
            <a:chExt cx="4077911" cy="19005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25BB4E-02C3-41F5-9C75-1418F8AF7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2454" y="3297255"/>
              <a:ext cx="1595253" cy="14180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B3B394-EB12-4351-AB42-F6DB614C0C60}"/>
                </a:ext>
              </a:extLst>
            </p:cNvPr>
            <p:cNvSpPr txBox="1"/>
            <p:nvPr/>
          </p:nvSpPr>
          <p:spPr>
            <a:xfrm>
              <a:off x="781839" y="2814712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84E5C31-43F7-4EDB-BB7A-8465B0124166}"/>
              </a:ext>
            </a:extLst>
          </p:cNvPr>
          <p:cNvGrpSpPr/>
          <p:nvPr/>
        </p:nvGrpSpPr>
        <p:grpSpPr>
          <a:xfrm>
            <a:off x="5785701" y="1760274"/>
            <a:ext cx="3387176" cy="2513344"/>
            <a:chOff x="7454138" y="1880092"/>
            <a:chExt cx="4449103" cy="343576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51086BB-7937-4654-A6B7-9F7AD48CE747}"/>
                </a:ext>
              </a:extLst>
            </p:cNvPr>
            <p:cNvGrpSpPr/>
            <p:nvPr/>
          </p:nvGrpSpPr>
          <p:grpSpPr>
            <a:xfrm>
              <a:off x="7454138" y="1880092"/>
              <a:ext cx="4449103" cy="3435767"/>
              <a:chOff x="7454138" y="1880092"/>
              <a:chExt cx="4449103" cy="343576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4942760-16C2-4C56-8B57-16D250FC8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724" y="2041344"/>
                <a:ext cx="3332988" cy="3274515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5BC5C3-5804-4BEB-8834-B4788F8F8058}"/>
                  </a:ext>
                </a:extLst>
              </p:cNvPr>
              <p:cNvSpPr txBox="1"/>
              <p:nvPr/>
            </p:nvSpPr>
            <p:spPr>
              <a:xfrm>
                <a:off x="7454138" y="1880092"/>
                <a:ext cx="4449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Phase space</a:t>
                </a:r>
                <a:r>
                  <a:rPr lang="en-US" dirty="0"/>
                  <a:t>: collection of all available states</a:t>
                </a: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C8AC5A-8160-4E11-B5B2-FD01CB9B9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7696" y="4498848"/>
              <a:ext cx="1761488" cy="21717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AD2046C-3388-491E-A70A-B4FAFB683213}"/>
              </a:ext>
            </a:extLst>
          </p:cNvPr>
          <p:cNvSpPr txBox="1"/>
          <p:nvPr/>
        </p:nvSpPr>
        <p:spPr>
          <a:xfrm>
            <a:off x="8775133" y="2547859"/>
            <a:ext cx="338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point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 huge space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A54DCB-01B9-4C13-9309-4075528331D9}"/>
              </a:ext>
            </a:extLst>
          </p:cNvPr>
          <p:cNvGrpSpPr/>
          <p:nvPr/>
        </p:nvGrpSpPr>
        <p:grpSpPr>
          <a:xfrm>
            <a:off x="203288" y="4442047"/>
            <a:ext cx="3289601" cy="1513103"/>
            <a:chOff x="203288" y="4442047"/>
            <a:chExt cx="3289601" cy="151310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F4707D-DE0E-49FB-8547-5F7FA058227A}"/>
                </a:ext>
              </a:extLst>
            </p:cNvPr>
            <p:cNvSpPr txBox="1"/>
            <p:nvPr/>
          </p:nvSpPr>
          <p:spPr>
            <a:xfrm>
              <a:off x="203288" y="4442047"/>
              <a:ext cx="32896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Schrodinger equation:</a:t>
              </a:r>
              <a:endParaRPr lang="en-MY" sz="2400" dirty="0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46BD0E1-0EED-4946-87C5-11CBE7478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9467" y="5134545"/>
              <a:ext cx="2767157" cy="82060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39AE1E-2325-48A3-95CC-D471A8F28DDD}"/>
              </a:ext>
            </a:extLst>
          </p:cNvPr>
          <p:cNvGrpSpPr/>
          <p:nvPr/>
        </p:nvGrpSpPr>
        <p:grpSpPr>
          <a:xfrm>
            <a:off x="5626515" y="4487432"/>
            <a:ext cx="5515164" cy="2221377"/>
            <a:chOff x="5626515" y="4487432"/>
            <a:chExt cx="5515164" cy="22213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086FA9-F5AF-4FD8-8171-B71FFD8ED6D5}"/>
                </a:ext>
              </a:extLst>
            </p:cNvPr>
            <p:cNvSpPr txBox="1"/>
            <p:nvPr/>
          </p:nvSpPr>
          <p:spPr>
            <a:xfrm>
              <a:off x="5626515" y="4487432"/>
              <a:ext cx="5515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Hilbert space</a:t>
              </a:r>
              <a:r>
                <a:rPr lang="en-US" dirty="0"/>
                <a:t> (n-dimensional complex vector space):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4FE4119-3835-41E5-99C7-DB303B0B118D}"/>
                </a:ext>
              </a:extLst>
            </p:cNvPr>
            <p:cNvGrpSpPr/>
            <p:nvPr/>
          </p:nvGrpSpPr>
          <p:grpSpPr>
            <a:xfrm>
              <a:off x="6699183" y="4995512"/>
              <a:ext cx="1915428" cy="1713297"/>
              <a:chOff x="6699183" y="4995512"/>
              <a:chExt cx="1915428" cy="1713297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2FCA3B9-A992-450C-9FE7-B40636B967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9322" y="4995512"/>
                <a:ext cx="0" cy="11923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1DB4B2D-837B-4532-948E-6B016A110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9322" y="6189295"/>
                <a:ext cx="140528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4F3851A5-04CF-4D47-99EB-116D19C0FD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99183" y="6179420"/>
                <a:ext cx="510139" cy="52938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B93A6B40-A845-47EA-AAAF-DFFF39107A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9322" y="5544847"/>
                <a:ext cx="778845" cy="6430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5" name="Graphic 34">
                <a:extLst>
                  <a:ext uri="{FF2B5EF4-FFF2-40B4-BE49-F238E27FC236}">
                    <a16:creationId xmlns:a16="http://schemas.microsoft.com/office/drawing/2014/main" id="{1772F782-D67B-4189-9633-D5229B0E4C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45427" y="5266242"/>
                <a:ext cx="557667" cy="503699"/>
              </a:xfrm>
              <a:prstGeom prst="rect">
                <a:avLst/>
              </a:prstGeom>
            </p:spPr>
          </p:pic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6786EB8-BDB4-40F7-BB2D-EE7DBD20D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4302" y="5556592"/>
                <a:ext cx="0" cy="95379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6CAECF8-A17F-4C24-90BA-926328446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1962" y="6529339"/>
                <a:ext cx="1027330" cy="1955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1B4F2F4-7F77-4896-986F-2D0E58AD5D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07589" y="6179420"/>
                <a:ext cx="294298" cy="36947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E4AFA4BC-B083-48FD-8E30-B9AF80DD99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177" y="3510333"/>
            <a:ext cx="3529462" cy="621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8FE68B-6871-47F5-A38F-D3753F927D05}"/>
              </a:ext>
            </a:extLst>
          </p:cNvPr>
          <p:cNvSpPr txBox="1"/>
          <p:nvPr/>
        </p:nvSpPr>
        <p:spPr>
          <a:xfrm>
            <a:off x="4284833" y="4829142"/>
            <a:ext cx="3262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 is the number of the Hamiltonian eigenstates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81728A-FE31-43E3-8E2E-3E941D9F1709}"/>
              </a:ext>
            </a:extLst>
          </p:cNvPr>
          <p:cNvSpPr txBox="1"/>
          <p:nvPr/>
        </p:nvSpPr>
        <p:spPr>
          <a:xfrm>
            <a:off x="8798668" y="5070230"/>
            <a:ext cx="3529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wavefunction (vector)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 can be infinity.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430A19-6DEC-4822-88EC-C9F7E075BB1C}"/>
              </a:ext>
            </a:extLst>
          </p:cNvPr>
          <p:cNvGrpSpPr/>
          <p:nvPr/>
        </p:nvGrpSpPr>
        <p:grpSpPr>
          <a:xfrm>
            <a:off x="566764" y="5940415"/>
            <a:ext cx="6394073" cy="701634"/>
            <a:chOff x="8772568" y="5966003"/>
            <a:chExt cx="6394073" cy="70163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7E3F1BA-607E-4126-8CB8-60E02159B741}"/>
                </a:ext>
              </a:extLst>
            </p:cNvPr>
            <p:cNvSpPr txBox="1"/>
            <p:nvPr/>
          </p:nvSpPr>
          <p:spPr>
            <a:xfrm>
              <a:off x="8772568" y="6021306"/>
              <a:ext cx="63940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/>
                <a:t>How to model the quantum microstates         statistically that is compatible with quantum mechanics?</a:t>
              </a: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3C0B6CC-5E99-4997-A65A-AE56A69CF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097131" y="5966003"/>
              <a:ext cx="557667" cy="503699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DB250151-68E8-4096-AB39-D744402175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1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CC7637F-1AEB-4AB8-A4A2-6606AC0D1167}"/>
              </a:ext>
            </a:extLst>
          </p:cNvPr>
          <p:cNvGrpSpPr/>
          <p:nvPr/>
        </p:nvGrpSpPr>
        <p:grpSpPr>
          <a:xfrm>
            <a:off x="721443" y="3004883"/>
            <a:ext cx="5153744" cy="1415132"/>
            <a:chOff x="721443" y="3004883"/>
            <a:chExt cx="5153744" cy="1415132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BA5E6CD-DE05-4C27-83CF-627424204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18824" y="3483786"/>
              <a:ext cx="1793657" cy="54002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876803-4F67-41EF-8A6C-505861825D34}"/>
                </a:ext>
              </a:extLst>
            </p:cNvPr>
            <p:cNvSpPr txBox="1"/>
            <p:nvPr/>
          </p:nvSpPr>
          <p:spPr>
            <a:xfrm>
              <a:off x="721443" y="3004883"/>
              <a:ext cx="4071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eigenstates of the Hamiltonian: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AAEBB79-289F-4417-85B6-72115B98AAA7}"/>
                </a:ext>
              </a:extLst>
            </p:cNvPr>
            <p:cNvGrpSpPr/>
            <p:nvPr/>
          </p:nvGrpSpPr>
          <p:grpSpPr>
            <a:xfrm>
              <a:off x="1658424" y="3852063"/>
              <a:ext cx="1938093" cy="567952"/>
              <a:chOff x="1658424" y="3852063"/>
              <a:chExt cx="1938093" cy="56795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33DB167-7F66-4579-AD90-A5F5A15D325D}"/>
                  </a:ext>
                </a:extLst>
              </p:cNvPr>
              <p:cNvGrpSpPr/>
              <p:nvPr/>
            </p:nvGrpSpPr>
            <p:grpSpPr>
              <a:xfrm>
                <a:off x="1658424" y="4023812"/>
                <a:ext cx="1938093" cy="396203"/>
                <a:chOff x="2329314" y="4369869"/>
                <a:chExt cx="1938093" cy="396203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2B262BF-FAC7-408A-8767-87E14C5FFA4B}"/>
                    </a:ext>
                  </a:extLst>
                </p:cNvPr>
                <p:cNvSpPr txBox="1"/>
                <p:nvPr/>
              </p:nvSpPr>
              <p:spPr>
                <a:xfrm>
                  <a:off x="2329314" y="4369869"/>
                  <a:ext cx="17102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Energy of state </a:t>
                  </a:r>
                </a:p>
              </p:txBody>
            </p:sp>
            <p:pic>
              <p:nvPicPr>
                <p:cNvPr id="18" name="Graphic 17">
                  <a:extLst>
                    <a:ext uri="{FF2B5EF4-FFF2-40B4-BE49-F238E27FC236}">
                      <a16:creationId xmlns:a16="http://schemas.microsoft.com/office/drawing/2014/main" id="{A8DB3EF0-877F-4075-8829-78FF02F17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1773" y="4369869"/>
                  <a:ext cx="455634" cy="396203"/>
                </a:xfrm>
                <a:prstGeom prst="rect">
                  <a:avLst/>
                </a:prstGeom>
              </p:spPr>
            </p:pic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F17B9A10-70D1-4429-9FDB-103E2225CC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5941" y="3852063"/>
                <a:ext cx="1" cy="1717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939391-552F-4993-AEA0-DEA8FE342422}"/>
                </a:ext>
              </a:extLst>
            </p:cNvPr>
            <p:cNvSpPr txBox="1"/>
            <p:nvPr/>
          </p:nvSpPr>
          <p:spPr>
            <a:xfrm>
              <a:off x="3522620" y="4025620"/>
              <a:ext cx="2352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(n can be continuous)</a:t>
              </a:r>
            </a:p>
          </p:txBody>
        </p:sp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EE46B5F-E6AC-4A6D-8334-413B40532A3D}"/>
              </a:ext>
            </a:extLst>
          </p:cNvPr>
          <p:cNvGrpSpPr/>
          <p:nvPr/>
        </p:nvGrpSpPr>
        <p:grpSpPr>
          <a:xfrm>
            <a:off x="721443" y="4561779"/>
            <a:ext cx="2419573" cy="907299"/>
            <a:chOff x="721443" y="4561779"/>
            <a:chExt cx="2419573" cy="90729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74697F-CB34-49C8-90DD-DAFDAF9DE3C0}"/>
                </a:ext>
              </a:extLst>
            </p:cNvPr>
            <p:cNvSpPr txBox="1"/>
            <p:nvPr/>
          </p:nvSpPr>
          <p:spPr>
            <a:xfrm>
              <a:off x="721443" y="4561779"/>
              <a:ext cx="2419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Eigenstates projectors: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5C0F6171-9784-4EAB-913F-690F73D32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52700" y="4939689"/>
              <a:ext cx="850804" cy="52938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B977024-8D00-4249-A9A9-AB755715ACDD}"/>
              </a:ext>
            </a:extLst>
          </p:cNvPr>
          <p:cNvGrpSpPr/>
          <p:nvPr/>
        </p:nvGrpSpPr>
        <p:grpSpPr>
          <a:xfrm>
            <a:off x="3954901" y="4541555"/>
            <a:ext cx="1561430" cy="1009649"/>
            <a:chOff x="3954901" y="4541555"/>
            <a:chExt cx="1561430" cy="1009649"/>
          </a:xfrm>
        </p:grpSpPr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22D3DEF-8779-4404-AFAD-026831B76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954901" y="5011179"/>
              <a:ext cx="1157196" cy="540025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25E8203-3F11-4855-87D8-6DD5000B719D}"/>
                </a:ext>
              </a:extLst>
            </p:cNvPr>
            <p:cNvGrpSpPr/>
            <p:nvPr/>
          </p:nvGrpSpPr>
          <p:grpSpPr>
            <a:xfrm>
              <a:off x="4057470" y="4541555"/>
              <a:ext cx="1458861" cy="537005"/>
              <a:chOff x="4057470" y="4541555"/>
              <a:chExt cx="1458861" cy="537005"/>
            </a:xfrm>
          </p:grpSpPr>
          <p:sp>
            <p:nvSpPr>
              <p:cNvPr id="46" name="Right Brace 45">
                <a:extLst>
                  <a:ext uri="{FF2B5EF4-FFF2-40B4-BE49-F238E27FC236}">
                    <a16:creationId xmlns:a16="http://schemas.microsoft.com/office/drawing/2014/main" id="{87E2A1B0-70B6-4549-9778-434C5BE8F0D8}"/>
                  </a:ext>
                </a:extLst>
              </p:cNvPr>
              <p:cNvSpPr/>
              <p:nvPr/>
            </p:nvSpPr>
            <p:spPr>
              <a:xfrm rot="16200000">
                <a:off x="4587520" y="4720609"/>
                <a:ext cx="205761" cy="510141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EF8A0A-38EB-46ED-8D91-F57AEDE7A0D5}"/>
                  </a:ext>
                </a:extLst>
              </p:cNvPr>
              <p:cNvSpPr txBox="1"/>
              <p:nvPr/>
            </p:nvSpPr>
            <p:spPr>
              <a:xfrm>
                <a:off x="4057470" y="4541555"/>
                <a:ext cx="14588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sz="1600" dirty="0"/>
                  <a:t>Scalar product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1B02AA9-EE1D-418D-8F7F-23EC6B16C8C2}"/>
              </a:ext>
            </a:extLst>
          </p:cNvPr>
          <p:cNvGrpSpPr/>
          <p:nvPr/>
        </p:nvGrpSpPr>
        <p:grpSpPr>
          <a:xfrm>
            <a:off x="8833555" y="4149568"/>
            <a:ext cx="1518162" cy="412211"/>
            <a:chOff x="8833555" y="4149568"/>
            <a:chExt cx="1518162" cy="412211"/>
          </a:xfrm>
        </p:grpSpPr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F723FE39-26B5-43D6-8547-1DF3664AA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578225" y="4149568"/>
              <a:ext cx="773492" cy="379960"/>
            </a:xfrm>
            <a:prstGeom prst="rect">
              <a:avLst/>
            </a:prstGeom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F3948C3-47EE-4E99-9291-3F85BCA9049F}"/>
                </a:ext>
              </a:extLst>
            </p:cNvPr>
            <p:cNvCxnSpPr>
              <a:cxnSpLocks/>
            </p:cNvCxnSpPr>
            <p:nvPr/>
          </p:nvCxnSpPr>
          <p:spPr>
            <a:xfrm>
              <a:off x="8833555" y="4561779"/>
              <a:ext cx="102228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DD2540F-C8DE-446C-8194-613498230B4E}"/>
              </a:ext>
            </a:extLst>
          </p:cNvPr>
          <p:cNvGrpSpPr/>
          <p:nvPr/>
        </p:nvGrpSpPr>
        <p:grpSpPr>
          <a:xfrm>
            <a:off x="8166022" y="4286929"/>
            <a:ext cx="665426" cy="782283"/>
            <a:chOff x="8166022" y="4286929"/>
            <a:chExt cx="665426" cy="782283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7FB0227-1B5F-455C-A5B8-B76930CBA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69" y="4549172"/>
              <a:ext cx="345079" cy="34991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129C0C80-2520-40A8-9CCF-8B5719158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 rot="18897224">
              <a:off x="7967020" y="4485931"/>
              <a:ext cx="782283" cy="3842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F44AA98-C5BD-44FD-BFC3-12B80DF904BF}"/>
              </a:ext>
            </a:extLst>
          </p:cNvPr>
          <p:cNvGrpSpPr/>
          <p:nvPr/>
        </p:nvGrpSpPr>
        <p:grpSpPr>
          <a:xfrm>
            <a:off x="8784696" y="3613236"/>
            <a:ext cx="805799" cy="967184"/>
            <a:chOff x="8784696" y="3613236"/>
            <a:chExt cx="805799" cy="967184"/>
          </a:xfrm>
        </p:grpSpPr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A2035C6A-63A1-4EA5-83A7-2F5BD9333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784696" y="3613236"/>
              <a:ext cx="805799" cy="376039"/>
            </a:xfrm>
            <a:prstGeom prst="rect">
              <a:avLst/>
            </a:prstGeom>
          </p:spPr>
        </p:pic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95AB244-53DE-4220-B7BF-202334F608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3555" y="3891861"/>
              <a:ext cx="0" cy="6885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0E90955-1FC0-4775-82E4-2A9548FC61DB}"/>
              </a:ext>
            </a:extLst>
          </p:cNvPr>
          <p:cNvGrpSpPr/>
          <p:nvPr/>
        </p:nvGrpSpPr>
        <p:grpSpPr>
          <a:xfrm>
            <a:off x="668239" y="5477656"/>
            <a:ext cx="4125681" cy="1224945"/>
            <a:chOff x="668239" y="5477656"/>
            <a:chExt cx="4125681" cy="1224945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287D2A2-4B9F-4BF9-AD66-23E88E63EA40}"/>
                </a:ext>
              </a:extLst>
            </p:cNvPr>
            <p:cNvSpPr txBox="1"/>
            <p:nvPr/>
          </p:nvSpPr>
          <p:spPr>
            <a:xfrm>
              <a:off x="668239" y="5477656"/>
              <a:ext cx="41256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Completeness of Eigenstates projectors:</a:t>
              </a:r>
            </a:p>
          </p:txBody>
        </p:sp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F87A5CD6-7BAB-4399-9671-C8FC73B53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17006" y="6013815"/>
              <a:ext cx="1922192" cy="688786"/>
            </a:xfrm>
            <a:prstGeom prst="rect">
              <a:avLst/>
            </a:prstGeom>
          </p:spPr>
        </p:pic>
      </p:grpSp>
      <p:pic>
        <p:nvPicPr>
          <p:cNvPr id="73" name="Graphic 72">
            <a:extLst>
              <a:ext uri="{FF2B5EF4-FFF2-40B4-BE49-F238E27FC236}">
                <a16:creationId xmlns:a16="http://schemas.microsoft.com/office/drawing/2014/main" id="{3E1C2210-453F-4DFE-B176-E0FC318D912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496867" y="5994659"/>
            <a:ext cx="1876926" cy="727097"/>
          </a:xfrm>
          <a:prstGeom prst="rect">
            <a:avLst/>
          </a:prstGeom>
        </p:spPr>
      </p:pic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BFC6741-2C74-4149-BD87-936C257E35C6}"/>
              </a:ext>
            </a:extLst>
          </p:cNvPr>
          <p:cNvSpPr/>
          <p:nvPr/>
        </p:nvSpPr>
        <p:spPr>
          <a:xfrm>
            <a:off x="3824090" y="6013816"/>
            <a:ext cx="1549703" cy="5950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9AD91B34-AB4B-4D85-ACCE-71F8DE45591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37325" y="5938984"/>
            <a:ext cx="2034100" cy="754019"/>
          </a:xfrm>
          <a:prstGeom prst="rect">
            <a:avLst/>
          </a:prstGeom>
        </p:spPr>
      </p:pic>
      <p:sp>
        <p:nvSpPr>
          <p:cNvPr id="77" name="Right Brace 76">
            <a:extLst>
              <a:ext uri="{FF2B5EF4-FFF2-40B4-BE49-F238E27FC236}">
                <a16:creationId xmlns:a16="http://schemas.microsoft.com/office/drawing/2014/main" id="{48051371-3179-4B6D-B9E8-2EFAF0F0591C}"/>
              </a:ext>
            </a:extLst>
          </p:cNvPr>
          <p:cNvSpPr/>
          <p:nvPr/>
        </p:nvSpPr>
        <p:spPr>
          <a:xfrm rot="16200000">
            <a:off x="7302215" y="5704056"/>
            <a:ext cx="183990" cy="5400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0D9C39A-AB35-4DD7-B3FE-539779D08F7D}"/>
              </a:ext>
            </a:extLst>
          </p:cNvPr>
          <p:cNvGrpSpPr/>
          <p:nvPr/>
        </p:nvGrpSpPr>
        <p:grpSpPr>
          <a:xfrm>
            <a:off x="6837425" y="5405007"/>
            <a:ext cx="4579785" cy="603627"/>
            <a:chOff x="6837425" y="5405007"/>
            <a:chExt cx="4579785" cy="603627"/>
          </a:xfrm>
        </p:grpSpPr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16F902B9-4C1A-4B61-A704-C1D25007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837425" y="5405007"/>
              <a:ext cx="1027330" cy="558724"/>
            </a:xfrm>
            <a:prstGeom prst="rect">
              <a:avLst/>
            </a:prstGeom>
          </p:spPr>
        </p:pic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B4C3742-BEEB-4879-931B-2D3560E6E65D}"/>
                </a:ext>
              </a:extLst>
            </p:cNvPr>
            <p:cNvGrpSpPr/>
            <p:nvPr/>
          </p:nvGrpSpPr>
          <p:grpSpPr>
            <a:xfrm>
              <a:off x="7753405" y="5450967"/>
              <a:ext cx="3663805" cy="557667"/>
              <a:chOff x="9971767" y="5794337"/>
              <a:chExt cx="3663805" cy="557667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0DDA5B0-785E-409F-9095-D3AFE2FD6EDC}"/>
                  </a:ext>
                </a:extLst>
              </p:cNvPr>
              <p:cNvSpPr txBox="1"/>
              <p:nvPr/>
            </p:nvSpPr>
            <p:spPr>
              <a:xfrm>
                <a:off x="9971767" y="5862470"/>
                <a:ext cx="3412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= probability to find        in state </a:t>
                </a:r>
              </a:p>
            </p:txBody>
          </p:sp>
          <p:pic>
            <p:nvPicPr>
              <p:cNvPr id="81" name="Graphic 80">
                <a:extLst>
                  <a:ext uri="{FF2B5EF4-FFF2-40B4-BE49-F238E27FC236}">
                    <a16:creationId xmlns:a16="http://schemas.microsoft.com/office/drawing/2014/main" id="{77F1071C-8030-48C7-B0A6-65C2E4E914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979167" y="5811978"/>
                <a:ext cx="557667" cy="503699"/>
              </a:xfrm>
              <a:prstGeom prst="rect">
                <a:avLst/>
              </a:prstGeom>
            </p:spPr>
          </p:pic>
          <p:pic>
            <p:nvPicPr>
              <p:cNvPr id="82" name="Graphic 81">
                <a:extLst>
                  <a:ext uri="{FF2B5EF4-FFF2-40B4-BE49-F238E27FC236}">
                    <a16:creationId xmlns:a16="http://schemas.microsoft.com/office/drawing/2014/main" id="{71521EBB-F7E4-4A8F-9FFE-CC60CC408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077905" y="5794337"/>
                <a:ext cx="557667" cy="557667"/>
              </a:xfrm>
              <a:prstGeom prst="rect">
                <a:avLst/>
              </a:prstGeom>
            </p:spPr>
          </p:pic>
        </p:grpSp>
      </p:grpSp>
      <p:pic>
        <p:nvPicPr>
          <p:cNvPr id="85" name="Graphic 84">
            <a:extLst>
              <a:ext uri="{FF2B5EF4-FFF2-40B4-BE49-F238E27FC236}">
                <a16:creationId xmlns:a16="http://schemas.microsoft.com/office/drawing/2014/main" id="{E26C55DF-03C1-4B76-B698-DBB443980B18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603649" y="6008634"/>
            <a:ext cx="3113504" cy="7315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89C774-2950-48ED-8AB5-7428BBA8F607}"/>
              </a:ext>
            </a:extLst>
          </p:cNvPr>
          <p:cNvSpPr txBox="1"/>
          <p:nvPr/>
        </p:nvSpPr>
        <p:spPr>
          <a:xfrm>
            <a:off x="9077099" y="6517935"/>
            <a:ext cx="3189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Not all the vectors are physical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2848ACF-1532-4C8C-A4B4-41527337406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7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BA5E6CD-DE05-4C27-83CF-6274242043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8824" y="3483786"/>
            <a:ext cx="1793657" cy="5400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876803-4F67-41EF-8A6C-505861825D34}"/>
              </a:ext>
            </a:extLst>
          </p:cNvPr>
          <p:cNvSpPr txBox="1"/>
          <p:nvPr/>
        </p:nvSpPr>
        <p:spPr>
          <a:xfrm>
            <a:off x="721443" y="3004883"/>
            <a:ext cx="407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Energy eigenstates of the Hamiltonian: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9AD91B34-AB4B-4D85-ACCE-71F8DE4559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4128" y="4063614"/>
            <a:ext cx="2034100" cy="7540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EC56BC-E3C3-4EDB-9B69-2E4D2C151CB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06294" y="4714425"/>
            <a:ext cx="472318" cy="47231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8962E28-F3F3-4F2A-87A5-AFC2F0073F63}"/>
              </a:ext>
            </a:extLst>
          </p:cNvPr>
          <p:cNvGrpSpPr/>
          <p:nvPr/>
        </p:nvGrpSpPr>
        <p:grpSpPr>
          <a:xfrm>
            <a:off x="370682" y="5288750"/>
            <a:ext cx="1814401" cy="866908"/>
            <a:chOff x="370682" y="5288750"/>
            <a:chExt cx="1814401" cy="86690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F6F6563-222E-4865-AA7A-4D61DD3FC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43206" y="5288750"/>
              <a:ext cx="872943" cy="470046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F019178-30B6-42CB-ACEA-1B6409606CD6}"/>
                </a:ext>
              </a:extLst>
            </p:cNvPr>
            <p:cNvGrpSpPr/>
            <p:nvPr/>
          </p:nvGrpSpPr>
          <p:grpSpPr>
            <a:xfrm>
              <a:off x="370682" y="5642070"/>
              <a:ext cx="1814401" cy="513588"/>
              <a:chOff x="372284" y="5826736"/>
              <a:chExt cx="1814401" cy="51358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59933-33CD-4814-8FEA-CDE44A743838}"/>
                  </a:ext>
                </a:extLst>
              </p:cNvPr>
              <p:cNvSpPr txBox="1"/>
              <p:nvPr/>
            </p:nvSpPr>
            <p:spPr>
              <a:xfrm>
                <a:off x="372284" y="5927739"/>
                <a:ext cx="1345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function of </a:t>
                </a:r>
              </a:p>
            </p:txBody>
          </p:sp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B68DB164-22D0-46CE-AF8A-A52A7565D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558967" y="5826736"/>
                <a:ext cx="627718" cy="513588"/>
              </a:xfrm>
              <a:prstGeom prst="rect">
                <a:avLst/>
              </a:prstGeom>
            </p:spPr>
          </p:pic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5B7D11-B712-44F0-9C2F-815275339513}"/>
              </a:ext>
            </a:extLst>
          </p:cNvPr>
          <p:cNvGrpSpPr/>
          <p:nvPr/>
        </p:nvGrpSpPr>
        <p:grpSpPr>
          <a:xfrm>
            <a:off x="2748417" y="5297476"/>
            <a:ext cx="1921812" cy="858182"/>
            <a:chOff x="2748417" y="5297476"/>
            <a:chExt cx="1921812" cy="858182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A9D96D6-D78B-44FF-99EC-4E8B287C4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748417" y="5297476"/>
              <a:ext cx="1921812" cy="513588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2BC27E9-9D29-469D-AA42-F86B611E3441}"/>
                </a:ext>
              </a:extLst>
            </p:cNvPr>
            <p:cNvSpPr txBox="1"/>
            <p:nvPr/>
          </p:nvSpPr>
          <p:spPr>
            <a:xfrm>
              <a:off x="3087409" y="5786326"/>
              <a:ext cx="1220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Hermitian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ED87F1-2A14-4DFA-B6D8-AE6CF357CF55}"/>
              </a:ext>
            </a:extLst>
          </p:cNvPr>
          <p:cNvGrpSpPr/>
          <p:nvPr/>
        </p:nvGrpSpPr>
        <p:grpSpPr>
          <a:xfrm>
            <a:off x="5114153" y="5363397"/>
            <a:ext cx="2544176" cy="779441"/>
            <a:chOff x="5114153" y="5363397"/>
            <a:chExt cx="2544176" cy="779441"/>
          </a:xfrm>
        </p:grpSpPr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2F9F9E87-957B-4BF9-9341-114C6458A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114153" y="5363397"/>
              <a:ext cx="2544176" cy="47810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8E08E61-59A1-4CFC-9766-E2FEF7E4A53E}"/>
                </a:ext>
              </a:extLst>
            </p:cNvPr>
            <p:cNvSpPr txBox="1"/>
            <p:nvPr/>
          </p:nvSpPr>
          <p:spPr>
            <a:xfrm>
              <a:off x="5114153" y="5773506"/>
              <a:ext cx="2471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Measure in experiment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B12780-D280-475E-B93C-7FDDADE9C4D8}"/>
              </a:ext>
            </a:extLst>
          </p:cNvPr>
          <p:cNvGrpSpPr/>
          <p:nvPr/>
        </p:nvGrpSpPr>
        <p:grpSpPr>
          <a:xfrm>
            <a:off x="1715730" y="6161964"/>
            <a:ext cx="1986066" cy="649459"/>
            <a:chOff x="1715730" y="6161964"/>
            <a:chExt cx="1986066" cy="6494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063F4D-D9CC-48DA-91F6-621971483B5E}"/>
                </a:ext>
              </a:extLst>
            </p:cNvPr>
            <p:cNvSpPr txBox="1"/>
            <p:nvPr/>
          </p:nvSpPr>
          <p:spPr>
            <a:xfrm>
              <a:off x="1715730" y="6350340"/>
              <a:ext cx="1160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Example: </a:t>
              </a:r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015B9CE2-AE23-44CF-9106-2008266FC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757128" y="6161964"/>
              <a:ext cx="944668" cy="649459"/>
            </a:xfrm>
            <a:prstGeom prst="rect">
              <a:avLst/>
            </a:prstGeom>
          </p:spPr>
        </p:pic>
      </p:grpSp>
      <p:pic>
        <p:nvPicPr>
          <p:cNvPr id="61" name="Graphic 60">
            <a:extLst>
              <a:ext uri="{FF2B5EF4-FFF2-40B4-BE49-F238E27FC236}">
                <a16:creationId xmlns:a16="http://schemas.microsoft.com/office/drawing/2014/main" id="{06351EBE-ABEB-47A1-9571-84E0B1B3481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539793" y="6161964"/>
            <a:ext cx="3231513" cy="72751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C438D74A-43FC-4883-80F7-EAB79D06C43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477896" y="6106504"/>
            <a:ext cx="2691510" cy="704919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77706F4F-F15D-47E6-9693-4C666ADA8AAC}"/>
              </a:ext>
            </a:extLst>
          </p:cNvPr>
          <p:cNvGrpSpPr/>
          <p:nvPr/>
        </p:nvGrpSpPr>
        <p:grpSpPr>
          <a:xfrm>
            <a:off x="8677412" y="5719404"/>
            <a:ext cx="2471382" cy="524525"/>
            <a:chOff x="8992246" y="5748246"/>
            <a:chExt cx="2471382" cy="524525"/>
          </a:xfrm>
        </p:grpSpPr>
        <p:sp>
          <p:nvSpPr>
            <p:cNvPr id="78" name="Right Brace 77">
              <a:extLst>
                <a:ext uri="{FF2B5EF4-FFF2-40B4-BE49-F238E27FC236}">
                  <a16:creationId xmlns:a16="http://schemas.microsoft.com/office/drawing/2014/main" id="{FD6C6E16-8DD9-44D4-BA0E-052EAA25DE01}"/>
                </a:ext>
              </a:extLst>
            </p:cNvPr>
            <p:cNvSpPr/>
            <p:nvPr/>
          </p:nvSpPr>
          <p:spPr>
            <a:xfrm rot="16200000">
              <a:off x="10294898" y="5618200"/>
              <a:ext cx="117115" cy="119202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129EE2A-BDF0-45B3-8DCE-78C43EDE9BB5}"/>
                </a:ext>
              </a:extLst>
            </p:cNvPr>
            <p:cNvSpPr txBox="1"/>
            <p:nvPr/>
          </p:nvSpPr>
          <p:spPr>
            <a:xfrm>
              <a:off x="8992246" y="5748246"/>
              <a:ext cx="2471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Measure in experiment</a:t>
              </a:r>
            </a:p>
          </p:txBody>
        </p:sp>
      </p:grpSp>
      <p:pic>
        <p:nvPicPr>
          <p:cNvPr id="86" name="Graphic 85">
            <a:extLst>
              <a:ext uri="{FF2B5EF4-FFF2-40B4-BE49-F238E27FC236}">
                <a16:creationId xmlns:a16="http://schemas.microsoft.com/office/drawing/2014/main" id="{12153987-8307-4E7E-B340-36EBD7A1DA2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09144" y="3906393"/>
            <a:ext cx="1027330" cy="558724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8B8B14DF-251E-4DBC-955E-3026AA6952E8}"/>
              </a:ext>
            </a:extLst>
          </p:cNvPr>
          <p:cNvGrpSpPr/>
          <p:nvPr/>
        </p:nvGrpSpPr>
        <p:grpSpPr>
          <a:xfrm>
            <a:off x="4525124" y="3937901"/>
            <a:ext cx="3672800" cy="557667"/>
            <a:chOff x="9971767" y="5779885"/>
            <a:chExt cx="3672800" cy="557667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1C4099E-77C9-4078-8996-A4FEEDE41BAB}"/>
                </a:ext>
              </a:extLst>
            </p:cNvPr>
            <p:cNvSpPr txBox="1"/>
            <p:nvPr/>
          </p:nvSpPr>
          <p:spPr>
            <a:xfrm>
              <a:off x="9971767" y="5862470"/>
              <a:ext cx="3412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= probability to find        in state </a:t>
              </a:r>
            </a:p>
          </p:txBody>
        </p: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599FF891-83FF-4CBA-B548-E4E999341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988162" y="5797526"/>
              <a:ext cx="557667" cy="503699"/>
            </a:xfrm>
            <a:prstGeom prst="rect">
              <a:avLst/>
            </a:prstGeom>
          </p:spPr>
        </p:pic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DFA1B959-50B1-480F-AE81-338912238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086900" y="5779885"/>
              <a:ext cx="557667" cy="557667"/>
            </a:xfrm>
            <a:prstGeom prst="rect">
              <a:avLst/>
            </a:prstGeom>
          </p:spPr>
        </p:pic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3300FC91-D781-4B9A-9E0F-EB15A8722F05}"/>
              </a:ext>
            </a:extLst>
          </p:cNvPr>
          <p:cNvSpPr txBox="1"/>
          <p:nvPr/>
        </p:nvSpPr>
        <p:spPr>
          <a:xfrm>
            <a:off x="323689" y="2236371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3B2A6-E3A7-4786-9618-EE4626AA04A5}"/>
              </a:ext>
            </a:extLst>
          </p:cNvPr>
          <p:cNvSpPr txBox="1"/>
          <p:nvPr/>
        </p:nvSpPr>
        <p:spPr>
          <a:xfrm>
            <a:off x="312751" y="295228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pic>
        <p:nvPicPr>
          <p:cNvPr id="93" name="Graphic 92">
            <a:extLst>
              <a:ext uri="{FF2B5EF4-FFF2-40B4-BE49-F238E27FC236}">
                <a16:creationId xmlns:a16="http://schemas.microsoft.com/office/drawing/2014/main" id="{B0099BBE-371B-4283-A86D-788786E42DFA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17157" t="4345"/>
          <a:stretch/>
        </p:blipFill>
        <p:spPr>
          <a:xfrm>
            <a:off x="3655639" y="3383091"/>
            <a:ext cx="1554909" cy="69550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ABE5DEF3-4995-4717-B12D-04FEF2C6E5E3}"/>
              </a:ext>
            </a:extLst>
          </p:cNvPr>
          <p:cNvSpPr txBox="1"/>
          <p:nvPr/>
        </p:nvSpPr>
        <p:spPr>
          <a:xfrm>
            <a:off x="5089489" y="3426869"/>
            <a:ext cx="178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(Completeness)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1FBF44-3F20-4D82-B342-24064351E627}"/>
              </a:ext>
            </a:extLst>
          </p:cNvPr>
          <p:cNvGrpSpPr/>
          <p:nvPr/>
        </p:nvGrpSpPr>
        <p:grpSpPr>
          <a:xfrm>
            <a:off x="289740" y="4678467"/>
            <a:ext cx="7238871" cy="464160"/>
            <a:chOff x="289740" y="4678467"/>
            <a:chExt cx="7238871" cy="4641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5F5964-5953-4762-B019-A22F9CC8A59E}"/>
                </a:ext>
              </a:extLst>
            </p:cNvPr>
            <p:cNvSpPr txBox="1"/>
            <p:nvPr/>
          </p:nvSpPr>
          <p:spPr>
            <a:xfrm>
              <a:off x="721426" y="4773295"/>
              <a:ext cx="6807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We can only access the quantum state by measuring the observable 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37886E6-F363-4602-B4F9-FB83CFF81074}"/>
                </a:ext>
              </a:extLst>
            </p:cNvPr>
            <p:cNvSpPr txBox="1"/>
            <p:nvPr/>
          </p:nvSpPr>
          <p:spPr>
            <a:xfrm>
              <a:off x="289740" y="4678467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3)</a:t>
              </a:r>
            </a:p>
          </p:txBody>
        </p:sp>
      </p:grpSp>
      <p:pic>
        <p:nvPicPr>
          <p:cNvPr id="97" name="Graphic 96">
            <a:extLst>
              <a:ext uri="{FF2B5EF4-FFF2-40B4-BE49-F238E27FC236}">
                <a16:creationId xmlns:a16="http://schemas.microsoft.com/office/drawing/2014/main" id="{A8E090DC-EB53-4DE3-90B6-A0A05F2723CD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61978" t="-6630"/>
          <a:stretch/>
        </p:blipFill>
        <p:spPr>
          <a:xfrm>
            <a:off x="3647136" y="4335502"/>
            <a:ext cx="1183808" cy="78009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6EC5E7C8-F676-4E0C-B0BD-8B505594A123}"/>
              </a:ext>
            </a:extLst>
          </p:cNvPr>
          <p:cNvSpPr txBox="1"/>
          <p:nvPr/>
        </p:nvSpPr>
        <p:spPr>
          <a:xfrm>
            <a:off x="4737652" y="4446206"/>
            <a:ext cx="192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(Normalization)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C317CE6-E804-4E40-9AAD-436DEE4CD28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4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76803-4F67-41EF-8A6C-505861825D34}"/>
              </a:ext>
            </a:extLst>
          </p:cNvPr>
          <p:cNvSpPr txBox="1"/>
          <p:nvPr/>
        </p:nvSpPr>
        <p:spPr>
          <a:xfrm>
            <a:off x="721443" y="3004883"/>
            <a:ext cx="407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Energy eigenstates of the Hamiltonian: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5F5964-5953-4762-B019-A22F9CC8A59E}"/>
              </a:ext>
            </a:extLst>
          </p:cNvPr>
          <p:cNvSpPr txBox="1"/>
          <p:nvPr/>
        </p:nvSpPr>
        <p:spPr>
          <a:xfrm>
            <a:off x="721426" y="4773295"/>
            <a:ext cx="137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Observable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EC56BC-E3C3-4EDB-9B69-2E4D2C151C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43346" y="4733907"/>
            <a:ext cx="472318" cy="4723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A9D96D6-D78B-44FF-99EC-4E8B287C48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0496" y="5267889"/>
            <a:ext cx="1921812" cy="51358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F9F9E87-957B-4BF9-9341-114C6458A0D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99755" y="5303377"/>
            <a:ext cx="2544176" cy="4781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8E08E61-59A1-4CFC-9766-E2FEF7E4A53E}"/>
              </a:ext>
            </a:extLst>
          </p:cNvPr>
          <p:cNvSpPr txBox="1"/>
          <p:nvPr/>
        </p:nvSpPr>
        <p:spPr>
          <a:xfrm>
            <a:off x="3242205" y="5049776"/>
            <a:ext cx="247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Measure in experiment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00FC91-D781-4B9A-9E0F-EB15A8722F05}"/>
              </a:ext>
            </a:extLst>
          </p:cNvPr>
          <p:cNvSpPr txBox="1"/>
          <p:nvPr/>
        </p:nvSpPr>
        <p:spPr>
          <a:xfrm>
            <a:off x="323689" y="2236371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3B2A6-E3A7-4786-9618-EE4626AA04A5}"/>
              </a:ext>
            </a:extLst>
          </p:cNvPr>
          <p:cNvSpPr txBox="1"/>
          <p:nvPr/>
        </p:nvSpPr>
        <p:spPr>
          <a:xfrm>
            <a:off x="312751" y="295228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91437-0FFF-4B13-A8E3-D1581B99F231}"/>
              </a:ext>
            </a:extLst>
          </p:cNvPr>
          <p:cNvSpPr txBox="1"/>
          <p:nvPr/>
        </p:nvSpPr>
        <p:spPr>
          <a:xfrm>
            <a:off x="289740" y="4678467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8271A8-94A9-4176-8157-31A6263EF011}"/>
              </a:ext>
            </a:extLst>
          </p:cNvPr>
          <p:cNvGrpSpPr/>
          <p:nvPr/>
        </p:nvGrpSpPr>
        <p:grpSpPr>
          <a:xfrm>
            <a:off x="317741" y="5755780"/>
            <a:ext cx="1604556" cy="461665"/>
            <a:chOff x="317741" y="5755780"/>
            <a:chExt cx="1604556" cy="46166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967DCF-3BAF-4D43-A079-D0181220D601}"/>
                </a:ext>
              </a:extLst>
            </p:cNvPr>
            <p:cNvSpPr txBox="1"/>
            <p:nvPr/>
          </p:nvSpPr>
          <p:spPr>
            <a:xfrm>
              <a:off x="317741" y="5755780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4)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B1C865-898D-4904-B70D-76D6DA2F1D9D}"/>
                </a:ext>
              </a:extLst>
            </p:cNvPr>
            <p:cNvSpPr txBox="1"/>
            <p:nvPr/>
          </p:nvSpPr>
          <p:spPr>
            <a:xfrm>
              <a:off x="690550" y="5848113"/>
              <a:ext cx="123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Dynamics </a:t>
              </a:r>
            </a:p>
          </p:txBody>
        </p:sp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5F7E3133-A349-458A-BA0F-D19C38B7FD9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4686" y="6131479"/>
            <a:ext cx="2544176" cy="75448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D5188B1-185C-4B73-A20A-5A4E75F8233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56036" y="6324414"/>
            <a:ext cx="2988117" cy="47809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197E636-0BFD-472D-BEE2-AA60973D8EC7}"/>
              </a:ext>
            </a:extLst>
          </p:cNvPr>
          <p:cNvGrpSpPr/>
          <p:nvPr/>
        </p:nvGrpSpPr>
        <p:grpSpPr>
          <a:xfrm>
            <a:off x="5628809" y="5882651"/>
            <a:ext cx="2876031" cy="961287"/>
            <a:chOff x="5628809" y="5882651"/>
            <a:chExt cx="2876031" cy="961287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86449FA-17FF-40FB-B2A8-9EA28CF7A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628809" y="6212972"/>
              <a:ext cx="2876031" cy="63096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9B66CA-1C6B-4908-BB32-A68DC9C0CEE0}"/>
                </a:ext>
              </a:extLst>
            </p:cNvPr>
            <p:cNvSpPr txBox="1"/>
            <p:nvPr/>
          </p:nvSpPr>
          <p:spPr>
            <a:xfrm>
              <a:off x="5763198" y="5882651"/>
              <a:ext cx="11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Formally: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8FABF666-3352-49EF-AAE9-90817636FEE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73965" y="5026194"/>
            <a:ext cx="1121910" cy="53506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D6045B3-3470-456A-99F9-26078D3271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84020" y="5561258"/>
            <a:ext cx="2701156" cy="5657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45CFC61-8975-4E8C-AA6E-FF554F4F32E6}"/>
              </a:ext>
            </a:extLst>
          </p:cNvPr>
          <p:cNvSpPr txBox="1"/>
          <p:nvPr/>
        </p:nvSpPr>
        <p:spPr>
          <a:xfrm>
            <a:off x="8904170" y="6060062"/>
            <a:ext cx="328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Unitary: preserving probability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390BC2DF-22B7-4910-A7EE-14743DB8432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8824" y="3483786"/>
            <a:ext cx="1793657" cy="540026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52A0FEA-20C2-4218-8ACE-88FDE373754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4128" y="4063614"/>
            <a:ext cx="2034100" cy="75401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ADA7EC5-F833-4363-AF6C-931437FF6C4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09144" y="3906393"/>
            <a:ext cx="1027330" cy="558724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E649B057-AD3A-417D-AE42-1C3323D1B6E6}"/>
              </a:ext>
            </a:extLst>
          </p:cNvPr>
          <p:cNvGrpSpPr/>
          <p:nvPr/>
        </p:nvGrpSpPr>
        <p:grpSpPr>
          <a:xfrm>
            <a:off x="4525124" y="3937901"/>
            <a:ext cx="3682425" cy="557667"/>
            <a:chOff x="9971767" y="5779885"/>
            <a:chExt cx="3682425" cy="55766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FDA3A2-4C4F-4315-878C-44E70D8F1124}"/>
                </a:ext>
              </a:extLst>
            </p:cNvPr>
            <p:cNvSpPr txBox="1"/>
            <p:nvPr/>
          </p:nvSpPr>
          <p:spPr>
            <a:xfrm>
              <a:off x="9971767" y="5862470"/>
              <a:ext cx="3412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= probability to find        in state </a:t>
              </a:r>
            </a:p>
          </p:txBody>
        </p: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35CA5BBF-632C-4E2C-8446-3080F1D34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97787" y="5797526"/>
              <a:ext cx="557667" cy="503699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8B1E03EB-1F09-4141-829D-D926CD5DE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6525" y="5779885"/>
              <a:ext cx="557667" cy="557667"/>
            </a:xfrm>
            <a:prstGeom prst="rect">
              <a:avLst/>
            </a:prstGeom>
          </p:spPr>
        </p:pic>
      </p:grpSp>
      <p:pic>
        <p:nvPicPr>
          <p:cNvPr id="73" name="Graphic 72">
            <a:extLst>
              <a:ext uri="{FF2B5EF4-FFF2-40B4-BE49-F238E27FC236}">
                <a16:creationId xmlns:a16="http://schemas.microsoft.com/office/drawing/2014/main" id="{D298D096-664B-4931-AADE-C6E3B58BE83C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17157" t="4345"/>
          <a:stretch/>
        </p:blipFill>
        <p:spPr>
          <a:xfrm>
            <a:off x="3655639" y="3383091"/>
            <a:ext cx="1554909" cy="69550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44BD569-C027-416C-AEDC-52DC6763FAA0}"/>
              </a:ext>
            </a:extLst>
          </p:cNvPr>
          <p:cNvSpPr txBox="1"/>
          <p:nvPr/>
        </p:nvSpPr>
        <p:spPr>
          <a:xfrm>
            <a:off x="5089489" y="3426869"/>
            <a:ext cx="178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(Completeness)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5F83F9-29DE-4369-8FFB-7D37F35C0101}"/>
              </a:ext>
            </a:extLst>
          </p:cNvPr>
          <p:cNvSpPr txBox="1"/>
          <p:nvPr/>
        </p:nvSpPr>
        <p:spPr>
          <a:xfrm>
            <a:off x="4737652" y="4446206"/>
            <a:ext cx="192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(Normalization)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E1618FC8-F610-4C57-AC59-B2980B512184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63742" b="27638"/>
          <a:stretch/>
        </p:blipFill>
        <p:spPr>
          <a:xfrm>
            <a:off x="10067128" y="6398809"/>
            <a:ext cx="1128906" cy="5293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E9B6EB1-3E16-40E6-A2D1-122DA4FF4585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6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7C6BD-31ED-4E6F-B792-B46A8C0EAD69}"/>
              </a:ext>
            </a:extLst>
          </p:cNvPr>
          <p:cNvSpPr txBox="1"/>
          <p:nvPr/>
        </p:nvSpPr>
        <p:spPr>
          <a:xfrm>
            <a:off x="121078" y="1670115"/>
            <a:ext cx="328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Schrodinger equation:</a:t>
            </a:r>
            <a:endParaRPr lang="en-MY" sz="2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597EE2-48D3-430E-B453-F0B200E81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57" y="2362613"/>
            <a:ext cx="2767157" cy="8206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D272C-4C97-494D-97B6-FC7471BBA067}"/>
              </a:ext>
            </a:extLst>
          </p:cNvPr>
          <p:cNvSpPr txBox="1"/>
          <p:nvPr/>
        </p:nvSpPr>
        <p:spPr>
          <a:xfrm>
            <a:off x="5544305" y="1715500"/>
            <a:ext cx="551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Hilbert space</a:t>
            </a:r>
            <a:r>
              <a:rPr lang="en-US" dirty="0"/>
              <a:t> (n-dimensional complex vector space):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903636-2C7B-408D-B6E4-C1915E8ABCDA}"/>
              </a:ext>
            </a:extLst>
          </p:cNvPr>
          <p:cNvGrpSpPr/>
          <p:nvPr/>
        </p:nvGrpSpPr>
        <p:grpSpPr>
          <a:xfrm>
            <a:off x="6616973" y="2223580"/>
            <a:ext cx="1915428" cy="1713297"/>
            <a:chOff x="6699183" y="4995512"/>
            <a:chExt cx="1915428" cy="171329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F825C1-BEB4-439D-8BC0-A7B5B5521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09E56C4-D4D0-497B-8EAB-B4FD6FF1440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55B815-6D02-47BF-9A4C-D86FA2610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7108BB0-0573-4937-8819-6E8FB5689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A381BF8-AD45-4B7A-800F-8297CD4D30A4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F56DF6-4E7C-4B3B-8F98-95889C594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A9BCE8-1C2F-4414-B54C-FA86A6CA2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FA01BC-FD1D-43A2-A9B0-36211BC52E10}"/>
              </a:ext>
            </a:extLst>
          </p:cNvPr>
          <p:cNvGrpSpPr/>
          <p:nvPr/>
        </p:nvGrpSpPr>
        <p:grpSpPr>
          <a:xfrm>
            <a:off x="484554" y="3155638"/>
            <a:ext cx="5850269" cy="714479"/>
            <a:chOff x="8772568" y="5953158"/>
            <a:chExt cx="5850269" cy="71447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49EEE9-56EC-4103-9AF2-835917171A4F}"/>
                </a:ext>
              </a:extLst>
            </p:cNvPr>
            <p:cNvSpPr txBox="1"/>
            <p:nvPr/>
          </p:nvSpPr>
          <p:spPr>
            <a:xfrm>
              <a:off x="8772568" y="6021306"/>
              <a:ext cx="5850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How to model the quantum microstates         statistically that is compatible with quantum mechanics?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E029B42-957B-405E-94DF-85F56E65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70630" y="5953158"/>
              <a:ext cx="557667" cy="503699"/>
            </a:xfrm>
            <a:prstGeom prst="rect">
              <a:avLst/>
            </a:prstGeom>
          </p:spPr>
        </p:pic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BAC4DFFC-2FC6-461E-B8BA-847E207435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8437" y="2561192"/>
            <a:ext cx="623385" cy="44755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AD5F3F4-E4FB-46FD-9BEE-2E03271C67E9}"/>
              </a:ext>
            </a:extLst>
          </p:cNvPr>
          <p:cNvGrpSpPr/>
          <p:nvPr/>
        </p:nvGrpSpPr>
        <p:grpSpPr>
          <a:xfrm>
            <a:off x="8353935" y="2536639"/>
            <a:ext cx="2113903" cy="419041"/>
            <a:chOff x="8353935" y="2536639"/>
            <a:chExt cx="2113903" cy="419041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B83E04F-2870-4BE3-BF89-BFD7C1CF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57701" y="2536639"/>
              <a:ext cx="510137" cy="41904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102A3D-532E-4AA2-BEF5-B2962BF68450}"/>
                </a:ext>
              </a:extLst>
            </p:cNvPr>
            <p:cNvSpPr txBox="1"/>
            <p:nvPr/>
          </p:nvSpPr>
          <p:spPr>
            <a:xfrm>
              <a:off x="8353935" y="2567486"/>
              <a:ext cx="1846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with probability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571D8-ED79-46A5-88EE-2AD757F7C704}"/>
              </a:ext>
            </a:extLst>
          </p:cNvPr>
          <p:cNvGrpSpPr/>
          <p:nvPr/>
        </p:nvGrpSpPr>
        <p:grpSpPr>
          <a:xfrm>
            <a:off x="673523" y="4045027"/>
            <a:ext cx="3224709" cy="964045"/>
            <a:chOff x="673523" y="4045027"/>
            <a:chExt cx="3224709" cy="96404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A6792AE-9CFF-400F-A988-977CD1345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57791" b="50000"/>
            <a:stretch/>
          </p:blipFill>
          <p:spPr>
            <a:xfrm>
              <a:off x="1617649" y="4414360"/>
              <a:ext cx="2280583" cy="59471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C1E4BA-10DA-46A5-B890-FAD01AA704AC}"/>
                </a:ext>
              </a:extLst>
            </p:cNvPr>
            <p:cNvSpPr txBox="1"/>
            <p:nvPr/>
          </p:nvSpPr>
          <p:spPr>
            <a:xfrm>
              <a:off x="673523" y="4045027"/>
              <a:ext cx="2829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Experiment measurement: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A70631B-68D9-4CA6-8F96-F794474CC13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2806" r="1001" b="45660"/>
          <a:stretch/>
        </p:blipFill>
        <p:spPr>
          <a:xfrm>
            <a:off x="4023607" y="4389677"/>
            <a:ext cx="3036130" cy="64633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3391C5F-2A7A-4890-94D3-3E4462B21795}"/>
              </a:ext>
            </a:extLst>
          </p:cNvPr>
          <p:cNvGrpSpPr/>
          <p:nvPr/>
        </p:nvGrpSpPr>
        <p:grpSpPr>
          <a:xfrm>
            <a:off x="7836635" y="4375500"/>
            <a:ext cx="3306297" cy="695502"/>
            <a:chOff x="7836635" y="4375500"/>
            <a:chExt cx="3306297" cy="695502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E793E4CD-8590-48FF-A334-4258D3809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17157" t="4345"/>
            <a:stretch/>
          </p:blipFill>
          <p:spPr>
            <a:xfrm>
              <a:off x="7836635" y="4375500"/>
              <a:ext cx="1554909" cy="69550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0470C8-916A-4F8F-B207-BE4A6C837AFB}"/>
                </a:ext>
              </a:extLst>
            </p:cNvPr>
            <p:cNvSpPr txBox="1"/>
            <p:nvPr/>
          </p:nvSpPr>
          <p:spPr>
            <a:xfrm>
              <a:off x="9359814" y="4419393"/>
              <a:ext cx="17831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(Completeness)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4526664-5C53-4525-933C-24D3366D84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383" t="48579" r="54584" b="-2919"/>
          <a:stretch/>
        </p:blipFill>
        <p:spPr>
          <a:xfrm>
            <a:off x="1876129" y="4958602"/>
            <a:ext cx="2108977" cy="64633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952CB74-E914-4AA3-8107-D2688055CEC3}"/>
              </a:ext>
            </a:extLst>
          </p:cNvPr>
          <p:cNvGrpSpPr/>
          <p:nvPr/>
        </p:nvGrpSpPr>
        <p:grpSpPr>
          <a:xfrm>
            <a:off x="793952" y="5418560"/>
            <a:ext cx="2407088" cy="678997"/>
            <a:chOff x="793952" y="5418560"/>
            <a:chExt cx="2407088" cy="678997"/>
          </a:xfrm>
        </p:grpSpPr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831F525A-E69A-440E-8D24-1CA1402F9422}"/>
                </a:ext>
              </a:extLst>
            </p:cNvPr>
            <p:cNvSpPr/>
            <p:nvPr/>
          </p:nvSpPr>
          <p:spPr>
            <a:xfrm rot="5400000">
              <a:off x="2748354" y="5235381"/>
              <a:ext cx="269507" cy="6358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5F333E-19CF-47A2-B664-573870D3E723}"/>
                </a:ext>
              </a:extLst>
            </p:cNvPr>
            <p:cNvSpPr txBox="1"/>
            <p:nvPr/>
          </p:nvSpPr>
          <p:spPr>
            <a:xfrm>
              <a:off x="793952" y="5728225"/>
              <a:ext cx="172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8521" y="5674909"/>
            <a:ext cx="3272269" cy="7290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DD77B3D-2A41-42C8-AEE8-CBFFFD296CE5}"/>
              </a:ext>
            </a:extLst>
          </p:cNvPr>
          <p:cNvGrpSpPr/>
          <p:nvPr/>
        </p:nvGrpSpPr>
        <p:grpSpPr>
          <a:xfrm>
            <a:off x="6398528" y="5785893"/>
            <a:ext cx="3137406" cy="1079281"/>
            <a:chOff x="6398528" y="5785893"/>
            <a:chExt cx="3137406" cy="107928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0999C-3D7C-463A-AC14-F6EE3A22A127}"/>
                </a:ext>
              </a:extLst>
            </p:cNvPr>
            <p:cNvSpPr txBox="1"/>
            <p:nvPr/>
          </p:nvSpPr>
          <p:spPr>
            <a:xfrm>
              <a:off x="6398528" y="5785893"/>
              <a:ext cx="1985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basis-free form: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A610D47-AF15-46A9-8946-9BE664DA4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00435" y="6131300"/>
              <a:ext cx="2935499" cy="733874"/>
            </a:xfrm>
            <a:prstGeom prst="rect">
              <a:avLst/>
            </a:prstGeom>
          </p:spPr>
        </p:pic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6600436" y="6175005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94271F8-10EE-4B9F-9838-6065453CA7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37841" y="6155225"/>
            <a:ext cx="1576649" cy="60340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07E0F65-3653-470A-9438-4AA7A7D85025}"/>
              </a:ext>
            </a:extLst>
          </p:cNvPr>
          <p:cNvGrpSpPr/>
          <p:nvPr/>
        </p:nvGrpSpPr>
        <p:grpSpPr>
          <a:xfrm>
            <a:off x="3985106" y="6403964"/>
            <a:ext cx="2723702" cy="436836"/>
            <a:chOff x="3985106" y="6403964"/>
            <a:chExt cx="2723702" cy="43683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1621A4-AA7D-4007-A83C-C7E2C708A263}"/>
                </a:ext>
              </a:extLst>
            </p:cNvPr>
            <p:cNvSpPr txBox="1"/>
            <p:nvPr/>
          </p:nvSpPr>
          <p:spPr>
            <a:xfrm>
              <a:off x="3985106" y="6471468"/>
              <a:ext cx="2169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What form is allow?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D30C4F4-5D73-4972-90D2-B2073A553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545" y="6403964"/>
              <a:ext cx="481263" cy="13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F3D1C3-1E71-40A8-BA18-78AAC457A7B8}"/>
              </a:ext>
            </a:extLst>
          </p:cNvPr>
          <p:cNvGrpSpPr/>
          <p:nvPr/>
        </p:nvGrpSpPr>
        <p:grpSpPr>
          <a:xfrm>
            <a:off x="7829756" y="5436846"/>
            <a:ext cx="4474558" cy="903414"/>
            <a:chOff x="7829756" y="5436846"/>
            <a:chExt cx="4474558" cy="903414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659E939-5459-4D13-BE7F-F2E9E61A6C01}"/>
                </a:ext>
              </a:extLst>
            </p:cNvPr>
            <p:cNvCxnSpPr>
              <a:cxnSpLocks/>
            </p:cNvCxnSpPr>
            <p:nvPr/>
          </p:nvCxnSpPr>
          <p:spPr>
            <a:xfrm>
              <a:off x="10866923" y="5970559"/>
              <a:ext cx="0" cy="369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AD15785-7F63-461A-905C-C6B15A1E68E0}"/>
                </a:ext>
              </a:extLst>
            </p:cNvPr>
            <p:cNvGrpSpPr/>
            <p:nvPr/>
          </p:nvGrpSpPr>
          <p:grpSpPr>
            <a:xfrm>
              <a:off x="7829756" y="5436846"/>
              <a:ext cx="4474558" cy="465393"/>
              <a:chOff x="7646306" y="5407704"/>
              <a:chExt cx="4474558" cy="46539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EB3FD0-B743-487E-92E6-299BE4201ACC}"/>
                  </a:ext>
                </a:extLst>
              </p:cNvPr>
              <p:cNvSpPr txBox="1"/>
              <p:nvPr/>
            </p:nvSpPr>
            <p:spPr>
              <a:xfrm>
                <a:off x="7646306" y="5466233"/>
                <a:ext cx="4474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>
                    <a:solidFill>
                      <a:srgbClr val="FF0000"/>
                    </a:solidFill>
                  </a:rPr>
                  <a:t>play the role like                  in classical case.</a:t>
                </a:r>
              </a:p>
            </p:txBody>
          </p:sp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54DDFEA5-F001-4689-9314-9A7586886B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 r="65547" b="918"/>
              <a:stretch/>
            </p:blipFill>
            <p:spPr>
              <a:xfrm>
                <a:off x="9348295" y="5407704"/>
                <a:ext cx="931904" cy="46539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9D54EF-7CCC-4AEB-B62B-5007EA7E1B0B}"/>
              </a:ext>
            </a:extLst>
          </p:cNvPr>
          <p:cNvGrpSpPr/>
          <p:nvPr/>
        </p:nvGrpSpPr>
        <p:grpSpPr>
          <a:xfrm>
            <a:off x="197847" y="6097557"/>
            <a:ext cx="3289600" cy="782775"/>
            <a:chOff x="197847" y="6097557"/>
            <a:chExt cx="3289600" cy="78277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D86115-63FE-4AAB-BA26-769F09872262}"/>
                </a:ext>
              </a:extLst>
            </p:cNvPr>
            <p:cNvSpPr txBox="1"/>
            <p:nvPr/>
          </p:nvSpPr>
          <p:spPr>
            <a:xfrm>
              <a:off x="197847" y="6234001"/>
              <a:ext cx="328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Is the tool to build statistical model in quantum mechanics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011B32C-8954-41E7-B670-21D3EDAD24A2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1490203" y="6097557"/>
              <a:ext cx="165107" cy="175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62ADC6EE-1FE8-4E45-8F0D-14BC5C18DF3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9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703DEB-3A54-4F17-B0C2-782BA54B7E2B}"/>
              </a:ext>
            </a:extLst>
          </p:cNvPr>
          <p:cNvGrpSpPr/>
          <p:nvPr/>
        </p:nvGrpSpPr>
        <p:grpSpPr>
          <a:xfrm>
            <a:off x="475933" y="2551309"/>
            <a:ext cx="3896075" cy="1931345"/>
            <a:chOff x="475933" y="2551309"/>
            <a:chExt cx="3896075" cy="193134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BB87B49-8240-4B37-A73C-AB830BE4C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6081" y="2551309"/>
              <a:ext cx="3115779" cy="728144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8DEC440-741A-4AFA-AA37-AD1440240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56229" y="3146009"/>
              <a:ext cx="3115779" cy="757892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E51C738-16F6-407A-8952-372C2E72D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56229" y="3754510"/>
              <a:ext cx="1066816" cy="728144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0DB2170B-F29F-44E9-B5CC-6A7560C83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07776" y="3821847"/>
              <a:ext cx="606342" cy="422602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4B51372-C313-4ACC-B634-9FDE512D2F31}"/>
                </a:ext>
              </a:extLst>
            </p:cNvPr>
            <p:cNvSpPr txBox="1"/>
            <p:nvPr/>
          </p:nvSpPr>
          <p:spPr>
            <a:xfrm>
              <a:off x="475933" y="2575088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1)</a:t>
              </a:r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19015" y="3216192"/>
            <a:ext cx="4011331" cy="865189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96471E62-F1E8-411E-86A2-BE413460FFCB}"/>
              </a:ext>
            </a:extLst>
          </p:cNvPr>
          <p:cNvGrpSpPr/>
          <p:nvPr/>
        </p:nvGrpSpPr>
        <p:grpSpPr>
          <a:xfrm>
            <a:off x="9574367" y="3350601"/>
            <a:ext cx="1539230" cy="760887"/>
            <a:chOff x="9574367" y="3350601"/>
            <a:chExt cx="1539230" cy="760887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82B05718-6476-4260-B256-39013F64E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574367" y="3350601"/>
              <a:ext cx="1539230" cy="473609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B152DB5-F26F-4195-B422-697F261337B4}"/>
                </a:ext>
              </a:extLst>
            </p:cNvPr>
            <p:cNvSpPr txBox="1"/>
            <p:nvPr/>
          </p:nvSpPr>
          <p:spPr>
            <a:xfrm>
              <a:off x="9677421" y="3742156"/>
              <a:ext cx="1333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(pure state)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29847EE7-7551-4285-ACC2-209E74A64BD4}"/>
              </a:ext>
            </a:extLst>
          </p:cNvPr>
          <p:cNvSpPr txBox="1"/>
          <p:nvPr/>
        </p:nvSpPr>
        <p:spPr>
          <a:xfrm>
            <a:off x="485741" y="436716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AE9146-B1FA-4DBC-B409-928E8DE0985A}"/>
              </a:ext>
            </a:extLst>
          </p:cNvPr>
          <p:cNvSpPr txBox="1"/>
          <p:nvPr/>
        </p:nvSpPr>
        <p:spPr>
          <a:xfrm>
            <a:off x="887163" y="4459498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80A0B61-5286-4ABC-B881-2AC341503E2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97223" y="4865753"/>
            <a:ext cx="5247956" cy="479381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9C38507-9E67-41C1-B5A1-DA60D2B11F21}"/>
              </a:ext>
            </a:extLst>
          </p:cNvPr>
          <p:cNvGrpSpPr/>
          <p:nvPr/>
        </p:nvGrpSpPr>
        <p:grpSpPr>
          <a:xfrm>
            <a:off x="6874278" y="4828830"/>
            <a:ext cx="1306883" cy="534970"/>
            <a:chOff x="7180094" y="4857804"/>
            <a:chExt cx="1306883" cy="534970"/>
          </a:xfrm>
        </p:grpSpPr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C76FEAE5-449F-4FAE-82AF-37537B514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527720" y="4857804"/>
              <a:ext cx="959257" cy="534970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46486EE3-6D6F-461D-A2D9-1BB4D5E6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180094" y="4965888"/>
              <a:ext cx="462364" cy="388386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100AC03-0AE5-4AD9-8BC3-581FE6C86C0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7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B87B49-8240-4B37-A73C-AB830BE4CC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6163" b="11061"/>
          <a:stretch/>
        </p:blipFill>
        <p:spPr>
          <a:xfrm>
            <a:off x="866082" y="2551309"/>
            <a:ext cx="431142" cy="6476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DB2170B-F29F-44E9-B5CC-6A7560C83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383" y="2601044"/>
            <a:ext cx="606342" cy="42260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B51372-C313-4ACC-B634-9FDE512D2F31}"/>
              </a:ext>
            </a:extLst>
          </p:cNvPr>
          <p:cNvSpPr txBox="1"/>
          <p:nvPr/>
        </p:nvSpPr>
        <p:spPr>
          <a:xfrm>
            <a:off x="475933" y="257508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972" y="2652022"/>
            <a:ext cx="4011331" cy="86518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76FEAE5-449F-4FAE-82AF-37537B5149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21990" y="3658453"/>
            <a:ext cx="959257" cy="534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9DB9B7-4643-458C-B09D-4D16D121C78B}"/>
              </a:ext>
            </a:extLst>
          </p:cNvPr>
          <p:cNvSpPr txBox="1"/>
          <p:nvPr/>
        </p:nvSpPr>
        <p:spPr>
          <a:xfrm>
            <a:off x="475933" y="4064980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59A34-3B93-40B5-92F7-68CA98B8BA62}"/>
              </a:ext>
            </a:extLst>
          </p:cNvPr>
          <p:cNvSpPr txBox="1"/>
          <p:nvPr/>
        </p:nvSpPr>
        <p:spPr>
          <a:xfrm>
            <a:off x="877355" y="4157313"/>
            <a:ext cx="110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 err="1"/>
              <a:t>Positivite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09A59-C152-4D1F-AC24-70EA01FA0F9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6992" y="5192814"/>
            <a:ext cx="4538668" cy="52877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D1D9878-1234-4B56-81C4-12ED1F2ED63F}"/>
              </a:ext>
            </a:extLst>
          </p:cNvPr>
          <p:cNvGrpSpPr/>
          <p:nvPr/>
        </p:nvGrpSpPr>
        <p:grpSpPr>
          <a:xfrm>
            <a:off x="1099027" y="4618978"/>
            <a:ext cx="3927870" cy="573836"/>
            <a:chOff x="2440972" y="5753151"/>
            <a:chExt cx="3927870" cy="5738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0A58B-A21E-4F14-827F-51A9710F4492}"/>
                </a:ext>
              </a:extLst>
            </p:cNvPr>
            <p:cNvSpPr txBox="1"/>
            <p:nvPr/>
          </p:nvSpPr>
          <p:spPr>
            <a:xfrm>
              <a:off x="2440972" y="5842535"/>
              <a:ext cx="392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 any states        in the Hilbert space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EEC9821-831D-4DB6-BA08-87211784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47003" y="5753151"/>
              <a:ext cx="635319" cy="57383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EE6E2F-74DC-40FB-AD86-26771CCE43A3}"/>
              </a:ext>
            </a:extLst>
          </p:cNvPr>
          <p:cNvSpPr txBox="1"/>
          <p:nvPr/>
        </p:nvSpPr>
        <p:spPr>
          <a:xfrm>
            <a:off x="460901" y="331110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A9F7C-636C-422B-B4A0-C73423571858}"/>
              </a:ext>
            </a:extLst>
          </p:cNvPr>
          <p:cNvSpPr txBox="1"/>
          <p:nvPr/>
        </p:nvSpPr>
        <p:spPr>
          <a:xfrm>
            <a:off x="862323" y="3403441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60EF8A6-499B-4B26-B42B-F9ED3FF8B4D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5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B87B49-8240-4B37-A73C-AB830BE4CC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6163" b="11061"/>
          <a:stretch/>
        </p:blipFill>
        <p:spPr>
          <a:xfrm>
            <a:off x="866082" y="2551309"/>
            <a:ext cx="431142" cy="6476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DB2170B-F29F-44E9-B5CC-6A7560C83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383" y="2601044"/>
            <a:ext cx="606342" cy="42260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B51372-C313-4ACC-B634-9FDE512D2F31}"/>
              </a:ext>
            </a:extLst>
          </p:cNvPr>
          <p:cNvSpPr txBox="1"/>
          <p:nvPr/>
        </p:nvSpPr>
        <p:spPr>
          <a:xfrm>
            <a:off x="475933" y="257508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972" y="2652022"/>
            <a:ext cx="4011331" cy="86518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76FEAE5-449F-4FAE-82AF-37537B5149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21990" y="3658453"/>
            <a:ext cx="959257" cy="534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9DB9B7-4643-458C-B09D-4D16D121C78B}"/>
              </a:ext>
            </a:extLst>
          </p:cNvPr>
          <p:cNvSpPr txBox="1"/>
          <p:nvPr/>
        </p:nvSpPr>
        <p:spPr>
          <a:xfrm>
            <a:off x="475933" y="4064980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59A34-3B93-40B5-92F7-68CA98B8BA62}"/>
              </a:ext>
            </a:extLst>
          </p:cNvPr>
          <p:cNvSpPr txBox="1"/>
          <p:nvPr/>
        </p:nvSpPr>
        <p:spPr>
          <a:xfrm>
            <a:off x="877355" y="4157313"/>
            <a:ext cx="110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Positivity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D9878-1234-4B56-81C4-12ED1F2ED63F}"/>
              </a:ext>
            </a:extLst>
          </p:cNvPr>
          <p:cNvGrpSpPr/>
          <p:nvPr/>
        </p:nvGrpSpPr>
        <p:grpSpPr>
          <a:xfrm>
            <a:off x="3920229" y="4399566"/>
            <a:ext cx="3927870" cy="573836"/>
            <a:chOff x="8201250" y="6040069"/>
            <a:chExt cx="3927870" cy="5738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0A58B-A21E-4F14-827F-51A9710F4492}"/>
                </a:ext>
              </a:extLst>
            </p:cNvPr>
            <p:cNvSpPr txBox="1"/>
            <p:nvPr/>
          </p:nvSpPr>
          <p:spPr>
            <a:xfrm>
              <a:off x="8201250" y="6142320"/>
              <a:ext cx="392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 any states        in the Hilbert space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EEC9821-831D-4DB6-BA08-87211784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500310" y="6040069"/>
              <a:ext cx="635319" cy="57383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EE6E2F-74DC-40FB-AD86-26771CCE43A3}"/>
              </a:ext>
            </a:extLst>
          </p:cNvPr>
          <p:cNvSpPr txBox="1"/>
          <p:nvPr/>
        </p:nvSpPr>
        <p:spPr>
          <a:xfrm>
            <a:off x="460901" y="331110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A9F7C-636C-422B-B4A0-C73423571858}"/>
              </a:ext>
            </a:extLst>
          </p:cNvPr>
          <p:cNvSpPr txBox="1"/>
          <p:nvPr/>
        </p:nvSpPr>
        <p:spPr>
          <a:xfrm>
            <a:off x="862323" y="3403441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66904-0958-442B-805E-DBB18B53B124}"/>
              </a:ext>
            </a:extLst>
          </p:cNvPr>
          <p:cNvGrpSpPr/>
          <p:nvPr/>
        </p:nvGrpSpPr>
        <p:grpSpPr>
          <a:xfrm>
            <a:off x="2363434" y="4429015"/>
            <a:ext cx="1176645" cy="514940"/>
            <a:chOff x="2856992" y="5192813"/>
            <a:chExt cx="1176645" cy="5149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209A59-C152-4D1F-AC24-70EA01FA0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r="83209" b="2616"/>
            <a:stretch/>
          </p:blipFill>
          <p:spPr>
            <a:xfrm>
              <a:off x="2856992" y="5192814"/>
              <a:ext cx="762107" cy="51493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2CF908-9057-49CA-A062-2BF53CBF1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92929" t="-1915" r="-1325" b="4531"/>
            <a:stretch/>
          </p:blipFill>
          <p:spPr>
            <a:xfrm>
              <a:off x="3652583" y="5192813"/>
              <a:ext cx="381054" cy="514939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BAB22D3-B414-42C5-B125-8D2FEA77BFF5}"/>
              </a:ext>
            </a:extLst>
          </p:cNvPr>
          <p:cNvSpPr txBox="1"/>
          <p:nvPr/>
        </p:nvSpPr>
        <p:spPr>
          <a:xfrm>
            <a:off x="488081" y="4956923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C6D6F0-C910-46FC-B77C-12A75598349D}"/>
              </a:ext>
            </a:extLst>
          </p:cNvPr>
          <p:cNvSpPr txBox="1"/>
          <p:nvPr/>
        </p:nvSpPr>
        <p:spPr>
          <a:xfrm>
            <a:off x="889503" y="5049256"/>
            <a:ext cx="573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Time evolution: Liouville’s theorem for quantum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342D0B-FADE-47E3-9CE9-98C93F11C0E9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9529"/>
          <a:stretch/>
        </p:blipFill>
        <p:spPr>
          <a:xfrm>
            <a:off x="862323" y="5446940"/>
            <a:ext cx="4124326" cy="557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12F216-9EE3-4A66-9550-7600EF4605B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1472" y="6121693"/>
            <a:ext cx="2855711" cy="520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DB417B-A8F3-45AC-BE91-7FF495327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7183" y="6206620"/>
            <a:ext cx="1815341" cy="3503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846018-80C7-4BF5-9965-119FCE6B79CD}"/>
              </a:ext>
            </a:extLst>
          </p:cNvPr>
          <p:cNvGrpSpPr/>
          <p:nvPr/>
        </p:nvGrpSpPr>
        <p:grpSpPr>
          <a:xfrm>
            <a:off x="8624236" y="5637693"/>
            <a:ext cx="1713886" cy="733874"/>
            <a:chOff x="8624236" y="5637693"/>
            <a:chExt cx="1713886" cy="7338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4A11AE-41BD-45D4-837F-732BA012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826A78-16AE-4C0B-95BC-96EDCDD46806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3409B1D-8901-474C-892F-6677F5B44737}"/>
              </a:ext>
            </a:extLst>
          </p:cNvPr>
          <p:cNvSpPr txBox="1"/>
          <p:nvPr/>
        </p:nvSpPr>
        <p:spPr>
          <a:xfrm>
            <a:off x="8518359" y="6381996"/>
            <a:ext cx="308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(Conservation of probability)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F009C99-4B78-4099-8063-42706A8D0ED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7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9C92-4E56-44FE-8D4C-924ECA98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Equilibrium in quantum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E321C8-3774-4CB7-BF0E-5BB462CF942A}"/>
              </a:ext>
            </a:extLst>
          </p:cNvPr>
          <p:cNvGrpSpPr/>
          <p:nvPr/>
        </p:nvGrpSpPr>
        <p:grpSpPr>
          <a:xfrm>
            <a:off x="933650" y="2307352"/>
            <a:ext cx="1713886" cy="733874"/>
            <a:chOff x="8624236" y="5637693"/>
            <a:chExt cx="1713886" cy="7338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FDFB5D-C1A7-4CD4-9AAC-C3F3E7D4B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3BCAC3-C7E6-4180-9B0C-561F68698B4E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07017330-7A01-45F1-8168-C63C20A09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270954"/>
            <a:ext cx="1033513" cy="793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08EB75-9C5B-4074-9D36-AEFD0EEC2079}"/>
              </a:ext>
            </a:extLst>
          </p:cNvPr>
          <p:cNvSpPr txBox="1"/>
          <p:nvPr/>
        </p:nvSpPr>
        <p:spPr>
          <a:xfrm>
            <a:off x="3268601" y="2468980"/>
            <a:ext cx="2529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thermal equilibrium: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F9F472C-0331-4B15-83D5-54C4586CD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4243" y="3222459"/>
            <a:ext cx="2916164" cy="57099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278CA63-11AC-46D9-9E61-A07E59D54C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8656" y="5958919"/>
            <a:ext cx="1945506" cy="87921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49D62BA-CCE2-449A-9D93-D8046AFD7173}"/>
              </a:ext>
            </a:extLst>
          </p:cNvPr>
          <p:cNvGrpSpPr/>
          <p:nvPr/>
        </p:nvGrpSpPr>
        <p:grpSpPr>
          <a:xfrm>
            <a:off x="977655" y="3992868"/>
            <a:ext cx="4484405" cy="1117584"/>
            <a:chOff x="977655" y="3992868"/>
            <a:chExt cx="4484405" cy="11175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F4EFF5-86EA-45AD-B322-A89BC671D610}"/>
                </a:ext>
              </a:extLst>
            </p:cNvPr>
            <p:cNvSpPr txBox="1"/>
            <p:nvPr/>
          </p:nvSpPr>
          <p:spPr>
            <a:xfrm>
              <a:off x="977655" y="4476535"/>
              <a:ext cx="27949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Microcanonical ensemble: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9DA634E-9749-420D-A88C-74D10F0B5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72587" y="4283980"/>
              <a:ext cx="1688114" cy="82647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DC44F4-8E7C-4018-9E16-7F4D36B00F7E}"/>
                </a:ext>
              </a:extLst>
            </p:cNvPr>
            <p:cNvSpPr txBox="1"/>
            <p:nvPr/>
          </p:nvSpPr>
          <p:spPr>
            <a:xfrm>
              <a:off x="3798656" y="3992868"/>
              <a:ext cx="1663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458D4-E92F-4650-BB1D-F05D4BE64613}"/>
              </a:ext>
            </a:extLst>
          </p:cNvPr>
          <p:cNvGrpSpPr/>
          <p:nvPr/>
        </p:nvGrpSpPr>
        <p:grpSpPr>
          <a:xfrm>
            <a:off x="5896551" y="4033951"/>
            <a:ext cx="1957607" cy="1138262"/>
            <a:chOff x="5896551" y="4033951"/>
            <a:chExt cx="1957607" cy="1138262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32E4A2-BFE3-4EAF-A632-D68925C05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896551" y="4476534"/>
              <a:ext cx="1957607" cy="69567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8D82A6-476B-47AA-BBC9-811FE754C9FC}"/>
                </a:ext>
              </a:extLst>
            </p:cNvPr>
            <p:cNvSpPr txBox="1"/>
            <p:nvPr/>
          </p:nvSpPr>
          <p:spPr>
            <a:xfrm>
              <a:off x="6045067" y="4033951"/>
              <a:ext cx="1636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Normalization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636542-C3DE-4D2E-A0EC-DB57CABCF18C}"/>
              </a:ext>
            </a:extLst>
          </p:cNvPr>
          <p:cNvGrpSpPr/>
          <p:nvPr/>
        </p:nvGrpSpPr>
        <p:grpSpPr>
          <a:xfrm>
            <a:off x="5183441" y="2881834"/>
            <a:ext cx="4836950" cy="432584"/>
            <a:chOff x="5316709" y="2958836"/>
            <a:chExt cx="4836950" cy="43258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EC5719-F545-4130-BBE7-0CE21BADB164}"/>
                </a:ext>
              </a:extLst>
            </p:cNvPr>
            <p:cNvSpPr txBox="1"/>
            <p:nvPr/>
          </p:nvSpPr>
          <p:spPr>
            <a:xfrm>
              <a:off x="5826321" y="2958836"/>
              <a:ext cx="4327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Independent random phases assumption.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90E139E-2788-48E7-8B2C-E7ED4E3EF832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>
              <a:off x="5316709" y="3143502"/>
              <a:ext cx="509612" cy="24791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D7F640-20B2-4E37-B910-BFA80D102900}"/>
              </a:ext>
            </a:extLst>
          </p:cNvPr>
          <p:cNvGrpSpPr/>
          <p:nvPr/>
        </p:nvGrpSpPr>
        <p:grpSpPr>
          <a:xfrm>
            <a:off x="1444893" y="5110160"/>
            <a:ext cx="8575498" cy="805562"/>
            <a:chOff x="1444893" y="5110160"/>
            <a:chExt cx="8575498" cy="80556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1F1ED8-7491-489D-8458-378FBD840345}"/>
                </a:ext>
              </a:extLst>
            </p:cNvPr>
            <p:cNvSpPr txBox="1"/>
            <p:nvPr/>
          </p:nvSpPr>
          <p:spPr>
            <a:xfrm>
              <a:off x="1444893" y="5437221"/>
              <a:ext cx="2250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Canonical ensemble: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65EBA3D-C7EE-4071-B25C-1B2D8C1F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83556" y="5110160"/>
              <a:ext cx="1299884" cy="805562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2CFD091-3AB4-475F-97E5-C01667BB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884164" y="5271905"/>
              <a:ext cx="1481925" cy="482072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5D01C4AE-EF15-47BB-B538-8A6AF62080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26027" b="4429"/>
            <a:stretch/>
          </p:blipFill>
          <p:spPr>
            <a:xfrm>
              <a:off x="8004961" y="5113679"/>
              <a:ext cx="2015430" cy="76893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397498-FE77-4690-A7A0-097D2C31E680}"/>
              </a:ext>
            </a:extLst>
          </p:cNvPr>
          <p:cNvGrpSpPr/>
          <p:nvPr/>
        </p:nvGrpSpPr>
        <p:grpSpPr>
          <a:xfrm>
            <a:off x="892503" y="5996308"/>
            <a:ext cx="9714538" cy="733096"/>
            <a:chOff x="892503" y="5996308"/>
            <a:chExt cx="9714538" cy="73309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DC9D9C-F569-4AA4-8882-CEEB0DA7C73C}"/>
                </a:ext>
              </a:extLst>
            </p:cNvPr>
            <p:cNvSpPr txBox="1"/>
            <p:nvPr/>
          </p:nvSpPr>
          <p:spPr>
            <a:xfrm>
              <a:off x="892503" y="6247331"/>
              <a:ext cx="2880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Grand canonical ensemble: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564249D-0F7A-4B56-8EBC-5E81EF83E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896552" y="6247331"/>
              <a:ext cx="1945507" cy="482072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A990F16D-BFFC-478D-861B-71B22AD0E4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21359" b="12916"/>
            <a:stretch/>
          </p:blipFill>
          <p:spPr>
            <a:xfrm>
              <a:off x="8057553" y="5996308"/>
              <a:ext cx="2549488" cy="733096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02B6DD-4387-4CB6-8ADA-BA2CAB5B595F}"/>
              </a:ext>
            </a:extLst>
          </p:cNvPr>
          <p:cNvGrpSpPr/>
          <p:nvPr/>
        </p:nvGrpSpPr>
        <p:grpSpPr>
          <a:xfrm>
            <a:off x="7979295" y="4033951"/>
            <a:ext cx="3727735" cy="990180"/>
            <a:chOff x="7979295" y="4033951"/>
            <a:chExt cx="3727735" cy="99018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B44DC7-4A1B-419C-9AEE-40B5912E9D40}"/>
                </a:ext>
              </a:extLst>
            </p:cNvPr>
            <p:cNvSpPr txBox="1"/>
            <p:nvPr/>
          </p:nvSpPr>
          <p:spPr>
            <a:xfrm>
              <a:off x="8264869" y="4033951"/>
              <a:ext cx="34421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eigenstate representation</a:t>
              </a: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038D4FA5-61C9-4DEA-86EB-0BC268B072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t="1" r="22474" b="6070"/>
            <a:stretch/>
          </p:blipFill>
          <p:spPr>
            <a:xfrm>
              <a:off x="7979295" y="4328451"/>
              <a:ext cx="2310112" cy="6956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15115D-579E-495A-9C2B-79E0B8272155}"/>
              </a:ext>
            </a:extLst>
          </p:cNvPr>
          <p:cNvGrpSpPr/>
          <p:nvPr/>
        </p:nvGrpSpPr>
        <p:grpSpPr>
          <a:xfrm>
            <a:off x="7129513" y="3162116"/>
            <a:ext cx="3732176" cy="743203"/>
            <a:chOff x="7129513" y="3162116"/>
            <a:chExt cx="3732176" cy="743203"/>
          </a:xfrm>
        </p:grpSpPr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9CA4A5EF-6D7A-44AC-8D25-6AFBA9424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099605" y="3162116"/>
              <a:ext cx="1934632" cy="46298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AAA09A-52D7-4B81-B3A9-9100C5247003}"/>
                </a:ext>
              </a:extLst>
            </p:cNvPr>
            <p:cNvSpPr txBox="1"/>
            <p:nvPr/>
          </p:nvSpPr>
          <p:spPr>
            <a:xfrm>
              <a:off x="7129513" y="3535987"/>
              <a:ext cx="3732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It is okay to have off diagonal terms.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06BC306-360B-4397-9938-B135D18865C5}"/>
              </a:ext>
            </a:extLst>
          </p:cNvPr>
          <p:cNvGrpSpPr/>
          <p:nvPr/>
        </p:nvGrpSpPr>
        <p:grpSpPr>
          <a:xfrm>
            <a:off x="5798396" y="4403283"/>
            <a:ext cx="2466473" cy="2434855"/>
            <a:chOff x="5798396" y="4403283"/>
            <a:chExt cx="2466473" cy="2434855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67C1351-D649-4775-8126-F9A0DC08F2F6}"/>
                </a:ext>
              </a:extLst>
            </p:cNvPr>
            <p:cNvSpPr/>
            <p:nvPr/>
          </p:nvSpPr>
          <p:spPr>
            <a:xfrm>
              <a:off x="5798396" y="4403283"/>
              <a:ext cx="2043663" cy="243485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A71DF6-D1D4-40E4-A06C-1F89827F7F0D}"/>
                </a:ext>
              </a:extLst>
            </p:cNvPr>
            <p:cNvSpPr txBox="1"/>
            <p:nvPr/>
          </p:nvSpPr>
          <p:spPr>
            <a:xfrm>
              <a:off x="6637692" y="5882609"/>
              <a:ext cx="1627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How to count?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3D0E3EC-01BB-4A72-A20F-68F0C19BE30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8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EACB089-40B8-4EA7-8404-B25C9320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1FE69C8-DFD5-49B3-BB9D-B67C4F59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14E55CC-9062-421E-AA10-4C87EDAF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F80E906-A6DA-4CC5-BFBA-E43415A4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PHY301：经典统计力学总结。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classical statistical mechanics｜经典统计力学：用经典微观状态的概率分布解释宏观热力学。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ensemble｜系综：满足同一宏观条件的大量虚拟系统集合。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8077B31-CDE7-4012-94CE-7F9B8486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621909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0DCE61B-F39C-428D-8144-CCFC4BB3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5113C91-56CA-478A-A709-4739A2B4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181180D-CC3B-46C8-A059-FB6D557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B98F322-4B31-4CB5-892B-5B57B13D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【从零讲懂】本讲先把相空间、系综和 Liouville 定理串成一个统一框架，再比较四种常见系综与热力学势；后半讲从经典相空间转向量子 Hilbert 空间和密度矩阵，为量子统计铺路。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经典力学 Hamilton 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概率分布、配分函数、热力学势。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“系综”不是很多真实样品必须同时存在，而是描述不确定性的统计构造。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4E5C259-7F17-4971-95D6-0FA82017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806556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29FF0DC-E1FE-461F-B9D0-2C9C0F32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8302D4-B6F1-4604-8447-8E3EBACC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7A26411-96B3-41F4-82CA-9AA88F7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C2E5750-0454-407C-81F0-85226F8D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【忠实翻译】N 粒子经典系统的一个微观态由全部动量与位置 μ=(p₁,…,pN,q₁,…,qN) 指定，共有 6N 个坐标。所有可用微观态组成相空间；Hamilton 方程给出相空间点随时间的轨迹。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microstate｜微观态：完整指定全部粒子位置与动量的状态。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phase space｜相空间：所有 (p,q) 组合构成的 6N 维空间。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ABCFE67-5D4C-4F3E-9980-32F76D3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854005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4DE3A2C-777A-415B-BC0D-505BA261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96B5C4-D138-4553-AC90-B1EBF65E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471F6A9-1EB2-4AC3-80EE-C8E759AF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9879ECF-0EE6-4622-A874-BB635E59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【从零讲懂】宏观态只给 E、V、N 等少数信息，因此对应极多相空间点。统计力学的任务不是追踪每个粒子，而是在相空间上建立概率密度 ρ(p,q,t)，再对可观测量取平均。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Hamilton 力学。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相空间的一点代表整个 N 粒子系统，不是一个粒子。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C15E9EC-B407-4390-A405-8ABD421E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445404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4EC3619-B83D-4CC0-9FF6-52BC93A5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4F0B7D0-1226-4686-94A6-A3C939C6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6E901F9-8A3C-4433-B25C-3EE2B6CB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A89D24D-2935-400E-AE53-C93190B5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μ=(p₁,…,p_N,q₁,…,q_N)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q̇α=∂H/∂pα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ṗα=-∂H/∂qα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B4EA9EB-F819-41F5-9727-31D41F56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94430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F0BB2DD-BD56-47F3-9EE8-5E178B9A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BAE3A26-F0DC-4426-9271-7BE328E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F7622D9-8E6B-4AB2-8E0C-2427108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5C7ED64-1520-4FB0-B390-73B69FB7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【忠实翻译】系综可想成同一宏观条件下 N份系统副本，各自在相空间占一点。相空间体积元 dpdq=∏i d³pi d³qi；概率守恒要求 ρ(p,q,t)dpdq=ρ(p′,q′,t+δt)dp′dq′。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probability density｜概率密度：单位相空间体积内出现微观态的概率。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phase-space flow｜相空间流：微观态按 Hamilton 方程在相空间中的运动。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215B76-EFF2-444A-BB06-B2068CE8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956805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DD0E559-4785-42C7-BD25-77372C5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EE09D84-DA14-4C23-B7C5-4B724941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FFC76A0-A9FB-45E0-90F3-DDC9B584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0E22F28-E795-410E-86DB-0041536D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【从零讲懂】随着动力学演化，相空间中的“概率流体”会移动和形变，但总概率保持1。接下来 Liouville 定理会说明 Hamilton 流保持相空间体积，因此概率密度沿轨道满足确定的连续性方程。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第7讲第2页：相空间。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连续概率分布与 Jacobian。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ρ 是密度，不能与有限区域的概率 ρdpdq 混淆。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BDA5168-8581-4CE4-B188-F35C8C9B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826938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E4BCD73-0624-4488-AC74-80DAC893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83BCB2A-5762-41FF-A32D-23E1BE15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2AA5384-A272-4791-B46D-4727998C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96F9BD2-1823-40D9-892E-990D961F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dpdq=∏ᵢd³pᵢd³qᵢ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ρ(p,q,t)dpdq=ρ(p′,q′,t+δt)dp′dq′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∫ρ(p,q,t)dpdq=1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9B39EAF-A4F8-44A7-B47B-F8DAC083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252465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1D7B9D5-09BD-4983-B8CB-2A569BE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9044A11-0F97-4E69-8DAB-3298981E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3F55626-BBAE-42D1-8982-47D106FC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5FC0F46-5BDE-4EEA-98E1-51D6609D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【忠实翻译】概率密度满足 ∂ρ/∂t=-{ρ,H}，其中 { , } 是 Poisson 括号。平衡分布可写成 Hamiltonian H 与其他守恒量 Ln 的函数，因为 {Ln,H}=0 时它们沿轨道不变。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Liouville theorem｜刘维尔定理：Hamilton 流保持相空间体积。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Poisson bracket｜泊松括号：经典力学中描述两个函数沿动力学变化的运算。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constant of motion｜守恒量：沿轨道保持不变的物理量。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D783C30-B4CC-4867-8BC7-F518C627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990609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7CCADB8-91D3-42AE-80E8-0015CD0F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2D751A6-4987-4889-8DE1-D370A2E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8D0B0D4-4031-4C2F-85C6-499594B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04B4846-759D-4832-BF51-9A6B535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【从零讲懂】Liouville 定理可理解为不可压缩的相空间流：沿 Hamilton 轨道，相空间体积不膨胀也不收缩。若 ρ 只依赖守恒量，它沿每条轨道不变，从而成为定态分布。微正则分布正是“固定能量壳上均匀”的特例。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第7讲第2–3页：Hamilton 方程与概率流。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平衡分布不一定只依赖 H；若有额外守恒量也可依赖它们。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E0CE1B3-6614-4C25-9D82-3D385D5A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711546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A230F6E-070E-4C70-8218-9B7BDFE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CDCE476-CF64-4B34-8794-646BCE0B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84B570F-790F-443E-8F6D-CC4A8C37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0776E02-6EFE-455D-8C52-65BFE3AE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∂ρ/∂t=∑α[(∂ρ/∂pα)(∂H/∂qα)-(∂ρ/∂qα)(∂H/∂pα)]=-{ρ,H}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{L_n,H}=0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ρ_eq=ρ(H,L₁,L₂,…)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7F11288-4D63-47FB-B46E-9D45135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7474933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4DCBDBC-BD78-4EDA-99B9-07BB1B71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807FF0B-1BBA-4669-8C75-F431E4B7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4C2C411-B5A8-436F-A5CE-FA23B939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7A0AD33-5973-40C1-B7C4-1F1DCC9A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【忠实翻译】微正则系综固定 E，能量壳上 pE=1/Ω；正则系综固定 T，P(μ)=e^{-βH}/Z；广义 Gibbs 正则系综还含外场 J 与共轭量 x；巨正则系综允许 N 涨落，权重为 e^{βμN-βH}/Q。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microcanonical ensemble｜微正则系综：固定 E,V,N。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canonical ensemble｜正则系综：固定 T,V,N。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grand canonical ensemble｜巨正则系综：固定 T,V,μ，N 可涨落。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462805D-3B76-425E-A1F4-D37778A9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778637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8CE3C98-B9D8-4B2A-94A3-F6536D86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501DF9C-B4BD-4813-8086-04585B4C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3B16A75-190C-4DFA-B4FD-A1F204B1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CE8C9C-7CD4-4F33-832D-9631CF4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【从零讲懂】选择系综等于选择系统可与环境交换什么：隔离系统固定 E；接触热库交换能量；接触粒子库再交换粒子；外场控制时还要加入 J·x。热力学极限下，满足稳定性条件时这些系综常给出相同平均宏观量。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第7讲第4页：平衡分布是守恒量的函数。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化学势权重的标准符号是 e^{βμN-βH}；不要与 e^{-β(H-μN)} 的等价写法混乱。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6493E2D-11FF-4F91-A37F-2CD7821C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05832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536809D-6266-4CB9-AE50-E8BADAB7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4D5CCD5-EBE4-4A9A-AEB5-2D15836B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71F3218-E860-4DD8-9066-FC37FA5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604B777-4BD3-4BA8-BF3B-DD13EA22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p_E(μ)=δ[H(μ)-E]/Ω(E)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Ω(E)=∫δ[H(μ)-E]dpdq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P_can(μ)=e^{-βH(μ)}/Z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p_G(μ,x)=exp[-βH(μ)+βJ·x]/𝒵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p_grand(μ_s,N)=exp[βμN-βH(μ_s)]/Q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C3F38CA-A831-4D0F-9A75-26B5A53A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030449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259F8FC-B297-4CCB-846D-85F189B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7164E87-308E-455E-B16A-F9394B4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6B7B901-3DBE-4080-A95D-766C5C7C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B09B969-4872-4BEE-AC20-3283E6E6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【忠实翻译】课件表格比较微正则、正则、Gibbs 正则与巨正则系综的宏观控制量、概率和归一化函数。对应热力学关系包括 S=kBlnΩ、F=-kBTlnZ、G=-kBTln𝒵、kBTlnQ=PV，以及由对数配分函数对 β、J、μ 求导得到平均能量、位移和粒子数。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generating function｜生成函数：通过导数产生平均值和涨落的函数。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Legendre transform｜勒让德变换：把自然变量从广延量换成共轭强度量。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24F9DB0-4503-47A1-AE2D-69C3AED4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69429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06B95B2-A517-4F0C-AC8A-85548BE0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B80D96A-92A2-4BE6-9596-BE6E8EE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EA08150-54CD-4F78-8CAD-272165D5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C8ED0E8-3852-4ECF-AB7A-2B4762BA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【从零讲懂】配分函数不仅做归一化，更是热力学信息的生成函数：对控制参数求导即可“拉出”其共轭量。不同热力学势是 Legendre 变换后的同一信息，选择哪个取决于实验中固定的是 E/T、x/J、N/μ。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第7讲第5页：四种系综。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热力学势 F、G、巨势。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表中巨正则概率一处写成 exp(-βH-βμN)/Q，与前页及 Q 的标准定义符号冲突；应标记为源课件不一致。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Gibbs canonical 在这里指含广义场 J 的系综，不要与 Gibbs 自由能名字混为一谈。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EE2E1BB-5FC3-45E9-9529-F096BC39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310162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05BFE41-8318-49DB-9A5B-AF9D661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C874A6F-4128-4D0D-8456-7406A8FD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6B6D754-D951-465F-9CC7-F03FC56B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20D0B1A-32B5-48C1-90F6-92D88B26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S(E,x)=kB lnΩ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F(T,x)=-kBT lnZ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G(T,J)=-kBT ln𝒵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𝒢(T,μ,x)=E-TS-μN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⟨H⟩=-∂lnZ/∂β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6. ⟨x⟩=kBT∂ln𝒵/∂J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7. kBT lnQ=PV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8. ⟨N⟩=(1/β)∂lnQ/∂μ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D846029-605B-4882-AC72-90C0BFC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7011560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768DC24-A3DD-4409-A664-0F058425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9C2515F-0646-48D7-B4E8-7EFEA101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FF7F9B6-8864-4870-9F70-58B6FE0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CBA4EE7-19C3-44F8-9DDE-BFBBB4F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【忠实翻译】采用课件的 Clausius 符号约定 dQ=dE-dW、可逆时 dQ=TdS，可构造 F=E-TS、G=E-TS-x·J、𝒢=E-TS-μN。线、薄膜、流体、磁性、介电和化学系统分别有张力-长度、表面张力-面积、-P-V、H-M、E-P、μ-N 等共轭对。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generalized force｜广义力：与广义位移共轭的强度量。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natural variables｜自然变量：热力学势微分中最直接出现的控制量。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sign convention｜符号约定：功和热流正方向的统一选择。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D3E3C7E-A6DD-4B4E-9F9A-6A6F478A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9707004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D887D3A-5B62-452C-B868-1423A825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CD4F816-DB43-4055-86E4-24DA4DF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BA8B6D0-E1D2-4C7F-81EB-2F30DB47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9434A27-1259-44E5-B033-BDC2C66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【从零讲懂】每个热力学势都有最适合的自然变量。例如固定 T、V、N 时最小化 F；固定 T、P、N 时常用 G。符号来自“系统对外做功”还是“外界对系统做功”的约定，换教材时先确认第一定律的写法。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第7讲第6页：系综与势。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Legendre 变换。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流体的共轭力在表中写 -P；若用 dE=TdS-PdV，则必须始终保持同一符号约定。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1AAA4C7-7C4E-47E9-A0D0-E3792A17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97587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F472916-CFCB-4006-9545-623061B5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7CC56E5-D4D9-4A5F-98ED-D37201FC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F376694-AB20-4DFB-A69E-E997BB4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B859175-AB0E-489C-98D1-59919F3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F=E-TS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G=E-TS-x·J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𝒢=E-TS-μN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dF=-S dT+J·dx (under the slide convention)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C91A7C6-2B37-4B0F-BE43-E34B45A5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642828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5CB428F-9701-4B1A-B916-AF85111D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D190EA6-1B58-4542-84B2-9C5C749A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CD748FE-F6CF-4701-9F69-A7A54A68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8E9B64D-8955-4C76-A414-88BC378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【忠实翻译】经典统计系综可导出热力学定律；理想气体、二能级系统等例子显示不同系综在热力学极限给出一致宏观结果。Gibbs 悖论通过相同粒子的 N! 修正解决；维里定理推广能量均分；相互作用体系可用平均场和 Landau 理论近似处理，但这些方法有适用边界。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Gibbs paradox｜吉布斯悖论：混合相同粒子若误当可分辨会产生伪熵增。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virial theorem｜维里定理：把动能平均与坐标—力平均联系起来。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4176F93-673F-45D5-AF7A-1CF05088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0480738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F696596-A146-41D1-AC93-8E9CD1A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5A87C5E-02BF-46F0-8F80-F540F01A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EDC583C-1DE5-4F83-913E-9C1FDAA7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71EF082-12AD-40E1-BC01-0328DA7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【从零讲懂】把本部分看成一条主线：微观动力学→相空间概率→系综→配分函数→热力学势→响应与相变。考试做题时先辨认控制变量和系综，再写相应配分函数，最后用对数导数求平均量与涨落。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第1–7讲经典统计部分。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系综等价通常是热力学极限结论；有限系统、长程作用或相变附近可能不等价。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1D27B62-F7C9-4BCB-85D4-B7125AC4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7080106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61F825E-F45B-4BF9-8069-0BFF026D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4E995B1-21BB-41E1-8A8E-2FC0A691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25965E2-CFB1-4C74-AF51-A6230EC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C7DD384-8583-45B3-806C-6C66D50D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PHY301：量子系统的统计形式。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quantum statistical mechanics｜量子统计力学：用密度算符和量子态统计描述宏观体系。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density operator｜密度算符：同时编码量子态与经典混合概率的算符。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00E38BA-5737-428D-BB8B-DA06B18B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552805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B391C0C-5F8A-47E6-85FC-400BD671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3D16E7B-B5DE-4DB9-A9E6-A6EE9ED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50DA27A-CC85-45BA-84A0-C6FF4346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L07-09｜入门讲解与易错点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1C0DEEE-B75D-48DE-B99E-D564A11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【从零讲懂】后半讲把“相空间上的概率密度”换成“Hilbert 空间上的密度算符”。目标是既保留量子叠加与测量规则，又能描述我们对制备态的经典不确定性。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线性代数、复向量空间、基础量子力学。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量子统计不是简单把经典相空间变量换成离散标签；不可对易性和交换对称性会改变计数。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5E22059-9726-49D6-AD11-7D62298F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7044368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F517927-4BF4-4D9B-8BF3-A992562B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9E84DC8-A386-4D68-9187-5C691A6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8304D43-9C76-4BFE-A1D5-95F7AD62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09E7B24-8DFD-484E-BB52-2DAE89D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【忠实翻译】热运动给出典型动量尺度 p²/(2m)≈3kBT/2；用 p=h/λ 定义波长，可得课件所示 λ=√[4π²ℏ²/(3mkBT)]。平均粒子间距 a=n^{-1/3}。当波长与间距可比或更大时，粒子波包重叠，必须使用量子统计。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thermal wavelength｜热波长：温度决定的典型德布罗意波长。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quantum degeneracy｜量子简并：波包重叠使量子统计不可忽略的状态。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E4E8504-AC9D-43C8-93E0-99C7992D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122284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284D506-C906-41E5-82AF-F9F50D52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DBF86FA-A197-4B30-B9C0-0C474BB5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96EE72-4C9B-4D8D-AFC1-0FBC52F0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74BC02-742F-4520-AF40-06A5773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【从零讲懂】降温、减小质量或增大密度都会增大量子简并程度。更常见的判据是 nλT³≳1（常数因热波长定义而异）。波包重叠后，粒子不可分辨性与 Bose/Fermi 交换对称性直接影响宏观热力学。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德布罗意关系 p=h/λ。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数密度 n=N/V。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不同教材的热波长 λ 定义含不同 2π 或 3 的因子，比较公式时要先统一定义。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2931B08-344A-4B08-8215-FF663374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362312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35CEFE8-234F-44D6-B839-E006595E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9EA666F-2151-451D-BDE9-5EBE25B4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4221CE7-5937-433A-A66D-CF2A8E5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2CBFA6B-CA34-495A-96A5-99079FFE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p²/(2m)≈3kBT/2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p=h/λ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λ=√[4π²ℏ²/(3mkBT)] (slide convention)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a=n^{-1/3}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quantum regime: a≲λ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DCC5141-61A2-4529-A2EF-9A0C71F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4458528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BEEA455-DDB2-487B-8842-D9F2FEB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B0A8D13-6AD0-4ACB-A8BA-7B26D89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19A81D9-24B8-407F-8EA3-D1CD6E80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BC8083F-9A98-4572-9182-8F2AFD38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【忠实翻译】经典状态是相空间中的点，并按 Hamilton 方程演化；量子状态是 Hilbert 空间中的向量 |Ψ⟩，在一组完备基 |n⟩ 上展开，并按 Schrödinger 方程演化。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Hilbert space｜希尔伯特空间：带内积的完备复向量空间。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probability amplitude｜概率幅：模平方给出测量概率的复数系数。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5A7A195-B021-4687-9613-8A53844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3308696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B143F02-FC26-4514-8B8F-92972B2B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1CAB5A6-7D78-4C75-A9B0-1192743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9C171E1-D262-439B-8516-ADDE4616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CC3C835-EA6D-474E-B1B7-60CE9E7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【从零讲懂】Hilbert 空间不是普通位置空间：一个向量包含对所有可能测量结果的复概率幅。选基相当于选测量语言，物理态本身不依赖基。单位时间演化保持内积和总概率。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第7讲第2页：经典相空间。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复数与向量内积。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标准 Schrödinger 方程通常是 iℏ∂t|Ψ⟩=H|Ψ⟩；源页写了负号，且与后页 U=e^{-iHt/ℏ} 不一致，应明确标注疑似笔误。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33594D9-086A-4FED-A583-4ECF55F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5709058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6D9DC61-8D75-4627-897B-338B16BD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9BF880D-C1E3-4C24-9E72-B45BCE85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4399DF5-76D0-41C4-AD4D-F0E45FD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BE33EE3-7979-46A3-B880-258D667C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|Ψ⟩=∑n c_n|n⟩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⟨Ψ|Ψ⟩=1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Source slide prints: -iℏ d|Ψ⟩/dt=H|Ψ⟩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834D91E-89DF-4683-95B0-E562F47F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1659243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6229737-78CB-453C-9D15-5E8BE79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27956A7-9080-455B-8EAE-95D4FE97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F5DC19D-589B-4C22-841F-B61D4A8F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006CC0D-2DB9-4A58-B2B8-6CEBE6B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【忠实翻译】量子 Hamiltonian 由经典 H=∑pᵢ²/(2m)+V 量子化而来，在位置表象 p→-iℏ∂/∂q。能量本征态满足 H|n⟩=En|n⟩，投影算符 |n⟩⟨n| 构成完备分解；在态 |Ψ⟩ 中测得 En 的概率是 |⟨n|Ψ⟩|²。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eigenstate｜本征态：测量相应可观测量时结果确定的状态。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projector｜投影算符：把态投到某个子空间的算符。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completeness｜完备性：基向量足以展开任意态。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FDE63B-8A26-46BC-8129-388F718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304304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6D2B11A-F2E3-4CD9-B220-A2AB5BF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2A0AD9-3314-4578-B5F8-41D6A994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92A53EB-E981-4F16-ADB3-B8C5764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61A8A9D-74EE-4FD8-B1DF-7282A5B6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【从零讲懂】把 |Ψ⟩ 展开到能量基后，每个系数只是“测量得到该能量的概率幅”，不是系统暗中已经选好的能量。完备性 ∑|n⟩⟨n|=I 保证所有互斥结果的概率和为1；连续谱时求和换成积分。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第7讲第11页：Hilbert 空间。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线性代数中的本征值问题。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本征态标签 n 可离散也可连续；连续时归一化和求和规则不同。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D9C3A45-9913-46BC-9680-4970B151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42330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72B492C-EE08-4F9A-B68B-84157A67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B67782D-7103-419E-A229-9B5E2165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9497C8A-C941-4B11-B518-400C0EF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7F4D788-5108-41A6-8A28-1FE0A1F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H=∑ᵢpᵢ²/(2m)+V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p→-iℏ∂/∂q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H|n⟩=E_n|n⟩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I=∑n|n⟩⟨n|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P(E_n)=|⟨n|Ψ⟩|²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4D4CB16-F63D-41DD-9B7E-8C4D9644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746337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6B033C4-67C0-4EC9-868A-C7A0204C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4EFC311-3214-43B8-A394-69944EE4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42011AD-B5ED-447C-89F0-D26A4CDB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01BBC77-045A-4731-99C8-9C8304E0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【忠实翻译】量子态是 Hilbert 空间中的归一化向量；物理可观测量 O 由 Hermitian 算符表示，保证本征值为实数。若测量 H=p²/(2m)，可能结果是能量本征值 En，概率由态在相应本征态上的投影决定。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observable｜可观测量：可通过实验测量并由 Hermitian 算符表示的量。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Hermitian operator｜厄米算符：满足 O†=O、具有实本征值的算符。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1FEE0A2-B480-4620-803D-57BBC55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8866756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94E8ACC-4CF2-46FF-AE03-73E7170E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A9D7F05-2079-4A7C-A271-429D8F04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D489CFE-CE7F-43E9-BFEC-C2C9815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88FD091-5B0A-45CE-8B2A-8FE5E612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【从零讲懂】Hermitian 性连接“数学算符”与“真实测量值”。期望值 ⟨O⟩=⟨Ψ|O|Ψ⟩是重复制备同一状态后的平均，不代表一次测量一定得到这个数。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第7讲第12页：本征态与投影。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期望值通常不是某次单次测量结果。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596C335-1452-40FC-BF82-247785C5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7610251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2657AC5-591B-47F6-B75E-FD516EBD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117565E-0632-49C1-8897-A265875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D743BAA-F631-4EF7-8AE6-1225D43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AE5B9DD-8F2D-4661-8499-BA3677AE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O†=O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⟨O⟩=⟨Ψ|O|Ψ⟩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H=p²/(2m)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B6F7967-57A1-4B87-8402-7B3DA89B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876304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03AD756-BA31-47DA-8FD5-CFA42E2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B0E6DF3-7659-4205-9EE9-3BC1278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ED24F82-9B23-4FDF-AFAE-AB29D6F7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B12BB85-DAB7-4F86-A363-0BFCA39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【忠实翻译】量子态在 Hamiltonian 作用下随时间演化。时间无关 H 时，演化算符 U(t,t₀)=exp[-iH(t−t₀)/ℏ]，且 U†U=I，因此内积和概率守恒。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unitary evolution｜幺正演化：保持内积和总概率的时间演化。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time-evolution operator｜时间演化算符：把初态映射到后续时刻的 U。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180206A-BD82-4DD4-9FDF-602C7BDB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1206332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7E9955A-2450-4BFC-B39C-DD538E5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A80FAB6-E35C-4605-BA54-16F73A96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FE40DE5-BC20-459C-BD44-2FA67B57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7E3608C-112B-40EE-BD92-1A7BE44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【从零讲懂】若初态展开为能量本征态，每个分量只获得相位 e^{-iEnt/ℏ}。这些相对相位会产生干涉。单位性是量子版的概率守恒；它对应经典 Liouville 流保持归一化。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第7讲第11–13页：Hilbert 空间与 Hamiltonian。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源页再次出现 -iℏ∂t|Ψ⟩=H|Ψ⟩；这与其给出的 U 的符号不自洽，标准形式为 +iℏ∂t|Ψ⟩=H|Ψ⟩。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4DB6809-8D7C-420B-940A-54BCAE9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2118386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2430B90-CD67-4CE7-BF55-18CA1F8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7C9C146-3DB6-4FB0-99A7-B9F243A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75C3006-6F70-4D09-99D2-134E8CB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C084D58-5DCB-4FD1-874B-DEE8E64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U(t,t₀)=exp[-iH(t-t₀)/ℏ]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|Ψ(t)⟩=U(t,t₀)|Ψ(t₀)⟩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U†U=I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97D4DB1-5F95-4D4A-A4F5-12957837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2348378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5821E48-622C-4138-A557-85D31112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AAC1232-0F14-488E-9DA6-E52C9F35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C725842-DA38-4666-B03F-13C791C7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957B0CF-8AC3-4AB8-841F-63B7C635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【忠实翻译】若系统以概率 pα 制备在 |Ψα⟩，可定义 ρ=∑αpα|Ψα(t)⟩⟨Ψα(t)|。任意可观测量平均为 ⟨O⟩=∑αpα⟨Ψα|O|Ψα⟩=tr(ρO)，矩阵元为 ⟨n|ρ|m⟩=∑αpα⟨n|Ψα⟩⟨Ψα|m⟩。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density matrix｜密度矩阵：描述纯态或统计混合态的正算符。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statistical mixture｜统计混合：对制备了哪个纯态存在经典概率不确定性。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trace｜迹：矩阵对角元之和，且与基选择无关。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5C9571B-656A-4D17-96C5-EB711F89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3524170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D2EC6C3-4330-4356-A503-AE80AA25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ECD4AC5-3D84-4496-8FD0-743180B9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9134F20-FCBB-4A9A-8612-7B75DFB5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87949F7-1BF6-4690-9E7B-DB95C3A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【从零讲懂】密度矩阵把两种不确定性统一：每个 |Ψα⟩ 内部有量子叠加，pα 又表示制备的不确定性。不同的混合分解可对应同一个 ρ，因此 ρ 而不是那一份分解列表才是完整物理描述。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第7讲第13–14页：期望值与幺正演化。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混合态不是一个“未知但实际确定”的叠加态；相干项结构不同。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C168051-1741-44FF-8C81-AB331CCA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8703363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5AE53F9-D537-4225-A7E1-A074AC8B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6400123-D0B3-4FEE-8D3D-80DB81E7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236726B-6709-4C4C-AB45-91DAD2F6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9F9BE07-3F22-42BE-902B-BFCFBB4B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ρ=∑αpα|Ψα(t)⟩⟨Ψα(t)|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⟨O⟩=tr(ρO)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⟨n|ρ|m⟩=∑αpα⟨n|Ψα⟩⟨Ψα|m⟩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C8AF919-1EC2-4383-A1AC-A4016CB6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6435084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055E052-8D49-4754-A20D-51952359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49CD5DA-8722-4A51-A1AF-711AD0ED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5B3B531-683D-4229-80EB-AFA2E29A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EF3D62E-BCF1-45A7-BC00-BCC7E2F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【忠实翻译】密度矩阵满足 trρ=1、ρ=ρ†，并可用纯度区分纯态与混合态：纯态 ρ²=ρ 且 trρ²=1；混合态 trρ²&lt;1。课件以 ∑αpα² 表示纯度的直觉。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purity｜纯度：trρ²，衡量状态离纯态有多近。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pure state｜纯态：可由单个态矢量完全描述的状态。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mixed state｜混合态：不能由单个态矢量描述的统计混合。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1EA241E-8D2A-43A1-B5F9-398FDA6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9587492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CDFA2E8-BE2A-4CA4-B910-E6B7D9EF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4DAF42F-F0C4-4845-8069-0E8CBD8F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5FE0CF1-DD1A-4ADC-90D9-044B603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E45A572-EBC0-49D4-B3B3-D96951F2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【从零讲懂】迹为1保证总概率为1；Hermitian 性保证可观测平均为实数；纯态投影算符重复平方不变。混合态的概率分散在多个正交方向，平方后权重变为 p²，所以总和减小。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第7讲第15页：ρ 的定义。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源页把“ρ²=∑pα²={1,a}”写在一起并不严谨；标量纯度应写 trρ²，ρ² 本身仍是矩阵。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4AE435B-F6E5-49CE-AF12-0810380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5359529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87A35D2-6548-4A11-AD31-0C6A55B7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472EB46-321C-43F3-B0F4-68BA3051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4065A6E-44F6-4127-99AE-D1C937C3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DDD6219-43B0-4CFD-A457-AC55F14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trρ=1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ρ†=ρ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pure: ρ²=ρ, trρ²=1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mixed: trρ²&lt;1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F06ADDC-822D-45A5-8258-D2CC9D28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0770043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6E9C781-1993-4A44-AEC2-3AC6AE72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EAC84AA-75D7-4410-8996-7AB306ED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8F99BDE-30BB-4EFF-8099-1F54879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81E1FCD-3A83-40FA-A8EB-28BDA23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【忠实翻译】对任意向量 |Φ⟩，密度矩阵必须满足 ⟨Φ|ρ|Φ⟩≥0，因此它的本征值都是非负概率。结合 trρ=1，全部本征值落在 [0,1] 且总和为1。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positive semidefinite｜半正定：所有向量的二次型非负。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eigenvalue spectrum｜本征值谱：密度矩阵的本征值集合，可视为正交混合概率。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1DFC447-65F3-4873-9DDA-436BC396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5373805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85A3169-5923-4B5D-BC6B-56B48FA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167D5FF-C15F-4F28-B2E6-97EC280E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6F8B5AE-3853-448E-92B6-B0672435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7214751-FE3B-4B09-BB21-4E086DDB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【从零讲懂】正定/半正定是“任何可能测量结果的概率都不能为负”的算符表达。数值计算密度矩阵时，仅满足 Hermitian 和迹为1还不够，若出现负本征值就不是合法量子态。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第7讲第16页：密度矩阵基本性质。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半正定不等于每个矩阵元都非负；非对角元可为复数或负数。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AD869E2-5280-4EDE-96E9-67D7E40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6646096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72C2009-EC35-48DA-A4C4-97DFA6F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DE18018-785D-4EAD-85F1-310691B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2EE7C13-D602-4F99-8DF0-EDCEC7DB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42203A-7359-40E2-933E-FFD430EA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⟨Φ|ρ|Φ⟩≥0 for every |Φ⟩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ρ≥0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eigenvalues p_i≥0, ∑i p_i=1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5990AC7-281D-4E91-9BD2-6D2F6D0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1063762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EE52A9B-FDA4-490B-9EB0-F90FD5CA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2AC308C-DDE1-4006-BF2D-D7E4924A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C4CA088-7AE8-48EA-BBCE-C1C5FC37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6D45FE0-3AC8-4C08-AD0C-A48D4925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【忠实翻译】封闭量子系统的密度矩阵满足 iℏ∂ρ/∂t=[H,ρ]，其中 [H,ρ]=Hρ−ρH。该方程由 Schrödinger 方程对 ket 与 bra 分别求导得到。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von Neumann equation｜冯诺依曼方程：密度矩阵的幺正运动方程。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commutator｜对易子：[A,B]=AB-BA，衡量两个算符不对易。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D3AA035-7F13-40BA-8000-B7A54D75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6449542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9171C2B-0144-4638-8C77-5DA5B69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20E61D6-1253-4901-8F75-02B70911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0C5F4FC-C19F-4FE4-9A54-DAFD194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AA61204-61A6-4B8C-9966-B61FE8E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【从零讲懂】这就是经典 Liouville 方程的量子对应。若 ρ 与 H 对易，密度矩阵不随时间变化；若不对易，能量基中的相干项会积累相位并演化。幺正演化保持 ρ 的迹、本征值和纯度。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第7讲第14–17页：幺正演化和密度矩阵。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[H,ρ]=0 只说明定态；并不自动指定温度或是哪一种平衡系综。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B19EFD8-83AB-40CA-AAC4-132D2EB2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4927294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6172EB0-3D8E-4107-AD29-B3A8DD7B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FBE382D-DD94-4FB0-A589-9793D964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F3022C9-BF29-44E4-B4D0-757D9C9A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03B5B82-E6F7-4BEE-81B8-B7D709C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iℏ∂ρ/∂t=[H,ρ]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[H,ρ]=Hρ-ρH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ρ(t)=U(t)ρ(0)U†(t)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368CD0A-B6F6-4E67-9DFF-B65F7E76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6744929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F0622C9-2EF0-4343-A71E-1A5D10DB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EA4CCC8-7B78-47DC-A4F4-FA5D9FC6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CC05AA-9FD6-4164-9113-C34BFEC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8BE9AC0-AAB8-4D16-8B62-BD7471BE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【忠实翻译】热平衡要求 ∂ρ/∂t=0，因而 [H,ρ]=0。微正则密度算符把固定能量壳内状态等权混合；正则系综为 ρ=e^{-βH}/Z；巨正则系综为 ρ=e^{-β(H-μN)}/Q。在能量本征基中这些算符通常为对角形式。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Gibbs state｜吉布斯态：正则平衡密度算符 e^{-βH}/Z。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degeneracy｜简并：不同本征态具有相同本征值。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F11B056-539B-4A4D-80BE-422D4AD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314134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D4ACF08-74C7-44AB-A4CE-31019D5A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94BB2C6-24BD-483E-82A7-F9A7A4E6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CB4B0E9-AABE-4DD5-8400-02865BCE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241FCA4-05FB-406C-A1A3-9E0FD43F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【从零讲懂】函数 f(H) 必与 H 对易，所以 Gibbs 态天然定态。能量简并时，同一能量子空间内可选择不同基；与 H 对易的 ρ 可以在所选基里出现子空间内非对角元，但不同能量之间的相干会随时间转动。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第7讲第18页：冯诺依曼方程。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第7讲第5–6页：经典系综。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源页称“可以有非对角项”需加限定：若 [H,ρ]=0，非对角项通常只能在简并能量子空间内保留；非简并能量之间不能。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4EA21FB-A1F1-4DB3-8262-B5A2871E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499593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F40222-3CAD-4611-A1AB-94022B1A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2A74678-4007-4A30-994D-A6BBEC5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1B5A569-9538-4B3A-9C0A-3723F026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L07-19｜公式与符号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31E7FBC-4514-4361-A5FC-33DE4421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∂ρ/∂t=0 ⇒ [H,ρ]=0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ρ_micro∝δ(H-E)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ρ_can=e^{-βH}/Z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ρ_grand=e^{-β(H-μN)}/Q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860328F-8DD2-4856-B89E-8BA21731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90408884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50534</TotalTime>
  <Words>658</Words>
  <Application>Microsoft Office PowerPoint</Application>
  <PresentationFormat>Widescreen</PresentationFormat>
  <Paragraphs>160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Building a statistical model for a many-particles system</vt:lpstr>
      <vt:lpstr>Building a statistical model for a many-particles system</vt:lpstr>
      <vt:lpstr>The form of distribution</vt:lpstr>
      <vt:lpstr>Ensemble models</vt:lpstr>
      <vt:lpstr>Comparison between ensemble models</vt:lpstr>
      <vt:lpstr>Connection to Thermodynamics</vt:lpstr>
      <vt:lpstr>Conclusions</vt:lpstr>
      <vt:lpstr>Statistical physics phy301</vt:lpstr>
      <vt:lpstr>Quantum regime</vt:lpstr>
      <vt:lpstr>Classical vs Quantum</vt:lpstr>
      <vt:lpstr>Quantum Mechanics</vt:lpstr>
      <vt:lpstr>Quantum Mechanics</vt:lpstr>
      <vt:lpstr>Quantum Mechanics</vt:lpstr>
      <vt:lpstr>Density matrix</vt:lpstr>
      <vt:lpstr>Density matrix</vt:lpstr>
      <vt:lpstr>Density matrix</vt:lpstr>
      <vt:lpstr>Density matrix</vt:lpstr>
      <vt:lpstr>Equilibrium in quantum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1671</cp:revision>
  <dcterms:created xsi:type="dcterms:W3CDTF">2024-08-25T23:32:26Z</dcterms:created>
  <dcterms:modified xsi:type="dcterms:W3CDTF">2025-10-29T12:00:55Z</dcterms:modified>
</cp:coreProperties>
</file>