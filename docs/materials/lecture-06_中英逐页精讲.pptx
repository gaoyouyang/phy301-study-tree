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31"/>
  </p:notesMasterIdLst>
  <p:sldIdLst>
    <p:sldId id="432" r:id="rId2"/>
    <p:sldId id="520" r:id="rId36"/>
    <p:sldId id="521" r:id="rId37"/>
    <p:sldId id="297" r:id="rId3"/>
    <p:sldId id="522" r:id="rId38"/>
    <p:sldId id="523" r:id="rId39"/>
    <p:sldId id="524" r:id="rId40"/>
    <p:sldId id="445" r:id="rId4"/>
    <p:sldId id="525" r:id="rId41"/>
    <p:sldId id="526" r:id="rId42"/>
    <p:sldId id="527" r:id="rId43"/>
    <p:sldId id="446" r:id="rId5"/>
    <p:sldId id="528" r:id="rId44"/>
    <p:sldId id="529" r:id="rId45"/>
    <p:sldId id="530" r:id="rId46"/>
    <p:sldId id="448" r:id="rId6"/>
    <p:sldId id="531" r:id="rId47"/>
    <p:sldId id="532" r:id="rId48"/>
    <p:sldId id="533" r:id="rId49"/>
    <p:sldId id="449" r:id="rId7"/>
    <p:sldId id="534" r:id="rId50"/>
    <p:sldId id="535" r:id="rId51"/>
    <p:sldId id="536" r:id="rId52"/>
    <p:sldId id="451" r:id="rId8"/>
    <p:sldId id="537" r:id="rId53"/>
    <p:sldId id="538" r:id="rId54"/>
    <p:sldId id="539" r:id="rId55"/>
    <p:sldId id="452" r:id="rId9"/>
    <p:sldId id="540" r:id="rId56"/>
    <p:sldId id="541" r:id="rId57"/>
    <p:sldId id="542" r:id="rId58"/>
    <p:sldId id="454" r:id="rId10"/>
    <p:sldId id="543" r:id="rId59"/>
    <p:sldId id="544" r:id="rId60"/>
    <p:sldId id="545" r:id="rId61"/>
    <p:sldId id="457" r:id="rId11"/>
    <p:sldId id="546" r:id="rId62"/>
    <p:sldId id="547" r:id="rId63"/>
    <p:sldId id="548" r:id="rId64"/>
    <p:sldId id="458" r:id="rId12"/>
    <p:sldId id="549" r:id="rId65"/>
    <p:sldId id="550" r:id="rId66"/>
    <p:sldId id="551" r:id="rId67"/>
    <p:sldId id="459" r:id="rId13"/>
    <p:sldId id="552" r:id="rId68"/>
    <p:sldId id="553" r:id="rId69"/>
    <p:sldId id="554" r:id="rId70"/>
    <p:sldId id="461" r:id="rId14"/>
    <p:sldId id="555" r:id="rId71"/>
    <p:sldId id="556" r:id="rId72"/>
    <p:sldId id="557" r:id="rId73"/>
    <p:sldId id="465" r:id="rId15"/>
    <p:sldId id="558" r:id="rId74"/>
    <p:sldId id="559" r:id="rId75"/>
    <p:sldId id="560" r:id="rId76"/>
    <p:sldId id="462" r:id="rId16"/>
    <p:sldId id="561" r:id="rId77"/>
    <p:sldId id="562" r:id="rId78"/>
    <p:sldId id="563" r:id="rId79"/>
    <p:sldId id="498" r:id="rId17"/>
    <p:sldId id="564" r:id="rId80"/>
    <p:sldId id="565" r:id="rId81"/>
    <p:sldId id="464" r:id="rId18"/>
    <p:sldId id="566" r:id="rId82"/>
    <p:sldId id="567" r:id="rId83"/>
    <p:sldId id="568" r:id="rId84"/>
    <p:sldId id="466" r:id="rId19"/>
    <p:sldId id="569" r:id="rId85"/>
    <p:sldId id="570" r:id="rId86"/>
    <p:sldId id="571" r:id="rId87"/>
    <p:sldId id="456" r:id="rId20"/>
    <p:sldId id="572" r:id="rId88"/>
    <p:sldId id="573" r:id="rId89"/>
    <p:sldId id="574" r:id="rId90"/>
    <p:sldId id="467" r:id="rId21"/>
    <p:sldId id="575" r:id="rId91"/>
    <p:sldId id="576" r:id="rId92"/>
    <p:sldId id="577" r:id="rId93"/>
    <p:sldId id="468" r:id="rId22"/>
    <p:sldId id="578" r:id="rId94"/>
    <p:sldId id="579" r:id="rId95"/>
    <p:sldId id="580" r:id="rId96"/>
    <p:sldId id="517" r:id="rId23"/>
    <p:sldId id="581" r:id="rId97"/>
    <p:sldId id="582" r:id="rId98"/>
    <p:sldId id="518" r:id="rId24"/>
    <p:sldId id="583" r:id="rId99"/>
    <p:sldId id="584" r:id="rId100"/>
    <p:sldId id="585" r:id="rId101"/>
    <p:sldId id="519" r:id="rId25"/>
    <p:sldId id="586" r:id="rId102"/>
    <p:sldId id="587" r:id="rId103"/>
    <p:sldId id="588" r:id="rId104"/>
    <p:sldId id="512" r:id="rId26"/>
    <p:sldId id="589" r:id="rId105"/>
    <p:sldId id="590" r:id="rId106"/>
    <p:sldId id="591" r:id="rId107"/>
    <p:sldId id="513" r:id="rId27"/>
    <p:sldId id="592" r:id="rId108"/>
    <p:sldId id="593" r:id="rId109"/>
    <p:sldId id="594" r:id="rId110"/>
    <p:sldId id="514" r:id="rId28"/>
    <p:sldId id="595" r:id="rId111"/>
    <p:sldId id="596" r:id="rId112"/>
    <p:sldId id="597" r:id="rId113"/>
    <p:sldId id="515" r:id="rId29"/>
    <p:sldId id="598" r:id="rId114"/>
    <p:sldId id="599" r:id="rId115"/>
    <p:sldId id="600" r:id="rId116"/>
    <p:sldId id="516" r:id="rId30"/>
    <p:sldId id="601" r:id="rId117"/>
    <p:sldId id="602" r:id="rId118"/>
    <p:sldId id="603" r:id="rId1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6.emf"/><Relationship Id="rId7" Type="http://schemas.openxmlformats.org/officeDocument/2006/relationships/image" Target="../media/image11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10.emf"/><Relationship Id="rId10" Type="http://schemas.openxmlformats.org/officeDocument/2006/relationships/image" Target="../media/image8.png"/><Relationship Id="rId4" Type="http://schemas.openxmlformats.org/officeDocument/2006/relationships/image" Target="../media/image9.emf"/><Relationship Id="rId9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6.emf"/><Relationship Id="rId7" Type="http://schemas.openxmlformats.org/officeDocument/2006/relationships/image" Target="../media/image15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7.emf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7.emf"/><Relationship Id="rId7" Type="http://schemas.openxmlformats.org/officeDocument/2006/relationships/image" Target="../media/image20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13" Type="http://schemas.openxmlformats.org/officeDocument/2006/relationships/image" Target="../media/image8.png"/><Relationship Id="rId3" Type="http://schemas.openxmlformats.org/officeDocument/2006/relationships/image" Target="../media/image16.emf"/><Relationship Id="rId7" Type="http://schemas.openxmlformats.org/officeDocument/2006/relationships/image" Target="../media/image23.emf"/><Relationship Id="rId12" Type="http://schemas.openxmlformats.org/officeDocument/2006/relationships/image" Target="../media/image28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11" Type="http://schemas.openxmlformats.org/officeDocument/2006/relationships/image" Target="../media/image27.emf"/><Relationship Id="rId5" Type="http://schemas.openxmlformats.org/officeDocument/2006/relationships/image" Target="../media/image6.emf"/><Relationship Id="rId10" Type="http://schemas.openxmlformats.org/officeDocument/2006/relationships/image" Target="../media/image26.emf"/><Relationship Id="rId4" Type="http://schemas.openxmlformats.org/officeDocument/2006/relationships/image" Target="../media/image21.emf"/><Relationship Id="rId9" Type="http://schemas.openxmlformats.org/officeDocument/2006/relationships/image" Target="../media/image25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15.emf"/><Relationship Id="rId7" Type="http://schemas.openxmlformats.org/officeDocument/2006/relationships/image" Target="../media/image31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11" Type="http://schemas.openxmlformats.org/officeDocument/2006/relationships/image" Target="../media/image8.png"/><Relationship Id="rId5" Type="http://schemas.openxmlformats.org/officeDocument/2006/relationships/image" Target="../media/image29.emf"/><Relationship Id="rId10" Type="http://schemas.openxmlformats.org/officeDocument/2006/relationships/image" Target="../media/image24.emf"/><Relationship Id="rId4" Type="http://schemas.openxmlformats.org/officeDocument/2006/relationships/image" Target="../media/image16.emf"/><Relationship Id="rId9" Type="http://schemas.openxmlformats.org/officeDocument/2006/relationships/image" Target="../media/image2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image" Target="../media/image40.png"/><Relationship Id="rId3" Type="http://schemas.openxmlformats.org/officeDocument/2006/relationships/image" Target="../media/image15.emf"/><Relationship Id="rId7" Type="http://schemas.openxmlformats.org/officeDocument/2006/relationships/image" Target="../media/image35.emf"/><Relationship Id="rId12" Type="http://schemas.openxmlformats.org/officeDocument/2006/relationships/image" Target="../media/image30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11" Type="http://schemas.openxmlformats.org/officeDocument/2006/relationships/image" Target="../media/image39.png"/><Relationship Id="rId5" Type="http://schemas.openxmlformats.org/officeDocument/2006/relationships/image" Target="../media/image33.emf"/><Relationship Id="rId15" Type="http://schemas.openxmlformats.org/officeDocument/2006/relationships/image" Target="../media/image8.png"/><Relationship Id="rId10" Type="http://schemas.openxmlformats.org/officeDocument/2006/relationships/image" Target="../media/image38.emf"/><Relationship Id="rId4" Type="http://schemas.openxmlformats.org/officeDocument/2006/relationships/image" Target="../media/image16.emf"/><Relationship Id="rId9" Type="http://schemas.openxmlformats.org/officeDocument/2006/relationships/image" Target="../media/image37.emf"/><Relationship Id="rId14" Type="http://schemas.openxmlformats.org/officeDocument/2006/relationships/image" Target="../media/image4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13" Type="http://schemas.openxmlformats.org/officeDocument/2006/relationships/image" Target="../media/image50.png"/><Relationship Id="rId3" Type="http://schemas.openxmlformats.org/officeDocument/2006/relationships/image" Target="../media/image35.emf"/><Relationship Id="rId7" Type="http://schemas.openxmlformats.org/officeDocument/2006/relationships/image" Target="../media/image44.svg"/><Relationship Id="rId12" Type="http://schemas.openxmlformats.org/officeDocument/2006/relationships/image" Target="../media/image49.sv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emf"/><Relationship Id="rId15" Type="http://schemas.openxmlformats.org/officeDocument/2006/relationships/image" Target="../media/image8.png"/><Relationship Id="rId10" Type="http://schemas.openxmlformats.org/officeDocument/2006/relationships/image" Target="../media/image47.svg"/><Relationship Id="rId4" Type="http://schemas.openxmlformats.org/officeDocument/2006/relationships/image" Target="../media/image38.emf"/><Relationship Id="rId9" Type="http://schemas.openxmlformats.org/officeDocument/2006/relationships/image" Target="../media/image46.png"/><Relationship Id="rId1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svg"/><Relationship Id="rId17" Type="http://schemas.openxmlformats.org/officeDocument/2006/relationships/image" Target="../media/image8.png"/><Relationship Id="rId2" Type="http://schemas.openxmlformats.org/officeDocument/2006/relationships/image" Target="../media/image51.png"/><Relationship Id="rId16" Type="http://schemas.openxmlformats.org/officeDocument/2006/relationships/image" Target="../media/image6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sv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svg"/><Relationship Id="rId4" Type="http://schemas.openxmlformats.org/officeDocument/2006/relationships/image" Target="../media/image53.emf"/><Relationship Id="rId9" Type="http://schemas.openxmlformats.org/officeDocument/2006/relationships/image" Target="../media/image58.png"/><Relationship Id="rId14" Type="http://schemas.openxmlformats.org/officeDocument/2006/relationships/image" Target="../media/image6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70.png"/><Relationship Id="rId18" Type="http://schemas.openxmlformats.org/officeDocument/2006/relationships/image" Target="../media/image75.svg"/><Relationship Id="rId3" Type="http://schemas.openxmlformats.org/officeDocument/2006/relationships/image" Target="../media/image53.emf"/><Relationship Id="rId21" Type="http://schemas.openxmlformats.org/officeDocument/2006/relationships/image" Target="../media/image8.png"/><Relationship Id="rId7" Type="http://schemas.openxmlformats.org/officeDocument/2006/relationships/image" Target="../media/image56.png"/><Relationship Id="rId12" Type="http://schemas.openxmlformats.org/officeDocument/2006/relationships/image" Target="../media/image69.svg"/><Relationship Id="rId17" Type="http://schemas.openxmlformats.org/officeDocument/2006/relationships/image" Target="../media/image74.png"/><Relationship Id="rId2" Type="http://schemas.openxmlformats.org/officeDocument/2006/relationships/image" Target="../media/image51.png"/><Relationship Id="rId16" Type="http://schemas.openxmlformats.org/officeDocument/2006/relationships/image" Target="../media/image73.svg"/><Relationship Id="rId20" Type="http://schemas.openxmlformats.org/officeDocument/2006/relationships/image" Target="../media/image6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svg"/><Relationship Id="rId11" Type="http://schemas.openxmlformats.org/officeDocument/2006/relationships/image" Target="../media/image68.png"/><Relationship Id="rId5" Type="http://schemas.openxmlformats.org/officeDocument/2006/relationships/image" Target="../media/image54.png"/><Relationship Id="rId15" Type="http://schemas.openxmlformats.org/officeDocument/2006/relationships/image" Target="../media/image72.png"/><Relationship Id="rId10" Type="http://schemas.openxmlformats.org/officeDocument/2006/relationships/image" Target="../media/image67.svg"/><Relationship Id="rId19" Type="http://schemas.openxmlformats.org/officeDocument/2006/relationships/image" Target="../media/image64.png"/><Relationship Id="rId4" Type="http://schemas.openxmlformats.org/officeDocument/2006/relationships/image" Target="../media/image52.png"/><Relationship Id="rId9" Type="http://schemas.openxmlformats.org/officeDocument/2006/relationships/image" Target="../media/image66.png"/><Relationship Id="rId14" Type="http://schemas.openxmlformats.org/officeDocument/2006/relationships/image" Target="../media/image7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13" Type="http://schemas.openxmlformats.org/officeDocument/2006/relationships/image" Target="../media/image74.png"/><Relationship Id="rId18" Type="http://schemas.openxmlformats.org/officeDocument/2006/relationships/image" Target="../media/image73.svg"/><Relationship Id="rId3" Type="http://schemas.openxmlformats.org/officeDocument/2006/relationships/image" Target="../media/image53.emf"/><Relationship Id="rId7" Type="http://schemas.openxmlformats.org/officeDocument/2006/relationships/image" Target="../media/image76.png"/><Relationship Id="rId12" Type="http://schemas.openxmlformats.org/officeDocument/2006/relationships/image" Target="../media/image71.svg"/><Relationship Id="rId17" Type="http://schemas.openxmlformats.org/officeDocument/2006/relationships/image" Target="../media/image72.png"/><Relationship Id="rId2" Type="http://schemas.openxmlformats.org/officeDocument/2006/relationships/image" Target="../media/image51.png"/><Relationship Id="rId16" Type="http://schemas.openxmlformats.org/officeDocument/2006/relationships/image" Target="../media/image8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svg"/><Relationship Id="rId11" Type="http://schemas.openxmlformats.org/officeDocument/2006/relationships/image" Target="../media/image70.png"/><Relationship Id="rId5" Type="http://schemas.openxmlformats.org/officeDocument/2006/relationships/image" Target="../media/image68.png"/><Relationship Id="rId15" Type="http://schemas.openxmlformats.org/officeDocument/2006/relationships/image" Target="../media/image80.png"/><Relationship Id="rId10" Type="http://schemas.openxmlformats.org/officeDocument/2006/relationships/image" Target="../media/image79.svg"/><Relationship Id="rId19" Type="http://schemas.openxmlformats.org/officeDocument/2006/relationships/image" Target="../media/image8.png"/><Relationship Id="rId4" Type="http://schemas.openxmlformats.org/officeDocument/2006/relationships/image" Target="../media/image52.png"/><Relationship Id="rId9" Type="http://schemas.openxmlformats.org/officeDocument/2006/relationships/image" Target="../media/image78.png"/><Relationship Id="rId14" Type="http://schemas.openxmlformats.org/officeDocument/2006/relationships/image" Target="../media/image7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73.svg"/><Relationship Id="rId3" Type="http://schemas.openxmlformats.org/officeDocument/2006/relationships/image" Target="../media/image53.emf"/><Relationship Id="rId7" Type="http://schemas.openxmlformats.org/officeDocument/2006/relationships/image" Target="../media/image82.png"/><Relationship Id="rId12" Type="http://schemas.openxmlformats.org/officeDocument/2006/relationships/image" Target="../media/image7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svg"/><Relationship Id="rId11" Type="http://schemas.openxmlformats.org/officeDocument/2006/relationships/image" Target="../media/image86.svg"/><Relationship Id="rId5" Type="http://schemas.openxmlformats.org/officeDocument/2006/relationships/image" Target="../media/image78.png"/><Relationship Id="rId10" Type="http://schemas.openxmlformats.org/officeDocument/2006/relationships/image" Target="../media/image85.png"/><Relationship Id="rId4" Type="http://schemas.openxmlformats.org/officeDocument/2006/relationships/image" Target="../media/image52.png"/><Relationship Id="rId9" Type="http://schemas.openxmlformats.org/officeDocument/2006/relationships/image" Target="../media/image84.png"/><Relationship Id="rId1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image" Target="../media/image53.emf"/><Relationship Id="rId7" Type="http://schemas.openxmlformats.org/officeDocument/2006/relationships/image" Target="../media/image87.png"/><Relationship Id="rId12" Type="http://schemas.openxmlformats.org/officeDocument/2006/relationships/image" Target="../media/image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91.svg"/><Relationship Id="rId5" Type="http://schemas.openxmlformats.org/officeDocument/2006/relationships/image" Target="../media/image83.png"/><Relationship Id="rId10" Type="http://schemas.openxmlformats.org/officeDocument/2006/relationships/image" Target="../media/image90.png"/><Relationship Id="rId4" Type="http://schemas.openxmlformats.org/officeDocument/2006/relationships/image" Target="../media/image82.png"/><Relationship Id="rId9" Type="http://schemas.openxmlformats.org/officeDocument/2006/relationships/image" Target="../media/image8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svg"/><Relationship Id="rId18" Type="http://schemas.openxmlformats.org/officeDocument/2006/relationships/image" Target="../media/image72.png"/><Relationship Id="rId3" Type="http://schemas.openxmlformats.org/officeDocument/2006/relationships/image" Target="../media/image52.png"/><Relationship Id="rId7" Type="http://schemas.openxmlformats.org/officeDocument/2006/relationships/image" Target="../media/image93.svg"/><Relationship Id="rId12" Type="http://schemas.openxmlformats.org/officeDocument/2006/relationships/image" Target="../media/image98.png"/><Relationship Id="rId17" Type="http://schemas.openxmlformats.org/officeDocument/2006/relationships/image" Target="../media/image91.svg"/><Relationship Id="rId2" Type="http://schemas.openxmlformats.org/officeDocument/2006/relationships/image" Target="../media/image51.png"/><Relationship Id="rId16" Type="http://schemas.openxmlformats.org/officeDocument/2006/relationships/image" Target="../media/image90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97.svg"/><Relationship Id="rId5" Type="http://schemas.openxmlformats.org/officeDocument/2006/relationships/image" Target="../media/image79.svg"/><Relationship Id="rId15" Type="http://schemas.openxmlformats.org/officeDocument/2006/relationships/image" Target="../media/image75.svg"/><Relationship Id="rId10" Type="http://schemas.openxmlformats.org/officeDocument/2006/relationships/image" Target="../media/image96.png"/><Relationship Id="rId19" Type="http://schemas.openxmlformats.org/officeDocument/2006/relationships/image" Target="../media/image73.svg"/><Relationship Id="rId4" Type="http://schemas.openxmlformats.org/officeDocument/2006/relationships/image" Target="../media/image78.png"/><Relationship Id="rId9" Type="http://schemas.openxmlformats.org/officeDocument/2006/relationships/image" Target="../media/image95.svg"/><Relationship Id="rId14" Type="http://schemas.openxmlformats.org/officeDocument/2006/relationships/image" Target="../media/image7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106.svg"/><Relationship Id="rId18" Type="http://schemas.openxmlformats.org/officeDocument/2006/relationships/image" Target="../media/image111.png"/><Relationship Id="rId26" Type="http://schemas.openxmlformats.org/officeDocument/2006/relationships/image" Target="../media/image74.png"/><Relationship Id="rId3" Type="http://schemas.openxmlformats.org/officeDocument/2006/relationships/image" Target="../media/image52.png"/><Relationship Id="rId21" Type="http://schemas.openxmlformats.org/officeDocument/2006/relationships/image" Target="../media/image114.svg"/><Relationship Id="rId7" Type="http://schemas.openxmlformats.org/officeDocument/2006/relationships/image" Target="../media/image104.svg"/><Relationship Id="rId12" Type="http://schemas.openxmlformats.org/officeDocument/2006/relationships/image" Target="../media/image105.png"/><Relationship Id="rId17" Type="http://schemas.openxmlformats.org/officeDocument/2006/relationships/image" Target="../media/image110.svg"/><Relationship Id="rId25" Type="http://schemas.openxmlformats.org/officeDocument/2006/relationships/image" Target="../media/image118.svg"/><Relationship Id="rId2" Type="http://schemas.openxmlformats.org/officeDocument/2006/relationships/image" Target="../media/image51.png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29" Type="http://schemas.openxmlformats.org/officeDocument/2006/relationships/image" Target="../media/image7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86.svg"/><Relationship Id="rId24" Type="http://schemas.openxmlformats.org/officeDocument/2006/relationships/image" Target="../media/image117.png"/><Relationship Id="rId5" Type="http://schemas.openxmlformats.org/officeDocument/2006/relationships/image" Target="../media/image102.svg"/><Relationship Id="rId15" Type="http://schemas.openxmlformats.org/officeDocument/2006/relationships/image" Target="../media/image108.svg"/><Relationship Id="rId23" Type="http://schemas.openxmlformats.org/officeDocument/2006/relationships/image" Target="../media/image116.svg"/><Relationship Id="rId28" Type="http://schemas.openxmlformats.org/officeDocument/2006/relationships/image" Target="../media/image72.png"/><Relationship Id="rId10" Type="http://schemas.openxmlformats.org/officeDocument/2006/relationships/image" Target="../media/image85.png"/><Relationship Id="rId19" Type="http://schemas.openxmlformats.org/officeDocument/2006/relationships/image" Target="../media/image112.svg"/><Relationship Id="rId4" Type="http://schemas.openxmlformats.org/officeDocument/2006/relationships/image" Target="../media/image101.png"/><Relationship Id="rId9" Type="http://schemas.openxmlformats.org/officeDocument/2006/relationships/image" Target="../media/image69.svg"/><Relationship Id="rId14" Type="http://schemas.openxmlformats.org/officeDocument/2006/relationships/image" Target="../media/image107.png"/><Relationship Id="rId22" Type="http://schemas.openxmlformats.org/officeDocument/2006/relationships/image" Target="../media/image115.png"/><Relationship Id="rId27" Type="http://schemas.openxmlformats.org/officeDocument/2006/relationships/image" Target="../media/image75.svg"/><Relationship Id="rId30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123.svg"/><Relationship Id="rId18" Type="http://schemas.openxmlformats.org/officeDocument/2006/relationships/image" Target="../media/image8.png"/><Relationship Id="rId3" Type="http://schemas.openxmlformats.org/officeDocument/2006/relationships/image" Target="../media/image101.png"/><Relationship Id="rId7" Type="http://schemas.openxmlformats.org/officeDocument/2006/relationships/image" Target="../media/image68.png"/><Relationship Id="rId12" Type="http://schemas.openxmlformats.org/officeDocument/2006/relationships/image" Target="../media/image122.png"/><Relationship Id="rId17" Type="http://schemas.openxmlformats.org/officeDocument/2006/relationships/image" Target="../media/image125.svg"/><Relationship Id="rId2" Type="http://schemas.openxmlformats.org/officeDocument/2006/relationships/image" Target="../media/image51.png"/><Relationship Id="rId16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svg"/><Relationship Id="rId11" Type="http://schemas.openxmlformats.org/officeDocument/2006/relationships/image" Target="../media/image121.png"/><Relationship Id="rId5" Type="http://schemas.openxmlformats.org/officeDocument/2006/relationships/image" Target="../media/image103.png"/><Relationship Id="rId15" Type="http://schemas.openxmlformats.org/officeDocument/2006/relationships/image" Target="../media/image86.svg"/><Relationship Id="rId10" Type="http://schemas.openxmlformats.org/officeDocument/2006/relationships/image" Target="../media/image120.png"/><Relationship Id="rId4" Type="http://schemas.openxmlformats.org/officeDocument/2006/relationships/image" Target="../media/image102.svg"/><Relationship Id="rId9" Type="http://schemas.openxmlformats.org/officeDocument/2006/relationships/image" Target="../media/image119.png"/><Relationship Id="rId14" Type="http://schemas.openxmlformats.org/officeDocument/2006/relationships/image" Target="../media/image8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svg"/><Relationship Id="rId13" Type="http://schemas.openxmlformats.org/officeDocument/2006/relationships/image" Target="../media/image8.png"/><Relationship Id="rId3" Type="http://schemas.openxmlformats.org/officeDocument/2006/relationships/image" Target="../media/image53.emf"/><Relationship Id="rId7" Type="http://schemas.openxmlformats.org/officeDocument/2006/relationships/image" Target="../media/image128.png"/><Relationship Id="rId12" Type="http://schemas.openxmlformats.org/officeDocument/2006/relationships/image" Target="../media/image131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130.png"/><Relationship Id="rId5" Type="http://schemas.openxmlformats.org/officeDocument/2006/relationships/image" Target="../media/image127.svg"/><Relationship Id="rId10" Type="http://schemas.openxmlformats.org/officeDocument/2006/relationships/image" Target="../media/image97.svg"/><Relationship Id="rId4" Type="http://schemas.openxmlformats.org/officeDocument/2006/relationships/image" Target="../media/image126.png"/><Relationship Id="rId9" Type="http://schemas.openxmlformats.org/officeDocument/2006/relationships/image" Target="../media/image9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23.svg"/><Relationship Id="rId18" Type="http://schemas.openxmlformats.org/officeDocument/2006/relationships/image" Target="../media/image8.png"/><Relationship Id="rId3" Type="http://schemas.openxmlformats.org/officeDocument/2006/relationships/image" Target="../media/image133.svg"/><Relationship Id="rId7" Type="http://schemas.openxmlformats.org/officeDocument/2006/relationships/image" Target="../media/image137.svg"/><Relationship Id="rId12" Type="http://schemas.openxmlformats.org/officeDocument/2006/relationships/image" Target="../media/image122.png"/><Relationship Id="rId17" Type="http://schemas.openxmlformats.org/officeDocument/2006/relationships/image" Target="../media/image145.svg"/><Relationship Id="rId2" Type="http://schemas.openxmlformats.org/officeDocument/2006/relationships/image" Target="../media/image132.png"/><Relationship Id="rId16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41.svg"/><Relationship Id="rId5" Type="http://schemas.openxmlformats.org/officeDocument/2006/relationships/image" Target="../media/image135.svg"/><Relationship Id="rId15" Type="http://schemas.openxmlformats.org/officeDocument/2006/relationships/image" Target="../media/image143.svg"/><Relationship Id="rId10" Type="http://schemas.openxmlformats.org/officeDocument/2006/relationships/image" Target="../media/image140.png"/><Relationship Id="rId4" Type="http://schemas.openxmlformats.org/officeDocument/2006/relationships/image" Target="../media/image134.png"/><Relationship Id="rId9" Type="http://schemas.openxmlformats.org/officeDocument/2006/relationships/image" Target="../media/image139.svg"/><Relationship Id="rId14" Type="http://schemas.openxmlformats.org/officeDocument/2006/relationships/image" Target="../media/image14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23.svg"/><Relationship Id="rId18" Type="http://schemas.openxmlformats.org/officeDocument/2006/relationships/image" Target="../media/image148.svg"/><Relationship Id="rId26" Type="http://schemas.openxmlformats.org/officeDocument/2006/relationships/image" Target="../media/image156.png"/><Relationship Id="rId3" Type="http://schemas.openxmlformats.org/officeDocument/2006/relationships/image" Target="../media/image133.svg"/><Relationship Id="rId21" Type="http://schemas.openxmlformats.org/officeDocument/2006/relationships/image" Target="../media/image151.svg"/><Relationship Id="rId7" Type="http://schemas.openxmlformats.org/officeDocument/2006/relationships/image" Target="../media/image137.svg"/><Relationship Id="rId12" Type="http://schemas.openxmlformats.org/officeDocument/2006/relationships/image" Target="../media/image122.png"/><Relationship Id="rId17" Type="http://schemas.openxmlformats.org/officeDocument/2006/relationships/image" Target="../media/image147.png"/><Relationship Id="rId25" Type="http://schemas.openxmlformats.org/officeDocument/2006/relationships/image" Target="../media/image155.svg"/><Relationship Id="rId2" Type="http://schemas.openxmlformats.org/officeDocument/2006/relationships/image" Target="../media/image132.png"/><Relationship Id="rId16" Type="http://schemas.openxmlformats.org/officeDocument/2006/relationships/image" Target="../media/image146.png"/><Relationship Id="rId20" Type="http://schemas.openxmlformats.org/officeDocument/2006/relationships/image" Target="../media/image150.png"/><Relationship Id="rId29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41.svg"/><Relationship Id="rId24" Type="http://schemas.openxmlformats.org/officeDocument/2006/relationships/image" Target="../media/image154.png"/><Relationship Id="rId5" Type="http://schemas.openxmlformats.org/officeDocument/2006/relationships/image" Target="../media/image135.svg"/><Relationship Id="rId15" Type="http://schemas.openxmlformats.org/officeDocument/2006/relationships/image" Target="../media/image143.svg"/><Relationship Id="rId23" Type="http://schemas.openxmlformats.org/officeDocument/2006/relationships/image" Target="../media/image153.svg"/><Relationship Id="rId28" Type="http://schemas.openxmlformats.org/officeDocument/2006/relationships/image" Target="../media/image158.png"/><Relationship Id="rId10" Type="http://schemas.openxmlformats.org/officeDocument/2006/relationships/image" Target="../media/image140.png"/><Relationship Id="rId19" Type="http://schemas.openxmlformats.org/officeDocument/2006/relationships/image" Target="../media/image149.png"/><Relationship Id="rId4" Type="http://schemas.openxmlformats.org/officeDocument/2006/relationships/image" Target="../media/image134.png"/><Relationship Id="rId9" Type="http://schemas.openxmlformats.org/officeDocument/2006/relationships/image" Target="../media/image139.svg"/><Relationship Id="rId14" Type="http://schemas.openxmlformats.org/officeDocument/2006/relationships/image" Target="../media/image142.png"/><Relationship Id="rId22" Type="http://schemas.openxmlformats.org/officeDocument/2006/relationships/image" Target="../media/image152.png"/><Relationship Id="rId27" Type="http://schemas.openxmlformats.org/officeDocument/2006/relationships/image" Target="../media/image15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6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7" Type="http://schemas.openxmlformats.org/officeDocument/2006/relationships/image" Target="../media/image8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3.png"/><Relationship Id="rId7" Type="http://schemas.openxmlformats.org/officeDocument/2006/relationships/image" Target="../media/image171.svg"/><Relationship Id="rId2" Type="http://schemas.openxmlformats.org/officeDocument/2006/relationships/image" Target="../media/image16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image" Target="../media/image173.png"/><Relationship Id="rId7" Type="http://schemas.openxmlformats.org/officeDocument/2006/relationships/image" Target="../media/image177.sv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11" Type="http://schemas.openxmlformats.org/officeDocument/2006/relationships/image" Target="../media/image8.png"/><Relationship Id="rId5" Type="http://schemas.openxmlformats.org/officeDocument/2006/relationships/image" Target="../media/image175.png"/><Relationship Id="rId10" Type="http://schemas.openxmlformats.org/officeDocument/2006/relationships/image" Target="../media/image180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74.png"/><Relationship Id="rId7" Type="http://schemas.openxmlformats.org/officeDocument/2006/relationships/image" Target="../media/image177.svg"/><Relationship Id="rId12" Type="http://schemas.openxmlformats.org/officeDocument/2006/relationships/image" Target="../media/image8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11" Type="http://schemas.openxmlformats.org/officeDocument/2006/relationships/image" Target="../media/image184.svg"/><Relationship Id="rId5" Type="http://schemas.openxmlformats.org/officeDocument/2006/relationships/image" Target="../media/image180.png"/><Relationship Id="rId10" Type="http://schemas.openxmlformats.org/officeDocument/2006/relationships/image" Target="../media/image183.png"/><Relationship Id="rId4" Type="http://schemas.openxmlformats.org/officeDocument/2006/relationships/image" Target="../media/image179.png"/><Relationship Id="rId9" Type="http://schemas.openxmlformats.org/officeDocument/2006/relationships/image" Target="../media/image18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svg"/><Relationship Id="rId13" Type="http://schemas.openxmlformats.org/officeDocument/2006/relationships/image" Target="../media/image192.svg"/><Relationship Id="rId3" Type="http://schemas.openxmlformats.org/officeDocument/2006/relationships/image" Target="../media/image174.png"/><Relationship Id="rId7" Type="http://schemas.openxmlformats.org/officeDocument/2006/relationships/image" Target="../media/image186.png"/><Relationship Id="rId12" Type="http://schemas.openxmlformats.org/officeDocument/2006/relationships/image" Target="../media/image191.png"/><Relationship Id="rId2" Type="http://schemas.openxmlformats.org/officeDocument/2006/relationships/image" Target="../media/image172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11" Type="http://schemas.openxmlformats.org/officeDocument/2006/relationships/image" Target="../media/image190.png"/><Relationship Id="rId5" Type="http://schemas.openxmlformats.org/officeDocument/2006/relationships/image" Target="../media/image182.png"/><Relationship Id="rId15" Type="http://schemas.openxmlformats.org/officeDocument/2006/relationships/image" Target="../media/image184.svg"/><Relationship Id="rId10" Type="http://schemas.openxmlformats.org/officeDocument/2006/relationships/image" Target="../media/image189.svg"/><Relationship Id="rId4" Type="http://schemas.openxmlformats.org/officeDocument/2006/relationships/image" Target="../media/image179.png"/><Relationship Id="rId9" Type="http://schemas.openxmlformats.org/officeDocument/2006/relationships/image" Target="../media/image188.png"/><Relationship Id="rId14" Type="http://schemas.openxmlformats.org/officeDocument/2006/relationships/image" Target="../media/image18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199.svg"/><Relationship Id="rId18" Type="http://schemas.openxmlformats.org/officeDocument/2006/relationships/image" Target="../media/image203.svg"/><Relationship Id="rId3" Type="http://schemas.openxmlformats.org/officeDocument/2006/relationships/image" Target="../media/image172.png"/><Relationship Id="rId21" Type="http://schemas.openxmlformats.org/officeDocument/2006/relationships/image" Target="../media/image206.svg"/><Relationship Id="rId7" Type="http://schemas.openxmlformats.org/officeDocument/2006/relationships/image" Target="../media/image194.png"/><Relationship Id="rId12" Type="http://schemas.openxmlformats.org/officeDocument/2006/relationships/image" Target="../media/image198.png"/><Relationship Id="rId17" Type="http://schemas.openxmlformats.org/officeDocument/2006/relationships/image" Target="../media/image202.png"/><Relationship Id="rId2" Type="http://schemas.openxmlformats.org/officeDocument/2006/relationships/image" Target="../media/image193.png"/><Relationship Id="rId16" Type="http://schemas.openxmlformats.org/officeDocument/2006/relationships/image" Target="../media/image201.svg"/><Relationship Id="rId20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svg"/><Relationship Id="rId11" Type="http://schemas.openxmlformats.org/officeDocument/2006/relationships/image" Target="../media/image197.svg"/><Relationship Id="rId5" Type="http://schemas.openxmlformats.org/officeDocument/2006/relationships/image" Target="../media/image176.png"/><Relationship Id="rId15" Type="http://schemas.openxmlformats.org/officeDocument/2006/relationships/image" Target="../media/image200.png"/><Relationship Id="rId10" Type="http://schemas.openxmlformats.org/officeDocument/2006/relationships/image" Target="../media/image196.png"/><Relationship Id="rId19" Type="http://schemas.openxmlformats.org/officeDocument/2006/relationships/image" Target="../media/image204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Relationship Id="rId14" Type="http://schemas.openxmlformats.org/officeDocument/2006/relationships/image" Target="../media/image182.png"/><Relationship Id="rId22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11.png"/><Relationship Id="rId3" Type="http://schemas.openxmlformats.org/officeDocument/2006/relationships/image" Target="../media/image172.png"/><Relationship Id="rId7" Type="http://schemas.openxmlformats.org/officeDocument/2006/relationships/image" Target="../media/image208.svg"/><Relationship Id="rId12" Type="http://schemas.openxmlformats.org/officeDocument/2006/relationships/image" Target="../media/image210.svg"/><Relationship Id="rId17" Type="http://schemas.openxmlformats.org/officeDocument/2006/relationships/image" Target="../media/image214.svg"/><Relationship Id="rId2" Type="http://schemas.openxmlformats.org/officeDocument/2006/relationships/image" Target="../media/image193.png"/><Relationship Id="rId16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11" Type="http://schemas.openxmlformats.org/officeDocument/2006/relationships/image" Target="../media/image209.png"/><Relationship Id="rId5" Type="http://schemas.openxmlformats.org/officeDocument/2006/relationships/image" Target="../media/image194.png"/><Relationship Id="rId15" Type="http://schemas.openxmlformats.org/officeDocument/2006/relationships/image" Target="../media/image8.png"/><Relationship Id="rId10" Type="http://schemas.openxmlformats.org/officeDocument/2006/relationships/image" Target="../media/image206.svg"/><Relationship Id="rId4" Type="http://schemas.openxmlformats.org/officeDocument/2006/relationships/image" Target="../media/image174.png"/><Relationship Id="rId9" Type="http://schemas.openxmlformats.org/officeDocument/2006/relationships/image" Target="../media/image205.png"/><Relationship Id="rId14" Type="http://schemas.openxmlformats.org/officeDocument/2006/relationships/image" Target="../media/image212.sv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Interactions </a:t>
            </a:r>
            <a:r>
              <a:rPr lang="en-US" dirty="0"/>
              <a:t>and </a:t>
            </a:r>
            <a:r>
              <a:rPr lang="en-US"/>
              <a:t>phase transition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</p:spTree>
    <p:extLst>
      <p:ext uri="{BB962C8B-B14F-4D97-AF65-F5344CB8AC3E}">
        <p14:creationId xmlns:p14="http://schemas.microsoft.com/office/powerpoint/2010/main" val="2667059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4759" y="2281481"/>
            <a:ext cx="1922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Beyond idea gas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14" y="2688706"/>
            <a:ext cx="7320015" cy="944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08626" y="2369971"/>
            <a:ext cx="1294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Interaction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AD2618A-FD6A-4117-A6B5-61A90D0A9DC6}"/>
              </a:ext>
            </a:extLst>
          </p:cNvPr>
          <p:cNvGrpSpPr/>
          <p:nvPr/>
        </p:nvGrpSpPr>
        <p:grpSpPr>
          <a:xfrm>
            <a:off x="1024128" y="3667223"/>
            <a:ext cx="9782037" cy="1612260"/>
            <a:chOff x="1024128" y="3667223"/>
            <a:chExt cx="9782037" cy="1612260"/>
          </a:xfrm>
        </p:grpSpPr>
        <p:sp>
          <p:nvSpPr>
            <p:cNvPr id="6" name="TextBox 5"/>
            <p:cNvSpPr txBox="1"/>
            <p:nvPr/>
          </p:nvSpPr>
          <p:spPr>
            <a:xfrm>
              <a:off x="1024128" y="3667223"/>
              <a:ext cx="97820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Mean-field approximation (a very common technique to tackle interaction, but not always work.)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22297" y="4074447"/>
              <a:ext cx="3986329" cy="1205036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F4E84A0-0C3F-4985-9BF8-18CFC342A228}"/>
              </a:ext>
            </a:extLst>
          </p:cNvPr>
          <p:cNvGrpSpPr/>
          <p:nvPr/>
        </p:nvGrpSpPr>
        <p:grpSpPr>
          <a:xfrm>
            <a:off x="1115799" y="5212617"/>
            <a:ext cx="6613994" cy="1347222"/>
            <a:chOff x="1115799" y="5212617"/>
            <a:chExt cx="6613994" cy="1347222"/>
          </a:xfrm>
        </p:grpSpPr>
        <p:sp>
          <p:nvSpPr>
            <p:cNvPr id="8" name="TextBox 7"/>
            <p:cNvSpPr txBox="1"/>
            <p:nvPr/>
          </p:nvSpPr>
          <p:spPr>
            <a:xfrm>
              <a:off x="1115799" y="5212617"/>
              <a:ext cx="33608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Assuming uniformity of the gas:</a:t>
              </a: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84383" y="5765876"/>
              <a:ext cx="860585" cy="424631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15461" y="5765876"/>
              <a:ext cx="2934930" cy="501697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6440914" y="6190507"/>
              <a:ext cx="1288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(attractive)</a:t>
              </a:r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7048" y="2562780"/>
            <a:ext cx="3433774" cy="1066551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DEAA77C7-BF00-4922-A3AD-8C13FEFFD4BE}"/>
              </a:ext>
            </a:extLst>
          </p:cNvPr>
          <p:cNvGrpSpPr/>
          <p:nvPr/>
        </p:nvGrpSpPr>
        <p:grpSpPr>
          <a:xfrm>
            <a:off x="8697393" y="3964623"/>
            <a:ext cx="2844869" cy="1162393"/>
            <a:chOff x="8697393" y="3964623"/>
            <a:chExt cx="2844869" cy="116239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12F2E93-DB72-4B32-AF04-309019074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11071" y="4384516"/>
              <a:ext cx="2631191" cy="74250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3A03DC1-9A02-4C99-A2D7-5A152FCF7D0C}"/>
                </a:ext>
              </a:extLst>
            </p:cNvPr>
            <p:cNvSpPr/>
            <p:nvPr/>
          </p:nvSpPr>
          <p:spPr>
            <a:xfrm>
              <a:off x="8697393" y="3964623"/>
              <a:ext cx="13351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Mean-field 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49FBB348-7E71-4CBD-AD4F-663715BF66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05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4759" y="2281481"/>
            <a:ext cx="1922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Beyond idea gas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14" y="2688706"/>
            <a:ext cx="7320015" cy="944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08626" y="2369971"/>
            <a:ext cx="1294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Interaction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048" y="2562780"/>
            <a:ext cx="3433774" cy="106655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1240D51-F1AF-401F-884E-47FE18A55D4C}"/>
              </a:ext>
            </a:extLst>
          </p:cNvPr>
          <p:cNvGrpSpPr/>
          <p:nvPr/>
        </p:nvGrpSpPr>
        <p:grpSpPr>
          <a:xfrm>
            <a:off x="424323" y="3747554"/>
            <a:ext cx="7118021" cy="1415156"/>
            <a:chOff x="424323" y="3747554"/>
            <a:chExt cx="7118021" cy="1415156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4323" y="3747554"/>
              <a:ext cx="7005178" cy="100074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8626" y="4562537"/>
              <a:ext cx="1333718" cy="60017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65C787-FF3F-470C-903D-1D3D5A69EE8C}"/>
              </a:ext>
            </a:extLst>
          </p:cNvPr>
          <p:cNvGrpSpPr/>
          <p:nvPr/>
        </p:nvGrpSpPr>
        <p:grpSpPr>
          <a:xfrm>
            <a:off x="8697393" y="3964623"/>
            <a:ext cx="2844869" cy="1162393"/>
            <a:chOff x="8697393" y="3964623"/>
            <a:chExt cx="2844869" cy="1162393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11071" y="4384516"/>
              <a:ext cx="2631191" cy="74250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18" name="Rectangle 17"/>
            <p:cNvSpPr/>
            <p:nvPr/>
          </p:nvSpPr>
          <p:spPr>
            <a:xfrm>
              <a:off x="8697393" y="3964623"/>
              <a:ext cx="13351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Mean-field 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116085" y="4721784"/>
            <a:ext cx="1783081" cy="763112"/>
            <a:chOff x="3451860" y="4862624"/>
            <a:chExt cx="1783081" cy="763112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67417" y="4862624"/>
              <a:ext cx="1467524" cy="763112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51860" y="5133340"/>
              <a:ext cx="206745" cy="137830"/>
            </a:xfrm>
            <a:prstGeom prst="rect">
              <a:avLst/>
            </a:prstGeom>
          </p:spPr>
        </p:pic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014" y="5625996"/>
            <a:ext cx="5296507" cy="95065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1129CA3-30DD-4CAE-84A3-A55F9F9141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0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4759" y="2281481"/>
            <a:ext cx="1922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Beyond idea gas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14" y="2688706"/>
            <a:ext cx="7320015" cy="944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08626" y="2369971"/>
            <a:ext cx="1294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Interaction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048" y="2562780"/>
            <a:ext cx="3433774" cy="106655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1071" y="4384516"/>
            <a:ext cx="2631191" cy="7425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8697393" y="3964623"/>
            <a:ext cx="1335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Mean-field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014" y="3723562"/>
            <a:ext cx="4721926" cy="847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44" y="4470013"/>
            <a:ext cx="8603049" cy="7095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576" y="5648032"/>
            <a:ext cx="4245643" cy="86706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1E116B7-D2EE-48D4-B1C6-E173BCF20AED}"/>
              </a:ext>
            </a:extLst>
          </p:cNvPr>
          <p:cNvGrpSpPr/>
          <p:nvPr/>
        </p:nvGrpSpPr>
        <p:grpSpPr>
          <a:xfrm>
            <a:off x="6394084" y="5557780"/>
            <a:ext cx="4131022" cy="1189377"/>
            <a:chOff x="6394084" y="5557780"/>
            <a:chExt cx="4131022" cy="118937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7B52A5-B970-4B08-AAA1-7D0811109F62}"/>
                </a:ext>
              </a:extLst>
            </p:cNvPr>
            <p:cNvSpPr txBox="1"/>
            <p:nvPr/>
          </p:nvSpPr>
          <p:spPr>
            <a:xfrm>
              <a:off x="6469380" y="6285492"/>
              <a:ext cx="40557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Van der Waal gas equation.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932ED10-7487-4875-A0A6-67CDBB054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94084" y="5557780"/>
              <a:ext cx="3726180" cy="571630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E14FF069-B51C-448E-B2C1-8F2CD3BD01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7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484759" y="2281481"/>
            <a:ext cx="19646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Virial expansion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39" y="2207461"/>
            <a:ext cx="4245643" cy="8670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890" y="2847462"/>
            <a:ext cx="4706274" cy="122321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DA713DF-A5CB-4830-9393-F9E33700A474}"/>
              </a:ext>
            </a:extLst>
          </p:cNvPr>
          <p:cNvGrpSpPr/>
          <p:nvPr/>
        </p:nvGrpSpPr>
        <p:grpSpPr>
          <a:xfrm>
            <a:off x="621297" y="4463977"/>
            <a:ext cx="10537669" cy="2366655"/>
            <a:chOff x="621297" y="4463977"/>
            <a:chExt cx="10537669" cy="236665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297" y="4838623"/>
              <a:ext cx="7320015" cy="944518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1055" y="5774354"/>
              <a:ext cx="6945825" cy="1056278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41312" y="5371979"/>
              <a:ext cx="2883222" cy="831699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66161" y="6203678"/>
              <a:ext cx="3192805" cy="522459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9110" y="4463977"/>
              <a:ext cx="37708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/>
                <a:t>Other method cluster expansion:</a:t>
              </a:r>
              <a:endParaRPr lang="en-US" b="1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122CB19-1C0E-4E0E-968A-A360E461F5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90553" y="1970480"/>
            <a:ext cx="3579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Break down of the </a:t>
            </a:r>
            <a:r>
              <a:rPr lang="en-US" b="1"/>
              <a:t>gas equation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200" y="2207461"/>
            <a:ext cx="4245643" cy="8670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578" y="2207461"/>
            <a:ext cx="3726180" cy="5716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64" y="2473661"/>
            <a:ext cx="4216400" cy="43053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0259D6F-05C8-477E-BB36-3BAB64B83975}"/>
              </a:ext>
            </a:extLst>
          </p:cNvPr>
          <p:cNvGrpSpPr/>
          <p:nvPr/>
        </p:nvGrpSpPr>
        <p:grpSpPr>
          <a:xfrm>
            <a:off x="2228194" y="3246227"/>
            <a:ext cx="4443999" cy="2050987"/>
            <a:chOff x="2228194" y="3246227"/>
            <a:chExt cx="4443999" cy="2050987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EE2409B-ED0F-420D-91ED-98B04FFEFE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8194" y="3594538"/>
              <a:ext cx="2842470" cy="170267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6CE95FA-1321-472E-AA8F-062F1CAA1B24}"/>
                </a:ext>
              </a:extLst>
            </p:cNvPr>
            <p:cNvSpPr txBox="1"/>
            <p:nvPr/>
          </p:nvSpPr>
          <p:spPr>
            <a:xfrm>
              <a:off x="5070664" y="3246227"/>
              <a:ext cx="16015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Critical points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0941A5-AA34-4061-90E1-A38CE12E932F}"/>
              </a:ext>
            </a:extLst>
          </p:cNvPr>
          <p:cNvGrpSpPr/>
          <p:nvPr/>
        </p:nvGrpSpPr>
        <p:grpSpPr>
          <a:xfrm>
            <a:off x="1660634" y="5297214"/>
            <a:ext cx="3589425" cy="1572766"/>
            <a:chOff x="1660634" y="5297214"/>
            <a:chExt cx="3589425" cy="157276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C6AA8E3-F622-4ED8-B8AC-05BFB689EF8C}"/>
                </a:ext>
              </a:extLst>
            </p:cNvPr>
            <p:cNvSpPr/>
            <p:nvPr/>
          </p:nvSpPr>
          <p:spPr>
            <a:xfrm>
              <a:off x="1660634" y="5297214"/>
              <a:ext cx="1166649" cy="148174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55BFF7-9DB5-4878-85C8-5F825B5B65BE}"/>
                </a:ext>
              </a:extLst>
            </p:cNvPr>
            <p:cNvSpPr txBox="1"/>
            <p:nvPr/>
          </p:nvSpPr>
          <p:spPr>
            <a:xfrm>
              <a:off x="2570736" y="6500648"/>
              <a:ext cx="2679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The gas phase is unstable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AEBD82E-0D16-457F-AF79-438CC5298380}"/>
              </a:ext>
            </a:extLst>
          </p:cNvPr>
          <p:cNvSpPr txBox="1"/>
          <p:nvPr/>
        </p:nvSpPr>
        <p:spPr>
          <a:xfrm>
            <a:off x="5114381" y="3797859"/>
            <a:ext cx="5539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Normally, pressure should increase as volume decrease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3ED2FB3-8982-45A0-A6AE-78585EFE8478}"/>
              </a:ext>
            </a:extLst>
          </p:cNvPr>
          <p:cNvGrpSpPr/>
          <p:nvPr/>
        </p:nvGrpSpPr>
        <p:grpSpPr>
          <a:xfrm>
            <a:off x="6122921" y="4418224"/>
            <a:ext cx="6125332" cy="1301010"/>
            <a:chOff x="6122921" y="4418224"/>
            <a:chExt cx="6125332" cy="13010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A1442DC-B77A-4DC2-B1C4-0F7B7783C3DD}"/>
                </a:ext>
              </a:extLst>
            </p:cNvPr>
            <p:cNvSpPr txBox="1"/>
            <p:nvPr/>
          </p:nvSpPr>
          <p:spPr>
            <a:xfrm>
              <a:off x="6122921" y="4418224"/>
              <a:ext cx="56308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Phase transition because of the van der Waal attraction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14479" y="4652683"/>
              <a:ext cx="3433774" cy="1066551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894DA58-40E8-4B53-A3B5-CC9EF30BE0BF}"/>
              </a:ext>
            </a:extLst>
          </p:cNvPr>
          <p:cNvGrpSpPr/>
          <p:nvPr/>
        </p:nvGrpSpPr>
        <p:grpSpPr>
          <a:xfrm>
            <a:off x="2560065" y="2999124"/>
            <a:ext cx="1698463" cy="894310"/>
            <a:chOff x="2560065" y="2999124"/>
            <a:chExt cx="1698463" cy="894310"/>
          </a:xfrm>
        </p:grpSpPr>
        <p:cxnSp>
          <p:nvCxnSpPr>
            <p:cNvPr id="8" name="Straight Arrow Connector 7"/>
            <p:cNvCxnSpPr/>
            <p:nvPr/>
          </p:nvCxnSpPr>
          <p:spPr>
            <a:xfrm flipH="1">
              <a:off x="2560065" y="2999124"/>
              <a:ext cx="1698463" cy="894310"/>
            </a:xfrm>
            <a:prstGeom prst="straightConnector1">
              <a:avLst/>
            </a:prstGeom>
            <a:ln w="38100">
              <a:solidFill>
                <a:srgbClr val="0432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 rot="19844758">
              <a:off x="2584933" y="3156062"/>
              <a:ext cx="13238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0432FF"/>
                  </a:solidFill>
                </a:rPr>
                <a:t>T decrease</a:t>
              </a:r>
              <a:endParaRPr lang="en-US" b="1" dirty="0">
                <a:solidFill>
                  <a:srgbClr val="0432FF"/>
                </a:solidFill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572000" y="5745035"/>
            <a:ext cx="794539" cy="258043"/>
            <a:chOff x="4572000" y="5745035"/>
            <a:chExt cx="794539" cy="258043"/>
          </a:xfrm>
        </p:grpSpPr>
        <p:cxnSp>
          <p:nvCxnSpPr>
            <p:cNvPr id="22" name="Straight Arrow Connector 21"/>
            <p:cNvCxnSpPr/>
            <p:nvPr/>
          </p:nvCxnSpPr>
          <p:spPr>
            <a:xfrm flipH="1">
              <a:off x="4572000" y="5868584"/>
              <a:ext cx="3834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16934" y="5745035"/>
              <a:ext cx="349605" cy="258043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A47DFF-29CE-4DD0-8233-A806F3457562}"/>
              </a:ext>
            </a:extLst>
          </p:cNvPr>
          <p:cNvGrpSpPr/>
          <p:nvPr/>
        </p:nvGrpSpPr>
        <p:grpSpPr>
          <a:xfrm>
            <a:off x="6896661" y="3161919"/>
            <a:ext cx="2562431" cy="530217"/>
            <a:chOff x="5645594" y="5185959"/>
            <a:chExt cx="2562431" cy="530217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45594" y="5222951"/>
              <a:ext cx="1039790" cy="486451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27661" y="5185959"/>
              <a:ext cx="1180364" cy="530217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6C495F1-E816-4114-87BF-9996BF167ECC}"/>
              </a:ext>
            </a:extLst>
          </p:cNvPr>
          <p:cNvGrpSpPr/>
          <p:nvPr/>
        </p:nvGrpSpPr>
        <p:grpSpPr>
          <a:xfrm>
            <a:off x="6615704" y="6128151"/>
            <a:ext cx="4568861" cy="611681"/>
            <a:chOff x="6615704" y="6128151"/>
            <a:chExt cx="4568861" cy="611681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89319" y="6156110"/>
              <a:ext cx="1395246" cy="231498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14894" y="6174276"/>
              <a:ext cx="1059374" cy="215923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615704" y="6128151"/>
              <a:ext cx="1343132" cy="246944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52153" y="6501528"/>
              <a:ext cx="1912871" cy="238304"/>
            </a:xfrm>
            <a:prstGeom prst="rect">
              <a:avLst/>
            </a:prstGeom>
          </p:spPr>
        </p:pic>
      </p:grpSp>
      <p:sp>
        <p:nvSpPr>
          <p:cNvPr id="34" name="TextBox 33"/>
          <p:cNvSpPr txBox="1"/>
          <p:nvPr/>
        </p:nvSpPr>
        <p:spPr>
          <a:xfrm>
            <a:off x="2080797" y="5971444"/>
            <a:ext cx="2611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correct, Coexistence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1EE4D96-7029-4866-94BA-DF43972637B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7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64" y="2473661"/>
            <a:ext cx="4216400" cy="43053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0259D6F-05C8-477E-BB36-3BAB64B83975}"/>
              </a:ext>
            </a:extLst>
          </p:cNvPr>
          <p:cNvGrpSpPr/>
          <p:nvPr/>
        </p:nvGrpSpPr>
        <p:grpSpPr>
          <a:xfrm>
            <a:off x="2228194" y="3246227"/>
            <a:ext cx="4443999" cy="2050987"/>
            <a:chOff x="2228194" y="3246227"/>
            <a:chExt cx="4443999" cy="2050987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EE2409B-ED0F-420D-91ED-98B04FFEFE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8194" y="3594538"/>
              <a:ext cx="2842470" cy="170267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CE95FA-1321-472E-AA8F-062F1CAA1B24}"/>
                </a:ext>
              </a:extLst>
            </p:cNvPr>
            <p:cNvSpPr txBox="1"/>
            <p:nvPr/>
          </p:nvSpPr>
          <p:spPr>
            <a:xfrm>
              <a:off x="5070664" y="3246227"/>
              <a:ext cx="16015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Critical points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1190553" y="1970480"/>
            <a:ext cx="3579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Break down of the </a:t>
            </a:r>
            <a:r>
              <a:rPr lang="en-US" b="1"/>
              <a:t>gas equation</a:t>
            </a:r>
            <a:endParaRPr lang="en-US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200" y="2207461"/>
            <a:ext cx="4245643" cy="8670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578" y="2207461"/>
            <a:ext cx="3726180" cy="57163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B531913-AD12-43D1-912B-28A229AD4B1B}"/>
              </a:ext>
            </a:extLst>
          </p:cNvPr>
          <p:cNvGrpSpPr/>
          <p:nvPr/>
        </p:nvGrpSpPr>
        <p:grpSpPr>
          <a:xfrm>
            <a:off x="4971595" y="3932949"/>
            <a:ext cx="7074578" cy="742996"/>
            <a:chOff x="4971595" y="3932949"/>
            <a:chExt cx="7074578" cy="742996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5"/>
            <a:srcRect b="21575"/>
            <a:stretch/>
          </p:blipFill>
          <p:spPr>
            <a:xfrm>
              <a:off x="4987232" y="3932949"/>
              <a:ext cx="4290303" cy="270524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9349473" y="3932949"/>
              <a:ext cx="269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(diverge at critical point)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971595" y="4306613"/>
              <a:ext cx="7058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Response function divergence is a hallmark of phase transition.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259D6F-05C8-477E-BB36-3BAB64B83975}"/>
              </a:ext>
            </a:extLst>
          </p:cNvPr>
          <p:cNvGrpSpPr/>
          <p:nvPr/>
        </p:nvGrpSpPr>
        <p:grpSpPr>
          <a:xfrm>
            <a:off x="2228194" y="3246227"/>
            <a:ext cx="4443999" cy="2050987"/>
            <a:chOff x="2228194" y="3246227"/>
            <a:chExt cx="4443999" cy="2050987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EE2409B-ED0F-420D-91ED-98B04FFEFE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8194" y="3594538"/>
              <a:ext cx="2842470" cy="170267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6CE95FA-1321-472E-AA8F-062F1CAA1B24}"/>
                </a:ext>
              </a:extLst>
            </p:cNvPr>
            <p:cNvSpPr txBox="1"/>
            <p:nvPr/>
          </p:nvSpPr>
          <p:spPr>
            <a:xfrm>
              <a:off x="5070664" y="3246227"/>
              <a:ext cx="16015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Critical points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50941A5-AA34-4061-90E1-A38CE12E932F}"/>
              </a:ext>
            </a:extLst>
          </p:cNvPr>
          <p:cNvGrpSpPr/>
          <p:nvPr/>
        </p:nvGrpSpPr>
        <p:grpSpPr>
          <a:xfrm>
            <a:off x="1660634" y="5297214"/>
            <a:ext cx="3589425" cy="1572766"/>
            <a:chOff x="1660634" y="5297214"/>
            <a:chExt cx="3589425" cy="1572766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C6AA8E3-F622-4ED8-B8AC-05BFB689EF8C}"/>
                </a:ext>
              </a:extLst>
            </p:cNvPr>
            <p:cNvSpPr/>
            <p:nvPr/>
          </p:nvSpPr>
          <p:spPr>
            <a:xfrm>
              <a:off x="1660634" y="5297214"/>
              <a:ext cx="1166649" cy="148174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E55BFF7-9DB5-4878-85C8-5F825B5B65BE}"/>
                </a:ext>
              </a:extLst>
            </p:cNvPr>
            <p:cNvSpPr txBox="1"/>
            <p:nvPr/>
          </p:nvSpPr>
          <p:spPr>
            <a:xfrm>
              <a:off x="2570736" y="6500648"/>
              <a:ext cx="2679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The gas phase is unstable</a:t>
              </a: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 flipH="1">
            <a:off x="2560065" y="2999124"/>
            <a:ext cx="1698463" cy="894310"/>
          </a:xfrm>
          <a:prstGeom prst="straightConnector1">
            <a:avLst/>
          </a:prstGeom>
          <a:ln w="3810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 rot="19844758">
            <a:off x="2584933" y="3156062"/>
            <a:ext cx="1323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432FF"/>
                </a:solidFill>
              </a:rPr>
              <a:t>T decrease</a:t>
            </a:r>
            <a:endParaRPr lang="en-US" b="1" dirty="0">
              <a:solidFill>
                <a:srgbClr val="0432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80797" y="5971444"/>
            <a:ext cx="2611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correct, Coexistence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6200" y="4680766"/>
            <a:ext cx="3676859" cy="130265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5815" y="6224099"/>
            <a:ext cx="4572367" cy="59729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54065" y="5325113"/>
            <a:ext cx="3712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Particle # fluctuations diverges =&gt; Macroscopic changes of the system.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1843" y="4869092"/>
            <a:ext cx="2277631" cy="299935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CD09C63A-C45E-4E41-9A56-835D53583201}"/>
              </a:ext>
            </a:extLst>
          </p:cNvPr>
          <p:cNvGrpSpPr/>
          <p:nvPr/>
        </p:nvGrpSpPr>
        <p:grpSpPr>
          <a:xfrm>
            <a:off x="6896661" y="3161919"/>
            <a:ext cx="2562431" cy="530217"/>
            <a:chOff x="5645594" y="5185959"/>
            <a:chExt cx="2562431" cy="530217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E531905-254E-480B-B44D-A5590C9A8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45594" y="5222951"/>
              <a:ext cx="1039790" cy="486451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59C9A6D-B20A-4B4B-AFFB-1011B2DFB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027661" y="5185959"/>
              <a:ext cx="1180364" cy="530217"/>
            </a:xfrm>
            <a:prstGeom prst="rect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BA4110FB-4D96-47FA-906C-ECFFBC0884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9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64" y="2473661"/>
            <a:ext cx="4216400" cy="43053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90553" y="1970480"/>
            <a:ext cx="3579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Break down of the </a:t>
            </a:r>
            <a:r>
              <a:rPr lang="en-US" b="1"/>
              <a:t>gas equation</a:t>
            </a:r>
            <a:endParaRPr lang="en-US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200" y="2207461"/>
            <a:ext cx="4245643" cy="8670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578" y="2207461"/>
            <a:ext cx="3726180" cy="57163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50941A5-AA34-4061-90E1-A38CE12E932F}"/>
              </a:ext>
            </a:extLst>
          </p:cNvPr>
          <p:cNvGrpSpPr/>
          <p:nvPr/>
        </p:nvGrpSpPr>
        <p:grpSpPr>
          <a:xfrm>
            <a:off x="1660634" y="5297214"/>
            <a:ext cx="3589425" cy="1572766"/>
            <a:chOff x="1660634" y="5297214"/>
            <a:chExt cx="3589425" cy="1572766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C6AA8E3-F622-4ED8-B8AC-05BFB689EF8C}"/>
                </a:ext>
              </a:extLst>
            </p:cNvPr>
            <p:cNvSpPr/>
            <p:nvPr/>
          </p:nvSpPr>
          <p:spPr>
            <a:xfrm>
              <a:off x="1660634" y="5297214"/>
              <a:ext cx="1166649" cy="148174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E55BFF7-9DB5-4878-85C8-5F825B5B65BE}"/>
                </a:ext>
              </a:extLst>
            </p:cNvPr>
            <p:cNvSpPr txBox="1"/>
            <p:nvPr/>
          </p:nvSpPr>
          <p:spPr>
            <a:xfrm>
              <a:off x="2570736" y="6500648"/>
              <a:ext cx="2679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The gas phase is unstable</a:t>
              </a: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 flipH="1">
            <a:off x="2560065" y="2999124"/>
            <a:ext cx="1698463" cy="894310"/>
          </a:xfrm>
          <a:prstGeom prst="straightConnector1">
            <a:avLst/>
          </a:prstGeom>
          <a:ln w="3810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 rot="19844758">
            <a:off x="2584933" y="3156062"/>
            <a:ext cx="1323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432FF"/>
                </a:solidFill>
              </a:rPr>
              <a:t>T decrease</a:t>
            </a:r>
            <a:endParaRPr lang="en-US" b="1" dirty="0">
              <a:solidFill>
                <a:srgbClr val="0432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80797" y="5971444"/>
            <a:ext cx="261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correct, Coexistence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128" y="4261443"/>
            <a:ext cx="4742565" cy="252806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100" y="3043741"/>
            <a:ext cx="5829516" cy="763692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8749507" y="4072030"/>
            <a:ext cx="1039067" cy="2087939"/>
            <a:chOff x="8767795" y="4181758"/>
            <a:chExt cx="1039067" cy="2087939"/>
          </a:xfrm>
        </p:grpSpPr>
        <p:sp>
          <p:nvSpPr>
            <p:cNvPr id="16" name="Oval 15"/>
            <p:cNvSpPr/>
            <p:nvPr/>
          </p:nvSpPr>
          <p:spPr>
            <a:xfrm rot="2535291">
              <a:off x="9216474" y="4181758"/>
              <a:ext cx="407253" cy="208793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 rot="18972699">
              <a:off x="8767795" y="4540841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unstable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9034694" y="589603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8293" y="5386398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liquid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0278" y="4516583"/>
            <a:ext cx="913384" cy="24409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101531" y="6456749"/>
            <a:ext cx="3176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Vapor pressure (T-dependent)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4503" y="3593415"/>
            <a:ext cx="2056549" cy="754936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6601968" y="5494828"/>
            <a:ext cx="687955" cy="339044"/>
            <a:chOff x="6601968" y="5494828"/>
            <a:chExt cx="687955" cy="339044"/>
          </a:xfrm>
        </p:grpSpPr>
        <p:sp>
          <p:nvSpPr>
            <p:cNvPr id="46" name="Freeform 45"/>
            <p:cNvSpPr/>
            <p:nvPr/>
          </p:nvSpPr>
          <p:spPr>
            <a:xfrm>
              <a:off x="6601968" y="5601643"/>
              <a:ext cx="146375" cy="232229"/>
            </a:xfrm>
            <a:custGeom>
              <a:avLst/>
              <a:gdLst>
                <a:gd name="connsiteX0" fmla="*/ 36576 w 146375"/>
                <a:gd name="connsiteY0" fmla="*/ 67637 h 232229"/>
                <a:gd name="connsiteX1" fmla="*/ 73152 w 146375"/>
                <a:gd name="connsiteY1" fmla="*/ 104213 h 232229"/>
                <a:gd name="connsiteX2" fmla="*/ 109728 w 146375"/>
                <a:gd name="connsiteY2" fmla="*/ 49349 h 232229"/>
                <a:gd name="connsiteX3" fmla="*/ 91440 w 146375"/>
                <a:gd name="connsiteY3" fmla="*/ 104213 h 232229"/>
                <a:gd name="connsiteX4" fmla="*/ 54864 w 146375"/>
                <a:gd name="connsiteY4" fmla="*/ 159077 h 232229"/>
                <a:gd name="connsiteX5" fmla="*/ 36576 w 146375"/>
                <a:gd name="connsiteY5" fmla="*/ 213941 h 232229"/>
                <a:gd name="connsiteX6" fmla="*/ 91440 w 146375"/>
                <a:gd name="connsiteY6" fmla="*/ 177365 h 232229"/>
                <a:gd name="connsiteX7" fmla="*/ 128016 w 146375"/>
                <a:gd name="connsiteY7" fmla="*/ 67637 h 232229"/>
                <a:gd name="connsiteX8" fmla="*/ 109728 w 146375"/>
                <a:gd name="connsiteY8" fmla="*/ 122501 h 232229"/>
                <a:gd name="connsiteX9" fmla="*/ 54864 w 146375"/>
                <a:gd name="connsiteY9" fmla="*/ 232229 h 232229"/>
                <a:gd name="connsiteX10" fmla="*/ 36576 w 146375"/>
                <a:gd name="connsiteY10" fmla="*/ 177365 h 232229"/>
                <a:gd name="connsiteX11" fmla="*/ 54864 w 146375"/>
                <a:gd name="connsiteY11" fmla="*/ 49349 h 232229"/>
                <a:gd name="connsiteX12" fmla="*/ 0 w 146375"/>
                <a:gd name="connsiteY12" fmla="*/ 67637 h 232229"/>
                <a:gd name="connsiteX13" fmla="*/ 54864 w 146375"/>
                <a:gd name="connsiteY13" fmla="*/ 31061 h 232229"/>
                <a:gd name="connsiteX14" fmla="*/ 146304 w 146375"/>
                <a:gd name="connsiteY14" fmla="*/ 31061 h 232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6375" h="232229">
                  <a:moveTo>
                    <a:pt x="36576" y="67637"/>
                  </a:moveTo>
                  <a:cubicBezTo>
                    <a:pt x="12957" y="162112"/>
                    <a:pt x="-2625" y="154731"/>
                    <a:pt x="73152" y="104213"/>
                  </a:cubicBezTo>
                  <a:cubicBezTo>
                    <a:pt x="85344" y="85925"/>
                    <a:pt x="116679" y="28497"/>
                    <a:pt x="109728" y="49349"/>
                  </a:cubicBezTo>
                  <a:cubicBezTo>
                    <a:pt x="103632" y="67637"/>
                    <a:pt x="102133" y="88173"/>
                    <a:pt x="91440" y="104213"/>
                  </a:cubicBezTo>
                  <a:cubicBezTo>
                    <a:pt x="79248" y="122501"/>
                    <a:pt x="64694" y="139418"/>
                    <a:pt x="54864" y="159077"/>
                  </a:cubicBezTo>
                  <a:cubicBezTo>
                    <a:pt x="46243" y="176319"/>
                    <a:pt x="19334" y="205320"/>
                    <a:pt x="36576" y="213941"/>
                  </a:cubicBezTo>
                  <a:cubicBezTo>
                    <a:pt x="56235" y="223771"/>
                    <a:pt x="73152" y="189557"/>
                    <a:pt x="91440" y="177365"/>
                  </a:cubicBezTo>
                  <a:lnTo>
                    <a:pt x="128016" y="67637"/>
                  </a:lnTo>
                  <a:lnTo>
                    <a:pt x="109728" y="122501"/>
                  </a:lnTo>
                  <a:cubicBezTo>
                    <a:pt x="84489" y="198217"/>
                    <a:pt x="102133" y="161325"/>
                    <a:pt x="54864" y="232229"/>
                  </a:cubicBezTo>
                  <a:cubicBezTo>
                    <a:pt x="48768" y="213941"/>
                    <a:pt x="36576" y="196642"/>
                    <a:pt x="36576" y="177365"/>
                  </a:cubicBezTo>
                  <a:cubicBezTo>
                    <a:pt x="36576" y="134260"/>
                    <a:pt x="68495" y="90242"/>
                    <a:pt x="54864" y="49349"/>
                  </a:cubicBezTo>
                  <a:cubicBezTo>
                    <a:pt x="48768" y="31061"/>
                    <a:pt x="0" y="86914"/>
                    <a:pt x="0" y="67637"/>
                  </a:cubicBezTo>
                  <a:cubicBezTo>
                    <a:pt x="0" y="45658"/>
                    <a:pt x="34284" y="38778"/>
                    <a:pt x="54864" y="31061"/>
                  </a:cubicBezTo>
                  <a:cubicBezTo>
                    <a:pt x="152282" y="-5471"/>
                    <a:pt x="146304" y="-14967"/>
                    <a:pt x="146304" y="3106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6922093" y="5494828"/>
              <a:ext cx="367830" cy="111213"/>
            </a:xfrm>
            <a:custGeom>
              <a:avLst/>
              <a:gdLst>
                <a:gd name="connsiteX0" fmla="*/ 0 w 367830"/>
                <a:gd name="connsiteY0" fmla="*/ 85576 h 111213"/>
                <a:gd name="connsiteX1" fmla="*/ 34184 w 367830"/>
                <a:gd name="connsiteY1" fmla="*/ 68484 h 111213"/>
                <a:gd name="connsiteX2" fmla="*/ 59821 w 367830"/>
                <a:gd name="connsiteY2" fmla="*/ 42847 h 111213"/>
                <a:gd name="connsiteX3" fmla="*/ 85458 w 367830"/>
                <a:gd name="connsiteY3" fmla="*/ 25755 h 111213"/>
                <a:gd name="connsiteX4" fmla="*/ 94004 w 367830"/>
                <a:gd name="connsiteY4" fmla="*/ 34301 h 111213"/>
                <a:gd name="connsiteX5" fmla="*/ 85458 w 367830"/>
                <a:gd name="connsiteY5" fmla="*/ 59938 h 111213"/>
                <a:gd name="connsiteX6" fmla="*/ 111096 w 367830"/>
                <a:gd name="connsiteY6" fmla="*/ 34301 h 111213"/>
                <a:gd name="connsiteX7" fmla="*/ 162371 w 367830"/>
                <a:gd name="connsiteY7" fmla="*/ 118 h 111213"/>
                <a:gd name="connsiteX8" fmla="*/ 162371 w 367830"/>
                <a:gd name="connsiteY8" fmla="*/ 77030 h 111213"/>
                <a:gd name="connsiteX9" fmla="*/ 170916 w 367830"/>
                <a:gd name="connsiteY9" fmla="*/ 51393 h 111213"/>
                <a:gd name="connsiteX10" fmla="*/ 188008 w 367830"/>
                <a:gd name="connsiteY10" fmla="*/ 25755 h 111213"/>
                <a:gd name="connsiteX11" fmla="*/ 179462 w 367830"/>
                <a:gd name="connsiteY11" fmla="*/ 102667 h 111213"/>
                <a:gd name="connsiteX12" fmla="*/ 188008 w 367830"/>
                <a:gd name="connsiteY12" fmla="*/ 77030 h 111213"/>
                <a:gd name="connsiteX13" fmla="*/ 230737 w 367830"/>
                <a:gd name="connsiteY13" fmla="*/ 34301 h 111213"/>
                <a:gd name="connsiteX14" fmla="*/ 239283 w 367830"/>
                <a:gd name="connsiteY14" fmla="*/ 59938 h 111213"/>
                <a:gd name="connsiteX15" fmla="*/ 222191 w 367830"/>
                <a:gd name="connsiteY15" fmla="*/ 111213 h 111213"/>
                <a:gd name="connsiteX16" fmla="*/ 196554 w 367830"/>
                <a:gd name="connsiteY16" fmla="*/ 94122 h 111213"/>
                <a:gd name="connsiteX17" fmla="*/ 145279 w 367830"/>
                <a:gd name="connsiteY17" fmla="*/ 42847 h 111213"/>
                <a:gd name="connsiteX18" fmla="*/ 94004 w 367830"/>
                <a:gd name="connsiteY18" fmla="*/ 8664 h 111213"/>
                <a:gd name="connsiteX19" fmla="*/ 119642 w 367830"/>
                <a:gd name="connsiteY19" fmla="*/ 25755 h 111213"/>
                <a:gd name="connsiteX20" fmla="*/ 196554 w 367830"/>
                <a:gd name="connsiteY20" fmla="*/ 17209 h 111213"/>
                <a:gd name="connsiteX21" fmla="*/ 264920 w 367830"/>
                <a:gd name="connsiteY21" fmla="*/ 25755 h 111213"/>
                <a:gd name="connsiteX22" fmla="*/ 290557 w 367830"/>
                <a:gd name="connsiteY22" fmla="*/ 34301 h 111213"/>
                <a:gd name="connsiteX23" fmla="*/ 324741 w 367830"/>
                <a:gd name="connsiteY23" fmla="*/ 42847 h 111213"/>
                <a:gd name="connsiteX24" fmla="*/ 316195 w 367830"/>
                <a:gd name="connsiteY24" fmla="*/ 68484 h 111213"/>
                <a:gd name="connsiteX25" fmla="*/ 230737 w 367830"/>
                <a:gd name="connsiteY25" fmla="*/ 77030 h 111213"/>
                <a:gd name="connsiteX26" fmla="*/ 256374 w 367830"/>
                <a:gd name="connsiteY26" fmla="*/ 59938 h 111213"/>
                <a:gd name="connsiteX27" fmla="*/ 307649 w 367830"/>
                <a:gd name="connsiteY27" fmla="*/ 42847 h 111213"/>
                <a:gd name="connsiteX28" fmla="*/ 333286 w 367830"/>
                <a:gd name="connsiteY28" fmla="*/ 59938 h 111213"/>
                <a:gd name="connsiteX29" fmla="*/ 367470 w 367830"/>
                <a:gd name="connsiteY29" fmla="*/ 68484 h 111213"/>
                <a:gd name="connsiteX30" fmla="*/ 341832 w 367830"/>
                <a:gd name="connsiteY30" fmla="*/ 85576 h 111213"/>
                <a:gd name="connsiteX31" fmla="*/ 290557 w 367830"/>
                <a:gd name="connsiteY31" fmla="*/ 102667 h 111213"/>
                <a:gd name="connsiteX32" fmla="*/ 213645 w 367830"/>
                <a:gd name="connsiteY32" fmla="*/ 77030 h 111213"/>
                <a:gd name="connsiteX33" fmla="*/ 162371 w 367830"/>
                <a:gd name="connsiteY33" fmla="*/ 59938 h 111213"/>
                <a:gd name="connsiteX34" fmla="*/ 85458 w 367830"/>
                <a:gd name="connsiteY34" fmla="*/ 68484 h 111213"/>
                <a:gd name="connsiteX35" fmla="*/ 59821 w 367830"/>
                <a:gd name="connsiteY35" fmla="*/ 77030 h 111213"/>
                <a:gd name="connsiteX36" fmla="*/ 111096 w 367830"/>
                <a:gd name="connsiteY36" fmla="*/ 34301 h 111213"/>
                <a:gd name="connsiteX37" fmla="*/ 162371 w 367830"/>
                <a:gd name="connsiteY37" fmla="*/ 17209 h 111213"/>
                <a:gd name="connsiteX38" fmla="*/ 247828 w 367830"/>
                <a:gd name="connsiteY38" fmla="*/ 34301 h 111213"/>
                <a:gd name="connsiteX39" fmla="*/ 316195 w 367830"/>
                <a:gd name="connsiteY39" fmla="*/ 51393 h 111213"/>
                <a:gd name="connsiteX40" fmla="*/ 350378 w 367830"/>
                <a:gd name="connsiteY40" fmla="*/ 59938 h 111213"/>
                <a:gd name="connsiteX41" fmla="*/ 299103 w 367830"/>
                <a:gd name="connsiteY41" fmla="*/ 34301 h 111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67830" h="111213">
                  <a:moveTo>
                    <a:pt x="0" y="85576"/>
                  </a:moveTo>
                  <a:cubicBezTo>
                    <a:pt x="11395" y="79879"/>
                    <a:pt x="23817" y="75889"/>
                    <a:pt x="34184" y="68484"/>
                  </a:cubicBezTo>
                  <a:cubicBezTo>
                    <a:pt x="44018" y="61460"/>
                    <a:pt x="50537" y="50584"/>
                    <a:pt x="59821" y="42847"/>
                  </a:cubicBezTo>
                  <a:cubicBezTo>
                    <a:pt x="67711" y="36272"/>
                    <a:pt x="76912" y="31452"/>
                    <a:pt x="85458" y="25755"/>
                  </a:cubicBezTo>
                  <a:cubicBezTo>
                    <a:pt x="106652" y="-6035"/>
                    <a:pt x="107800" y="-13985"/>
                    <a:pt x="94004" y="34301"/>
                  </a:cubicBezTo>
                  <a:cubicBezTo>
                    <a:pt x="91529" y="42962"/>
                    <a:pt x="76450" y="59938"/>
                    <a:pt x="85458" y="59938"/>
                  </a:cubicBezTo>
                  <a:cubicBezTo>
                    <a:pt x="97544" y="59938"/>
                    <a:pt x="101556" y="41721"/>
                    <a:pt x="111096" y="34301"/>
                  </a:cubicBezTo>
                  <a:cubicBezTo>
                    <a:pt x="127311" y="21690"/>
                    <a:pt x="162371" y="118"/>
                    <a:pt x="162371" y="118"/>
                  </a:cubicBezTo>
                  <a:cubicBezTo>
                    <a:pt x="189455" y="40745"/>
                    <a:pt x="182710" y="16012"/>
                    <a:pt x="162371" y="77030"/>
                  </a:cubicBezTo>
                  <a:cubicBezTo>
                    <a:pt x="159522" y="85576"/>
                    <a:pt x="165919" y="58888"/>
                    <a:pt x="170916" y="51393"/>
                  </a:cubicBezTo>
                  <a:lnTo>
                    <a:pt x="188008" y="25755"/>
                  </a:lnTo>
                  <a:cubicBezTo>
                    <a:pt x="202251" y="68484"/>
                    <a:pt x="199403" y="42847"/>
                    <a:pt x="179462" y="102667"/>
                  </a:cubicBezTo>
                  <a:cubicBezTo>
                    <a:pt x="176613" y="111213"/>
                    <a:pt x="183011" y="84525"/>
                    <a:pt x="188008" y="77030"/>
                  </a:cubicBezTo>
                  <a:cubicBezTo>
                    <a:pt x="210797" y="42847"/>
                    <a:pt x="196554" y="57090"/>
                    <a:pt x="230737" y="34301"/>
                  </a:cubicBezTo>
                  <a:cubicBezTo>
                    <a:pt x="233586" y="42847"/>
                    <a:pt x="240278" y="50985"/>
                    <a:pt x="239283" y="59938"/>
                  </a:cubicBezTo>
                  <a:cubicBezTo>
                    <a:pt x="237293" y="77844"/>
                    <a:pt x="222191" y="111213"/>
                    <a:pt x="222191" y="111213"/>
                  </a:cubicBezTo>
                  <a:cubicBezTo>
                    <a:pt x="213645" y="105516"/>
                    <a:pt x="204230" y="100945"/>
                    <a:pt x="196554" y="94122"/>
                  </a:cubicBezTo>
                  <a:cubicBezTo>
                    <a:pt x="178488" y="78064"/>
                    <a:pt x="165391" y="56255"/>
                    <a:pt x="145279" y="42847"/>
                  </a:cubicBezTo>
                  <a:lnTo>
                    <a:pt x="94004" y="8664"/>
                  </a:lnTo>
                  <a:lnTo>
                    <a:pt x="119642" y="25755"/>
                  </a:lnTo>
                  <a:cubicBezTo>
                    <a:pt x="145279" y="22906"/>
                    <a:pt x="170759" y="17209"/>
                    <a:pt x="196554" y="17209"/>
                  </a:cubicBezTo>
                  <a:cubicBezTo>
                    <a:pt x="219520" y="17209"/>
                    <a:pt x="242324" y="21647"/>
                    <a:pt x="264920" y="25755"/>
                  </a:cubicBezTo>
                  <a:cubicBezTo>
                    <a:pt x="273783" y="27366"/>
                    <a:pt x="281896" y="31826"/>
                    <a:pt x="290557" y="34301"/>
                  </a:cubicBezTo>
                  <a:cubicBezTo>
                    <a:pt x="301850" y="37528"/>
                    <a:pt x="313346" y="39998"/>
                    <a:pt x="324741" y="42847"/>
                  </a:cubicBezTo>
                  <a:cubicBezTo>
                    <a:pt x="321892" y="51393"/>
                    <a:pt x="321822" y="61450"/>
                    <a:pt x="316195" y="68484"/>
                  </a:cubicBezTo>
                  <a:cubicBezTo>
                    <a:pt x="291553" y="99286"/>
                    <a:pt x="265904" y="82054"/>
                    <a:pt x="230737" y="77030"/>
                  </a:cubicBezTo>
                  <a:cubicBezTo>
                    <a:pt x="239283" y="71333"/>
                    <a:pt x="246988" y="64109"/>
                    <a:pt x="256374" y="59938"/>
                  </a:cubicBezTo>
                  <a:cubicBezTo>
                    <a:pt x="272837" y="52621"/>
                    <a:pt x="307649" y="42847"/>
                    <a:pt x="307649" y="42847"/>
                  </a:cubicBezTo>
                  <a:cubicBezTo>
                    <a:pt x="316195" y="48544"/>
                    <a:pt x="323846" y="55892"/>
                    <a:pt x="333286" y="59938"/>
                  </a:cubicBezTo>
                  <a:cubicBezTo>
                    <a:pt x="344082" y="64565"/>
                    <a:pt x="363756" y="57341"/>
                    <a:pt x="367470" y="68484"/>
                  </a:cubicBezTo>
                  <a:cubicBezTo>
                    <a:pt x="370718" y="78228"/>
                    <a:pt x="351218" y="81405"/>
                    <a:pt x="341832" y="85576"/>
                  </a:cubicBezTo>
                  <a:cubicBezTo>
                    <a:pt x="325369" y="92893"/>
                    <a:pt x="290557" y="102667"/>
                    <a:pt x="290557" y="102667"/>
                  </a:cubicBezTo>
                  <a:cubicBezTo>
                    <a:pt x="175102" y="83426"/>
                    <a:pt x="285739" y="109073"/>
                    <a:pt x="213645" y="77030"/>
                  </a:cubicBezTo>
                  <a:cubicBezTo>
                    <a:pt x="197182" y="69713"/>
                    <a:pt x="162371" y="59938"/>
                    <a:pt x="162371" y="59938"/>
                  </a:cubicBezTo>
                  <a:cubicBezTo>
                    <a:pt x="136733" y="62787"/>
                    <a:pt x="110902" y="64243"/>
                    <a:pt x="85458" y="68484"/>
                  </a:cubicBezTo>
                  <a:cubicBezTo>
                    <a:pt x="76573" y="69965"/>
                    <a:pt x="59821" y="86038"/>
                    <a:pt x="59821" y="77030"/>
                  </a:cubicBezTo>
                  <a:cubicBezTo>
                    <a:pt x="59821" y="68085"/>
                    <a:pt x="103363" y="37738"/>
                    <a:pt x="111096" y="34301"/>
                  </a:cubicBezTo>
                  <a:cubicBezTo>
                    <a:pt x="127559" y="26984"/>
                    <a:pt x="162371" y="17209"/>
                    <a:pt x="162371" y="17209"/>
                  </a:cubicBezTo>
                  <a:cubicBezTo>
                    <a:pt x="220290" y="36516"/>
                    <a:pt x="149634" y="14662"/>
                    <a:pt x="247828" y="34301"/>
                  </a:cubicBezTo>
                  <a:cubicBezTo>
                    <a:pt x="270862" y="38908"/>
                    <a:pt x="293406" y="45696"/>
                    <a:pt x="316195" y="51393"/>
                  </a:cubicBezTo>
                  <a:lnTo>
                    <a:pt x="350378" y="59938"/>
                  </a:lnTo>
                  <a:cubicBezTo>
                    <a:pt x="311637" y="30883"/>
                    <a:pt x="330438" y="34301"/>
                    <a:pt x="299103" y="3430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84493" y="3566703"/>
            <a:ext cx="3867491" cy="3253840"/>
            <a:chOff x="884493" y="3566703"/>
            <a:chExt cx="3867491" cy="3253840"/>
          </a:xfrm>
        </p:grpSpPr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84493" y="3566703"/>
              <a:ext cx="3867491" cy="3253840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51" name="Rectangle 50"/>
            <p:cNvSpPr/>
            <p:nvPr/>
          </p:nvSpPr>
          <p:spPr>
            <a:xfrm>
              <a:off x="1973907" y="5841192"/>
              <a:ext cx="137338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Coexistence</a:t>
              </a:r>
              <a:endParaRPr lang="en-US" dirty="0"/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EE2409B-ED0F-420D-91ED-98B04FFEFEEE}"/>
              </a:ext>
            </a:extLst>
          </p:cNvPr>
          <p:cNvCxnSpPr>
            <a:cxnSpLocks/>
          </p:cNvCxnSpPr>
          <p:nvPr/>
        </p:nvCxnSpPr>
        <p:spPr>
          <a:xfrm flipH="1">
            <a:off x="2834352" y="4200641"/>
            <a:ext cx="2842470" cy="170267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59877150-23C2-488D-801A-A6D9FF146EE8}"/>
              </a:ext>
            </a:extLst>
          </p:cNvPr>
          <p:cNvGrpSpPr/>
          <p:nvPr/>
        </p:nvGrpSpPr>
        <p:grpSpPr>
          <a:xfrm>
            <a:off x="5165612" y="3807604"/>
            <a:ext cx="4687626" cy="369332"/>
            <a:chOff x="5165612" y="3807604"/>
            <a:chExt cx="4687626" cy="369332"/>
          </a:xfrm>
        </p:grpSpPr>
        <p:sp>
          <p:nvSpPr>
            <p:cNvPr id="41" name="Rectangle 40"/>
            <p:cNvSpPr/>
            <p:nvPr/>
          </p:nvSpPr>
          <p:spPr>
            <a:xfrm>
              <a:off x="7265478" y="3807604"/>
              <a:ext cx="25877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(Gas-liquid coexistence)</a:t>
              </a:r>
              <a:endParaRPr lang="en-US" dirty="0"/>
            </a:p>
          </p:txBody>
        </p:sp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65612" y="3881413"/>
              <a:ext cx="2103967" cy="245248"/>
            </a:xfrm>
            <a:prstGeom prst="rect">
              <a:avLst/>
            </a:prstGeom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99" y="1285175"/>
            <a:ext cx="4559808" cy="240182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0F1B0B9-083A-40CD-BEFC-E84EECA73014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8090" r="20069" b="52488"/>
          <a:stretch/>
        </p:blipFill>
        <p:spPr>
          <a:xfrm>
            <a:off x="5785245" y="1426286"/>
            <a:ext cx="2641525" cy="61892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816DB8A-FF20-4363-BE23-B3A59C6086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05655" y="4224867"/>
            <a:ext cx="885419" cy="37946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C05544D-FA01-40AA-99B4-F42B46FF970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4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and phase transition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91" y="1903998"/>
            <a:ext cx="4742565" cy="25280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9757" y="353859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3356" y="3028953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liquid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341" y="2159138"/>
            <a:ext cx="913384" cy="2440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86211" y="4247394"/>
            <a:ext cx="3176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Vapor pressure (T-dependent)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387031" y="3137383"/>
            <a:ext cx="687955" cy="339044"/>
            <a:chOff x="6601968" y="5494828"/>
            <a:chExt cx="687955" cy="339044"/>
          </a:xfrm>
        </p:grpSpPr>
        <p:sp>
          <p:nvSpPr>
            <p:cNvPr id="10" name="Freeform 9"/>
            <p:cNvSpPr/>
            <p:nvPr/>
          </p:nvSpPr>
          <p:spPr>
            <a:xfrm>
              <a:off x="6601968" y="5601643"/>
              <a:ext cx="146375" cy="232229"/>
            </a:xfrm>
            <a:custGeom>
              <a:avLst/>
              <a:gdLst>
                <a:gd name="connsiteX0" fmla="*/ 36576 w 146375"/>
                <a:gd name="connsiteY0" fmla="*/ 67637 h 232229"/>
                <a:gd name="connsiteX1" fmla="*/ 73152 w 146375"/>
                <a:gd name="connsiteY1" fmla="*/ 104213 h 232229"/>
                <a:gd name="connsiteX2" fmla="*/ 109728 w 146375"/>
                <a:gd name="connsiteY2" fmla="*/ 49349 h 232229"/>
                <a:gd name="connsiteX3" fmla="*/ 91440 w 146375"/>
                <a:gd name="connsiteY3" fmla="*/ 104213 h 232229"/>
                <a:gd name="connsiteX4" fmla="*/ 54864 w 146375"/>
                <a:gd name="connsiteY4" fmla="*/ 159077 h 232229"/>
                <a:gd name="connsiteX5" fmla="*/ 36576 w 146375"/>
                <a:gd name="connsiteY5" fmla="*/ 213941 h 232229"/>
                <a:gd name="connsiteX6" fmla="*/ 91440 w 146375"/>
                <a:gd name="connsiteY6" fmla="*/ 177365 h 232229"/>
                <a:gd name="connsiteX7" fmla="*/ 128016 w 146375"/>
                <a:gd name="connsiteY7" fmla="*/ 67637 h 232229"/>
                <a:gd name="connsiteX8" fmla="*/ 109728 w 146375"/>
                <a:gd name="connsiteY8" fmla="*/ 122501 h 232229"/>
                <a:gd name="connsiteX9" fmla="*/ 54864 w 146375"/>
                <a:gd name="connsiteY9" fmla="*/ 232229 h 232229"/>
                <a:gd name="connsiteX10" fmla="*/ 36576 w 146375"/>
                <a:gd name="connsiteY10" fmla="*/ 177365 h 232229"/>
                <a:gd name="connsiteX11" fmla="*/ 54864 w 146375"/>
                <a:gd name="connsiteY11" fmla="*/ 49349 h 232229"/>
                <a:gd name="connsiteX12" fmla="*/ 0 w 146375"/>
                <a:gd name="connsiteY12" fmla="*/ 67637 h 232229"/>
                <a:gd name="connsiteX13" fmla="*/ 54864 w 146375"/>
                <a:gd name="connsiteY13" fmla="*/ 31061 h 232229"/>
                <a:gd name="connsiteX14" fmla="*/ 146304 w 146375"/>
                <a:gd name="connsiteY14" fmla="*/ 31061 h 232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6375" h="232229">
                  <a:moveTo>
                    <a:pt x="36576" y="67637"/>
                  </a:moveTo>
                  <a:cubicBezTo>
                    <a:pt x="12957" y="162112"/>
                    <a:pt x="-2625" y="154731"/>
                    <a:pt x="73152" y="104213"/>
                  </a:cubicBezTo>
                  <a:cubicBezTo>
                    <a:pt x="85344" y="85925"/>
                    <a:pt x="116679" y="28497"/>
                    <a:pt x="109728" y="49349"/>
                  </a:cubicBezTo>
                  <a:cubicBezTo>
                    <a:pt x="103632" y="67637"/>
                    <a:pt x="102133" y="88173"/>
                    <a:pt x="91440" y="104213"/>
                  </a:cubicBezTo>
                  <a:cubicBezTo>
                    <a:pt x="79248" y="122501"/>
                    <a:pt x="64694" y="139418"/>
                    <a:pt x="54864" y="159077"/>
                  </a:cubicBezTo>
                  <a:cubicBezTo>
                    <a:pt x="46243" y="176319"/>
                    <a:pt x="19334" y="205320"/>
                    <a:pt x="36576" y="213941"/>
                  </a:cubicBezTo>
                  <a:cubicBezTo>
                    <a:pt x="56235" y="223771"/>
                    <a:pt x="73152" y="189557"/>
                    <a:pt x="91440" y="177365"/>
                  </a:cubicBezTo>
                  <a:lnTo>
                    <a:pt x="128016" y="67637"/>
                  </a:lnTo>
                  <a:lnTo>
                    <a:pt x="109728" y="122501"/>
                  </a:lnTo>
                  <a:cubicBezTo>
                    <a:pt x="84489" y="198217"/>
                    <a:pt x="102133" y="161325"/>
                    <a:pt x="54864" y="232229"/>
                  </a:cubicBezTo>
                  <a:cubicBezTo>
                    <a:pt x="48768" y="213941"/>
                    <a:pt x="36576" y="196642"/>
                    <a:pt x="36576" y="177365"/>
                  </a:cubicBezTo>
                  <a:cubicBezTo>
                    <a:pt x="36576" y="134260"/>
                    <a:pt x="68495" y="90242"/>
                    <a:pt x="54864" y="49349"/>
                  </a:cubicBezTo>
                  <a:cubicBezTo>
                    <a:pt x="48768" y="31061"/>
                    <a:pt x="0" y="86914"/>
                    <a:pt x="0" y="67637"/>
                  </a:cubicBezTo>
                  <a:cubicBezTo>
                    <a:pt x="0" y="45658"/>
                    <a:pt x="34284" y="38778"/>
                    <a:pt x="54864" y="31061"/>
                  </a:cubicBezTo>
                  <a:cubicBezTo>
                    <a:pt x="152282" y="-5471"/>
                    <a:pt x="146304" y="-14967"/>
                    <a:pt x="146304" y="3106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922093" y="5494828"/>
              <a:ext cx="367830" cy="111213"/>
            </a:xfrm>
            <a:custGeom>
              <a:avLst/>
              <a:gdLst>
                <a:gd name="connsiteX0" fmla="*/ 0 w 367830"/>
                <a:gd name="connsiteY0" fmla="*/ 85576 h 111213"/>
                <a:gd name="connsiteX1" fmla="*/ 34184 w 367830"/>
                <a:gd name="connsiteY1" fmla="*/ 68484 h 111213"/>
                <a:gd name="connsiteX2" fmla="*/ 59821 w 367830"/>
                <a:gd name="connsiteY2" fmla="*/ 42847 h 111213"/>
                <a:gd name="connsiteX3" fmla="*/ 85458 w 367830"/>
                <a:gd name="connsiteY3" fmla="*/ 25755 h 111213"/>
                <a:gd name="connsiteX4" fmla="*/ 94004 w 367830"/>
                <a:gd name="connsiteY4" fmla="*/ 34301 h 111213"/>
                <a:gd name="connsiteX5" fmla="*/ 85458 w 367830"/>
                <a:gd name="connsiteY5" fmla="*/ 59938 h 111213"/>
                <a:gd name="connsiteX6" fmla="*/ 111096 w 367830"/>
                <a:gd name="connsiteY6" fmla="*/ 34301 h 111213"/>
                <a:gd name="connsiteX7" fmla="*/ 162371 w 367830"/>
                <a:gd name="connsiteY7" fmla="*/ 118 h 111213"/>
                <a:gd name="connsiteX8" fmla="*/ 162371 w 367830"/>
                <a:gd name="connsiteY8" fmla="*/ 77030 h 111213"/>
                <a:gd name="connsiteX9" fmla="*/ 170916 w 367830"/>
                <a:gd name="connsiteY9" fmla="*/ 51393 h 111213"/>
                <a:gd name="connsiteX10" fmla="*/ 188008 w 367830"/>
                <a:gd name="connsiteY10" fmla="*/ 25755 h 111213"/>
                <a:gd name="connsiteX11" fmla="*/ 179462 w 367830"/>
                <a:gd name="connsiteY11" fmla="*/ 102667 h 111213"/>
                <a:gd name="connsiteX12" fmla="*/ 188008 w 367830"/>
                <a:gd name="connsiteY12" fmla="*/ 77030 h 111213"/>
                <a:gd name="connsiteX13" fmla="*/ 230737 w 367830"/>
                <a:gd name="connsiteY13" fmla="*/ 34301 h 111213"/>
                <a:gd name="connsiteX14" fmla="*/ 239283 w 367830"/>
                <a:gd name="connsiteY14" fmla="*/ 59938 h 111213"/>
                <a:gd name="connsiteX15" fmla="*/ 222191 w 367830"/>
                <a:gd name="connsiteY15" fmla="*/ 111213 h 111213"/>
                <a:gd name="connsiteX16" fmla="*/ 196554 w 367830"/>
                <a:gd name="connsiteY16" fmla="*/ 94122 h 111213"/>
                <a:gd name="connsiteX17" fmla="*/ 145279 w 367830"/>
                <a:gd name="connsiteY17" fmla="*/ 42847 h 111213"/>
                <a:gd name="connsiteX18" fmla="*/ 94004 w 367830"/>
                <a:gd name="connsiteY18" fmla="*/ 8664 h 111213"/>
                <a:gd name="connsiteX19" fmla="*/ 119642 w 367830"/>
                <a:gd name="connsiteY19" fmla="*/ 25755 h 111213"/>
                <a:gd name="connsiteX20" fmla="*/ 196554 w 367830"/>
                <a:gd name="connsiteY20" fmla="*/ 17209 h 111213"/>
                <a:gd name="connsiteX21" fmla="*/ 264920 w 367830"/>
                <a:gd name="connsiteY21" fmla="*/ 25755 h 111213"/>
                <a:gd name="connsiteX22" fmla="*/ 290557 w 367830"/>
                <a:gd name="connsiteY22" fmla="*/ 34301 h 111213"/>
                <a:gd name="connsiteX23" fmla="*/ 324741 w 367830"/>
                <a:gd name="connsiteY23" fmla="*/ 42847 h 111213"/>
                <a:gd name="connsiteX24" fmla="*/ 316195 w 367830"/>
                <a:gd name="connsiteY24" fmla="*/ 68484 h 111213"/>
                <a:gd name="connsiteX25" fmla="*/ 230737 w 367830"/>
                <a:gd name="connsiteY25" fmla="*/ 77030 h 111213"/>
                <a:gd name="connsiteX26" fmla="*/ 256374 w 367830"/>
                <a:gd name="connsiteY26" fmla="*/ 59938 h 111213"/>
                <a:gd name="connsiteX27" fmla="*/ 307649 w 367830"/>
                <a:gd name="connsiteY27" fmla="*/ 42847 h 111213"/>
                <a:gd name="connsiteX28" fmla="*/ 333286 w 367830"/>
                <a:gd name="connsiteY28" fmla="*/ 59938 h 111213"/>
                <a:gd name="connsiteX29" fmla="*/ 367470 w 367830"/>
                <a:gd name="connsiteY29" fmla="*/ 68484 h 111213"/>
                <a:gd name="connsiteX30" fmla="*/ 341832 w 367830"/>
                <a:gd name="connsiteY30" fmla="*/ 85576 h 111213"/>
                <a:gd name="connsiteX31" fmla="*/ 290557 w 367830"/>
                <a:gd name="connsiteY31" fmla="*/ 102667 h 111213"/>
                <a:gd name="connsiteX32" fmla="*/ 213645 w 367830"/>
                <a:gd name="connsiteY32" fmla="*/ 77030 h 111213"/>
                <a:gd name="connsiteX33" fmla="*/ 162371 w 367830"/>
                <a:gd name="connsiteY33" fmla="*/ 59938 h 111213"/>
                <a:gd name="connsiteX34" fmla="*/ 85458 w 367830"/>
                <a:gd name="connsiteY34" fmla="*/ 68484 h 111213"/>
                <a:gd name="connsiteX35" fmla="*/ 59821 w 367830"/>
                <a:gd name="connsiteY35" fmla="*/ 77030 h 111213"/>
                <a:gd name="connsiteX36" fmla="*/ 111096 w 367830"/>
                <a:gd name="connsiteY36" fmla="*/ 34301 h 111213"/>
                <a:gd name="connsiteX37" fmla="*/ 162371 w 367830"/>
                <a:gd name="connsiteY37" fmla="*/ 17209 h 111213"/>
                <a:gd name="connsiteX38" fmla="*/ 247828 w 367830"/>
                <a:gd name="connsiteY38" fmla="*/ 34301 h 111213"/>
                <a:gd name="connsiteX39" fmla="*/ 316195 w 367830"/>
                <a:gd name="connsiteY39" fmla="*/ 51393 h 111213"/>
                <a:gd name="connsiteX40" fmla="*/ 350378 w 367830"/>
                <a:gd name="connsiteY40" fmla="*/ 59938 h 111213"/>
                <a:gd name="connsiteX41" fmla="*/ 299103 w 367830"/>
                <a:gd name="connsiteY41" fmla="*/ 34301 h 111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67830" h="111213">
                  <a:moveTo>
                    <a:pt x="0" y="85576"/>
                  </a:moveTo>
                  <a:cubicBezTo>
                    <a:pt x="11395" y="79879"/>
                    <a:pt x="23817" y="75889"/>
                    <a:pt x="34184" y="68484"/>
                  </a:cubicBezTo>
                  <a:cubicBezTo>
                    <a:pt x="44018" y="61460"/>
                    <a:pt x="50537" y="50584"/>
                    <a:pt x="59821" y="42847"/>
                  </a:cubicBezTo>
                  <a:cubicBezTo>
                    <a:pt x="67711" y="36272"/>
                    <a:pt x="76912" y="31452"/>
                    <a:pt x="85458" y="25755"/>
                  </a:cubicBezTo>
                  <a:cubicBezTo>
                    <a:pt x="106652" y="-6035"/>
                    <a:pt x="107800" y="-13985"/>
                    <a:pt x="94004" y="34301"/>
                  </a:cubicBezTo>
                  <a:cubicBezTo>
                    <a:pt x="91529" y="42962"/>
                    <a:pt x="76450" y="59938"/>
                    <a:pt x="85458" y="59938"/>
                  </a:cubicBezTo>
                  <a:cubicBezTo>
                    <a:pt x="97544" y="59938"/>
                    <a:pt x="101556" y="41721"/>
                    <a:pt x="111096" y="34301"/>
                  </a:cubicBezTo>
                  <a:cubicBezTo>
                    <a:pt x="127311" y="21690"/>
                    <a:pt x="162371" y="118"/>
                    <a:pt x="162371" y="118"/>
                  </a:cubicBezTo>
                  <a:cubicBezTo>
                    <a:pt x="189455" y="40745"/>
                    <a:pt x="182710" y="16012"/>
                    <a:pt x="162371" y="77030"/>
                  </a:cubicBezTo>
                  <a:cubicBezTo>
                    <a:pt x="159522" y="85576"/>
                    <a:pt x="165919" y="58888"/>
                    <a:pt x="170916" y="51393"/>
                  </a:cubicBezTo>
                  <a:lnTo>
                    <a:pt x="188008" y="25755"/>
                  </a:lnTo>
                  <a:cubicBezTo>
                    <a:pt x="202251" y="68484"/>
                    <a:pt x="199403" y="42847"/>
                    <a:pt x="179462" y="102667"/>
                  </a:cubicBezTo>
                  <a:cubicBezTo>
                    <a:pt x="176613" y="111213"/>
                    <a:pt x="183011" y="84525"/>
                    <a:pt x="188008" y="77030"/>
                  </a:cubicBezTo>
                  <a:cubicBezTo>
                    <a:pt x="210797" y="42847"/>
                    <a:pt x="196554" y="57090"/>
                    <a:pt x="230737" y="34301"/>
                  </a:cubicBezTo>
                  <a:cubicBezTo>
                    <a:pt x="233586" y="42847"/>
                    <a:pt x="240278" y="50985"/>
                    <a:pt x="239283" y="59938"/>
                  </a:cubicBezTo>
                  <a:cubicBezTo>
                    <a:pt x="237293" y="77844"/>
                    <a:pt x="222191" y="111213"/>
                    <a:pt x="222191" y="111213"/>
                  </a:cubicBezTo>
                  <a:cubicBezTo>
                    <a:pt x="213645" y="105516"/>
                    <a:pt x="204230" y="100945"/>
                    <a:pt x="196554" y="94122"/>
                  </a:cubicBezTo>
                  <a:cubicBezTo>
                    <a:pt x="178488" y="78064"/>
                    <a:pt x="165391" y="56255"/>
                    <a:pt x="145279" y="42847"/>
                  </a:cubicBezTo>
                  <a:lnTo>
                    <a:pt x="94004" y="8664"/>
                  </a:lnTo>
                  <a:lnTo>
                    <a:pt x="119642" y="25755"/>
                  </a:lnTo>
                  <a:cubicBezTo>
                    <a:pt x="145279" y="22906"/>
                    <a:pt x="170759" y="17209"/>
                    <a:pt x="196554" y="17209"/>
                  </a:cubicBezTo>
                  <a:cubicBezTo>
                    <a:pt x="219520" y="17209"/>
                    <a:pt x="242324" y="21647"/>
                    <a:pt x="264920" y="25755"/>
                  </a:cubicBezTo>
                  <a:cubicBezTo>
                    <a:pt x="273783" y="27366"/>
                    <a:pt x="281896" y="31826"/>
                    <a:pt x="290557" y="34301"/>
                  </a:cubicBezTo>
                  <a:cubicBezTo>
                    <a:pt x="301850" y="37528"/>
                    <a:pt x="313346" y="39998"/>
                    <a:pt x="324741" y="42847"/>
                  </a:cubicBezTo>
                  <a:cubicBezTo>
                    <a:pt x="321892" y="51393"/>
                    <a:pt x="321822" y="61450"/>
                    <a:pt x="316195" y="68484"/>
                  </a:cubicBezTo>
                  <a:cubicBezTo>
                    <a:pt x="291553" y="99286"/>
                    <a:pt x="265904" y="82054"/>
                    <a:pt x="230737" y="77030"/>
                  </a:cubicBezTo>
                  <a:cubicBezTo>
                    <a:pt x="239283" y="71333"/>
                    <a:pt x="246988" y="64109"/>
                    <a:pt x="256374" y="59938"/>
                  </a:cubicBezTo>
                  <a:cubicBezTo>
                    <a:pt x="272837" y="52621"/>
                    <a:pt x="307649" y="42847"/>
                    <a:pt x="307649" y="42847"/>
                  </a:cubicBezTo>
                  <a:cubicBezTo>
                    <a:pt x="316195" y="48544"/>
                    <a:pt x="323846" y="55892"/>
                    <a:pt x="333286" y="59938"/>
                  </a:cubicBezTo>
                  <a:cubicBezTo>
                    <a:pt x="344082" y="64565"/>
                    <a:pt x="363756" y="57341"/>
                    <a:pt x="367470" y="68484"/>
                  </a:cubicBezTo>
                  <a:cubicBezTo>
                    <a:pt x="370718" y="78228"/>
                    <a:pt x="351218" y="81405"/>
                    <a:pt x="341832" y="85576"/>
                  </a:cubicBezTo>
                  <a:cubicBezTo>
                    <a:pt x="325369" y="92893"/>
                    <a:pt x="290557" y="102667"/>
                    <a:pt x="290557" y="102667"/>
                  </a:cubicBezTo>
                  <a:cubicBezTo>
                    <a:pt x="175102" y="83426"/>
                    <a:pt x="285739" y="109073"/>
                    <a:pt x="213645" y="77030"/>
                  </a:cubicBezTo>
                  <a:cubicBezTo>
                    <a:pt x="197182" y="69713"/>
                    <a:pt x="162371" y="59938"/>
                    <a:pt x="162371" y="59938"/>
                  </a:cubicBezTo>
                  <a:cubicBezTo>
                    <a:pt x="136733" y="62787"/>
                    <a:pt x="110902" y="64243"/>
                    <a:pt x="85458" y="68484"/>
                  </a:cubicBezTo>
                  <a:cubicBezTo>
                    <a:pt x="76573" y="69965"/>
                    <a:pt x="59821" y="86038"/>
                    <a:pt x="59821" y="77030"/>
                  </a:cubicBezTo>
                  <a:cubicBezTo>
                    <a:pt x="59821" y="68085"/>
                    <a:pt x="103363" y="37738"/>
                    <a:pt x="111096" y="34301"/>
                  </a:cubicBezTo>
                  <a:cubicBezTo>
                    <a:pt x="127559" y="26984"/>
                    <a:pt x="162371" y="17209"/>
                    <a:pt x="162371" y="17209"/>
                  </a:cubicBezTo>
                  <a:cubicBezTo>
                    <a:pt x="220290" y="36516"/>
                    <a:pt x="149634" y="14662"/>
                    <a:pt x="247828" y="34301"/>
                  </a:cubicBezTo>
                  <a:cubicBezTo>
                    <a:pt x="270862" y="38908"/>
                    <a:pt x="293406" y="45696"/>
                    <a:pt x="316195" y="51393"/>
                  </a:cubicBezTo>
                  <a:lnTo>
                    <a:pt x="350378" y="59938"/>
                  </a:lnTo>
                  <a:cubicBezTo>
                    <a:pt x="311637" y="30883"/>
                    <a:pt x="330438" y="34301"/>
                    <a:pt x="299103" y="3430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512791" y="3970395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45536" y="2257714"/>
            <a:ext cx="2587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(Gas-liquid coexistence)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465" y="2334293"/>
            <a:ext cx="2103967" cy="24524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4E8CCAF-D9D1-49A1-B956-E7288C2920BA}"/>
              </a:ext>
            </a:extLst>
          </p:cNvPr>
          <p:cNvGrpSpPr/>
          <p:nvPr/>
        </p:nvGrpSpPr>
        <p:grpSpPr>
          <a:xfrm>
            <a:off x="5662465" y="2749275"/>
            <a:ext cx="4642494" cy="750969"/>
            <a:chOff x="5662465" y="2749275"/>
            <a:chExt cx="4642494" cy="750969"/>
          </a:xfrm>
        </p:grpSpPr>
        <p:sp>
          <p:nvSpPr>
            <p:cNvPr id="16" name="Rectangle 15"/>
            <p:cNvSpPr/>
            <p:nvPr/>
          </p:nvSpPr>
          <p:spPr>
            <a:xfrm>
              <a:off x="5662465" y="2749275"/>
              <a:ext cx="3371116" cy="369332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Change in the </a:t>
              </a:r>
              <a:r>
                <a:rPr lang="en-US"/>
                <a:t>coexistent region:</a:t>
              </a:r>
              <a:endParaRPr lang="en-US" dirty="0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75292" y="3248596"/>
              <a:ext cx="4529667" cy="251648"/>
            </a:xfrm>
            <a:prstGeom prst="rect">
              <a:avLst/>
            </a:prstGeom>
          </p:spPr>
        </p:pic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369081" y="3691087"/>
            <a:ext cx="2138508" cy="107888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2278" y="4798919"/>
            <a:ext cx="3595312" cy="53443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F075A3C-CF0A-4F5C-82E0-7242857FD287}"/>
              </a:ext>
            </a:extLst>
          </p:cNvPr>
          <p:cNvGrpSpPr/>
          <p:nvPr/>
        </p:nvGrpSpPr>
        <p:grpSpPr>
          <a:xfrm>
            <a:off x="3674149" y="5461794"/>
            <a:ext cx="2879956" cy="847369"/>
            <a:chOff x="3674149" y="5461794"/>
            <a:chExt cx="2879956" cy="847369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3744825" y="5461794"/>
              <a:ext cx="2688426" cy="519144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674149" y="5939831"/>
              <a:ext cx="2879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Latent heat of vaporization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1A6F233-B49F-4861-947D-02D970D7E4B8}"/>
              </a:ext>
            </a:extLst>
          </p:cNvPr>
          <p:cNvGrpSpPr/>
          <p:nvPr/>
        </p:nvGrpSpPr>
        <p:grpSpPr>
          <a:xfrm>
            <a:off x="5822049" y="5351672"/>
            <a:ext cx="3524811" cy="1405303"/>
            <a:chOff x="5822049" y="5351672"/>
            <a:chExt cx="3524811" cy="1405303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679932" y="5351672"/>
              <a:ext cx="2440546" cy="837268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5822049" y="6387643"/>
              <a:ext cx="3524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(Clausius-Clapeyron equation)</a:t>
              </a:r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206" y="3698947"/>
            <a:ext cx="2072640" cy="305409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DF585B4-8F19-4E03-B3AA-A156EFC717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24" y="4702357"/>
            <a:ext cx="3342025" cy="176037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80A0051-597B-4FD1-B5AB-6958321A1F7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49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A72762-C693-45BB-9A6F-A7244E3CCF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71" b="-1598"/>
          <a:stretch/>
        </p:blipFill>
        <p:spPr>
          <a:xfrm>
            <a:off x="5618577" y="2084832"/>
            <a:ext cx="4376761" cy="938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AF6569-0049-4F9D-92BD-2B127FD0E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02A3411-3E72-4E4F-8949-62CBEFF09533}"/>
              </a:ext>
            </a:extLst>
          </p:cNvPr>
          <p:cNvGrpSpPr/>
          <p:nvPr/>
        </p:nvGrpSpPr>
        <p:grpSpPr>
          <a:xfrm>
            <a:off x="4198892" y="3584449"/>
            <a:ext cx="4709751" cy="655595"/>
            <a:chOff x="4198892" y="3584449"/>
            <a:chExt cx="4709751" cy="65559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843AF49-9696-438A-997F-D0C0DDC09B28}"/>
                </a:ext>
              </a:extLst>
            </p:cNvPr>
            <p:cNvSpPr txBox="1"/>
            <p:nvPr/>
          </p:nvSpPr>
          <p:spPr>
            <a:xfrm>
              <a:off x="4198892" y="3870712"/>
              <a:ext cx="4709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How to do the sum all possible configuration?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5497C8C-97BD-49E2-9613-8FFD50ECE6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3156" y="3584449"/>
              <a:ext cx="1248251" cy="3344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5EF44A5-4157-434D-A06B-A159D475B1D8}"/>
              </a:ext>
            </a:extLst>
          </p:cNvPr>
          <p:cNvSpPr txBox="1"/>
          <p:nvPr/>
        </p:nvSpPr>
        <p:spPr>
          <a:xfrm>
            <a:off x="8979394" y="3870712"/>
            <a:ext cx="2033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Highly non-trivial!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6322B1-1B45-4376-98DC-7954D78228B5}"/>
              </a:ext>
            </a:extLst>
          </p:cNvPr>
          <p:cNvSpPr txBox="1"/>
          <p:nvPr/>
        </p:nvSpPr>
        <p:spPr>
          <a:xfrm>
            <a:off x="3964215" y="4476480"/>
            <a:ext cx="2318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Mean-field approach:</a:t>
            </a: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E00E6073-A319-4BA1-A2CA-9EA1DDE741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46912" y="1417234"/>
            <a:ext cx="1341938" cy="670969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35688FF1-34B4-4791-8C3E-DE3CE0B9EA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81759" y="1368085"/>
            <a:ext cx="1386545" cy="70587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07A07E4-F5F6-4D27-8F8B-37B84DFD1464}"/>
              </a:ext>
            </a:extLst>
          </p:cNvPr>
          <p:cNvGrpSpPr/>
          <p:nvPr/>
        </p:nvGrpSpPr>
        <p:grpSpPr>
          <a:xfrm>
            <a:off x="6175773" y="5407385"/>
            <a:ext cx="2606098" cy="761544"/>
            <a:chOff x="9588483" y="5345061"/>
            <a:chExt cx="2606098" cy="761544"/>
          </a:xfrm>
        </p:grpSpPr>
        <p:sp>
          <p:nvSpPr>
            <p:cNvPr id="54" name="Left Brace 53">
              <a:extLst>
                <a:ext uri="{FF2B5EF4-FFF2-40B4-BE49-F238E27FC236}">
                  <a16:creationId xmlns:a16="http://schemas.microsoft.com/office/drawing/2014/main" id="{988A3C4E-6B80-4B28-813F-387159200007}"/>
                </a:ext>
              </a:extLst>
            </p:cNvPr>
            <p:cNvSpPr/>
            <p:nvPr/>
          </p:nvSpPr>
          <p:spPr>
            <a:xfrm rot="5400000">
              <a:off x="10706866" y="4905250"/>
              <a:ext cx="369332" cy="203337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BA883A-0CF2-4ED7-B890-449ADDFDDACE}"/>
                </a:ext>
              </a:extLst>
            </p:cNvPr>
            <p:cNvSpPr txBox="1"/>
            <p:nvPr/>
          </p:nvSpPr>
          <p:spPr>
            <a:xfrm>
              <a:off x="9588483" y="5345061"/>
              <a:ext cx="2606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Mean-field Hamiltonian</a:t>
              </a:r>
            </a:p>
          </p:txBody>
        </p:sp>
      </p:grpSp>
      <p:pic>
        <p:nvPicPr>
          <p:cNvPr id="26" name="Graphic 25">
            <a:extLst>
              <a:ext uri="{FF2B5EF4-FFF2-40B4-BE49-F238E27FC236}">
                <a16:creationId xmlns:a16="http://schemas.microsoft.com/office/drawing/2014/main" id="{7CC6E745-EC76-4A91-A1F6-7084895D9A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77281" y="2926315"/>
            <a:ext cx="5260572" cy="108372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0EA647C-B869-480A-AD63-AD39557F95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8359" y="4442697"/>
            <a:ext cx="1890063" cy="52921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EA1EFE8-4674-44A3-8D17-15B5C3BE07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384033" y="6084103"/>
            <a:ext cx="5818745" cy="76103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7106DB8-EE85-4907-A81C-D73049EAE84B}"/>
              </a:ext>
            </a:extLst>
          </p:cNvPr>
          <p:cNvGrpSpPr/>
          <p:nvPr/>
        </p:nvGrpSpPr>
        <p:grpSpPr>
          <a:xfrm>
            <a:off x="3964215" y="5836247"/>
            <a:ext cx="2200413" cy="713744"/>
            <a:chOff x="3964215" y="5836247"/>
            <a:chExt cx="2200413" cy="713744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3FDF42-503B-4F7D-B0FA-0407B99B54AF}"/>
                </a:ext>
              </a:extLst>
            </p:cNvPr>
            <p:cNvCxnSpPr/>
            <p:nvPr/>
          </p:nvCxnSpPr>
          <p:spPr>
            <a:xfrm flipH="1" flipV="1">
              <a:off x="5349722" y="6174606"/>
              <a:ext cx="814906" cy="37538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9A70E5C-140E-47D6-ABE4-2C055CCFBBC6}"/>
                </a:ext>
              </a:extLst>
            </p:cNvPr>
            <p:cNvSpPr txBox="1"/>
            <p:nvPr/>
          </p:nvSpPr>
          <p:spPr>
            <a:xfrm>
              <a:off x="3964215" y="5836247"/>
              <a:ext cx="1919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Small fluctuation</a:t>
              </a:r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09DCAE48-2B5E-40FE-8767-0DBACB9EC4C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99756" y="4974726"/>
            <a:ext cx="5092884" cy="55058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BF8B46F-5E91-4153-8A58-F1C8896A26D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9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AF6569-0049-4F9D-92BD-2B127FD0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9D6BE34-7DB0-41C6-A278-1F8534F590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-271" b="-1598"/>
          <a:stretch/>
        </p:blipFill>
        <p:spPr>
          <a:xfrm>
            <a:off x="5618577" y="2084832"/>
            <a:ext cx="4376761" cy="93849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B580A252-7750-4202-B0DB-6B8457A107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46912" y="1417234"/>
            <a:ext cx="1341938" cy="670969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E418BE59-6B56-4A7E-9BA4-1AD2021657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81759" y="1368085"/>
            <a:ext cx="1386545" cy="70587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E20914E-1AF7-476D-AA32-D8FA5988FF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27389" y="4228250"/>
            <a:ext cx="1365983" cy="5976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B6CA03-EADF-44F3-BF8A-457D5EE14B6D}"/>
              </a:ext>
            </a:extLst>
          </p:cNvPr>
          <p:cNvSpPr txBox="1"/>
          <p:nvPr/>
        </p:nvSpPr>
        <p:spPr>
          <a:xfrm>
            <a:off x="4893372" y="4342485"/>
            <a:ext cx="2781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(self consistent condition)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41F1804-DD8D-4A38-97E2-69A13A546C96}"/>
              </a:ext>
            </a:extLst>
          </p:cNvPr>
          <p:cNvGrpSpPr/>
          <p:nvPr/>
        </p:nvGrpSpPr>
        <p:grpSpPr>
          <a:xfrm>
            <a:off x="3410821" y="4859989"/>
            <a:ext cx="3609806" cy="1362958"/>
            <a:chOff x="3311530" y="3147691"/>
            <a:chExt cx="3609806" cy="1362958"/>
          </a:xfrm>
        </p:grpSpPr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F49D43A0-6A3C-49D1-8282-C55391ED8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311530" y="3488219"/>
              <a:ext cx="3609806" cy="102243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A1B0F22-3933-437E-9BCD-C78A57D25DEA}"/>
                </a:ext>
              </a:extLst>
            </p:cNvPr>
            <p:cNvSpPr txBox="1"/>
            <p:nvPr/>
          </p:nvSpPr>
          <p:spPr>
            <a:xfrm>
              <a:off x="3518406" y="3147691"/>
              <a:ext cx="28217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>
                  <a:solidFill>
                    <a:srgbClr val="FF0000"/>
                  </a:solidFill>
                </a:rPr>
                <a:t>Self-consistent equation</a:t>
              </a:r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43E66316-A42A-4492-863C-A3D8762D92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38551" y="2996871"/>
            <a:ext cx="1320430" cy="57768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66D06C1-7A21-4B47-A8A4-BE691E93A1C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6275673" y="2758736"/>
            <a:ext cx="5053262" cy="105858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EB84C15-6B38-4A8F-A0DA-0974AD8BFC7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6214146" y="3694976"/>
            <a:ext cx="5155125" cy="68735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70F99E8-6A52-427C-8570-0FE86698875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020627" y="6222947"/>
            <a:ext cx="5092884" cy="5505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56B6614-C878-44EA-9C1F-478EFD0AEDE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36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AF6569-0049-4F9D-92BD-2B127FD0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9D6BE34-7DB0-41C6-A278-1F8534F590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-271" b="-1598"/>
          <a:stretch/>
        </p:blipFill>
        <p:spPr>
          <a:xfrm>
            <a:off x="5618577" y="2084832"/>
            <a:ext cx="4376761" cy="93849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EF5473E-BE0D-4BAE-876A-04951E8B7B29}"/>
              </a:ext>
            </a:extLst>
          </p:cNvPr>
          <p:cNvGrpSpPr/>
          <p:nvPr/>
        </p:nvGrpSpPr>
        <p:grpSpPr>
          <a:xfrm>
            <a:off x="3410821" y="4859989"/>
            <a:ext cx="3609806" cy="1362958"/>
            <a:chOff x="3311530" y="3147691"/>
            <a:chExt cx="3609806" cy="1362958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5DC8F8A0-4473-49AC-AB48-111DF2959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11530" y="3488219"/>
              <a:ext cx="3609806" cy="102243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3370258-9B69-4A47-AC1F-A4825B6F7272}"/>
                </a:ext>
              </a:extLst>
            </p:cNvPr>
            <p:cNvSpPr txBox="1"/>
            <p:nvPr/>
          </p:nvSpPr>
          <p:spPr>
            <a:xfrm>
              <a:off x="3518406" y="3147691"/>
              <a:ext cx="28217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>
                  <a:solidFill>
                    <a:srgbClr val="FF0000"/>
                  </a:solidFill>
                </a:rPr>
                <a:t>Self-consistent equation</a:t>
              </a:r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38103111-9310-4D90-A0F4-B81FF1BB12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242237" y="5120683"/>
            <a:ext cx="3649294" cy="100747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3CD5AF-DB2E-4F54-AE6A-02C8E5D5651A}"/>
              </a:ext>
            </a:extLst>
          </p:cNvPr>
          <p:cNvGrpSpPr/>
          <p:nvPr/>
        </p:nvGrpSpPr>
        <p:grpSpPr>
          <a:xfrm>
            <a:off x="5810187" y="6066234"/>
            <a:ext cx="6180474" cy="826130"/>
            <a:chOff x="5810187" y="6095109"/>
            <a:chExt cx="6180474" cy="826130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01797432-1508-465B-860F-91DA2A7911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7294435" y="6095109"/>
              <a:ext cx="3173738" cy="58463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FDADD1-AC76-4998-BECB-A6548FF1672F}"/>
                </a:ext>
              </a:extLst>
            </p:cNvPr>
            <p:cNvSpPr txBox="1"/>
            <p:nvPr/>
          </p:nvSpPr>
          <p:spPr>
            <a:xfrm>
              <a:off x="5810187" y="6551907"/>
              <a:ext cx="61804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Solve this to get the mean-field ansatz for </a:t>
              </a:r>
              <a:r>
                <a:rPr lang="en-MY" b="1" dirty="0" err="1"/>
                <a:t>Ising</a:t>
              </a:r>
              <a:r>
                <a:rPr lang="en-MY" b="1" dirty="0"/>
                <a:t> model Z</a:t>
              </a:r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6E6B7A82-4F1D-438C-B77B-964AE883EA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38551" y="2996871"/>
            <a:ext cx="1320430" cy="57768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4D4759F-BED8-463C-A728-6E8DE01D5D2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6621495" y="4361462"/>
            <a:ext cx="5155125" cy="6873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B04AA0E6-3441-41E7-94A7-11E2DC0E62C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6275673" y="3618912"/>
            <a:ext cx="5457002" cy="67397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59F47940-9391-4D14-9BF0-B7AB2A417ED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6275673" y="2758736"/>
            <a:ext cx="5053262" cy="10585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A114321-F9B2-4E1E-A631-3E6FEBE8D7D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3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AF6569-0049-4F9D-92BD-2B127FD0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9D6BE34-7DB0-41C6-A278-1F8534F590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-271" b="-1598"/>
          <a:stretch/>
        </p:blipFill>
        <p:spPr>
          <a:xfrm>
            <a:off x="5618577" y="2084832"/>
            <a:ext cx="4376761" cy="93849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3370258-9B69-4A47-AC1F-A4825B6F7272}"/>
              </a:ext>
            </a:extLst>
          </p:cNvPr>
          <p:cNvSpPr txBox="1"/>
          <p:nvPr/>
        </p:nvSpPr>
        <p:spPr>
          <a:xfrm>
            <a:off x="3389497" y="4113919"/>
            <a:ext cx="2821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Self-consistent equation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1797432-1508-465B-860F-91DA2A7911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441695" y="4379073"/>
            <a:ext cx="3173738" cy="584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90C7C5-735E-4C58-A911-36C462B4BD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013" y="5123830"/>
            <a:ext cx="3699905" cy="1734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5268FA-56A3-4B6A-85F2-06FB66DD1E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774" y="5044218"/>
            <a:ext cx="3738336" cy="17241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306A47-A4A5-4437-832A-018F15F6E3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4293" y="4990403"/>
            <a:ext cx="4139621" cy="176767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207CCA5-FBC9-4AC6-AC75-1266EF4B2009}"/>
              </a:ext>
            </a:extLst>
          </p:cNvPr>
          <p:cNvGrpSpPr/>
          <p:nvPr/>
        </p:nvGrpSpPr>
        <p:grpSpPr>
          <a:xfrm>
            <a:off x="5770113" y="6117381"/>
            <a:ext cx="1387432" cy="468258"/>
            <a:chOff x="5770113" y="6117381"/>
            <a:chExt cx="1387432" cy="468258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46257C35-810B-40B3-8107-137E2BF7B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770113" y="6117381"/>
              <a:ext cx="1387432" cy="468258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DBF5199-CEF1-4F45-BCBB-C45919B3CB03}"/>
                </a:ext>
              </a:extLst>
            </p:cNvPr>
            <p:cNvSpPr/>
            <p:nvPr/>
          </p:nvSpPr>
          <p:spPr>
            <a:xfrm>
              <a:off x="5770113" y="6117381"/>
              <a:ext cx="1387432" cy="4682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D0EA17A-25FE-4671-9B09-A65FDEB05EEA}"/>
              </a:ext>
            </a:extLst>
          </p:cNvPr>
          <p:cNvSpPr txBox="1"/>
          <p:nvPr/>
        </p:nvSpPr>
        <p:spPr>
          <a:xfrm>
            <a:off x="2655253" y="6550555"/>
            <a:ext cx="6229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Note: Mean field breakdown in 1D, not phase transition.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F2457466-260C-452E-AEA4-72EC51EC1C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275673" y="2758736"/>
            <a:ext cx="5053262" cy="10585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4A5FCF-B216-43D5-94C2-3461E1BA22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2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AF6569-0049-4F9D-92BD-2B127FD0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90C7C5-735E-4C58-A911-36C462B4B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13" y="5123830"/>
            <a:ext cx="3699905" cy="1734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5268FA-56A3-4B6A-85F2-06FB66DD1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774" y="5044218"/>
            <a:ext cx="3738336" cy="17241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306A47-A4A5-4437-832A-018F15F6E3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4293" y="4990403"/>
            <a:ext cx="4139621" cy="176767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6257C35-810B-40B3-8107-137E2BF7B1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70113" y="6117381"/>
            <a:ext cx="1387431" cy="46825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DBF5199-CEF1-4F45-BCBB-C45919B3CB03}"/>
              </a:ext>
            </a:extLst>
          </p:cNvPr>
          <p:cNvSpPr/>
          <p:nvPr/>
        </p:nvSpPr>
        <p:spPr>
          <a:xfrm>
            <a:off x="5770113" y="6117381"/>
            <a:ext cx="1387432" cy="4682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78375-A0B3-45E2-866F-9EC263A571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0113" y="1561112"/>
            <a:ext cx="4917907" cy="319376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BF88A55-C821-4729-BB48-A0104068020E}"/>
              </a:ext>
            </a:extLst>
          </p:cNvPr>
          <p:cNvGrpSpPr/>
          <p:nvPr/>
        </p:nvGrpSpPr>
        <p:grpSpPr>
          <a:xfrm>
            <a:off x="8608017" y="1138310"/>
            <a:ext cx="3583982" cy="3097359"/>
            <a:chOff x="8608017" y="1138310"/>
            <a:chExt cx="3583982" cy="309735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ED84565-DEFE-4869-89AD-DE6FC28B8582}"/>
                </a:ext>
              </a:extLst>
            </p:cNvPr>
            <p:cNvSpPr/>
            <p:nvPr/>
          </p:nvSpPr>
          <p:spPr>
            <a:xfrm>
              <a:off x="8944876" y="2474768"/>
              <a:ext cx="976889" cy="176090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6CE435BD-5CA2-4504-A99E-0430F04F6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8608017" y="1138310"/>
              <a:ext cx="3583982" cy="951679"/>
            </a:xfrm>
            <a:prstGeom prst="rect">
              <a:avLst/>
            </a:prstGeom>
          </p:spPr>
        </p:pic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E945AFBD-A932-4048-A730-2D8A58395560}"/>
              </a:ext>
            </a:extLst>
          </p:cNvPr>
          <p:cNvSpPr/>
          <p:nvPr/>
        </p:nvSpPr>
        <p:spPr>
          <a:xfrm>
            <a:off x="5588000" y="5821680"/>
            <a:ext cx="151633" cy="1362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259E7A-36A7-47FA-A1C6-8043CEB90F59}"/>
              </a:ext>
            </a:extLst>
          </p:cNvPr>
          <p:cNvSpPr/>
          <p:nvPr/>
        </p:nvSpPr>
        <p:spPr>
          <a:xfrm>
            <a:off x="9540240" y="3251200"/>
            <a:ext cx="151633" cy="1362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FFE4D-D093-41ED-A834-D4D55BD4DA71}"/>
              </a:ext>
            </a:extLst>
          </p:cNvPr>
          <p:cNvSpPr/>
          <p:nvPr/>
        </p:nvSpPr>
        <p:spPr>
          <a:xfrm>
            <a:off x="10536387" y="5109536"/>
            <a:ext cx="151633" cy="13628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C2BE66E-21E3-4A2C-B838-81CD84F5CED7}"/>
              </a:ext>
            </a:extLst>
          </p:cNvPr>
          <p:cNvSpPr/>
          <p:nvPr/>
        </p:nvSpPr>
        <p:spPr>
          <a:xfrm>
            <a:off x="8179267" y="6470976"/>
            <a:ext cx="151633" cy="13628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9C7B74-0259-46F0-8748-F5F1F390E546}"/>
              </a:ext>
            </a:extLst>
          </p:cNvPr>
          <p:cNvSpPr/>
          <p:nvPr/>
        </p:nvSpPr>
        <p:spPr>
          <a:xfrm>
            <a:off x="8532200" y="2252213"/>
            <a:ext cx="151633" cy="13628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BA130F4-BCF8-4D84-AC6D-CF2F30941429}"/>
              </a:ext>
            </a:extLst>
          </p:cNvPr>
          <p:cNvSpPr/>
          <p:nvPr/>
        </p:nvSpPr>
        <p:spPr>
          <a:xfrm>
            <a:off x="8564342" y="4235669"/>
            <a:ext cx="151633" cy="13628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81D7EA-0AAB-499B-8F37-14AD1A22D01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4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15" grpId="0" animBg="1"/>
      <p:bldP spid="16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9D6BE34-7DB0-41C6-A278-1F8534F590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71" b="-1598"/>
          <a:stretch/>
        </p:blipFill>
        <p:spPr>
          <a:xfrm>
            <a:off x="5618577" y="2084832"/>
            <a:ext cx="4376761" cy="93849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3370258-9B69-4A47-AC1F-A4825B6F7272}"/>
              </a:ext>
            </a:extLst>
          </p:cNvPr>
          <p:cNvSpPr txBox="1"/>
          <p:nvPr/>
        </p:nvSpPr>
        <p:spPr>
          <a:xfrm>
            <a:off x="3389497" y="4113919"/>
            <a:ext cx="2821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Self-consistent equation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1797432-1508-465B-860F-91DA2A7911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441695" y="4379073"/>
            <a:ext cx="3173738" cy="5846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18CB04-1FB5-4DC3-B201-CB0554FE9811}"/>
              </a:ext>
            </a:extLst>
          </p:cNvPr>
          <p:cNvSpPr txBox="1"/>
          <p:nvPr/>
        </p:nvSpPr>
        <p:spPr>
          <a:xfrm>
            <a:off x="218404" y="6488668"/>
            <a:ext cx="4581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The sensitivity of the magnetization with B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3F22DF0-B514-4BA2-9074-ABBAE3D53737}"/>
              </a:ext>
            </a:extLst>
          </p:cNvPr>
          <p:cNvGrpSpPr/>
          <p:nvPr/>
        </p:nvGrpSpPr>
        <p:grpSpPr>
          <a:xfrm>
            <a:off x="-1795" y="5163278"/>
            <a:ext cx="8152194" cy="1224208"/>
            <a:chOff x="-78813" y="5233251"/>
            <a:chExt cx="8152194" cy="1224208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BCDDC5AE-B2BF-4B0E-8EA4-45A44092F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-78813" y="5602583"/>
              <a:ext cx="4298949" cy="79283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5820159-17CA-48B9-812F-FA6CA5D50A6E}"/>
                </a:ext>
              </a:extLst>
            </p:cNvPr>
            <p:cNvSpPr txBox="1"/>
            <p:nvPr/>
          </p:nvSpPr>
          <p:spPr>
            <a:xfrm>
              <a:off x="257708" y="5233251"/>
              <a:ext cx="4552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Magnetic susceptibility (response function):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C03544A2-DFDE-4F65-B17C-E5E6B6655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4291302" y="5590348"/>
              <a:ext cx="3782079" cy="867111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3AC99BD-CC0C-414A-8FDE-4DA418EBEC91}"/>
              </a:ext>
            </a:extLst>
          </p:cNvPr>
          <p:cNvGrpSpPr/>
          <p:nvPr/>
        </p:nvGrpSpPr>
        <p:grpSpPr>
          <a:xfrm>
            <a:off x="8138165" y="5123966"/>
            <a:ext cx="3893483" cy="1380972"/>
            <a:chOff x="7610607" y="5107696"/>
            <a:chExt cx="3893483" cy="138097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3530BA8-3E17-433B-8900-7A268D624C1F}"/>
                </a:ext>
              </a:extLst>
            </p:cNvPr>
            <p:cNvGrpSpPr/>
            <p:nvPr/>
          </p:nvGrpSpPr>
          <p:grpSpPr>
            <a:xfrm>
              <a:off x="7610607" y="5107696"/>
              <a:ext cx="1081148" cy="466927"/>
              <a:chOff x="8387255" y="5297087"/>
              <a:chExt cx="1081148" cy="466927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376B6D-349C-4513-8B89-D4C3BD807059}"/>
                  </a:ext>
                </a:extLst>
              </p:cNvPr>
              <p:cNvSpPr txBox="1"/>
              <p:nvPr/>
            </p:nvSpPr>
            <p:spPr>
              <a:xfrm>
                <a:off x="8387255" y="5367468"/>
                <a:ext cx="7135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Near </a:t>
                </a:r>
              </a:p>
            </p:txBody>
          </p:sp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2D386FFA-B7A0-474E-8F66-0C3678404D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932301" y="5297087"/>
                <a:ext cx="536102" cy="466927"/>
              </a:xfrm>
              <a:prstGeom prst="rect">
                <a:avLst/>
              </a:prstGeom>
            </p:spPr>
          </p:pic>
        </p:grp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DBE948CA-FFA2-4822-ADAF-9AA992C38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782673" y="5485345"/>
              <a:ext cx="3721417" cy="1003323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623E17F-5B7E-4C97-8C34-21ECB2A4A7D2}"/>
              </a:ext>
            </a:extLst>
          </p:cNvPr>
          <p:cNvSpPr txBox="1"/>
          <p:nvPr/>
        </p:nvSpPr>
        <p:spPr>
          <a:xfrm>
            <a:off x="7629953" y="6488668"/>
            <a:ext cx="4620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Diverges, a tiny field can flip all the spins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43B60023-0FB6-4483-A9FE-4E4A02BDB96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6641750" y="3582008"/>
            <a:ext cx="5155125" cy="6873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74E6AEE6-B6B9-4661-B109-3C171AF6D94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8608017" y="1138310"/>
            <a:ext cx="3583982" cy="951679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FCEADA0-ADD1-4288-8E83-1C9EC31F37B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6275673" y="2758736"/>
            <a:ext cx="5053262" cy="10585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4E3C310-1ED1-4A90-97C1-4E8F62835FD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7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8A58-A78F-428C-9C19-E26A1CCBD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 Critical point fluctuation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2DC97B-4BB1-43AB-8864-C69837005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574" y="2134883"/>
            <a:ext cx="6425958" cy="36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B2B418-D1CE-4F64-B153-D2C0BEE5C933}"/>
              </a:ext>
            </a:extLst>
          </p:cNvPr>
          <p:cNvSpPr txBox="1"/>
          <p:nvPr/>
        </p:nvSpPr>
        <p:spPr>
          <a:xfrm>
            <a:off x="8721558" y="3111391"/>
            <a:ext cx="3192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Distribution of the cluster size</a:t>
            </a:r>
          </a:p>
          <a:p>
            <a:r>
              <a:rPr lang="en-MY" dirty="0"/>
              <a:t>=&gt; variance is diverges ~L</a:t>
            </a:r>
          </a:p>
          <a:p>
            <a:r>
              <a:rPr lang="en-MY" dirty="0"/>
              <a:t>=&gt; Power-law distribution.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FD97FA-5C6D-4213-9F74-22F55F52174F}"/>
              </a:ext>
            </a:extLst>
          </p:cNvPr>
          <p:cNvSpPr txBox="1"/>
          <p:nvPr/>
        </p:nvSpPr>
        <p:spPr>
          <a:xfrm>
            <a:off x="1679925" y="5842078"/>
            <a:ext cx="7769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The statistics of a critical system =&gt; power-law distribution =&gt; scale invariant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A0B287-72F6-40D7-9D0B-57CDFA058DFA}"/>
              </a:ext>
            </a:extLst>
          </p:cNvPr>
          <p:cNvSpPr txBox="1"/>
          <p:nvPr/>
        </p:nvSpPr>
        <p:spPr>
          <a:xfrm>
            <a:off x="2625558" y="6211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Distribution function can only depend on scale invariant quantities: dimensionality, symmetry, 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D3C52E-7A71-4C52-A86F-87CBEE786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160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9D6BE34-7DB0-41C6-A278-1F8534F590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71" b="-1598"/>
          <a:stretch/>
        </p:blipFill>
        <p:spPr>
          <a:xfrm>
            <a:off x="5618577" y="2084832"/>
            <a:ext cx="4376761" cy="93849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3370258-9B69-4A47-AC1F-A4825B6F7272}"/>
              </a:ext>
            </a:extLst>
          </p:cNvPr>
          <p:cNvSpPr txBox="1"/>
          <p:nvPr/>
        </p:nvSpPr>
        <p:spPr>
          <a:xfrm>
            <a:off x="1024128" y="5299103"/>
            <a:ext cx="4538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Study phase transition using free energy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CBCC30-7ABF-4CBB-B5C0-FB5EEC1FF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467" y="5872496"/>
            <a:ext cx="2572677" cy="583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0D99146-3C61-43A9-8537-E5CA0E9B1E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6670" y="5714969"/>
            <a:ext cx="6413198" cy="90153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806A97D-5D3B-4971-9D80-3BB9AADFE0C1}"/>
              </a:ext>
            </a:extLst>
          </p:cNvPr>
          <p:cNvGrpSpPr/>
          <p:nvPr/>
        </p:nvGrpSpPr>
        <p:grpSpPr>
          <a:xfrm>
            <a:off x="8705684" y="4642052"/>
            <a:ext cx="3609806" cy="1362958"/>
            <a:chOff x="3311530" y="3147691"/>
            <a:chExt cx="3609806" cy="1362958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A77A634-DC15-40D5-AD7F-12FFC745A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11530" y="3488219"/>
              <a:ext cx="3609806" cy="102243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C1127C3-348A-4314-87B7-33CD1F4B0B83}"/>
                </a:ext>
              </a:extLst>
            </p:cNvPr>
            <p:cNvSpPr txBox="1"/>
            <p:nvPr/>
          </p:nvSpPr>
          <p:spPr>
            <a:xfrm>
              <a:off x="3518406" y="3147691"/>
              <a:ext cx="28217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>
                  <a:solidFill>
                    <a:srgbClr val="FF0000"/>
                  </a:solidFill>
                </a:rPr>
                <a:t>Self-consistent equation</a:t>
              </a:r>
            </a:p>
          </p:txBody>
        </p: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24F62BA3-A067-4F89-BBFC-6F8FA82EC3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32821" y="6136933"/>
            <a:ext cx="1387432" cy="46825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78E68C5-3554-4808-A241-77E886200CC7}"/>
              </a:ext>
            </a:extLst>
          </p:cNvPr>
          <p:cNvGrpSpPr/>
          <p:nvPr/>
        </p:nvGrpSpPr>
        <p:grpSpPr>
          <a:xfrm>
            <a:off x="4328935" y="5322370"/>
            <a:ext cx="7827374" cy="369332"/>
            <a:chOff x="4328935" y="5322370"/>
            <a:chExt cx="7827374" cy="36933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6608D42-B63D-422A-B953-8E6B3EFA4CD3}"/>
                </a:ext>
              </a:extLst>
            </p:cNvPr>
            <p:cNvSpPr/>
            <p:nvPr/>
          </p:nvSpPr>
          <p:spPr>
            <a:xfrm rot="20545256">
              <a:off x="9096765" y="5428652"/>
              <a:ext cx="3059544" cy="11131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A2DD794-ED93-4C2C-90AF-565FFAE08729}"/>
                </a:ext>
              </a:extLst>
            </p:cNvPr>
            <p:cNvSpPr txBox="1"/>
            <p:nvPr/>
          </p:nvSpPr>
          <p:spPr>
            <a:xfrm>
              <a:off x="4328935" y="532237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MY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9106977-B825-4368-9782-330B172539E0}"/>
              </a:ext>
            </a:extLst>
          </p:cNvPr>
          <p:cNvSpPr txBox="1"/>
          <p:nvPr/>
        </p:nvSpPr>
        <p:spPr>
          <a:xfrm>
            <a:off x="5129766" y="275608"/>
            <a:ext cx="126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Symmetry: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8B29A65-C1C1-47C1-B28F-6E08FA21B9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7288" y="1402928"/>
            <a:ext cx="1559669" cy="55409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B7D9D6F-F2F7-42C5-A3F6-218B7B84A27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95044" y="1564953"/>
            <a:ext cx="1605759" cy="50518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0F9E384-202B-461D-9DE6-6D3F92560F0A}"/>
              </a:ext>
            </a:extLst>
          </p:cNvPr>
          <p:cNvSpPr txBox="1"/>
          <p:nvPr/>
        </p:nvSpPr>
        <p:spPr>
          <a:xfrm>
            <a:off x="9419086" y="692611"/>
            <a:ext cx="2538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quantum mechanics: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3EA512C2-F175-4498-A3EE-A29147268F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38544" y="273876"/>
            <a:ext cx="1527268" cy="56267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1DA72F-743B-4706-885C-1BED646FBB9C}"/>
              </a:ext>
            </a:extLst>
          </p:cNvPr>
          <p:cNvSpPr txBox="1"/>
          <p:nvPr/>
        </p:nvSpPr>
        <p:spPr>
          <a:xfrm>
            <a:off x="5129766" y="679362"/>
            <a:ext cx="405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Invariant under some transformation 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CBCA5E-8E6D-41AE-9C0C-C8ECB7437D57}"/>
              </a:ext>
            </a:extLst>
          </p:cNvPr>
          <p:cNvSpPr txBox="1"/>
          <p:nvPr/>
        </p:nvSpPr>
        <p:spPr>
          <a:xfrm>
            <a:off x="5129766" y="1050021"/>
            <a:ext cx="3606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We say the system has P symmetry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4D88CB-98AA-43A6-A625-07D56EB95C28}"/>
              </a:ext>
            </a:extLst>
          </p:cNvPr>
          <p:cNvSpPr txBox="1"/>
          <p:nvPr/>
        </p:nvSpPr>
        <p:spPr>
          <a:xfrm>
            <a:off x="7764401" y="1512617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(parity)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937B5829-3766-4391-9561-B03E15A9881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995339" y="1058048"/>
            <a:ext cx="1405890" cy="46863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67B853E0-EE9A-4CE8-B718-3F544B7D62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031560" y="1956135"/>
            <a:ext cx="1856683" cy="476946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455D478C-7122-44E9-8EA1-456F111526D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031560" y="2348260"/>
            <a:ext cx="1968653" cy="505709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58CBF0A-CD17-4527-AB6A-AF243F10BF1E}"/>
              </a:ext>
            </a:extLst>
          </p:cNvPr>
          <p:cNvGrpSpPr/>
          <p:nvPr/>
        </p:nvGrpSpPr>
        <p:grpSpPr>
          <a:xfrm>
            <a:off x="10239668" y="2743852"/>
            <a:ext cx="1755956" cy="805993"/>
            <a:chOff x="10239668" y="2256350"/>
            <a:chExt cx="1755956" cy="805993"/>
          </a:xfrm>
        </p:grpSpPr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542956DA-CE60-47D3-9EE5-5E1D8A942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0239668" y="2256350"/>
              <a:ext cx="1461135" cy="53132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52E6070-3441-43DA-81A6-A2A22E3DB52C}"/>
                </a:ext>
              </a:extLst>
            </p:cNvPr>
            <p:cNvSpPr txBox="1"/>
            <p:nvPr/>
          </p:nvSpPr>
          <p:spPr>
            <a:xfrm>
              <a:off x="10688215" y="2693011"/>
              <a:ext cx="13074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degeneracy</a:t>
              </a:r>
            </a:p>
          </p:txBody>
        </p:sp>
      </p:grpSp>
      <p:pic>
        <p:nvPicPr>
          <p:cNvPr id="35" name="Graphic 34">
            <a:extLst>
              <a:ext uri="{FF2B5EF4-FFF2-40B4-BE49-F238E27FC236}">
                <a16:creationId xmlns:a16="http://schemas.microsoft.com/office/drawing/2014/main" id="{35FAC860-4A3A-4ADD-AC0C-8B2780B9B16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4990850" y="3781291"/>
            <a:ext cx="5155125" cy="68735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AB8D6BF-7E02-41AC-976E-40DF6094499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5041782" y="2788417"/>
            <a:ext cx="5053262" cy="105858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9BCB1D5-D76C-4814-8FD3-B8AD499C89B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2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ISING Model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F0FB5F05-E898-4A05-81E9-ABC2038B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3370258-9B69-4A47-AC1F-A4825B6F7272}"/>
              </a:ext>
            </a:extLst>
          </p:cNvPr>
          <p:cNvSpPr txBox="1"/>
          <p:nvPr/>
        </p:nvSpPr>
        <p:spPr>
          <a:xfrm>
            <a:off x="1024128" y="5484309"/>
            <a:ext cx="146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Free Energy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CBCC30-7ABF-4CBB-B5C0-FB5EEC1FF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467" y="5872496"/>
            <a:ext cx="2572677" cy="583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0D99146-3C61-43A9-8537-E5CA0E9B1E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6670" y="5714969"/>
            <a:ext cx="6413198" cy="90153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806A97D-5D3B-4971-9D80-3BB9AADFE0C1}"/>
              </a:ext>
            </a:extLst>
          </p:cNvPr>
          <p:cNvGrpSpPr/>
          <p:nvPr/>
        </p:nvGrpSpPr>
        <p:grpSpPr>
          <a:xfrm>
            <a:off x="8705684" y="4642052"/>
            <a:ext cx="3609806" cy="1362958"/>
            <a:chOff x="3311530" y="3147691"/>
            <a:chExt cx="3609806" cy="1362958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A77A634-DC15-40D5-AD7F-12FFC745A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311530" y="3488219"/>
              <a:ext cx="3609806" cy="102243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C1127C3-348A-4314-87B7-33CD1F4B0B83}"/>
                </a:ext>
              </a:extLst>
            </p:cNvPr>
            <p:cNvSpPr txBox="1"/>
            <p:nvPr/>
          </p:nvSpPr>
          <p:spPr>
            <a:xfrm>
              <a:off x="3518406" y="3147691"/>
              <a:ext cx="28217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>
                  <a:solidFill>
                    <a:srgbClr val="FF0000"/>
                  </a:solidFill>
                </a:rPr>
                <a:t>Self-consistent equation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6608D42-B63D-422A-B953-8E6B3EFA4CD3}"/>
              </a:ext>
            </a:extLst>
          </p:cNvPr>
          <p:cNvSpPr/>
          <p:nvPr/>
        </p:nvSpPr>
        <p:spPr>
          <a:xfrm rot="20545256">
            <a:off x="9096765" y="5428652"/>
            <a:ext cx="3059544" cy="11131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2DFFBC2-EF35-4208-8C6F-DF2E619796B6}"/>
              </a:ext>
            </a:extLst>
          </p:cNvPr>
          <p:cNvGrpSpPr/>
          <p:nvPr/>
        </p:nvGrpSpPr>
        <p:grpSpPr>
          <a:xfrm>
            <a:off x="4296982" y="4209139"/>
            <a:ext cx="4010466" cy="1790253"/>
            <a:chOff x="4296982" y="4209139"/>
            <a:chExt cx="4010466" cy="17902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BEB43C-D298-420C-82AA-3DAE54D2D033}"/>
                </a:ext>
              </a:extLst>
            </p:cNvPr>
            <p:cNvSpPr txBox="1"/>
            <p:nvPr/>
          </p:nvSpPr>
          <p:spPr>
            <a:xfrm>
              <a:off x="4296982" y="4537881"/>
              <a:ext cx="5312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flat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6DB617F-3F80-48E3-A5D4-1F1D52C91333}"/>
                </a:ext>
              </a:extLst>
            </p:cNvPr>
            <p:cNvCxnSpPr/>
            <p:nvPr/>
          </p:nvCxnSpPr>
          <p:spPr>
            <a:xfrm flipV="1">
              <a:off x="4918841" y="4209139"/>
              <a:ext cx="563242" cy="4329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523293B-FE6F-43A2-A67A-211A92E63533}"/>
                </a:ext>
              </a:extLst>
            </p:cNvPr>
            <p:cNvGrpSpPr/>
            <p:nvPr/>
          </p:nvGrpSpPr>
          <p:grpSpPr>
            <a:xfrm>
              <a:off x="4828281" y="4907213"/>
              <a:ext cx="3479167" cy="1092179"/>
              <a:chOff x="4828281" y="4907213"/>
              <a:chExt cx="3479167" cy="1092179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21ADCADF-92EE-4232-9E49-90D2758419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281" y="4907213"/>
                <a:ext cx="1517897" cy="10921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1EEB67C-AA14-471C-86D3-5D15A9273A9D}"/>
                  </a:ext>
                </a:extLst>
              </p:cNvPr>
              <p:cNvSpPr txBox="1"/>
              <p:nvPr/>
            </p:nvSpPr>
            <p:spPr>
              <a:xfrm>
                <a:off x="5779897" y="5268636"/>
                <a:ext cx="25275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Inverse of susceptibility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2D09AA-CDB0-4D8F-BB4B-D0BE92E526EF}"/>
              </a:ext>
            </a:extLst>
          </p:cNvPr>
          <p:cNvGrpSpPr/>
          <p:nvPr/>
        </p:nvGrpSpPr>
        <p:grpSpPr>
          <a:xfrm>
            <a:off x="7503456" y="2573583"/>
            <a:ext cx="3318366" cy="2189122"/>
            <a:chOff x="7503456" y="2573583"/>
            <a:chExt cx="3318366" cy="218912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DAF06DD-6AEE-4830-9542-62E925BC8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629369" y="2733114"/>
              <a:ext cx="3192453" cy="2029591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7DFA618-8655-4699-AED8-22EE2BEDA5F2}"/>
                </a:ext>
              </a:extLst>
            </p:cNvPr>
            <p:cNvSpPr txBox="1"/>
            <p:nvPr/>
          </p:nvSpPr>
          <p:spPr>
            <a:xfrm>
              <a:off x="7503456" y="2573583"/>
              <a:ext cx="14091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Order phase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9864277-F677-43BF-BB81-4722B13ACDDF}"/>
              </a:ext>
            </a:extLst>
          </p:cNvPr>
          <p:cNvGrpSpPr/>
          <p:nvPr/>
        </p:nvGrpSpPr>
        <p:grpSpPr>
          <a:xfrm>
            <a:off x="334197" y="2066295"/>
            <a:ext cx="3707941" cy="2202950"/>
            <a:chOff x="334197" y="2066295"/>
            <a:chExt cx="3707941" cy="220295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FF40DF9-5769-45F1-A1E5-3B52CC6ED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2899" y="2102687"/>
              <a:ext cx="3379239" cy="216655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B4EA219-704E-4830-8504-E42F28EB8413}"/>
                </a:ext>
              </a:extLst>
            </p:cNvPr>
            <p:cNvSpPr txBox="1"/>
            <p:nvPr/>
          </p:nvSpPr>
          <p:spPr>
            <a:xfrm>
              <a:off x="334197" y="2066295"/>
              <a:ext cx="1680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Disorder phase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CBFED01-18B1-4C7E-98BC-843C1D6DE0D6}"/>
              </a:ext>
            </a:extLst>
          </p:cNvPr>
          <p:cNvGrpSpPr/>
          <p:nvPr/>
        </p:nvGrpSpPr>
        <p:grpSpPr>
          <a:xfrm>
            <a:off x="4038600" y="2066295"/>
            <a:ext cx="3383893" cy="2142844"/>
            <a:chOff x="4038600" y="2066295"/>
            <a:chExt cx="3383893" cy="214284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608E5DE-9828-4CDB-999F-7F7DD0A83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174812" y="2193837"/>
              <a:ext cx="3247681" cy="2015302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E949AA6-A4E5-45BA-92BD-C6F1F2EF8DEC}"/>
                </a:ext>
              </a:extLst>
            </p:cNvPr>
            <p:cNvSpPr txBox="1"/>
            <p:nvPr/>
          </p:nvSpPr>
          <p:spPr>
            <a:xfrm>
              <a:off x="4038600" y="2066295"/>
              <a:ext cx="15486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Critical phase</a:t>
              </a:r>
            </a:p>
          </p:txBody>
        </p:sp>
      </p:grpSp>
      <p:pic>
        <p:nvPicPr>
          <p:cNvPr id="34" name="Graphic 33">
            <a:extLst>
              <a:ext uri="{FF2B5EF4-FFF2-40B4-BE49-F238E27FC236}">
                <a16:creationId xmlns:a16="http://schemas.microsoft.com/office/drawing/2014/main" id="{71E0F885-281E-46C4-A89E-ABF1CC0D261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77511" y="2098132"/>
            <a:ext cx="1696355" cy="85692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4CADC5A-DB3D-4E76-80F7-2FDB8908681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32821" y="6136933"/>
            <a:ext cx="1387432" cy="468258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C93CC58B-73E7-4BC2-A883-7DBF54210CB1}"/>
              </a:ext>
            </a:extLst>
          </p:cNvPr>
          <p:cNvGrpSpPr/>
          <p:nvPr/>
        </p:nvGrpSpPr>
        <p:grpSpPr>
          <a:xfrm>
            <a:off x="6940984" y="735506"/>
            <a:ext cx="5034904" cy="1135763"/>
            <a:chOff x="6940984" y="735506"/>
            <a:chExt cx="5034904" cy="1135763"/>
          </a:xfrm>
        </p:grpSpPr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358F7C93-6024-46B5-80E0-6ED39C5BB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220342" y="1163560"/>
              <a:ext cx="2755546" cy="707709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4A77408-EAC4-4015-ACD5-4E5584250FF6}"/>
                </a:ext>
              </a:extLst>
            </p:cNvPr>
            <p:cNvSpPr txBox="1"/>
            <p:nvPr/>
          </p:nvSpPr>
          <p:spPr>
            <a:xfrm>
              <a:off x="6940984" y="735506"/>
              <a:ext cx="50349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>
                  <a:solidFill>
                    <a:srgbClr val="FF0000"/>
                  </a:solidFill>
                </a:rPr>
                <a:t>Exactly the same as Mean field result near T</a:t>
              </a:r>
              <a:r>
                <a:rPr lang="en-MY" b="1" baseline="-25000" dirty="0">
                  <a:solidFill>
                    <a:srgbClr val="FF0000"/>
                  </a:solidFill>
                </a:rPr>
                <a:t>C</a:t>
              </a:r>
              <a:r>
                <a:rPr lang="en-MY" b="1" dirty="0">
                  <a:solidFill>
                    <a:srgbClr val="FF0000"/>
                  </a:solidFill>
                </a:rPr>
                <a:t> </a:t>
              </a: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3D05C3FC-591A-45DD-BFD5-E784D6439CC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43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Landau theory of phase transition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321898"/>
            <a:ext cx="2769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Order parameters</a:t>
            </a:r>
          </a:p>
        </p:txBody>
      </p:sp>
      <p:pic>
        <p:nvPicPr>
          <p:cNvPr id="4" name="Picture 2" descr="Tensor">
            <a:extLst>
              <a:ext uri="{FF2B5EF4-FFF2-40B4-BE49-F238E27FC236}">
                <a16:creationId xmlns:a16="http://schemas.microsoft.com/office/drawing/2014/main" id="{13A7740A-42D1-45CC-84B8-A62BA6EBE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0952CB-19FD-4F29-B54F-A9D59A1AE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1E392B6-6BEA-47FB-AD46-68140FB57C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9564" t="27173" r="58851" b="24845"/>
          <a:stretch/>
        </p:blipFill>
        <p:spPr>
          <a:xfrm>
            <a:off x="5255171" y="3171496"/>
            <a:ext cx="641132" cy="515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440543-06F3-4C81-92C7-4442C4CE36E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-271" b="-1598"/>
          <a:stretch/>
        </p:blipFill>
        <p:spPr>
          <a:xfrm>
            <a:off x="5723681" y="2084832"/>
            <a:ext cx="4376761" cy="9384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8D4FD9-E4BA-47F6-BBCB-ED9C6EE6AB29}"/>
              </a:ext>
            </a:extLst>
          </p:cNvPr>
          <p:cNvSpPr txBox="1"/>
          <p:nvPr/>
        </p:nvSpPr>
        <p:spPr>
          <a:xfrm>
            <a:off x="5370786" y="4099034"/>
            <a:ext cx="5392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Order parameter:             ZERO in the disorder phase</a:t>
            </a:r>
          </a:p>
          <a:p>
            <a:r>
              <a:rPr lang="en-MY" dirty="0"/>
              <a:t>                                NON-ZERO in the order phase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4AF5680-AC2D-426D-AE8A-E17893F8BC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71554" t="28423" b="27239"/>
          <a:stretch/>
        </p:blipFill>
        <p:spPr>
          <a:xfrm>
            <a:off x="5896303" y="3171496"/>
            <a:ext cx="914400" cy="51500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88A3EB5-4E75-4DCB-943F-E96953A1DF3E}"/>
              </a:ext>
            </a:extLst>
          </p:cNvPr>
          <p:cNvGrpSpPr/>
          <p:nvPr/>
        </p:nvGrpSpPr>
        <p:grpSpPr>
          <a:xfrm>
            <a:off x="3176213" y="5156480"/>
            <a:ext cx="6257010" cy="630658"/>
            <a:chOff x="3176213" y="5156480"/>
            <a:chExt cx="6257010" cy="630658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0D50FA07-9023-4D22-91B3-EFC931002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176213" y="5156480"/>
              <a:ext cx="4801139" cy="630658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C4835B2-DDAC-4557-A565-A25F647B6551}"/>
                </a:ext>
              </a:extLst>
            </p:cNvPr>
            <p:cNvGrpSpPr/>
            <p:nvPr/>
          </p:nvGrpSpPr>
          <p:grpSpPr>
            <a:xfrm>
              <a:off x="8066877" y="5174641"/>
              <a:ext cx="1366346" cy="612497"/>
              <a:chOff x="8912772" y="5396392"/>
              <a:chExt cx="1366346" cy="612497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F2698362-EB9C-4B5E-BAD0-822A8F3028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575881" y="5396392"/>
                <a:ext cx="703237" cy="612497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E038A4-395B-4168-9F66-CE35AC942318}"/>
                  </a:ext>
                </a:extLst>
              </p:cNvPr>
              <p:cNvSpPr txBox="1"/>
              <p:nvPr/>
            </p:nvSpPr>
            <p:spPr>
              <a:xfrm>
                <a:off x="8912772" y="5471809"/>
                <a:ext cx="8245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sz="2400" dirty="0"/>
                  <a:t>Near</a:t>
                </a:r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E3C2D87-BFE5-4CE5-BA3E-F56330D08B79}"/>
              </a:ext>
            </a:extLst>
          </p:cNvPr>
          <p:cNvSpPr txBox="1"/>
          <p:nvPr/>
        </p:nvSpPr>
        <p:spPr>
          <a:xfrm>
            <a:off x="3793732" y="4877277"/>
            <a:ext cx="6527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Landau free energy (very useful phenomenological model)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DCACEE-47FD-4AD4-961C-F06CA3BC8CC2}"/>
              </a:ext>
            </a:extLst>
          </p:cNvPr>
          <p:cNvGrpSpPr/>
          <p:nvPr/>
        </p:nvGrpSpPr>
        <p:grpSpPr>
          <a:xfrm>
            <a:off x="3771963" y="5711723"/>
            <a:ext cx="5163080" cy="831215"/>
            <a:chOff x="3566906" y="5700705"/>
            <a:chExt cx="5163080" cy="83121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ABD2B0-7924-43D8-97C5-3648372B9DED}"/>
                </a:ext>
              </a:extLst>
            </p:cNvPr>
            <p:cNvSpPr txBox="1"/>
            <p:nvPr/>
          </p:nvSpPr>
          <p:spPr>
            <a:xfrm>
              <a:off x="3566906" y="6162588"/>
              <a:ext cx="516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Free must have the symmetry in the Hamiltonian  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E68DCE2-B998-4518-9C90-5621198894FC}"/>
                </a:ext>
              </a:extLst>
            </p:cNvPr>
            <p:cNvCxnSpPr/>
            <p:nvPr/>
          </p:nvCxnSpPr>
          <p:spPr>
            <a:xfrm flipV="1">
              <a:off x="4046483" y="5700705"/>
              <a:ext cx="0" cy="436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Graphic 23">
            <a:extLst>
              <a:ext uri="{FF2B5EF4-FFF2-40B4-BE49-F238E27FC236}">
                <a16:creationId xmlns:a16="http://schemas.microsoft.com/office/drawing/2014/main" id="{77B356BA-9BF2-4145-B1DF-08D727FDC6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32074" y="2668673"/>
            <a:ext cx="1220350" cy="6699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89B41F6-90A1-4F24-BDBB-FDDD0CC0C9A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6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Landau theory of phase transition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321898"/>
            <a:ext cx="2769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Order parameters</a:t>
            </a:r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7C2B66EC-58D2-4843-A051-8BC057206FA0}"/>
              </a:ext>
            </a:extLst>
          </p:cNvPr>
          <p:cNvSpPr/>
          <p:nvPr/>
        </p:nvSpPr>
        <p:spPr>
          <a:xfrm>
            <a:off x="714202" y="4565960"/>
            <a:ext cx="3079530" cy="1510862"/>
          </a:xfrm>
          <a:prstGeom prst="cube">
            <a:avLst>
              <a:gd name="adj" fmla="val 61870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7102A6-7897-472A-8E01-91FAC65267CE}"/>
              </a:ext>
            </a:extLst>
          </p:cNvPr>
          <p:cNvSpPr txBox="1"/>
          <p:nvPr/>
        </p:nvSpPr>
        <p:spPr>
          <a:xfrm>
            <a:off x="829815" y="4042335"/>
            <a:ext cx="946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Magnet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B14C13-0108-4510-ABFC-28D2CD8F9888}"/>
              </a:ext>
            </a:extLst>
          </p:cNvPr>
          <p:cNvSpPr/>
          <p:nvPr/>
        </p:nvSpPr>
        <p:spPr>
          <a:xfrm>
            <a:off x="1176851" y="5602915"/>
            <a:ext cx="294289" cy="2496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FC4A506B-42F9-4CFD-9E0E-2A608A954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6851" y="5461182"/>
            <a:ext cx="793367" cy="51661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73ACE2A-33E7-4CD3-A322-8D5F9C0BF4F1}"/>
              </a:ext>
            </a:extLst>
          </p:cNvPr>
          <p:cNvSpPr txBox="1"/>
          <p:nvPr/>
        </p:nvSpPr>
        <p:spPr>
          <a:xfrm>
            <a:off x="4550980" y="2402042"/>
            <a:ext cx="461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We don’t know the microscopic Hamiltonian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125C1DD5-ADC4-4555-8A27-0AD11A0DB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2828" y="2765169"/>
            <a:ext cx="2275731" cy="91361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6CAA9DE-DE38-4DEB-8BE0-D6B9C9C50142}"/>
              </a:ext>
            </a:extLst>
          </p:cNvPr>
          <p:cNvSpPr txBox="1"/>
          <p:nvPr/>
        </p:nvSpPr>
        <p:spPr>
          <a:xfrm>
            <a:off x="4550980" y="2898810"/>
            <a:ext cx="57596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Landau theory of free energy: we expand the order parameters near T</a:t>
            </a:r>
            <a:r>
              <a:rPr lang="en-MY" b="1" baseline="-25000" dirty="0">
                <a:solidFill>
                  <a:srgbClr val="FF0000"/>
                </a:solidFill>
              </a:rPr>
              <a:t>C</a:t>
            </a:r>
            <a:r>
              <a:rPr lang="en-MY" b="1" dirty="0">
                <a:solidFill>
                  <a:srgbClr val="FF0000"/>
                </a:solidFill>
              </a:rPr>
              <a:t> </a:t>
            </a:r>
            <a:endParaRPr lang="en-MY" dirty="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AFA69D92-1160-4135-A32A-F7E8BD4890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96935" y="3540473"/>
            <a:ext cx="6465686" cy="74279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19A9FB8-6A4B-47AB-9A83-4A87F1B14897}"/>
              </a:ext>
            </a:extLst>
          </p:cNvPr>
          <p:cNvGrpSpPr/>
          <p:nvPr/>
        </p:nvGrpSpPr>
        <p:grpSpPr>
          <a:xfrm>
            <a:off x="4550980" y="4374096"/>
            <a:ext cx="4462190" cy="524078"/>
            <a:chOff x="4550980" y="4374096"/>
            <a:chExt cx="4462190" cy="524078"/>
          </a:xfrm>
        </p:grpSpPr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57DE8ED6-4114-4791-A6C6-C14C35AC5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50980" y="4374096"/>
              <a:ext cx="1366344" cy="52407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8ED00F3-C482-4F11-B106-EF910BC7BA2D}"/>
                </a:ext>
              </a:extLst>
            </p:cNvPr>
            <p:cNvSpPr txBox="1"/>
            <p:nvPr/>
          </p:nvSpPr>
          <p:spPr>
            <a:xfrm>
              <a:off x="6018376" y="4460906"/>
              <a:ext cx="2994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(Mean field  approximation)</a:t>
              </a:r>
            </a:p>
          </p:txBody>
        </p:sp>
      </p:grpSp>
      <p:pic>
        <p:nvPicPr>
          <p:cNvPr id="35" name="Graphic 34">
            <a:extLst>
              <a:ext uri="{FF2B5EF4-FFF2-40B4-BE49-F238E27FC236}">
                <a16:creationId xmlns:a16="http://schemas.microsoft.com/office/drawing/2014/main" id="{8174E649-AF71-407D-84A0-CA771E0646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39954" y="4967896"/>
            <a:ext cx="3858316" cy="67176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18387807-F385-4C78-9E01-5EDE3CA633F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36397" y="4830238"/>
            <a:ext cx="1798797" cy="90867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F4E5229-0665-43A4-B37E-D40FE24508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51076" y="5577825"/>
            <a:ext cx="3163517" cy="101750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A0DB94C-606E-4923-850B-2682FF101E5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937980" y="4193187"/>
            <a:ext cx="1878144" cy="47376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8AFA500-B5EA-43D7-8B71-EBAB4CA7D981}"/>
              </a:ext>
            </a:extLst>
          </p:cNvPr>
          <p:cNvGrpSpPr/>
          <p:nvPr/>
        </p:nvGrpSpPr>
        <p:grpSpPr>
          <a:xfrm>
            <a:off x="7055318" y="3221975"/>
            <a:ext cx="5041948" cy="500805"/>
            <a:chOff x="7055318" y="3221975"/>
            <a:chExt cx="5041948" cy="50080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945A794-AAFD-4BBF-B586-AD84EB5E017E}"/>
                </a:ext>
              </a:extLst>
            </p:cNvPr>
            <p:cNvSpPr txBox="1"/>
            <p:nvPr/>
          </p:nvSpPr>
          <p:spPr>
            <a:xfrm>
              <a:off x="8479288" y="3221975"/>
              <a:ext cx="3617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Energy penalty for inhomogeneity 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9238E99-C3A3-4D6E-80A9-8D8B5BA36629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>
              <a:off x="7055318" y="3406641"/>
              <a:ext cx="1423970" cy="3161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DA1550F3-B990-44E1-9FC1-48CF726DFC8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80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Landau theory of phase transition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321898"/>
            <a:ext cx="2769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Order parameters</a:t>
            </a:r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7C2B66EC-58D2-4843-A051-8BC057206FA0}"/>
              </a:ext>
            </a:extLst>
          </p:cNvPr>
          <p:cNvSpPr/>
          <p:nvPr/>
        </p:nvSpPr>
        <p:spPr>
          <a:xfrm>
            <a:off x="714202" y="4565960"/>
            <a:ext cx="3079530" cy="1510862"/>
          </a:xfrm>
          <a:prstGeom prst="cube">
            <a:avLst>
              <a:gd name="adj" fmla="val 61870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7102A6-7897-472A-8E01-91FAC65267CE}"/>
              </a:ext>
            </a:extLst>
          </p:cNvPr>
          <p:cNvSpPr txBox="1"/>
          <p:nvPr/>
        </p:nvSpPr>
        <p:spPr>
          <a:xfrm>
            <a:off x="829815" y="4042335"/>
            <a:ext cx="946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Magnet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B14C13-0108-4510-ABFC-28D2CD8F9888}"/>
              </a:ext>
            </a:extLst>
          </p:cNvPr>
          <p:cNvSpPr/>
          <p:nvPr/>
        </p:nvSpPr>
        <p:spPr>
          <a:xfrm>
            <a:off x="1176851" y="5602915"/>
            <a:ext cx="294289" cy="2496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FC4A506B-42F9-4CFD-9E0E-2A608A954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6851" y="5461182"/>
            <a:ext cx="793367" cy="516611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125C1DD5-ADC4-4555-8A27-0AD11A0DB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2828" y="2765169"/>
            <a:ext cx="2275731" cy="913615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AFA69D92-1160-4135-A32A-F7E8BD4890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96935" y="3540473"/>
            <a:ext cx="6465686" cy="742794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57DE8ED6-4114-4791-A6C6-C14C35AC5B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50980" y="4374096"/>
            <a:ext cx="1366344" cy="52407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8ED00F3-C482-4F11-B106-EF910BC7BA2D}"/>
              </a:ext>
            </a:extLst>
          </p:cNvPr>
          <p:cNvSpPr txBox="1"/>
          <p:nvPr/>
        </p:nvSpPr>
        <p:spPr>
          <a:xfrm>
            <a:off x="6018376" y="4460906"/>
            <a:ext cx="299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(Mean field  approximation)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174E649-AF71-407D-84A0-CA771E0646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39954" y="4967896"/>
            <a:ext cx="3858316" cy="67176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18387807-F385-4C78-9E01-5EDE3CA633F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36397" y="4830238"/>
            <a:ext cx="1798797" cy="90867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F4E5229-0665-43A4-B37E-D40FE24508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51076" y="5577825"/>
            <a:ext cx="3163517" cy="10175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39D938-6A67-46F4-B949-828D1BF6CB5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4304" y="1452477"/>
            <a:ext cx="3164306" cy="287077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3651E7B-2906-48CB-8D70-E1146C1B20F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944872" y="4221477"/>
            <a:ext cx="1463864" cy="4269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22244F-E58E-41AB-A847-9D9F86805E8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75979" y="1473649"/>
            <a:ext cx="2900015" cy="3162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EA2EFA-FED8-4AA6-990E-45A6BDC0BF46}"/>
              </a:ext>
            </a:extLst>
          </p:cNvPr>
          <p:cNvSpPr txBox="1"/>
          <p:nvPr/>
        </p:nvSpPr>
        <p:spPr>
          <a:xfrm>
            <a:off x="5060236" y="1198982"/>
            <a:ext cx="2965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2</a:t>
            </a:r>
            <a:r>
              <a:rPr lang="en-MY" b="1" baseline="30000" dirty="0">
                <a:solidFill>
                  <a:srgbClr val="FF0000"/>
                </a:solidFill>
              </a:rPr>
              <a:t>nd</a:t>
            </a:r>
            <a:r>
              <a:rPr lang="en-MY" b="1" dirty="0">
                <a:solidFill>
                  <a:srgbClr val="FF0000"/>
                </a:solidFill>
              </a:rPr>
              <a:t> order phase transition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5CB065-3A47-449C-9745-100D48EEE545}"/>
              </a:ext>
            </a:extLst>
          </p:cNvPr>
          <p:cNvSpPr txBox="1"/>
          <p:nvPr/>
        </p:nvSpPr>
        <p:spPr>
          <a:xfrm>
            <a:off x="8675679" y="1176470"/>
            <a:ext cx="2870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1</a:t>
            </a:r>
            <a:r>
              <a:rPr lang="en-MY" b="1" baseline="30000" dirty="0">
                <a:solidFill>
                  <a:srgbClr val="FF0000"/>
                </a:solidFill>
              </a:rPr>
              <a:t>st</a:t>
            </a:r>
            <a:r>
              <a:rPr lang="en-MY" b="1" dirty="0">
                <a:solidFill>
                  <a:srgbClr val="FF0000"/>
                </a:solidFill>
              </a:rPr>
              <a:t> order phase transition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7972E25-E0C2-433D-92F8-E9443E4CC22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84627" y="1985600"/>
            <a:ext cx="867760" cy="417192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1757AF2-8C8A-41EF-A1C3-C9168282022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242924" y="1862165"/>
            <a:ext cx="867759" cy="417192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A299C05E-39AF-4B5A-8411-87E37626480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629837" y="4254655"/>
            <a:ext cx="1201709" cy="39091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7EC5B71-9F9C-4B28-B4F8-57DB59C609D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213403" y="3858433"/>
            <a:ext cx="1320844" cy="419562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3DB1AAA1-4D52-4D5A-AA3D-5CD78FA47A20}"/>
              </a:ext>
            </a:extLst>
          </p:cNvPr>
          <p:cNvGrpSpPr/>
          <p:nvPr/>
        </p:nvGrpSpPr>
        <p:grpSpPr>
          <a:xfrm>
            <a:off x="7725715" y="4620427"/>
            <a:ext cx="4077269" cy="2210108"/>
            <a:chOff x="8072048" y="5349895"/>
            <a:chExt cx="4077269" cy="2210108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4606A53-6969-4BC4-96F3-1B8A8375D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8072048" y="5349895"/>
              <a:ext cx="4077269" cy="221010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A792C2-2A93-4F0A-80C4-0CC9BC8A60FB}"/>
                </a:ext>
              </a:extLst>
            </p:cNvPr>
            <p:cNvSpPr txBox="1"/>
            <p:nvPr/>
          </p:nvSpPr>
          <p:spPr>
            <a:xfrm>
              <a:off x="8480954" y="5438102"/>
              <a:ext cx="25575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Order parameter do not go to zero smoothly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B0BF4387-A422-4592-B1EC-034AC64E460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15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55D48-E35C-4E47-8729-2725671F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Superconductivity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A5D1C9D-31F5-4345-992A-44874A3C2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843" y="1742173"/>
            <a:ext cx="4290284" cy="243441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82BA116-03BE-4F30-8DBA-11FF023D0C17}"/>
              </a:ext>
            </a:extLst>
          </p:cNvPr>
          <p:cNvSpPr txBox="1"/>
          <p:nvPr/>
        </p:nvSpPr>
        <p:spPr>
          <a:xfrm>
            <a:off x="8861942" y="1335024"/>
            <a:ext cx="1814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Nobel prize 1972</a:t>
            </a:r>
          </a:p>
        </p:txBody>
      </p:sp>
      <p:pic>
        <p:nvPicPr>
          <p:cNvPr id="1036" name="Picture 12" descr="What is the Meissner effect?">
            <a:extLst>
              <a:ext uri="{FF2B5EF4-FFF2-40B4-BE49-F238E27FC236}">
                <a16:creationId xmlns:a16="http://schemas.microsoft.com/office/drawing/2014/main" id="{2EA95477-3BBB-4DCF-B77C-96F4FE86C5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3560833" y="2621086"/>
            <a:ext cx="3842143" cy="192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CDBCF3A-AD2B-4880-8A2A-916466FBC44F}"/>
              </a:ext>
            </a:extLst>
          </p:cNvPr>
          <p:cNvSpPr txBox="1"/>
          <p:nvPr/>
        </p:nvSpPr>
        <p:spPr>
          <a:xfrm>
            <a:off x="4292868" y="2045557"/>
            <a:ext cx="183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Meissner effects:</a:t>
            </a:r>
          </a:p>
        </p:txBody>
      </p:sp>
      <p:pic>
        <p:nvPicPr>
          <p:cNvPr id="1038" name="Picture 14" descr="Superconductors">
            <a:extLst>
              <a:ext uri="{FF2B5EF4-FFF2-40B4-BE49-F238E27FC236}">
                <a16:creationId xmlns:a16="http://schemas.microsoft.com/office/drawing/2014/main" id="{5D2A47D4-324F-4D94-AB8A-F95B17E02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1" y="2414889"/>
            <a:ext cx="3117405" cy="2584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0ABD0B-54AF-439B-A1FB-0562EE1517BE}"/>
              </a:ext>
            </a:extLst>
          </p:cNvPr>
          <p:cNvSpPr txBox="1"/>
          <p:nvPr/>
        </p:nvSpPr>
        <p:spPr>
          <a:xfrm>
            <a:off x="1024128" y="1983627"/>
            <a:ext cx="1672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Zero resistance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95889F-DA6D-44CF-9228-06910E371FDB}"/>
              </a:ext>
            </a:extLst>
          </p:cNvPr>
          <p:cNvSpPr txBox="1"/>
          <p:nvPr/>
        </p:nvSpPr>
        <p:spPr>
          <a:xfrm>
            <a:off x="1322552" y="5463221"/>
            <a:ext cx="8609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Below T</a:t>
            </a:r>
            <a:r>
              <a:rPr lang="en-MY" baseline="-25000" dirty="0"/>
              <a:t>C </a:t>
            </a:r>
            <a:r>
              <a:rPr lang="en-MY" dirty="0"/>
              <a:t>the electrons form Cooper pairs due to the interaction with lattice (phonon).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00DDDB-0141-4E40-9A2D-AFB83585327C}"/>
              </a:ext>
            </a:extLst>
          </p:cNvPr>
          <p:cNvSpPr txBox="1"/>
          <p:nvPr/>
        </p:nvSpPr>
        <p:spPr>
          <a:xfrm>
            <a:off x="7949154" y="4461207"/>
            <a:ext cx="3964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They write down the ground state wavefunction for N-Cooper pairs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F653F8-A158-41DE-9D4F-005A07F1C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557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55D48-E35C-4E47-8729-2725671F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Ginzburg-Landau theory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A421B9-71D6-4626-9495-FF14B0DAE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329" y="1635826"/>
            <a:ext cx="4048594" cy="23575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A45B0C-4C44-4EF6-8972-ADA760399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36" y="3687938"/>
            <a:ext cx="7166471" cy="9093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C86687-1956-41D9-A023-FCE836689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33" y="4720964"/>
            <a:ext cx="8039400" cy="20735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E810145-E3B5-4F54-9288-7C5657ED061E}"/>
              </a:ext>
            </a:extLst>
          </p:cNvPr>
          <p:cNvSpPr txBox="1"/>
          <p:nvPr/>
        </p:nvSpPr>
        <p:spPr>
          <a:xfrm>
            <a:off x="616017" y="2422155"/>
            <a:ext cx="1855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Order parameter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29341C4-7A14-465C-897D-0EC609C7B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864" y="2285393"/>
            <a:ext cx="2143424" cy="43821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5D8BEC5-55D3-4889-8D55-C438271CBB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676" y="3038888"/>
            <a:ext cx="2031240" cy="37810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EA668CC-AFF4-4B94-A6A6-6C7E3CF33EC3}"/>
              </a:ext>
            </a:extLst>
          </p:cNvPr>
          <p:cNvSpPr txBox="1"/>
          <p:nvPr/>
        </p:nvSpPr>
        <p:spPr>
          <a:xfrm>
            <a:off x="5096871" y="2358512"/>
            <a:ext cx="3001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(Cooper pairs wavefunction)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16E205-E97E-4694-8A0D-2910F0E0E6EF}"/>
              </a:ext>
            </a:extLst>
          </p:cNvPr>
          <p:cNvSpPr txBox="1"/>
          <p:nvPr/>
        </p:nvSpPr>
        <p:spPr>
          <a:xfrm>
            <a:off x="2587257" y="2970112"/>
            <a:ext cx="5807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Symmetry in electromagnetism (gauge transformation) </a:t>
            </a:r>
          </a:p>
          <a:p>
            <a:r>
              <a:rPr lang="en-MY" dirty="0"/>
              <a:t>the argument is similar to quantum mechanics.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8821D01-BF38-438A-A550-B93B2CF2C970}"/>
              </a:ext>
            </a:extLst>
          </p:cNvPr>
          <p:cNvCxnSpPr>
            <a:cxnSpLocks/>
          </p:cNvCxnSpPr>
          <p:nvPr/>
        </p:nvCxnSpPr>
        <p:spPr>
          <a:xfrm flipV="1">
            <a:off x="11405938" y="3666556"/>
            <a:ext cx="0" cy="895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8E76D44-F9E3-499C-B394-13F03862A735}"/>
              </a:ext>
            </a:extLst>
          </p:cNvPr>
          <p:cNvSpPr txBox="1"/>
          <p:nvPr/>
        </p:nvSpPr>
        <p:spPr>
          <a:xfrm>
            <a:off x="10289408" y="4597304"/>
            <a:ext cx="2233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Derived the </a:t>
            </a:r>
            <a:r>
              <a:rPr lang="el-GR" dirty="0"/>
              <a:t>α</a:t>
            </a:r>
            <a:r>
              <a:rPr lang="en-MY" dirty="0"/>
              <a:t>, </a:t>
            </a:r>
            <a:r>
              <a:rPr lang="el-GR" dirty="0"/>
              <a:t>β</a:t>
            </a:r>
            <a:r>
              <a:rPr lang="en-MY" dirty="0"/>
              <a:t> from Hamiltonian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B7C531-A2B7-4EB2-A1C4-ED41B6C3B224}"/>
              </a:ext>
            </a:extLst>
          </p:cNvPr>
          <p:cNvSpPr txBox="1"/>
          <p:nvPr/>
        </p:nvSpPr>
        <p:spPr>
          <a:xfrm>
            <a:off x="7856952" y="6272784"/>
            <a:ext cx="375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One of the very successful theory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C5C6E5-F9A4-4D3E-8A36-FB7515CAA9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54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CF1D-A3AA-4DB9-A28F-33579D47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Abrikosov</a:t>
            </a:r>
            <a:r>
              <a:rPr lang="en-MY" dirty="0"/>
              <a:t> lattice</a:t>
            </a:r>
          </a:p>
        </p:txBody>
      </p:sp>
      <p:pic>
        <p:nvPicPr>
          <p:cNvPr id="3074" name="Picture 2" descr="Alexei Abrikosov, Nobel Laureate in Physics, Dies at 88 - The New York ...">
            <a:extLst>
              <a:ext uri="{FF2B5EF4-FFF2-40B4-BE49-F238E27FC236}">
                <a16:creationId xmlns:a16="http://schemas.microsoft.com/office/drawing/2014/main" id="{D415CBF3-FD4D-4D40-B887-55DE4D6D0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092" y="1526205"/>
            <a:ext cx="4164531" cy="2342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967B92-2428-4FC9-9BBB-C942FA9F5C41}"/>
              </a:ext>
            </a:extLst>
          </p:cNvPr>
          <p:cNvSpPr txBox="1"/>
          <p:nvPr/>
        </p:nvSpPr>
        <p:spPr>
          <a:xfrm>
            <a:off x="9914021" y="3952411"/>
            <a:ext cx="1860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Nobel prize 2003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C88202-6026-489E-B471-0CBE19FFB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79" y="2406012"/>
            <a:ext cx="7166471" cy="909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9088EC-53E0-41C2-90A8-A633EDD60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80" y="3911954"/>
            <a:ext cx="5012708" cy="1370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E5D2CF-63D7-4812-B653-EDD08D953286}"/>
              </a:ext>
            </a:extLst>
          </p:cNvPr>
          <p:cNvSpPr txBox="1"/>
          <p:nvPr/>
        </p:nvSpPr>
        <p:spPr>
          <a:xfrm>
            <a:off x="308008" y="3412156"/>
            <a:ext cx="2978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Minimizing the free-energy:</a:t>
            </a:r>
          </a:p>
        </p:txBody>
      </p:sp>
      <p:pic>
        <p:nvPicPr>
          <p:cNvPr id="3078" name="Picture 6" descr="7-STM image of Abrikosov vortex lattice in NbSe 2 [84]. | Download  Scientific Diagram">
            <a:extLst>
              <a:ext uri="{FF2B5EF4-FFF2-40B4-BE49-F238E27FC236}">
                <a16:creationId xmlns:a16="http://schemas.microsoft.com/office/drawing/2014/main" id="{158EB7B7-68B7-4FC3-9874-B3D3E7C36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523" y="3542623"/>
            <a:ext cx="2978572" cy="3313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957C8D3-E830-4769-BCFC-A5F8F814B4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72470" y="5972475"/>
            <a:ext cx="1071613" cy="46883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420526-8D25-4FD2-9D98-EC45B277CEB9}"/>
              </a:ext>
            </a:extLst>
          </p:cNvPr>
          <p:cNvCxnSpPr/>
          <p:nvPr/>
        </p:nvCxnSpPr>
        <p:spPr>
          <a:xfrm flipH="1" flipV="1">
            <a:off x="8968752" y="5746282"/>
            <a:ext cx="797878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F2B90C-C61D-4BDA-AE0E-FA995943F50A}"/>
              </a:ext>
            </a:extLst>
          </p:cNvPr>
          <p:cNvCxnSpPr>
            <a:cxnSpLocks/>
          </p:cNvCxnSpPr>
          <p:nvPr/>
        </p:nvCxnSpPr>
        <p:spPr>
          <a:xfrm flipH="1" flipV="1">
            <a:off x="8893743" y="6112042"/>
            <a:ext cx="872887" cy="86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82A4AD-8C8A-449C-A3AE-4690D1F80FE0}"/>
              </a:ext>
            </a:extLst>
          </p:cNvPr>
          <p:cNvSpPr txBox="1"/>
          <p:nvPr/>
        </p:nvSpPr>
        <p:spPr>
          <a:xfrm>
            <a:off x="9232504" y="6377959"/>
            <a:ext cx="302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Magnetic field can penetrate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C0B255-6673-4E2F-9A93-7500C0584E8C}"/>
              </a:ext>
            </a:extLst>
          </p:cNvPr>
          <p:cNvSpPr txBox="1"/>
          <p:nvPr/>
        </p:nvSpPr>
        <p:spPr>
          <a:xfrm>
            <a:off x="467707" y="5786023"/>
            <a:ext cx="5623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Non-uniform stable solution in type-II superconductor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6F78A67-D5C8-450B-9396-41BFF7965E79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8968752" y="5972475"/>
            <a:ext cx="803718" cy="234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FFBAB0A-F268-40FC-9EFB-EB73A6FDA1BD}"/>
              </a:ext>
            </a:extLst>
          </p:cNvPr>
          <p:cNvSpPr txBox="1"/>
          <p:nvPr/>
        </p:nvSpPr>
        <p:spPr>
          <a:xfrm>
            <a:off x="10465228" y="1115045"/>
            <a:ext cx="140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 err="1"/>
              <a:t>Abrikosov</a:t>
            </a:r>
            <a:endParaRPr lang="en-MY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E112470-8643-4303-89C3-6045DEEC97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264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7AA51-7E85-47B5-9A8E-2D90FFE59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ISIng</a:t>
            </a:r>
            <a:r>
              <a:rPr lang="en-MY" dirty="0"/>
              <a:t> Model in 1D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72A8B79-F0D9-44C5-A37E-0BA535589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92" y="1946695"/>
            <a:ext cx="3212963" cy="76762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C033401-F5BD-49C4-9F4E-0ABFEDE88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93" y="2810576"/>
            <a:ext cx="4211824" cy="77802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B9902A4-F5DE-47B0-AFDC-7234407A6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181" y="1823433"/>
            <a:ext cx="4410691" cy="2210108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C35FF22D-8B77-4FD4-883A-844E3400A177}"/>
              </a:ext>
            </a:extLst>
          </p:cNvPr>
          <p:cNvGrpSpPr/>
          <p:nvPr/>
        </p:nvGrpSpPr>
        <p:grpSpPr>
          <a:xfrm>
            <a:off x="816987" y="3937222"/>
            <a:ext cx="6147335" cy="754251"/>
            <a:chOff x="1697254" y="4018918"/>
            <a:chExt cx="6147335" cy="754251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1749553-86D8-4E01-B3D6-A4BC79CCF6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046"/>
            <a:stretch/>
          </p:blipFill>
          <p:spPr>
            <a:xfrm>
              <a:off x="2319689" y="4018918"/>
              <a:ext cx="5524900" cy="754251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B96720A4-9067-4096-A691-DEB485E07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97254" y="4033541"/>
              <a:ext cx="846919" cy="521181"/>
            </a:xfrm>
            <a:prstGeom prst="rect">
              <a:avLst/>
            </a:prstGeom>
          </p:spPr>
        </p:pic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9BFAB945-C418-45A0-84C1-AF33D1069C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906" y="4826124"/>
            <a:ext cx="5028108" cy="66597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FBE03DE-4CDC-452E-9FC1-8E5C435FA1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8120" y="5626750"/>
            <a:ext cx="3362794" cy="100026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92CF257-620B-4F67-A533-1B2318839F08}"/>
              </a:ext>
            </a:extLst>
          </p:cNvPr>
          <p:cNvSpPr txBox="1"/>
          <p:nvPr/>
        </p:nvSpPr>
        <p:spPr>
          <a:xfrm>
            <a:off x="1588168" y="5945357"/>
            <a:ext cx="177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Transfer matrix: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616F85F-B744-4598-BF59-99C801FCFE7F}"/>
              </a:ext>
            </a:extLst>
          </p:cNvPr>
          <p:cNvGrpSpPr/>
          <p:nvPr/>
        </p:nvGrpSpPr>
        <p:grpSpPr>
          <a:xfrm>
            <a:off x="6964322" y="5710047"/>
            <a:ext cx="5024602" cy="686027"/>
            <a:chOff x="6964322" y="5710047"/>
            <a:chExt cx="5024602" cy="686027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27120D7-BEFC-4DB4-998F-2FB5B95E17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5803"/>
            <a:stretch/>
          </p:blipFill>
          <p:spPr>
            <a:xfrm>
              <a:off x="7634205" y="5751604"/>
              <a:ext cx="4354719" cy="64447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14D9E2E8-C4C9-46BA-AF8C-2832FA63C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64322" y="5710047"/>
              <a:ext cx="846919" cy="52118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262CF1C1-A793-4001-BDAB-7077A7E567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918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7AA51-7E85-47B5-9A8E-2D90FFE59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ISIng</a:t>
            </a:r>
            <a:r>
              <a:rPr lang="en-MY" dirty="0"/>
              <a:t> Model in 1D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72A8B79-F0D9-44C5-A37E-0BA535589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92" y="1946695"/>
            <a:ext cx="3212963" cy="7676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B9902A4-F5DE-47B0-AFDC-7234407A6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181" y="1823433"/>
            <a:ext cx="4410691" cy="221010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FBE03DE-4CDC-452E-9FC1-8E5C435FA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846" y="2734091"/>
            <a:ext cx="3362794" cy="100026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92CF257-620B-4F67-A533-1B2318839F08}"/>
              </a:ext>
            </a:extLst>
          </p:cNvPr>
          <p:cNvSpPr txBox="1"/>
          <p:nvPr/>
        </p:nvSpPr>
        <p:spPr>
          <a:xfrm>
            <a:off x="721894" y="3052698"/>
            <a:ext cx="177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Transfer matrix: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616F85F-B744-4598-BF59-99C801FCFE7F}"/>
              </a:ext>
            </a:extLst>
          </p:cNvPr>
          <p:cNvGrpSpPr/>
          <p:nvPr/>
        </p:nvGrpSpPr>
        <p:grpSpPr>
          <a:xfrm>
            <a:off x="859562" y="4033541"/>
            <a:ext cx="5024602" cy="686027"/>
            <a:chOff x="6964322" y="5710047"/>
            <a:chExt cx="5024602" cy="686027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27120D7-BEFC-4DB4-998F-2FB5B95E17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803"/>
            <a:stretch/>
          </p:blipFill>
          <p:spPr>
            <a:xfrm>
              <a:off x="7634205" y="5751604"/>
              <a:ext cx="4354719" cy="64447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14D9E2E8-C4C9-46BA-AF8C-2832FA63C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64322" y="5710047"/>
              <a:ext cx="846919" cy="52118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D842295-7BA8-4063-81C0-8B048BE834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9445" y="4848872"/>
            <a:ext cx="4048690" cy="1047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91709B-8118-4E60-B2F1-C3E2AD9613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894" y="5832336"/>
            <a:ext cx="5747460" cy="90353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2AE7270-6ECF-4FD5-B811-FF94CB1B3F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467" y="5330840"/>
            <a:ext cx="3849640" cy="5276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8AFBD2-AF46-4BB8-BA8C-892FA1AB57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7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7AA51-7E85-47B5-9A8E-2D90FFE59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ISIng</a:t>
            </a:r>
            <a:r>
              <a:rPr lang="en-MY" dirty="0"/>
              <a:t> Model in 1D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72A8B79-F0D9-44C5-A37E-0BA535589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92" y="1946695"/>
            <a:ext cx="3212963" cy="7676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B9902A4-F5DE-47B0-AFDC-7234407A6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181" y="1823433"/>
            <a:ext cx="4410691" cy="221010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FBE03DE-4CDC-452E-9FC1-8E5C435FA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846" y="2734091"/>
            <a:ext cx="3362794" cy="100026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92CF257-620B-4F67-A533-1B2318839F08}"/>
              </a:ext>
            </a:extLst>
          </p:cNvPr>
          <p:cNvSpPr txBox="1"/>
          <p:nvPr/>
        </p:nvSpPr>
        <p:spPr>
          <a:xfrm>
            <a:off x="721894" y="3052698"/>
            <a:ext cx="177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Transfer matrix: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1709B-8118-4E60-B2F1-C3E2AD961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51" y="3605892"/>
            <a:ext cx="5747460" cy="903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AB7AFE-DF3E-4ECA-BAB5-4C9ABCDCAC0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5125"/>
          <a:stretch/>
        </p:blipFill>
        <p:spPr>
          <a:xfrm>
            <a:off x="1406720" y="5409532"/>
            <a:ext cx="5753045" cy="40493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1AA4C76-62D6-4CF6-B7A9-9DDE76068CE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1" r="81442" b="4815"/>
          <a:stretch/>
        </p:blipFill>
        <p:spPr>
          <a:xfrm>
            <a:off x="690299" y="5311374"/>
            <a:ext cx="729765" cy="5522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C803CA-1445-407E-9FE3-3122229844E9}"/>
              </a:ext>
            </a:extLst>
          </p:cNvPr>
          <p:cNvSpPr txBox="1"/>
          <p:nvPr/>
        </p:nvSpPr>
        <p:spPr>
          <a:xfrm>
            <a:off x="8287999" y="5470124"/>
            <a:ext cx="44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as 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3F443D7-7648-4F56-A5B9-F74BF4C006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63390" y="5424139"/>
            <a:ext cx="1915178" cy="4237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88B2C7-AE9A-457E-BF0D-B20DDAC12D98}"/>
              </a:ext>
            </a:extLst>
          </p:cNvPr>
          <p:cNvSpPr txBox="1"/>
          <p:nvPr/>
        </p:nvSpPr>
        <p:spPr>
          <a:xfrm>
            <a:off x="9180230" y="5912625"/>
            <a:ext cx="2319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No phase transition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EF3623-5E1C-4267-9F86-B5B8EE46B4E7}"/>
              </a:ext>
            </a:extLst>
          </p:cNvPr>
          <p:cNvGrpSpPr/>
          <p:nvPr/>
        </p:nvGrpSpPr>
        <p:grpSpPr>
          <a:xfrm>
            <a:off x="2229449" y="5912625"/>
            <a:ext cx="4854745" cy="844303"/>
            <a:chOff x="2229449" y="5912625"/>
            <a:chExt cx="4854745" cy="84430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AD51A54-532C-4630-8C49-CD6A8715B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229449" y="5912625"/>
              <a:ext cx="4854745" cy="844303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FF9E776-220A-439A-A52F-FEB6B3DFBABA}"/>
                </a:ext>
              </a:extLst>
            </p:cNvPr>
            <p:cNvSpPr/>
            <p:nvPr/>
          </p:nvSpPr>
          <p:spPr>
            <a:xfrm>
              <a:off x="3882358" y="6039024"/>
              <a:ext cx="163628" cy="2429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8C65E359-A723-41A4-935E-6705F54CF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768591" y="5922998"/>
              <a:ext cx="437650" cy="437650"/>
            </a:xfrm>
            <a:prstGeom prst="rect">
              <a:avLst/>
            </a:prstGeom>
          </p:spPr>
        </p:pic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57C92411-A84D-414D-901B-36905ABD476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6904" y="4748698"/>
            <a:ext cx="4247483" cy="5821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ED509F3-46D8-454E-A0A8-BC6BF462202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49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1EABC408-C4D5-4A91-A460-781A00EF94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63"/>
          <a:stretch/>
        </p:blipFill>
        <p:spPr>
          <a:xfrm>
            <a:off x="6158673" y="4584369"/>
            <a:ext cx="6022646" cy="22101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A7AA51-7E85-47B5-9A8E-2D90FFE59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ISIng</a:t>
            </a:r>
            <a:r>
              <a:rPr lang="en-MY" dirty="0"/>
              <a:t> Model in 1D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72A8B79-F0D9-44C5-A37E-0BA535589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92" y="1946695"/>
            <a:ext cx="3212963" cy="7676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B9902A4-F5DE-47B0-AFDC-7234407A6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181" y="1823433"/>
            <a:ext cx="4410691" cy="22101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88B2C7-AE9A-457E-BF0D-B20DDAC12D98}"/>
              </a:ext>
            </a:extLst>
          </p:cNvPr>
          <p:cNvSpPr txBox="1"/>
          <p:nvPr/>
        </p:nvSpPr>
        <p:spPr>
          <a:xfrm>
            <a:off x="4496814" y="2344992"/>
            <a:ext cx="24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(Zero magnetic field)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2E808FE-12B3-403E-9AAF-1F4D1E356D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451" y="5250704"/>
            <a:ext cx="846919" cy="5211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1C669D3-39BF-4FFB-9755-993853C4A4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6515" y="3754064"/>
            <a:ext cx="1238423" cy="8573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EC32ADD-28DB-4B54-8D7F-B3B93102E03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8371"/>
          <a:stretch/>
        </p:blipFill>
        <p:spPr>
          <a:xfrm>
            <a:off x="1577865" y="2968981"/>
            <a:ext cx="2465883" cy="72194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E7E747C-134A-4E24-9A69-EABBDACDF2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7249" y="2956764"/>
            <a:ext cx="846919" cy="5211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5992481-3BCD-4E75-9FAF-CB567D324C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1124" y="4034627"/>
            <a:ext cx="3362794" cy="100026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59247F5-19D1-43ED-991A-9E8D6082CF63}"/>
              </a:ext>
            </a:extLst>
          </p:cNvPr>
          <p:cNvSpPr txBox="1"/>
          <p:nvPr/>
        </p:nvSpPr>
        <p:spPr>
          <a:xfrm>
            <a:off x="282978" y="4328336"/>
            <a:ext cx="177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Transfer matrix: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94B2EE4-20CF-476C-A1BC-8AD655CD74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32308" y="4455790"/>
            <a:ext cx="299136" cy="404713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08CAE1FE-9845-40E9-8942-45429DB63C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61680" y="4171653"/>
            <a:ext cx="299136" cy="404713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4528BA98-AEBB-4958-98CD-7535C01863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22953" y="4546575"/>
            <a:ext cx="299136" cy="404713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60F09FA5-B101-4003-8D78-B30BCD9E36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10572" y="4150091"/>
            <a:ext cx="291115" cy="404713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7A7E1401-E5BF-4E49-8D8C-3B9BA2776D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38019" y="4576366"/>
            <a:ext cx="299136" cy="404713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8C4C5229-4009-4C49-9D99-8945C56F44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5434" y="5113395"/>
            <a:ext cx="2805221" cy="83998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5933861-E751-4C3C-B28C-39E9181B5BA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5827" y="5954469"/>
            <a:ext cx="5747460" cy="90353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DAEDE978-D1FE-43D3-B6AF-EE4C1AD1246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40239"/>
          <a:stretch/>
        </p:blipFill>
        <p:spPr>
          <a:xfrm>
            <a:off x="4118515" y="2836036"/>
            <a:ext cx="2134772" cy="89728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A8CC457F-5369-4D4E-B462-7C11D801C26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8350225" y="3849667"/>
            <a:ext cx="1804254" cy="77075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BD1DE9E-0EAF-4B8F-B101-22F2DDE2BFDE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r="64402" b="-7436"/>
          <a:stretch/>
        </p:blipFill>
        <p:spPr>
          <a:xfrm>
            <a:off x="5990742" y="3994765"/>
            <a:ext cx="1198611" cy="443745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81C9AA53-C8F6-4DD9-8D6B-274AC6F58A0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79297" y="6145387"/>
            <a:ext cx="2552574" cy="52169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307BE9F-94B8-420F-947D-8290940C15E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253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1EABC408-C4D5-4A91-A460-781A00EF94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63"/>
          <a:stretch/>
        </p:blipFill>
        <p:spPr>
          <a:xfrm>
            <a:off x="6158673" y="4584369"/>
            <a:ext cx="6022646" cy="22101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A7AA51-7E85-47B5-9A8E-2D90FFE59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ISIng</a:t>
            </a:r>
            <a:r>
              <a:rPr lang="en-MY" dirty="0"/>
              <a:t> Model in 1D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72A8B79-F0D9-44C5-A37E-0BA535589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92" y="1946695"/>
            <a:ext cx="3212963" cy="7676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B9902A4-F5DE-47B0-AFDC-7234407A6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181" y="1823433"/>
            <a:ext cx="4410691" cy="22101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88B2C7-AE9A-457E-BF0D-B20DDAC12D98}"/>
              </a:ext>
            </a:extLst>
          </p:cNvPr>
          <p:cNvSpPr txBox="1"/>
          <p:nvPr/>
        </p:nvSpPr>
        <p:spPr>
          <a:xfrm>
            <a:off x="4496814" y="2344992"/>
            <a:ext cx="24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(Zero magnetic field)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C669D3-39BF-4FFB-9755-993853C4A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6515" y="3754064"/>
            <a:ext cx="1238423" cy="85737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A8CC457F-5369-4D4E-B462-7C11D801C2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5414" y="3883432"/>
            <a:ext cx="2075579" cy="73544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BD1DE9E-0EAF-4B8F-B101-22F2DDE2BFD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64402" b="-7436"/>
          <a:stretch/>
        </p:blipFill>
        <p:spPr>
          <a:xfrm>
            <a:off x="5990742" y="3994765"/>
            <a:ext cx="1198611" cy="443745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81C9AA53-C8F6-4DD9-8D6B-274AC6F58A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79297" y="6145387"/>
            <a:ext cx="2552574" cy="5216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5BDB15-302C-4BE5-A28C-AC904C486EE3}"/>
              </a:ext>
            </a:extLst>
          </p:cNvPr>
          <p:cNvSpPr txBox="1"/>
          <p:nvPr/>
        </p:nvSpPr>
        <p:spPr>
          <a:xfrm>
            <a:off x="1635352" y="5349859"/>
            <a:ext cx="3393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Cluster size / correlation length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B4AEAF-DA36-45CA-B5F2-B839A829BD32}"/>
              </a:ext>
            </a:extLst>
          </p:cNvPr>
          <p:cNvSpPr txBox="1"/>
          <p:nvPr/>
        </p:nvSpPr>
        <p:spPr>
          <a:xfrm>
            <a:off x="572630" y="6253064"/>
            <a:ext cx="6017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It only diverges at zero temperature. =&gt; no phase transition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12F6815-9E89-40B6-8B8D-8A212AAF63C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01571" y="4513820"/>
            <a:ext cx="1861503" cy="78287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A10017A-468B-4629-9F85-71558D6E356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96567" y="3672498"/>
            <a:ext cx="3762482" cy="6669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BE3E81-1300-4A0C-9135-BD1E22F6C6E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2A1BEC6-15F6-4D3E-BABA-0D8B3EC4EF8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153436" y="5814384"/>
            <a:ext cx="1112838" cy="47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15828"/>
      </p:ext>
    </p:extLst>
  </p:cSld>
  <p:clrMapOvr>
    <a:masterClrMapping/>
  </p:clrMapOvr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BF0939D-D0A7-4800-BC3C-BA8D9CE2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A4358E7-A9FC-464B-8226-89E1ACDC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2A69714-B4CB-494E-8355-146E6E59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L06-01｜忠实翻译与术语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9218AE1-D6CF-4853-8AEE-28D238FE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【忠实翻译】统计物理 PHY301：相互作用与相变。授课教师：Kok Wee Song。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interaction｜相互作用：粒子之间使能量不再简单相加的耦合。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phase transition｜相变：宏观状态随控制参数发生非解析或突变式改变。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5E91D0C-9773-4660-BFAF-F372FEEE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8614320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2FB42DB-6A69-4D6B-83BD-79B70602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57BAE1B-EC30-481A-B11B-F27D0A38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37A61AC-7F45-4F8E-9B7C-0EE5FB9E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L06-01｜入门讲解与易错点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FC7F5A6-D8E1-4B25-A3FB-46685073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【从零讲懂】这一讲把“无相互作用粒子”推进到真实物质：先用平均场把复杂的两体作用压缩成有效场，再用范德瓦耳斯气体、Ising 模型和 Landau 理论解释相变，最后以超导和一维 Ising 模型检验方法的适用边界。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复习配分函数、自由能 F=-kBT ln Z、热力学极限。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不要把“相变”只理解为固液气变化；磁性、超导也属于相变。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EFD7DE2-2B5B-48AD-AC8F-BEB2A540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5674580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BEF9989-B075-4C10-967E-A58426BB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38D9757-914E-4625-85A7-F28B513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94DE45B-85C4-4C67-8B81-27A8F373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L06-02｜忠实翻译与术语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04D4BE8-86E5-4B7C-AA61-A546543E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【忠实翻译】超越理想气体：正则配分函数同时包含动能和成对势能。示例势在 r&lt;r₀ 时为无限排斥，在 r&gt;r₀ 时为 -u₀(r₀/r)⁶ 的吸引。平均场假设密度均匀，用每个粒子看到的平均吸引势 U(qⱼ)≈-ū 取代精确的多体环境，于是总相互作用近似为 -N²ū/(2V)。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mean-field approximation｜平均场近似：以平均环境替代每个粒子周围的真实涨落。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hard core｜硬核排斥：粒子距离小于 r₀ 时势能趋于无穷。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pair potential｜两体势：只依赖一对粒子相对位置的相互作用。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1525C32-7607-4301-99A2-070C328F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387592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C2227C1-B1E7-471B-8A2E-08D586C4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6ABD3F9-FEDD-4378-B82E-1A9F1A93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53A3A08-2E00-44D2-A61E-884F1C06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L06-02｜入门讲解与易错点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DB7324E-A4DD-4DF6-81A0-523C2CCD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【从零讲懂】两体求和有约 N²/2 对，因而平均吸引能随 N²/V 缩放。1/2 防止把 i-j 与 j-i 计算两次。平均场牺牲局域涨落与相关性，换来可解的宏观模型；它在高维、长程作用或远离临界点时较可靠。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第1–5讲：经典正则配分函数与热波长 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ū 在本页按“吸引强度的正量”使用，因此总势能前有负号。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平均场不是恒等式；临界点附近可能失效。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D94AED2-9EBD-49F3-9A75-D04837A0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2001937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11E89D0-467C-449F-9F41-266D9043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F2ED079-2974-4EAC-BB13-DAA42CFD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8001153-4A38-4044-8FC0-A86EE840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L06-02｜公式与符号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AF18EDA-09EB-45EF-9DA6-29A6AD3D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Z(T,N,V)=∫[∏ᵢ₌₁ᴺ d³pᵢd³qᵢ/(N!h³ᴺ)] exp[-β∑ᵢ pᵢ²/(2m)-β∑ᵢ&lt;ⱼ 𝒱(qᵢ-qⱼ)]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𝒱(r)={+∞, r&lt;r₀; -u₀(r₀/r)⁶, r&gt;r₀}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∑ᵢ&lt;ⱼ𝒱(qᵢ-qⱼ)=½∑ⱼ∑ᵢ≠ⱼ𝒱(qᵢ-qⱼ)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n(r)=N/V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U(qⱼ)=∫d³r n(r)𝒱(r-qⱼ)≈-ū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6. ∑ᵢ&lt;ⱼ𝒱(qᵢ-qⱼ)≈-N²ū/(2V)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9C770D2-744E-4D16-8C8E-F50343DF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5808992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1D159B2-8DF7-4915-98AB-A16F1E38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3CCAC84-E668-4E16-AFEB-751D3723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DEAA19D-9BFD-4334-B837-B5D02C55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L06-03｜忠实翻译与术语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DFE934E-A880-442C-807F-A6AE667F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【忠实翻译】在硬核排斥下，可用逐个减少的可用体积 V(V-Ω)…[V-(N-1)Ω] 表示排除体积效应，并近似成 (V-NΩ/2)ᴺ。结合平均吸引能 Ū=-N²ū/V，得到 Z≈(V-NΩ/2)ᴺ/(N!λ³ᴺ)·exp[βūN²/(2V)]。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excluded volume｜排除体积：因硬核排斥而不能被其他粒子中心占据的空间。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thermal wavelength λ｜热德布罗意波长：动量积分带来的量子尺度；这里用于经典配分函数归一化。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A283F6B-EFEF-4B44-9B9E-737F079F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2443794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A07DB9A-1DBD-4F65-B2ED-39602086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7D80BFC-079F-48D9-BD79-7533B504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3034004-11ED-4F02-9B07-C961DB6A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L06-03｜入门讲解与易错点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FB06CDD-4DCA-4919-AF70-AB8BE402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【从零讲懂】Ω 表示一个粒子排除给另一个粒子的体积尺度；平均每个粒子分摊 Ω/2，所以可用体积写成 V-NΩ/2。吸引能为负，放入 exp(-βU) 后指数变为正。该近似把“短程排斥”和“较长程吸引”分别装进有效体积与能量修正。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第6讲第2页：平均场相互作用。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Stirling 近似与理想气体配分函数。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不要把 Ω 与容器总体积 V 混淆。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Ū 的定义在原页写法与前一页的总能量近似有因子约定差异，应按最终 Z 式追踪 1/2。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06CD2CD-F9CC-45F8-B07C-39762FF3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4487484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F3A2FAF-8B30-41F9-A53E-3442A69B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0F869C6-0048-48E9-AB2B-A6448A64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4642DE9-B383-4E54-A3F7-19F497D1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L06-03｜公式与符号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9DF8873-C109-44A6-8092-C740C6A2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Z≈[1/(N!λ³ᴺ)]V(V-Ω)…[V-(N-1)Ω]exp(-βŪ)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V(V-Ω)…[V-(N-1)Ω]≈(V-NΩ/2)ᴺ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Ū=-N²ū/V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Z(T,N,V)≈[(V-NΩ/2)ᴺ/(N!λ³ᴺ)]exp[βūN²/(2V)]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33FD4A7-306D-4B3B-A0F8-B26AEBC2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6691596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9765941-8D6D-46D7-B472-EDC56CC9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E24DD30-1E8B-4458-A484-89DC829C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F90DA03-863E-4FB2-8768-FFB58F52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L06-04｜忠实翻译与术语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3B69549-F51F-4997-B12A-6F8A13CC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【忠实翻译】由近似配分函数取 F=-kBT ln Z，再以 P=-(∂F/∂V)T,N 求压强，得到 P=NkBT/(V-NΩ/2)-ūN²/(2V²)。等价地，[P+ūN²/(2V²)](V-NΩ/2)=NkBT，即范德瓦耳斯状态方程。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Van der Waals equation｜范德瓦耳斯方程：在理想气体中加入排除体积和吸引修正的状态方程。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canonical pressure｜正则压强：由自由能对体积的负偏导得到。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23BA037-B5B0-4683-AE7B-F122832A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1267765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DAD3F49-AD6C-43C8-B952-FC4D7838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44CCF12-4EF8-4C54-A13C-2D08A4F7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CC0750A-0F93-473C-96D1-80911EEE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L06-04｜入门讲解与易错点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868E7B6-FB3F-421E-8E2C-1EEC66C5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【从零讲懂】第一项是“可用体积变小”造成的压强升高；第二项是吸引作用把粒子向内拉，降低壁面压强。把 a=ū/2、b=Ω/2，就得到常见形式 (P+aN²/V²)(V-Nb)=NkBT。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第6讲第3页：近似配分函数。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热力学恒等式 P=-(∂F/∂V)T,N。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吸引修正使实际压强降低，因此 P 表达式中的第二项为负。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求偏导时必须保持 T、N 不变。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69AC5AA-5D2A-4CE4-A978-7B390F7B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1212488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B355966-A635-4348-8A6D-7B96B192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B97C8BD-1955-4902-8ED8-5404DEA2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0723B55-1CDD-406A-8409-30A2515D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L06-04｜公式与符号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2E34F92-52C5-42D6-97F6-C12867E5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F=-kBT ln Z=-NkBT ln(V-NΩ/2)+NkBT ln(N/e)+3NkBT lnλ-ūN²/(2V)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Pcan=-(∂F/∂V)T,N=NkBT/(V-NΩ/2)-ūN²/(2V²)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[P+ūN²/(2V²)](V-NΩ/2)=NkBT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90EE082-FBB8-4291-B320-B819B281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9769938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4D93B24-1840-4F8C-8BA1-3AAF8371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38DE5D6-6E61-4BCE-8180-D6343C06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291479A-3E4F-4F30-AAFA-61084F7C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L06-05｜忠实翻译与术语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FA17C89-D79C-4D1D-8029-B52CCADB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【忠实翻译】维里展开把 P/(kBT) 写成密度 n=N/V 的幂级数；本模型低阶修正由排斥体积 Ω 与吸引强度 ū 竞争决定。更系统的集团展开从巨配分函数出发，引入 Mayer 函数 f(q)=exp[-β𝒱(q)]-1，并把构型积分写为 ∏(1+fᵢⱼ)。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virial expansion｜维里展开：按密度幂次展开状态方程。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cluster expansion｜集团展开：把多体配分函数按相互作用连通团组织。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Mayer function｜迈耶函数：f=e^{-βV}-1，用来隔离相互作用修正。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DCC245A-BCCB-4517-97BE-E8F4CF4F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5955872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7D2556C-76F3-45CC-A2EE-1ABC625A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EF9EE1A-1596-472C-BBD8-984DB623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FF41AE3-BD49-4B94-944C-0FFED054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L06-05｜入门讲解与易错点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86DB1E2-7C53-47CA-B32A-B8F42EE3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【从零讲懂】维里系数不是随意拟合：它编码二体、三体等相关。低密度时高阶粒子团同时靠近的概率小，所以截断有效。Mayer f 把“无相互作用的 1”与“相互作用修正 f”分开，图形化展开后每个连通图对应一个集团积分。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巨正则配分函数与逸度 z=e^{βμ}。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第6讲第4页：范德瓦耳斯压强。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课件式中 ū 与 Ω 的量纲约定未展开说明；比较系数时先检查单位。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维里展开只在足够低密度时自然收敛。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D743386-9D60-44D3-A5AE-587EA0DF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2068449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18952F1-A62C-4B77-A548-0BF333B2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EF88979-FEC8-4809-BFF5-009838FB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5430A35-D900-4B79-9386-03CA8F18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L06-05｜公式与符号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6682B82-45A6-4AA4-BDFD-D30ECDEE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P/(kBT)=(N/V)[1/(1-NΩ/V)-(ū/2)(N/V)]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P/(kBT)=(N/V){1+(Ω-ū/2)(N/V)+Ω(N²/V²)+…}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Q(μ,T,V)=∑ᴺ₌₀∞ e^{βμN}Z(N,T,V)=∑ᴺ₌₀∞(1/N!)(e^{βμ}/λ³)ᴺ S_N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S_N=∫∏ᵢ₌₁ᴺd³qᵢ∏ᵢ&lt;ⱼ(1+fᵢⱼ)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f(q)=exp[-β𝒱(q)]-1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767C566-E76D-4B29-BE39-FEBC3E8A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4624877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F653874-8E5F-4930-8858-F0A064E1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A1132EF-8E72-474C-BCF5-1BA33A31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79844C6-2293-4581-B6B0-E8A0E78E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L06-06｜忠实翻译与术语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2B459A1-5328-4595-9081-C86B223D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【忠实翻译】范德瓦耳斯等温线在低温出现不稳定回环。临界点满足 (∂P/∂V)T=0 与 (∂²P/∂V²)T=0。令 a=ū/2、b=Ω/2，可得 Pc=a/(27b²)、Vc=3Nb、Tc=8a/(27b)。回环中压缩气体反而降低压强的区域是不稳定的。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critical point｜临界点：两相共存线终止、响应函数发散的点。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spinodal instability｜旋节不稳定：等温压缩率为负的局域不稳定区域。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52A6DBF-4288-41F7-A309-B4B3CE6C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7657953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DD5BECA-3C9B-4D7D-8187-C0E354B5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1C8E901-9A2D-4F8B-9FB6-3F32FA5D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25623CC-2209-4B01-BCBC-DCC9D2D2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L06-06｜入门讲解与易错点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7EA6417-F9CE-45A3-B7BB-8A67CE12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【从零讲懂】临界点是气液差别刚好消失的端点：等温线在此既水平又无曲率。真实系统不会沿不稳定回环运行，而会在两相共存压强处跳过它；下一页的可压缩率和 Maxwell 构造会说明原因。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第6讲第4页：范德瓦耳斯方程。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一阶、二阶导数与拐点。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临界点条件是两个体积导数同时为零。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课件图中的回环不代表可实验连续路径。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4D798C8-EBE4-42B4-A1C1-E5C0561F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6667353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F479EE2-01E9-41C1-94B1-1B1AE736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471E2D9-1F8F-4D15-BC71-623E2294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102CD43-B28B-4B01-A408-84EFE4EC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L06-06｜公式与符号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C5156F7-CD46-4BB9-85F9-C67311E9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P=NkBT/(V-NΩ/2)-ūN²/(2V²)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(∂P/∂V)T=0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(∂²P/∂V²)T=0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Pc=a/(27b²), Vc=3Nb, Tc=8a/(27b)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a=ū/2, b=Ω/2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6BC1007-6951-4283-BAB1-384B275B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2604208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B84CBE4-F2C8-4372-9E5F-6F541E93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9E76261-7E1E-42C8-8E17-033441CC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AD3374E-031D-41E4-AEDE-D5B9080A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L06-07｜忠实翻译与术语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D68FF41-DB97-4A5E-BAFF-B619A6A9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【忠实翻译】等温可压缩率 κT=-(1/V)(∂V/∂P)T 在临界点发散。巨正则系综中，粒子数涨落与压强/化学势响应相连；当 κT→∞ 时，密度涨落也变得宏观可见。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isothermal compressibility｜等温可压缩率：恒温下体积对压强变化的相对响应。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fluctuation-response relation｜涨落—响应关系：平衡涨落强度等于相应线性响应的热尺度。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612B3CE-89DD-4BF8-AD64-74031583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9036762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3E0BA0E-7292-4778-A5C7-ABDB54C4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CAFF690-E67F-4E5C-9E77-9B654E2C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B08A6B2-788E-4936-9264-76A68BBC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L06-07｜入门讲解与易错点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1019240-0AAF-4E76-832E-8FD988C7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【从零讲懂】κT 衡量“轻微改压强能压缩多少”。临界点等温线变平，∂P/∂V→0，因此逆导数 ∂V/∂P 发散。涨落—响应关系告诉你：巨大响应不是纯数学异常，而是系统内部存在大尺度密度团簇。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第6讲第6页：临界等温线。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巨正则系综中的粒子数涨落。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κT 发散并不等于体积本身无限，而是导数/响应无限大。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80CB0B7-BAD6-4A24-B8EC-66C27ED2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8052603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1965308-F4CE-4F96-8595-59C46B51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10F69C5-74D5-42DF-8737-E05F75CA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70774C9-570B-4F6B-A0A9-C462D779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L06-07｜公式与符号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8F9E8E3-920C-4A0E-83D3-E2CDCC3B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κT=-(1/V)(∂V/∂P)T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⟨N²⟩-⟨N⟩²=kBT(∂⟨N⟩/∂μ)T,V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kBT ln Q=PV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B4622EE-0FCF-4CBF-BD6F-0F27C6BF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5293383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AB98349-E96F-45F0-8031-5BB8D343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593FF0B-22E6-456B-ABB1-36F08718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F1401D2-AE83-4941-B8AF-8F00EFAC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L06-08｜忠实翻译与术语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E112CDC-94B1-420E-8040-8AE1E989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【忠实翻译】范德瓦耳斯不稳定回环应由恒压的气液共存线替代。固定温度下 dμ=(V/N)dP；共存要求 μg(T,Pc)=μl(T,Pc)，等价于 P-V 图上 Maxwell 等面积条件 ∮V(T,P′)dP′=0。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Maxwell construction｜麦克斯韦等面积构造：用恒压线替代非物理回环并保证两相化学势相等。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coexistence｜两相共存：同一 T、P、μ 下两相同时稳定。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74E0F81-A498-4FDC-9F4C-4E0271C2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8598450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0740EF2-78F4-4C6B-ACF7-3C55F534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440F147-2257-4DD7-BF7D-7164F687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0F9A9D6-8C53-467C-8499-57E3C9B5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L06-08｜入门讲解与易错点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926DF6C-C6F2-4081-BF45-DA7E8BC3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【从零讲懂】平衡时两相可交换粒子，因此化学势必须相等；否则粒子会净流向较低 μ 的相。等面积并非几何技巧，而是化学势相等的积分形式。温度下降时，共存气体与液体的比体积差增大。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化学势与 Gibbs 自由能。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第6讲第6–7页：不稳定性和可压缩率。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等面积是按图中所用变量积分；本页写作 ∮V dP，与常见 P-V 图的 ∫(P-Pc)dV=0 可互相转换。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3BD3274-423D-48F6-B8B0-32D70C43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372031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7D31A40-E684-4CC7-A934-C63D8C32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2E3646D-B86E-450F-B461-51ABF57C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6277622-BDDF-478F-B855-44CB64EB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L06-08｜公式与符号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4D5458B-8AC4-4E82-93B1-6D923332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dμ=(V/N)dP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μg(T,Pc)=μl(T,Pc)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∮dP′ V(T,P′)=0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6B69199-779A-4532-A172-2474122F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490747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2BEA35E-2D27-4F50-90C8-C84E1566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7D468A4-C815-42B8-980E-227D9A25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82823B1-8C9E-4A07-A7D1-EE8FCD1C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L06-09｜忠实翻译与术语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1464E17-EF5E-4C1C-9847-526900D9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【忠实翻译】沿气液共存线，两相化学势相等。利用 ∂G/∂P=V、∂G/∂T=-S 和 G=Nμ，可得 dP/dT=(L/T)/(Vg/Ng−Vl/Nl)，其中 L=T(Sg/Ng−Sl/Nl) 是每粒子的潜热。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latent heat｜潜热：相变时在温度不变情况下吸收或放出的热。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Clausius–Clapeyron relation｜克劳修斯—克拉珀龙关系：共存线斜率与熵差、体积差的关系。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94846A4-4372-44BE-86A1-268B65BD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9089626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C08893A-9F33-4318-BCB2-CB5D88F1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AC378A5-5798-4667-9E42-F96BDC50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5A84C38-2F56-4A0E-B86E-FECA41A6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L06-09｜入门讲解与易错点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D0E277B-8CD5-4F9B-A990-EC77DA9F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【从零讲懂】这条式把相图共存线斜率与微观上“相变吸收多少热”和两相体积差联系起来。汽化时 L&gt;0 且气相比体积更大，故通常 dP/dT&gt;0。若分母很小，斜率会很陡。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Gibbs 自由能微分 dG=-S dT+V dP+μ dN。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第6讲第8页：两相化学势相等。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L 在本页是每粒子潜热；使用摩尔量时分母也必须换成摩尔体积。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BBC7C1E-723A-4D10-A551-8B647990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3497834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93D520E-3088-4D03-991F-B9B10CC1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D9E194E-5D97-4687-86C9-B8AAD4B0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FD3B64E-B25E-4EC9-9A7F-193F7756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L06-09｜公式与符号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D923574-972C-48E3-B7BF-964B98F4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dP/dT=[(∂μl/∂T)P-(∂μg/∂T)P]/[(∂μg/∂P)T-(∂μl/∂P)T]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G=Nμ, (∂G/∂P)T=V, (∂G/∂T)P=-S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L=T(Sg/Ng-Sl/Nl)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dP/dT=(L/T)/(Vg/Ng-Vl/Nl)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1739CFD-2DD6-4EB5-A474-1B09D10B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09004569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BF8EDB4-974E-4450-B602-5F167EEE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4F07A80-C8F9-47CB-9CD2-141ACBAE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60B39BE-82D6-415E-B76B-F0332338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L06-10｜忠实翻译与术语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EDEDD6A-5397-4E33-8E78-A2750D76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【忠实翻译】Ising 模型把每个格点的自旋写成 σi=±1，哈密顿量含近邻交换作用 -J∑⟨ij⟩σiσj 和外磁场项 -μB∑jσj。写 σi=m+δσi 并忽略二阶涨落 δσiδσj，得到单自旋处在有效平均场中的可解模型。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Ising model｜伊辛模型：每个格点只有 ±1 两种自旋的最简磁模型。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order parameter m｜序参量 m：平均自旋/归一化磁化强度。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coordination number｜配位数：每个格点的近邻数。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951A50D-9C6D-43E2-8879-BAB6F9B5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9062608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3F423A8-E2D1-4D1F-B64F-EFE9139B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CE820AB-5A47-4A07-AF89-4D590086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0808595-A7E9-440D-A8EF-A302ECDE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L06-10｜入门讲解与易错点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93666AB-85A6-4186-B6AD-620394AC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【从零讲懂】J&gt;0 时相邻自旋偏好同向；m=⟨σi⟩ 是待自洽确定的平均磁化。平均场的核心是先猜平均 m，再计算该平均场下的 m，并要求结果等于原猜测。二维正方格每点配位数 z=4，计数会产生 4JNm² 和 8Jm。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离散微观态求和与正则配分函数。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第6讲第2页：平均场思想。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忽略的是涨落乘积，不是令每个 δσi 都为零。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近邻对求和要避免双计数。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E879F48-4736-41BE-995E-C428535A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1622231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9388B88-2BA2-48E3-B3AF-43AC4BD1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2CBC8FE-E477-4603-A0B2-7A0E43FB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1715C6C-0D1D-419D-994E-C1BABEE9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L06-10｜公式与符号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C104455-5DEE-4519-A7E3-381377A1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H(σ)=-∑⟨ij⟩Jijσiσj-μ∑jhjσj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Jij=J, hj=B, σi=±1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Z=tr exp[β∑⟨ij⟩Jσiσj+βμB∑jσj]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δσi=σi-⟨σi⟩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δσiδσj≈0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25F1596-3D8C-43F6-A5C3-676C881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418580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CE64A54-1E4B-479D-AAC5-640524F7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02F9D82-BE6D-445A-AD1A-7B67EA30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ABEB245-1B11-4585-8072-E296AA98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L06-11｜忠实翻译与术语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873EE42-175B-4B72-9C2A-823B0E00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【忠实翻译】对配位数 4 的方格，平均场哈密顿量近似为 HMF=4JNm²−∑i(8mJ+μB)σi。配分函数因单点独立而因子化：ZMF=[2e^{-β4Jm²}coshβ(8mJ+μB)]ᴺ。m 必须等于该分布下的平均自旋。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self-consistency｜自洽：假定的平均值必须等于由该假定产生的统计平均。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effective field｜有效场：交换作用产生并与 m 成正比的等效磁场。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0070876-5BBB-4FAA-B58C-68E22E0E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0543643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04598DD-A7F0-4E1B-A643-2E532402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F2E62F2-F54F-4C35-8B0F-04F6A214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13B521C-EE90-46A0-8679-BC320232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L06-11｜入门讲解与易错点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124921E-C45F-42E4-95DE-CC07378D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【从零讲懂】常数项 4JNm² 修正平均场分解中的重复计数；线性项说明每个自旋感受到有效场 8Jm+μB。因子化后，N 体求和变成 N 个二态求和，这是平均场带来的主要计算收益。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第6讲第10页：Ising 平均场分解。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二能级系统配分函数与 cosh。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不能在求 Z 时漏掉常数项 e^{-β4Jm²}，它影响自由能。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D7B20FA-C703-45CE-BAFE-D151DB06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7514900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56509DA-B7AD-4AB0-B0C5-88173EE8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9D95035-EE01-4726-B51D-4D0A2466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FC14F5A-C32B-4830-AC3E-6E66B5C9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L06-11｜公式与符号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3643F48-A89B-46AA-BC78-9C677F46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H≈HMF=4JNm²-∑ᵢ₌₁ᴺ(8mJ+μB)σi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ZMF=[2e^{-β4Jm²}cosh β(8mJ+μB)]ᴺ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m=⟨σi⟩MF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4E98AE0-D348-4832-94DF-370D37E9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1385546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E5C1670-DBE6-40E9-8B07-B0F85021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78840F0-F175-48C3-A8B6-8FA33DED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2F67E68-9619-4AB7-AE95-B762F29A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L06-12｜忠实翻译与术语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592F1F6-FDB0-4B4B-AC96-B816EB73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【忠实翻译】计算单自旋平均值后得到 m=tanh[β(8mJ+μB)]。这不是显式公式，而是 m 同时出现在等号两边的非线性自洽方程；其解代回 ZMF 才构成平均场答案。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fixed point｜不动点：代入映射后保持不变的值。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spontaneous magnetization｜自发磁化：B=0 时仍出现非零 m。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998BD2B-8F4B-4BAE-A59A-59E89357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3509055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356E97D-C99A-45C0-9C5F-265D5ADC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2FC13DA-A90B-42C1-B4A1-2D568D6C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2EDA8E9-6CDC-4BC1-948C-F02B0A53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L06-12｜入门讲解与易错点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ABDB4BC-D3DE-4B64-B492-D7B58BE1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【从零讲懂】把 y=tanh[β(8Jy+μB)] 的右侧曲线与直线 y=m 画在同一图上，交点就是解。高温时斜率小，只有 m=0；低温时可能多出 ±m 两个解，代表自发破缺的两种磁化方向。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第6讲第11页：平均场配分函数。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tanh x 的图像与小 x 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m=tanh(...) 不能简单把两边约掉；通常需图解、数值迭代或近临界展开。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8008F4B-0F30-4748-9861-488C4387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6623988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3ADC7BD-C313-489D-BE17-C90E1A2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8D88DA5-F1FB-430C-8B4B-B06159E8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6982E46-D197-4500-87F3-D952944B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L06-12｜公式与符号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4C9FE10-80A1-43DC-B912-628A8D81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m=[∑σ=±1 σ exp{β(8mJ+μB)σ}]/[∑σ=±1 exp{β(8mJ+μB)σ}]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m=tanh[β(8mJ+μB)]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3C079F8-234F-4A79-9EC7-E018B3BB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5304100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A5C8FAA-5AD2-4D93-8737-6D0C97A1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5520579-5A80-4C46-8538-31961044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DBC3AED-38DA-46AB-9EC9-9D4CB466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L06-13｜忠实翻译与术语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8B78499-C03B-4FBB-9EC4-BB2F7F9C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【忠实翻译】在 B=0 时，自洽方程为 m=tanh(β·8Jm)。图示比较不同 βqJ 下直线与 tanh 曲线的交点：高温只有 m=0，低温出现 ±m。课件同时提醒一维系统中平均场失效，真实一维短程 Ising 模型没有有限温相变。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graphical solution｜图解法：以曲线交点求非线性方程。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mean-field breakdown｜平均场失效：被忽略的涨落改变甚至消除预测相变。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B8B85FC-1D8A-492C-AE05-9EF39D61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7823529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6018F58-BC33-4CC6-B946-9D2DBF1C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229E545-7627-47F3-A71D-FBBA9C0E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98A1277-2477-4AEF-B205-3E8C73B7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L06-13｜入门讲解与易错点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9B1A95F-4C00-409A-B436-54FD53E1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【从零讲懂】临界点由 m=0 附近右侧斜率等于 1 决定，即 βc乘以有效耦合等于 1。平均场会忽略长波涨落，因而往往高估有序倾向；一维是最明显反例。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第6讲第12页：自洽方程。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本页文字标出 kBTc=4J，而相邻页与 m=tanh(8βJm) 给出 kBTc=8J；这是源课件内部不一致，复习时应按老师采用的配位/计数约定确认。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不要据平均场结果断言一维短程 Ising 有有限温相变。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0650233-BBDF-4529-90D5-899C6537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46846448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0BBEBCF-86B0-4F74-A02E-034016E7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79A1843-DFE3-41FB-B7B1-BBFF5162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8D40B23-8BB1-4086-832E-EF014DD8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L06-13｜公式与符号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ACFD16D-ABC4-41A7-BBF7-64A2C9C9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m=tanh[β(8Jm+μB)]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B=0: m=tanh(8βJm)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8064642-58AD-45AF-8D79-66643AB8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43756282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18B723B-9FD1-45EA-80A9-7431DFF0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6395C47-E05A-4DFB-84D5-FED7B9D6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88D4585-1277-4500-BB37-79260FD2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L06-14｜忠实翻译与术语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26E7A1F-A0E0-4134-8E42-FC403E3A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【忠实翻译】在临界温度附近对 tanh 展开，可得到低温侧的非零磁化 m 随 Tc−T 的平方根消失；图中显示 m(T) 在 T&lt;Tc 有 ± 两个分支，在 T≥Tc 回到 0。课件给出的具体式为 m=±√[3((Tc−T)/Tc)(T/Tc)³]。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critical exponent｜临界指数：描述序参量靠近临界点的幂律指数。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symmetry breaking｜对称性破缺：方程对称但平衡态选择某个非对称分支。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1B91E01-8F04-40B6-B5EF-D9525C5D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4234472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57776B9-0659-4AEC-943C-75B47FE9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882629D-0B62-4221-8E8E-2003FCD7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06F3579-FDD5-49AB-9438-821ECCE0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L06-14｜入门讲解与易错点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5634A50-E3D9-4C9F-913D-CEDCB7A4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【从零讲懂】最重要的是临界指数 1/2：m∝(Tc−T)^{1/2}。± 分支来自自旋反演对称性；无外场时系统任取一个方向。有限系统严格平均可能仍为零，热力学极限加极小对称破缺场后才选定一支。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tanh x=x-x³/3+…。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第6讲第13页：临界点图解。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本页 Tc=8J/kB 与第13、17页的 4J/kB 不一致，应保留并向老师核对计数约定。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平方根定律只是在平均场、临界点附近成立。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4084EAD-67EB-4E80-931C-42E45643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06834735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B2B2342-233A-4A06-8156-93F07EEC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BD45A30-7486-4044-A81A-2FBC5A25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85A1E78-777C-4A08-84F0-6F63FE7C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L06-14｜公式与符号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E4AC3CF-7B9F-45DC-A230-2AC055A6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m=±√{3[(Tc-T)/Tc](T/Tc)³}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kBTc=8J (as shown on this slide)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D2FB869-B6BB-46F2-AE7F-BCA1C9BA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305316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4F41E48-7F5D-4D70-8346-36F7FE1B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7E89AA3-5156-41B4-AA92-995ACFF8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0A06E8A-9719-4FB9-817D-006526D8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L06-15｜忠实翻译与术语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4EF5F99-A2B2-41F6-9AAB-C176D0CA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【忠实翻译】磁化强度对外场的灵敏度定义为 χM=(1/μ)∂M/∂B。对自洽方程求导得 χM=Nβ/[cosh²β(8Jm+μB)−8βJ]。在 Tc 附近 χM 呈 Curie–Weiss 型发散，并在 Tc 两侧具有不同系数。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magnetic susceptibility｜磁化率：磁化对微小外场的线性响应。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Curie–Weiss law｜居里—外斯律：临界附近 χ 与 |T-Tc|^{-1} 成正比。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A15F2F7-EEE3-4899-BCBA-22DC1399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8814181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B506D85-C7CD-4C7A-9424-6568B05F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0593EE2-C2C2-487F-B44E-0DCB8CC3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82A33AD-9D0C-4C00-B8E6-A8AC4345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L06-15｜入门讲解与易错点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F0FD7B9-8BBF-4345-99D8-BD2D45AF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【从零讲懂】求导时 m 也随 B 变化，必须做隐函数求导；分母趋零就是响应发散。物理上，小外场能重新排列很大的相关团簇，所以磁化变化巨大。这里的 χ 是响应函数，也等价于磁化涨落强度。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第6讲第12–14页：m 的自洽方程及近临界展开。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隐函数求导。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不能把求 ∂M/∂B 时的 m 当常数。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课件公式中的 j/J 字形混用按交换常数 J 理解。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73DF878-E366-4E33-8439-61038C33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4245448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94A3E48-08B2-4272-BC97-E907D5AA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7DA6D58-3DAA-4973-8FCD-A497B5CF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003E214-190E-400A-870D-EF5C2E2A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L06-15｜公式与符号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0E7920C-025C-4134-84CD-9AADD94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χM=(1/μ)(∂M/∂B)T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χM=Nβ/[cosh²β(8Jm+μB)-8βJ]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χM∝|T-Tc|^{-1}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EF8FDFD-B890-4FCC-910F-A521942E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99068852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6805CDE-0B24-42D0-BFDC-FAEE06FD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4ED40ED-528F-424E-A27D-1F4BB03B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6E184BB-B6B8-46C0-8D6A-64A36324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L06-16｜忠实翻译与术语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BD46717-8633-45BF-AAD7-C49B2E6E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【忠实翻译】临界点处自旋团簇大小的分布变成幂律，方差随系统尺度 L 发散；没有单一典型团簇尺度，因此统计具有尺度不变性。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cluster-size distribution｜团簇尺度分布：同向自旋连通区域大小的概率分布。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scale invariance｜尺度不变性：放大或缩小后统计规律保持同一幂律形式。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correlation length｜相关长度：涨落之间保持相关的典型距离。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FD3F781-1BB7-4A88-9534-86BFCDF8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65221229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7F377CA-80BE-4066-9A3E-CE6EAF32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C649D63-0D58-470B-90B4-D45B4F95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85A8D44-1869-46A9-8462-B6DCDCDC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L06-16｜入门讲解与易错点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CC52370-EFE9-4976-BB76-8D083678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【从零讲懂】远离临界点，相关长度有限，团簇大小有特征尺度；临界点相关长度趋于无穷，从小团到系统大小的团都出现。幂律尾部使大团簇不能忽略，这也是平均场在低维临界区失准的原因。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方差、幂律分布与有限尺寸 L。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第6讲第7、15页：临界响应发散。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幂律分布不是“所有尺寸等概率”，而是对数坐标下呈直线。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CEC6287-1D7C-467F-826A-60508D87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49705500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F03D2BA-95A6-423E-9088-CCA1C4EA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2A654FE-C467-43EB-82CA-D1F9FDC0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33C610A-0DF8-4EFE-A7C4-5AB1F222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L06-17｜忠实翻译与术语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FD4F92E-3B9D-475C-A2C9-39A6CE84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【忠实翻译】Ising 哈密顿量在 B=0 时具有自旋反演对称性 P:σi→−σi；量子语言中写作 PHP†=H。由平均场配分函数得到自由能，并可在 m=0 附近展开为常数项、m² 项和 m⁴ 项；对称性禁止奇次幂。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parity/spin inversion｜宇称/自旋反演：把所有 σ 同时变号的 Z₂ 对称操作。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Landau expansion｜朗道展开：按序参量幂次展开自由能。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FEB6DB5-12F1-4785-A0AF-CBFA2525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6773938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40782CA-EDBA-499C-A02B-CAD008B3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D32CE95-A7C7-470E-905E-01E90ECD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B50EB30-9145-4B6B-BE53-895123D9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L06-17｜入门讲解与易错点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EF9C261-FF81-4C4A-AED7-6FBA2FA8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【从零讲懂】自由能视为 m 的函数，平衡态是其最低点。T&gt;Tc 时 m² 系数为正，m=0 稳定；T&lt;Tc 时系数变负，m=0 不稳而 ±m 成为新最低点。对称性先决定“哪些项允许出现”，无需知道全部微观细节。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第6讲第11页：ZMF。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偶函数与 Taylor 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本页红字 kBTc=4J 与第14页的 8J 不一致，必须标作源课件计数差异。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对称性禁止奇次项的前提是外场 B=0。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A87C05E-45BA-4D59-8FC5-97370FD3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5061933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CF9B254-9355-4760-812D-240751DD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24512A3-D638-4D1E-A384-749FB5CE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AD25EC4-5372-434B-8C70-3A53AF5A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L06-17｜公式与符号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C43B10D-79E9-44D2-AEE5-7F27B83B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P H(σ) P†=H(−σ)=H(σ)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F=-kBT ln ZMF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F=-NkBT ln2+[NkBTc/(2T)](T-Tc)m²+[NkBTc⁴/(12T³)]m⁴+…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DE34A42-3BB8-4541-A1C2-72913D61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8528857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FD5AE3E-F1AB-4B16-A89B-25EA9A11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F3DC8ED-212B-4931-A8F5-75193E52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87C5614-E1F3-40D9-812F-5FA5BACC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L06-18｜忠实翻译与术语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07AD285-A430-44D9-AB5C-571B4F7C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【忠实翻译】自由能曲线展示三种情况：T&gt;Tc 时单井最低点在 m=0；T=Tc 时曲线在原点变平；T&lt;Tc 时形成双井，最低点在 ±m₀。自由能曲率的倒数对应磁化率，因此临界点曲率为零时响应发散。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free-energy landscape｜自由能地形：以序参量为横轴的有效自由能曲线。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curvature｜曲率：最低点附近二阶导数，控制小扰动的恢复力。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DC9F484-472A-4157-B6A5-8DBFAB42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39910283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981764D-F03C-409A-AD93-6CC0284D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003E4A3-6F04-4535-883F-AB9150EE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04273C8-0396-497B-A6DB-94D3496C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L06-18｜入门讲解与易错点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0582D8D-7D27-43DB-9995-CD46AFE3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【从零讲懂】把小球想象成在 F(m) 地形中寻找最低点：高温停在中央，低温中央变成山顶而两侧成为等深谷。外场会倾斜地形并偏爱一个谷。该图把相变、稳定性、对称破缺和响应函数统一起来。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第6讲第17页：对称自由能展开。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本页 m₀ 式的 (T/Tc) 指数与第14页显示不同；原式均保留，需按推导核对。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平衡态取全局最低点，不只找任意驻点。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7498DB3-BDD3-426F-864C-4625E699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57637416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F9CAEC8-2FFE-45BF-8E6B-245785D4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AF342C2-CE92-4EEC-8C0C-079DC51B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E2E66EE-AF8F-4E63-BF7C-302B8F7E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L06-18｜公式与符号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B964152-3786-4C9B-A9F3-28B8DEC1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m₀=±√{3[(Tc-T)/Tc](T/Tc)²} (as shown)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χ^{-1}∝(∂²F/∂m²)equilibrium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82EBA43-9959-440C-A320-5AAFE34B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42071885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CD2DD0F-BBC8-441F-947E-DC0E4781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4DF2862-372A-48D8-A85D-C4F93733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DF2DC63-661D-4FBF-9EF9-84C9DB38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L06-19｜忠实翻译与术语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ED04D82-C255-426D-AE40-D266A886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【忠实翻译】序参量 m=⟨σj⟩ 在无序相为零，在有序相非零。临界附近可写 F[m]≈F₀+a(T−Tc)m²+bm⁴；m→−m 的对称性解释了只含偶次幂。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order parameter｜序参量：在不同相中取零/非零或不同对称性的宏观量。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disordered phase｜无序相：保持原始对称性、序参量为零的相。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ordered phase｜有序相：自发破缺对称性、序参量非零的相。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5D9DA4D-5602-47F6-A0CC-9C962A72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63322426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9998F08-3C6E-4F25-99FB-E640ED46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60790F7-CA0B-4188-AE65-AE38B7E6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4CCB476-804F-48B6-963F-95E9CA1E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L06-19｜入门讲解与易错点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B5DB309-A2D7-453D-8357-8E66BA39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【从零讲懂】序参量是“用一个量区分两个相”的坐标。Landau 理论不追求所有微观细节，而是假设临界附近 m 小、自由能可解析展开，再由最低化求相结构。a&gt;0、b&gt;0 时给出连续相变。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第6讲第17–18页：自由能与对称性。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序参量不一定是密度；不同相变要选择不同物理量。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3C99C91-AFAD-403B-B2C8-978F9B45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08410268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40268A5-39FC-4612-9F4F-FD75C04F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4078850-A057-472F-9D07-0F7096FB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3A7AF12-8C9A-4C80-9244-A0C3CE48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L06-19｜公式与符号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8B96E4D-AF9C-41A4-AC07-69D6FD30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m=⟨σj⟩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F[m]≈F₀+a(T-Tc)m²+bm⁴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22E7DB6-5D60-418B-B7A7-BAB8FB1B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69804016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6F3F3EF-19AB-40E7-B5D6-A42C6AC6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D2195C1-BB4E-4DED-B0A9-E3858907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D58B9C1-13EB-4AAF-86E6-A655EB24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L06-20｜忠实翻译与术语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228A509-DD39-4C0A-BB05-E0D3C4F3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【忠实翻译】允许序参量随位置变化，Landau 自由能写成 F[m(x)]≈∫d³x{½|∇m|²+r₀m²+u₀m⁴+u₁m⁶}，其中 r₀=α₀(T−Tc)。忽略梯度并假设均匀时，r₀&gt;0 得 m=0，r₀≤0 得 m=√[-r₀/(2u₀)]。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gradient term｜梯度项：惩罚序参量在空间中快速变化的能量。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functional｜泛函：输入整个函数 m(x) 并输出数值的对象。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283A91B-0389-4784-B379-2976E9B3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55229485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34FE6A3-9E53-42F1-A304-D081DC10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49111FB-9F65-484F-89C4-EFA76895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C06D5DD-FC7D-4EC2-81D5-A11617BF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L06-20｜入门讲解与易错点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5069E7A-7A96-4073-9ABE-2C6621D1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【从零讲懂】梯度项惩罚空间上突变的 m，因此决定畴壁宽度与相关长度；势能项决定局域偏好。最低化是对函数 m(x) 做变分，而不仅是普通导数。均匀平均场只是把 ∇m 项设为零的特例。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第6讲第19页：Landau 展开。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梯度、空间积分与最小化。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m(x) 是场而非单个常数；只有均匀近似下才可直接令 ∇m=0。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u₀&gt;0 才保证四次截断在大 |m| 时稳定。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80B4870-4006-4BA1-9D55-5306C556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91295244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980E2F9-5323-4F64-A588-723785D8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8CEC8A7-859F-4A68-BF0F-605E5FD0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7CE8FA9-849E-42CA-8CEC-384E5025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L06-20｜公式与符号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F66B400-8C2F-49BA-AA2F-FDEACADD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F[m(x)]≈∫d³x[½|∇m|²+r₀m²+u₀m⁴+u₁m⁶]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r₀=α₀(T-Tc)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m=0 (r₀&gt;0)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m=√[-r₀/(2u₀)] (r₀≤0, uniform mean field)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E7292A3-EF3D-4DE1-A8F8-A0FF21D2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56972441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CA6DD07-DFD7-4D98-8638-C3A2DDDF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9036B0C-6F12-4C70-84F6-8D9ACAD9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DA514F5-D8A4-4958-8BBF-0DAD800B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L06-21｜忠实翻译与术语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2A05F9E-2509-4C99-996F-2A0D734E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【忠实翻译】当 u₀&gt;0 时，m 从零连续长出，对应二级/连续相变；当 u₀&lt;0 时必须靠正的 m⁶ 项稳定自由能，最低点会在某温度发生跳跃，对应一级相变。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first-order transition｜一级相变：序参量跳变并通常有潜热的相变。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second-order transition｜二级/连续相变：序参量连续但响应可发散的相变。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metastable state｜亚稳态：局域最低但不是全局最低的状态。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EBB7A1F-A23F-4FD6-9811-A82AC23F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67452804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688E0DC-46CB-4B3F-98C9-04A1A456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9ED411D-F8E0-48F8-88C0-40E5F0D1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617AB75-93E7-4201-8938-91539B6F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L06-21｜入门讲解与易错点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430FFDE-CB7F-47F2-92B6-57491E9F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【从零讲懂】判断相变阶数的直观方法是追踪全局最低点的位置：连续移动到非零是二级，突然从 m=0 换到有限 m 是一级。一级相变常伴随势垒、亚稳态和潜热；连续相变则常伴随相关长度发散。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第6讲第20页：空间 Landau 自由能。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“二级”不表示二阶导数一定是唯一判据；现代用连续相变与临界行为描述更稳妥。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3060267-A43F-454C-972B-6691052B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07066964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5AEA1B5-B595-4906-978D-616157D1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023832F-53B8-40EC-A33D-707B3A75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2142A69-0970-4590-A9C2-D7832FDC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L06-21｜公式与符号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717ED4A-7FF4-4D4A-8F63-8AFFB654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F(m)=r₀m²+u₀m⁴+u₁m⁶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u₀&gt;0: continuous transition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u₀&lt;0, u₁&gt;0: first-order transition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E1277B5-B3E0-4803-8FF0-7E345A9A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43026091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94BCA31-33D9-408A-B5E4-DAB8CA12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159E9A8-8BA8-4C35-A15A-8A99170A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22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474A3D3-7DFF-47CE-ABAC-3E5B7B1E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L06-22｜忠实翻译与术语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29A8969-15C5-4ABB-8E6B-B364367B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【忠实翻译】超导体在 Tc 以下表现为零电阻与迈斯纳效应（排斥内部磁场）。BCS 理论指出电子通过声子介导的有效吸引形成 Cooper 对；相关理论获 1972 年诺贝尔物理学奖。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Meissner effect｜迈斯纳效应：超导转变时磁场被体内排斥。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Cooper pair｜库珀对：由有效吸引结合的两个电子。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BCS theory｜BCS 理论：超导的微观配对理论。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1D2020A-1D65-4622-9D24-EE98E83D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0484489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32AD44E-B447-42E0-8036-54AA5873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C31A276-C96B-4D96-9220-642DFA24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22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5202E01-6F52-462C-88EE-D0B9FE46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L06-22｜入门讲解与易错点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7F0FC36-F20E-4B1D-ADF6-EF683B10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【从零讲懂】零电阻只是输运现象，迈斯纳效应才显示超导是独立热力学相：降温进入超导态会主动排出磁通。Cooper 对由两个费米子组成，整体呈玻色式凝聚，其复波函数可作为序参量。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第6讲第19–21页：序参量与相变。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电磁学中的磁场、矢势。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理想导体的“电阻为零”本身不自动推出迈斯纳效应。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A5A0E0E-2ACE-4133-BB0B-76A70C58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18933203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E37EDEC-8FE5-450B-9C59-A56E61DB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ABE7B74-910F-4F64-B6DC-6550213D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9CFCDDF-DDD2-4534-BF2E-B3948494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L06-23｜忠实翻译与术语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ACDAA3E-7F54-4319-B7AF-3A6D9FFB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【忠实翻译】超导序参量是复场 ψ(r)=|ψ(r)|e^{iφ(r)}，可理解为 Cooper 对凝聚波函数。Ginzburg–Landau 自由能密度在正常态 fn 上加入 |ψ|²、|ψ|⁴、规范协变梯度项以及磁场能 B²/(8π)；e*=2e，B=∇×A。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Ginzburg–Landau theory｜金兹堡—朗道理论：以复序参量描述超导的有效场论。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gauge invariance｜规范不变性：势函数改变但可观测电磁场与物理预测不变。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covariant derivative｜协变导数：把电磁矢势耦合进序参量梯度的组合。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363AC1D-39BF-4511-B8C3-5A18D8CB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98966132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960A797-DAC6-4A74-9335-C663C087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BCD7086-AA92-4B7E-A76A-A6ED1943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C935530-B65C-446C-83A7-E9DD31FF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L06-23｜入门讲解与易错点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B25C2F9-8538-4627-94F6-089B6F5A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【从零讲懂】普通梯度必须替换成 -iℏ∇-(e*/c)A，才能在电磁规范变换下保持物理不变。|ψ|² 表示超流/凝聚对密度的尺度，φ 的空间变化产生超电流。GL 是对称性指导的低能有效理论，不要求先解全部电子微观问题。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第6讲第20页：空间 Landau 泛函。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复数相位与电磁矢势。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ψ 不是单个电子波函数；它描述宏观凝聚序参量。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e*=2e 是 Cooper 对有效电荷，电子电荷符号约定需与公式一致。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DE3F7A6-C9A6-4995-A8B7-99A0B59A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45247237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075188E-03FC-4728-A41E-4D8BE7DB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774DC42-2F01-47DF-B54A-0CCC7021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83B39AC-3890-499D-8C98-2735776E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L06-23｜公式与符号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1836923-C374-406C-AF28-8B16FE8E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ψ(r)=|ψ(r)|e^{iφ(r)}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fs=fn+α(T)|ψ|²+½β(T)|ψ|⁴+[1/(2m*)]|(-iℏ∇-e*A/c)ψ|²+B²/(8π)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e*=2e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B=∇×A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D90292C-0D03-4FE5-BC51-786E8F94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25710961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53E5EB7-A32C-46F4-A836-41677C74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C6999CC-BD08-417F-BEE5-92ECBA6F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32282DE-F896-446A-A77C-AE53750B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L06-24｜忠实翻译与术语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D98491D-2459-4DF6-A61E-09D35EF3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【忠实翻译】最小化 GL 自由能得到序参量方程 αψ+β|ψ|²ψ+[1/(2m*)](-iℏ∇-e*A/c)²ψ=0，以及 ∇×B=(4π/c)J。超电流 J 由 ψ 与协变梯度决定。第二类超导体允许磁通以量子化涡旋穿透，涡旋核处 ψ(r)=0，并排列成 Abrikosov 晶格。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Abrikosov lattice｜阿布里科索夫涡旋晶格：第二类超导中量子磁通涡旋的周期排列。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vortex｜涡旋：序参量相位绕转且核心振幅消失的拓扑缺陷。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6672BE5-FAD7-482F-B867-E7463D2C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18212018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CDCE05A-B7B6-40D8-9AB0-DBEAB529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B7236C3-1CEB-4171-83B5-044B4F62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2B6B23A-F72E-476C-B378-F9392C79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L06-24｜入门讲解与易错点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298AF2C-0DBC-47F6-8C0B-3C2B3896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【从零讲懂】涡旋是相位绕核一周变化 2π 的拓扑缺陷；为避免序参量多值，环路磁通被量子化。核处超导被压制，远离核后 |ψ| 恢复。GL 两方程分别类似“序参量的薛定谔方程”和“由超电流产生磁场的 Maxwell 方程”。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第6讲第23页：GL 自由能。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变分法、Maxwell 方程。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“磁场可以穿透”是以离散磁通涡旋形式发生，不是均匀无阻碍穿透。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A08D69C-CA47-4F99-B99A-E7C22748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86307689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45D7BEF-01C7-421E-BAC7-0BCF7A43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F21B6B3-63BF-464C-8A85-003FE17C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9C5927D-78F0-437C-A50E-FCCF6E11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L06-24｜公式与符号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208486D-9E21-42F8-BFA3-F9CDA73D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αψ+β|ψ|²ψ+[1/(2m*)](-iℏ∇-e*A/c)²ψ=0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∇×B=(4π/c)J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J=(e*/m*)Re{ψ*(-iℏ∇-e*A/c)ψ}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ψ(r)=0 at vortex core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B2E6693-FFC2-4BC6-ADFC-CDAD5FA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66375267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9EBE12C-8699-457F-BDDB-55DE99E7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222274F-74C3-4B56-BE19-CF30D324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F3477B1-B22D-4645-9E0D-8E0821B4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L06-25｜忠实翻译与术语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45A4FF0-54CF-4E18-8AF0-C7BEF44B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【忠实翻译】对周期边界的一维 Ising 链，把每条键能量写成 -Jσiσi+1-(μB/2)(σi+σi+1)。定义 2×2 转移矩阵 P，其元素为相邻自旋配置的 Boltzmann 权重；于是 Z=tr(Pᴺ)=λ₁ᴺ+λ₂ᴺ。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transfer matrix｜转移矩阵：把相邻状态 Boltzmann 权重组织为矩阵。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periodic boundary condition｜周期边界条件：令 σN+1=σ1 消除边界端点。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C16D8F3-B070-45B8-ADBB-69A6C555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82734089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F9BDC72-2B18-481F-9DDF-5B6FF522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B660901-73A4-4A1C-9FED-F437986A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E3BDB88-5D49-464F-AFFD-22418AD9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L06-25｜入门讲解与易错点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CE16B7B-E936-4305-8F78-1818AE8C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【从零讲懂】转移矩阵把“对 2ᴺ 个自旋配置求和”变成矩阵乘法。周期边界让最后一个自旋接回第一个，所以取迹。大 N 时最大特征值支配自由能，这一思路也用于一维经典模型与量子链映射。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矩阵特征值、迹。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Ising 哈密顿量与正则配分函数。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磁场项在每条键分一半，是为防止每个自旋被计数两次。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7B85328-758A-474D-AC6A-17B9C445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49347538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A7EA888-9987-40B2-8BAA-6E658EBA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27A2807-3E38-43D8-B4E3-8778B5C8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A8C5AD5-C19D-49C4-8A39-B7D30A63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L06-25｜公式与符号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2EA1DE1-1A2E-47F5-856D-CE17CF43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H_N=-J∑ᵢσᵢσᵢ₊₁-(μB/2)∑ᵢ(σᵢ+σᵢ₊₁)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P=[[e^{β(J+μB)}, e^{-βJ}],[e^{-βJ}, e^{β(J-μB)}]]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Z=tr(Pᴺ)=λ₁ᴺ+λ₂ᴺ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D6BE006-CFAB-4B5F-8EF7-EA0A679D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2146327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A4339B8-9C46-46C6-9B80-C97BF957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715E525-DF18-4C82-A3F5-B528C260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49DC731-D687-47E2-AE85-3D6D6EA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L06-26｜忠实翻译与术语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7478F2A-B111-4AC4-9CB0-6C9CB23B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【忠实翻译】转移矩阵的两个特征值为 λ1,2=e^{βJ}cosh(βμB)±[e^{-2βJ}+e^{2βJ}sinh²(βμB)]^{1/2}。热力学极限 N→∞ 时 λ1&gt;λ2，故 F≈-NkBT lnλ1。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dominant eigenvalue｜主导特征值：热力学极限中绝对值最大的转移矩阵特征值。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thermodynamic limit｜热力学极限：N,V→∞ 且 N/V 固定。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818514D-0822-4012-9237-FB478863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68877964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B1756EF-B3CE-462B-832D-DF1B0EB3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9934414-08DB-4533-8A56-E6FA5343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E5A704A-5E95-4FF5-8C39-69F6BA93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L06-26｜入门讲解与易错点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5235066-42FC-4B65-8EA3-8CCD9724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【从零讲懂】因为 (λ2/λ1)ᴺ 在 N 很大时指数消失，只需最大特征值。相变若存在，会表现为最大特征值随参数发生非解析切换；一维有限温下 λ1 始终平滑，因此没有有限温相变。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第6讲第25页：转移矩阵。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忽略 λ2 只在 N→∞ 且 |λ2/λ1|&lt;1 时成立。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6B0760C-6183-4407-B6E7-84BCF7E2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10894858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EC92ECB-006F-40E5-9B67-7F8222DF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9AD33BF-7FA4-4E56-8D1A-4A18914F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9304ABA-AB47-4DCE-86C7-07E7846B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L06-26｜公式与符号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0692DCE-B338-45D5-9B65-869E4DC4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λ1,2=e^{βJ}cosh(βμB)±{e^{-2βJ}+e^{2βJ}sinh²(βμB)}^{1/2}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F=-kBT ln Z≈-NkBT lnλ1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D814B4D-0E77-4879-B41F-14823762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03335621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BF29B40-22D0-4D6E-B750-357AE6C5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AF545DB-ED23-4D9E-B18C-1032F44A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D16EF0A-0454-473D-B9F5-03C3B18D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L06-27｜忠实翻译与术语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4D5FB8C-6520-4934-9372-A37DD9D7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【忠实翻译】把最大特征值代入得到解析的自由能。磁化为 M̄=Nμ sinh(βμB)/[e^{-4βJ}+sinh²(βμB)]^{1/2}；在任意有限温度先令 B→0，M̄→0，因此一维短程 Ising 链无有限温自发磁化与相变。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spontaneous magnetization｜自发磁化：外场趋零后仍存的磁化。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domain wall｜畴壁：相反取向自旋区域之间的边界。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648D69E-9EC2-4095-91AC-DC13E7F0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26215400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046000D-58AE-4B23-9013-93222F22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59A0A3E-30BE-4A9B-ACA7-6D52B7A0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4DFDB4D-2F5A-4D1E-9485-66517A28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L06-27｜入门讲解与易错点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A81B73F-FC4E-4213-A5A3-861B9B10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【从零讲懂】关键是极限次序：热力学极限后再考察无穷小外场。有限 T 时畴壁代价有限，而可放置畴壁的位置随 N 增长，熵最终破坏长程有序。只有 T→0 时相关长度才发散。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第6讲第26页：最大特征值与自由能。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T=0 与任意小但非零 T 的行为不同；不能把零温有序误称有限温相变。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1F53258-B595-4E49-8FEE-83A28B27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81412806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9BFEB24-47C5-4F2A-A938-BC38181C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CFCFC9F-4E10-4D01-84F0-4BE805D5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0FB0443-E647-4E15-977F-5C7086EA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L06-27｜公式与符号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86B3561-84CA-4E61-BD38-82FCC1C8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F=-NJ-NkBT ln[cosh(βμB)+{e^{-4βJ}+sinh²(βμB)}^{1/2}]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M̄=Nμ sinh(βμB)/{e^{-4βJ}+sinh²(βμB)}^{1/2}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lim_{B→0}M̄=0 for T&gt;0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C20B37B-FDE6-43DC-8073-04662D59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57829339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8A29394-EAB7-4C16-BBCC-4FE1B8DE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74E38DB-8908-4186-BBF3-B75E6EDB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6157BB5-28B2-475F-BB74-E739D109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L06-28｜忠实翻译与术语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ED04314-4DCE-4F44-A6B1-4BDCC2F0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【忠实翻译】在 B=0、允许各键 Ji 不同时，配分函数可用转移矩阵逐键相乘求得。对某键耦合求导可得到相邻关联，再推广到距离 r：g_k(r)=⟨σkσk+r⟩=tanh^r(βJ)。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correlation function｜关联函数：衡量两个位置的涨落是否同向。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inhomogeneous coupling｜非均匀耦合：不同键可有不同 Ji。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B53B283-1A2F-444F-B9D4-16C7126E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08047233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B29C547-2387-4FC3-88F4-17FD8310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FA00756-AEF6-457C-8EAD-0BFFB72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3981FF3-4A3C-4963-B5EB-5313A2AF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L06-28｜入门讲解与易错点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0A4F97E-4F00-4ED6-898F-9C8F21AA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【从零讲懂】每跨过一条键，相关性乘上 tanh(βJ)，所以随距离指数衰减。高温 βJ 小，几步后相关消失；低温 tanh(βJ)接近1，相关传播更远。用对 J 的导数取出 σiσi+1 是统计物理中常用的“源—响应”技巧。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第6讲第25–27页：一维转移矩阵。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对数配分函数求导得到平均量。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源页中间一行把 Z 与 ∑ln(2coshβJi) 并列，疑似应为 ln Z；必须按原页保留并标记维度/对数不一致。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18EC113-5087-4BA9-AF35-5FBB4FE1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13937338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201C5A8-872E-4ADE-A6DB-7A3BE57A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08ADBEE-DE17-4211-BBAB-90630941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00D1EDB-535A-4576-AF0E-BCE0ED24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L06-28｜公式与符号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70DB338-61AB-403F-87B0-02FDE4F2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g_k(r)=⟨σ_kσ_{k+r}⟩=tanh^r(βJ)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∂ ln Z/∂(βJ_i)=⟨σ_iσ_{i+1}⟩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54610B7-A596-495E-AC57-FBDF4C14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93418932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10B6C03-14BB-4BAC-8E28-8C6F5337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55E2D66-D4CD-4ED4-8D23-E66D23AB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A3AC47A-0B4D-4420-822C-EF81970A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L06-29｜忠实翻译与术语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3149F0F-24EF-4F13-BDAD-2BEC99C4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【忠实翻译】将 g_k(r)=tanh^r(βJ) 写为指数形式 g=e^{-r/ξ}，可见相关长度只有在 T→0 时才发散，因此一维短程 Ising 模型没有有限温相变。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correlation length ξ｜相关长度 ξ：关联函数指数衰减的距离尺度。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exponential decay｜指数衰减：g(r)∝e^{-r/ξ}。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9BEB983-719D-42B6-8328-EEBBE907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65215733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286C2E8-FCFD-42A1-AE94-F8F9E3C1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8C8AB63-8F32-4C1E-AD64-F06D184E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D59B851-5F54-41B9-B9B3-E8A9695B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L06-29｜入门讲解与易错点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AD03CAF-8C80-4080-81C1-20AE310A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【从零讲懂】由 r ln[tanh(βJ)]=-r/ξ 可直接读出 ξ=-1/ln[tanh(βJ)]。有限温下 tanh(βJ)&lt;1，ξ 有限；只有 β→∞ 时 tanh→1，分母趋零。相关长度是否在有限温发散，是判断连续相变的核心信号。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第6讲第28页：g_k(r)=tanh^r(βJ)。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源页印出的 ξ=1/ln cosh(βJ) 与其上一行不一致；按上一行推导应为 -1/ln tanh(βJ)。翻译页保留原式并明确指出疑似笔误。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ξ 在 T=0 才发散不构成有限温相变。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B15B120-07A6-45EF-A739-AB4D7CB5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23546170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49E9A75-87C8-4F5B-828C-66665D56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B8C9AAE-1524-4DB7-82A1-F378E876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B3783CA-BB46-4A1F-B3EE-3CDE61DB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L06-29｜公式与符号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4442FDD-3648-42E7-B265-1F852FDD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g_k(r)=exp[r ln tanh(βJ)]=e^{-r/ξ}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Source slide prints: ξ=1/ln cosh(βJ)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Derived from preceding line: ξ=-1/ln tanh(βJ)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C50E08F-10A4-46D0-9F67-59D373A5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12547368"/>
      </p:ext>
    </p:extLst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50103</TotalTime>
  <Words>690</Words>
  <Application>Microsoft Office PowerPoint</Application>
  <PresentationFormat>Widescreen</PresentationFormat>
  <Paragraphs>162</Paragraphs>
  <Slides>113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Interaction and phase transition</vt:lpstr>
      <vt:lpstr>Interaction and phase transition</vt:lpstr>
      <vt:lpstr>Interaction and phase transition</vt:lpstr>
      <vt:lpstr>Interaction and phase transition</vt:lpstr>
      <vt:lpstr>Interaction and phase transition</vt:lpstr>
      <vt:lpstr>Interaction and phase transition</vt:lpstr>
      <vt:lpstr>Interaction and phase transition</vt:lpstr>
      <vt:lpstr>Interaction and phase transition</vt:lpstr>
      <vt:lpstr>ISING Model</vt:lpstr>
      <vt:lpstr>ISING Model</vt:lpstr>
      <vt:lpstr>ISING Model</vt:lpstr>
      <vt:lpstr>ISING Model</vt:lpstr>
      <vt:lpstr>ISING Model</vt:lpstr>
      <vt:lpstr>ISING Model</vt:lpstr>
      <vt:lpstr>ISING Model Critical point fluctuation</vt:lpstr>
      <vt:lpstr>ISING Model</vt:lpstr>
      <vt:lpstr>ISING Model</vt:lpstr>
      <vt:lpstr>Landau theory of phase transition</vt:lpstr>
      <vt:lpstr>Landau theory of phase transition</vt:lpstr>
      <vt:lpstr>Landau theory of phase transition</vt:lpstr>
      <vt:lpstr>Superconductivity</vt:lpstr>
      <vt:lpstr>Ginzburg-Landau theory</vt:lpstr>
      <vt:lpstr>Abrikosov lattice</vt:lpstr>
      <vt:lpstr>ISIng Model in 1D</vt:lpstr>
      <vt:lpstr>ISIng Model in 1D</vt:lpstr>
      <vt:lpstr>ISIng Model in 1D</vt:lpstr>
      <vt:lpstr>ISIng Model in 1D</vt:lpstr>
      <vt:lpstr>ISIng Model in 1D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1664</cp:revision>
  <dcterms:created xsi:type="dcterms:W3CDTF">2024-08-25T23:32:26Z</dcterms:created>
  <dcterms:modified xsi:type="dcterms:W3CDTF">2025-09-29T12:35:35Z</dcterms:modified>
</cp:coreProperties>
</file>