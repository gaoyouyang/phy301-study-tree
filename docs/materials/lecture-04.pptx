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336" r:id="rId2"/>
    <p:sldId id="318" r:id="rId3"/>
    <p:sldId id="417" r:id="rId4"/>
    <p:sldId id="420" r:id="rId5"/>
    <p:sldId id="421" r:id="rId6"/>
    <p:sldId id="433" r:id="rId7"/>
    <p:sldId id="418" r:id="rId8"/>
    <p:sldId id="423" r:id="rId9"/>
    <p:sldId id="422" r:id="rId10"/>
    <p:sldId id="424" r:id="rId11"/>
    <p:sldId id="425" r:id="rId12"/>
    <p:sldId id="426" r:id="rId13"/>
    <p:sldId id="43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emf"/><Relationship Id="rId7" Type="http://schemas.openxmlformats.org/officeDocument/2006/relationships/image" Target="../media/image7.svg"/><Relationship Id="rId12" Type="http://schemas.openxmlformats.org/officeDocument/2006/relationships/image" Target="../media/image12.emf"/><Relationship Id="rId17" Type="http://schemas.openxmlformats.org/officeDocument/2006/relationships/image" Target="../media/image17.png"/><Relationship Id="rId2" Type="http://schemas.openxmlformats.org/officeDocument/2006/relationships/image" Target="../media/image2.emf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emf"/><Relationship Id="rId4" Type="http://schemas.openxmlformats.org/officeDocument/2006/relationships/image" Target="../media/image4.png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13" Type="http://schemas.openxmlformats.org/officeDocument/2006/relationships/image" Target="../media/image21.emf"/><Relationship Id="rId3" Type="http://schemas.openxmlformats.org/officeDocument/2006/relationships/image" Target="../media/image5.svg"/><Relationship Id="rId7" Type="http://schemas.openxmlformats.org/officeDocument/2006/relationships/image" Target="../media/image19.emf"/><Relationship Id="rId12" Type="http://schemas.openxmlformats.org/officeDocument/2006/relationships/image" Target="../media/image20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image" Target="../media/image10.emf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9.emf"/><Relationship Id="rId4" Type="http://schemas.openxmlformats.org/officeDocument/2006/relationships/image" Target="../media/image6.png"/><Relationship Id="rId9" Type="http://schemas.openxmlformats.org/officeDocument/2006/relationships/image" Target="../media/image8.emf"/><Relationship Id="rId14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18" Type="http://schemas.openxmlformats.org/officeDocument/2006/relationships/image" Target="../media/image32.emf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6.emf"/><Relationship Id="rId17" Type="http://schemas.openxmlformats.org/officeDocument/2006/relationships/image" Target="../media/image31.emf"/><Relationship Id="rId2" Type="http://schemas.openxmlformats.org/officeDocument/2006/relationships/image" Target="../media/image4.png"/><Relationship Id="rId16" Type="http://schemas.openxmlformats.org/officeDocument/2006/relationships/image" Target="../media/image30.emf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5.emf"/><Relationship Id="rId5" Type="http://schemas.openxmlformats.org/officeDocument/2006/relationships/image" Target="../media/image7.svg"/><Relationship Id="rId15" Type="http://schemas.openxmlformats.org/officeDocument/2006/relationships/image" Target="../media/image29.emf"/><Relationship Id="rId10" Type="http://schemas.openxmlformats.org/officeDocument/2006/relationships/image" Target="../media/image24.emf"/><Relationship Id="rId19" Type="http://schemas.openxmlformats.org/officeDocument/2006/relationships/image" Target="../media/image33.emf"/><Relationship Id="rId4" Type="http://schemas.openxmlformats.org/officeDocument/2006/relationships/image" Target="../media/image6.png"/><Relationship Id="rId9" Type="http://schemas.openxmlformats.org/officeDocument/2006/relationships/image" Target="../media/image23.emf"/><Relationship Id="rId1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18" Type="http://schemas.openxmlformats.org/officeDocument/2006/relationships/image" Target="../media/image37.emf"/><Relationship Id="rId3" Type="http://schemas.openxmlformats.org/officeDocument/2006/relationships/image" Target="../media/image5.svg"/><Relationship Id="rId21" Type="http://schemas.openxmlformats.org/officeDocument/2006/relationships/image" Target="../media/image17.pn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17" Type="http://schemas.openxmlformats.org/officeDocument/2006/relationships/image" Target="../media/image36.emf"/><Relationship Id="rId2" Type="http://schemas.openxmlformats.org/officeDocument/2006/relationships/image" Target="../media/image4.png"/><Relationship Id="rId16" Type="http://schemas.openxmlformats.org/officeDocument/2006/relationships/image" Target="../media/image35.emf"/><Relationship Id="rId20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5" Type="http://schemas.openxmlformats.org/officeDocument/2006/relationships/image" Target="../media/image34.emf"/><Relationship Id="rId10" Type="http://schemas.openxmlformats.org/officeDocument/2006/relationships/image" Target="../media/image26.emf"/><Relationship Id="rId19" Type="http://schemas.openxmlformats.org/officeDocument/2006/relationships/image" Target="../media/image32.emf"/><Relationship Id="rId4" Type="http://schemas.openxmlformats.org/officeDocument/2006/relationships/image" Target="../media/image6.png"/><Relationship Id="rId9" Type="http://schemas.openxmlformats.org/officeDocument/2006/relationships/image" Target="../media/image25.emf"/><Relationship Id="rId14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10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12" Type="http://schemas.openxmlformats.org/officeDocument/2006/relationships/image" Target="../media/image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8.emf"/><Relationship Id="rId5" Type="http://schemas.openxmlformats.org/officeDocument/2006/relationships/image" Target="../media/image41.emf"/><Relationship Id="rId10" Type="http://schemas.openxmlformats.org/officeDocument/2006/relationships/image" Target="../media/image2.emf"/><Relationship Id="rId4" Type="http://schemas.openxmlformats.org/officeDocument/2006/relationships/image" Target="../media/image40.emf"/><Relationship Id="rId9" Type="http://schemas.openxmlformats.org/officeDocument/2006/relationships/image" Target="../media/image45.jpe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48.png"/><Relationship Id="rId18" Type="http://schemas.openxmlformats.org/officeDocument/2006/relationships/image" Target="../media/image52.svg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17" Type="http://schemas.openxmlformats.org/officeDocument/2006/relationships/image" Target="../media/image51.png"/><Relationship Id="rId2" Type="http://schemas.openxmlformats.org/officeDocument/2006/relationships/image" Target="../media/image4.png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47.emf"/><Relationship Id="rId4" Type="http://schemas.openxmlformats.org/officeDocument/2006/relationships/image" Target="../media/image6.png"/><Relationship Id="rId9" Type="http://schemas.openxmlformats.org/officeDocument/2006/relationships/image" Target="../media/image46.emf"/><Relationship Id="rId14" Type="http://schemas.openxmlformats.org/officeDocument/2006/relationships/image" Target="../media/image4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17.png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0" Type="http://schemas.openxmlformats.org/officeDocument/2006/relationships/image" Target="../media/image53.emf"/><Relationship Id="rId4" Type="http://schemas.openxmlformats.org/officeDocument/2006/relationships/image" Target="../media/image6.png"/><Relationship Id="rId9" Type="http://schemas.openxmlformats.org/officeDocument/2006/relationships/image" Target="../media/image4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10" Type="http://schemas.openxmlformats.org/officeDocument/2006/relationships/image" Target="../media/image17.png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56.emf"/><Relationship Id="rId7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10" Type="http://schemas.openxmlformats.org/officeDocument/2006/relationships/image" Target="../media/image17.png"/><Relationship Id="rId4" Type="http://schemas.openxmlformats.org/officeDocument/2006/relationships/image" Target="../media/image59.emf"/><Relationship Id="rId9" Type="http://schemas.openxmlformats.org/officeDocument/2006/relationships/image" Target="../media/image6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17.png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emf"/><Relationship Id="rId11" Type="http://schemas.openxmlformats.org/officeDocument/2006/relationships/image" Target="../media/image17.png"/><Relationship Id="rId5" Type="http://schemas.openxmlformats.org/officeDocument/2006/relationships/image" Target="../media/image72.emf"/><Relationship Id="rId10" Type="http://schemas.openxmlformats.org/officeDocument/2006/relationships/image" Target="../media/image77.emf"/><Relationship Id="rId4" Type="http://schemas.openxmlformats.org/officeDocument/2006/relationships/image" Target="../media/image71.emf"/><Relationship Id="rId9" Type="http://schemas.openxmlformats.org/officeDocument/2006/relationships/image" Target="../media/image7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emf"/><Relationship Id="rId3" Type="http://schemas.openxmlformats.org/officeDocument/2006/relationships/image" Target="../media/image79.svg"/><Relationship Id="rId7" Type="http://schemas.openxmlformats.org/officeDocument/2006/relationships/image" Target="../media/image83.svg"/><Relationship Id="rId12" Type="http://schemas.openxmlformats.org/officeDocument/2006/relationships/image" Target="../media/image88.emf"/><Relationship Id="rId2" Type="http://schemas.openxmlformats.org/officeDocument/2006/relationships/image" Target="../media/image78.png"/><Relationship Id="rId16" Type="http://schemas.openxmlformats.org/officeDocument/2006/relationships/image" Target="../media/image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svg"/><Relationship Id="rId5" Type="http://schemas.openxmlformats.org/officeDocument/2006/relationships/image" Target="../media/image81.svg"/><Relationship Id="rId15" Type="http://schemas.openxmlformats.org/officeDocument/2006/relationships/image" Target="../media/image90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canonical, grand canonical ensemble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4607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150" y="2071996"/>
            <a:ext cx="608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Microcanonical ensemble is not convenient, </a:t>
            </a:r>
          </a:p>
          <a:p>
            <a:r>
              <a:rPr lang="en-US" sz="2400" dirty="0"/>
              <a:t>we can easily measure T but not 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1" y="3127257"/>
            <a:ext cx="3225922" cy="22717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477" y="2622250"/>
            <a:ext cx="5872672" cy="8424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53840" y="5454176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</a:t>
            </a:r>
            <a:r>
              <a:rPr lang="en-US" sz="2000" b="1"/>
              <a:t>the microstates in S:</a:t>
            </a:r>
            <a:endParaRPr lang="en-US" sz="20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6838" y="5854286"/>
            <a:ext cx="2218086" cy="942196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8292901" y="5866320"/>
            <a:ext cx="2465891" cy="1076162"/>
            <a:chOff x="8292901" y="5866320"/>
            <a:chExt cx="2465891" cy="107616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292901" y="6068742"/>
              <a:ext cx="2465891" cy="87374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292901" y="5866320"/>
              <a:ext cx="1974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9714" y="3822587"/>
            <a:ext cx="182591" cy="2434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955" y="3804171"/>
            <a:ext cx="843596" cy="1999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9714" y="3241761"/>
            <a:ext cx="673637" cy="307099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58260" y="5737801"/>
            <a:ext cx="3469476" cy="646331"/>
            <a:chOff x="458260" y="5737801"/>
            <a:chExt cx="3469476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458260" y="5737801"/>
              <a:ext cx="34694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       is not a constant.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It fluctuates as a random variable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017" y="5737801"/>
              <a:ext cx="231924" cy="309232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6196535" y="4712024"/>
            <a:ext cx="4323003" cy="759146"/>
            <a:chOff x="6196535" y="4712024"/>
            <a:chExt cx="4323003" cy="7591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12"/>
            <a:srcRect l="71279" b="-1090"/>
            <a:stretch/>
          </p:blipFill>
          <p:spPr>
            <a:xfrm>
              <a:off x="8532154" y="4712024"/>
              <a:ext cx="1987384" cy="75914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12"/>
            <a:srcRect t="-1" r="67467" b="18688"/>
            <a:stretch/>
          </p:blipFill>
          <p:spPr>
            <a:xfrm>
              <a:off x="6196535" y="4714856"/>
              <a:ext cx="2251115" cy="610623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6050604" y="3581240"/>
            <a:ext cx="5544246" cy="1039238"/>
            <a:chOff x="6050604" y="3581240"/>
            <a:chExt cx="5544246" cy="103923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050604" y="3581240"/>
              <a:ext cx="5544246" cy="74082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08642" y="4401666"/>
              <a:ext cx="3410896" cy="218812"/>
            </a:xfrm>
            <a:prstGeom prst="rect">
              <a:avLst/>
            </a:prstGeom>
          </p:spPr>
        </p:pic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C54BA6B2-F4D6-46F4-B7EC-BD124FAD61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49940" y="5949345"/>
            <a:ext cx="1071160" cy="7034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74DE87-ACF4-4D4C-9E47-29762F724DB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150" y="2071996"/>
            <a:ext cx="608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Microcanonical ensemble is not convenient, </a:t>
            </a:r>
          </a:p>
          <a:p>
            <a:r>
              <a:rPr lang="en-US" sz="2400" dirty="0"/>
              <a:t>we can easily measure T but not 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0776" y="2551631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774" y="2951741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429837" y="3166197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29837" y="2963775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562076" y="3992819"/>
            <a:ext cx="5608764" cy="1257044"/>
            <a:chOff x="5562076" y="3992819"/>
            <a:chExt cx="5608764" cy="1257044"/>
          </a:xfrm>
        </p:grpSpPr>
        <p:sp>
          <p:nvSpPr>
            <p:cNvPr id="13" name="Rectangle 12"/>
            <p:cNvSpPr/>
            <p:nvPr/>
          </p:nvSpPr>
          <p:spPr>
            <a:xfrm>
              <a:off x="5562076" y="3992819"/>
              <a:ext cx="3324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Canonical distribution of     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8270" y="4422933"/>
              <a:ext cx="5452570" cy="826930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5258606"/>
            <a:ext cx="1744979" cy="72292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93081" y="3127257"/>
            <a:ext cx="3225922" cy="2271776"/>
            <a:chOff x="693081" y="3127257"/>
            <a:chExt cx="3225922" cy="227177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081" y="3127257"/>
              <a:ext cx="3225922" cy="227177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79714" y="3822587"/>
              <a:ext cx="182591" cy="24345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73955" y="3804171"/>
              <a:ext cx="843596" cy="199963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79714" y="3241761"/>
              <a:ext cx="673637" cy="307099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555" y="4022496"/>
            <a:ext cx="182591" cy="243454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9609393" y="4113512"/>
            <a:ext cx="1458413" cy="458487"/>
            <a:chOff x="9609393" y="4113512"/>
            <a:chExt cx="1458413" cy="458487"/>
          </a:xfrm>
        </p:grpSpPr>
        <p:sp>
          <p:nvSpPr>
            <p:cNvPr id="21" name="Right Brace 20"/>
            <p:cNvSpPr/>
            <p:nvPr/>
          </p:nvSpPr>
          <p:spPr>
            <a:xfrm rot="16200000">
              <a:off x="10217206" y="3721399"/>
              <a:ext cx="242787" cy="145841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153406" y="4113512"/>
              <a:ext cx="541265" cy="278150"/>
            </a:xfrm>
            <a:prstGeom prst="rect">
              <a:avLst/>
            </a:prstGeom>
          </p:spPr>
        </p:pic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6430" y="6096372"/>
            <a:ext cx="1952773" cy="486633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9351213" y="5249863"/>
            <a:ext cx="2327884" cy="1099206"/>
            <a:chOff x="9351213" y="5249863"/>
            <a:chExt cx="2327884" cy="1099206"/>
          </a:xfrm>
        </p:grpSpPr>
        <p:sp>
          <p:nvSpPr>
            <p:cNvPr id="26" name="TextBox 25"/>
            <p:cNvSpPr txBox="1"/>
            <p:nvPr/>
          </p:nvSpPr>
          <p:spPr>
            <a:xfrm>
              <a:off x="9351213" y="5249863"/>
              <a:ext cx="1974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361261" y="5804517"/>
              <a:ext cx="2317836" cy="544552"/>
            </a:xfrm>
            <a:prstGeom prst="rect">
              <a:avLst/>
            </a:prstGeom>
          </p:spPr>
        </p:pic>
      </p:grpSp>
      <p:sp>
        <p:nvSpPr>
          <p:cNvPr id="29" name="TextBox 28"/>
          <p:cNvSpPr txBox="1"/>
          <p:nvPr/>
        </p:nvSpPr>
        <p:spPr>
          <a:xfrm>
            <a:off x="227510" y="5680984"/>
            <a:ext cx="5227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How are these distributions related to thermodynamic?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4C489-BFD3-486F-A2A5-021954BD64F0}"/>
              </a:ext>
            </a:extLst>
          </p:cNvPr>
          <p:cNvSpPr txBox="1"/>
          <p:nvPr/>
        </p:nvSpPr>
        <p:spPr>
          <a:xfrm>
            <a:off x="2558551" y="6142649"/>
            <a:ext cx="299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What is the internal energy?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45ED3E-5269-48A0-B179-B98AB606EC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6E47B8-D426-46C4-A8D9-2BC5217D040B}"/>
              </a:ext>
            </a:extLst>
          </p:cNvPr>
          <p:cNvGrpSpPr/>
          <p:nvPr/>
        </p:nvGrpSpPr>
        <p:grpSpPr>
          <a:xfrm>
            <a:off x="651866" y="5762041"/>
            <a:ext cx="5410279" cy="1083923"/>
            <a:chOff x="651866" y="5762041"/>
            <a:chExt cx="5410279" cy="1083923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15FFF8A-9E54-4393-A3E7-6DB07908C832}"/>
              </a:ext>
            </a:extLst>
          </p:cNvPr>
          <p:cNvGrpSpPr/>
          <p:nvPr/>
        </p:nvGrpSpPr>
        <p:grpSpPr>
          <a:xfrm>
            <a:off x="561553" y="4752640"/>
            <a:ext cx="4760646" cy="970131"/>
            <a:chOff x="561553" y="4752640"/>
            <a:chExt cx="4760646" cy="970131"/>
          </a:xfrm>
        </p:grpSpPr>
        <p:grpSp>
          <p:nvGrpSpPr>
            <p:cNvPr id="27" name="Group 26"/>
            <p:cNvGrpSpPr/>
            <p:nvPr/>
          </p:nvGrpSpPr>
          <p:grpSpPr>
            <a:xfrm>
              <a:off x="1041148" y="4752640"/>
              <a:ext cx="4281051" cy="369332"/>
              <a:chOff x="1864076" y="4949618"/>
              <a:chExt cx="4281051" cy="36933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4076" y="5036932"/>
                <a:ext cx="1889274" cy="249135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26361" y="4978627"/>
                <a:ext cx="311315" cy="311315"/>
              </a:xfrm>
              <a:prstGeom prst="rect">
                <a:avLst/>
              </a:prstGeom>
            </p:spPr>
          </p:pic>
          <p:sp>
            <p:nvSpPr>
              <p:cNvPr id="29" name="TextBox 28"/>
              <p:cNvSpPr txBox="1"/>
              <p:nvPr/>
            </p:nvSpPr>
            <p:spPr>
              <a:xfrm>
                <a:off x="4210687" y="4949618"/>
                <a:ext cx="1934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gives minimum A</a:t>
                </a: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61553" y="4764515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</a:t>
              </a:r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47261" y="5209751"/>
              <a:ext cx="2696646" cy="513020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0491" y="3509701"/>
            <a:ext cx="2311974" cy="9146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4252" y="4187809"/>
            <a:ext cx="3510491" cy="824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75316" y="4855301"/>
            <a:ext cx="1907176" cy="7678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6530" y="6147793"/>
            <a:ext cx="5405195" cy="69817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10694671" y="5649323"/>
            <a:ext cx="1533433" cy="652955"/>
            <a:chOff x="10694671" y="5649323"/>
            <a:chExt cx="1533433" cy="652955"/>
          </a:xfrm>
        </p:grpSpPr>
        <p:sp>
          <p:nvSpPr>
            <p:cNvPr id="14" name="TextBox 13"/>
            <p:cNvSpPr txBox="1"/>
            <p:nvPr/>
          </p:nvSpPr>
          <p:spPr>
            <a:xfrm>
              <a:off x="10694671" y="5649323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Heat capacity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1927229" y="6018655"/>
              <a:ext cx="0" cy="283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871798" y="3707590"/>
            <a:ext cx="5721067" cy="1016301"/>
            <a:chOff x="871798" y="3628078"/>
            <a:chExt cx="5721067" cy="1016301"/>
          </a:xfrm>
        </p:grpSpPr>
        <p:sp>
          <p:nvSpPr>
            <p:cNvPr id="52" name="TextBox 51"/>
            <p:cNvSpPr txBox="1"/>
            <p:nvPr/>
          </p:nvSpPr>
          <p:spPr>
            <a:xfrm>
              <a:off x="881699" y="4275047"/>
              <a:ext cx="7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let</a:t>
              </a:r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1798" y="3628078"/>
              <a:ext cx="5721067" cy="506185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758114" y="4344816"/>
              <a:ext cx="1471917" cy="22979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AEB531F-3A5C-40EC-9EDD-C10428A1A37B}"/>
              </a:ext>
            </a:extLst>
          </p:cNvPr>
          <p:cNvGrpSpPr/>
          <p:nvPr/>
        </p:nvGrpSpPr>
        <p:grpSpPr>
          <a:xfrm>
            <a:off x="1067710" y="5073764"/>
            <a:ext cx="6204056" cy="1243091"/>
            <a:chOff x="1067710" y="5073764"/>
            <a:chExt cx="6204056" cy="124309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29932F-2E71-49A3-BB8C-BB7CD176248A}"/>
                </a:ext>
              </a:extLst>
            </p:cNvPr>
            <p:cNvSpPr txBox="1"/>
            <p:nvPr/>
          </p:nvSpPr>
          <p:spPr>
            <a:xfrm>
              <a:off x="4642648" y="5462343"/>
              <a:ext cx="262911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Which one should I use?</a:t>
              </a:r>
            </a:p>
            <a:p>
              <a:r>
                <a:rPr lang="en-US" dirty="0"/>
                <a:t>Is that really matter?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E111AF6-A205-40CE-B157-4E0DA908DC7A}"/>
                </a:ext>
              </a:extLst>
            </p:cNvPr>
            <p:cNvCxnSpPr/>
            <p:nvPr/>
          </p:nvCxnSpPr>
          <p:spPr>
            <a:xfrm flipH="1" flipV="1">
              <a:off x="3314748" y="5073764"/>
              <a:ext cx="1327900" cy="52787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6BB5EB6-9F74-4BBB-BC5E-2F83145A7691}"/>
                </a:ext>
              </a:extLst>
            </p:cNvPr>
            <p:cNvCxnSpPr/>
            <p:nvPr/>
          </p:nvCxnSpPr>
          <p:spPr>
            <a:xfrm flipH="1">
              <a:off x="1067710" y="5601635"/>
              <a:ext cx="3574938" cy="71522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D8ACC406-ED1E-4C7A-90F2-66C7751CFFE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41148" y="4752640"/>
            <a:ext cx="4281051" cy="369332"/>
            <a:chOff x="1864076" y="4949618"/>
            <a:chExt cx="4281051" cy="369332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4076" y="5036932"/>
              <a:ext cx="1889274" cy="24913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26361" y="4978627"/>
              <a:ext cx="311315" cy="31131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210687" y="4949618"/>
              <a:ext cx="1934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gives minimum A</a:t>
              </a:r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351" y="5762041"/>
            <a:ext cx="1347223" cy="51322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966" y="6107671"/>
            <a:ext cx="5397179" cy="7382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1553" y="476451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866" y="57673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7261" y="5209751"/>
            <a:ext cx="2696646" cy="5130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6530" y="6147793"/>
            <a:ext cx="5405195" cy="69817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5804" y="3945682"/>
            <a:ext cx="3113374" cy="2329588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8289135" y="3652224"/>
            <a:ext cx="2307643" cy="838995"/>
            <a:chOff x="9371768" y="4533458"/>
            <a:chExt cx="2307643" cy="838995"/>
          </a:xfrm>
        </p:grpSpPr>
        <p:grpSp>
          <p:nvGrpSpPr>
            <p:cNvPr id="17" name="Group 16"/>
            <p:cNvGrpSpPr/>
            <p:nvPr/>
          </p:nvGrpSpPr>
          <p:grpSpPr>
            <a:xfrm>
              <a:off x="9371768" y="4893191"/>
              <a:ext cx="2307643" cy="479262"/>
              <a:chOff x="9371768" y="4893191"/>
              <a:chExt cx="2307643" cy="479262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16"/>
              <a:srcRect r="5324"/>
              <a:stretch/>
            </p:blipFill>
            <p:spPr>
              <a:xfrm>
                <a:off x="9371768" y="4893191"/>
                <a:ext cx="1299365" cy="479262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73803" y="5012603"/>
                <a:ext cx="297349" cy="270317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71152" y="4969895"/>
                <a:ext cx="608259" cy="325853"/>
              </a:xfrm>
              <a:prstGeom prst="rect">
                <a:avLst/>
              </a:prstGeom>
            </p:spPr>
          </p:pic>
        </p:grpSp>
        <p:sp>
          <p:nvSpPr>
            <p:cNvPr id="18" name="TextBox 17"/>
            <p:cNvSpPr txBox="1"/>
            <p:nvPr/>
          </p:nvSpPr>
          <p:spPr>
            <a:xfrm>
              <a:off x="9452288" y="4533458"/>
              <a:ext cx="1578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Relative error: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694671" y="5649323"/>
            <a:ext cx="1533433" cy="652955"/>
            <a:chOff x="10694671" y="5649323"/>
            <a:chExt cx="1533433" cy="652955"/>
          </a:xfrm>
        </p:grpSpPr>
        <p:sp>
          <p:nvSpPr>
            <p:cNvPr id="43" name="TextBox 42"/>
            <p:cNvSpPr txBox="1"/>
            <p:nvPr/>
          </p:nvSpPr>
          <p:spPr>
            <a:xfrm>
              <a:off x="10694671" y="5649323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Heat capacity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11927229" y="6018655"/>
              <a:ext cx="0" cy="283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CE9BD17-513A-46AE-AC44-09053F0F9A3E}"/>
              </a:ext>
            </a:extLst>
          </p:cNvPr>
          <p:cNvGrpSpPr/>
          <p:nvPr/>
        </p:nvGrpSpPr>
        <p:grpSpPr>
          <a:xfrm>
            <a:off x="871798" y="3707590"/>
            <a:ext cx="5721067" cy="1016301"/>
            <a:chOff x="871798" y="3628078"/>
            <a:chExt cx="5721067" cy="101630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AD20ED-6EC7-48F9-82AD-70706E9CCD64}"/>
                </a:ext>
              </a:extLst>
            </p:cNvPr>
            <p:cNvSpPr txBox="1"/>
            <p:nvPr/>
          </p:nvSpPr>
          <p:spPr>
            <a:xfrm>
              <a:off x="881699" y="4275047"/>
              <a:ext cx="7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let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F60A4B1-405E-4592-898E-242E62DDB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71798" y="3628078"/>
              <a:ext cx="5721067" cy="50618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BFB055-412F-4C3A-9A84-EB87548D2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758114" y="4344816"/>
              <a:ext cx="1471917" cy="22979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739FA63-015F-4781-BA24-3C6B3E61BB01}"/>
              </a:ext>
            </a:extLst>
          </p:cNvPr>
          <p:cNvSpPr/>
          <p:nvPr/>
        </p:nvSpPr>
        <p:spPr>
          <a:xfrm>
            <a:off x="483476" y="3551563"/>
            <a:ext cx="6138128" cy="221573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813A979-E2B2-4DD5-BC63-980EAC389D6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2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030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reach equilibrium?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0351" y="2620190"/>
            <a:ext cx="7572953" cy="964258"/>
          </a:xfrm>
          <a:custGeom>
            <a:avLst/>
            <a:gdLst>
              <a:gd name="connsiteX0" fmla="*/ 0 w 6568973"/>
              <a:gd name="connsiteY0" fmla="*/ 0 h 836422"/>
              <a:gd name="connsiteX1" fmla="*/ 6568973 w 6568973"/>
              <a:gd name="connsiteY1" fmla="*/ 0 h 836422"/>
              <a:gd name="connsiteX2" fmla="*/ 6568973 w 6568973"/>
              <a:gd name="connsiteY2" fmla="*/ 580210 h 836422"/>
              <a:gd name="connsiteX3" fmla="*/ 548641 w 6568973"/>
              <a:gd name="connsiteY3" fmla="*/ 580210 h 836422"/>
              <a:gd name="connsiteX4" fmla="*/ 548641 w 6568973"/>
              <a:gd name="connsiteY4" fmla="*/ 836422 h 836422"/>
              <a:gd name="connsiteX5" fmla="*/ 0 w 6568973"/>
              <a:gd name="connsiteY5" fmla="*/ 836422 h 836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8973" h="836422">
                <a:moveTo>
                  <a:pt x="0" y="0"/>
                </a:moveTo>
                <a:lnTo>
                  <a:pt x="6568973" y="0"/>
                </a:lnTo>
                <a:lnTo>
                  <a:pt x="6568973" y="580210"/>
                </a:lnTo>
                <a:lnTo>
                  <a:pt x="548641" y="580210"/>
                </a:lnTo>
                <a:lnTo>
                  <a:pt x="548641" y="836422"/>
                </a:lnTo>
                <a:lnTo>
                  <a:pt x="0" y="836422"/>
                </a:lnTo>
                <a:close/>
              </a:path>
            </a:pathLst>
          </a:cu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848" y="3328090"/>
            <a:ext cx="1971757" cy="56877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2D889A-2022-47F8-BE8B-C9C1D2576A1B}"/>
              </a:ext>
            </a:extLst>
          </p:cNvPr>
          <p:cNvGrpSpPr/>
          <p:nvPr/>
        </p:nvGrpSpPr>
        <p:grpSpPr>
          <a:xfrm>
            <a:off x="530351" y="4015641"/>
            <a:ext cx="7395573" cy="814853"/>
            <a:chOff x="530351" y="3676429"/>
            <a:chExt cx="7395573" cy="81485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A0154E-7C74-4C95-86A4-420701A59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0351" y="3676429"/>
              <a:ext cx="7395573" cy="577779"/>
            </a:xfrm>
            <a:custGeom>
              <a:avLst/>
              <a:gdLst>
                <a:gd name="connsiteX0" fmla="*/ 0 w 7395573"/>
                <a:gd name="connsiteY0" fmla="*/ 0 h 577779"/>
                <a:gd name="connsiteX1" fmla="*/ 7395573 w 7395573"/>
                <a:gd name="connsiteY1" fmla="*/ 0 h 577779"/>
                <a:gd name="connsiteX2" fmla="*/ 7395573 w 7395573"/>
                <a:gd name="connsiteY2" fmla="*/ 297115 h 577779"/>
                <a:gd name="connsiteX3" fmla="*/ 3894504 w 7395573"/>
                <a:gd name="connsiteY3" fmla="*/ 297115 h 577779"/>
                <a:gd name="connsiteX4" fmla="*/ 3894504 w 7395573"/>
                <a:gd name="connsiteY4" fmla="*/ 365219 h 577779"/>
                <a:gd name="connsiteX5" fmla="*/ 3840481 w 7395573"/>
                <a:gd name="connsiteY5" fmla="*/ 365219 h 577779"/>
                <a:gd name="connsiteX6" fmla="*/ 3840481 w 7395573"/>
                <a:gd name="connsiteY6" fmla="*/ 577779 h 577779"/>
                <a:gd name="connsiteX7" fmla="*/ 0 w 7395573"/>
                <a:gd name="connsiteY7" fmla="*/ 577779 h 5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95573" h="577779">
                  <a:moveTo>
                    <a:pt x="0" y="0"/>
                  </a:moveTo>
                  <a:lnTo>
                    <a:pt x="7395573" y="0"/>
                  </a:lnTo>
                  <a:lnTo>
                    <a:pt x="7395573" y="297115"/>
                  </a:lnTo>
                  <a:lnTo>
                    <a:pt x="3894504" y="297115"/>
                  </a:lnTo>
                  <a:lnTo>
                    <a:pt x="3894504" y="365219"/>
                  </a:lnTo>
                  <a:lnTo>
                    <a:pt x="3840481" y="365219"/>
                  </a:lnTo>
                  <a:lnTo>
                    <a:pt x="3840481" y="577779"/>
                  </a:lnTo>
                  <a:lnTo>
                    <a:pt x="0" y="577779"/>
                  </a:lnTo>
                  <a:close/>
                </a:path>
              </a:pathLst>
            </a:cu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848" y="3944585"/>
              <a:ext cx="1796289" cy="54669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BD4A39-3CEB-40D1-9191-F1E8E709319D}"/>
              </a:ext>
            </a:extLst>
          </p:cNvPr>
          <p:cNvGrpSpPr/>
          <p:nvPr/>
        </p:nvGrpSpPr>
        <p:grpSpPr>
          <a:xfrm>
            <a:off x="530351" y="4980649"/>
            <a:ext cx="7242050" cy="1004623"/>
            <a:chOff x="530351" y="4449707"/>
            <a:chExt cx="7242050" cy="100462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0D975A-5FB4-4D00-BF6A-24F2D4234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530351" y="4449707"/>
              <a:ext cx="7242050" cy="607253"/>
            </a:xfrm>
            <a:custGeom>
              <a:avLst/>
              <a:gdLst>
                <a:gd name="connsiteX0" fmla="*/ 0 w 7242050"/>
                <a:gd name="connsiteY0" fmla="*/ 0 h 607253"/>
                <a:gd name="connsiteX1" fmla="*/ 7242050 w 7242050"/>
                <a:gd name="connsiteY1" fmla="*/ 0 h 607253"/>
                <a:gd name="connsiteX2" fmla="*/ 7242050 w 7242050"/>
                <a:gd name="connsiteY2" fmla="*/ 294498 h 607253"/>
                <a:gd name="connsiteX3" fmla="*/ 3579194 w 7242050"/>
                <a:gd name="connsiteY3" fmla="*/ 294498 h 607253"/>
                <a:gd name="connsiteX4" fmla="*/ 3579194 w 7242050"/>
                <a:gd name="connsiteY4" fmla="*/ 607253 h 607253"/>
                <a:gd name="connsiteX5" fmla="*/ 0 w 7242050"/>
                <a:gd name="connsiteY5" fmla="*/ 607253 h 60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050" h="607253">
                  <a:moveTo>
                    <a:pt x="0" y="0"/>
                  </a:moveTo>
                  <a:lnTo>
                    <a:pt x="7242050" y="0"/>
                  </a:lnTo>
                  <a:lnTo>
                    <a:pt x="7242050" y="294498"/>
                  </a:lnTo>
                  <a:lnTo>
                    <a:pt x="3579194" y="294498"/>
                  </a:lnTo>
                  <a:lnTo>
                    <a:pt x="3579194" y="607253"/>
                  </a:lnTo>
                  <a:lnTo>
                    <a:pt x="0" y="607253"/>
                  </a:lnTo>
                  <a:close/>
                </a:path>
              </a:pathLst>
            </a:cu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5115" y="4959900"/>
              <a:ext cx="2578098" cy="494430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1335024" y="612196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……</a:t>
            </a:r>
            <a:r>
              <a:rPr lang="en-US" dirty="0"/>
              <a:t>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A55AC8-27F9-49AB-8593-A015D9E96522}"/>
              </a:ext>
            </a:extLst>
          </p:cNvPr>
          <p:cNvGrpSpPr/>
          <p:nvPr/>
        </p:nvGrpSpPr>
        <p:grpSpPr>
          <a:xfrm>
            <a:off x="9583735" y="1293640"/>
            <a:ext cx="2942721" cy="2918497"/>
            <a:chOff x="2486113" y="3307097"/>
            <a:chExt cx="2942721" cy="291849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A405FC-D54B-4C85-AF61-605B4AA46FE0}"/>
                </a:ext>
              </a:extLst>
            </p:cNvPr>
            <p:cNvGrpSpPr/>
            <p:nvPr/>
          </p:nvGrpSpPr>
          <p:grpSpPr>
            <a:xfrm>
              <a:off x="2486113" y="3307097"/>
              <a:ext cx="2942721" cy="2343730"/>
              <a:chOff x="2486113" y="3307097"/>
              <a:chExt cx="2942721" cy="2343730"/>
            </a:xfrm>
          </p:grpSpPr>
          <p:pic>
            <p:nvPicPr>
              <p:cNvPr id="12" name="Picture 2" descr="Isentrophic Compression | Glenn Research Center | NASA">
                <a:extLst>
                  <a:ext uri="{FF2B5EF4-FFF2-40B4-BE49-F238E27FC236}">
                    <a16:creationId xmlns:a16="http://schemas.microsoft.com/office/drawing/2014/main" id="{1F4F6621-EE43-4DDB-96B4-29B3B2258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39" r="68822" b="38266"/>
              <a:stretch/>
            </p:blipFill>
            <p:spPr bwMode="auto">
              <a:xfrm>
                <a:off x="2486113" y="3676429"/>
                <a:ext cx="1830714" cy="1974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D6DD2BE-5FA2-47EA-91A1-ECE3EBDD4BCE}"/>
                  </a:ext>
                </a:extLst>
              </p:cNvPr>
              <p:cNvGrpSpPr/>
              <p:nvPr/>
            </p:nvGrpSpPr>
            <p:grpSpPr>
              <a:xfrm>
                <a:off x="3677896" y="3307097"/>
                <a:ext cx="1750938" cy="987174"/>
                <a:chOff x="3677896" y="3307097"/>
                <a:chExt cx="1750938" cy="98717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906817-67E8-43C8-BBB3-87466B463BF8}"/>
                    </a:ext>
                  </a:extLst>
                </p:cNvPr>
                <p:cNvSpPr txBox="1"/>
                <p:nvPr/>
              </p:nvSpPr>
              <p:spPr>
                <a:xfrm>
                  <a:off x="3863662" y="3307097"/>
                  <a:ext cx="15651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External force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F014CFC-41D6-4056-A1B8-C84C18207388}"/>
                    </a:ext>
                  </a:extLst>
                </p:cNvPr>
                <p:cNvCxnSpPr>
                  <a:cxnSpLocks/>
                  <a:stCxn id="13" idx="1"/>
                </p:cNvCxnSpPr>
                <p:nvPr/>
              </p:nvCxnSpPr>
              <p:spPr>
                <a:xfrm flipH="1">
                  <a:off x="3677896" y="3491763"/>
                  <a:ext cx="185766" cy="8025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9" name="Picture 2" descr="Isentrophic Compression | Glenn Research Center | NASA">
              <a:extLst>
                <a:ext uri="{FF2B5EF4-FFF2-40B4-BE49-F238E27FC236}">
                  <a16:creationId xmlns:a16="http://schemas.microsoft.com/office/drawing/2014/main" id="{9B9BD89F-D06E-4C96-B4C0-899B5606ED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14" t="1217" r="639" b="85792"/>
            <a:stretch/>
          </p:blipFill>
          <p:spPr bwMode="auto">
            <a:xfrm>
              <a:off x="3434133" y="5654278"/>
              <a:ext cx="936352" cy="57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4" descr="Helmholtz Free Energy: Definition and Equation">
            <a:extLst>
              <a:ext uri="{FF2B5EF4-FFF2-40B4-BE49-F238E27FC236}">
                <a16:creationId xmlns:a16="http://schemas.microsoft.com/office/drawing/2014/main" id="{CD4B8BCC-BABF-4626-9BB6-88117A0E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334" y="4139255"/>
            <a:ext cx="2757732" cy="24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oup 30"/>
          <p:cNvGrpSpPr/>
          <p:nvPr/>
        </p:nvGrpSpPr>
        <p:grpSpPr>
          <a:xfrm>
            <a:off x="582984" y="1725213"/>
            <a:ext cx="3225922" cy="2271776"/>
            <a:chOff x="693081" y="3127257"/>
            <a:chExt cx="3225922" cy="2271776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3081" y="3127257"/>
              <a:ext cx="3225922" cy="227177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79714" y="3822587"/>
              <a:ext cx="182591" cy="243454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73955" y="3804171"/>
              <a:ext cx="843596" cy="199963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79714" y="3241761"/>
              <a:ext cx="673637" cy="307099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DFAC93-0174-4F77-814F-D0D7F49A4DAE}"/>
              </a:ext>
            </a:extLst>
          </p:cNvPr>
          <p:cNvSpPr/>
          <p:nvPr/>
        </p:nvSpPr>
        <p:spPr>
          <a:xfrm>
            <a:off x="530351" y="3996989"/>
            <a:ext cx="7572953" cy="9642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BEC51A-F17B-4952-907F-6FEA9E936E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3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2796" y="5003473"/>
            <a:ext cx="2246597" cy="60377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4316" y="6041265"/>
            <a:ext cx="2479243" cy="33056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90960" y="6459639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DFA4354-0545-4788-B9B7-29261BD58758}"/>
              </a:ext>
            </a:extLst>
          </p:cNvPr>
          <p:cNvGrpSpPr/>
          <p:nvPr/>
        </p:nvGrpSpPr>
        <p:grpSpPr>
          <a:xfrm>
            <a:off x="867241" y="3519675"/>
            <a:ext cx="5410279" cy="1083923"/>
            <a:chOff x="651866" y="5762041"/>
            <a:chExt cx="5410279" cy="1083923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025DC2F-2A54-40A0-8925-96FC2589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CC81778-2BF0-4560-91FA-16362A126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8A6C36B-43F1-4970-8A24-EC5D8EA969DF}"/>
                </a:ext>
              </a:extLst>
            </p:cNvPr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8F4BFD-01FE-4DDD-84D3-2153CFA996E4}"/>
              </a:ext>
            </a:extLst>
          </p:cNvPr>
          <p:cNvGrpSpPr/>
          <p:nvPr/>
        </p:nvGrpSpPr>
        <p:grpSpPr>
          <a:xfrm>
            <a:off x="724172" y="4746203"/>
            <a:ext cx="3091083" cy="957658"/>
            <a:chOff x="724172" y="4746203"/>
            <a:chExt cx="3091083" cy="957658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62CDC3E-6532-44FC-A3EA-D5B7510DF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36034" y="4974384"/>
              <a:ext cx="2579221" cy="729477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C1CAB6A-20D7-49C4-80AE-CE93851F77BE}"/>
                </a:ext>
              </a:extLst>
            </p:cNvPr>
            <p:cNvSpPr txBox="1"/>
            <p:nvPr/>
          </p:nvSpPr>
          <p:spPr>
            <a:xfrm>
              <a:off x="724172" y="4746203"/>
              <a:ext cx="26810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Helmholtz free energy: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ABB1D36-270C-4D7E-8699-C7E21F4F9C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98E1941-D61A-4C54-B946-0DF560434F62}"/>
              </a:ext>
            </a:extLst>
          </p:cNvPr>
          <p:cNvGrpSpPr/>
          <p:nvPr/>
        </p:nvGrpSpPr>
        <p:grpSpPr>
          <a:xfrm>
            <a:off x="3815255" y="5115535"/>
            <a:ext cx="3489095" cy="981701"/>
            <a:chOff x="3815255" y="5115535"/>
            <a:chExt cx="3489095" cy="981701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624373" y="5559378"/>
              <a:ext cx="1679977" cy="537858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3815255" y="5674418"/>
              <a:ext cx="1603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(using 1</a:t>
              </a:r>
              <a:r>
                <a:rPr lang="en-US" sz="1400" baseline="30000" dirty="0"/>
                <a:t>st</a:t>
              </a:r>
              <a:r>
                <a:rPr lang="en-US" sz="1400" dirty="0"/>
                <a:t> law in F.)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5AC2AE7F-143D-4BFE-B784-782ED5A0F8C3}"/>
                </a:ext>
              </a:extLst>
            </p:cNvPr>
            <p:cNvSpPr/>
            <p:nvPr/>
          </p:nvSpPr>
          <p:spPr>
            <a:xfrm>
              <a:off x="4164759" y="5115535"/>
              <a:ext cx="2675312" cy="3204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AEA73-0334-4FDC-A6A7-F7B7F16A2AE5}"/>
              </a:ext>
            </a:extLst>
          </p:cNvPr>
          <p:cNvGrpSpPr/>
          <p:nvPr/>
        </p:nvGrpSpPr>
        <p:grpSpPr>
          <a:xfrm>
            <a:off x="8025153" y="4215225"/>
            <a:ext cx="1245832" cy="734432"/>
            <a:chOff x="8025153" y="4215225"/>
            <a:chExt cx="1245832" cy="734432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8EF28A45-813E-4698-B234-92064558027A}"/>
                </a:ext>
              </a:extLst>
            </p:cNvPr>
            <p:cNvSpPr/>
            <p:nvPr/>
          </p:nvSpPr>
          <p:spPr>
            <a:xfrm rot="16200000">
              <a:off x="8626570" y="4543646"/>
              <a:ext cx="250463" cy="56155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42222DA-9C88-4D06-8D75-7453FE7BC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25153" y="4215225"/>
              <a:ext cx="1245832" cy="517499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B3412DE-0E42-4EAA-AD26-3DE9E884D991}"/>
              </a:ext>
            </a:extLst>
          </p:cNvPr>
          <p:cNvSpPr txBox="1"/>
          <p:nvPr/>
        </p:nvSpPr>
        <p:spPr>
          <a:xfrm>
            <a:off x="1151934" y="6413572"/>
            <a:ext cx="395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Average energy == Internal Energy </a:t>
            </a:r>
            <a:endParaRPr lang="en-MY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23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6384" y="4081552"/>
            <a:ext cx="2479243" cy="3305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4572" y="3603800"/>
            <a:ext cx="268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Helmholtz free energy: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962" y="4851946"/>
            <a:ext cx="7958918" cy="209192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281844B-C79C-491E-B0A5-11A563F10975}"/>
              </a:ext>
            </a:extLst>
          </p:cNvPr>
          <p:cNvGrpSpPr/>
          <p:nvPr/>
        </p:nvGrpSpPr>
        <p:grpSpPr>
          <a:xfrm>
            <a:off x="867241" y="3519675"/>
            <a:ext cx="5410279" cy="1083923"/>
            <a:chOff x="651866" y="5762041"/>
            <a:chExt cx="5410279" cy="108392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3ACA4FC-F5AB-4BB4-AC1C-3760AEC0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315965-CB3E-469D-92CE-81C4DBFE0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867D82-0B19-4A78-BA8C-2E8C1FAA0AE3}"/>
                </a:ext>
              </a:extLst>
            </p:cNvPr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BDBA9BC-93D5-40B5-8DB5-04754F4F5CC5}"/>
              </a:ext>
            </a:extLst>
          </p:cNvPr>
          <p:cNvGrpSpPr/>
          <p:nvPr/>
        </p:nvGrpSpPr>
        <p:grpSpPr>
          <a:xfrm>
            <a:off x="8160091" y="5897906"/>
            <a:ext cx="4085019" cy="807544"/>
            <a:chOff x="8160091" y="5897906"/>
            <a:chExt cx="4085019" cy="807544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705AEF0-CD7C-4A31-8A3B-202E5C0250E2}"/>
                </a:ext>
              </a:extLst>
            </p:cNvPr>
            <p:cNvSpPr/>
            <p:nvPr/>
          </p:nvSpPr>
          <p:spPr>
            <a:xfrm>
              <a:off x="8160091" y="5897906"/>
              <a:ext cx="458129" cy="807544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085EF9-05C8-4005-A0B5-C74C2BC89B4C}"/>
                </a:ext>
              </a:extLst>
            </p:cNvPr>
            <p:cNvSpPr txBox="1"/>
            <p:nvPr/>
          </p:nvSpPr>
          <p:spPr>
            <a:xfrm>
              <a:off x="8618220" y="6117012"/>
              <a:ext cx="3626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Connection to the thermodynamic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E790376-6F45-4C8E-83EA-D800A0F495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8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52" y="5060255"/>
            <a:ext cx="2785707" cy="7888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22" name="Freeform 21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26" name="Group 25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87DD0B-6C3B-4139-A595-D06F18613C37}"/>
              </a:ext>
            </a:extLst>
          </p:cNvPr>
          <p:cNvGrpSpPr/>
          <p:nvPr/>
        </p:nvGrpSpPr>
        <p:grpSpPr>
          <a:xfrm>
            <a:off x="3668427" y="1962194"/>
            <a:ext cx="1302381" cy="617045"/>
            <a:chOff x="3668427" y="1962194"/>
            <a:chExt cx="1302381" cy="617045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4141694" y="2279417"/>
              <a:ext cx="13448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68427" y="1962194"/>
              <a:ext cx="1302381" cy="23749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4BB6C3-BD1B-4A4C-9B3B-81CC0C439408}"/>
              </a:ext>
            </a:extLst>
          </p:cNvPr>
          <p:cNvGrpSpPr/>
          <p:nvPr/>
        </p:nvGrpSpPr>
        <p:grpSpPr>
          <a:xfrm>
            <a:off x="5088285" y="2063378"/>
            <a:ext cx="2929023" cy="515861"/>
            <a:chOff x="5088285" y="2063378"/>
            <a:chExt cx="2929023" cy="515861"/>
          </a:xfrm>
        </p:grpSpPr>
        <p:cxnSp>
          <p:nvCxnSpPr>
            <p:cNvPr id="45" name="Straight Arrow Connector 44"/>
            <p:cNvCxnSpPr/>
            <p:nvPr/>
          </p:nvCxnSpPr>
          <p:spPr>
            <a:xfrm flipH="1">
              <a:off x="5088285" y="2279417"/>
              <a:ext cx="440649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528934" y="2063378"/>
              <a:ext cx="248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excited states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369015-D614-4885-9680-3CA65613DA29}"/>
              </a:ext>
            </a:extLst>
          </p:cNvPr>
          <p:cNvGrpSpPr/>
          <p:nvPr/>
        </p:nvGrpSpPr>
        <p:grpSpPr>
          <a:xfrm>
            <a:off x="2810949" y="3602255"/>
            <a:ext cx="3902267" cy="1139409"/>
            <a:chOff x="3668427" y="4359933"/>
            <a:chExt cx="3902267" cy="1139409"/>
          </a:xfrm>
        </p:grpSpPr>
        <p:sp>
          <p:nvSpPr>
            <p:cNvPr id="49" name="Rectangle 48"/>
            <p:cNvSpPr/>
            <p:nvPr/>
          </p:nvSpPr>
          <p:spPr>
            <a:xfrm>
              <a:off x="5959338" y="435993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68427" y="4773494"/>
              <a:ext cx="3902267" cy="725848"/>
            </a:xfrm>
            <a:prstGeom prst="rect">
              <a:avLst/>
            </a:prstGeom>
          </p:spPr>
        </p:pic>
      </p:grpSp>
      <p:sp>
        <p:nvSpPr>
          <p:cNvPr id="51" name="Rectangle 50"/>
          <p:cNvSpPr/>
          <p:nvPr/>
        </p:nvSpPr>
        <p:spPr>
          <a:xfrm>
            <a:off x="849648" y="4171960"/>
            <a:ext cx="179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Microcanonical</a:t>
            </a:r>
            <a:r>
              <a:rPr lang="en-US" dirty="0"/>
              <a:t>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5725" y="5271351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Canonical: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5F8B7E0-41F5-424D-B04F-27F41955EA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9" y="2388189"/>
            <a:ext cx="2785707" cy="78887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26" name="Group 25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sp>
        <p:nvSpPr>
          <p:cNvPr id="52" name="Rectangle 51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6" y="3193772"/>
            <a:ext cx="4877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Much straightforward than </a:t>
            </a:r>
            <a:r>
              <a:rPr lang="en-US" sz="1600" dirty="0" err="1"/>
              <a:t>microcanonical</a:t>
            </a:r>
            <a:r>
              <a:rPr lang="en-US" sz="1600" dirty="0"/>
              <a:t> ensemble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21B450-2EF8-41AF-9B27-07BC0431857C}"/>
              </a:ext>
            </a:extLst>
          </p:cNvPr>
          <p:cNvGrpSpPr/>
          <p:nvPr/>
        </p:nvGrpSpPr>
        <p:grpSpPr>
          <a:xfrm>
            <a:off x="205593" y="3577092"/>
            <a:ext cx="5631491" cy="1383095"/>
            <a:chOff x="205593" y="3577092"/>
            <a:chExt cx="5631491" cy="138309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899" y="3761297"/>
              <a:ext cx="5352185" cy="119889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205593" y="3577092"/>
              <a:ext cx="21639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1. Partition function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FB9D62-914B-4794-94FF-69D4EE7161FC}"/>
              </a:ext>
            </a:extLst>
          </p:cNvPr>
          <p:cNvGrpSpPr/>
          <p:nvPr/>
        </p:nvGrpSpPr>
        <p:grpSpPr>
          <a:xfrm>
            <a:off x="205593" y="4882160"/>
            <a:ext cx="4495976" cy="829872"/>
            <a:chOff x="205593" y="4882160"/>
            <a:chExt cx="4495976" cy="829872"/>
          </a:xfrm>
        </p:grpSpPr>
        <p:sp>
          <p:nvSpPr>
            <p:cNvPr id="54" name="Rectangle 53"/>
            <p:cNvSpPr/>
            <p:nvPr/>
          </p:nvSpPr>
          <p:spPr>
            <a:xfrm>
              <a:off x="205593" y="4882160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082" y="5274666"/>
              <a:ext cx="4166487" cy="43736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7F21C8-8274-4C7D-9D49-4890D1A79296}"/>
              </a:ext>
            </a:extLst>
          </p:cNvPr>
          <p:cNvGrpSpPr/>
          <p:nvPr/>
        </p:nvGrpSpPr>
        <p:grpSpPr>
          <a:xfrm>
            <a:off x="205592" y="5698059"/>
            <a:ext cx="6159580" cy="1167461"/>
            <a:chOff x="205592" y="5698059"/>
            <a:chExt cx="6159580" cy="1167461"/>
          </a:xfrm>
        </p:grpSpPr>
        <p:sp>
          <p:nvSpPr>
            <p:cNvPr id="55" name="Rectangle 54"/>
            <p:cNvSpPr/>
            <p:nvPr/>
          </p:nvSpPr>
          <p:spPr>
            <a:xfrm>
              <a:off x="205592" y="5698059"/>
              <a:ext cx="38337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3. Get the thermodynamic quantities</a:t>
              </a:r>
            </a:p>
          </p:txBody>
        </p:sp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1361" y="5991219"/>
              <a:ext cx="5883811" cy="874301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630" y="5973243"/>
            <a:ext cx="2554093" cy="7140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0644" y="5964099"/>
            <a:ext cx="1647459" cy="63931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3732C38-043D-4B46-9264-1CEAE69FF9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7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49684" y="4738099"/>
            <a:ext cx="5534480" cy="677212"/>
            <a:chOff x="579905" y="3294428"/>
            <a:chExt cx="5534480" cy="67721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r="81861" b="50938"/>
            <a:stretch/>
          </p:blipFill>
          <p:spPr>
            <a:xfrm>
              <a:off x="579905" y="3353127"/>
              <a:ext cx="990906" cy="618513"/>
            </a:xfrm>
            <a:prstGeom prst="rect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/>
          </p:nvPicPr>
          <p:blipFill rotWithShape="1">
            <a:blip r:embed="rId2"/>
            <a:srcRect l="17550" t="47050"/>
            <a:stretch/>
          </p:blipFill>
          <p:spPr>
            <a:xfrm>
              <a:off x="1610257" y="3294428"/>
              <a:ext cx="4504128" cy="667527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59" y="2558499"/>
            <a:ext cx="5883811" cy="8743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3216B6A-867C-4F06-909C-C633DE610AF0}"/>
              </a:ext>
            </a:extLst>
          </p:cNvPr>
          <p:cNvGrpSpPr/>
          <p:nvPr/>
        </p:nvGrpSpPr>
        <p:grpSpPr>
          <a:xfrm>
            <a:off x="7341116" y="2455191"/>
            <a:ext cx="3022824" cy="3000622"/>
            <a:chOff x="7341116" y="2455191"/>
            <a:chExt cx="3022824" cy="3000622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 rotWithShape="1">
            <a:blip r:embed="rId4"/>
            <a:srcRect l="10553"/>
            <a:stretch/>
          </p:blipFill>
          <p:spPr>
            <a:xfrm>
              <a:off x="7341116" y="4904509"/>
              <a:ext cx="2525036" cy="55130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8436" y="2455191"/>
              <a:ext cx="2935504" cy="820679"/>
            </a:xfrm>
            <a:prstGeom prst="rect">
              <a:avLst/>
            </a:prstGeom>
          </p:spPr>
        </p:pic>
      </p:grpSp>
      <p:sp>
        <p:nvSpPr>
          <p:cNvPr id="14" name="Rectangle 13"/>
          <p:cNvSpPr/>
          <p:nvPr/>
        </p:nvSpPr>
        <p:spPr>
          <a:xfrm>
            <a:off x="289671" y="4249922"/>
            <a:ext cx="1943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Mircocanonical</a:t>
            </a:r>
            <a:r>
              <a:rPr lang="en-US" b="1" dirty="0"/>
              <a:t>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C34EC7-FF19-418F-BAFA-8FF166D2A6C7}"/>
              </a:ext>
            </a:extLst>
          </p:cNvPr>
          <p:cNvGrpSpPr/>
          <p:nvPr/>
        </p:nvGrpSpPr>
        <p:grpSpPr>
          <a:xfrm>
            <a:off x="7428436" y="3432800"/>
            <a:ext cx="1784144" cy="2982403"/>
            <a:chOff x="7428436" y="3432800"/>
            <a:chExt cx="1784144" cy="298240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28436" y="3432800"/>
              <a:ext cx="1784144" cy="692354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39126" y="5775891"/>
              <a:ext cx="1647459" cy="639312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D81CCA6-566F-4C7D-82CF-DA92F194C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Idea gas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593" y="3358432"/>
            <a:ext cx="21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Partition function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593" y="5771448"/>
            <a:ext cx="161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2. Free energy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1848" y="2538548"/>
            <a:ext cx="3833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3. Get the thermodynamic quantities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332420"/>
            <a:ext cx="4572000" cy="75460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7" y="3727764"/>
            <a:ext cx="4592265" cy="143508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571" y="5162847"/>
            <a:ext cx="1887896" cy="6213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21" y="5255607"/>
            <a:ext cx="655259" cy="3170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84" y="6219775"/>
            <a:ext cx="1327942" cy="44264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799" y="6129108"/>
            <a:ext cx="3343833" cy="59635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1848" y="3095181"/>
            <a:ext cx="6077036" cy="64554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9726" y="3928028"/>
            <a:ext cx="1495143" cy="36722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8380434" y="3891477"/>
            <a:ext cx="271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equipartition of energy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0360" y="4751076"/>
            <a:ext cx="4534831" cy="76743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0115271" y="5333843"/>
            <a:ext cx="147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Idea gas law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8609" y="6083537"/>
            <a:ext cx="50315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Microcanonical</a:t>
            </a:r>
            <a:r>
              <a:rPr lang="en-US" b="1" dirty="0">
                <a:solidFill>
                  <a:srgbClr val="FF0000"/>
                </a:solidFill>
              </a:rPr>
              <a:t> and Canonical ensemble gives the same thermodynamic properties.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C1D357-0D93-4144-8F92-A5DA514B12FF}"/>
              </a:ext>
            </a:extLst>
          </p:cNvPr>
          <p:cNvSpPr/>
          <p:nvPr/>
        </p:nvSpPr>
        <p:spPr>
          <a:xfrm>
            <a:off x="2914650" y="4080173"/>
            <a:ext cx="410247" cy="274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F71AAE-2902-4636-B950-6DEB7B06A80D}"/>
              </a:ext>
            </a:extLst>
          </p:cNvPr>
          <p:cNvSpPr/>
          <p:nvPr/>
        </p:nvSpPr>
        <p:spPr>
          <a:xfrm>
            <a:off x="2081090" y="4087730"/>
            <a:ext cx="410247" cy="274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654470-1B70-4B7F-8F62-479E3F9572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2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7" grpId="0"/>
      <p:bldP spid="60" grpId="0"/>
      <p:bldP spid="61" grpId="0"/>
      <p:bldP spid="3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86D9-5DA7-41D8-8EEF-C51A80D3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Virial theorem and equipartition of energy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3820C-7CDF-4E9E-8621-06700695D718}"/>
              </a:ext>
            </a:extLst>
          </p:cNvPr>
          <p:cNvSpPr txBox="1"/>
          <p:nvPr/>
        </p:nvSpPr>
        <p:spPr>
          <a:xfrm>
            <a:off x="1024128" y="2632668"/>
            <a:ext cx="2398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Virial theorem:</a:t>
            </a:r>
            <a:endParaRPr lang="en-MY" sz="24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43F3E-0CF7-42DD-A22B-527D1643FAED}"/>
              </a:ext>
            </a:extLst>
          </p:cNvPr>
          <p:cNvGrpSpPr/>
          <p:nvPr/>
        </p:nvGrpSpPr>
        <p:grpSpPr>
          <a:xfrm>
            <a:off x="872770" y="5292778"/>
            <a:ext cx="2550092" cy="1352844"/>
            <a:chOff x="935421" y="4482657"/>
            <a:chExt cx="2550092" cy="13528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CFC887-D3E2-44C5-94CA-B3E22FC27005}"/>
                </a:ext>
              </a:extLst>
            </p:cNvPr>
            <p:cNvSpPr txBox="1"/>
            <p:nvPr/>
          </p:nvSpPr>
          <p:spPr>
            <a:xfrm>
              <a:off x="935421" y="4482657"/>
              <a:ext cx="2103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Integrating by part,</a:t>
              </a:r>
              <a:endParaRPr lang="en-MY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4056BCB-344E-4E91-B70C-AD98F9275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28" y="4931711"/>
              <a:ext cx="2461385" cy="9037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68668B-CC0B-4D35-A3F1-8C203A8AD7CB}"/>
              </a:ext>
            </a:extLst>
          </p:cNvPr>
          <p:cNvGrpSpPr/>
          <p:nvPr/>
        </p:nvGrpSpPr>
        <p:grpSpPr>
          <a:xfrm>
            <a:off x="4745421" y="4333777"/>
            <a:ext cx="4100685" cy="2275313"/>
            <a:chOff x="4745421" y="4333777"/>
            <a:chExt cx="4100685" cy="22753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ED3898-A3B7-4A75-8B48-264208700DFE}"/>
                </a:ext>
              </a:extLst>
            </p:cNvPr>
            <p:cNvSpPr txBox="1"/>
            <p:nvPr/>
          </p:nvSpPr>
          <p:spPr>
            <a:xfrm>
              <a:off x="4745421" y="6239758"/>
              <a:ext cx="3762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Generalized equipartition of energy.</a:t>
              </a:r>
              <a:endParaRPr lang="en-MY" dirty="0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A95EE9F-79A8-4E67-8002-8D5A78164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45421" y="4333777"/>
              <a:ext cx="3850723" cy="908969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F601CF91-1212-4C91-B2CB-BC7076E03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97063" y="5266182"/>
              <a:ext cx="4049043" cy="908969"/>
            </a:xfrm>
            <a:prstGeom prst="rect">
              <a:avLst/>
            </a:prstGeom>
          </p:spPr>
        </p:pic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66ABF782-C8D3-4AA3-8162-94A9F42F84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8796" y="3505940"/>
            <a:ext cx="1699163" cy="48247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52BCEA-8856-4623-A5B1-CFBEF8A1DD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94636" y="2993016"/>
            <a:ext cx="4552750" cy="157748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B1C9E14-D1E7-469F-9F28-CB8703E49E71}"/>
              </a:ext>
            </a:extLst>
          </p:cNvPr>
          <p:cNvGrpSpPr/>
          <p:nvPr/>
        </p:nvGrpSpPr>
        <p:grpSpPr>
          <a:xfrm>
            <a:off x="8214336" y="2382783"/>
            <a:ext cx="3801615" cy="1956632"/>
            <a:chOff x="8214336" y="2382783"/>
            <a:chExt cx="3801615" cy="19566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073A5E-B375-48D3-B708-80B9B245C57E}"/>
                </a:ext>
              </a:extLst>
            </p:cNvPr>
            <p:cNvGrpSpPr/>
            <p:nvPr/>
          </p:nvGrpSpPr>
          <p:grpSpPr>
            <a:xfrm>
              <a:off x="8589882" y="2775551"/>
              <a:ext cx="3426069" cy="1563864"/>
              <a:chOff x="8589882" y="2775551"/>
              <a:chExt cx="3426069" cy="156386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F20EC73-399C-4852-97D2-AE043A81E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89882" y="2775551"/>
                <a:ext cx="2406632" cy="86750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8391460-E112-4A09-8C45-915DBF6EF4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89882" y="3671363"/>
                <a:ext cx="3426069" cy="668052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887F38-27ED-4D83-B87F-23D0C92C2510}"/>
                </a:ext>
              </a:extLst>
            </p:cNvPr>
            <p:cNvSpPr txBox="1"/>
            <p:nvPr/>
          </p:nvSpPr>
          <p:spPr>
            <a:xfrm>
              <a:off x="8214336" y="2382783"/>
              <a:ext cx="3157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Easy to check with ideal gas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74D5E7D-B929-4884-83F6-28156E7CD9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BD8646E-0024-41EB-8640-AB6E70A43E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5987" y="4473553"/>
            <a:ext cx="2872364" cy="9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50270</TotalTime>
  <Words>370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canonical ensemble</vt:lpstr>
      <vt:lpstr>canonical ensemble</vt:lpstr>
      <vt:lpstr>canonical ensemble</vt:lpstr>
      <vt:lpstr>canonical ensemble</vt:lpstr>
      <vt:lpstr>Thermodynamics potential</vt:lpstr>
      <vt:lpstr>canonical ensemble</vt:lpstr>
      <vt:lpstr>canonical ensemble</vt:lpstr>
      <vt:lpstr>canonical ensemble: two level system</vt:lpstr>
      <vt:lpstr>canonical ensemble: two level system</vt:lpstr>
      <vt:lpstr>canonical ensemble: two level system</vt:lpstr>
      <vt:lpstr>Canonical Ensemble: Idea gas</vt:lpstr>
      <vt:lpstr>Virial theorem and equipartition of energy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1666</cp:revision>
  <dcterms:created xsi:type="dcterms:W3CDTF">2024-08-25T23:32:26Z</dcterms:created>
  <dcterms:modified xsi:type="dcterms:W3CDTF">2025-10-21T08:25:05Z</dcterms:modified>
</cp:coreProperties>
</file>