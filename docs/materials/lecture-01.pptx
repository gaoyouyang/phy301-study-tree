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7"/>
  </p:notesMasterIdLst>
  <p:sldIdLst>
    <p:sldId id="256" r:id="rId2"/>
    <p:sldId id="400" r:id="rId3"/>
    <p:sldId id="619" r:id="rId4"/>
    <p:sldId id="262" r:id="rId5"/>
    <p:sldId id="264" r:id="rId6"/>
    <p:sldId id="263" r:id="rId7"/>
    <p:sldId id="269" r:id="rId8"/>
    <p:sldId id="273" r:id="rId9"/>
    <p:sldId id="268" r:id="rId10"/>
    <p:sldId id="624" r:id="rId11"/>
    <p:sldId id="270" r:id="rId12"/>
    <p:sldId id="271" r:id="rId13"/>
    <p:sldId id="272" r:id="rId14"/>
    <p:sldId id="277" r:id="rId15"/>
    <p:sldId id="278" r:id="rId16"/>
    <p:sldId id="402" r:id="rId17"/>
    <p:sldId id="625" r:id="rId18"/>
    <p:sldId id="279" r:id="rId19"/>
    <p:sldId id="281" r:id="rId20"/>
    <p:sldId id="626" r:id="rId21"/>
    <p:sldId id="280" r:id="rId22"/>
    <p:sldId id="294" r:id="rId23"/>
    <p:sldId id="295" r:id="rId24"/>
    <p:sldId id="296" r:id="rId25"/>
    <p:sldId id="28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87CB1-692F-4249-B4E0-C0426D9B9C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95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already learn many of them in the high school. You know how to solve those problem. Today, I will give you a little perspective, Not just teach you how to solve problem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F87CB1-692F-4249-B4E0-C0426D9B9C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35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already learn many of them in the high school. You know how to solve those problem. Today, I will give you a little perspective, Not just teach you how to solve problem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F87CB1-692F-4249-B4E0-C0426D9B9C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3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image" Target="../media/image19.emf"/><Relationship Id="rId3" Type="http://schemas.openxmlformats.org/officeDocument/2006/relationships/image" Target="../media/image10.emf"/><Relationship Id="rId7" Type="http://schemas.openxmlformats.org/officeDocument/2006/relationships/image" Target="../media/image13.emf"/><Relationship Id="rId12" Type="http://schemas.openxmlformats.org/officeDocument/2006/relationships/image" Target="../media/image18.emf"/><Relationship Id="rId17" Type="http://schemas.openxmlformats.org/officeDocument/2006/relationships/image" Target="../media/image2.png"/><Relationship Id="rId2" Type="http://schemas.openxmlformats.org/officeDocument/2006/relationships/image" Target="../media/image9.emf"/><Relationship Id="rId16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11" Type="http://schemas.openxmlformats.org/officeDocument/2006/relationships/image" Target="../media/image17.emf"/><Relationship Id="rId5" Type="http://schemas.openxmlformats.org/officeDocument/2006/relationships/image" Target="../media/image11.emf"/><Relationship Id="rId15" Type="http://schemas.openxmlformats.org/officeDocument/2006/relationships/image" Target="../media/image21.emf"/><Relationship Id="rId10" Type="http://schemas.openxmlformats.org/officeDocument/2006/relationships/image" Target="../media/image16.emf"/><Relationship Id="rId4" Type="http://schemas.openxmlformats.org/officeDocument/2006/relationships/image" Target="../media/image5.png"/><Relationship Id="rId9" Type="http://schemas.openxmlformats.org/officeDocument/2006/relationships/image" Target="../media/image15.emf"/><Relationship Id="rId14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33.emf"/><Relationship Id="rId7" Type="http://schemas.openxmlformats.org/officeDocument/2006/relationships/image" Target="../media/image37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11" Type="http://schemas.openxmlformats.org/officeDocument/2006/relationships/image" Target="../media/image40.png"/><Relationship Id="rId5" Type="http://schemas.openxmlformats.org/officeDocument/2006/relationships/image" Target="../media/image35.emf"/><Relationship Id="rId10" Type="http://schemas.openxmlformats.org/officeDocument/2006/relationships/image" Target="../media/image2.png"/><Relationship Id="rId4" Type="http://schemas.openxmlformats.org/officeDocument/2006/relationships/image" Target="../media/image34.emf"/><Relationship Id="rId9" Type="http://schemas.openxmlformats.org/officeDocument/2006/relationships/image" Target="../media/image39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image" Target="../media/image49.emf"/><Relationship Id="rId18" Type="http://schemas.openxmlformats.org/officeDocument/2006/relationships/image" Target="../media/image52.emf"/><Relationship Id="rId3" Type="http://schemas.openxmlformats.org/officeDocument/2006/relationships/image" Target="../media/image41.emf"/><Relationship Id="rId21" Type="http://schemas.openxmlformats.org/officeDocument/2006/relationships/image" Target="../media/image55.emf"/><Relationship Id="rId7" Type="http://schemas.openxmlformats.org/officeDocument/2006/relationships/image" Target="../media/image44.emf"/><Relationship Id="rId12" Type="http://schemas.openxmlformats.org/officeDocument/2006/relationships/image" Target="../media/image48.emf"/><Relationship Id="rId17" Type="http://schemas.openxmlformats.org/officeDocument/2006/relationships/image" Target="../media/image51.emf"/><Relationship Id="rId2" Type="http://schemas.openxmlformats.org/officeDocument/2006/relationships/image" Target="../media/image32.emf"/><Relationship Id="rId16" Type="http://schemas.openxmlformats.org/officeDocument/2006/relationships/image" Target="../media/image39.emf"/><Relationship Id="rId20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11" Type="http://schemas.openxmlformats.org/officeDocument/2006/relationships/image" Target="../media/image31.emf"/><Relationship Id="rId24" Type="http://schemas.openxmlformats.org/officeDocument/2006/relationships/image" Target="../media/image58.svg"/><Relationship Id="rId5" Type="http://schemas.openxmlformats.org/officeDocument/2006/relationships/image" Target="../media/image42.emf"/><Relationship Id="rId15" Type="http://schemas.openxmlformats.org/officeDocument/2006/relationships/image" Target="../media/image38.emf"/><Relationship Id="rId23" Type="http://schemas.openxmlformats.org/officeDocument/2006/relationships/image" Target="../media/image57.png"/><Relationship Id="rId10" Type="http://schemas.openxmlformats.org/officeDocument/2006/relationships/image" Target="../media/image47.emf"/><Relationship Id="rId19" Type="http://schemas.openxmlformats.org/officeDocument/2006/relationships/image" Target="../media/image53.emf"/><Relationship Id="rId4" Type="http://schemas.openxmlformats.org/officeDocument/2006/relationships/image" Target="../media/image36.emf"/><Relationship Id="rId9" Type="http://schemas.openxmlformats.org/officeDocument/2006/relationships/image" Target="../media/image46.emf"/><Relationship Id="rId14" Type="http://schemas.openxmlformats.org/officeDocument/2006/relationships/image" Target="../media/image50.emf"/><Relationship Id="rId22" Type="http://schemas.openxmlformats.org/officeDocument/2006/relationships/image" Target="../media/image56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image" Target="../media/image41.emf"/><Relationship Id="rId7" Type="http://schemas.openxmlformats.org/officeDocument/2006/relationships/image" Target="../media/image61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9.emf"/><Relationship Id="rId4" Type="http://schemas.openxmlformats.org/officeDocument/2006/relationships/image" Target="../media/image36.emf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image" Target="../media/image71.emf"/><Relationship Id="rId18" Type="http://schemas.openxmlformats.org/officeDocument/2006/relationships/image" Target="../media/image76.png"/><Relationship Id="rId3" Type="http://schemas.openxmlformats.org/officeDocument/2006/relationships/image" Target="../media/image64.svg"/><Relationship Id="rId7" Type="http://schemas.openxmlformats.org/officeDocument/2006/relationships/image" Target="../media/image65.emf"/><Relationship Id="rId12" Type="http://schemas.openxmlformats.org/officeDocument/2006/relationships/image" Target="../media/image70.emf"/><Relationship Id="rId17" Type="http://schemas.openxmlformats.org/officeDocument/2006/relationships/image" Target="../media/image75.svg"/><Relationship Id="rId2" Type="http://schemas.openxmlformats.org/officeDocument/2006/relationships/image" Target="../media/image63.png"/><Relationship Id="rId16" Type="http://schemas.openxmlformats.org/officeDocument/2006/relationships/image" Target="../media/image74.png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11" Type="http://schemas.openxmlformats.org/officeDocument/2006/relationships/image" Target="../media/image69.emf"/><Relationship Id="rId5" Type="http://schemas.openxmlformats.org/officeDocument/2006/relationships/image" Target="../media/image41.emf"/><Relationship Id="rId15" Type="http://schemas.openxmlformats.org/officeDocument/2006/relationships/image" Target="../media/image73.emf"/><Relationship Id="rId10" Type="http://schemas.openxmlformats.org/officeDocument/2006/relationships/image" Target="../media/image68.emf"/><Relationship Id="rId19" Type="http://schemas.openxmlformats.org/officeDocument/2006/relationships/image" Target="../media/image77.svg"/><Relationship Id="rId4" Type="http://schemas.openxmlformats.org/officeDocument/2006/relationships/image" Target="../media/image32.emf"/><Relationship Id="rId9" Type="http://schemas.openxmlformats.org/officeDocument/2006/relationships/image" Target="../media/image67.emf"/><Relationship Id="rId14" Type="http://schemas.openxmlformats.org/officeDocument/2006/relationships/image" Target="../media/image72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image" Target="../media/image78.emf"/><Relationship Id="rId7" Type="http://schemas.openxmlformats.org/officeDocument/2006/relationships/image" Target="../media/image8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emf"/><Relationship Id="rId4" Type="http://schemas.openxmlformats.org/officeDocument/2006/relationships/image" Target="../media/image79.emf"/><Relationship Id="rId9" Type="http://schemas.openxmlformats.org/officeDocument/2006/relationships/image" Target="../media/image84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jpeg"/><Relationship Id="rId3" Type="http://schemas.openxmlformats.org/officeDocument/2006/relationships/image" Target="../media/image86.emf"/><Relationship Id="rId7" Type="http://schemas.openxmlformats.org/officeDocument/2006/relationships/image" Target="../media/image90.emf"/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emf"/><Relationship Id="rId11" Type="http://schemas.openxmlformats.org/officeDocument/2006/relationships/image" Target="../media/image31.emf"/><Relationship Id="rId5" Type="http://schemas.openxmlformats.org/officeDocument/2006/relationships/image" Target="../media/image88.emf"/><Relationship Id="rId10" Type="http://schemas.openxmlformats.org/officeDocument/2006/relationships/image" Target="../media/image2.png"/><Relationship Id="rId4" Type="http://schemas.openxmlformats.org/officeDocument/2006/relationships/image" Target="../media/image87.emf"/><Relationship Id="rId9" Type="http://schemas.openxmlformats.org/officeDocument/2006/relationships/image" Target="../media/image9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96.svg"/><Relationship Id="rId4" Type="http://schemas.openxmlformats.org/officeDocument/2006/relationships/image" Target="../media/image9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3" Type="http://schemas.openxmlformats.org/officeDocument/2006/relationships/image" Target="../media/image101.emf"/><Relationship Id="rId7" Type="http://schemas.openxmlformats.org/officeDocument/2006/relationships/image" Target="../media/image105.emf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jpeg"/><Relationship Id="rId5" Type="http://schemas.openxmlformats.org/officeDocument/2006/relationships/image" Target="../media/image103.jpeg"/><Relationship Id="rId4" Type="http://schemas.openxmlformats.org/officeDocument/2006/relationships/image" Target="../media/image102.emf"/><Relationship Id="rId9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emf"/><Relationship Id="rId3" Type="http://schemas.openxmlformats.org/officeDocument/2006/relationships/image" Target="../media/image108.emf"/><Relationship Id="rId7" Type="http://schemas.openxmlformats.org/officeDocument/2006/relationships/image" Target="../media/image111.emf"/><Relationship Id="rId12" Type="http://schemas.openxmlformats.org/officeDocument/2006/relationships/image" Target="../media/image2.png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emf"/><Relationship Id="rId11" Type="http://schemas.openxmlformats.org/officeDocument/2006/relationships/image" Target="../media/image115.svg"/><Relationship Id="rId5" Type="http://schemas.openxmlformats.org/officeDocument/2006/relationships/image" Target="../media/image110.emf"/><Relationship Id="rId10" Type="http://schemas.openxmlformats.org/officeDocument/2006/relationships/image" Target="../media/image114.png"/><Relationship Id="rId4" Type="http://schemas.openxmlformats.org/officeDocument/2006/relationships/image" Target="../media/image109.emf"/><Relationship Id="rId9" Type="http://schemas.openxmlformats.org/officeDocument/2006/relationships/image" Target="../media/image113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3.emf"/><Relationship Id="rId7" Type="http://schemas.openxmlformats.org/officeDocument/2006/relationships/image" Target="../media/image111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emf"/><Relationship Id="rId5" Type="http://schemas.openxmlformats.org/officeDocument/2006/relationships/image" Target="../media/image117.emf"/><Relationship Id="rId4" Type="http://schemas.openxmlformats.org/officeDocument/2006/relationships/image" Target="../media/image116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jpeg"/><Relationship Id="rId3" Type="http://schemas.openxmlformats.org/officeDocument/2006/relationships/image" Target="../media/image120.emf"/><Relationship Id="rId7" Type="http://schemas.openxmlformats.org/officeDocument/2006/relationships/image" Target="../media/image124.emf"/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emf"/><Relationship Id="rId5" Type="http://schemas.openxmlformats.org/officeDocument/2006/relationships/image" Target="../media/image122.emf"/><Relationship Id="rId10" Type="http://schemas.openxmlformats.org/officeDocument/2006/relationships/image" Target="../media/image2.png"/><Relationship Id="rId4" Type="http://schemas.openxmlformats.org/officeDocument/2006/relationships/image" Target="../media/image121.emf"/><Relationship Id="rId9" Type="http://schemas.openxmlformats.org/officeDocument/2006/relationships/image" Target="../media/image12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Thermodynamics and 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7E7433-3010-4CEE-8506-A24A75FDE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8272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52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we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359" y="2408942"/>
            <a:ext cx="10845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Attendance</a:t>
            </a:r>
            <a:r>
              <a:rPr lang="en-US" sz="2800" b="1" dirty="0"/>
              <a:t> is mandatory.</a:t>
            </a:r>
            <a:r>
              <a:rPr lang="en-US" sz="2800" dirty="0"/>
              <a:t> Please sign 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359" y="3304065"/>
            <a:ext cx="565738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Evaluation:</a:t>
            </a:r>
            <a:r>
              <a:rPr lang="en-US" sz="2800" dirty="0"/>
              <a:t> Assignment (30%), </a:t>
            </a:r>
          </a:p>
          <a:p>
            <a:endParaRPr lang="en-US" sz="2800" dirty="0"/>
          </a:p>
          <a:p>
            <a:r>
              <a:rPr lang="en-US" sz="2800" dirty="0"/>
              <a:t>                      Mid-term exam (30%),</a:t>
            </a:r>
          </a:p>
          <a:p>
            <a:endParaRPr lang="en-US" sz="2800" dirty="0"/>
          </a:p>
          <a:p>
            <a:r>
              <a:rPr lang="en-US" sz="2800" dirty="0"/>
              <a:t>                      Final exam (40%)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3105834"/>
            <a:ext cx="33077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u="sng" dirty="0"/>
              <a:t>3  assignments</a:t>
            </a:r>
          </a:p>
          <a:p>
            <a:pPr algn="ctr"/>
            <a:r>
              <a:rPr lang="en-US" b="1" u="sng" dirty="0"/>
              <a:t>[</a:t>
            </a:r>
            <a:r>
              <a:rPr lang="en-US" b="1" u="sng" dirty="0" err="1"/>
              <a:t>moodle</a:t>
            </a:r>
            <a:r>
              <a:rPr lang="en-US" b="1" u="sng" dirty="0"/>
              <a:t>, online submission]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0" y="4309985"/>
            <a:ext cx="919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week 8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0" y="5252596"/>
            <a:ext cx="17518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 week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451F37-CDCD-4D23-8765-2DC14ED13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8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Office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53828" y="2093976"/>
            <a:ext cx="6290440" cy="2364828"/>
          </a:xfrm>
          <a:prstGeom prst="roundRect">
            <a:avLst/>
          </a:prstGeom>
          <a:solidFill>
            <a:schemeClr val="bg2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u="sng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OFFICE (A1 379)</a:t>
            </a:r>
          </a:p>
          <a:p>
            <a:pPr algn="ctr"/>
            <a:r>
              <a:rPr lang="en-US" sz="3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Wed     12 pm </a:t>
            </a:r>
            <a:r>
              <a:rPr lang="mr-IN" sz="3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–</a:t>
            </a:r>
            <a:r>
              <a:rPr lang="en-US" sz="3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2 pm</a:t>
            </a:r>
          </a:p>
          <a:p>
            <a:pPr algn="ctr"/>
            <a:r>
              <a:rPr lang="en-US" sz="3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Thu     2 pm </a:t>
            </a:r>
            <a:r>
              <a:rPr lang="mr-IN" sz="3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–</a:t>
            </a:r>
            <a:r>
              <a:rPr lang="en-US" sz="36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 4 pm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52F25-4708-45E3-84C9-F7DAA3FD4EA2}"/>
              </a:ext>
            </a:extLst>
          </p:cNvPr>
          <p:cNvSpPr txBox="1"/>
          <p:nvPr/>
        </p:nvSpPr>
        <p:spPr>
          <a:xfrm>
            <a:off x="4035971" y="4800076"/>
            <a:ext cx="3617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Email: kokwee.song@xmu.edu.my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CB0CE-6EF7-4B56-9803-C36DC5D00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84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2489609" y="3085408"/>
            <a:ext cx="7344423" cy="3706440"/>
            <a:chOff x="2489609" y="3085408"/>
            <a:chExt cx="7344423" cy="3706440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9609" y="3085408"/>
              <a:ext cx="7344423" cy="370644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160654" y="3121047"/>
              <a:ext cx="2673378" cy="8070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statistical Physics/mechanics?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3485" y="3332339"/>
            <a:ext cx="1535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Wikipedia: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457" y="2331076"/>
            <a:ext cx="6982625" cy="6053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182" y="1455313"/>
            <a:ext cx="1856944" cy="26539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8838" y="2698257"/>
            <a:ext cx="1742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Mehran </a:t>
            </a:r>
            <a:r>
              <a:rPr lang="en-US" dirty="0" err="1"/>
              <a:t>Kardar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489DB6-E17D-4D39-BB69-8854C408BF48}"/>
              </a:ext>
            </a:extLst>
          </p:cNvPr>
          <p:cNvSpPr/>
          <p:nvPr/>
        </p:nvSpPr>
        <p:spPr>
          <a:xfrm>
            <a:off x="2489609" y="6051550"/>
            <a:ext cx="4131908" cy="740297"/>
          </a:xfrm>
          <a:custGeom>
            <a:avLst/>
            <a:gdLst>
              <a:gd name="connsiteX0" fmla="*/ 0 w 4131908"/>
              <a:gd name="connsiteY0" fmla="*/ 0 h 737889"/>
              <a:gd name="connsiteX1" fmla="*/ 4131908 w 4131908"/>
              <a:gd name="connsiteY1" fmla="*/ 0 h 737889"/>
              <a:gd name="connsiteX2" fmla="*/ 4131908 w 4131908"/>
              <a:gd name="connsiteY2" fmla="*/ 737889 h 737889"/>
              <a:gd name="connsiteX3" fmla="*/ 0 w 4131908"/>
              <a:gd name="connsiteY3" fmla="*/ 737889 h 737889"/>
              <a:gd name="connsiteX4" fmla="*/ 0 w 4131908"/>
              <a:gd name="connsiteY4" fmla="*/ 0 h 737889"/>
              <a:gd name="connsiteX0" fmla="*/ 0 w 4131908"/>
              <a:gd name="connsiteY0" fmla="*/ 2408 h 740297"/>
              <a:gd name="connsiteX1" fmla="*/ 1868608 w 4131908"/>
              <a:gd name="connsiteY1" fmla="*/ 0 h 740297"/>
              <a:gd name="connsiteX2" fmla="*/ 4131908 w 4131908"/>
              <a:gd name="connsiteY2" fmla="*/ 2408 h 740297"/>
              <a:gd name="connsiteX3" fmla="*/ 4131908 w 4131908"/>
              <a:gd name="connsiteY3" fmla="*/ 740297 h 740297"/>
              <a:gd name="connsiteX4" fmla="*/ 0 w 4131908"/>
              <a:gd name="connsiteY4" fmla="*/ 740297 h 740297"/>
              <a:gd name="connsiteX5" fmla="*/ 0 w 4131908"/>
              <a:gd name="connsiteY5" fmla="*/ 2408 h 740297"/>
              <a:gd name="connsiteX0" fmla="*/ 0 w 4131908"/>
              <a:gd name="connsiteY0" fmla="*/ 2408 h 740297"/>
              <a:gd name="connsiteX1" fmla="*/ 1872841 w 4131908"/>
              <a:gd name="connsiteY1" fmla="*/ 224367 h 740297"/>
              <a:gd name="connsiteX2" fmla="*/ 1868608 w 4131908"/>
              <a:gd name="connsiteY2" fmla="*/ 0 h 740297"/>
              <a:gd name="connsiteX3" fmla="*/ 4131908 w 4131908"/>
              <a:gd name="connsiteY3" fmla="*/ 2408 h 740297"/>
              <a:gd name="connsiteX4" fmla="*/ 4131908 w 4131908"/>
              <a:gd name="connsiteY4" fmla="*/ 740297 h 740297"/>
              <a:gd name="connsiteX5" fmla="*/ 0 w 4131908"/>
              <a:gd name="connsiteY5" fmla="*/ 740297 h 740297"/>
              <a:gd name="connsiteX6" fmla="*/ 0 w 4131908"/>
              <a:gd name="connsiteY6" fmla="*/ 2408 h 740297"/>
              <a:gd name="connsiteX0" fmla="*/ 0 w 4131908"/>
              <a:gd name="connsiteY0" fmla="*/ 237358 h 740297"/>
              <a:gd name="connsiteX1" fmla="*/ 1872841 w 4131908"/>
              <a:gd name="connsiteY1" fmla="*/ 224367 h 740297"/>
              <a:gd name="connsiteX2" fmla="*/ 1868608 w 4131908"/>
              <a:gd name="connsiteY2" fmla="*/ 0 h 740297"/>
              <a:gd name="connsiteX3" fmla="*/ 4131908 w 4131908"/>
              <a:gd name="connsiteY3" fmla="*/ 2408 h 740297"/>
              <a:gd name="connsiteX4" fmla="*/ 4131908 w 4131908"/>
              <a:gd name="connsiteY4" fmla="*/ 740297 h 740297"/>
              <a:gd name="connsiteX5" fmla="*/ 0 w 4131908"/>
              <a:gd name="connsiteY5" fmla="*/ 740297 h 740297"/>
              <a:gd name="connsiteX6" fmla="*/ 0 w 4131908"/>
              <a:gd name="connsiteY6" fmla="*/ 237358 h 74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1908" h="740297">
                <a:moveTo>
                  <a:pt x="0" y="237358"/>
                </a:moveTo>
                <a:lnTo>
                  <a:pt x="1872841" y="224367"/>
                </a:lnTo>
                <a:lnTo>
                  <a:pt x="1868608" y="0"/>
                </a:lnTo>
                <a:lnTo>
                  <a:pt x="4131908" y="2408"/>
                </a:lnTo>
                <a:lnTo>
                  <a:pt x="4131908" y="740297"/>
                </a:lnTo>
                <a:lnTo>
                  <a:pt x="0" y="740297"/>
                </a:lnTo>
                <a:lnTo>
                  <a:pt x="0" y="237358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51154D-969B-4056-B018-59BD22E8F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7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statistics?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262" y="2073415"/>
            <a:ext cx="105898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Statistics allows us to learn certain properties of a complex phenomena.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3961" y="4543713"/>
            <a:ext cx="8067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Statistics DOES NOT tell you why, but the behavior/pattern of your observation.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89262" y="2923634"/>
            <a:ext cx="10589803" cy="1226037"/>
            <a:chOff x="589262" y="2923634"/>
            <a:chExt cx="10589803" cy="1226037"/>
          </a:xfrm>
        </p:grpSpPr>
        <p:sp>
          <p:nvSpPr>
            <p:cNvPr id="49" name="TextBox 48"/>
            <p:cNvSpPr txBox="1"/>
            <p:nvPr/>
          </p:nvSpPr>
          <p:spPr>
            <a:xfrm>
              <a:off x="589262" y="2923634"/>
              <a:ext cx="30222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Problem in a large system: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54049" y="3503340"/>
              <a:ext cx="101250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~10</a:t>
              </a:r>
              <a:r>
                <a:rPr lang="en-US" b="1" baseline="30000" dirty="0"/>
                <a:t>23</a:t>
              </a:r>
              <a:r>
                <a:rPr lang="en-US" b="1" dirty="0"/>
                <a:t> particles, impossible to keep track </a:t>
              </a:r>
            </a:p>
            <a:p>
              <a:r>
                <a:rPr lang="en-US" b="1" dirty="0"/>
                <a:t>                                               → Macroscopic behavior, we do not care the details of each particles. 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DA4A4C2D-8A2D-4F48-BDDD-8035E7781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60A6671-6FA6-46F3-A748-7BD0986A1480}"/>
              </a:ext>
            </a:extLst>
          </p:cNvPr>
          <p:cNvSpPr txBox="1"/>
          <p:nvPr/>
        </p:nvSpPr>
        <p:spPr>
          <a:xfrm>
            <a:off x="1822120" y="5702127"/>
            <a:ext cx="8464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Statistical physics/mechanics = statistical model + law of physics /mechanics</a:t>
            </a:r>
          </a:p>
        </p:txBody>
      </p:sp>
    </p:spTree>
    <p:extLst>
      <p:ext uri="{BB962C8B-B14F-4D97-AF65-F5344CB8AC3E}">
        <p14:creationId xmlns:p14="http://schemas.microsoft.com/office/powerpoint/2010/main" val="141498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 of PHY301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624064"/>
            <a:ext cx="8538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/>
              <a:t>Thermodynamic and its statistical approach (in </a:t>
            </a:r>
            <a:r>
              <a:rPr lang="en-US" sz="2400" b="1" dirty="0"/>
              <a:t>classical systems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337392"/>
            <a:ext cx="6678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/>
              <a:t>Statistical formulation for large </a:t>
            </a:r>
            <a:r>
              <a:rPr lang="en-US" sz="2400" b="1" dirty="0"/>
              <a:t>quantum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073848"/>
            <a:ext cx="6756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b="1" dirty="0"/>
              <a:t>Phase transition</a:t>
            </a:r>
            <a:r>
              <a:rPr lang="en-US" sz="2400" dirty="0"/>
              <a:t> for classical and quantum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760103"/>
            <a:ext cx="4121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b="1" dirty="0"/>
              <a:t>Non-equilibrium</a:t>
            </a:r>
            <a:r>
              <a:rPr lang="en-US" sz="2400" dirty="0"/>
              <a:t> phenomena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2219B5-536D-4F83-8102-13366B636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901C8FE-ABA6-440F-8A15-CA3143079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300" y="3156649"/>
            <a:ext cx="1812608" cy="2849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90EE2B-E5FB-422A-BF86-9077D3E1CA21}"/>
              </a:ext>
            </a:extLst>
          </p:cNvPr>
          <p:cNvSpPr txBox="1"/>
          <p:nvPr/>
        </p:nvSpPr>
        <p:spPr>
          <a:xfrm>
            <a:off x="8209356" y="5934670"/>
            <a:ext cx="36165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 Kerson Huang,</a:t>
            </a:r>
          </a:p>
          <a:p>
            <a:pPr algn="ctr"/>
            <a:r>
              <a:rPr lang="en-US" dirty="0"/>
              <a:t>Introduction to statistical physics, </a:t>
            </a:r>
          </a:p>
          <a:p>
            <a:pPr algn="ctr"/>
            <a:r>
              <a:rPr lang="en-US" b="1" dirty="0"/>
              <a:t> ‎ </a:t>
            </a:r>
            <a:r>
              <a:rPr lang="en-US" dirty="0"/>
              <a:t> CRC press (2009)</a:t>
            </a:r>
          </a:p>
        </p:txBody>
      </p:sp>
    </p:spTree>
    <p:extLst>
      <p:ext uri="{BB962C8B-B14F-4D97-AF65-F5344CB8AC3E}">
        <p14:creationId xmlns:p14="http://schemas.microsoft.com/office/powerpoint/2010/main" val="239103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References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123" y="1901578"/>
            <a:ext cx="1789096" cy="26539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44" y="1970468"/>
            <a:ext cx="1856944" cy="2653916"/>
          </a:xfrm>
          <a:prstGeom prst="rect">
            <a:avLst/>
          </a:prstGeom>
        </p:spPr>
      </p:pic>
      <p:pic>
        <p:nvPicPr>
          <p:cNvPr id="2050" name="Picture 2" descr="https://m.media-amazon.com/images/I/71AU+3aGJ1L._SL1240_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848" y="1942116"/>
            <a:ext cx="2163119" cy="2682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1630" y="4642964"/>
            <a:ext cx="34070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Mehran </a:t>
            </a:r>
            <a:r>
              <a:rPr lang="en-US" dirty="0" err="1"/>
              <a:t>Kardar</a:t>
            </a:r>
            <a:r>
              <a:rPr lang="en-US" dirty="0"/>
              <a:t>, </a:t>
            </a:r>
          </a:p>
          <a:p>
            <a:pPr algn="ctr"/>
            <a:r>
              <a:rPr lang="en-US" dirty="0"/>
              <a:t>Statistical Physics of Particles, </a:t>
            </a:r>
          </a:p>
          <a:p>
            <a:pPr algn="ctr"/>
            <a:r>
              <a:rPr lang="en-US" dirty="0"/>
              <a:t>Cambridge University press (2007)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5098" y="4624384"/>
            <a:ext cx="26786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 R.K. </a:t>
            </a:r>
            <a:r>
              <a:rPr lang="en-US" dirty="0" err="1"/>
              <a:t>Pathria</a:t>
            </a:r>
            <a:r>
              <a:rPr lang="en-US" dirty="0"/>
              <a:t>, Paul D. Beale,</a:t>
            </a:r>
          </a:p>
          <a:p>
            <a:pPr algn="ctr"/>
            <a:r>
              <a:rPr lang="en-US" dirty="0"/>
              <a:t>Statistical Mechanics, </a:t>
            </a:r>
          </a:p>
          <a:p>
            <a:pPr algn="ctr"/>
            <a:r>
              <a:rPr lang="en-US" b="1" dirty="0"/>
              <a:t> ‎ </a:t>
            </a:r>
            <a:r>
              <a:rPr lang="en-US" dirty="0"/>
              <a:t>Academic Press (2021)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65374" y="4642964"/>
            <a:ext cx="21705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 Kerson Huang,</a:t>
            </a:r>
          </a:p>
          <a:p>
            <a:pPr algn="ctr"/>
            <a:r>
              <a:rPr lang="en-US" dirty="0"/>
              <a:t>Statistical Mechanics, </a:t>
            </a:r>
          </a:p>
          <a:p>
            <a:pPr algn="ctr"/>
            <a:r>
              <a:rPr lang="en-US" b="1" dirty="0"/>
              <a:t> ‎ </a:t>
            </a:r>
            <a:r>
              <a:rPr lang="en-US" dirty="0"/>
              <a:t> Wiley (1991)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3957" y="6072729"/>
            <a:ext cx="10050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Statistical mechanics has a non-uniform viewpoints across difference textbooks.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0971" y="5469098"/>
            <a:ext cx="2719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(Dated, old style, but good)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0E5066-1826-4C2B-B8DA-335119342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9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Recap of thermodynamic and kinetic theory of (idea) gas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885DD1-B84D-477A-A5E0-E3581655E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8272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20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0FCFA910-9AB1-45F6-ABEA-1D0A042A8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986" y="5520358"/>
            <a:ext cx="1782934" cy="1253626"/>
          </a:xfrm>
          <a:prstGeom prst="rect">
            <a:avLst/>
          </a:prstGeom>
        </p:spPr>
      </p:pic>
      <p:sp>
        <p:nvSpPr>
          <p:cNvPr id="20" name="Freeform 19"/>
          <p:cNvSpPr/>
          <p:nvPr/>
        </p:nvSpPr>
        <p:spPr>
          <a:xfrm>
            <a:off x="1197735" y="4582068"/>
            <a:ext cx="1983347" cy="711684"/>
          </a:xfrm>
          <a:custGeom>
            <a:avLst/>
            <a:gdLst>
              <a:gd name="connsiteX0" fmla="*/ 0 w 1983347"/>
              <a:gd name="connsiteY0" fmla="*/ 118721 h 711684"/>
              <a:gd name="connsiteX1" fmla="*/ 811369 w 1983347"/>
              <a:gd name="connsiteY1" fmla="*/ 711149 h 711684"/>
              <a:gd name="connsiteX2" fmla="*/ 1107583 w 1983347"/>
              <a:gd name="connsiteY2" fmla="*/ 28569 h 711684"/>
              <a:gd name="connsiteX3" fmla="*/ 1983347 w 1983347"/>
              <a:gd name="connsiteY3" fmla="*/ 118721 h 711684"/>
              <a:gd name="connsiteX4" fmla="*/ 1983347 w 1983347"/>
              <a:gd name="connsiteY4" fmla="*/ 118721 h 711684"/>
              <a:gd name="connsiteX5" fmla="*/ 1983347 w 1983347"/>
              <a:gd name="connsiteY5" fmla="*/ 118721 h 71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3347" h="711684">
                <a:moveTo>
                  <a:pt x="0" y="118721"/>
                </a:moveTo>
                <a:cubicBezTo>
                  <a:pt x="313386" y="422447"/>
                  <a:pt x="626772" y="726174"/>
                  <a:pt x="811369" y="711149"/>
                </a:cubicBezTo>
                <a:cubicBezTo>
                  <a:pt x="995966" y="696124"/>
                  <a:pt x="912253" y="127307"/>
                  <a:pt x="1107583" y="28569"/>
                </a:cubicBezTo>
                <a:cubicBezTo>
                  <a:pt x="1302913" y="-70169"/>
                  <a:pt x="1983347" y="118721"/>
                  <a:pt x="1983347" y="118721"/>
                </a:cubicBezTo>
                <a:lnTo>
                  <a:pt x="1983347" y="118721"/>
                </a:lnTo>
                <a:lnTo>
                  <a:pt x="1983347" y="118721"/>
                </a:lnTo>
              </a:path>
            </a:pathLst>
          </a:custGeom>
          <a:noFill/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system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884" y="2240833"/>
            <a:ext cx="7607453" cy="8243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78809" y="2695838"/>
            <a:ext cx="1742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Mehran </a:t>
            </a:r>
            <a:r>
              <a:rPr lang="en-US" dirty="0" err="1"/>
              <a:t>Kardar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527" y="707709"/>
            <a:ext cx="1856944" cy="265391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24128" y="4597757"/>
            <a:ext cx="289517" cy="28333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78" y="4233845"/>
            <a:ext cx="308399" cy="169122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1313645" y="4301543"/>
            <a:ext cx="500239" cy="29621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86" y="5037562"/>
            <a:ext cx="779585" cy="35176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007" y="4652276"/>
            <a:ext cx="225559" cy="17429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3884" y="4104208"/>
            <a:ext cx="243767" cy="19733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806" y="6524930"/>
            <a:ext cx="1046402" cy="2041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4632" y="5408507"/>
            <a:ext cx="13784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400" dirty="0"/>
              <a:t>State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(measurable)</a:t>
            </a:r>
          </a:p>
        </p:txBody>
      </p:sp>
      <p:sp>
        <p:nvSpPr>
          <p:cNvPr id="21" name="Oval 20"/>
          <p:cNvSpPr/>
          <p:nvPr/>
        </p:nvSpPr>
        <p:spPr>
          <a:xfrm>
            <a:off x="3065172" y="4597757"/>
            <a:ext cx="289517" cy="28333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3492" y="4937910"/>
            <a:ext cx="958850" cy="363060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2378614" y="4818039"/>
            <a:ext cx="508004" cy="1257604"/>
            <a:chOff x="2378614" y="4818039"/>
            <a:chExt cx="508004" cy="1257604"/>
          </a:xfrm>
        </p:grpSpPr>
        <p:sp>
          <p:nvSpPr>
            <p:cNvPr id="25" name="Right Arrow 24"/>
            <p:cNvSpPr/>
            <p:nvPr/>
          </p:nvSpPr>
          <p:spPr>
            <a:xfrm rot="15009644">
              <a:off x="2133491" y="5063162"/>
              <a:ext cx="862884" cy="372637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50000"/>
                    <a:tint val="66000"/>
                    <a:satMod val="160000"/>
                  </a:schemeClr>
                </a:gs>
                <a:gs pos="50000">
                  <a:schemeClr val="bg1">
                    <a:lumMod val="50000"/>
                    <a:tint val="44500"/>
                    <a:satMod val="160000"/>
                  </a:schemeClr>
                </a:gs>
                <a:gs pos="100000">
                  <a:schemeClr val="bg1">
                    <a:lumMod val="50000"/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81818" y="5758143"/>
              <a:ext cx="304800" cy="317500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>
            <a:off x="2755671" y="3978748"/>
            <a:ext cx="335259" cy="593826"/>
            <a:chOff x="2755671" y="3978748"/>
            <a:chExt cx="335259" cy="593826"/>
          </a:xfrm>
        </p:grpSpPr>
        <p:cxnSp>
          <p:nvCxnSpPr>
            <p:cNvPr id="29" name="Straight Arrow Connector 28"/>
            <p:cNvCxnSpPr/>
            <p:nvPr/>
          </p:nvCxnSpPr>
          <p:spPr>
            <a:xfrm flipH="1" flipV="1">
              <a:off x="2946171" y="4344715"/>
              <a:ext cx="144759" cy="227859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755671" y="3978748"/>
              <a:ext cx="309501" cy="299184"/>
            </a:xfrm>
            <a:prstGeom prst="rect">
              <a:avLst/>
            </a:prstGeom>
          </p:spPr>
        </p:pic>
      </p:grpSp>
      <p:sp>
        <p:nvSpPr>
          <p:cNvPr id="33" name="TextBox 32"/>
          <p:cNvSpPr txBox="1"/>
          <p:nvPr/>
        </p:nvSpPr>
        <p:spPr>
          <a:xfrm>
            <a:off x="2257570" y="6144527"/>
            <a:ext cx="205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400" dirty="0">
                <a:solidFill>
                  <a:srgbClr val="FF0000"/>
                </a:solidFill>
              </a:rPr>
              <a:t>Newton’s laws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68973" y="3282579"/>
            <a:ext cx="134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Mechanics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3452" y="3176959"/>
            <a:ext cx="2094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Thermodynamics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890361" y="3842860"/>
            <a:ext cx="1423754" cy="1068283"/>
            <a:chOff x="6890361" y="3842860"/>
            <a:chExt cx="1423754" cy="1068283"/>
          </a:xfrm>
        </p:grpSpPr>
        <p:sp>
          <p:nvSpPr>
            <p:cNvPr id="41" name="TextBox 40"/>
            <p:cNvSpPr txBox="1"/>
            <p:nvPr/>
          </p:nvSpPr>
          <p:spPr>
            <a:xfrm>
              <a:off x="7624388" y="4541811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 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776788" y="3947237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 </a:t>
              </a: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6890361" y="3842860"/>
              <a:ext cx="1262770" cy="983712"/>
              <a:chOff x="6890361" y="3842860"/>
              <a:chExt cx="1262770" cy="983712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6890361" y="3842860"/>
                <a:ext cx="1158936" cy="98371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7014788" y="3932211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/>
                  <a:t> 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7334615" y="3865668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/>
                  <a:t> 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7615804" y="4224132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/>
                  <a:t> 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7008348" y="4389411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/>
                  <a:t> 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439790" y="4331456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/>
                  <a:t> 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7321735" y="4187643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charset="0"/>
                  <a:buChar char="•"/>
                </a:pPr>
                <a:r>
                  <a:rPr lang="en-US" dirty="0"/>
                  <a:t> </a:t>
                </a:r>
              </a:p>
            </p:txBody>
          </p:sp>
        </p:grpSp>
      </p:grpSp>
      <p:sp>
        <p:nvSpPr>
          <p:cNvPr id="45" name="TextBox 44"/>
          <p:cNvSpPr txBox="1"/>
          <p:nvPr/>
        </p:nvSpPr>
        <p:spPr>
          <a:xfrm>
            <a:off x="6134465" y="5283682"/>
            <a:ext cx="31586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400" dirty="0"/>
              <a:t>Macro-State</a:t>
            </a:r>
          </a:p>
          <a:p>
            <a:pPr marL="342900" lvl="0" indent="-342900" defTabSz="914400">
              <a:defRPr/>
            </a:pPr>
            <a:r>
              <a:rPr lang="en-US" dirty="0"/>
              <a:t>(thermodynamics coordinate)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3561" y="5035622"/>
            <a:ext cx="1340942" cy="295932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10155854" y="3450005"/>
            <a:ext cx="1838026" cy="1967261"/>
            <a:chOff x="10155854" y="3450005"/>
            <a:chExt cx="1838026" cy="1967261"/>
          </a:xfrm>
        </p:grpSpPr>
        <p:sp>
          <p:nvSpPr>
            <p:cNvPr id="47" name="Rectangle 46"/>
            <p:cNvSpPr/>
            <p:nvPr/>
          </p:nvSpPr>
          <p:spPr>
            <a:xfrm>
              <a:off x="10155854" y="3450005"/>
              <a:ext cx="1766282" cy="15203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0424462" y="3728361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600108" y="4009483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881297" y="4367947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273841" y="4533226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1456553" y="4595474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427208" y="3989470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1385600" y="4331903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/>
                <a:t> 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219313" y="3640730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 </a:t>
              </a:r>
            </a:p>
          </p:txBody>
        </p:sp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192791" y="5090808"/>
              <a:ext cx="1729345" cy="326458"/>
            </a:xfrm>
            <a:prstGeom prst="rect">
              <a:avLst/>
            </a:prstGeom>
          </p:spPr>
        </p:pic>
      </p:grpSp>
      <p:sp>
        <p:nvSpPr>
          <p:cNvPr id="62" name="TextBox 61"/>
          <p:cNvSpPr txBox="1"/>
          <p:nvPr/>
        </p:nvSpPr>
        <p:spPr>
          <a:xfrm>
            <a:off x="8117080" y="6023873"/>
            <a:ext cx="3513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400" dirty="0">
                <a:solidFill>
                  <a:srgbClr val="FF0000"/>
                </a:solidFill>
              </a:rPr>
              <a:t>Laws of thermodynamics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70" name="Group 69"/>
          <p:cNvGrpSpPr/>
          <p:nvPr/>
        </p:nvGrpSpPr>
        <p:grpSpPr>
          <a:xfrm>
            <a:off x="4660856" y="3794452"/>
            <a:ext cx="2191576" cy="1389136"/>
            <a:chOff x="4660856" y="3794452"/>
            <a:chExt cx="2191576" cy="1389136"/>
          </a:xfrm>
        </p:grpSpPr>
        <p:sp>
          <p:nvSpPr>
            <p:cNvPr id="65" name="TextBox 64"/>
            <p:cNvSpPr txBox="1"/>
            <p:nvPr/>
          </p:nvSpPr>
          <p:spPr>
            <a:xfrm>
              <a:off x="4660856" y="3794452"/>
              <a:ext cx="219157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Equilibrium:</a:t>
              </a:r>
            </a:p>
            <a:p>
              <a:r>
                <a:rPr lang="en-US" dirty="0"/>
                <a:t>Measurement doesn’t change in time</a:t>
              </a:r>
            </a:p>
          </p:txBody>
        </p:sp>
        <p:cxnSp>
          <p:nvCxnSpPr>
            <p:cNvPr id="67" name="Straight Arrow Connector 66"/>
            <p:cNvCxnSpPr/>
            <p:nvPr/>
          </p:nvCxnSpPr>
          <p:spPr>
            <a:xfrm>
              <a:off x="5886802" y="5183588"/>
              <a:ext cx="83100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5884164" y="4700788"/>
              <a:ext cx="0" cy="482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8184280" y="3908905"/>
            <a:ext cx="1943096" cy="1278412"/>
            <a:chOff x="8184280" y="3908905"/>
            <a:chExt cx="1943096" cy="1278412"/>
          </a:xfrm>
        </p:grpSpPr>
        <p:sp>
          <p:nvSpPr>
            <p:cNvPr id="58" name="Right Arrow 57"/>
            <p:cNvSpPr/>
            <p:nvPr/>
          </p:nvSpPr>
          <p:spPr>
            <a:xfrm rot="21554729">
              <a:off x="8243008" y="4180766"/>
              <a:ext cx="1656350" cy="402732"/>
            </a:xfrm>
            <a:prstGeom prst="rightArrow">
              <a:avLst/>
            </a:prstGeom>
            <a:gradFill flip="none" rotWithShape="1">
              <a:gsLst>
                <a:gs pos="0">
                  <a:schemeClr val="bg1">
                    <a:lumMod val="50000"/>
                    <a:tint val="66000"/>
                    <a:satMod val="160000"/>
                  </a:schemeClr>
                </a:gs>
                <a:gs pos="50000">
                  <a:schemeClr val="bg1">
                    <a:lumMod val="50000"/>
                    <a:tint val="44500"/>
                    <a:satMod val="160000"/>
                  </a:schemeClr>
                </a:gs>
                <a:gs pos="100000">
                  <a:schemeClr val="bg1">
                    <a:lumMod val="50000"/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680148" y="3908905"/>
              <a:ext cx="835338" cy="216036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690718" y="4582051"/>
              <a:ext cx="838958" cy="211502"/>
            </a:xfrm>
            <a:prstGeom prst="rect">
              <a:avLst/>
            </a:prstGeom>
          </p:spPr>
        </p:pic>
        <p:sp>
          <p:nvSpPr>
            <p:cNvPr id="71" name="TextBox 70"/>
            <p:cNvSpPr txBox="1"/>
            <p:nvPr/>
          </p:nvSpPr>
          <p:spPr>
            <a:xfrm>
              <a:off x="8846542" y="4159065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or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184280" y="4817985"/>
              <a:ext cx="19430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(generalized force)</a:t>
              </a:r>
              <a:endParaRPr lang="en-US" dirty="0"/>
            </a:p>
          </p:txBody>
        </p:sp>
      </p:grpSp>
      <p:pic>
        <p:nvPicPr>
          <p:cNvPr id="66" name="Picture 65">
            <a:extLst>
              <a:ext uri="{FF2B5EF4-FFF2-40B4-BE49-F238E27FC236}">
                <a16:creationId xmlns:a16="http://schemas.microsoft.com/office/drawing/2014/main" id="{A92F3DF2-7C6B-453C-BE29-83294376591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6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7" grpId="0" animBg="1"/>
      <p:bldP spid="19" grpId="0"/>
      <p:bldP spid="21" grpId="0" animBg="1"/>
      <p:bldP spid="33" grpId="0"/>
      <p:bldP spid="35" grpId="0"/>
      <p:bldP spid="36" grpId="0"/>
      <p:bldP spid="45" grpId="0"/>
      <p:bldP spid="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4148-6900-4235-B7A5-A22604D51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system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16A1BC-3524-4436-94E2-3669629F1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357" y="1750207"/>
            <a:ext cx="4424240" cy="3984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3B8C0-05A4-4086-B67D-3964ACA79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162" y="4636522"/>
            <a:ext cx="2060294" cy="4340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CBF65E-E9AF-4556-B098-6166E955011C}"/>
              </a:ext>
            </a:extLst>
          </p:cNvPr>
          <p:cNvSpPr txBox="1"/>
          <p:nvPr/>
        </p:nvSpPr>
        <p:spPr>
          <a:xfrm>
            <a:off x="655472" y="2622771"/>
            <a:ext cx="3202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Equilibrium:</a:t>
            </a:r>
          </a:p>
          <a:p>
            <a:r>
              <a:rPr lang="en-US" dirty="0"/>
              <a:t>Not all thermodynamic quantities are independent.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0F922-0913-446E-A749-456C4FBECB8B}"/>
              </a:ext>
            </a:extLst>
          </p:cNvPr>
          <p:cNvSpPr txBox="1"/>
          <p:nvPr/>
        </p:nvSpPr>
        <p:spPr>
          <a:xfrm>
            <a:off x="467872" y="5566428"/>
            <a:ext cx="2515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Examples: 1) Ideal gas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EE91EA-EACE-4FFE-A6D3-AAE8CDE7C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989" y="5999079"/>
            <a:ext cx="1851949" cy="5787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6CE290-FD56-435F-B070-8DCA2FFD7A72}"/>
              </a:ext>
            </a:extLst>
          </p:cNvPr>
          <p:cNvSpPr txBox="1"/>
          <p:nvPr/>
        </p:nvSpPr>
        <p:spPr>
          <a:xfrm>
            <a:off x="655472" y="3921709"/>
            <a:ext cx="2638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400" dirty="0">
                <a:solidFill>
                  <a:srgbClr val="FF0000"/>
                </a:solidFill>
              </a:rPr>
              <a:t>Equation of states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A40B1D-5D6B-4193-B4D2-B8366A69053C}"/>
              </a:ext>
            </a:extLst>
          </p:cNvPr>
          <p:cNvGrpSpPr/>
          <p:nvPr/>
        </p:nvGrpSpPr>
        <p:grpSpPr>
          <a:xfrm>
            <a:off x="3652230" y="5567850"/>
            <a:ext cx="3383464" cy="1244515"/>
            <a:chOff x="3652230" y="5481223"/>
            <a:chExt cx="3383464" cy="124451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05CA4A8-E428-4AA7-A0C3-000AEB6A4131}"/>
                </a:ext>
              </a:extLst>
            </p:cNvPr>
            <p:cNvSpPr txBox="1"/>
            <p:nvPr/>
          </p:nvSpPr>
          <p:spPr>
            <a:xfrm>
              <a:off x="3652230" y="5481223"/>
              <a:ext cx="338346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Examples: 2) Magnetic system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BC733B7-B25C-411C-A9CF-575060FCB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8676" y="5849133"/>
              <a:ext cx="1319514" cy="769716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50F3E4-4817-4FC7-BC75-C7FA57E1E204}"/>
                </a:ext>
              </a:extLst>
            </p:cNvPr>
            <p:cNvSpPr txBox="1"/>
            <p:nvPr/>
          </p:nvSpPr>
          <p:spPr>
            <a:xfrm flipH="1">
              <a:off x="3785059" y="6417961"/>
              <a:ext cx="2055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1400" dirty="0"/>
                <a:t>(magnetization)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35BA715-18EF-465B-A4C9-B3FB8A56FB7D}"/>
              </a:ext>
            </a:extLst>
          </p:cNvPr>
          <p:cNvSpPr txBox="1"/>
          <p:nvPr/>
        </p:nvSpPr>
        <p:spPr>
          <a:xfrm flipH="1">
            <a:off x="5997485" y="5941444"/>
            <a:ext cx="205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/>
              <a:t>(magnetic field)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A67B18-EED9-410D-B3D3-DB5AD47903C2}"/>
              </a:ext>
            </a:extLst>
          </p:cNvPr>
          <p:cNvSpPr txBox="1"/>
          <p:nvPr/>
        </p:nvSpPr>
        <p:spPr>
          <a:xfrm>
            <a:off x="7844111" y="5782146"/>
            <a:ext cx="4120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These macroscopic phenomena can be derived microscopically by using statistics.</a:t>
            </a:r>
          </a:p>
        </p:txBody>
      </p:sp>
    </p:spTree>
    <p:extLst>
      <p:ext uri="{BB962C8B-B14F-4D97-AF65-F5344CB8AC3E}">
        <p14:creationId xmlns:p14="http://schemas.microsoft.com/office/powerpoint/2010/main" val="370934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22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Laws of Thermodynamics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735865"/>
            <a:ext cx="6113612" cy="496731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27346" y="2261956"/>
            <a:ext cx="256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r>
              <a:rPr lang="en-US" baseline="30000" dirty="0"/>
              <a:t>th</a:t>
            </a:r>
            <a:r>
              <a:rPr lang="en-US" dirty="0"/>
              <a:t> Law </a:t>
            </a:r>
            <a:r>
              <a:rPr lang="en-US"/>
              <a:t>of thermodynamic</a:t>
            </a:r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1172140" y="4100437"/>
            <a:ext cx="1158936" cy="9837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1296567" y="418978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16394" y="412324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97583" y="4481709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90127" y="464698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06167" y="479938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21569" y="4589033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03514" y="444522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0914" y="363184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16227" y="4136924"/>
            <a:ext cx="826230" cy="7506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4140654" y="422627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60481" y="4159732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4243" y="4518196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40278" y="4361501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65656" y="4329304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51385" y="4481707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12699" y="36150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</a:t>
            </a:r>
            <a:endParaRPr lang="en-US" dirty="0"/>
          </a:p>
        </p:txBody>
      </p:sp>
      <p:sp>
        <p:nvSpPr>
          <p:cNvPr id="92" name="Rectangle 91"/>
          <p:cNvSpPr/>
          <p:nvPr/>
        </p:nvSpPr>
        <p:spPr>
          <a:xfrm>
            <a:off x="2859110" y="5780046"/>
            <a:ext cx="886508" cy="88606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3458083" y="577175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30936" y="5705212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12125" y="6063676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51643" y="622895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20709" y="6381355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36111" y="617100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15024" y="6246130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/>
              <a:t>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51561" y="532614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1183346" y="5209505"/>
            <a:ext cx="1605840" cy="849864"/>
            <a:chOff x="1183346" y="5209505"/>
            <a:chExt cx="1605840" cy="849864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1763059" y="5209505"/>
              <a:ext cx="1026127" cy="849864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183346" y="5608627"/>
              <a:ext cx="1191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equilibrium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858036" y="5039928"/>
            <a:ext cx="1601656" cy="1155549"/>
            <a:chOff x="3858036" y="5039928"/>
            <a:chExt cx="1601656" cy="1155549"/>
          </a:xfrm>
        </p:grpSpPr>
        <p:cxnSp>
          <p:nvCxnSpPr>
            <p:cNvPr id="101" name="Straight Arrow Connector 100"/>
            <p:cNvCxnSpPr/>
            <p:nvPr/>
          </p:nvCxnSpPr>
          <p:spPr>
            <a:xfrm flipH="1">
              <a:off x="3858036" y="5039928"/>
              <a:ext cx="716207" cy="1155549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/>
            <p:cNvSpPr txBox="1"/>
            <p:nvPr/>
          </p:nvSpPr>
          <p:spPr>
            <a:xfrm>
              <a:off x="4268340" y="5595380"/>
              <a:ext cx="1191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equilibrium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384856" y="3768610"/>
            <a:ext cx="1605613" cy="806578"/>
            <a:chOff x="2384856" y="3768610"/>
            <a:chExt cx="1605613" cy="806578"/>
          </a:xfrm>
        </p:grpSpPr>
        <p:sp>
          <p:nvSpPr>
            <p:cNvPr id="104" name="TextBox 103"/>
            <p:cNvSpPr txBox="1"/>
            <p:nvPr/>
          </p:nvSpPr>
          <p:spPr>
            <a:xfrm>
              <a:off x="2528954" y="3768610"/>
              <a:ext cx="119135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Must be in </a:t>
              </a:r>
            </a:p>
            <a:p>
              <a:r>
                <a:rPr lang="en-US" dirty="0"/>
                <a:t>equilibrium</a:t>
              </a:r>
            </a:p>
          </p:txBody>
        </p:sp>
        <p:cxnSp>
          <p:nvCxnSpPr>
            <p:cNvPr id="105" name="Straight Arrow Connector 104"/>
            <p:cNvCxnSpPr/>
            <p:nvPr/>
          </p:nvCxnSpPr>
          <p:spPr>
            <a:xfrm>
              <a:off x="2384856" y="4537750"/>
              <a:ext cx="1605613" cy="37438"/>
            </a:xfrm>
            <a:prstGeom prst="straightConnector1">
              <a:avLst/>
            </a:prstGeom>
            <a:ln w="76200">
              <a:solidFill>
                <a:schemeClr val="bg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Box 107"/>
          <p:cNvSpPr txBox="1"/>
          <p:nvPr/>
        </p:nvSpPr>
        <p:spPr>
          <a:xfrm>
            <a:off x="6056543" y="3831288"/>
            <a:ext cx="592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Seem trivial but very important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concept of temperature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69586" y="4760883"/>
            <a:ext cx="655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two system is in equilibrium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both have same temperature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496752-E55C-4922-95FB-933089B6DA39}"/>
              </a:ext>
            </a:extLst>
          </p:cNvPr>
          <p:cNvSpPr txBox="1"/>
          <p:nvPr/>
        </p:nvSpPr>
        <p:spPr>
          <a:xfrm>
            <a:off x="8944617" y="5216854"/>
            <a:ext cx="3557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How to measure temperature</a:t>
            </a:r>
            <a:endParaRPr lang="en-MY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7C2BF9E-7A62-4F4A-8B61-B9E7A8C34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6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10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Laws of Thermodynamics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346" y="2261956"/>
            <a:ext cx="255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Law of thermodynamic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2"/>
            <a:ext cx="6599528" cy="11272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139" y="4324389"/>
            <a:ext cx="2205510" cy="18779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090" y="6372024"/>
            <a:ext cx="1854560" cy="3753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36135" y="3694617"/>
            <a:ext cx="491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the statement of energy conservation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09705-9043-43E4-9387-5EE785E85487}"/>
              </a:ext>
            </a:extLst>
          </p:cNvPr>
          <p:cNvSpPr txBox="1"/>
          <p:nvPr/>
        </p:nvSpPr>
        <p:spPr>
          <a:xfrm>
            <a:off x="1541069" y="5027403"/>
            <a:ext cx="330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Similar to work-Energy theorem in mechanics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8A1DA-D74D-45B0-A30A-25859910FD62}"/>
              </a:ext>
            </a:extLst>
          </p:cNvPr>
          <p:cNvSpPr txBox="1"/>
          <p:nvPr/>
        </p:nvSpPr>
        <p:spPr>
          <a:xfrm>
            <a:off x="6390290" y="6332607"/>
            <a:ext cx="133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(closed)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7877B1-7AB0-493F-980E-B9AEAF8ACB88}"/>
              </a:ext>
            </a:extLst>
          </p:cNvPr>
          <p:cNvGrpSpPr/>
          <p:nvPr/>
        </p:nvGrpSpPr>
        <p:grpSpPr>
          <a:xfrm>
            <a:off x="7726874" y="5150056"/>
            <a:ext cx="3017326" cy="595956"/>
            <a:chOff x="7726874" y="5150056"/>
            <a:chExt cx="3017326" cy="59595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26874" y="5150056"/>
              <a:ext cx="1625334" cy="59595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57A972-BE91-4AB1-9671-FBB742ABDF80}"/>
                </a:ext>
              </a:extLst>
            </p:cNvPr>
            <p:cNvSpPr txBox="1"/>
            <p:nvPr/>
          </p:nvSpPr>
          <p:spPr>
            <a:xfrm>
              <a:off x="9407616" y="5239716"/>
              <a:ext cx="1336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(open)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0E933BE-1BE4-4461-A561-6DE01C20C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87CDBE5-8C5C-4D47-B971-7577A5139DAE}"/>
              </a:ext>
            </a:extLst>
          </p:cNvPr>
          <p:cNvGrpSpPr/>
          <p:nvPr/>
        </p:nvGrpSpPr>
        <p:grpSpPr>
          <a:xfrm>
            <a:off x="8352481" y="5448034"/>
            <a:ext cx="3118354" cy="1019576"/>
            <a:chOff x="8352481" y="5448034"/>
            <a:chExt cx="3118354" cy="101957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A9197CC-1AC3-4339-9C20-7CF010A1F3F7}"/>
                </a:ext>
              </a:extLst>
            </p:cNvPr>
            <p:cNvSpPr txBox="1"/>
            <p:nvPr/>
          </p:nvSpPr>
          <p:spPr>
            <a:xfrm flipH="1">
              <a:off x="8352481" y="6098278"/>
              <a:ext cx="31183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The convention of the sign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EEB5A0D-C34F-4BE1-BC7C-2C82782CD2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8080" y="5448034"/>
              <a:ext cx="0" cy="64008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8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Laws of Thermodynamics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346" y="2261956"/>
            <a:ext cx="260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Law of thermodynamic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1"/>
            <a:ext cx="5707301" cy="10166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70836"/>
          <a:stretch/>
        </p:blipFill>
        <p:spPr>
          <a:xfrm>
            <a:off x="7011081" y="1958240"/>
            <a:ext cx="1518012" cy="13622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r="44884"/>
          <a:stretch/>
        </p:blipFill>
        <p:spPr>
          <a:xfrm>
            <a:off x="9274674" y="3315975"/>
            <a:ext cx="2817203" cy="13587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E06756-3600-4C5A-B8EB-3A0ED40644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409"/>
          <a:stretch/>
        </p:blipFill>
        <p:spPr>
          <a:xfrm>
            <a:off x="9130376" y="2006026"/>
            <a:ext cx="2893609" cy="13622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82BF29-FBB3-4361-A4AC-661A684243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478"/>
          <a:stretch/>
        </p:blipFill>
        <p:spPr>
          <a:xfrm>
            <a:off x="6989379" y="3230578"/>
            <a:ext cx="1662310" cy="135872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5BB47959-F21C-4558-84E0-AA8CDC8B6746}"/>
              </a:ext>
            </a:extLst>
          </p:cNvPr>
          <p:cNvSpPr/>
          <p:nvPr/>
        </p:nvSpPr>
        <p:spPr>
          <a:xfrm rot="10800000">
            <a:off x="8746015" y="2598607"/>
            <a:ext cx="384361" cy="255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EA06409-34B6-425E-9004-84A01AB6669C}"/>
              </a:ext>
            </a:extLst>
          </p:cNvPr>
          <p:cNvSpPr/>
          <p:nvPr/>
        </p:nvSpPr>
        <p:spPr>
          <a:xfrm rot="10800000">
            <a:off x="8746014" y="3621880"/>
            <a:ext cx="384361" cy="255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297B15-2600-4AB0-9BFB-5B5900451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37" y="5181089"/>
            <a:ext cx="2482150" cy="16923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E76F3A-ED09-4C6F-AB34-B6451107F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45" y="3935086"/>
            <a:ext cx="5693426" cy="65421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7E5D6F4-3E66-49A2-91F3-C95C56A17AC6}"/>
              </a:ext>
            </a:extLst>
          </p:cNvPr>
          <p:cNvGrpSpPr/>
          <p:nvPr/>
        </p:nvGrpSpPr>
        <p:grpSpPr>
          <a:xfrm>
            <a:off x="2354319" y="4508711"/>
            <a:ext cx="4073470" cy="2306097"/>
            <a:chOff x="8098105" y="1580941"/>
            <a:chExt cx="4073470" cy="23060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7FBDBE4-9E41-4C25-877C-AEAA93622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40513" y="1580941"/>
              <a:ext cx="2831062" cy="2306097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8D99DD3-14C9-4E2F-A0F1-BCE61458C5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8105" y="2525221"/>
              <a:ext cx="1545019" cy="44010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F7E9C3-9C93-40AA-9CFC-BC364C195A29}"/>
              </a:ext>
            </a:extLst>
          </p:cNvPr>
          <p:cNvGrpSpPr/>
          <p:nvPr/>
        </p:nvGrpSpPr>
        <p:grpSpPr>
          <a:xfrm>
            <a:off x="9664064" y="4628013"/>
            <a:ext cx="2347547" cy="1836208"/>
            <a:chOff x="9664064" y="4628013"/>
            <a:chExt cx="2347547" cy="183620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2CBF59D-0086-457A-8076-B0A932092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847960" y="5153920"/>
              <a:ext cx="2163651" cy="598142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C183005-36F6-4439-A986-2A3461FB9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26884" y="6202151"/>
              <a:ext cx="1858320" cy="26207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85FA327-0CB7-4BEF-9F00-6BD88DAD3E24}"/>
                </a:ext>
              </a:extLst>
            </p:cNvPr>
            <p:cNvSpPr txBox="1"/>
            <p:nvPr/>
          </p:nvSpPr>
          <p:spPr>
            <a:xfrm>
              <a:off x="9664064" y="4628013"/>
              <a:ext cx="23081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Engine efficiency: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031F8D-0E7A-44BE-B31E-BCC0107C63CF}"/>
              </a:ext>
            </a:extLst>
          </p:cNvPr>
          <p:cNvGrpSpPr/>
          <p:nvPr/>
        </p:nvGrpSpPr>
        <p:grpSpPr>
          <a:xfrm>
            <a:off x="-36298" y="2984938"/>
            <a:ext cx="1112036" cy="444062"/>
            <a:chOff x="-36298" y="2984938"/>
            <a:chExt cx="1112036" cy="44406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51F33A0-F091-45E6-9560-049524726AF9}"/>
                </a:ext>
              </a:extLst>
            </p:cNvPr>
            <p:cNvCxnSpPr/>
            <p:nvPr/>
          </p:nvCxnSpPr>
          <p:spPr>
            <a:xfrm>
              <a:off x="1024128" y="2984938"/>
              <a:ext cx="0" cy="44406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C831F4F-D48A-4048-B7D0-7ECCB3815D7B}"/>
                </a:ext>
              </a:extLst>
            </p:cNvPr>
            <p:cNvSpPr txBox="1"/>
            <p:nvPr/>
          </p:nvSpPr>
          <p:spPr>
            <a:xfrm>
              <a:off x="-36298" y="3006280"/>
              <a:ext cx="1112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equivalent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AEB1353-2C16-4F79-8F0B-5230CCA68330}"/>
              </a:ext>
            </a:extLst>
          </p:cNvPr>
          <p:cNvGrpSpPr/>
          <p:nvPr/>
        </p:nvGrpSpPr>
        <p:grpSpPr>
          <a:xfrm>
            <a:off x="-36298" y="3596868"/>
            <a:ext cx="1112036" cy="444062"/>
            <a:chOff x="-36298" y="2984938"/>
            <a:chExt cx="1112036" cy="44406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75F53C7-D471-47FB-9C9B-26A039640627}"/>
                </a:ext>
              </a:extLst>
            </p:cNvPr>
            <p:cNvCxnSpPr/>
            <p:nvPr/>
          </p:nvCxnSpPr>
          <p:spPr>
            <a:xfrm>
              <a:off x="1024128" y="2984938"/>
              <a:ext cx="0" cy="44406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F71CF97-EE14-4814-A404-951B8135A0B3}"/>
                </a:ext>
              </a:extLst>
            </p:cNvPr>
            <p:cNvSpPr txBox="1"/>
            <p:nvPr/>
          </p:nvSpPr>
          <p:spPr>
            <a:xfrm>
              <a:off x="-36298" y="3006280"/>
              <a:ext cx="1112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equivalent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CE7A9AEB-6DD5-44AD-8148-C31CC156B0BD}"/>
              </a:ext>
            </a:extLst>
          </p:cNvPr>
          <p:cNvSpPr/>
          <p:nvPr/>
        </p:nvSpPr>
        <p:spPr>
          <a:xfrm>
            <a:off x="9274675" y="2006026"/>
            <a:ext cx="951892" cy="1309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8E8AD2-FFC0-406D-A027-C19A01DC49A6}"/>
              </a:ext>
            </a:extLst>
          </p:cNvPr>
          <p:cNvSpPr/>
          <p:nvPr/>
        </p:nvSpPr>
        <p:spPr>
          <a:xfrm>
            <a:off x="9304029" y="3429322"/>
            <a:ext cx="1080192" cy="1198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1E7CFF-DF84-4FEF-8BA7-47CF5B5B7F6C}"/>
              </a:ext>
            </a:extLst>
          </p:cNvPr>
          <p:cNvSpPr txBox="1"/>
          <p:nvPr/>
        </p:nvSpPr>
        <p:spPr>
          <a:xfrm>
            <a:off x="4991039" y="4836479"/>
            <a:ext cx="199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Reversible process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F34F173-3F71-41AB-895B-9E28411160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CCBC8A6-1878-422D-8138-E91D952C35E6}"/>
              </a:ext>
            </a:extLst>
          </p:cNvPr>
          <p:cNvGrpSpPr/>
          <p:nvPr/>
        </p:nvGrpSpPr>
        <p:grpSpPr>
          <a:xfrm>
            <a:off x="6382730" y="5333228"/>
            <a:ext cx="3326393" cy="1251040"/>
            <a:chOff x="6382730" y="5333228"/>
            <a:chExt cx="3326393" cy="125104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D671E90-F5E4-4325-8352-EF9B56B1C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82730" y="5655650"/>
              <a:ext cx="3326393" cy="928618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BFBF4C-5859-4711-9F32-61945C4CFF5F}"/>
                </a:ext>
              </a:extLst>
            </p:cNvPr>
            <p:cNvSpPr txBox="1"/>
            <p:nvPr/>
          </p:nvSpPr>
          <p:spPr>
            <a:xfrm>
              <a:off x="7115569" y="5333228"/>
              <a:ext cx="7262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Proof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210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26" grpId="0" animBg="1"/>
      <p:bldP spid="31" grpId="0" animBg="1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5961997" cy="1499616"/>
          </a:xfrm>
        </p:spPr>
        <p:txBody>
          <a:bodyPr/>
          <a:lstStyle/>
          <a:p>
            <a:r>
              <a:rPr lang="en-US" dirty="0"/>
              <a:t>Laws of Thermodynamics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346" y="2261956"/>
            <a:ext cx="260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Law of thermodynamic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1"/>
            <a:ext cx="5707301" cy="10166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4" y="4665730"/>
            <a:ext cx="5862391" cy="73051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45" y="3935086"/>
            <a:ext cx="5693426" cy="65421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8337525" y="1767828"/>
            <a:ext cx="1016876" cy="789572"/>
            <a:chOff x="8337525" y="1767828"/>
            <a:chExt cx="1016876" cy="789572"/>
          </a:xfrm>
        </p:grpSpPr>
        <p:sp>
          <p:nvSpPr>
            <p:cNvPr id="21" name="Rectangle 20"/>
            <p:cNvSpPr/>
            <p:nvPr/>
          </p:nvSpPr>
          <p:spPr>
            <a:xfrm>
              <a:off x="8337525" y="1767828"/>
              <a:ext cx="585989" cy="33564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99956" y="1786990"/>
              <a:ext cx="333744" cy="313517"/>
            </a:xfrm>
            <a:prstGeom prst="rect">
              <a:avLst/>
            </a:prstGeom>
          </p:spPr>
        </p:pic>
        <p:cxnSp>
          <p:nvCxnSpPr>
            <p:cNvPr id="24" name="Straight Arrow Connector 23"/>
            <p:cNvCxnSpPr/>
            <p:nvPr/>
          </p:nvCxnSpPr>
          <p:spPr>
            <a:xfrm flipH="1">
              <a:off x="8630519" y="2116351"/>
              <a:ext cx="1" cy="441049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77412" y="2194143"/>
              <a:ext cx="576989" cy="322723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/>
        </p:nvGrpSpPr>
        <p:grpSpPr>
          <a:xfrm>
            <a:off x="7269226" y="1684782"/>
            <a:ext cx="750643" cy="1201028"/>
            <a:chOff x="7269226" y="1684782"/>
            <a:chExt cx="750643" cy="1201028"/>
          </a:xfrm>
        </p:grpSpPr>
        <p:sp>
          <p:nvSpPr>
            <p:cNvPr id="25" name="Right Arrow 24"/>
            <p:cNvSpPr/>
            <p:nvPr/>
          </p:nvSpPr>
          <p:spPr>
            <a:xfrm rot="14006589">
              <a:off x="7352984" y="2218924"/>
              <a:ext cx="1014820" cy="318951"/>
            </a:xfrm>
            <a:prstGeom prst="rightArrow">
              <a:avLst/>
            </a:prstGeom>
            <a:gradFill>
              <a:gsLst>
                <a:gs pos="0">
                  <a:schemeClr val="bg1">
                    <a:alpha val="60000"/>
                  </a:schemeClr>
                </a:gs>
                <a:gs pos="74000">
                  <a:schemeClr val="bg1">
                    <a:lumMod val="75000"/>
                  </a:schemeClr>
                </a:gs>
                <a:gs pos="83000">
                  <a:schemeClr val="bg1">
                    <a:lumMod val="6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69226" y="1684782"/>
              <a:ext cx="344297" cy="251244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9381669" y="3866567"/>
            <a:ext cx="1313177" cy="520204"/>
            <a:chOff x="9381669" y="3866567"/>
            <a:chExt cx="1313177" cy="520204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9642739" y="3866567"/>
              <a:ext cx="465412" cy="311399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10108857" y="3993679"/>
              <a:ext cx="585989" cy="33564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54493" y="4033469"/>
              <a:ext cx="294715" cy="304539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81669" y="4062268"/>
              <a:ext cx="550672" cy="324503"/>
            </a:xfrm>
            <a:prstGeom prst="rect">
              <a:avLst/>
            </a:prstGeom>
          </p:spPr>
        </p:pic>
      </p:grpSp>
      <p:grpSp>
        <p:nvGrpSpPr>
          <p:cNvPr id="16" name="Group 15"/>
          <p:cNvGrpSpPr/>
          <p:nvPr/>
        </p:nvGrpSpPr>
        <p:grpSpPr>
          <a:xfrm>
            <a:off x="7322485" y="75735"/>
            <a:ext cx="4070939" cy="462521"/>
            <a:chOff x="7322485" y="75735"/>
            <a:chExt cx="4070939" cy="462521"/>
          </a:xfrm>
        </p:grpSpPr>
        <p:sp>
          <p:nvSpPr>
            <p:cNvPr id="43" name="Rectangle 42"/>
            <p:cNvSpPr/>
            <p:nvPr/>
          </p:nvSpPr>
          <p:spPr>
            <a:xfrm>
              <a:off x="7322485" y="75735"/>
              <a:ext cx="4070939" cy="462521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153652" y="173124"/>
              <a:ext cx="356976" cy="325478"/>
            </a:xfrm>
            <a:prstGeom prst="rect">
              <a:avLst/>
            </a:prstGeom>
          </p:spPr>
        </p:pic>
      </p:grpSp>
      <p:pic>
        <p:nvPicPr>
          <p:cNvPr id="61" name="Picture 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677" y="5541600"/>
            <a:ext cx="1625334" cy="595956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6682261" y="555775"/>
            <a:ext cx="2641660" cy="1203049"/>
            <a:chOff x="6682261" y="555775"/>
            <a:chExt cx="2641660" cy="1203049"/>
          </a:xfrm>
        </p:grpSpPr>
        <p:grpSp>
          <p:nvGrpSpPr>
            <p:cNvPr id="14" name="Group 13"/>
            <p:cNvGrpSpPr/>
            <p:nvPr/>
          </p:nvGrpSpPr>
          <p:grpSpPr>
            <a:xfrm>
              <a:off x="7325926" y="555775"/>
              <a:ext cx="1922066" cy="1203049"/>
              <a:chOff x="7325926" y="555775"/>
              <a:chExt cx="1922066" cy="1203049"/>
            </a:xfrm>
          </p:grpSpPr>
          <p:cxnSp>
            <p:nvCxnSpPr>
              <p:cNvPr id="47" name="Straight Arrow Connector 46"/>
              <p:cNvCxnSpPr/>
              <p:nvPr/>
            </p:nvCxnSpPr>
            <p:spPr>
              <a:xfrm flipH="1">
                <a:off x="8636615" y="1317775"/>
                <a:ext cx="1" cy="441049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>
              <a:xfrm flipH="1">
                <a:off x="8642711" y="555775"/>
                <a:ext cx="1" cy="441049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/>
              <p:cNvSpPr/>
              <p:nvPr/>
            </p:nvSpPr>
            <p:spPr>
              <a:xfrm>
                <a:off x="8013044" y="965447"/>
                <a:ext cx="1234948" cy="3504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Carnot</a:t>
                </a:r>
              </a:p>
            </p:txBody>
          </p:sp>
          <p:cxnSp>
            <p:nvCxnSpPr>
              <p:cNvPr id="52" name="Straight Arrow Connector 51"/>
              <p:cNvCxnSpPr/>
              <p:nvPr/>
            </p:nvCxnSpPr>
            <p:spPr>
              <a:xfrm flipH="1">
                <a:off x="7325926" y="1152248"/>
                <a:ext cx="696067" cy="2183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82261" y="990279"/>
              <a:ext cx="546608" cy="273304"/>
            </a:xfrm>
            <a:prstGeom prst="rect">
              <a:avLst/>
            </a:prstGeom>
          </p:spPr>
        </p:pic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46932" y="1377279"/>
              <a:ext cx="576989" cy="322723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9936405" y="529286"/>
            <a:ext cx="2255595" cy="3455708"/>
            <a:chOff x="9936405" y="529286"/>
            <a:chExt cx="2255595" cy="3455708"/>
          </a:xfrm>
        </p:grpSpPr>
        <p:cxnSp>
          <p:nvCxnSpPr>
            <p:cNvPr id="44" name="Straight Arrow Connector 43"/>
            <p:cNvCxnSpPr/>
            <p:nvPr/>
          </p:nvCxnSpPr>
          <p:spPr>
            <a:xfrm flipH="1" flipV="1">
              <a:off x="10549208" y="2442656"/>
              <a:ext cx="30015" cy="1542338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/>
            <p:cNvSpPr/>
            <p:nvPr/>
          </p:nvSpPr>
          <p:spPr>
            <a:xfrm>
              <a:off x="9941904" y="2086752"/>
              <a:ext cx="1234948" cy="35040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Carnot</a:t>
              </a:r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 flipH="1" flipV="1">
              <a:off x="10518338" y="529286"/>
              <a:ext cx="30015" cy="1542338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599368" y="2115215"/>
              <a:ext cx="592632" cy="310889"/>
            </a:xfrm>
            <a:prstGeom prst="rect">
              <a:avLst/>
            </a:prstGeom>
          </p:spPr>
        </p:pic>
        <p:cxnSp>
          <p:nvCxnSpPr>
            <p:cNvPr id="57" name="Straight Arrow Connector 56"/>
            <p:cNvCxnSpPr>
              <a:cxnSpLocks/>
              <a:stCxn id="54" idx="1"/>
              <a:endCxn id="50" idx="6"/>
            </p:cNvCxnSpPr>
            <p:nvPr/>
          </p:nvCxnSpPr>
          <p:spPr>
            <a:xfrm flipH="1" flipV="1">
              <a:off x="11176852" y="2261956"/>
              <a:ext cx="422516" cy="8704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936405" y="3190540"/>
              <a:ext cx="550672" cy="324503"/>
            </a:xfrm>
            <a:prstGeom prst="rect">
              <a:avLst/>
            </a:prstGeom>
          </p:spPr>
        </p:pic>
      </p:grpSp>
      <p:pic>
        <p:nvPicPr>
          <p:cNvPr id="66" name="Picture 6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72458" y="5475040"/>
            <a:ext cx="2316555" cy="58628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9826884" y="5153920"/>
            <a:ext cx="2184727" cy="1310301"/>
            <a:chOff x="9826884" y="5153920"/>
            <a:chExt cx="2184727" cy="1310301"/>
          </a:xfrm>
        </p:grpSpPr>
        <p:pic>
          <p:nvPicPr>
            <p:cNvPr id="68" name="Picture 67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847960" y="5153920"/>
              <a:ext cx="2163651" cy="598142"/>
            </a:xfrm>
            <a:prstGeom prst="rect">
              <a:avLst/>
            </a:prstGeom>
          </p:spPr>
        </p:pic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826884" y="6202151"/>
              <a:ext cx="1858320" cy="262070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6876272" y="2281206"/>
            <a:ext cx="3065632" cy="2527503"/>
            <a:chOff x="6876272" y="2281206"/>
            <a:chExt cx="3065632" cy="2527503"/>
          </a:xfrm>
        </p:grpSpPr>
        <p:sp>
          <p:nvSpPr>
            <p:cNvPr id="10" name="TextBox 9"/>
            <p:cNvSpPr txBox="1"/>
            <p:nvPr/>
          </p:nvSpPr>
          <p:spPr>
            <a:xfrm>
              <a:off x="8117409" y="3098843"/>
              <a:ext cx="13481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Engine Cycle</a:t>
              </a:r>
              <a:endParaRPr lang="en-US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7228869" y="2516866"/>
              <a:ext cx="0" cy="20595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7228869" y="4576901"/>
              <a:ext cx="2217313" cy="322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19"/>
            <p:cNvSpPr/>
            <p:nvPr/>
          </p:nvSpPr>
          <p:spPr>
            <a:xfrm>
              <a:off x="7322485" y="2553561"/>
              <a:ext cx="2619419" cy="1829229"/>
            </a:xfrm>
            <a:custGeom>
              <a:avLst/>
              <a:gdLst>
                <a:gd name="connsiteX0" fmla="*/ 583598 w 2415754"/>
                <a:gd name="connsiteY0" fmla="*/ 1314480 h 1611067"/>
                <a:gd name="connsiteX1" fmla="*/ 1291936 w 2415754"/>
                <a:gd name="connsiteY1" fmla="*/ 1610694 h 1611067"/>
                <a:gd name="connsiteX2" fmla="*/ 1601029 w 2415754"/>
                <a:gd name="connsiteY2" fmla="*/ 1250085 h 1611067"/>
                <a:gd name="connsiteX3" fmla="*/ 2386640 w 2415754"/>
                <a:gd name="connsiteY3" fmla="*/ 1018266 h 1611067"/>
                <a:gd name="connsiteX4" fmla="*/ 2180578 w 2415754"/>
                <a:gd name="connsiteY4" fmla="*/ 464474 h 1611067"/>
                <a:gd name="connsiteX5" fmla="*/ 1549513 w 2415754"/>
                <a:gd name="connsiteY5" fmla="*/ 78108 h 1611067"/>
                <a:gd name="connsiteX6" fmla="*/ 673750 w 2415754"/>
                <a:gd name="connsiteY6" fmla="*/ 39471 h 1611067"/>
                <a:gd name="connsiteX7" fmla="*/ 326020 w 2415754"/>
                <a:gd name="connsiteY7" fmla="*/ 528869 h 1611067"/>
                <a:gd name="connsiteX8" fmla="*/ 918448 w 2415754"/>
                <a:gd name="connsiteY8" fmla="*/ 876598 h 1611067"/>
                <a:gd name="connsiteX9" fmla="*/ 4048 w 2415754"/>
                <a:gd name="connsiteY9" fmla="*/ 1108418 h 1611067"/>
                <a:gd name="connsiteX10" fmla="*/ 583598 w 2415754"/>
                <a:gd name="connsiteY10" fmla="*/ 1314480 h 1611067"/>
                <a:gd name="connsiteX0" fmla="*/ 2180578 w 2416669"/>
                <a:gd name="connsiteY0" fmla="*/ 464474 h 1611067"/>
                <a:gd name="connsiteX1" fmla="*/ 1549513 w 2416669"/>
                <a:gd name="connsiteY1" fmla="*/ 78108 h 1611067"/>
                <a:gd name="connsiteX2" fmla="*/ 673750 w 2416669"/>
                <a:gd name="connsiteY2" fmla="*/ 39471 h 1611067"/>
                <a:gd name="connsiteX3" fmla="*/ 326020 w 2416669"/>
                <a:gd name="connsiteY3" fmla="*/ 528869 h 1611067"/>
                <a:gd name="connsiteX4" fmla="*/ 918448 w 2416669"/>
                <a:gd name="connsiteY4" fmla="*/ 876598 h 1611067"/>
                <a:gd name="connsiteX5" fmla="*/ 4048 w 2416669"/>
                <a:gd name="connsiteY5" fmla="*/ 1108418 h 1611067"/>
                <a:gd name="connsiteX6" fmla="*/ 583598 w 2416669"/>
                <a:gd name="connsiteY6" fmla="*/ 1314480 h 1611067"/>
                <a:gd name="connsiteX7" fmla="*/ 1291936 w 2416669"/>
                <a:gd name="connsiteY7" fmla="*/ 1610694 h 1611067"/>
                <a:gd name="connsiteX8" fmla="*/ 1601029 w 2416669"/>
                <a:gd name="connsiteY8" fmla="*/ 1250085 h 1611067"/>
                <a:gd name="connsiteX9" fmla="*/ 2386640 w 2416669"/>
                <a:gd name="connsiteY9" fmla="*/ 1018266 h 1611067"/>
                <a:gd name="connsiteX10" fmla="*/ 2272018 w 2416669"/>
                <a:gd name="connsiteY10" fmla="*/ 555914 h 1611067"/>
                <a:gd name="connsiteX0" fmla="*/ 2180578 w 2410123"/>
                <a:gd name="connsiteY0" fmla="*/ 464474 h 1611067"/>
                <a:gd name="connsiteX1" fmla="*/ 1549513 w 2410123"/>
                <a:gd name="connsiteY1" fmla="*/ 78108 h 1611067"/>
                <a:gd name="connsiteX2" fmla="*/ 673750 w 2410123"/>
                <a:gd name="connsiteY2" fmla="*/ 39471 h 1611067"/>
                <a:gd name="connsiteX3" fmla="*/ 326020 w 2410123"/>
                <a:gd name="connsiteY3" fmla="*/ 528869 h 1611067"/>
                <a:gd name="connsiteX4" fmla="*/ 918448 w 2410123"/>
                <a:gd name="connsiteY4" fmla="*/ 876598 h 1611067"/>
                <a:gd name="connsiteX5" fmla="*/ 4048 w 2410123"/>
                <a:gd name="connsiteY5" fmla="*/ 1108418 h 1611067"/>
                <a:gd name="connsiteX6" fmla="*/ 583598 w 2410123"/>
                <a:gd name="connsiteY6" fmla="*/ 1314480 h 1611067"/>
                <a:gd name="connsiteX7" fmla="*/ 1291936 w 2410123"/>
                <a:gd name="connsiteY7" fmla="*/ 1610694 h 1611067"/>
                <a:gd name="connsiteX8" fmla="*/ 1601029 w 2410123"/>
                <a:gd name="connsiteY8" fmla="*/ 1250085 h 1611067"/>
                <a:gd name="connsiteX9" fmla="*/ 2386640 w 2410123"/>
                <a:gd name="connsiteY9" fmla="*/ 1018266 h 1611067"/>
                <a:gd name="connsiteX10" fmla="*/ 2194745 w 2410123"/>
                <a:gd name="connsiteY10" fmla="*/ 478641 h 1611067"/>
                <a:gd name="connsiteX0" fmla="*/ 2180578 w 2404187"/>
                <a:gd name="connsiteY0" fmla="*/ 464474 h 1611067"/>
                <a:gd name="connsiteX1" fmla="*/ 1549513 w 2404187"/>
                <a:gd name="connsiteY1" fmla="*/ 78108 h 1611067"/>
                <a:gd name="connsiteX2" fmla="*/ 673750 w 2404187"/>
                <a:gd name="connsiteY2" fmla="*/ 39471 h 1611067"/>
                <a:gd name="connsiteX3" fmla="*/ 326020 w 2404187"/>
                <a:gd name="connsiteY3" fmla="*/ 528869 h 1611067"/>
                <a:gd name="connsiteX4" fmla="*/ 918448 w 2404187"/>
                <a:gd name="connsiteY4" fmla="*/ 876598 h 1611067"/>
                <a:gd name="connsiteX5" fmla="*/ 4048 w 2404187"/>
                <a:gd name="connsiteY5" fmla="*/ 1108418 h 1611067"/>
                <a:gd name="connsiteX6" fmla="*/ 583598 w 2404187"/>
                <a:gd name="connsiteY6" fmla="*/ 1314480 h 1611067"/>
                <a:gd name="connsiteX7" fmla="*/ 1291936 w 2404187"/>
                <a:gd name="connsiteY7" fmla="*/ 1610694 h 1611067"/>
                <a:gd name="connsiteX8" fmla="*/ 1601029 w 2404187"/>
                <a:gd name="connsiteY8" fmla="*/ 1250085 h 1611067"/>
                <a:gd name="connsiteX9" fmla="*/ 2386640 w 2404187"/>
                <a:gd name="connsiteY9" fmla="*/ 1018266 h 1611067"/>
                <a:gd name="connsiteX10" fmla="*/ 2143230 w 2404187"/>
                <a:gd name="connsiteY10" fmla="*/ 414246 h 1611067"/>
                <a:gd name="connsiteX0" fmla="*/ 2180578 w 2408483"/>
                <a:gd name="connsiteY0" fmla="*/ 464474 h 1611067"/>
                <a:gd name="connsiteX1" fmla="*/ 1549513 w 2408483"/>
                <a:gd name="connsiteY1" fmla="*/ 78108 h 1611067"/>
                <a:gd name="connsiteX2" fmla="*/ 673750 w 2408483"/>
                <a:gd name="connsiteY2" fmla="*/ 39471 h 1611067"/>
                <a:gd name="connsiteX3" fmla="*/ 326020 w 2408483"/>
                <a:gd name="connsiteY3" fmla="*/ 528869 h 1611067"/>
                <a:gd name="connsiteX4" fmla="*/ 918448 w 2408483"/>
                <a:gd name="connsiteY4" fmla="*/ 876598 h 1611067"/>
                <a:gd name="connsiteX5" fmla="*/ 4048 w 2408483"/>
                <a:gd name="connsiteY5" fmla="*/ 1108418 h 1611067"/>
                <a:gd name="connsiteX6" fmla="*/ 583598 w 2408483"/>
                <a:gd name="connsiteY6" fmla="*/ 1314480 h 1611067"/>
                <a:gd name="connsiteX7" fmla="*/ 1291936 w 2408483"/>
                <a:gd name="connsiteY7" fmla="*/ 1610694 h 1611067"/>
                <a:gd name="connsiteX8" fmla="*/ 1601029 w 2408483"/>
                <a:gd name="connsiteY8" fmla="*/ 1250085 h 1611067"/>
                <a:gd name="connsiteX9" fmla="*/ 2386640 w 2408483"/>
                <a:gd name="connsiteY9" fmla="*/ 1018266 h 1611067"/>
                <a:gd name="connsiteX10" fmla="*/ 2181867 w 2408483"/>
                <a:gd name="connsiteY10" fmla="*/ 452883 h 161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08483" h="1611067">
                  <a:moveTo>
                    <a:pt x="2180578" y="464474"/>
                  </a:moveTo>
                  <a:cubicBezTo>
                    <a:pt x="2041057" y="307781"/>
                    <a:pt x="1800651" y="148942"/>
                    <a:pt x="1549513" y="78108"/>
                  </a:cubicBezTo>
                  <a:cubicBezTo>
                    <a:pt x="1298375" y="7274"/>
                    <a:pt x="877666" y="-35656"/>
                    <a:pt x="673750" y="39471"/>
                  </a:cubicBezTo>
                  <a:cubicBezTo>
                    <a:pt x="469834" y="114598"/>
                    <a:pt x="285237" y="389348"/>
                    <a:pt x="326020" y="528869"/>
                  </a:cubicBezTo>
                  <a:cubicBezTo>
                    <a:pt x="366803" y="668390"/>
                    <a:pt x="972110" y="780006"/>
                    <a:pt x="918448" y="876598"/>
                  </a:cubicBezTo>
                  <a:cubicBezTo>
                    <a:pt x="864786" y="973189"/>
                    <a:pt x="53417" y="1033291"/>
                    <a:pt x="4048" y="1108418"/>
                  </a:cubicBezTo>
                  <a:cubicBezTo>
                    <a:pt x="-45321" y="1183545"/>
                    <a:pt x="368950" y="1230767"/>
                    <a:pt x="583598" y="1314480"/>
                  </a:cubicBezTo>
                  <a:cubicBezTo>
                    <a:pt x="798246" y="1398193"/>
                    <a:pt x="1122364" y="1621427"/>
                    <a:pt x="1291936" y="1610694"/>
                  </a:cubicBezTo>
                  <a:cubicBezTo>
                    <a:pt x="1461508" y="1599961"/>
                    <a:pt x="1418578" y="1348823"/>
                    <a:pt x="1601029" y="1250085"/>
                  </a:cubicBezTo>
                  <a:cubicBezTo>
                    <a:pt x="1783480" y="1151347"/>
                    <a:pt x="2289834" y="1151133"/>
                    <a:pt x="2386640" y="1018266"/>
                  </a:cubicBezTo>
                  <a:cubicBezTo>
                    <a:pt x="2483446" y="885399"/>
                    <a:pt x="2229948" y="518136"/>
                    <a:pt x="2181867" y="452883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876272" y="2281206"/>
              <a:ext cx="342900" cy="31750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466529" y="4465809"/>
              <a:ext cx="342900" cy="342900"/>
            </a:xfrm>
            <a:prstGeom prst="rect">
              <a:avLst/>
            </a:prstGeom>
          </p:spPr>
        </p:pic>
      </p:grpSp>
      <p:pic>
        <p:nvPicPr>
          <p:cNvPr id="29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53969" y="1024394"/>
            <a:ext cx="1461965" cy="294176"/>
          </a:xfrm>
          <a:prstGeom prst="rect">
            <a:avLst/>
          </a:prstGeom>
        </p:spPr>
      </p:pic>
      <p:grpSp>
        <p:nvGrpSpPr>
          <p:cNvPr id="41" name="Group 40"/>
          <p:cNvGrpSpPr/>
          <p:nvPr/>
        </p:nvGrpSpPr>
        <p:grpSpPr>
          <a:xfrm>
            <a:off x="3285014" y="6025429"/>
            <a:ext cx="9101849" cy="781380"/>
            <a:chOff x="3285014" y="6025429"/>
            <a:chExt cx="9101849" cy="781380"/>
          </a:xfrm>
        </p:grpSpPr>
        <p:sp>
          <p:nvSpPr>
            <p:cNvPr id="30" name="Right Brace 29"/>
            <p:cNvSpPr/>
            <p:nvPr/>
          </p:nvSpPr>
          <p:spPr>
            <a:xfrm rot="5400000">
              <a:off x="7072953" y="5422134"/>
              <a:ext cx="304830" cy="151141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285014" y="6437477"/>
              <a:ext cx="91018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Net work done to the environment ≤ 0 (Kelvin: cannot turn all the heat to +work)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50C2AF5-ECD7-474A-B4B1-996D43AE1AF4}"/>
              </a:ext>
            </a:extLst>
          </p:cNvPr>
          <p:cNvGrpSpPr/>
          <p:nvPr/>
        </p:nvGrpSpPr>
        <p:grpSpPr>
          <a:xfrm>
            <a:off x="4525075" y="5429380"/>
            <a:ext cx="4415974" cy="736628"/>
            <a:chOff x="4525075" y="5429380"/>
            <a:chExt cx="4415974" cy="736628"/>
          </a:xfrm>
        </p:grpSpPr>
        <p:sp>
          <p:nvSpPr>
            <p:cNvPr id="23" name="Right Arrow 22"/>
            <p:cNvSpPr/>
            <p:nvPr/>
          </p:nvSpPr>
          <p:spPr>
            <a:xfrm flipH="1">
              <a:off x="8030579" y="5636993"/>
              <a:ext cx="910470" cy="31518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525075" y="5429380"/>
              <a:ext cx="3310864" cy="73662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FC21F2D-BE28-486C-834E-1559762AB09E}"/>
              </a:ext>
            </a:extLst>
          </p:cNvPr>
          <p:cNvGrpSpPr/>
          <p:nvPr/>
        </p:nvGrpSpPr>
        <p:grpSpPr>
          <a:xfrm>
            <a:off x="1958905" y="5640678"/>
            <a:ext cx="1763707" cy="553010"/>
            <a:chOff x="1958905" y="5640678"/>
            <a:chExt cx="1763707" cy="553010"/>
          </a:xfrm>
        </p:grpSpPr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329114" y="5647493"/>
              <a:ext cx="1393498" cy="546195"/>
            </a:xfrm>
            <a:prstGeom prst="rect">
              <a:avLst/>
            </a:prstGeom>
          </p:spPr>
        </p:pic>
        <p:sp>
          <p:nvSpPr>
            <p:cNvPr id="65" name="Right Arrow 22">
              <a:extLst>
                <a:ext uri="{FF2B5EF4-FFF2-40B4-BE49-F238E27FC236}">
                  <a16:creationId xmlns:a16="http://schemas.microsoft.com/office/drawing/2014/main" id="{6ECF0CBB-FE07-4731-9D07-9ECBCFB595B8}"/>
                </a:ext>
              </a:extLst>
            </p:cNvPr>
            <p:cNvSpPr/>
            <p:nvPr/>
          </p:nvSpPr>
          <p:spPr>
            <a:xfrm rot="10800000" flipH="1">
              <a:off x="1958905" y="5640678"/>
              <a:ext cx="265109" cy="31149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6" name="Arc 25"/>
          <p:cNvSpPr/>
          <p:nvPr/>
        </p:nvSpPr>
        <p:spPr>
          <a:xfrm>
            <a:off x="7655374" y="1949396"/>
            <a:ext cx="2804857" cy="3419722"/>
          </a:xfrm>
          <a:prstGeom prst="arc">
            <a:avLst>
              <a:gd name="adj1" fmla="val 16200000"/>
              <a:gd name="adj2" fmla="val 340098"/>
            </a:avLst>
          </a:prstGeom>
          <a:ln w="28575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c 72"/>
          <p:cNvSpPr/>
          <p:nvPr/>
        </p:nvSpPr>
        <p:spPr>
          <a:xfrm rot="8990659">
            <a:off x="7257694" y="1724659"/>
            <a:ext cx="3312585" cy="3419722"/>
          </a:xfrm>
          <a:prstGeom prst="arc">
            <a:avLst>
              <a:gd name="adj1" fmla="val 15304271"/>
              <a:gd name="adj2" fmla="val 5555147"/>
            </a:avLst>
          </a:prstGeom>
          <a:ln w="28575">
            <a:solidFill>
              <a:srgbClr val="00B050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92D68A7-B974-4C6C-BADF-A0C2820DA1CD}"/>
              </a:ext>
            </a:extLst>
          </p:cNvPr>
          <p:cNvGrpSpPr/>
          <p:nvPr/>
        </p:nvGrpSpPr>
        <p:grpSpPr>
          <a:xfrm>
            <a:off x="-36298" y="2984938"/>
            <a:ext cx="1112036" cy="444062"/>
            <a:chOff x="-36298" y="2984938"/>
            <a:chExt cx="1112036" cy="444062"/>
          </a:xfrm>
        </p:grpSpPr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9E8FD861-3826-4990-9E5F-EB513C125FBF}"/>
                </a:ext>
              </a:extLst>
            </p:cNvPr>
            <p:cNvCxnSpPr/>
            <p:nvPr/>
          </p:nvCxnSpPr>
          <p:spPr>
            <a:xfrm>
              <a:off x="1024128" y="2984938"/>
              <a:ext cx="0" cy="44406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E7293B7-C7E4-4BF8-A6E0-44C27397BB29}"/>
                </a:ext>
              </a:extLst>
            </p:cNvPr>
            <p:cNvSpPr txBox="1"/>
            <p:nvPr/>
          </p:nvSpPr>
          <p:spPr>
            <a:xfrm>
              <a:off x="-36298" y="3006280"/>
              <a:ext cx="1112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equivalent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184AC34-55F1-4D72-8824-F68C3644EB35}"/>
              </a:ext>
            </a:extLst>
          </p:cNvPr>
          <p:cNvGrpSpPr/>
          <p:nvPr/>
        </p:nvGrpSpPr>
        <p:grpSpPr>
          <a:xfrm>
            <a:off x="-36298" y="3596868"/>
            <a:ext cx="1112036" cy="444062"/>
            <a:chOff x="-36298" y="2984938"/>
            <a:chExt cx="1112036" cy="444062"/>
          </a:xfrm>
        </p:grpSpPr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AD30AC44-DEE5-454E-9F48-B70EB7A46F61}"/>
                </a:ext>
              </a:extLst>
            </p:cNvPr>
            <p:cNvCxnSpPr/>
            <p:nvPr/>
          </p:nvCxnSpPr>
          <p:spPr>
            <a:xfrm>
              <a:off x="1024128" y="2984938"/>
              <a:ext cx="0" cy="44406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C831A15-9842-4CEE-A510-C6AE5816CB25}"/>
                </a:ext>
              </a:extLst>
            </p:cNvPr>
            <p:cNvSpPr txBox="1"/>
            <p:nvPr/>
          </p:nvSpPr>
          <p:spPr>
            <a:xfrm>
              <a:off x="-36298" y="3006280"/>
              <a:ext cx="1112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equivalent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9D40B47-E986-40DA-918B-87D28013668F}"/>
              </a:ext>
            </a:extLst>
          </p:cNvPr>
          <p:cNvGrpSpPr/>
          <p:nvPr/>
        </p:nvGrpSpPr>
        <p:grpSpPr>
          <a:xfrm>
            <a:off x="-42799" y="4400911"/>
            <a:ext cx="1112036" cy="444062"/>
            <a:chOff x="-36298" y="2984938"/>
            <a:chExt cx="1112036" cy="444062"/>
          </a:xfrm>
        </p:grpSpPr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C6B5DD0C-F512-497A-99D7-81224CCC96E5}"/>
                </a:ext>
              </a:extLst>
            </p:cNvPr>
            <p:cNvCxnSpPr/>
            <p:nvPr/>
          </p:nvCxnSpPr>
          <p:spPr>
            <a:xfrm>
              <a:off x="1024128" y="2984938"/>
              <a:ext cx="0" cy="44406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79FE2CA-D5C8-40D7-91FB-7A436FF9EA6C}"/>
                </a:ext>
              </a:extLst>
            </p:cNvPr>
            <p:cNvSpPr txBox="1"/>
            <p:nvPr/>
          </p:nvSpPr>
          <p:spPr>
            <a:xfrm>
              <a:off x="-36298" y="3006280"/>
              <a:ext cx="11120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1600" dirty="0"/>
                <a:t>equivalent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245762DF-5294-43FD-883C-C82C07647F4A}"/>
              </a:ext>
            </a:extLst>
          </p:cNvPr>
          <p:cNvSpPr txBox="1"/>
          <p:nvPr/>
        </p:nvSpPr>
        <p:spPr>
          <a:xfrm>
            <a:off x="177930" y="6325329"/>
            <a:ext cx="2533733" cy="371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0" i="0" dirty="0">
                <a:solidFill>
                  <a:srgbClr val="111111"/>
                </a:solidFill>
                <a:effectLst/>
                <a:latin typeface="Roboto" panose="020B0604020202020204" pitchFamily="2" charset="0"/>
              </a:rPr>
              <a:t>Reversible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⇒</a:t>
            </a:r>
            <a:r>
              <a:rPr lang="en-MY" b="0" i="0" dirty="0">
                <a:solidFill>
                  <a:srgbClr val="111111"/>
                </a:solidFill>
                <a:effectLst/>
                <a:latin typeface="Roboto" panose="020B0604020202020204" pitchFamily="2" charset="0"/>
              </a:rPr>
              <a:t> Equality </a:t>
            </a:r>
            <a:endParaRPr lang="en-MY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B0EA4B7-604E-4B9D-A599-7D3893F73403}"/>
              </a:ext>
            </a:extLst>
          </p:cNvPr>
          <p:cNvSpPr txBox="1"/>
          <p:nvPr/>
        </p:nvSpPr>
        <p:spPr>
          <a:xfrm>
            <a:off x="9664064" y="4628013"/>
            <a:ext cx="2308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Engine efficiency: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91FA346-8856-483A-A95A-355BCC034C2C}"/>
              </a:ext>
            </a:extLst>
          </p:cNvPr>
          <p:cNvGrpSpPr/>
          <p:nvPr/>
        </p:nvGrpSpPr>
        <p:grpSpPr>
          <a:xfrm>
            <a:off x="4525075" y="5396246"/>
            <a:ext cx="753204" cy="805905"/>
            <a:chOff x="4525075" y="5396246"/>
            <a:chExt cx="753204" cy="80590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834EED4-785A-4D29-8EC5-AB263E2BE6BC}"/>
                </a:ext>
              </a:extLst>
            </p:cNvPr>
            <p:cNvSpPr/>
            <p:nvPr/>
          </p:nvSpPr>
          <p:spPr>
            <a:xfrm>
              <a:off x="4525075" y="5396246"/>
              <a:ext cx="753204" cy="8059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006311" y="5452991"/>
              <a:ext cx="230138" cy="55791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18E75AD-91A7-42AB-ABFD-C4BEA5F70084}"/>
              </a:ext>
            </a:extLst>
          </p:cNvPr>
          <p:cNvGrpSpPr/>
          <p:nvPr/>
        </p:nvGrpSpPr>
        <p:grpSpPr>
          <a:xfrm>
            <a:off x="5855713" y="5409266"/>
            <a:ext cx="2157331" cy="966576"/>
            <a:chOff x="5855713" y="5409266"/>
            <a:chExt cx="2157331" cy="966576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D4064EB-A91B-4153-96C6-5B8988A7EA96}"/>
                </a:ext>
              </a:extLst>
            </p:cNvPr>
            <p:cNvSpPr/>
            <p:nvPr/>
          </p:nvSpPr>
          <p:spPr>
            <a:xfrm>
              <a:off x="5911951" y="5409266"/>
              <a:ext cx="2101093" cy="9665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F21AFAAC-FA28-4BAA-87BC-67AFAD501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855713" y="5486118"/>
              <a:ext cx="664181" cy="5031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332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73" grpId="0" animBg="1"/>
      <p:bldP spid="8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7909665" cy="1499616"/>
          </a:xfrm>
        </p:spPr>
        <p:txBody>
          <a:bodyPr/>
          <a:lstStyle/>
          <a:p>
            <a:r>
              <a:rPr lang="en-US" dirty="0"/>
              <a:t>Laws of Thermodynamics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346" y="2261956"/>
            <a:ext cx="260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Law of thermodynamic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1"/>
            <a:ext cx="5707301" cy="10166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344" y="4665730"/>
            <a:ext cx="5862391" cy="73051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45" y="3935086"/>
            <a:ext cx="5693426" cy="654213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89415" y="5358411"/>
            <a:ext cx="2352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concept of entropy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6442" y="1527982"/>
            <a:ext cx="1220409" cy="128042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8208" y="2884343"/>
            <a:ext cx="1351170" cy="43237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58208" y="1152939"/>
            <a:ext cx="174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Reversible cycle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7197224" y="3607921"/>
            <a:ext cx="4857671" cy="997746"/>
            <a:chOff x="7197224" y="3607921"/>
            <a:chExt cx="4857671" cy="997746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97224" y="3607921"/>
              <a:ext cx="4857671" cy="693953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8462269" y="4236335"/>
              <a:ext cx="1972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Path independent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470284" y="4810181"/>
            <a:ext cx="3284622" cy="908245"/>
            <a:chOff x="7470284" y="4810181"/>
            <a:chExt cx="3284622" cy="908245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90177" y="5053346"/>
              <a:ext cx="2364729" cy="66508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7470284" y="4810181"/>
              <a:ext cx="11042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/>
                <a:t>Entropy 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7EA87F9-1E3F-4339-B560-D8E7B01476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4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C1C4A702-0D9B-4CAC-AB4A-5E54CB233BAD}"/>
              </a:ext>
            </a:extLst>
          </p:cNvPr>
          <p:cNvGrpSpPr/>
          <p:nvPr/>
        </p:nvGrpSpPr>
        <p:grpSpPr>
          <a:xfrm>
            <a:off x="6070776" y="1849821"/>
            <a:ext cx="2219100" cy="942592"/>
            <a:chOff x="6070776" y="1849821"/>
            <a:chExt cx="2219100" cy="94259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4A4A075-9730-4CC7-9349-A7AEC6672ADD}"/>
                </a:ext>
              </a:extLst>
            </p:cNvPr>
            <p:cNvSpPr/>
            <p:nvPr/>
          </p:nvSpPr>
          <p:spPr>
            <a:xfrm>
              <a:off x="6070776" y="1849821"/>
              <a:ext cx="2219100" cy="942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6714D1AB-1D7F-4B01-9CAA-B99CF4DC2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28869" y="2091814"/>
              <a:ext cx="910954" cy="439210"/>
            </a:xfrm>
            <a:prstGeom prst="rect">
              <a:avLst/>
            </a:prstGeom>
          </p:spPr>
        </p:pic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54516D3-C148-409E-9F2A-030A3679B24E}"/>
              </a:ext>
            </a:extLst>
          </p:cNvPr>
          <p:cNvSpPr/>
          <p:nvPr/>
        </p:nvSpPr>
        <p:spPr>
          <a:xfrm>
            <a:off x="6074187" y="1856803"/>
            <a:ext cx="813225" cy="9425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C397C2-54B1-4097-AF0D-EFA84AAA95D0}"/>
              </a:ext>
            </a:extLst>
          </p:cNvPr>
          <p:cNvSpPr/>
          <p:nvPr/>
        </p:nvSpPr>
        <p:spPr>
          <a:xfrm>
            <a:off x="6070776" y="1849821"/>
            <a:ext cx="2219100" cy="958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7909665" cy="1499616"/>
          </a:xfrm>
        </p:spPr>
        <p:txBody>
          <a:bodyPr/>
          <a:lstStyle/>
          <a:p>
            <a:r>
              <a:rPr lang="en-US" dirty="0"/>
              <a:t>Laws of Thermodynamics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346" y="2261956"/>
            <a:ext cx="260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Law of thermodynamic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346" y="2808411"/>
            <a:ext cx="5707301" cy="10166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344" y="4665730"/>
            <a:ext cx="5862391" cy="73051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345" y="3935086"/>
            <a:ext cx="5693426" cy="6542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0522" y="902453"/>
            <a:ext cx="3006598" cy="22196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0561" y="3187481"/>
            <a:ext cx="2423023" cy="7504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5698" y="4187662"/>
            <a:ext cx="2238502" cy="6457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0589" y="5122005"/>
            <a:ext cx="2219101" cy="60179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445337" y="5882779"/>
            <a:ext cx="4587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Entropy always increase in a isolated system.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9413" y="6518579"/>
            <a:ext cx="9010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Determine the evolution of the system. Equilibrium state has the maximum entropy.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72424" y="5173828"/>
            <a:ext cx="828059" cy="48930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0029" y="6023332"/>
            <a:ext cx="1072135" cy="19044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49872" y="5861292"/>
            <a:ext cx="1962049" cy="51452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8057" y="6028597"/>
            <a:ext cx="383322" cy="18804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9415" y="5358411"/>
            <a:ext cx="2352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⇒</a:t>
            </a:r>
            <a:r>
              <a:rPr lang="en-US" dirty="0"/>
              <a:t> concept of entropy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0032683" y="833179"/>
            <a:ext cx="1358046" cy="571582"/>
            <a:chOff x="10032683" y="833179"/>
            <a:chExt cx="1358046" cy="571582"/>
          </a:xfrm>
        </p:grpSpPr>
        <p:grpSp>
          <p:nvGrpSpPr>
            <p:cNvPr id="22" name="Group 21"/>
            <p:cNvGrpSpPr/>
            <p:nvPr/>
          </p:nvGrpSpPr>
          <p:grpSpPr>
            <a:xfrm>
              <a:off x="10032683" y="833179"/>
              <a:ext cx="1358046" cy="438606"/>
              <a:chOff x="10032683" y="833179"/>
              <a:chExt cx="1358046" cy="438606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0369296" y="833179"/>
                <a:ext cx="10214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isolated </a:t>
                </a:r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 flipH="1">
                <a:off x="10032683" y="1087119"/>
                <a:ext cx="336613" cy="1846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501082" y="1179452"/>
              <a:ext cx="757859" cy="225309"/>
            </a:xfrm>
            <a:prstGeom prst="rect">
              <a:avLst/>
            </a:prstGeom>
          </p:spPr>
        </p:pic>
      </p:grpSp>
      <p:sp>
        <p:nvSpPr>
          <p:cNvPr id="25" name="Rounded Rectangle 24"/>
          <p:cNvSpPr/>
          <p:nvPr/>
        </p:nvSpPr>
        <p:spPr>
          <a:xfrm>
            <a:off x="2566122" y="5723795"/>
            <a:ext cx="2641982" cy="74773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BE1E7A-B36B-4F50-B329-F677C1C603BF}"/>
              </a:ext>
            </a:extLst>
          </p:cNvPr>
          <p:cNvSpPr/>
          <p:nvPr/>
        </p:nvSpPr>
        <p:spPr>
          <a:xfrm>
            <a:off x="6894511" y="1849822"/>
            <a:ext cx="95224" cy="9495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3FF4F8FF-A7BC-43F3-9455-3741037F89F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12463" y="2017477"/>
            <a:ext cx="871538" cy="427846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534F81A-7FC9-405D-9018-40552BC58F67}"/>
              </a:ext>
            </a:extLst>
          </p:cNvPr>
          <p:cNvSpPr/>
          <p:nvPr/>
        </p:nvSpPr>
        <p:spPr>
          <a:xfrm>
            <a:off x="8204483" y="1842839"/>
            <a:ext cx="95224" cy="9495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FB774C5-0646-4ABE-BCED-523B1EF58D72}"/>
              </a:ext>
            </a:extLst>
          </p:cNvPr>
          <p:cNvGrpSpPr/>
          <p:nvPr/>
        </p:nvGrpSpPr>
        <p:grpSpPr>
          <a:xfrm>
            <a:off x="7047954" y="2153274"/>
            <a:ext cx="975541" cy="406037"/>
            <a:chOff x="7276554" y="2153274"/>
            <a:chExt cx="975541" cy="406037"/>
          </a:xfrm>
        </p:grpSpPr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5465A622-2F4E-472E-893F-DB1527A9B091}"/>
                </a:ext>
              </a:extLst>
            </p:cNvPr>
            <p:cNvSpPr/>
            <p:nvPr/>
          </p:nvSpPr>
          <p:spPr>
            <a:xfrm rot="10800000">
              <a:off x="7276554" y="2231400"/>
              <a:ext cx="574826" cy="2286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A819018B-637A-448F-A680-5B122D429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778385" y="2153274"/>
              <a:ext cx="473710" cy="406037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ADE5091C-817A-4A5F-A2CF-1574831DBDC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7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2.96296E-6 L -0.10742 0.00209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78" y="93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7" dur="2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600"/>
                            </p:stCondLst>
                            <p:childTnLst>
                              <p:par>
                                <p:cTn id="4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1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55" grpId="0"/>
      <p:bldP spid="58" grpId="0"/>
      <p:bldP spid="25" grpId="0" animBg="1"/>
      <p:bldP spid="9" grpId="0" animBg="1"/>
      <p:bldP spid="35" grpId="0" animBg="1"/>
      <p:bldP spid="35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2084832"/>
            <a:ext cx="4104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Condition for equilibrium?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101085A-2DE4-4C0B-B786-2BD57CB51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26B14E-41CF-4D08-9B33-83E006EFC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699" y="3052822"/>
            <a:ext cx="2407534" cy="3761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68DE03-6838-4F1D-AECF-A9D8A0A80C27}"/>
              </a:ext>
            </a:extLst>
          </p:cNvPr>
          <p:cNvSpPr txBox="1"/>
          <p:nvPr/>
        </p:nvSpPr>
        <p:spPr>
          <a:xfrm flipH="1">
            <a:off x="3387285" y="2695864"/>
            <a:ext cx="1640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</a:t>
            </a:r>
            <a:r>
              <a:rPr lang="en-MY" baseline="30000" dirty="0"/>
              <a:t>st</a:t>
            </a:r>
            <a:r>
              <a:rPr lang="en-MY" dirty="0"/>
              <a:t> law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5AA7D5-D67A-4948-A9F2-E97266D75408}"/>
              </a:ext>
            </a:extLst>
          </p:cNvPr>
          <p:cNvSpPr txBox="1"/>
          <p:nvPr/>
        </p:nvSpPr>
        <p:spPr>
          <a:xfrm flipH="1">
            <a:off x="7163876" y="2590601"/>
            <a:ext cx="1640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2</a:t>
            </a:r>
            <a:r>
              <a:rPr lang="en-MY" baseline="30000" dirty="0"/>
              <a:t>nd</a:t>
            </a:r>
            <a:r>
              <a:rPr lang="en-MY" dirty="0"/>
              <a:t> law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BA0C64E-1A5B-4676-A258-D11B6A394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354" y="3027421"/>
            <a:ext cx="1504709" cy="34724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0C650E7-3EF5-471C-9BA1-0B449A325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997" y="3584448"/>
            <a:ext cx="5301205" cy="105329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FFBC5F6F-29E4-4334-B9FF-86119E9307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3876" y="4092883"/>
            <a:ext cx="1504708" cy="429916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92330D03-5E90-48AF-9C2F-53CF40AFE763}"/>
              </a:ext>
            </a:extLst>
          </p:cNvPr>
          <p:cNvGrpSpPr/>
          <p:nvPr/>
        </p:nvGrpSpPr>
        <p:grpSpPr>
          <a:xfrm>
            <a:off x="518160" y="3935324"/>
            <a:ext cx="3535682" cy="613391"/>
            <a:chOff x="518160" y="3935324"/>
            <a:chExt cx="3535682" cy="61339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DEF9CB4-C917-4B5A-A400-5F2434D0FEAB}"/>
                </a:ext>
              </a:extLst>
            </p:cNvPr>
            <p:cNvSpPr txBox="1"/>
            <p:nvPr/>
          </p:nvSpPr>
          <p:spPr>
            <a:xfrm flipH="1">
              <a:off x="518160" y="4179383"/>
              <a:ext cx="3535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chemeClr val="accent2"/>
                  </a:solidFill>
                </a:rPr>
                <a:t>Each steps are in equilibrium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3DDC274-1E0D-404A-A5AD-9AA04D3241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040" y="3935324"/>
              <a:ext cx="477520" cy="3318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D2C1D222-798B-430F-9662-C20923802C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4884" y="5523550"/>
            <a:ext cx="1041722" cy="34724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705F98E-6B6C-4EEE-A63A-3DD8C4B60C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7705" y="4945190"/>
            <a:ext cx="2060294" cy="1788289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19492C3A-7C50-4686-ABBF-801F187F29CC}"/>
              </a:ext>
            </a:extLst>
          </p:cNvPr>
          <p:cNvGrpSpPr/>
          <p:nvPr/>
        </p:nvGrpSpPr>
        <p:grpSpPr>
          <a:xfrm>
            <a:off x="518160" y="5878920"/>
            <a:ext cx="3535682" cy="674678"/>
            <a:chOff x="1662319" y="3935324"/>
            <a:chExt cx="3535682" cy="67467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7AE1A6E-B411-42B5-AA69-9CE4D52E0C9A}"/>
                </a:ext>
              </a:extLst>
            </p:cNvPr>
            <p:cNvSpPr txBox="1"/>
            <p:nvPr/>
          </p:nvSpPr>
          <p:spPr>
            <a:xfrm flipH="1">
              <a:off x="1662319" y="4240670"/>
              <a:ext cx="3535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chemeClr val="accent2"/>
                  </a:solidFill>
                </a:rPr>
                <a:t>Function of entropy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0D3375B-B4DB-478A-AE53-5A922E6059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87040" y="3935324"/>
              <a:ext cx="477520" cy="3318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E09A70B-EB14-4B4D-A67F-CBCA8EFB56C5}"/>
              </a:ext>
            </a:extLst>
          </p:cNvPr>
          <p:cNvSpPr txBox="1"/>
          <p:nvPr/>
        </p:nvSpPr>
        <p:spPr>
          <a:xfrm flipH="1">
            <a:off x="7163876" y="5564466"/>
            <a:ext cx="450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May not convenient for measurements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88790A-ACB9-4D89-9D94-1AD03DCFB9AC}"/>
              </a:ext>
            </a:extLst>
          </p:cNvPr>
          <p:cNvSpPr txBox="1"/>
          <p:nvPr/>
        </p:nvSpPr>
        <p:spPr>
          <a:xfrm flipH="1">
            <a:off x="7163876" y="6174641"/>
            <a:ext cx="4285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Instead of described by internal energy,</a:t>
            </a:r>
          </a:p>
          <a:p>
            <a:r>
              <a:rPr lang="en-MY" dirty="0"/>
              <a:t>we use thermodynamics potential.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4400E27-6E20-47F1-B6C6-076F22775F37}"/>
              </a:ext>
            </a:extLst>
          </p:cNvPr>
          <p:cNvGrpSpPr/>
          <p:nvPr/>
        </p:nvGrpSpPr>
        <p:grpSpPr>
          <a:xfrm>
            <a:off x="4009706" y="2510318"/>
            <a:ext cx="3433635" cy="640302"/>
            <a:chOff x="8768080" y="4807732"/>
            <a:chExt cx="3433635" cy="64030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2BA3B98-7990-4DEC-821A-0624245630CF}"/>
                </a:ext>
              </a:extLst>
            </p:cNvPr>
            <p:cNvSpPr txBox="1"/>
            <p:nvPr/>
          </p:nvSpPr>
          <p:spPr>
            <a:xfrm flipH="1">
              <a:off x="9083361" y="4807732"/>
              <a:ext cx="31183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watch the sign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3897A6B-2AD4-471B-9A74-FA2FB20EA8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68080" y="5072681"/>
              <a:ext cx="389574" cy="37535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866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2084832"/>
            <a:ext cx="4030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to reach equilibrium?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0351" y="2620190"/>
            <a:ext cx="7572953" cy="964258"/>
          </a:xfrm>
          <a:custGeom>
            <a:avLst/>
            <a:gdLst>
              <a:gd name="connsiteX0" fmla="*/ 0 w 6568973"/>
              <a:gd name="connsiteY0" fmla="*/ 0 h 836422"/>
              <a:gd name="connsiteX1" fmla="*/ 6568973 w 6568973"/>
              <a:gd name="connsiteY1" fmla="*/ 0 h 836422"/>
              <a:gd name="connsiteX2" fmla="*/ 6568973 w 6568973"/>
              <a:gd name="connsiteY2" fmla="*/ 580210 h 836422"/>
              <a:gd name="connsiteX3" fmla="*/ 548641 w 6568973"/>
              <a:gd name="connsiteY3" fmla="*/ 580210 h 836422"/>
              <a:gd name="connsiteX4" fmla="*/ 548641 w 6568973"/>
              <a:gd name="connsiteY4" fmla="*/ 836422 h 836422"/>
              <a:gd name="connsiteX5" fmla="*/ 0 w 6568973"/>
              <a:gd name="connsiteY5" fmla="*/ 836422 h 836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8973" h="836422">
                <a:moveTo>
                  <a:pt x="0" y="0"/>
                </a:moveTo>
                <a:lnTo>
                  <a:pt x="6568973" y="0"/>
                </a:lnTo>
                <a:lnTo>
                  <a:pt x="6568973" y="580210"/>
                </a:lnTo>
                <a:lnTo>
                  <a:pt x="548641" y="580210"/>
                </a:lnTo>
                <a:lnTo>
                  <a:pt x="548641" y="836422"/>
                </a:lnTo>
                <a:lnTo>
                  <a:pt x="0" y="836422"/>
                </a:lnTo>
                <a:close/>
              </a:path>
            </a:pathLst>
          </a:cu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911" y="2649912"/>
            <a:ext cx="1971757" cy="56877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42D889A-2022-47F8-BE8B-C9C1D2576A1B}"/>
              </a:ext>
            </a:extLst>
          </p:cNvPr>
          <p:cNvGrpSpPr/>
          <p:nvPr/>
        </p:nvGrpSpPr>
        <p:grpSpPr>
          <a:xfrm>
            <a:off x="530351" y="3582124"/>
            <a:ext cx="10213849" cy="672084"/>
            <a:chOff x="530351" y="3582124"/>
            <a:chExt cx="10213849" cy="67208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4A0154E-7C74-4C95-86A4-420701A59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30351" y="3676429"/>
              <a:ext cx="7395573" cy="577779"/>
            </a:xfrm>
            <a:custGeom>
              <a:avLst/>
              <a:gdLst>
                <a:gd name="connsiteX0" fmla="*/ 0 w 7395573"/>
                <a:gd name="connsiteY0" fmla="*/ 0 h 577779"/>
                <a:gd name="connsiteX1" fmla="*/ 7395573 w 7395573"/>
                <a:gd name="connsiteY1" fmla="*/ 0 h 577779"/>
                <a:gd name="connsiteX2" fmla="*/ 7395573 w 7395573"/>
                <a:gd name="connsiteY2" fmla="*/ 297115 h 577779"/>
                <a:gd name="connsiteX3" fmla="*/ 3894504 w 7395573"/>
                <a:gd name="connsiteY3" fmla="*/ 297115 h 577779"/>
                <a:gd name="connsiteX4" fmla="*/ 3894504 w 7395573"/>
                <a:gd name="connsiteY4" fmla="*/ 365219 h 577779"/>
                <a:gd name="connsiteX5" fmla="*/ 3840481 w 7395573"/>
                <a:gd name="connsiteY5" fmla="*/ 365219 h 577779"/>
                <a:gd name="connsiteX6" fmla="*/ 3840481 w 7395573"/>
                <a:gd name="connsiteY6" fmla="*/ 577779 h 577779"/>
                <a:gd name="connsiteX7" fmla="*/ 0 w 7395573"/>
                <a:gd name="connsiteY7" fmla="*/ 577779 h 5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95573" h="577779">
                  <a:moveTo>
                    <a:pt x="0" y="0"/>
                  </a:moveTo>
                  <a:lnTo>
                    <a:pt x="7395573" y="0"/>
                  </a:lnTo>
                  <a:lnTo>
                    <a:pt x="7395573" y="297115"/>
                  </a:lnTo>
                  <a:lnTo>
                    <a:pt x="3894504" y="297115"/>
                  </a:lnTo>
                  <a:lnTo>
                    <a:pt x="3894504" y="365219"/>
                  </a:lnTo>
                  <a:lnTo>
                    <a:pt x="3840481" y="365219"/>
                  </a:lnTo>
                  <a:lnTo>
                    <a:pt x="3840481" y="577779"/>
                  </a:lnTo>
                  <a:lnTo>
                    <a:pt x="0" y="577779"/>
                  </a:lnTo>
                  <a:close/>
                </a:path>
              </a:pathLst>
            </a:cu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47911" y="3582124"/>
              <a:ext cx="1796289" cy="54669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5BD4A39-3CEB-40D1-9191-F1E8E709319D}"/>
              </a:ext>
            </a:extLst>
          </p:cNvPr>
          <p:cNvGrpSpPr/>
          <p:nvPr/>
        </p:nvGrpSpPr>
        <p:grpSpPr>
          <a:xfrm>
            <a:off x="530351" y="4413512"/>
            <a:ext cx="10844785" cy="643448"/>
            <a:chOff x="530351" y="4413512"/>
            <a:chExt cx="10844785" cy="64344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E0D975A-5FB4-4D00-BF6A-24F2D4234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530351" y="4449707"/>
              <a:ext cx="7242050" cy="607253"/>
            </a:xfrm>
            <a:custGeom>
              <a:avLst/>
              <a:gdLst>
                <a:gd name="connsiteX0" fmla="*/ 0 w 7242050"/>
                <a:gd name="connsiteY0" fmla="*/ 0 h 607253"/>
                <a:gd name="connsiteX1" fmla="*/ 7242050 w 7242050"/>
                <a:gd name="connsiteY1" fmla="*/ 0 h 607253"/>
                <a:gd name="connsiteX2" fmla="*/ 7242050 w 7242050"/>
                <a:gd name="connsiteY2" fmla="*/ 294498 h 607253"/>
                <a:gd name="connsiteX3" fmla="*/ 3579194 w 7242050"/>
                <a:gd name="connsiteY3" fmla="*/ 294498 h 607253"/>
                <a:gd name="connsiteX4" fmla="*/ 3579194 w 7242050"/>
                <a:gd name="connsiteY4" fmla="*/ 607253 h 607253"/>
                <a:gd name="connsiteX5" fmla="*/ 0 w 7242050"/>
                <a:gd name="connsiteY5" fmla="*/ 607253 h 60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2050" h="607253">
                  <a:moveTo>
                    <a:pt x="0" y="0"/>
                  </a:moveTo>
                  <a:lnTo>
                    <a:pt x="7242050" y="0"/>
                  </a:lnTo>
                  <a:lnTo>
                    <a:pt x="7242050" y="294498"/>
                  </a:lnTo>
                  <a:lnTo>
                    <a:pt x="3579194" y="294498"/>
                  </a:lnTo>
                  <a:lnTo>
                    <a:pt x="3579194" y="607253"/>
                  </a:lnTo>
                  <a:lnTo>
                    <a:pt x="0" y="607253"/>
                  </a:lnTo>
                  <a:close/>
                </a:path>
              </a:pathLst>
            </a:cu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97038" y="4413512"/>
              <a:ext cx="2578098" cy="494430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/>
        </p:nvSpPr>
        <p:spPr>
          <a:xfrm>
            <a:off x="1335024" y="517954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……</a:t>
            </a:r>
            <a:r>
              <a:rPr lang="en-US" dirty="0"/>
              <a:t>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699267" y="3294372"/>
            <a:ext cx="4469044" cy="895742"/>
            <a:chOff x="7602820" y="4804424"/>
            <a:chExt cx="4469044" cy="895742"/>
          </a:xfrm>
        </p:grpSpPr>
        <p:sp>
          <p:nvSpPr>
            <p:cNvPr id="22" name="TextBox 21"/>
            <p:cNvSpPr txBox="1"/>
            <p:nvPr/>
          </p:nvSpPr>
          <p:spPr>
            <a:xfrm>
              <a:off x="7602820" y="5300056"/>
              <a:ext cx="44690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Minimize the potentials</a:t>
              </a:r>
              <a:r>
                <a:rPr lang="en-US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 ⇒ </a:t>
              </a:r>
              <a:r>
                <a:rPr lang="en-US" sz="2000" dirty="0"/>
                <a:t>equilibrium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flipV="1">
              <a:off x="8947911" y="4804424"/>
              <a:ext cx="0" cy="4442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6A55AC8-27F9-49AB-8593-A015D9E96522}"/>
              </a:ext>
            </a:extLst>
          </p:cNvPr>
          <p:cNvGrpSpPr/>
          <p:nvPr/>
        </p:nvGrpSpPr>
        <p:grpSpPr>
          <a:xfrm>
            <a:off x="2486113" y="3307097"/>
            <a:ext cx="2942721" cy="2918497"/>
            <a:chOff x="2486113" y="3307097"/>
            <a:chExt cx="2942721" cy="291849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32A405FC-D54B-4C85-AF61-605B4AA46FE0}"/>
                </a:ext>
              </a:extLst>
            </p:cNvPr>
            <p:cNvGrpSpPr/>
            <p:nvPr/>
          </p:nvGrpSpPr>
          <p:grpSpPr>
            <a:xfrm>
              <a:off x="2486113" y="3307097"/>
              <a:ext cx="2942721" cy="2343730"/>
              <a:chOff x="2486113" y="3307097"/>
              <a:chExt cx="2942721" cy="2343730"/>
            </a:xfrm>
          </p:grpSpPr>
          <p:pic>
            <p:nvPicPr>
              <p:cNvPr id="12" name="Picture 2" descr="Isentrophic Compression | Glenn Research Center | NASA">
                <a:extLst>
                  <a:ext uri="{FF2B5EF4-FFF2-40B4-BE49-F238E27FC236}">
                    <a16:creationId xmlns:a16="http://schemas.microsoft.com/office/drawing/2014/main" id="{1F4F6621-EE43-4DDB-96B4-29B3B22580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6839" r="68822" b="38266"/>
              <a:stretch/>
            </p:blipFill>
            <p:spPr bwMode="auto">
              <a:xfrm>
                <a:off x="2486113" y="3676429"/>
                <a:ext cx="1830714" cy="1974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FD6DD2BE-5FA2-47EA-91A1-ECE3EBDD4BCE}"/>
                  </a:ext>
                </a:extLst>
              </p:cNvPr>
              <p:cNvGrpSpPr/>
              <p:nvPr/>
            </p:nvGrpSpPr>
            <p:grpSpPr>
              <a:xfrm>
                <a:off x="3677896" y="3307097"/>
                <a:ext cx="1750938" cy="987174"/>
                <a:chOff x="3677896" y="3307097"/>
                <a:chExt cx="1750938" cy="987174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906817-67E8-43C8-BBB3-87466B463BF8}"/>
                    </a:ext>
                  </a:extLst>
                </p:cNvPr>
                <p:cNvSpPr txBox="1"/>
                <p:nvPr/>
              </p:nvSpPr>
              <p:spPr>
                <a:xfrm>
                  <a:off x="3863662" y="3307097"/>
                  <a:ext cx="15651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MY" dirty="0"/>
                    <a:t>External force</a:t>
                  </a: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AF014CFC-41D6-4056-A1B8-C84C18207388}"/>
                    </a:ext>
                  </a:extLst>
                </p:cNvPr>
                <p:cNvCxnSpPr>
                  <a:cxnSpLocks/>
                  <a:stCxn id="13" idx="1"/>
                </p:cNvCxnSpPr>
                <p:nvPr/>
              </p:nvCxnSpPr>
              <p:spPr>
                <a:xfrm flipH="1">
                  <a:off x="3677896" y="3491763"/>
                  <a:ext cx="185766" cy="80250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9" name="Picture 2" descr="Isentrophic Compression | Glenn Research Center | NASA">
              <a:extLst>
                <a:ext uri="{FF2B5EF4-FFF2-40B4-BE49-F238E27FC236}">
                  <a16:creationId xmlns:a16="http://schemas.microsoft.com/office/drawing/2014/main" id="{9B9BD89F-D06E-4C96-B4C0-899B5606ED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414" t="1217" r="639" b="85792"/>
            <a:stretch/>
          </p:blipFill>
          <p:spPr bwMode="auto">
            <a:xfrm>
              <a:off x="3434133" y="5654278"/>
              <a:ext cx="936352" cy="571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" name="Picture 4" descr="Helmholtz Free Energy: Definition and Equation">
            <a:extLst>
              <a:ext uri="{FF2B5EF4-FFF2-40B4-BE49-F238E27FC236}">
                <a16:creationId xmlns:a16="http://schemas.microsoft.com/office/drawing/2014/main" id="{CD4B8BCC-BABF-4626-9BB6-88117A0E1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028" y="4190113"/>
            <a:ext cx="2757732" cy="249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E710441-E761-455F-B026-86C1FC921558}"/>
              </a:ext>
            </a:extLst>
          </p:cNvPr>
          <p:cNvGrpSpPr/>
          <p:nvPr/>
        </p:nvGrpSpPr>
        <p:grpSpPr>
          <a:xfrm>
            <a:off x="7611533" y="4841749"/>
            <a:ext cx="4469044" cy="895742"/>
            <a:chOff x="7602820" y="4804424"/>
            <a:chExt cx="4469044" cy="89574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D7F7D07-D5C4-4B5B-BA25-D1A4FCEF66FC}"/>
                </a:ext>
              </a:extLst>
            </p:cNvPr>
            <p:cNvSpPr txBox="1"/>
            <p:nvPr/>
          </p:nvSpPr>
          <p:spPr>
            <a:xfrm>
              <a:off x="7602820" y="5300056"/>
              <a:ext cx="44690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Minimize the potentials</a:t>
              </a:r>
              <a:r>
                <a:rPr lang="en-US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 ⇒ </a:t>
              </a:r>
              <a:r>
                <a:rPr lang="en-US" sz="2000" dirty="0"/>
                <a:t>equilibrium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FA63C1D-D86B-4DE6-9A30-EFCEC4C53D58}"/>
                </a:ext>
              </a:extLst>
            </p:cNvPr>
            <p:cNvCxnSpPr/>
            <p:nvPr/>
          </p:nvCxnSpPr>
          <p:spPr>
            <a:xfrm flipV="1">
              <a:off x="8947911" y="4804424"/>
              <a:ext cx="0" cy="4442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5101085A-2DE4-4C0B-B786-2BD57CB51C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BAA62CB-BB98-4A3F-8D3D-92AA8C5074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7911" y="6017912"/>
            <a:ext cx="1625334" cy="59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5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Laws of Thermodynamics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346" y="2261956"/>
            <a:ext cx="2593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Law of thermodynamic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46" y="2808412"/>
            <a:ext cx="8083166" cy="7028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189" y="3511296"/>
            <a:ext cx="1648975" cy="5153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94560" y="4426446"/>
            <a:ext cx="8884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 particles stay exactly at its lowest energy state. No thermal fluctuations is allowed.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49AD53-B8A0-49BB-8017-F72B75489B14}"/>
              </a:ext>
            </a:extLst>
          </p:cNvPr>
          <p:cNvGrpSpPr/>
          <p:nvPr/>
        </p:nvGrpSpPr>
        <p:grpSpPr>
          <a:xfrm>
            <a:off x="1556084" y="5063277"/>
            <a:ext cx="8665946" cy="906671"/>
            <a:chOff x="1556084" y="5063277"/>
            <a:chExt cx="8665946" cy="906671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8AB7987-F40F-4218-AD3C-C1177E090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89532" y="5063277"/>
              <a:ext cx="1732498" cy="50010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FF1095-2C73-43B9-80BA-31E9C23D760F}"/>
                </a:ext>
              </a:extLst>
            </p:cNvPr>
            <p:cNvSpPr txBox="1"/>
            <p:nvPr/>
          </p:nvSpPr>
          <p:spPr>
            <a:xfrm>
              <a:off x="1556084" y="5100513"/>
              <a:ext cx="71245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In a thermal system, a single particle energy fluctuation </a:t>
              </a:r>
              <a:r>
                <a:rPr lang="en-MY" dirty="0">
                  <a:latin typeface="Cambria" panose="02040503050406030204" pitchFamily="18" charset="0"/>
                  <a:ea typeface="Cambria" panose="02040503050406030204" pitchFamily="18" charset="0"/>
                </a:rPr>
                <a:t>~ in the range</a:t>
              </a:r>
              <a:endParaRPr lang="en-MY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6493D1C-96B7-4391-8F7C-2137C6E8E93F}"/>
                </a:ext>
              </a:extLst>
            </p:cNvPr>
            <p:cNvGrpSpPr/>
            <p:nvPr/>
          </p:nvGrpSpPr>
          <p:grpSpPr>
            <a:xfrm>
              <a:off x="7568905" y="5469845"/>
              <a:ext cx="2223386" cy="500103"/>
              <a:chOff x="7568905" y="5469845"/>
              <a:chExt cx="2223386" cy="500103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B7A934-2880-4F49-8ED8-60B3D1FC49E5}"/>
                  </a:ext>
                </a:extLst>
              </p:cNvPr>
              <p:cNvSpPr txBox="1"/>
              <p:nvPr/>
            </p:nvSpPr>
            <p:spPr>
              <a:xfrm>
                <a:off x="7568905" y="5600616"/>
                <a:ext cx="22233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MY" dirty="0">
                    <a:latin typeface="Cambria" panose="02040503050406030204" pitchFamily="18" charset="0"/>
                    <a:ea typeface="Cambria" panose="02040503050406030204" pitchFamily="18" charset="0"/>
                  </a:rPr>
                  <a:t>Ground state energy</a:t>
                </a:r>
                <a:endParaRPr lang="en-MY" dirty="0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99678746-20D4-472F-AF0F-928074F50986}"/>
                  </a:ext>
                </a:extLst>
              </p:cNvPr>
              <p:cNvCxnSpPr/>
              <p:nvPr/>
            </p:nvCxnSpPr>
            <p:spPr>
              <a:xfrm flipV="1">
                <a:off x="8816741" y="5469845"/>
                <a:ext cx="0" cy="16162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7E7F58A-03EB-415B-A956-FD7EE77BC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18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1794-A54C-4A16-B1B8-C290BF892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Phase transition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3A069-1DB0-4EE4-A5E2-6286C0084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9" y="2509519"/>
            <a:ext cx="3012443" cy="33046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529F2A-9D2D-4A87-9395-A45D5ED8AFF8}"/>
              </a:ext>
            </a:extLst>
          </p:cNvPr>
          <p:cNvSpPr txBox="1"/>
          <p:nvPr/>
        </p:nvSpPr>
        <p:spPr>
          <a:xfrm flipH="1">
            <a:off x="888999" y="2010807"/>
            <a:ext cx="3012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Phase diagram of water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8B07CB-8AA0-4135-90DE-EEDEB73A661A}"/>
              </a:ext>
            </a:extLst>
          </p:cNvPr>
          <p:cNvGrpSpPr/>
          <p:nvPr/>
        </p:nvGrpSpPr>
        <p:grpSpPr>
          <a:xfrm>
            <a:off x="4643120" y="1924752"/>
            <a:ext cx="3743961" cy="3889462"/>
            <a:chOff x="7000240" y="2206546"/>
            <a:chExt cx="3743961" cy="38894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EF90F04-C4E0-42C8-B08C-E28FD43FE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00241" y="2675447"/>
              <a:ext cx="3743960" cy="342056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891F7B-DC2A-4E0A-9E63-3046F34FE10B}"/>
                </a:ext>
              </a:extLst>
            </p:cNvPr>
            <p:cNvSpPr txBox="1"/>
            <p:nvPr/>
          </p:nvSpPr>
          <p:spPr>
            <a:xfrm flipH="1">
              <a:off x="7000240" y="2206546"/>
              <a:ext cx="30124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b="1" dirty="0"/>
                <a:t>Changing temperature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98A0703-1FE5-4678-99C5-59548BB6DAE6}"/>
              </a:ext>
            </a:extLst>
          </p:cNvPr>
          <p:cNvGrpSpPr/>
          <p:nvPr/>
        </p:nvGrpSpPr>
        <p:grpSpPr>
          <a:xfrm>
            <a:off x="8678937" y="1924752"/>
            <a:ext cx="3349679" cy="1588323"/>
            <a:chOff x="8678937" y="1924752"/>
            <a:chExt cx="3349679" cy="158832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96508DA-33D9-4B02-B73D-DFE678DA4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78937" y="2866744"/>
              <a:ext cx="3349679" cy="64633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240DC1-3F7D-46C2-8652-BB666A3B3C38}"/>
                </a:ext>
              </a:extLst>
            </p:cNvPr>
            <p:cNvSpPr txBox="1"/>
            <p:nvPr/>
          </p:nvSpPr>
          <p:spPr>
            <a:xfrm>
              <a:off x="8678937" y="1924752"/>
              <a:ext cx="213102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MY" b="1" dirty="0"/>
                <a:t>Equation of state</a:t>
              </a:r>
            </a:p>
            <a:p>
              <a:r>
                <a:rPr lang="en-MY" b="1" dirty="0"/>
                <a:t>(van der Waal gas)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FABB62-B430-42ED-B491-F2EC95E2D102}"/>
              </a:ext>
            </a:extLst>
          </p:cNvPr>
          <p:cNvSpPr txBox="1"/>
          <p:nvPr/>
        </p:nvSpPr>
        <p:spPr>
          <a:xfrm>
            <a:off x="1069298" y="6232986"/>
            <a:ext cx="10295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All the laws and equation of states are the statistical result of many-particles system </a:t>
            </a:r>
          </a:p>
        </p:txBody>
      </p:sp>
    </p:spTree>
    <p:extLst>
      <p:ext uri="{BB962C8B-B14F-4D97-AF65-F5344CB8AC3E}">
        <p14:creationId xmlns:p14="http://schemas.microsoft.com/office/powerpoint/2010/main" val="368652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Kinetic theory of gas</a:t>
            </a:r>
            <a:br>
              <a:rPr lang="en-US" sz="3600" dirty="0"/>
            </a:br>
            <a:r>
              <a:rPr lang="en-US" sz="3600" dirty="0"/>
              <a:t>(1</a:t>
            </a:r>
            <a:r>
              <a:rPr lang="en-US" sz="3600" baseline="30000" dirty="0"/>
              <a:t>st</a:t>
            </a:r>
            <a:r>
              <a:rPr lang="en-US" sz="3600" dirty="0"/>
              <a:t> statistical approach)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658" y="853643"/>
            <a:ext cx="1579288" cy="21261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74556" y="3058776"/>
            <a:ext cx="32914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  S. J. Blundell and K. M. Blundell, </a:t>
            </a:r>
          </a:p>
          <a:p>
            <a:pPr algn="ctr"/>
            <a:r>
              <a:rPr lang="en-US" dirty="0"/>
              <a:t>Concepts in thermal physics, </a:t>
            </a:r>
          </a:p>
          <a:p>
            <a:pPr algn="ctr"/>
            <a:r>
              <a:rPr lang="en-US" dirty="0"/>
              <a:t> Oxford University Press, (2010)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4465" y="2500779"/>
            <a:ext cx="806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Part II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62" y="2285999"/>
            <a:ext cx="3204718" cy="188385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25E1CC18-A973-451E-83E7-BFD2155E3788}"/>
              </a:ext>
            </a:extLst>
          </p:cNvPr>
          <p:cNvGrpSpPr/>
          <p:nvPr/>
        </p:nvGrpSpPr>
        <p:grpSpPr>
          <a:xfrm>
            <a:off x="1377357" y="6305113"/>
            <a:ext cx="5411737" cy="473202"/>
            <a:chOff x="1377357" y="6305113"/>
            <a:chExt cx="5411737" cy="473202"/>
          </a:xfrm>
        </p:grpSpPr>
        <p:sp>
          <p:nvSpPr>
            <p:cNvPr id="12" name="TextBox 11"/>
            <p:cNvSpPr txBox="1"/>
            <p:nvPr/>
          </p:nvSpPr>
          <p:spPr>
            <a:xfrm>
              <a:off x="1377357" y="6316650"/>
              <a:ext cx="28122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Same distribution for </a:t>
              </a: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27462" y="6422120"/>
              <a:ext cx="1028700" cy="34290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5424361" y="6305113"/>
              <a:ext cx="13647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(isotropic)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47299" y="3335775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Equilibrium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F7A3FB-00B9-4F18-9482-E55985BEBF16}"/>
              </a:ext>
            </a:extLst>
          </p:cNvPr>
          <p:cNvGrpSpPr/>
          <p:nvPr/>
        </p:nvGrpSpPr>
        <p:grpSpPr>
          <a:xfrm>
            <a:off x="3654277" y="4000987"/>
            <a:ext cx="8399334" cy="2857013"/>
            <a:chOff x="3654277" y="4000987"/>
            <a:chExt cx="8399334" cy="2857013"/>
          </a:xfrm>
        </p:grpSpPr>
        <p:pic>
          <p:nvPicPr>
            <p:cNvPr id="11266" name="Picture 2" descr="https://upload.wikimedia.org/wikipedia/commons/thumb/a/ad/Boltzmann2.jpg/225px-Boltzmann2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0390" y="4000987"/>
              <a:ext cx="1923221" cy="2359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9823354" y="6457890"/>
              <a:ext cx="21836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Ludwig Boltzmann</a:t>
              </a:r>
            </a:p>
          </p:txBody>
        </p:sp>
        <p:pic>
          <p:nvPicPr>
            <p:cNvPr id="13" name="Picture 4" descr="https://upload.wikimedia.org/wikipedia/en/thumb/4/42/Db_James_Clerk_Maxwell_in_his_40s_-2-7.jpg/220px-Db_James_Clerk_Maxwell_in_his_40s_-2-7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1979" y="4016656"/>
              <a:ext cx="1944312" cy="2456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/>
            <p:cNvSpPr txBox="1"/>
            <p:nvPr/>
          </p:nvSpPr>
          <p:spPr>
            <a:xfrm>
              <a:off x="7106312" y="6455271"/>
              <a:ext cx="26219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 James Clerk Maxwell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07375B-0905-42B5-9B56-87A0749D5D8F}"/>
                </a:ext>
              </a:extLst>
            </p:cNvPr>
            <p:cNvSpPr txBox="1"/>
            <p:nvPr/>
          </p:nvSpPr>
          <p:spPr>
            <a:xfrm>
              <a:off x="3654277" y="5059978"/>
              <a:ext cx="36612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Maxwell–Boltzmann distribution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CE26CF-4340-4875-B6C1-3BA19E85B2BB}"/>
              </a:ext>
            </a:extLst>
          </p:cNvPr>
          <p:cNvGrpSpPr/>
          <p:nvPr/>
        </p:nvGrpSpPr>
        <p:grpSpPr>
          <a:xfrm>
            <a:off x="3840480" y="2434645"/>
            <a:ext cx="3489040" cy="2909553"/>
            <a:chOff x="3840480" y="2434645"/>
            <a:chExt cx="3489040" cy="290955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F9CFD1E-CEF5-4FD0-8213-56478F226E58}"/>
                </a:ext>
              </a:extLst>
            </p:cNvPr>
            <p:cNvGrpSpPr/>
            <p:nvPr/>
          </p:nvGrpSpPr>
          <p:grpSpPr>
            <a:xfrm>
              <a:off x="3840480" y="2434645"/>
              <a:ext cx="3489040" cy="2909553"/>
              <a:chOff x="3840480" y="2434645"/>
              <a:chExt cx="3489040" cy="2909553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40480" y="2820478"/>
                <a:ext cx="3425048" cy="2523720"/>
              </a:xfrm>
              <a:prstGeom prst="rect">
                <a:avLst/>
              </a:prstGeom>
            </p:spPr>
          </p:pic>
          <p:sp>
            <p:nvSpPr>
              <p:cNvPr id="16" name="TextBox 15"/>
              <p:cNvSpPr txBox="1"/>
              <p:nvPr/>
            </p:nvSpPr>
            <p:spPr>
              <a:xfrm>
                <a:off x="4090556" y="2434645"/>
                <a:ext cx="32389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Velocity distribution in x-direction</a:t>
                </a:r>
              </a:p>
            </p:txBody>
          </p:sp>
        </p:grp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6B5FF177-14AB-419A-ADB3-D8B0E15379CC}"/>
                </a:ext>
              </a:extLst>
            </p:cNvPr>
            <p:cNvSpPr/>
            <p:nvPr/>
          </p:nvSpPr>
          <p:spPr>
            <a:xfrm rot="2111416">
              <a:off x="3996213" y="3349422"/>
              <a:ext cx="1056478" cy="33312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D6D7D40-EEAA-46ED-914A-5B877E4AE243}"/>
              </a:ext>
            </a:extLst>
          </p:cNvPr>
          <p:cNvGrpSpPr/>
          <p:nvPr/>
        </p:nvGrpSpPr>
        <p:grpSpPr>
          <a:xfrm>
            <a:off x="226310" y="4982423"/>
            <a:ext cx="4023622" cy="1228427"/>
            <a:chOff x="226310" y="4982423"/>
            <a:chExt cx="4023622" cy="122842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6310" y="5329765"/>
              <a:ext cx="4023622" cy="881085"/>
            </a:xfrm>
            <a:prstGeom prst="rect">
              <a:avLst/>
            </a:prstGeom>
          </p:spPr>
        </p:pic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F0F86202-2C08-4B00-9F46-3CAD73A7C841}"/>
                </a:ext>
              </a:extLst>
            </p:cNvPr>
            <p:cNvSpPr/>
            <p:nvPr/>
          </p:nvSpPr>
          <p:spPr>
            <a:xfrm rot="9482392">
              <a:off x="2912695" y="4982423"/>
              <a:ext cx="1056478" cy="33312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B61FF0A3-20E7-4305-AFAC-B7623620B4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0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Kinetic theory of gas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16" y="2084832"/>
            <a:ext cx="2784595" cy="291021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42F9E16-2FDB-4B15-915F-F6405CB67F70}"/>
              </a:ext>
            </a:extLst>
          </p:cNvPr>
          <p:cNvGrpSpPr/>
          <p:nvPr/>
        </p:nvGrpSpPr>
        <p:grpSpPr>
          <a:xfrm>
            <a:off x="694944" y="2395728"/>
            <a:ext cx="8789377" cy="830997"/>
            <a:chOff x="694944" y="2395728"/>
            <a:chExt cx="8789377" cy="830997"/>
          </a:xfrm>
        </p:grpSpPr>
        <p:sp>
          <p:nvSpPr>
            <p:cNvPr id="7" name="TextBox 6"/>
            <p:cNvSpPr txBox="1"/>
            <p:nvPr/>
          </p:nvSpPr>
          <p:spPr>
            <a:xfrm>
              <a:off x="694944" y="2395728"/>
              <a:ext cx="720902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Probability of finding a particle with VELOCITY between </a:t>
              </a:r>
            </a:p>
            <a:p>
              <a:r>
                <a:rPr lang="en-US" sz="2400" dirty="0"/>
                <a:t>and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63051" y="2512472"/>
              <a:ext cx="1221270" cy="295594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9877" y="2863418"/>
              <a:ext cx="3860585" cy="326730"/>
            </a:xfrm>
            <a:prstGeom prst="rect">
              <a:avLst/>
            </a:prstGeom>
          </p:spPr>
        </p:pic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415" y="4075155"/>
            <a:ext cx="5300880" cy="72323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310" y="5479053"/>
            <a:ext cx="4023622" cy="88108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B35ABDF-9AB5-4635-88A0-277CEE3476BB}"/>
              </a:ext>
            </a:extLst>
          </p:cNvPr>
          <p:cNvGrpSpPr/>
          <p:nvPr/>
        </p:nvGrpSpPr>
        <p:grpSpPr>
          <a:xfrm>
            <a:off x="694944" y="4731804"/>
            <a:ext cx="9116301" cy="1457921"/>
            <a:chOff x="694944" y="4731804"/>
            <a:chExt cx="9116301" cy="145792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0A30CCA-ED3F-4D5E-8BBC-1C57BA319A08}"/>
                </a:ext>
              </a:extLst>
            </p:cNvPr>
            <p:cNvGrpSpPr/>
            <p:nvPr/>
          </p:nvGrpSpPr>
          <p:grpSpPr>
            <a:xfrm>
              <a:off x="694944" y="4731804"/>
              <a:ext cx="7554825" cy="1457921"/>
              <a:chOff x="694944" y="4731804"/>
              <a:chExt cx="7554825" cy="1457921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694944" y="4731804"/>
                <a:ext cx="75548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Probability of finding a particle with SPEED between     and</a:t>
                </a:r>
              </a:p>
            </p:txBody>
          </p:sp>
          <p:pic>
            <p:nvPicPr>
              <p:cNvPr id="28" name="Picture 27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91640" y="5423925"/>
                <a:ext cx="6436160" cy="765800"/>
              </a:xfrm>
              <a:prstGeom prst="rect">
                <a:avLst/>
              </a:prstGeom>
            </p:spPr>
          </p:pic>
        </p:grp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68548" y="4893818"/>
              <a:ext cx="203200" cy="215900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98516" y="4817017"/>
              <a:ext cx="1112729" cy="329277"/>
            </a:xfrm>
            <a:prstGeom prst="rect">
              <a:avLst/>
            </a:prstGeom>
          </p:spPr>
        </p:pic>
      </p:grpSp>
      <p:pic>
        <p:nvPicPr>
          <p:cNvPr id="18" name="Graphic 17">
            <a:extLst>
              <a:ext uri="{FF2B5EF4-FFF2-40B4-BE49-F238E27FC236}">
                <a16:creationId xmlns:a16="http://schemas.microsoft.com/office/drawing/2014/main" id="{6B5C3E25-90D9-4B8B-81FB-FF70579A6B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13085" y="3376786"/>
            <a:ext cx="5507057" cy="6617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AB783D8-13AE-4387-AAE1-A7D323794E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4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Kinetic theory of gas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1970316"/>
            <a:ext cx="75548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Probability of finding a particle with SPEED between     and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385" y="2132330"/>
            <a:ext cx="203200" cy="2159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350" y="2029025"/>
            <a:ext cx="1112729" cy="32927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623" y="2839343"/>
            <a:ext cx="3545625" cy="27098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4945" y="3817081"/>
            <a:ext cx="4254839" cy="17241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508" y="5541264"/>
            <a:ext cx="6711696" cy="81914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56350" y="5766170"/>
            <a:ext cx="2958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⇒ equipartition of energy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C2C042-E7D7-4C48-962B-2F3D526AA1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5423925"/>
            <a:ext cx="6436160" cy="765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46CFCA-E980-4FE9-A5C3-BB4FA01B53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45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7.40741E-7 L 0.00508 -0.4145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" y="-20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01" y="1785194"/>
            <a:ext cx="4118443" cy="29618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Kinetic theory of gas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084832"/>
            <a:ext cx="1039368" cy="2996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150" y="2329606"/>
            <a:ext cx="3384580" cy="39141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5743" y="4041646"/>
            <a:ext cx="5615051" cy="153619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300" y="5787719"/>
            <a:ext cx="2277364" cy="74261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7332920-5226-4B8F-A38E-2A6448D0CD5B}"/>
              </a:ext>
            </a:extLst>
          </p:cNvPr>
          <p:cNvGrpSpPr/>
          <p:nvPr/>
        </p:nvGrpSpPr>
        <p:grpSpPr>
          <a:xfrm>
            <a:off x="1257428" y="5250159"/>
            <a:ext cx="2110942" cy="1480234"/>
            <a:chOff x="1257428" y="5250159"/>
            <a:chExt cx="2110942" cy="1480234"/>
          </a:xfrm>
        </p:grpSpPr>
        <p:sp>
          <p:nvSpPr>
            <p:cNvPr id="31" name="TextBox 30"/>
            <p:cNvSpPr txBox="1"/>
            <p:nvPr/>
          </p:nvSpPr>
          <p:spPr>
            <a:xfrm>
              <a:off x="1272540" y="5250159"/>
              <a:ext cx="20958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Taking average</a:t>
              </a:r>
            </a:p>
          </p:txBody>
        </p:sp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43946" y="5787719"/>
              <a:ext cx="1469136" cy="573881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1257428" y="6330283"/>
              <a:ext cx="18421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(previous slide)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660178" y="5838380"/>
            <a:ext cx="2616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⇒ Ideal gas law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6459" y="856092"/>
            <a:ext cx="1798885" cy="213572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8975024" y="2954295"/>
            <a:ext cx="33197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D. Halliday, R. Resnick, J. Walker,</a:t>
            </a:r>
          </a:p>
          <a:p>
            <a:pPr algn="ctr"/>
            <a:r>
              <a:rPr lang="en-US" dirty="0"/>
              <a:t>Fundamentals of Physics, </a:t>
            </a:r>
          </a:p>
          <a:p>
            <a:pPr algn="ctr"/>
            <a:r>
              <a:rPr lang="en-US" dirty="0"/>
              <a:t>10th Ed, Wiley (2013)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245AA5-0A2E-4833-AB79-60794303F131}"/>
              </a:ext>
            </a:extLst>
          </p:cNvPr>
          <p:cNvGrpSpPr/>
          <p:nvPr/>
        </p:nvGrpSpPr>
        <p:grpSpPr>
          <a:xfrm>
            <a:off x="1187669" y="2991820"/>
            <a:ext cx="6424948" cy="1333268"/>
            <a:chOff x="1187669" y="2991820"/>
            <a:chExt cx="6424948" cy="1333268"/>
          </a:xfrm>
        </p:grpSpPr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991759" y="2991820"/>
              <a:ext cx="2620858" cy="830371"/>
            </a:xfrm>
            <a:prstGeom prst="rect">
              <a:avLst/>
            </a:prstGeom>
          </p:spPr>
        </p:pic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BB5E461-DE6E-44CF-967B-0261EA71936C}"/>
                </a:ext>
              </a:extLst>
            </p:cNvPr>
            <p:cNvSpPr/>
            <p:nvPr/>
          </p:nvSpPr>
          <p:spPr>
            <a:xfrm>
              <a:off x="1187669" y="3689131"/>
              <a:ext cx="1124607" cy="147145"/>
            </a:xfrm>
            <a:custGeom>
              <a:avLst/>
              <a:gdLst>
                <a:gd name="connsiteX0" fmla="*/ 1124607 w 1124607"/>
                <a:gd name="connsiteY0" fmla="*/ 147145 h 147145"/>
                <a:gd name="connsiteX1" fmla="*/ 0 w 1124607"/>
                <a:gd name="connsiteY1" fmla="*/ 94593 h 147145"/>
                <a:gd name="connsiteX2" fmla="*/ 1124607 w 1124607"/>
                <a:gd name="connsiteY2" fmla="*/ 0 h 147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4607" h="147145">
                  <a:moveTo>
                    <a:pt x="1124607" y="147145"/>
                  </a:moveTo>
                  <a:cubicBezTo>
                    <a:pt x="562303" y="133131"/>
                    <a:pt x="0" y="119117"/>
                    <a:pt x="0" y="94593"/>
                  </a:cubicBezTo>
                  <a:cubicBezTo>
                    <a:pt x="0" y="70069"/>
                    <a:pt x="562303" y="35034"/>
                    <a:pt x="1124607" y="0"/>
                  </a:cubicBezTo>
                </a:path>
              </a:pathLst>
            </a:custGeom>
            <a:ln w="28575"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827E006-1FE1-4FDA-A480-2E2ED6E1C2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4172" t="49707" r="77455" b="13973"/>
            <a:stretch/>
          </p:blipFill>
          <p:spPr>
            <a:xfrm>
              <a:off x="1496454" y="3897912"/>
              <a:ext cx="682060" cy="427176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66598758-CAAB-422F-9F0E-64F9DE8C2A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Kinetic theory of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8074" y="2633552"/>
            <a:ext cx="66303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Ideal gas law and equipartition of energy are </a:t>
            </a:r>
          </a:p>
          <a:p>
            <a:pPr algn="ctr"/>
            <a:r>
              <a:rPr lang="en-US" sz="2400" b="1" dirty="0"/>
              <a:t>the result of statistical behavior of a large system.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A5366D-A6E3-4848-ACAB-202F32910D5A}"/>
              </a:ext>
            </a:extLst>
          </p:cNvPr>
          <p:cNvGrpSpPr/>
          <p:nvPr/>
        </p:nvGrpSpPr>
        <p:grpSpPr>
          <a:xfrm>
            <a:off x="626220" y="4050327"/>
            <a:ext cx="10939560" cy="1380199"/>
            <a:chOff x="482479" y="4072242"/>
            <a:chExt cx="10939560" cy="138019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1423" y="4072242"/>
              <a:ext cx="6436160" cy="76580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4907755" y="4990776"/>
              <a:ext cx="65142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Statistical model for ideal (non-interacting) gas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2479" y="5052331"/>
              <a:ext cx="39481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Maxwell–Boltzmann distribution ⇒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861670" y="5952164"/>
            <a:ext cx="7294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more general statistical model </a:t>
            </a:r>
            <a:r>
              <a:rPr lang="en-US" sz="2400" b="1" dirty="0"/>
              <a:t>⇒ ensemble theory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C31F2E-7CAC-419C-9212-AF6A13FB3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2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50103</TotalTime>
  <Words>977</Words>
  <Application>Microsoft Office PowerPoint</Application>
  <PresentationFormat>Widescreen</PresentationFormat>
  <Paragraphs>225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Cambria</vt:lpstr>
      <vt:lpstr>Constantia</vt:lpstr>
      <vt:lpstr>Roboto</vt:lpstr>
      <vt:lpstr>Tw Cen MT</vt:lpstr>
      <vt:lpstr>Wingdings 3</vt:lpstr>
      <vt:lpstr>Integral</vt:lpstr>
      <vt:lpstr>Thermodynamics and Statistical physics phy301</vt:lpstr>
      <vt:lpstr>Before we start</vt:lpstr>
      <vt:lpstr>My Office</vt:lpstr>
      <vt:lpstr>What is statistical Physics/mechanics?</vt:lpstr>
      <vt:lpstr>Why statistics?</vt:lpstr>
      <vt:lpstr>Sketch of PHY301</vt:lpstr>
      <vt:lpstr>Additional References</vt:lpstr>
      <vt:lpstr>Statistical physics phy301</vt:lpstr>
      <vt:lpstr>Thermodynamics system</vt:lpstr>
      <vt:lpstr>Thermodynamics system</vt:lpstr>
      <vt:lpstr>Laws of Thermodynamics</vt:lpstr>
      <vt:lpstr>Laws of Thermodynamics</vt:lpstr>
      <vt:lpstr>Laws of Thermodynamics</vt:lpstr>
      <vt:lpstr>Laws of Thermodynamics</vt:lpstr>
      <vt:lpstr>Laws of Thermodynamics</vt:lpstr>
      <vt:lpstr>Laws of Thermodynamics</vt:lpstr>
      <vt:lpstr>Thermodynamics potential</vt:lpstr>
      <vt:lpstr>Thermodynamics potential</vt:lpstr>
      <vt:lpstr>Laws of Thermodynamics</vt:lpstr>
      <vt:lpstr>Phase transition</vt:lpstr>
      <vt:lpstr>Kinetic theory of gas (1st statistical approach)</vt:lpstr>
      <vt:lpstr>Kinetic theory of gas</vt:lpstr>
      <vt:lpstr>Kinetic theory of gas</vt:lpstr>
      <vt:lpstr>Kinetic theory of gas</vt:lpstr>
      <vt:lpstr>Kinetic theory of gas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1661</cp:revision>
  <dcterms:created xsi:type="dcterms:W3CDTF">2024-08-25T23:32:26Z</dcterms:created>
  <dcterms:modified xsi:type="dcterms:W3CDTF">2025-09-29T12:29:03Z</dcterms:modified>
</cp:coreProperties>
</file>