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15"/>
  </p:notesMasterIdLst>
  <p:sldIdLst>
    <p:sldId id="336" r:id="rId2"/>
    <p:sldId id="454" r:id="rId20"/>
    <p:sldId id="455" r:id="rId21"/>
    <p:sldId id="319" r:id="rId3"/>
    <p:sldId id="456" r:id="rId22"/>
    <p:sldId id="457" r:id="rId23"/>
    <p:sldId id="458" r:id="rId24"/>
    <p:sldId id="435" r:id="rId4"/>
    <p:sldId id="459" r:id="rId25"/>
    <p:sldId id="460" r:id="rId26"/>
    <p:sldId id="461" r:id="rId27"/>
    <p:sldId id="438" r:id="rId5"/>
    <p:sldId id="462" r:id="rId28"/>
    <p:sldId id="463" r:id="rId29"/>
    <p:sldId id="464" r:id="rId30"/>
    <p:sldId id="436" r:id="rId6"/>
    <p:sldId id="465" r:id="rId31"/>
    <p:sldId id="466" r:id="rId32"/>
    <p:sldId id="467" r:id="rId33"/>
    <p:sldId id="439" r:id="rId7"/>
    <p:sldId id="468" r:id="rId34"/>
    <p:sldId id="469" r:id="rId35"/>
    <p:sldId id="470" r:id="rId36"/>
    <p:sldId id="440" r:id="rId8"/>
    <p:sldId id="471" r:id="rId37"/>
    <p:sldId id="472" r:id="rId38"/>
    <p:sldId id="473" r:id="rId39"/>
    <p:sldId id="427" r:id="rId9"/>
    <p:sldId id="474" r:id="rId40"/>
    <p:sldId id="475" r:id="rId41"/>
    <p:sldId id="476" r:id="rId42"/>
    <p:sldId id="441" r:id="rId10"/>
    <p:sldId id="477" r:id="rId43"/>
    <p:sldId id="478" r:id="rId44"/>
    <p:sldId id="479" r:id="rId45"/>
    <p:sldId id="442" r:id="rId11"/>
    <p:sldId id="480" r:id="rId46"/>
    <p:sldId id="481" r:id="rId47"/>
    <p:sldId id="482" r:id="rId48"/>
    <p:sldId id="453" r:id="rId12"/>
    <p:sldId id="483" r:id="rId49"/>
    <p:sldId id="484" r:id="rId50"/>
    <p:sldId id="485" r:id="rId51"/>
    <p:sldId id="444" r:id="rId13"/>
    <p:sldId id="486" r:id="rId52"/>
    <p:sldId id="487" r:id="rId53"/>
    <p:sldId id="488" r:id="rId54"/>
    <p:sldId id="443" r:id="rId14"/>
    <p:sldId id="489" r:id="rId55"/>
    <p:sldId id="490" r:id="rId56"/>
    <p:sldId id="491" r:id="rId5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1AA0D3"/>
    <a:srgbClr val="FFFFFF"/>
    <a:srgbClr val="DFE3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712"/>
  </p:normalViewPr>
  <p:slideViewPr>
    <p:cSldViewPr snapToGrid="0" snapToObjects="1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0C4CF7-F995-064A-A609-EA130F94374C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F87CB1-692F-4249-B4E0-C0426D9B9C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2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63716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726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7768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08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8814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7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540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95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1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455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9586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smtClean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306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image" Target="../media/image3.e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11" Type="http://schemas.openxmlformats.org/officeDocument/2006/relationships/image" Target="../media/image11.svg"/><Relationship Id="rId5" Type="http://schemas.openxmlformats.org/officeDocument/2006/relationships/image" Target="../media/image5.emf"/><Relationship Id="rId10" Type="http://schemas.openxmlformats.org/officeDocument/2006/relationships/image" Target="../media/image10.png"/><Relationship Id="rId4" Type="http://schemas.openxmlformats.org/officeDocument/2006/relationships/image" Target="../media/image4.emf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image" Target="../media/image13.emf"/><Relationship Id="rId7" Type="http://schemas.openxmlformats.org/officeDocument/2006/relationships/image" Target="../media/image16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8.emf"/><Relationship Id="rId7" Type="http://schemas.openxmlformats.org/officeDocument/2006/relationships/image" Target="../media/image15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5" Type="http://schemas.openxmlformats.org/officeDocument/2006/relationships/image" Target="../media/image20.emf"/><Relationship Id="rId4" Type="http://schemas.openxmlformats.org/officeDocument/2006/relationships/image" Target="../media/image19.emf"/><Relationship Id="rId9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1.emf"/><Relationship Id="rId7" Type="http://schemas.openxmlformats.org/officeDocument/2006/relationships/image" Target="../media/image24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emf"/><Relationship Id="rId5" Type="http://schemas.openxmlformats.org/officeDocument/2006/relationships/image" Target="../media/image23.emf"/><Relationship Id="rId4" Type="http://schemas.openxmlformats.org/officeDocument/2006/relationships/image" Target="../media/image22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3" Type="http://schemas.openxmlformats.org/officeDocument/2006/relationships/image" Target="../media/image26.png"/><Relationship Id="rId7" Type="http://schemas.openxmlformats.org/officeDocument/2006/relationships/image" Target="../media/image30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5" Type="http://schemas.openxmlformats.org/officeDocument/2006/relationships/image" Target="../media/image28.emf"/><Relationship Id="rId10" Type="http://schemas.openxmlformats.org/officeDocument/2006/relationships/image" Target="../media/image9.png"/><Relationship Id="rId4" Type="http://schemas.openxmlformats.org/officeDocument/2006/relationships/image" Target="../media/image27.emf"/><Relationship Id="rId9" Type="http://schemas.openxmlformats.org/officeDocument/2006/relationships/image" Target="../media/image32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emf"/><Relationship Id="rId3" Type="http://schemas.openxmlformats.org/officeDocument/2006/relationships/image" Target="../media/image28.emf"/><Relationship Id="rId7" Type="http://schemas.openxmlformats.org/officeDocument/2006/relationships/image" Target="../media/image34.em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11" Type="http://schemas.openxmlformats.org/officeDocument/2006/relationships/image" Target="../media/image9.png"/><Relationship Id="rId5" Type="http://schemas.openxmlformats.org/officeDocument/2006/relationships/image" Target="../media/image33.emf"/><Relationship Id="rId10" Type="http://schemas.openxmlformats.org/officeDocument/2006/relationships/image" Target="../media/image36.emf"/><Relationship Id="rId4" Type="http://schemas.openxmlformats.org/officeDocument/2006/relationships/image" Target="../media/image32.emf"/><Relationship Id="rId9" Type="http://schemas.openxmlformats.org/officeDocument/2006/relationships/image" Target="../media/image25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8.emf"/><Relationship Id="rId7" Type="http://schemas.openxmlformats.org/officeDocument/2006/relationships/image" Target="../media/image41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emf"/><Relationship Id="rId5" Type="http://schemas.openxmlformats.org/officeDocument/2006/relationships/image" Target="../media/image9.png"/><Relationship Id="rId4" Type="http://schemas.openxmlformats.org/officeDocument/2006/relationships/image" Target="../media/image39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emf"/><Relationship Id="rId3" Type="http://schemas.openxmlformats.org/officeDocument/2006/relationships/image" Target="../media/image43.emf"/><Relationship Id="rId7" Type="http://schemas.openxmlformats.org/officeDocument/2006/relationships/image" Target="../media/image47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svg"/><Relationship Id="rId11" Type="http://schemas.openxmlformats.org/officeDocument/2006/relationships/image" Target="../media/image9.png"/><Relationship Id="rId5" Type="http://schemas.openxmlformats.org/officeDocument/2006/relationships/image" Target="../media/image45.png"/><Relationship Id="rId10" Type="http://schemas.openxmlformats.org/officeDocument/2006/relationships/image" Target="../media/image50.emf"/><Relationship Id="rId4" Type="http://schemas.openxmlformats.org/officeDocument/2006/relationships/image" Target="../media/image44.emf"/><Relationship Id="rId9" Type="http://schemas.openxmlformats.org/officeDocument/2006/relationships/image" Target="../media/image49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image" Target="../media/image51.emf"/><Relationship Id="rId7" Type="http://schemas.openxmlformats.org/officeDocument/2006/relationships/image" Target="../media/image55.emf"/><Relationship Id="rId12" Type="http://schemas.openxmlformats.org/officeDocument/2006/relationships/image" Target="../media/image9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emf"/><Relationship Id="rId11" Type="http://schemas.openxmlformats.org/officeDocument/2006/relationships/image" Target="../media/image59.emf"/><Relationship Id="rId5" Type="http://schemas.openxmlformats.org/officeDocument/2006/relationships/image" Target="../media/image53.emf"/><Relationship Id="rId10" Type="http://schemas.openxmlformats.org/officeDocument/2006/relationships/image" Target="../media/image58.emf"/><Relationship Id="rId4" Type="http://schemas.openxmlformats.org/officeDocument/2006/relationships/image" Target="../media/image52.emf"/><Relationship Id="rId9" Type="http://schemas.openxmlformats.org/officeDocument/2006/relationships/image" Target="../media/image5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emf"/><Relationship Id="rId3" Type="http://schemas.openxmlformats.org/officeDocument/2006/relationships/image" Target="../media/image51.emf"/><Relationship Id="rId7" Type="http://schemas.openxmlformats.org/officeDocument/2006/relationships/image" Target="../media/image61.emf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emf"/><Relationship Id="rId5" Type="http://schemas.openxmlformats.org/officeDocument/2006/relationships/image" Target="../media/image53.emf"/><Relationship Id="rId4" Type="http://schemas.openxmlformats.org/officeDocument/2006/relationships/image" Target="../media/image52.emf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emf"/><Relationship Id="rId7" Type="http://schemas.openxmlformats.org/officeDocument/2006/relationships/image" Target="../media/image9.png"/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emf"/><Relationship Id="rId4" Type="http://schemas.openxmlformats.org/officeDocument/2006/relationships/image" Target="../media/image61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emf"/><Relationship Id="rId13" Type="http://schemas.openxmlformats.org/officeDocument/2006/relationships/image" Target="../media/image9.png"/><Relationship Id="rId3" Type="http://schemas.openxmlformats.org/officeDocument/2006/relationships/image" Target="../media/image53.emf"/><Relationship Id="rId7" Type="http://schemas.openxmlformats.org/officeDocument/2006/relationships/image" Target="../media/image66.emf"/><Relationship Id="rId12" Type="http://schemas.openxmlformats.org/officeDocument/2006/relationships/image" Target="../media/image59.emf"/><Relationship Id="rId2" Type="http://schemas.openxmlformats.org/officeDocument/2006/relationships/image" Target="../media/image52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emf"/><Relationship Id="rId11" Type="http://schemas.openxmlformats.org/officeDocument/2006/relationships/image" Target="../media/image70.emf"/><Relationship Id="rId5" Type="http://schemas.openxmlformats.org/officeDocument/2006/relationships/image" Target="../media/image64.png"/><Relationship Id="rId10" Type="http://schemas.openxmlformats.org/officeDocument/2006/relationships/image" Target="../media/image69.emf"/><Relationship Id="rId4" Type="http://schemas.openxmlformats.org/officeDocument/2006/relationships/image" Target="../media/image62.emf"/><Relationship Id="rId9" Type="http://schemas.openxmlformats.org/officeDocument/2006/relationships/image" Target="../media/image68.emf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Statistical physics phy301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canonical, grand canonical ensemble</a:t>
            </a:r>
          </a:p>
          <a:p>
            <a:endParaRPr lang="en-US" dirty="0"/>
          </a:p>
          <a:p>
            <a:r>
              <a:rPr lang="en-US" dirty="0"/>
              <a:t>Lecturer: Kok Wee Song</a:t>
            </a:r>
          </a:p>
        </p:txBody>
      </p:sp>
    </p:spTree>
    <p:extLst>
      <p:ext uri="{BB962C8B-B14F-4D97-AF65-F5344CB8AC3E}">
        <p14:creationId xmlns:p14="http://schemas.microsoft.com/office/powerpoint/2010/main" val="1460761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217173"/>
            <a:ext cx="3373489" cy="21631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791" y="2491042"/>
            <a:ext cx="4664244" cy="3406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2339" y="3237899"/>
            <a:ext cx="2857883" cy="66941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837" y="3298749"/>
            <a:ext cx="2340281" cy="37444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8408" y="4045606"/>
            <a:ext cx="1829993" cy="75523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852219" y="3907313"/>
            <a:ext cx="1892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 position: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1298" y="5231520"/>
            <a:ext cx="2946597" cy="5180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52219" y="4812735"/>
            <a:ext cx="1971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Gibbs free energy: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2796" y="4792818"/>
            <a:ext cx="2542907" cy="44672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16150" y="1843371"/>
            <a:ext cx="1609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System energy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6150" y="5810950"/>
            <a:ext cx="450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Connect to </a:t>
            </a:r>
            <a:r>
              <a:rPr lang="en-US">
                <a:solidFill>
                  <a:srgbClr val="FF0000"/>
                </a:solidFill>
              </a:rPr>
              <a:t>the thermodynamics </a:t>
            </a:r>
            <a:r>
              <a:rPr lang="en-US" dirty="0">
                <a:solidFill>
                  <a:srgbClr val="FF0000"/>
                </a:solidFill>
              </a:rPr>
              <a:t>quantities.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A26391C-B4BF-4775-9F94-586F603CC2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FDC830C-36C2-48CA-90CA-875FBD933FC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410274" y="5118324"/>
            <a:ext cx="2601195" cy="69262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38AFFC8-D554-4F8B-9AAC-39F48606445A}"/>
              </a:ext>
            </a:extLst>
          </p:cNvPr>
          <p:cNvSpPr txBox="1"/>
          <p:nvPr/>
        </p:nvSpPr>
        <p:spPr>
          <a:xfrm>
            <a:off x="1106691" y="4684225"/>
            <a:ext cx="17709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Average Energy: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574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3" y="2127929"/>
            <a:ext cx="3059403" cy="34388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6444" y="2170919"/>
            <a:ext cx="1124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Idea gas: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9524" y="2170919"/>
            <a:ext cx="8534104" cy="87379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1984" y="3160716"/>
            <a:ext cx="6597612" cy="176872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3590" y="5840473"/>
            <a:ext cx="6790212" cy="8602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ECD3C6C-B0C4-4747-AAC3-BB092BCC02A8}"/>
              </a:ext>
            </a:extLst>
          </p:cNvPr>
          <p:cNvSpPr/>
          <p:nvPr/>
        </p:nvSpPr>
        <p:spPr>
          <a:xfrm>
            <a:off x="3508863" y="2946720"/>
            <a:ext cx="21639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Partition function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9C34C0-B93F-4BF6-AC7A-C073F136A135}"/>
              </a:ext>
            </a:extLst>
          </p:cNvPr>
          <p:cNvGrpSpPr/>
          <p:nvPr/>
        </p:nvGrpSpPr>
        <p:grpSpPr>
          <a:xfrm>
            <a:off x="3569061" y="4787479"/>
            <a:ext cx="2887120" cy="779313"/>
            <a:chOff x="3569061" y="4787479"/>
            <a:chExt cx="2887120" cy="779313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43590" y="5107435"/>
              <a:ext cx="2612591" cy="459357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15D9BD09-F1D6-451A-B56D-7EACE864A140}"/>
                </a:ext>
              </a:extLst>
            </p:cNvPr>
            <p:cNvSpPr/>
            <p:nvPr/>
          </p:nvSpPr>
          <p:spPr>
            <a:xfrm>
              <a:off x="3569061" y="4787479"/>
              <a:ext cx="16190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2. Free energy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A7CA80A2-D55B-48FE-947A-E1214790481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9596" y="3316052"/>
            <a:ext cx="1887896" cy="62133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1256D0C-B49E-4134-BC5B-AA8E3DC52E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6570" y="3037049"/>
            <a:ext cx="655259" cy="3170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1A5F85-6723-45A2-8385-99612A9A07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8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3" y="2127929"/>
            <a:ext cx="3059403" cy="343886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96444" y="2170919"/>
            <a:ext cx="1124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Idea gas: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9580" y="3749501"/>
            <a:ext cx="3024138" cy="4086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278" y="4878019"/>
            <a:ext cx="5878922" cy="897309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6EFFF52-2A63-470E-83C2-39A8B67BBD3B}"/>
              </a:ext>
            </a:extLst>
          </p:cNvPr>
          <p:cNvGrpSpPr/>
          <p:nvPr/>
        </p:nvGrpSpPr>
        <p:grpSpPr>
          <a:xfrm>
            <a:off x="3433522" y="3218796"/>
            <a:ext cx="3348852" cy="1065387"/>
            <a:chOff x="3433522" y="3218796"/>
            <a:chExt cx="3348852" cy="1065387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620830" y="3869640"/>
              <a:ext cx="2161544" cy="414543"/>
            </a:xfrm>
            <a:prstGeom prst="rect">
              <a:avLst/>
            </a:prstGeom>
          </p:spPr>
        </p:pic>
        <p:sp>
          <p:nvSpPr>
            <p:cNvPr id="14" name="TextBox 13"/>
            <p:cNvSpPr txBox="1"/>
            <p:nvPr/>
          </p:nvSpPr>
          <p:spPr>
            <a:xfrm>
              <a:off x="3433522" y="3218796"/>
              <a:ext cx="240700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/>
                <a:t>On </a:t>
              </a:r>
              <a:r>
                <a:rPr lang="en-US" sz="2000" b="1"/>
                <a:t>the other hand</a:t>
              </a:r>
              <a:endParaRPr lang="en-US" sz="2000" b="1" dirty="0"/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6998" y="1970653"/>
            <a:ext cx="2612591" cy="459357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20830" y="2381598"/>
            <a:ext cx="6790212" cy="8602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B85DAF-6693-465C-91BF-91FAD391416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1D7471D-4722-4292-B22B-773D3E828F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6242" y="5967749"/>
            <a:ext cx="1829993" cy="755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898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226" y="2330209"/>
            <a:ext cx="8018693" cy="101594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7913" y="5566792"/>
            <a:ext cx="3485062" cy="47193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0455" y="4473291"/>
            <a:ext cx="3353223" cy="101727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832A3E3B-B7EB-4965-A1C1-D5F28E0B27B4}"/>
              </a:ext>
            </a:extLst>
          </p:cNvPr>
          <p:cNvGrpSpPr/>
          <p:nvPr/>
        </p:nvGrpSpPr>
        <p:grpSpPr>
          <a:xfrm>
            <a:off x="3502312" y="3498901"/>
            <a:ext cx="5932194" cy="951527"/>
            <a:chOff x="3502312" y="3498901"/>
            <a:chExt cx="5932194" cy="951527"/>
          </a:xfrm>
        </p:grpSpPr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502312" y="3498901"/>
              <a:ext cx="3769510" cy="951527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7381315" y="3743831"/>
              <a:ext cx="205319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(Total energy)</a:t>
              </a:r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3" y="2127929"/>
            <a:ext cx="3059403" cy="3438863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296444" y="2170919"/>
            <a:ext cx="1124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Idea gas: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5E55417-AFAD-4CD4-8F0A-E744DCFF34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573" y="6119707"/>
            <a:ext cx="5397179" cy="7382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2F56630-CDCC-4989-A2FE-0EF030363A0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06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759" y="2281481"/>
            <a:ext cx="1472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Spin system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pic>
        <p:nvPicPr>
          <p:cNvPr id="1026" name="Picture 2" descr="Tenso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96F720BC-E092-4066-8B47-5930A05EAF83}"/>
              </a:ext>
            </a:extLst>
          </p:cNvPr>
          <p:cNvGrpSpPr/>
          <p:nvPr/>
        </p:nvGrpSpPr>
        <p:grpSpPr>
          <a:xfrm>
            <a:off x="2848634" y="1858226"/>
            <a:ext cx="9178387" cy="3101154"/>
            <a:chOff x="2848634" y="1858226"/>
            <a:chExt cx="9178387" cy="3101154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7C2F275F-EAF3-48FF-921A-5DB65E17258A}"/>
                </a:ext>
              </a:extLst>
            </p:cNvPr>
            <p:cNvGrpSpPr/>
            <p:nvPr/>
          </p:nvGrpSpPr>
          <p:grpSpPr>
            <a:xfrm>
              <a:off x="4343399" y="2916639"/>
              <a:ext cx="6263641" cy="1241479"/>
              <a:chOff x="4343399" y="2916639"/>
              <a:chExt cx="6263641" cy="1241479"/>
            </a:xfrm>
          </p:grpSpPr>
          <p:pic>
            <p:nvPicPr>
              <p:cNvPr id="16" name="Picture 1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43399" y="2916639"/>
                <a:ext cx="4655545" cy="1241479"/>
              </a:xfrm>
              <a:prstGeom prst="rect">
                <a:avLst/>
              </a:prstGeom>
            </p:spPr>
          </p:pic>
          <p:pic>
            <p:nvPicPr>
              <p:cNvPr id="17" name="Picture 1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12389" y="3455708"/>
                <a:ext cx="994651" cy="390756"/>
              </a:xfrm>
              <a:prstGeom prst="rect">
                <a:avLst/>
              </a:prstGeom>
            </p:spPr>
          </p:pic>
        </p:grp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97871" y="4225584"/>
              <a:ext cx="4728910" cy="733796"/>
            </a:xfrm>
            <a:prstGeom prst="rect">
              <a:avLst/>
            </a:prstGeom>
          </p:spPr>
        </p:pic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A3FDAF0-02D2-4B4B-807C-429F1E59F21F}"/>
                </a:ext>
              </a:extLst>
            </p:cNvPr>
            <p:cNvGrpSpPr/>
            <p:nvPr/>
          </p:nvGrpSpPr>
          <p:grpSpPr>
            <a:xfrm>
              <a:off x="2848634" y="1858226"/>
              <a:ext cx="9178387" cy="1124103"/>
              <a:chOff x="2848634" y="1858226"/>
              <a:chExt cx="9178387" cy="1124103"/>
            </a:xfrm>
          </p:grpSpPr>
          <p:pic>
            <p:nvPicPr>
              <p:cNvPr id="3" name="Picture 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06430" y="2100228"/>
                <a:ext cx="5829537" cy="882101"/>
              </a:xfrm>
              <a:prstGeom prst="rect">
                <a:avLst/>
              </a:prstGeom>
            </p:spPr>
          </p:pic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703828" y="2285638"/>
                <a:ext cx="2323193" cy="500380"/>
              </a:xfrm>
              <a:prstGeom prst="rect">
                <a:avLst/>
              </a:prstGeom>
            </p:spPr>
          </p:pic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0F3AA6E7-9A80-4DE4-8CF0-5721D07E76B3}"/>
                  </a:ext>
                </a:extLst>
              </p:cNvPr>
              <p:cNvSpPr/>
              <p:nvPr/>
            </p:nvSpPr>
            <p:spPr>
              <a:xfrm>
                <a:off x="2848634" y="1858226"/>
                <a:ext cx="2163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dirty="0"/>
                  <a:t>1. Partition function</a:t>
                </a:r>
              </a:p>
            </p:txBody>
          </p:sp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15852F2-5558-4274-991A-AB053C506CB5}"/>
              </a:ext>
            </a:extLst>
          </p:cNvPr>
          <p:cNvGrpSpPr/>
          <p:nvPr/>
        </p:nvGrpSpPr>
        <p:grpSpPr>
          <a:xfrm>
            <a:off x="2896913" y="4923126"/>
            <a:ext cx="7344634" cy="1059033"/>
            <a:chOff x="2896913" y="4923126"/>
            <a:chExt cx="7344634" cy="1059033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000849" y="5177637"/>
              <a:ext cx="7240698" cy="80452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FE5CB52-90FD-4A12-BCA0-5CE09C7BC930}"/>
                </a:ext>
              </a:extLst>
            </p:cNvPr>
            <p:cNvSpPr/>
            <p:nvPr/>
          </p:nvSpPr>
          <p:spPr>
            <a:xfrm>
              <a:off x="2896913" y="4923126"/>
              <a:ext cx="161903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2. Free energy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6807A8AD-9256-4D2F-8BDB-6754A3F71D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80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enso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352" y="2895385"/>
            <a:ext cx="4038540" cy="2166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canonical 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84759" y="2281481"/>
            <a:ext cx="147271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Spin system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63" y="2431785"/>
            <a:ext cx="1007481" cy="395796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2526" y="2947001"/>
            <a:ext cx="6301674" cy="70018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4148" y="4486617"/>
            <a:ext cx="3391471" cy="111806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2526" y="2144672"/>
            <a:ext cx="4728910" cy="73379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558356DB-68F2-4D11-8426-30EB1904469C}"/>
              </a:ext>
            </a:extLst>
          </p:cNvPr>
          <p:cNvGrpSpPr/>
          <p:nvPr/>
        </p:nvGrpSpPr>
        <p:grpSpPr>
          <a:xfrm>
            <a:off x="4373946" y="3570331"/>
            <a:ext cx="7874737" cy="900320"/>
            <a:chOff x="4373946" y="3570331"/>
            <a:chExt cx="7874737" cy="900320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73946" y="3570331"/>
              <a:ext cx="4423311" cy="900320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8918541" y="3828560"/>
              <a:ext cx="333014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(</a:t>
              </a:r>
              <a:r>
                <a:rPr lang="en-US" sz="2000"/>
                <a:t>Average magnetic moment</a:t>
              </a:r>
              <a:r>
                <a:rPr lang="en-US" sz="2000" dirty="0"/>
                <a:t>)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9268E7A-946D-4B29-9B75-56129E3EA7D6}"/>
              </a:ext>
            </a:extLst>
          </p:cNvPr>
          <p:cNvGrpSpPr/>
          <p:nvPr/>
        </p:nvGrpSpPr>
        <p:grpSpPr>
          <a:xfrm>
            <a:off x="1106832" y="5706831"/>
            <a:ext cx="5379644" cy="479396"/>
            <a:chOff x="1106832" y="5706831"/>
            <a:chExt cx="5379644" cy="479396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048910" y="5718985"/>
              <a:ext cx="3437566" cy="467242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1106832" y="5706831"/>
              <a:ext cx="182556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Total energy</a:t>
              </a:r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6916" y="5200517"/>
            <a:ext cx="1464421" cy="41840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0914264C-DC0C-496B-8052-99E54B227AEB}"/>
              </a:ext>
            </a:extLst>
          </p:cNvPr>
          <p:cNvGrpSpPr/>
          <p:nvPr/>
        </p:nvGrpSpPr>
        <p:grpSpPr>
          <a:xfrm>
            <a:off x="7531270" y="5661111"/>
            <a:ext cx="2679487" cy="996020"/>
            <a:chOff x="7531270" y="5661111"/>
            <a:chExt cx="2679487" cy="996020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31270" y="5661111"/>
              <a:ext cx="2679487" cy="551659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7625619" y="6195466"/>
              <a:ext cx="204857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Heat Capacity</a:t>
              </a: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5BD9C93E-6D31-438A-8051-464F152C1712}"/>
              </a:ext>
            </a:extLst>
          </p:cNvPr>
          <p:cNvSpPr txBox="1"/>
          <p:nvPr/>
        </p:nvSpPr>
        <p:spPr>
          <a:xfrm>
            <a:off x="8003702" y="4837647"/>
            <a:ext cx="26642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MY" dirty="0"/>
              <a:t>(Magnetic susceptibility)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B78AAF29-8940-4FC3-9661-E84F5DFED8F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48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4394" y="2177610"/>
            <a:ext cx="75157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Similarly, the </a:t>
            </a:r>
            <a:r>
              <a:rPr lang="en-US" sz="2400" b="1" dirty="0"/>
              <a:t>total number of particles</a:t>
            </a:r>
            <a:r>
              <a:rPr lang="en-US" sz="2400" dirty="0"/>
              <a:t> can </a:t>
            </a:r>
            <a:r>
              <a:rPr lang="en-US" sz="2400" b="1" dirty="0"/>
              <a:t>fluctuate</a:t>
            </a:r>
            <a:r>
              <a:rPr lang="en-US" sz="2400" dirty="0"/>
              <a:t> just like the </a:t>
            </a:r>
            <a:r>
              <a:rPr lang="en-US" sz="2400" b="1" dirty="0"/>
              <a:t>energy</a:t>
            </a:r>
            <a:r>
              <a:rPr lang="en-US" sz="2400" dirty="0"/>
              <a:t> in Canonical ensemble.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800" y="3193590"/>
            <a:ext cx="4444626" cy="52838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048594" y="3852010"/>
            <a:ext cx="6790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Chemical potential = the energy needs to add a particle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4857" y="4410689"/>
            <a:ext cx="2655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Grand Partition function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0157539" y="5284905"/>
            <a:ext cx="1974771" cy="717625"/>
            <a:chOff x="9822577" y="4954346"/>
            <a:chExt cx="1974771" cy="717625"/>
          </a:xfrm>
        </p:grpSpPr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>
              <a:off x="10561320" y="5276172"/>
              <a:ext cx="0" cy="39579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24"/>
            <p:cNvSpPr/>
            <p:nvPr/>
          </p:nvSpPr>
          <p:spPr>
            <a:xfrm>
              <a:off x="9822577" y="4954346"/>
              <a:ext cx="197477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Partition function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1B8609BA-8B42-4F5E-A34E-AF3C45A12BD2}"/>
              </a:ext>
            </a:extLst>
          </p:cNvPr>
          <p:cNvGrpSpPr/>
          <p:nvPr/>
        </p:nvGrpSpPr>
        <p:grpSpPr>
          <a:xfrm>
            <a:off x="7512844" y="5622679"/>
            <a:ext cx="3688556" cy="1217083"/>
            <a:chOff x="7512844" y="5622679"/>
            <a:chExt cx="3688556" cy="1217083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43754" y="5889906"/>
              <a:ext cx="2757646" cy="949856"/>
            </a:xfrm>
            <a:prstGeom prst="rect">
              <a:avLst/>
            </a:prstGeom>
          </p:spPr>
        </p:pic>
        <p:sp>
          <p:nvSpPr>
            <p:cNvPr id="27" name="TextBox 26"/>
            <p:cNvSpPr txBox="1"/>
            <p:nvPr/>
          </p:nvSpPr>
          <p:spPr>
            <a:xfrm>
              <a:off x="7512844" y="5622679"/>
              <a:ext cx="28103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Prob</a:t>
              </a:r>
              <a:r>
                <a:rPr lang="en-US" dirty="0"/>
                <a:t> for finding N particle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223B3EC-1AF6-4776-B020-F2FCDE5D4FFD}"/>
              </a:ext>
            </a:extLst>
          </p:cNvPr>
          <p:cNvGrpSpPr/>
          <p:nvPr/>
        </p:nvGrpSpPr>
        <p:grpSpPr>
          <a:xfrm>
            <a:off x="7575222" y="2484443"/>
            <a:ext cx="2391741" cy="1401757"/>
            <a:chOff x="7575222" y="2484443"/>
            <a:chExt cx="2391741" cy="1401757"/>
          </a:xfrm>
        </p:grpSpPr>
        <p:cxnSp>
          <p:nvCxnSpPr>
            <p:cNvPr id="14" name="Straight Arrow Connector 13"/>
            <p:cNvCxnSpPr/>
            <p:nvPr/>
          </p:nvCxnSpPr>
          <p:spPr>
            <a:xfrm flipV="1">
              <a:off x="7920990" y="3607672"/>
              <a:ext cx="0" cy="27852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31CAF140-4E81-4F51-918F-FF8CF44E75D4}"/>
                </a:ext>
              </a:extLst>
            </p:cNvPr>
            <p:cNvSpPr/>
            <p:nvPr/>
          </p:nvSpPr>
          <p:spPr>
            <a:xfrm rot="16200000">
              <a:off x="8563709" y="1872578"/>
              <a:ext cx="414768" cy="2391741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MY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7FD18B5-7473-47D1-8373-7031D2862886}"/>
                </a:ext>
              </a:extLst>
            </p:cNvPr>
            <p:cNvSpPr txBox="1"/>
            <p:nvPr/>
          </p:nvSpPr>
          <p:spPr>
            <a:xfrm>
              <a:off x="8212137" y="2484443"/>
              <a:ext cx="14117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MY" dirty="0"/>
                <a:t>Total energy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F1F9C565-CC55-4B18-8D69-D0ABE32508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D24F74DD-79FF-46F6-841C-A4F724D8E7AE}"/>
              </a:ext>
            </a:extLst>
          </p:cNvPr>
          <p:cNvGrpSpPr/>
          <p:nvPr/>
        </p:nvGrpSpPr>
        <p:grpSpPr>
          <a:xfrm>
            <a:off x="5101710" y="4658041"/>
            <a:ext cx="4571070" cy="1027180"/>
            <a:chOff x="5101710" y="4658041"/>
            <a:chExt cx="4571070" cy="1027180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 rotWithShape="1">
            <a:blip r:embed="rId6"/>
            <a:srcRect l="28910"/>
            <a:stretch/>
          </p:blipFill>
          <p:spPr>
            <a:xfrm>
              <a:off x="6167717" y="4658041"/>
              <a:ext cx="3505063" cy="102718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060DAE4C-A5B0-4512-88D7-9AC7E4339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101710" y="4878035"/>
              <a:ext cx="1168438" cy="5842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0234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937" y="1855360"/>
            <a:ext cx="3736340" cy="791597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13F4D7B9-8721-4B8C-9E81-215E78CC1E8D}"/>
              </a:ext>
            </a:extLst>
          </p:cNvPr>
          <p:cNvGrpSpPr/>
          <p:nvPr/>
        </p:nvGrpSpPr>
        <p:grpSpPr>
          <a:xfrm>
            <a:off x="4268640" y="2777393"/>
            <a:ext cx="5538300" cy="1022835"/>
            <a:chOff x="4268640" y="2777393"/>
            <a:chExt cx="5538300" cy="1022835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82457" y="2941320"/>
              <a:ext cx="3524483" cy="858908"/>
            </a:xfrm>
            <a:prstGeom prst="rect">
              <a:avLst/>
            </a:prstGeom>
          </p:spPr>
        </p:pic>
        <p:sp>
          <p:nvSpPr>
            <p:cNvPr id="13" name="Rectangle 12"/>
            <p:cNvSpPr/>
            <p:nvPr/>
          </p:nvSpPr>
          <p:spPr>
            <a:xfrm>
              <a:off x="4268640" y="2777393"/>
              <a:ext cx="267393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Average particle number: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179375D-8F71-417E-8120-6D7843837E2E}"/>
              </a:ext>
            </a:extLst>
          </p:cNvPr>
          <p:cNvGrpSpPr/>
          <p:nvPr/>
        </p:nvGrpSpPr>
        <p:grpSpPr>
          <a:xfrm>
            <a:off x="4268640" y="3617348"/>
            <a:ext cx="7252800" cy="1153668"/>
            <a:chOff x="4268640" y="3617348"/>
            <a:chExt cx="7252800" cy="1153668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7851" b="7851"/>
            <a:stretch/>
          </p:blipFill>
          <p:spPr>
            <a:xfrm>
              <a:off x="4738900" y="3850729"/>
              <a:ext cx="6782540" cy="920287"/>
            </a:xfrm>
            <a:prstGeom prst="rect">
              <a:avLst/>
            </a:prstGeom>
          </p:spPr>
        </p:pic>
        <p:sp>
          <p:nvSpPr>
            <p:cNvPr id="14" name="Rectangle 13"/>
            <p:cNvSpPr/>
            <p:nvPr/>
          </p:nvSpPr>
          <p:spPr>
            <a:xfrm>
              <a:off x="4268640" y="3617348"/>
              <a:ext cx="312835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particle number fluctuation:</a:t>
              </a:r>
            </a:p>
          </p:txBody>
        </p:sp>
      </p:grp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7"/>
          <a:srcRect l="70333" t="-18690" b="-1"/>
          <a:stretch/>
        </p:blipFill>
        <p:spPr>
          <a:xfrm>
            <a:off x="7598422" y="4527154"/>
            <a:ext cx="2871458" cy="109228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0070" y="5070400"/>
            <a:ext cx="682770" cy="261059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EEC5D1C-104E-4C9D-9912-8DC66055E6E1}"/>
              </a:ext>
            </a:extLst>
          </p:cNvPr>
          <p:cNvGrpSpPr/>
          <p:nvPr/>
        </p:nvGrpSpPr>
        <p:grpSpPr>
          <a:xfrm>
            <a:off x="5963998" y="6008636"/>
            <a:ext cx="4607232" cy="372865"/>
            <a:chOff x="5963998" y="6008636"/>
            <a:chExt cx="4607232" cy="372865"/>
          </a:xfrm>
        </p:grpSpPr>
        <p:sp>
          <p:nvSpPr>
            <p:cNvPr id="18" name="TextBox 17"/>
            <p:cNvSpPr txBox="1"/>
            <p:nvPr/>
          </p:nvSpPr>
          <p:spPr>
            <a:xfrm>
              <a:off x="5963998" y="6008636"/>
              <a:ext cx="15190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Relative error</a:t>
              </a:r>
            </a:p>
          </p:txBody>
        </p:sp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83003" y="6038365"/>
              <a:ext cx="3088227" cy="343136"/>
            </a:xfrm>
            <a:prstGeom prst="rect">
              <a:avLst/>
            </a:prstGeom>
          </p:spPr>
        </p:pic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7883" y="2226865"/>
            <a:ext cx="3589020" cy="3467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4150" y="2653009"/>
            <a:ext cx="1619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Most probable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74337" y="2673863"/>
            <a:ext cx="963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Average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88833" y="3083238"/>
            <a:ext cx="39343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the one that help your calculation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A369A6-E9B5-47EA-9FB9-9DAC2804016A}"/>
              </a:ext>
            </a:extLst>
          </p:cNvPr>
          <p:cNvSpPr/>
          <p:nvPr/>
        </p:nvSpPr>
        <p:spPr>
          <a:xfrm>
            <a:off x="2390622" y="2084832"/>
            <a:ext cx="2034540" cy="6316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3200" b="1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9A0177E-AF7D-4C2B-9537-5183EA2C11F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672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699" y="2331720"/>
            <a:ext cx="8197702" cy="13716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EC3F0C4-CECF-4203-B788-E4AB73EC8764}"/>
              </a:ext>
            </a:extLst>
          </p:cNvPr>
          <p:cNvGrpSpPr/>
          <p:nvPr/>
        </p:nvGrpSpPr>
        <p:grpSpPr>
          <a:xfrm>
            <a:off x="4183874" y="3826533"/>
            <a:ext cx="6961916" cy="1226074"/>
            <a:chOff x="4183874" y="3826533"/>
            <a:chExt cx="6961916" cy="122607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7497" y="4133088"/>
              <a:ext cx="4800600" cy="57607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83874" y="3826533"/>
              <a:ext cx="2002444" cy="34417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6644750" y="4683275"/>
              <a:ext cx="45010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Connect to </a:t>
              </a:r>
              <a:r>
                <a:rPr lang="en-US">
                  <a:solidFill>
                    <a:srgbClr val="FF0000"/>
                  </a:solidFill>
                </a:rPr>
                <a:t>the thermodynamics </a:t>
              </a:r>
              <a:r>
                <a:rPr lang="en-US" dirty="0">
                  <a:solidFill>
                    <a:srgbClr val="FF0000"/>
                  </a:solidFill>
                </a:rPr>
                <a:t>quantities.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8A09855-C95D-4709-AD49-19D5BE8E3251}"/>
              </a:ext>
            </a:extLst>
          </p:cNvPr>
          <p:cNvGrpSpPr/>
          <p:nvPr/>
        </p:nvGrpSpPr>
        <p:grpSpPr>
          <a:xfrm>
            <a:off x="4215305" y="4930662"/>
            <a:ext cx="3472848" cy="741172"/>
            <a:chOff x="4215305" y="4930662"/>
            <a:chExt cx="3472848" cy="741172"/>
          </a:xfrm>
        </p:grpSpPr>
        <p:sp>
          <p:nvSpPr>
            <p:cNvPr id="12" name="TextBox 11"/>
            <p:cNvSpPr txBox="1"/>
            <p:nvPr/>
          </p:nvSpPr>
          <p:spPr>
            <a:xfrm>
              <a:off x="4215305" y="4930662"/>
              <a:ext cx="18771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Gibb free energy:</a:t>
              </a: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96818" y="5399891"/>
              <a:ext cx="3191335" cy="271943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6906450" y="5074197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96818" y="5971769"/>
            <a:ext cx="1849066" cy="30817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9222D4B-3B0E-4BEF-A3B4-BBD0E78AE166}"/>
              </a:ext>
            </a:extLst>
          </p:cNvPr>
          <p:cNvGrpSpPr/>
          <p:nvPr/>
        </p:nvGrpSpPr>
        <p:grpSpPr>
          <a:xfrm>
            <a:off x="7979367" y="5299994"/>
            <a:ext cx="3246199" cy="649359"/>
            <a:chOff x="8474685" y="5072857"/>
            <a:chExt cx="3246199" cy="649359"/>
          </a:xfrm>
        </p:grpSpPr>
        <p:sp>
          <p:nvSpPr>
            <p:cNvPr id="20" name="TextBox 19"/>
            <p:cNvSpPr txBox="1"/>
            <p:nvPr/>
          </p:nvSpPr>
          <p:spPr>
            <a:xfrm>
              <a:off x="8524887" y="5072857"/>
              <a:ext cx="9364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(1</a:t>
              </a:r>
              <a:r>
                <a:rPr lang="en-US" baseline="30000" dirty="0"/>
                <a:t>st</a:t>
              </a:r>
              <a:r>
                <a:rPr lang="en-US" dirty="0"/>
                <a:t> law)</a:t>
              </a: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74685" y="5445597"/>
              <a:ext cx="3246199" cy="276619"/>
            </a:xfrm>
            <a:prstGeom prst="rect">
              <a:avLst/>
            </a:prstGeom>
          </p:spPr>
        </p:pic>
      </p:grpSp>
      <p:pic>
        <p:nvPicPr>
          <p:cNvPr id="22" name="Picture 2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5080" y="6062316"/>
            <a:ext cx="1066935" cy="641828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96818" y="6415759"/>
            <a:ext cx="1641230" cy="32824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14637" y="5166953"/>
            <a:ext cx="2277631" cy="299935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76DE3F-098C-4706-84EE-BF7F39E22DD6}"/>
              </a:ext>
            </a:extLst>
          </p:cNvPr>
          <p:cNvSpPr txBox="1"/>
          <p:nvPr/>
        </p:nvSpPr>
        <p:spPr>
          <a:xfrm>
            <a:off x="3199892" y="5935991"/>
            <a:ext cx="1296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Y" dirty="0"/>
              <a:t>(Extensive)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60B3418C-E766-4F95-AA6E-6679EE55483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1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2699" y="2331720"/>
            <a:ext cx="8197702" cy="1371600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4EC3F0C4-CECF-4203-B788-E4AB73EC8764}"/>
              </a:ext>
            </a:extLst>
          </p:cNvPr>
          <p:cNvGrpSpPr/>
          <p:nvPr/>
        </p:nvGrpSpPr>
        <p:grpSpPr>
          <a:xfrm>
            <a:off x="4183874" y="3826533"/>
            <a:ext cx="6961916" cy="1226074"/>
            <a:chOff x="4183874" y="3826533"/>
            <a:chExt cx="6961916" cy="1226074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27497" y="4133088"/>
              <a:ext cx="4800600" cy="57607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183874" y="3826533"/>
              <a:ext cx="2002444" cy="34417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6644750" y="4683275"/>
              <a:ext cx="45010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Connect to </a:t>
              </a:r>
              <a:r>
                <a:rPr lang="en-US">
                  <a:solidFill>
                    <a:srgbClr val="FF0000"/>
                  </a:solidFill>
                </a:rPr>
                <a:t>the thermodynamics </a:t>
              </a:r>
              <a:r>
                <a:rPr lang="en-US" dirty="0">
                  <a:solidFill>
                    <a:srgbClr val="FF0000"/>
                  </a:solidFill>
                </a:rPr>
                <a:t>quantities.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70B833C-6275-4305-AA22-721CBBADCAC8}"/>
              </a:ext>
            </a:extLst>
          </p:cNvPr>
          <p:cNvGrpSpPr/>
          <p:nvPr/>
        </p:nvGrpSpPr>
        <p:grpSpPr>
          <a:xfrm>
            <a:off x="4753989" y="5075467"/>
            <a:ext cx="6518291" cy="1383742"/>
            <a:chOff x="4753989" y="5075467"/>
            <a:chExt cx="6518291" cy="1383742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753989" y="5075467"/>
              <a:ext cx="677802" cy="433793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500370" y="5138928"/>
              <a:ext cx="2449889" cy="370332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753989" y="5689115"/>
              <a:ext cx="6518291" cy="770094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DDBA8BFF-11A2-4BAC-A0DC-A26ED3214C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64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794" y="3328185"/>
            <a:ext cx="3688080" cy="27101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44750" y="4683275"/>
            <a:ext cx="450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Connect to </a:t>
            </a:r>
            <a:r>
              <a:rPr lang="en-US">
                <a:solidFill>
                  <a:srgbClr val="FF0000"/>
                </a:solidFill>
              </a:rPr>
              <a:t>the thermodynamics </a:t>
            </a:r>
            <a:r>
              <a:rPr lang="en-US" dirty="0">
                <a:solidFill>
                  <a:srgbClr val="FF0000"/>
                </a:solidFill>
              </a:rPr>
              <a:t>quantities.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89" y="5075467"/>
            <a:ext cx="677802" cy="43379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0370" y="5138928"/>
            <a:ext cx="2449889" cy="37033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3989" y="5689115"/>
            <a:ext cx="6518291" cy="7700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2549" y="1846553"/>
            <a:ext cx="7010846" cy="29519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225D04-1FE6-455B-8BF5-26F07C9BF5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3052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Grand canonical ensemble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B960F14-1630-419A-B5E4-75EC333CF4D1}"/>
              </a:ext>
            </a:extLst>
          </p:cNvPr>
          <p:cNvGrpSpPr/>
          <p:nvPr/>
        </p:nvGrpSpPr>
        <p:grpSpPr>
          <a:xfrm>
            <a:off x="5769864" y="1945660"/>
            <a:ext cx="6518291" cy="1670121"/>
            <a:chOff x="5769864" y="1945660"/>
            <a:chExt cx="6518291" cy="1670121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016317" y="2252215"/>
              <a:ext cx="4800600" cy="576072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72694" y="1945660"/>
              <a:ext cx="2002444" cy="344170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69864" y="2845687"/>
              <a:ext cx="6518291" cy="770094"/>
            </a:xfrm>
            <a:prstGeom prst="rect">
              <a:avLst/>
            </a:prstGeom>
          </p:spPr>
        </p:pic>
      </p:grpSp>
      <p:sp>
        <p:nvSpPr>
          <p:cNvPr id="12" name="Rectangle 11"/>
          <p:cNvSpPr/>
          <p:nvPr/>
        </p:nvSpPr>
        <p:spPr>
          <a:xfrm>
            <a:off x="296444" y="2170919"/>
            <a:ext cx="1124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Idea gas: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1372" y="3159541"/>
            <a:ext cx="5204221" cy="221209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7479" y="3856990"/>
            <a:ext cx="725263" cy="689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7804" y="3678594"/>
            <a:ext cx="2792262" cy="1051631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33130" y="4800477"/>
            <a:ext cx="3154893" cy="108789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6609" y="5922101"/>
            <a:ext cx="4234651" cy="792093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B9D80E92-DC98-48B5-AB83-A6BC96F908D2}"/>
              </a:ext>
            </a:extLst>
          </p:cNvPr>
          <p:cNvGrpSpPr/>
          <p:nvPr/>
        </p:nvGrpSpPr>
        <p:grpSpPr>
          <a:xfrm>
            <a:off x="9453152" y="4146253"/>
            <a:ext cx="1947204" cy="980281"/>
            <a:chOff x="9453152" y="4146253"/>
            <a:chExt cx="1947204" cy="980281"/>
          </a:xfrm>
        </p:grpSpPr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478410" y="4582587"/>
              <a:ext cx="1921946" cy="543947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>
            <a:xfrm>
              <a:off x="9453152" y="4146253"/>
              <a:ext cx="87876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b="1" dirty="0"/>
                <a:t>Again:</a:t>
              </a:r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88E71D7-3B8A-4E2F-B8B0-2D4AC7A1123D}"/>
              </a:ext>
            </a:extLst>
          </p:cNvPr>
          <p:cNvSpPr/>
          <p:nvPr/>
        </p:nvSpPr>
        <p:spPr>
          <a:xfrm>
            <a:off x="189190" y="2716991"/>
            <a:ext cx="28439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1. Grand partition function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694A91-C0A4-41BF-AE7D-EA1E96591EEF}"/>
              </a:ext>
            </a:extLst>
          </p:cNvPr>
          <p:cNvGrpSpPr/>
          <p:nvPr/>
        </p:nvGrpSpPr>
        <p:grpSpPr>
          <a:xfrm>
            <a:off x="374762" y="5369024"/>
            <a:ext cx="3767981" cy="949123"/>
            <a:chOff x="374762" y="5369024"/>
            <a:chExt cx="3767981" cy="949123"/>
          </a:xfrm>
        </p:grpSpPr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4762" y="5681664"/>
              <a:ext cx="3767981" cy="636483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29C14F7-379E-4847-8CD0-29871B03766E}"/>
                </a:ext>
              </a:extLst>
            </p:cNvPr>
            <p:cNvSpPr/>
            <p:nvPr/>
          </p:nvSpPr>
          <p:spPr>
            <a:xfrm>
              <a:off x="374762" y="5369024"/>
              <a:ext cx="176247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/>
                <a:t>Grand potential</a:t>
              </a:r>
            </a:p>
          </p:txBody>
        </p:sp>
      </p:grpSp>
      <p:pic>
        <p:nvPicPr>
          <p:cNvPr id="21" name="Picture 2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2334" y="6478203"/>
            <a:ext cx="2277631" cy="299935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F6EEA07-D725-4DAA-ACF7-EC5F6A0AFDC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306833" y="-34781"/>
            <a:ext cx="3959441" cy="819728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B553C9F-27FD-42C1-83D9-8E573B9C93FC}"/>
              </a:ext>
            </a:extLst>
          </p:cNvPr>
          <p:cNvSpPr/>
          <p:nvPr/>
        </p:nvSpPr>
        <p:spPr>
          <a:xfrm>
            <a:off x="3083912" y="3856990"/>
            <a:ext cx="2109307" cy="7834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0533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9050F98-A515-4F99-9412-984EEAF8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307162A-3085-45BF-BFCF-B1C5DAB4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1/2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C44B2F9-CA2A-4613-B97F-B2517EA8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页｜Canonical and grand canonical ensembles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E1D9954-DED2-4BF1-B3F0-F69AEB7D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本讲继续正则系综，并系统引入广义正则系综与巨正则系综。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CB4C460-29C4-4C3F-8B6F-FA70E723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549887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28BFE04-58FB-4102-A7B7-A0B59EC0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467E6F4-3331-48B2-963E-B7668551F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 · 中文翻译与导读 2/2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4D5BE4A-EA40-4B2D-A457-8C297CA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11D8B52-3AC5-48FA-AB1C-2C02EBD0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主线是两次 Legendre 变换：先从固定广义位移 x 改为固定广义力 J；再允许粒子与粒子库交换，把固定 N 改为固定化学势 μ。每改变一个控制条件，概率权重和热力学势都会相应改变。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7B8F013-CD7B-4D3E-92BD-4C5248EA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14017378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1758E4F-BE6E-473B-B911-9D8F165B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604000A-5DBC-4A2C-B210-059F9A5C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64FE68B-C123-4B71-9D81-84B28FFF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页｜Generalized canonical ensemble at fixed general…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52076B6-8369-4F71-9C3A-E4458C1C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在固定温度 T、粒子数 N 和广义力 J 时，微观态与位移 x 的概率为 p(μS,x)=exp[−βH(μS)+βJ·x]/𝒵(T,N,J)。广义配分函数 𝒵(N,T,J)=Σ_{μS,x}e^(βJ·x−βH(μS))。平均位移 ⟨x⟩=kBT∂ln𝒵/∂J；相应热力学势 G(N,T,J)=−kBTln𝒵=E−TS−x·J。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339CE14-D06A-4E5F-93D7-557863B5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4641224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53CF3D8-D1C5-4783-BB6E-9706CAE69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C620A02-178F-45F4-9192-4C1F8C8E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66550A6-C684-4A65-92A2-4C4F3177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6BD8E6A0-1328-48B9-B0E9-2D3EA119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p(μS,x)=exp[−βH(μS)+βJ·x]/𝒵(T,N,J)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广义正则概率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𝒵(N,T,J)=Σ_{μS,x} e^(βJ·x−βH(μS))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⟨x⟩=kBT ∂ln𝒵/∂J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平均位移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G(N,T,J)=−kBT ln𝒵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热力学势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G=E−TS−x·J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Legendre 变换形式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0913114-ADF8-43A6-A035-25BED205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7963958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129F9D8-D215-40B9-9D6D-FA1A544F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8E178BB-3C81-431D-BA03-EAA27F6E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F67B71E-9EEF-47B5-B558-7D7FB440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2183A1C-3FBF-4392-A264-2E0BBC08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外界广义力做功会使权重中出现 +βJ·x。对 J 求导就把 x 从指数中带下来，因此配分函数生成平均位移。G 的自然变量是 T、N、J。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022ACED-4BF7-44CE-8584-A92D0CF5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4672504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FBF1F3F-4A17-42EA-9F72-B6F698FF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4334A63-FB7C-4FF7-89AA-F3B7A492E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D460195-28DE-4028-B998-56F5C2C98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页｜Isothermal–isobaric ensemble for an ideal gas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23D4603-990E-4C05-8C7B-E676CB96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以压强 P 为固定广义力、体积 V 为涨落位移。理想气体概率含 exp[−βΣp_i²/(2m)−βPV]，且位置必须在体积 V 的盒内。广义配分函数 𝒵=∫₀∞dV e^(−βPV)∫(1/N!)∏d³qi d³pi/h³ exp[−βΣp_i²/2m]=∫₀∞dV V^N e^(−βPV)/(N!λ^(3N))=1/[(βP)^(N+1)λ^(3N)]。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ABB01BF-8FED-46B0-A51D-14D32277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210826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D820736-9D4A-4A6F-9D21-72D2E660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2769B66-CCCA-41D7-8AF8-1BBB5935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6319D47-82B6-419B-B2E9-E1D320FB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9F698952-0B1A-4BBD-B231-06DD8E269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p({pi,qi},V)=1/𝒵 exp[−βΣp_i²/2m−βPV] × indicator(positions inside box)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恒温恒压概率；最后一因子表示硬壁约束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𝒵=∫₀∞dV e^(−βPV) ∫(1/N!)∏d³qi d³pi/h³ exp[−βΣp_i²/2m]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体积和相空间积分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𝒵=∫₀∞dV V^N e^(−βPV)/(N!λ^(3N))=1/[(βP)^(N+1)λ^(3N)]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理想气体积分结果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λ=h/√(2πmkBT)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热德布罗意波长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786FB356-6B36-4C6C-BF68-0DCB9272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13489282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64F30E10-8BC3-40B5-B13F-B02B1055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2BF7459-A26B-4148-88BC-C0324454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2A6E3267-A385-441B-A734-A0C27B36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84D95D2-D943-4148-A0D1-56D0BB71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这是恒温恒压系综：体积不再固定，而被积分掉；压力项抑制大体积，位置态数 V^N 则偏爱大体积，两者竞争产生平均状态方程。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4B7C501-983C-490F-A587-C4C7EA6A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1016196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BCCF767-AC0F-4158-B8EC-B5CF0D44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666F38B-561A-437B-AE30-BD5F2ECC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549C493-CDE9-4512-8B16-2EAD480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页｜Gibbs free energy and the ideal-gas equation of…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F26BE36-882D-493E-AE94-BF59E774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课件给出恒温恒压理想气体的 G，并回顾 G=E−TS−J·x、dG=−SdT+VdP+μdN。由 V=(∂G/∂P)T,N=NkBT/P，得到 PV=NkBT。广义公式 ⟨x⟩=kBT∂ln𝒵/∂J 在 J=−P、x=V 的符号约定下复现同一结果。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3C2948A-43BE-482B-BB46-530AA904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32111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7B9FE7B-0991-4F16-ADB8-26464333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84441B7-2AA6-41A1-BEC2-A57DD5E3A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69C6F71-A7AE-4BB5-9DFF-3B71D767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102E86C-A766-488F-AD2D-541523AB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G=E−TS−J·x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dG=−SdT+VdP+μdN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流体 Gibbs 自由能微分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V=(∂G/∂P)T,N=NkBT/P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由 G 得体积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PV=NkBT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理想气体状态方程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⟨x⟩=kBT∂ln𝒵/∂J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广义响应公式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3838C9D5-C4BD-420A-8340-2F1DCF8F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0073332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BB6BC26-B2DC-4495-814A-09F458AA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33D7138-301E-4EFD-A3BA-7DC2B87A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4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CC389A8-A63F-4B2D-A2B7-883584A0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4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FE5700D-C8E6-47A5-9A27-7E58D7F2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 的自然变量是 T、P、N，因此对 P 求偏导直接得到 V。记号中功项采用 J·x，而流体常取 J=−P；只有先确认这个映射，才不会把体积导数符号写反。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2F95108-1193-4006-B1BF-905B9AC3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4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08964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3851AA3A-1509-4541-B7BA-2DC54D5B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C461D723-B4FB-4996-B01E-B8FD3023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0CA7CDE-A8E9-46B1-BB79-BDF603BCD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页｜Enthalpy and heat capacity at constant pressure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192D8BA-4DAF-4C61-9C5C-C9A1E5A0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恒温恒压系综中，−∂ln𝒵/∂β=⟨H−x·J⟩≡H，这里右侧 H 表示总焓。对理想气体 H=−∂ln𝒵/∂β=5NkBT/2，因此 CP=dH/dT=5NkB/2。原页底部另列正则系综平均能量的 β 导数关系，但可见符号似乎缺少常见的负号。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80CE6CA-76BE-455D-A9FA-430E412E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9488555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85D84BF-E6DB-47E9-95F3-3CACF8DD3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4151680D-A1A6-49BD-A78C-4BE1B4DA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E6503785-C9C2-42E6-90DB-C89A1D71F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A9F98F0E-9C4B-473A-B4F0-B911DABC3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−∂ln𝒵/∂β=⟨H−x·J⟩≡H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广义系综中课件定义的焓型平均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H=−∂ln𝒵/∂β=5NkBT/2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单原子理想气体焓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CP=dH/dT=5NkB/2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定压热容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E72C32A-85AF-4FC3-93EA-9C6C947A5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3872203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5285622B-E6F4-4DB8-860B-04C462B8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D8567B8E-1D76-4C24-8C4E-AF30298E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5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5B9554F-0D9E-44D0-803D-7A42A41E7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5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EBD0ED7-2A73-488E-83DC-2D9A9B67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单原子理想气体内能 E=3NkBT/2，恒压加热还要做 PV=NkBT 的膨胀功，所以焓 H=E+PV=5NkBT/2，进而 CP=CV+NkB。注意同一页 H 同时可能表示 Hamiltonian 与 enthalpy，必须看语境。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FED9525-9984-497E-B908-DFC2A79F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5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627634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2541EAE-AE2D-439D-AD01-013012AD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B155B86-7D6A-40EA-A503-69966B2A3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EB67B7F-24D2-4853-922F-5C5E1D3A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页｜Paramagnet in an external magnetic field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1392AFB-3916-4E8E-A830-FD5BBD4D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对 N 个独立自旋 σi=±1，磁矩 M=μ0Σiσi，外磁场 B 的广义配分函数为 𝒵=tr exp(−βH+βB·M⃗)。课件取内部 H=C，于是 p({σi})=𝒵⁻¹exp[βBμ0Σiσi]，𝒵=[2cosh(βμ0B)]^N，G=−NkBTln[2cosh(βμ0B)]。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437E4116-7EB3-4CA5-BFCB-D70939C6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15602123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F16CAB61-D577-46E6-8B7A-8AF70ACB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CC30DE6-267A-40F0-B04D-133FD55F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5068387-7B3E-42AD-8891-1350CD81B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1BD3D50-E0DC-4025-99A7-378D8AE5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𝒵=tr exp(−βH+βB·M⃗)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磁场下的广义配分函数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M=μ0Σiσi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总磁矩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p({σi})=1/𝒵 exp[βBμ0Σiσi]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自旋配置概率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𝒵=[2cosh(βμ0B)]^N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独立自旋配分函数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G=−NkBT ln[2cosh(βμ0B)]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磁性 Gibbs 势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D158AF3-4665-440E-8F2C-30718F0F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4804586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7A3B7C8-0448-48F1-B1BD-0FFBFDC4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1FA4657-20FC-4E0D-B1ED-9B9F5132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6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F352018-7CC5-4CCC-959D-74792E4E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6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9582183-AFB1-49BB-A636-5E51DE3B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单个自旋平行场与反平行场的权重分别是 e^(βμ0B) 和 e^(−βμ0B)，相加得到 2cosh。独立 N 个自旋使单自旋配分函数取 N 次方。常数 C 只改变整体归一化基准。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07B8779-4CFF-439B-ADEB-BB8D4D1B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6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2539313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7718BF7-2394-4658-BA96-B13277FC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6FEDADB-837C-4F8B-A763-67DB45E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C0ABC9D-CF42-4F9F-B1BF-B6EA1A2A2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页｜Magnetization, susceptibility, and magnetic hea…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8F07F5E-1574-46A9-89C8-03DB07D6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由磁性 Gibbs 势求磁化：M=−∂G/∂B=Nμ0tanh(βμ0B)。零场磁化率 χ(T)=∂M/∂B|B=0=Nμ0²/(kBT)，呈 Curie 的 1/T 行为。课件还写 H=⟨H−BM⟩=−BM，以及 CB=−B∂M/∂T。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700F5C4-DAB9-4FBF-9C4D-07745DC2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82001075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FF1AB6A-C277-4A74-A110-290E8A2B8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6331309-B7D3-440C-96BF-52949335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51767BE3-F860-466E-A75F-DF9543BC4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63744C4-7EA9-4762-B22D-9AEBFE95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M=−∂G/∂B=Nμ0 tanh(βμ0B)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磁化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χ(T)=∂M/∂B|B=0=Nμ0²/(kBT)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零场磁化率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H=⟨H−BM⟩=−BM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按原页记号的磁焓关系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CB=−B ∂M/∂T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固定磁场热容关系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3D11AC4-4B55-4CDC-BAA7-D9D41119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757242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0B9B25D-CF97-4FF9-8307-FA4F852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0E68E9B1-62F6-4F2C-BD81-B6637C4B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7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3D1CEBD-3DE9-4FDF-9966-0CA7174DC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7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15F2DAC-480E-4DE5-8DD8-A884AA90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弱场时 tanh x≈x，因此 M≈Nμ0²B/(kBT)，温度越高，热扰动越难让自旋沿场排列。CB 的表达说明固定磁场下，磁化随温度变化也会贡献能量响应。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8C92B7BF-99F5-46F5-8C56-9611060FD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7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6660575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9223794-AFD7-4DEB-B00B-FF7F8EA1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3A15B79-D980-474D-A69F-73C78EFD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B0F8AE9-7697-44E7-866B-07CEE621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页｜Grand canonical ensemble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4C0B7970-F690-4B22-9818-A326765C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巨正则系综允许系统与粒子库交换粒子。微观态 μS 的权重为 p(μS)=exp[βμN(μS)−βH(μS)]/𝒬。巨配分函数 𝒬=Σ_{N=0}^∞e^(βμN)Σ_{μS|N}e^(−βH_N)。粒子数分布为 p(N)=e^(βμN)Z(T,N,x)/𝒬(T,μ,x)。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5A2F1E7-B909-4F7C-9A1E-D08CAFDFB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96877503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F37CA18-F985-462D-8AA2-7AE1C253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2EB2FE6A-D0C3-49ED-8DA1-6080E4AC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B5C6F5B1-FBE3-4B63-9D15-455217ECA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F44B56E-7313-4CA6-AE3B-CF5681CF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p(μS)=exp[βμN(μS)−βH(μS)]/𝒬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巨正则微观态概率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𝒬=Σ_{N=0}^∞ e^(βμN) Σ_(μS|N)e^(−βH_N)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巨配分函数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p(N)=e^(βμN)Z(T,N,x)/𝒬(T,μ,x)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粒子数分布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E68C96FC-F384-4D0F-9847-30A61E36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200157584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D1D5DDF6-A83F-488B-95F7-83E25F33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EEF53330-368D-4FC8-84FF-AC57515E3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8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4C916A08-E635-4704-9EA6-F8DEE7A48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8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A3EF19F-E097-4493-A599-2D8EE2B7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在每个固定 N 扇区内先做普通正则求和 Z_N，再以逸度因子 e^(βμN) 对所有 N 求和。μ 越大，高粒子数扇区权重越大；系统实际平均粒子数由 μ 决定。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29E4BF6-515A-48A2-898B-5507C752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8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3747673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8F40757-A065-41C0-8AB6-ACBFAAB1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DF3B93A-FFB2-4284-A774-820F2C5F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39E72367-AA32-46D5-A16A-59F37923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页｜Particle-number fluctuations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C952C3A8-CF57-4E54-A968-B243AB396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从 𝒬=ΣμS e^(βμN−βH) 可得平均粒子数 ⟨N⟩=(1/𝒬)∂𝒬/∂(βμ)=∂ln𝒬/∂(βμ)。二阶导数满足 ∂²ln𝒬/∂(βμ)²=∂⟨N⟩/∂(βμ)∝N，并给出相对涨落 √(⟨N²⟩c/⟨N⟩²)∼1/√N，因此最概然粒子数 N*≈⟨N⟩。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F8631ADB-18C6-4A1F-9322-6FF75EE2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1633210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2AC0609-6832-4821-B34A-D0BBDFC1F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9809B9A-B7DA-4EDC-9CD3-6A12FF11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87F8B1C-12CC-4570-8372-E6C879A8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B369B3A6-08BB-4E23-91C5-CE23C315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𝒬=ΣμS e^(βμN−βH)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巨配分函数微观态形式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⟨N⟩=(1/𝒬)∂𝒬/∂(βμ)=∂ln𝒬/∂(βμ)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平均粒子数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∂²ln𝒬/∂(βμ)²=∂⟨N⟩/∂(βμ)∝N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二阶导数与涨落的尺度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√(⟨N²⟩c/⟨N⟩²)∼1/√N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相对粒子数涨落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N*≈⟨N⟩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宏观极限最概然值与平均值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425357C-39B7-4385-8CF0-9A9D327F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3003625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83DC426A-0368-4161-85E7-B3F31E0C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54F0CCB-DD37-4E02-95AF-00E3A1AA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9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407E762-7D23-4594-B419-5F5AD7FA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9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3C2B84C-4ADA-4C85-BA49-62AB6F7A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这与正则系综的能量涨落完全平行：一阶导数给均值，二阶导数给方差，宏观相对涨落按 1/√N 消失。小系统中粒子数涨落则可能不可忽略。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1EB17AA-ECF0-43E0-AF81-2F48E115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9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28530199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7812DAB-F9F7-4D58-BEDE-A0D751FA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BBE00E0-75B0-419C-930C-603E0630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F5E6BAB9-5EF0-411A-940D-E5E2A688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页｜Grand potential and thermodynamic relations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28AA1128-114E-4497-B39B-6F2181EF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课件用最大项说明 𝒬(T,μ,x)=lim_{N→∞}Σ_{N=0}^∞e^(βμN)Z(T,N,x)≈e^(βμN*)Z(T,N*,x)=e^(βμN*−βF)=e^(−β𝒢)。于是巨势 𝒢=E−TS−μN=−kBTln𝒬。又由 Gibbs 自由能 G=E−TS+PV=μN，得到 kBTln𝒬=PV。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21225C23-B37C-42D6-A46A-CB2FDC78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9828119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77F0755-E52A-4960-A600-06788E3D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6C2C770-DCDE-4819-B21D-C8C90E7D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6195E388-7D59-406A-8E35-65D4AD0C2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36A95E27-D34D-4CBC-AD40-5B47B461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𝒬(T,μ,x)=lim_{N→∞}Σ_{N=0}^∞ e^(βμN)Z(T,N,x)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巨配分函数作为 N 扇区求和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𝒬≈e^(βμN*)Z(T,N*,x)=e^(βμN*−βF)=e^(−β𝒢)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最大项近似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𝒢=E−TS−μN=−kBT ln𝒬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巨势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G=E−TS+PV=μN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均匀单组分系统的 Gibbs 关系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dG=μdN−SdT+VdP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 的微分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G=Nφ(P,T); φ=μ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广延性给每粒子 Gibbs 势等于 μ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kBT ln𝒬=PV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巨配分函数与压强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A147EB2-56CA-466E-9E3A-86AF4AD3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250880503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DD01758-0961-4126-8008-E3F3A937F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6319EC4B-F277-4479-8CD2-F6B79D76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10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7CD1AB6-F3C9-47BF-A10E-6287852B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10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ACC02F2-2A26-47D5-829E-436BFEC9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巨势常记 Ω，但本课件为避免与态数 Ω 混淆使用 𝒢。对均匀流体，𝒢=−PV；这使巨配分函数的对数直接给压强。最大项 N* 表示宏观粒子数分布极尖。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6C731721-22A5-4BC4-89A6-171B95EA0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10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93692391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A7BF75DF-0109-45B9-BD9E-E8D7BCC3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A514A07C-1B20-49D1-AB35-6316234F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D4B62D4A-680E-4364-8427-752CC71FD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页｜Differential of the grand potential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D3CC4D2-350F-4701-9D35-52FE0DBB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巨势的微分为 d𝒢=−SdT−Ndμ+J·dx。因此 −S=(∂𝒢/∂T)μ,x，N=−(∂𝒢/∂μ)T,x，Ji=(∂𝒢/∂xi)T,μ。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5565C993-C7A8-4267-A1B5-587DF39C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302130395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0D319346-0354-458C-8AD1-A33B238C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563922C2-F183-4AEF-9798-F403152D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A788A324-2724-4407-8CE9-DA64A5EA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3542EDF-639E-4B0B-9118-A2A7FECA2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d𝒢=−SdT−Ndμ+J·dx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巨势全微分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−S=(∂𝒢/∂T)μ,x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熵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N=−(∂𝒢/∂μ)T,x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粒子数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Ji=(∂𝒢/∂xi)T,μ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广义力分量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BEC01121-EE5E-4C3F-82D1-738C507E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526680944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E38D8862-0F78-4D0E-B028-58D99779D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34137497-61AA-4635-ABD6-F45FAB46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11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80A76CC8-7DE9-4008-A060-0F367EAF3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11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8C32B47-8F20-4BC2-9FA8-06680AB64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这三条不是独立死记公式，而是从全微分逐项读系数。先写自然变量 𝒢(T,μ,x)，再看 dT、dμ、dx 前的系数，就能同时记住符号与固定变量。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8947D8F-C193-40FF-9493-663D4416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11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032581729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2CD3E353-53D7-4D62-A64E-812D19BE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79A82E0D-04CA-4810-882D-6D5E6DB3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90C9636B-C792-4A74-BC9E-02636698E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页｜Examples of generalized forces and displacemen…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0B3A0B51-7A1D-4FB3-866E-6BF9B8A8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广义力—位移配对示例：细线的张力 F 与长度 L；薄膜的表面张力 S 与面积 A；流体的 −P 与体积 V；磁体的磁场 H 与磁化 M；介电体的电场 E 与极化 P；化学反应的化学势 μ 与粒子数 N。它们都可代入 d𝒢=−SdT−Ndμ+J·dx，并由偏导得到响应。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338609A-00AC-49A0-B833-572C636E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418447596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4F09B95F-04C9-48F3-9702-502B6CFD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107A9E7-057F-498A-85F3-A571EB52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7B6A45DF-2E9B-43EB-AD6B-873DA31CB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1B4D335F-F4E8-4D67-B53F-087F6828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d𝒢=−SdT−Ndμ+J·dx</a:t>
            </a:r>
          </a:p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各例共用的广义微分结构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01DCCA77-619A-43F0-8534-271F6F62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817359539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738E6E58-42CD-461B-9163-962DB314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97585BFA-3E90-482E-AEFD-1D3E2D09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12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C60252A6-4DB7-4BAB-A04B-316BAABA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12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E7FA5EDF-2294-4E8C-B16B-1F6C6DB7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同一个字母在不同物理中可能重名，例如 S 既可能是熵也可能被表中用作表面张力，P 既可能是压强也可能是极化。读表必须同时看“系统类型”和单位，不能只看字母。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9710905E-771C-4F5F-B8CF-4FD013048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12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32420002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B71E1C1C-BEB8-42BB-AFEA-B8FB7D59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F2094550-5BF5-462D-B082-F59D43EF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1/3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65CC421-45DA-45FD-931A-ED3774E1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25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页｜Grand canonical ensemble of a classical ideal…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F9FA87AE-45D4-4111-9735-07998B4B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经典理想气体的巨配分函数为 𝒬=Σ_{N=0}^∞ e^(βμN)/N! ∫(∏d³qi d³pi/h³)exp[−βΣp_i²/2m]=Σ_N e^(βμN)/N!(V/λ³)^N=exp[e^(βμ)V/λ³]，λ=h/√(2πmkBT)。因此 𝒢=−kBTln𝒬=−kBT e^(βμ)V/λ³。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3DE4F62-C16D-4871-9B57-66D3C08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178534256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1EAA353D-FC4A-47F7-982B-5541C795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BEBE13A5-F8ED-4306-9E24-309A6CBA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2/3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0DEDAF80-01A2-4697-9769-5A85C737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页｜公式与符号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5EC66FD4-A163-49DE-94C2-CAA4CDDF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𝒬=Σ_{N=0}^∞ e^(βμN)/N! ∫(∏d³qi d³pi/h³) exp[−βΣp_i²/2m]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理想气体巨配分函数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𝒬=Σ_N e^(βμN)/N!(V/λ³)^N=exp[e^(βμ)V/λ³]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完成相空间积分与 N 求和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λ=h/√(2πmkBT)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热德布罗意波长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𝒢=−kBT ln𝒬=−kBT e^(βμ)V/λ³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巨势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kBT ln𝒬=PV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压强关系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P=kBT e^(βμ)/λ³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压强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N=e^(βμ)V/λ³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平均粒子数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P=kBTN/V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理想气体状态方程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μ=kBT ln(λ³N/V)=kBT ln(Pλ³/kBT)</a:t>
            </a:r>
          </a:p>
          <a:p xmlns:a="http://schemas.openxmlformats.org/drawingml/2006/main">
            <a:pPr>
              <a:def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57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经典理想气体化学势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D8B4E401-F79F-47F6-A48F-7EB8DF19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590387883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ranslation-accent">
            <a:extLst xmlns:a="http://schemas.openxmlformats.org/drawingml/2006/main">
              <a:ext uri="{FF2B5EF4-FFF2-40B4-BE49-F238E27FC236}">
                <a16:creationId xmlns:a16="http://schemas.microsoft.com/office/drawing/2014/main" id="{C59CEDC2-84F0-4828-BB9A-8656267C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" name="translation-page-label">
            <a:extLst xmlns:a="http://schemas.openxmlformats.org/drawingml/2006/main">
              <a:ext uri="{FF2B5EF4-FFF2-40B4-BE49-F238E27FC236}">
                <a16:creationId xmlns:a16="http://schemas.microsoft.com/office/drawing/2014/main" id="{1E7B8B36-98E4-4F32-B766-AF2CF65F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defRPr>
            </a:pPr>
            <a:r>
              <a:rPr sz="1200" b="1">
                <a:solidFill>
                  <a:srgbClr val="2563EB"/>
                </a:solidFill>
                <a:latin typeface="Arial"/>
                <a:ea typeface="Hiragino Sans GB"/>
                <a:cs typeface="Arial"/>
              </a:rPr>
              <a:t>原始页 13 · 中文翻译与导读 3/3</a:t>
            </a:r>
          </a:p>
        </p:txBody>
      </p:sp>
      <p:sp>
        <p:nvSpPr>
          <p:cNvPr id="3" name="translation-title">
            <a:extLst xmlns:a="http://schemas.openxmlformats.org/drawingml/2006/main">
              <a:ext uri="{FF2B5EF4-FFF2-40B4-BE49-F238E27FC236}">
                <a16:creationId xmlns:a16="http://schemas.microsoft.com/office/drawing/2014/main" id="{1AE51B4D-1123-4CCD-94BA-659E1281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defRPr>
            </a:pPr>
            <a:r>
              <a:rPr sz="2700" b="1">
                <a:solidFill>
                  <a:srgbClr val="0F172A"/>
                </a:solidFill>
                <a:latin typeface="Arial"/>
                <a:ea typeface="Hiragino Sans GB"/>
                <a:cs typeface="Arial"/>
              </a:rPr>
              <a:t>原第 13 页｜怎么理解</a:t>
            </a:r>
          </a:p>
        </p:txBody>
      </p:sp>
      <p:sp>
        <p:nvSpPr>
          <p:cNvPr id="4" name="translation-body">
            <a:extLst xmlns:a="http://schemas.openxmlformats.org/drawingml/2006/main">
              <a:ext uri="{FF2B5EF4-FFF2-40B4-BE49-F238E27FC236}">
                <a16:creationId xmlns:a16="http://schemas.microsoft.com/office/drawing/2014/main" id="{DAF266BE-7EDF-4818-9B2C-2613CC17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0820400" cy="430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defRPr>
            </a:pPr>
            <a:r>
              <a:rPr sz="1725" b="0">
                <a:solidFill>
                  <a:srgbClr val="334155"/>
                </a:solidFill>
                <a:latin typeface="Arial"/>
                <a:ea typeface="Hiragino Sans GB"/>
                <a:cs typeface="Arial"/>
              </a:rPr>
              <a:t>利用指数函数级数 Σx^N/N!=e^x，N 求和可立即完成。再由 kBTln𝒬=PV、N=−∂𝒢/∂μ，得到 P=kBT e^(βμ)/λ³、N=e^(βμ)V/λ³、P=kBTN/V，以及 μ=kBTln(λ³N/V)=kBTln(Pλ³/kBT)。</a:t>
            </a:r>
          </a:p>
        </p:txBody>
      </p:sp>
      <p:sp>
        <p:nvSpPr>
          <p:cNvPr id="5" name="translation-footer">
            <a:extLst xmlns:a="http://schemas.openxmlformats.org/drawingml/2006/main">
              <a:ext uri="{FF2B5EF4-FFF2-40B4-BE49-F238E27FC236}">
                <a16:creationId xmlns:a16="http://schemas.microsoft.com/office/drawing/2014/main" id="{19EB7EF8-BA34-413E-A429-007F5F88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914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defPPr>
          </a:lstStyle>
          <a:p xmlns:a="http://schemas.openxmlformats.org/drawingml/2006/main">
            <a:pPr>
              <a:def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defRPr>
            </a:pPr>
            <a:r>
              <a:rPr sz="975" b="0">
                <a:solidFill>
                  <a:srgbClr val="64748B"/>
                </a:solidFill>
                <a:latin typeface="Arial"/>
                <a:ea typeface="Hiragino Sans GB"/>
                <a:cs typeface="Arial"/>
              </a:rPr>
              <a:t>阅读顺序：先完整观看原始页 13 的动画，再阅读本页。</a:t>
            </a:r>
          </a:p>
        </p:txBody>
      </p:sp>
    </p:spTree>
    <p:extLst>
      <p:ext uri="{BB962C8B-B14F-4D97-AF65-F5344CB8AC3E}">
        <p14:creationId xmlns:p14="http://schemas.microsoft.com/office/powerpoint/2010/main" val="166059042"/>
      </p:ext>
    </p:extLst>
  </p:cSld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Custom 1">
      <a:majorFont>
        <a:latin typeface="Cambria"/>
        <a:ea typeface=""/>
        <a:cs typeface=""/>
      </a:majorFont>
      <a:minorFont>
        <a:latin typeface="Constantia"/>
        <a:ea typeface=""/>
        <a:cs typeface="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50132</TotalTime>
  <Words>219</Words>
  <Application>Microsoft Office PowerPoint</Application>
  <PresentationFormat>Widescreen</PresentationFormat>
  <Paragraphs>60</Paragraphs>
  <Slides>51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Cambria</vt:lpstr>
      <vt:lpstr>Constantia</vt:lpstr>
      <vt:lpstr>Tw Cen MT</vt:lpstr>
      <vt:lpstr>Wingdings 3</vt:lpstr>
      <vt:lpstr>Integral</vt:lpstr>
      <vt:lpstr>Statistical physics phy301</vt:lpstr>
      <vt:lpstr>Gibbs canonical ensemble</vt:lpstr>
      <vt:lpstr>Gibbs canonical ensemble</vt:lpstr>
      <vt:lpstr>Gibbs canonical ensemble</vt:lpstr>
      <vt:lpstr>Gibbs canonical ensemble</vt:lpstr>
      <vt:lpstr>Gibbs canonical ensemble</vt:lpstr>
      <vt:lpstr>Gibbs canonical ensemble</vt:lpstr>
      <vt:lpstr>Grand canonical ensemble</vt:lpstr>
      <vt:lpstr>Grand canonical ensemble</vt:lpstr>
      <vt:lpstr>Grand canonical ensemble</vt:lpstr>
      <vt:lpstr>Grand canonical ensemble</vt:lpstr>
      <vt:lpstr>Grand canonical ensemble</vt:lpstr>
      <vt:lpstr>Grand canonical ensemble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Mechanics phy101</dc:title>
  <dc:creator>Kok Wee Song</dc:creator>
  <cp:lastModifiedBy>Song Kok Wee</cp:lastModifiedBy>
  <cp:revision>1692</cp:revision>
  <dcterms:created xsi:type="dcterms:W3CDTF">2024-08-25T23:32:26Z</dcterms:created>
  <dcterms:modified xsi:type="dcterms:W3CDTF">2025-11-27T02:35:35Z</dcterms:modified>
</cp:coreProperties>
</file>