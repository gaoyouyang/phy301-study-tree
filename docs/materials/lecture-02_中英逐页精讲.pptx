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8"/>
  </p:notesMasterIdLst>
  <p:sldIdLst>
    <p:sldId id="285" r:id="rId2"/>
    <p:sldId id="624" r:id="rId23"/>
    <p:sldId id="625" r:id="rId24"/>
    <p:sldId id="283" r:id="rId3"/>
    <p:sldId id="626" r:id="rId25"/>
    <p:sldId id="627" r:id="rId26"/>
    <p:sldId id="628" r:id="rId27"/>
    <p:sldId id="301" r:id="rId4"/>
    <p:sldId id="629" r:id="rId28"/>
    <p:sldId id="630" r:id="rId29"/>
    <p:sldId id="631" r:id="rId30"/>
    <p:sldId id="304" r:id="rId5"/>
    <p:sldId id="632" r:id="rId31"/>
    <p:sldId id="633" r:id="rId32"/>
    <p:sldId id="634" r:id="rId33"/>
    <p:sldId id="415" r:id="rId6"/>
    <p:sldId id="635" r:id="rId34"/>
    <p:sldId id="636" r:id="rId35"/>
    <p:sldId id="637" r:id="rId36"/>
    <p:sldId id="302" r:id="rId7"/>
    <p:sldId id="638" r:id="rId37"/>
    <p:sldId id="639" r:id="rId38"/>
    <p:sldId id="640" r:id="rId39"/>
    <p:sldId id="303" r:id="rId8"/>
    <p:sldId id="641" r:id="rId40"/>
    <p:sldId id="642" r:id="rId41"/>
    <p:sldId id="643" r:id="rId42"/>
    <p:sldId id="305" r:id="rId9"/>
    <p:sldId id="644" r:id="rId43"/>
    <p:sldId id="645" r:id="rId44"/>
    <p:sldId id="646" r:id="rId45"/>
    <p:sldId id="306" r:id="rId10"/>
    <p:sldId id="647" r:id="rId46"/>
    <p:sldId id="648" r:id="rId47"/>
    <p:sldId id="649" r:id="rId48"/>
    <p:sldId id="337" r:id="rId11"/>
    <p:sldId id="650" r:id="rId49"/>
    <p:sldId id="651" r:id="rId50"/>
    <p:sldId id="652" r:id="rId51"/>
    <p:sldId id="404" r:id="rId12"/>
    <p:sldId id="653" r:id="rId52"/>
    <p:sldId id="654" r:id="rId53"/>
    <p:sldId id="405" r:id="rId13"/>
    <p:sldId id="655" r:id="rId54"/>
    <p:sldId id="656" r:id="rId55"/>
    <p:sldId id="406" r:id="rId14"/>
    <p:sldId id="657" r:id="rId56"/>
    <p:sldId id="658" r:id="rId57"/>
    <p:sldId id="623" r:id="rId15"/>
    <p:sldId id="659" r:id="rId58"/>
    <p:sldId id="660" r:id="rId59"/>
    <p:sldId id="661" r:id="rId60"/>
    <p:sldId id="622" r:id="rId16"/>
    <p:sldId id="662" r:id="rId61"/>
    <p:sldId id="663" r:id="rId62"/>
    <p:sldId id="664" r:id="rId63"/>
    <p:sldId id="308" r:id="rId17"/>
    <p:sldId id="665" r:id="rId64"/>
    <p:sldId id="666" r:id="rId65"/>
    <p:sldId id="667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emf"/><Relationship Id="rId7" Type="http://schemas.openxmlformats.org/officeDocument/2006/relationships/image" Target="../media/image8.sv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10" Type="http://schemas.openxmlformats.org/officeDocument/2006/relationships/image" Target="../media/image2.png"/><Relationship Id="rId4" Type="http://schemas.openxmlformats.org/officeDocument/2006/relationships/image" Target="../media/image5.emf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12.emf"/><Relationship Id="rId21" Type="http://schemas.openxmlformats.org/officeDocument/2006/relationships/image" Target="../media/image30.emf"/><Relationship Id="rId7" Type="http://schemas.openxmlformats.org/officeDocument/2006/relationships/image" Target="../media/image16.emf"/><Relationship Id="rId12" Type="http://schemas.openxmlformats.org/officeDocument/2006/relationships/image" Target="../media/image21.emf"/><Relationship Id="rId17" Type="http://schemas.openxmlformats.org/officeDocument/2006/relationships/image" Target="../media/image26.png"/><Relationship Id="rId2" Type="http://schemas.openxmlformats.org/officeDocument/2006/relationships/image" Target="../media/image11.emf"/><Relationship Id="rId16" Type="http://schemas.openxmlformats.org/officeDocument/2006/relationships/image" Target="../media/image25.svg"/><Relationship Id="rId20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0.emf"/><Relationship Id="rId5" Type="http://schemas.openxmlformats.org/officeDocument/2006/relationships/image" Target="../media/image14.emf"/><Relationship Id="rId15" Type="http://schemas.openxmlformats.org/officeDocument/2006/relationships/image" Target="../media/image24.png"/><Relationship Id="rId10" Type="http://schemas.openxmlformats.org/officeDocument/2006/relationships/image" Target="../media/image19.emf"/><Relationship Id="rId19" Type="http://schemas.openxmlformats.org/officeDocument/2006/relationships/image" Target="../media/image28.png"/><Relationship Id="rId4" Type="http://schemas.openxmlformats.org/officeDocument/2006/relationships/image" Target="../media/image13.emf"/><Relationship Id="rId9" Type="http://schemas.openxmlformats.org/officeDocument/2006/relationships/image" Target="../media/image18.emf"/><Relationship Id="rId14" Type="http://schemas.openxmlformats.org/officeDocument/2006/relationships/image" Target="../media/image23.svg"/><Relationship Id="rId2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0.emf"/><Relationship Id="rId3" Type="http://schemas.openxmlformats.org/officeDocument/2006/relationships/image" Target="../media/image11.emf"/><Relationship Id="rId7" Type="http://schemas.openxmlformats.org/officeDocument/2006/relationships/image" Target="../media/image33.emf"/><Relationship Id="rId12" Type="http://schemas.openxmlformats.org/officeDocument/2006/relationships/image" Target="../media/image26.png"/><Relationship Id="rId17" Type="http://schemas.openxmlformats.org/officeDocument/2006/relationships/image" Target="../media/image15.emf"/><Relationship Id="rId2" Type="http://schemas.openxmlformats.org/officeDocument/2006/relationships/image" Target="../media/image13.emf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image" Target="../media/image25.svg"/><Relationship Id="rId5" Type="http://schemas.openxmlformats.org/officeDocument/2006/relationships/image" Target="../media/image31.emf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2.png"/><Relationship Id="rId4" Type="http://schemas.openxmlformats.org/officeDocument/2006/relationships/image" Target="../media/image14.emf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18" Type="http://schemas.openxmlformats.org/officeDocument/2006/relationships/image" Target="../media/image32.emf"/><Relationship Id="rId3" Type="http://schemas.openxmlformats.org/officeDocument/2006/relationships/image" Target="../media/image12.emf"/><Relationship Id="rId21" Type="http://schemas.openxmlformats.org/officeDocument/2006/relationships/image" Target="../media/image36.sv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31.emf"/><Relationship Id="rId2" Type="http://schemas.openxmlformats.org/officeDocument/2006/relationships/image" Target="../media/image11.emf"/><Relationship Id="rId16" Type="http://schemas.openxmlformats.org/officeDocument/2006/relationships/image" Target="../media/image34.jpe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6.png"/><Relationship Id="rId5" Type="http://schemas.openxmlformats.org/officeDocument/2006/relationships/image" Target="../media/image14.emf"/><Relationship Id="rId15" Type="http://schemas.openxmlformats.org/officeDocument/2006/relationships/image" Target="../media/image30.emf"/><Relationship Id="rId23" Type="http://schemas.openxmlformats.org/officeDocument/2006/relationships/image" Target="../media/image2.png"/><Relationship Id="rId10" Type="http://schemas.openxmlformats.org/officeDocument/2006/relationships/image" Target="../media/image25.svg"/><Relationship Id="rId19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image" Target="../media/image24.png"/><Relationship Id="rId14" Type="http://schemas.openxmlformats.org/officeDocument/2006/relationships/image" Target="../media/image29.svg"/><Relationship Id="rId22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image" Target="../media/image38.emf"/><Relationship Id="rId7" Type="http://schemas.openxmlformats.org/officeDocument/2006/relationships/image" Target="../media/image41.emf"/><Relationship Id="rId12" Type="http://schemas.openxmlformats.org/officeDocument/2006/relationships/image" Target="../media/image2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11" Type="http://schemas.openxmlformats.org/officeDocument/2006/relationships/image" Target="../media/image45.svg"/><Relationship Id="rId5" Type="http://schemas.openxmlformats.org/officeDocument/2006/relationships/image" Target="../media/image40.emf"/><Relationship Id="rId10" Type="http://schemas.openxmlformats.org/officeDocument/2006/relationships/image" Target="../media/image44.png"/><Relationship Id="rId4" Type="http://schemas.openxmlformats.org/officeDocument/2006/relationships/image" Target="../media/image39.emf"/><Relationship Id="rId9" Type="http://schemas.openxmlformats.org/officeDocument/2006/relationships/image" Target="../media/image4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emf"/><Relationship Id="rId7" Type="http://schemas.openxmlformats.org/officeDocument/2006/relationships/image" Target="../media/image49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emf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image" Target="../media/image18.emf"/><Relationship Id="rId7" Type="http://schemas.openxmlformats.org/officeDocument/2006/relationships/image" Target="../media/image53.sv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emf"/><Relationship Id="rId4" Type="http://schemas.openxmlformats.org/officeDocument/2006/relationships/image" Target="../media/image50.emf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10" Type="http://schemas.openxmlformats.org/officeDocument/2006/relationships/image" Target="../media/image2.png"/><Relationship Id="rId4" Type="http://schemas.openxmlformats.org/officeDocument/2006/relationships/image" Target="../media/image61.png"/><Relationship Id="rId9" Type="http://schemas.openxmlformats.org/officeDocument/2006/relationships/image" Target="../media/image6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3.emf"/><Relationship Id="rId7" Type="http://schemas.openxmlformats.org/officeDocument/2006/relationships/image" Target="../media/image77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emf"/><Relationship Id="rId5" Type="http://schemas.openxmlformats.org/officeDocument/2006/relationships/image" Target="../media/image75.png"/><Relationship Id="rId4" Type="http://schemas.openxmlformats.org/officeDocument/2006/relationships/image" Target="../media/image7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2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57.emf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Liouville’s theorem, ensemble theory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AC4B1-85A1-43D3-BB94-63CAF1BCB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8272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0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249424"/>
            <a:ext cx="4983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The microstates      </a:t>
            </a:r>
            <a:r>
              <a:rPr lang="en-US" sz="2400" b="1" dirty="0"/>
              <a:t>of a large system.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218" y="2412746"/>
            <a:ext cx="237744" cy="29718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9703C41-DDF4-40A3-97C9-75564D6B3493}"/>
              </a:ext>
            </a:extLst>
          </p:cNvPr>
          <p:cNvGrpSpPr/>
          <p:nvPr/>
        </p:nvGrpSpPr>
        <p:grpSpPr>
          <a:xfrm>
            <a:off x="7555484" y="1760273"/>
            <a:ext cx="4449103" cy="3435767"/>
            <a:chOff x="7454138" y="1880092"/>
            <a:chExt cx="4449103" cy="34357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60AAE96-594B-4460-B71B-05C5028CA2B6}"/>
                </a:ext>
              </a:extLst>
            </p:cNvPr>
            <p:cNvGrpSpPr/>
            <p:nvPr/>
          </p:nvGrpSpPr>
          <p:grpSpPr>
            <a:xfrm>
              <a:off x="7454138" y="1880092"/>
              <a:ext cx="4449103" cy="3435767"/>
              <a:chOff x="7454138" y="1880092"/>
              <a:chExt cx="4449103" cy="3435767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8724" y="2041344"/>
                <a:ext cx="3332988" cy="3274515"/>
              </a:xfrm>
              <a:prstGeom prst="rect">
                <a:avLst/>
              </a:prstGeom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7454138" y="1880092"/>
                <a:ext cx="4449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Phase space</a:t>
                </a:r>
                <a:r>
                  <a:rPr lang="en-US" dirty="0"/>
                  <a:t>: collection of all available states</a:t>
                </a:r>
              </a:p>
            </p:txBody>
          </p:sp>
        </p:grp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7696" y="4498848"/>
              <a:ext cx="1761488" cy="217170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554319" y="4061567"/>
            <a:ext cx="6299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We only interested in the macroscopic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833" y="4671314"/>
            <a:ext cx="5199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⇒ What is the correct statistical model?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A3A92B-A6A2-488E-8384-F11B7C4618B4}"/>
              </a:ext>
            </a:extLst>
          </p:cNvPr>
          <p:cNvGrpSpPr/>
          <p:nvPr/>
        </p:nvGrpSpPr>
        <p:grpSpPr>
          <a:xfrm>
            <a:off x="463683" y="3083306"/>
            <a:ext cx="7447128" cy="802654"/>
            <a:chOff x="123933" y="3083306"/>
            <a:chExt cx="7447128" cy="80265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462" y="3083306"/>
              <a:ext cx="6922599" cy="720598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1E5C954-9EB0-4295-8A57-A1C18E2E4AAE}"/>
                </a:ext>
              </a:extLst>
            </p:cNvPr>
            <p:cNvGrpSpPr/>
            <p:nvPr/>
          </p:nvGrpSpPr>
          <p:grpSpPr>
            <a:xfrm>
              <a:off x="123933" y="3362740"/>
              <a:ext cx="595958" cy="523220"/>
              <a:chOff x="123933" y="3362740"/>
              <a:chExt cx="595958" cy="52322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B7994C2-E6CD-464C-B239-2E6413259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933" y="3530011"/>
                <a:ext cx="237744" cy="297180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C62B9E-9D65-4FB3-B809-4502723EEB47}"/>
                  </a:ext>
                </a:extLst>
              </p:cNvPr>
              <p:cNvSpPr txBox="1"/>
              <p:nvPr/>
            </p:nvSpPr>
            <p:spPr>
              <a:xfrm>
                <a:off x="336453" y="3362740"/>
                <a:ext cx="3834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</a:t>
                </a:r>
                <a:endParaRPr lang="en-MY" sz="2800" dirty="0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348D381-30C3-4626-987E-06A1A9AFF277}"/>
              </a:ext>
            </a:extLst>
          </p:cNvPr>
          <p:cNvSpPr txBox="1"/>
          <p:nvPr/>
        </p:nvSpPr>
        <p:spPr>
          <a:xfrm>
            <a:off x="8616671" y="4650364"/>
            <a:ext cx="338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point represent a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a huge space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896D830-155B-4B85-8E79-903B106D46D6}"/>
              </a:ext>
            </a:extLst>
          </p:cNvPr>
          <p:cNvGrpSpPr/>
          <p:nvPr/>
        </p:nvGrpSpPr>
        <p:grpSpPr>
          <a:xfrm>
            <a:off x="729833" y="5196040"/>
            <a:ext cx="8367547" cy="666825"/>
            <a:chOff x="729833" y="5196040"/>
            <a:chExt cx="8367547" cy="666825"/>
          </a:xfrm>
        </p:grpSpPr>
        <p:sp>
          <p:nvSpPr>
            <p:cNvPr id="6" name="TextBox 5"/>
            <p:cNvSpPr txBox="1"/>
            <p:nvPr/>
          </p:nvSpPr>
          <p:spPr>
            <a:xfrm>
              <a:off x="729833" y="5281061"/>
              <a:ext cx="83675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⇒ How to build the distribution of the microstates         ?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4D4C126-C0D3-4D2E-A200-0D68BC5D6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38537" y="5196040"/>
              <a:ext cx="928791" cy="666825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E2F3F6-55E3-42AA-8D45-999B31E39D53}"/>
              </a:ext>
            </a:extLst>
          </p:cNvPr>
          <p:cNvGrpSpPr/>
          <p:nvPr/>
        </p:nvGrpSpPr>
        <p:grpSpPr>
          <a:xfrm>
            <a:off x="701427" y="5880290"/>
            <a:ext cx="10491590" cy="622889"/>
            <a:chOff x="701427" y="5880290"/>
            <a:chExt cx="10491590" cy="622889"/>
          </a:xfrm>
        </p:grpSpPr>
        <p:sp>
          <p:nvSpPr>
            <p:cNvPr id="16" name="TextBox 15"/>
            <p:cNvSpPr txBox="1"/>
            <p:nvPr/>
          </p:nvSpPr>
          <p:spPr>
            <a:xfrm>
              <a:off x="701427" y="5945656"/>
              <a:ext cx="104915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The physical law for each particles MUST not be violated </a:t>
              </a:r>
              <a:r>
                <a:rPr lang="en-US" sz="2400" b="1" dirty="0"/>
                <a:t>⇒        </a:t>
              </a:r>
              <a:r>
                <a:rPr lang="en-US" sz="2400" b="1" dirty="0">
                  <a:solidFill>
                    <a:srgbClr val="FF0000"/>
                  </a:solidFill>
                </a:rPr>
                <a:t> is not arbitrary.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D9735A35-11D5-453F-AB2C-7477A74DD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25662" y="5880290"/>
              <a:ext cx="867595" cy="622889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2E1A4A6-0AED-4FD5-AE31-9B5AD144D4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9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90534-31E8-44ED-AB9D-D2AEFA7FD775}"/>
              </a:ext>
            </a:extLst>
          </p:cNvPr>
          <p:cNvGrpSpPr/>
          <p:nvPr/>
        </p:nvGrpSpPr>
        <p:grpSpPr>
          <a:xfrm>
            <a:off x="1280158" y="1810003"/>
            <a:ext cx="9493935" cy="983621"/>
            <a:chOff x="1280158" y="1810003"/>
            <a:chExt cx="9493935" cy="983621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9466" y="1810003"/>
              <a:ext cx="1403398" cy="355791"/>
            </a:xfrm>
            <a:prstGeom prst="rect">
              <a:avLst/>
            </a:prstGeom>
          </p:spPr>
        </p:pic>
        <p:sp>
          <p:nvSpPr>
            <p:cNvPr id="23" name="Right Brace 22"/>
            <p:cNvSpPr/>
            <p:nvPr/>
          </p:nvSpPr>
          <p:spPr>
            <a:xfrm rot="16200000">
              <a:off x="5798023" y="-2182446"/>
              <a:ext cx="458205" cy="949393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966" t="-5966"/>
          <a:stretch/>
        </p:blipFill>
        <p:spPr>
          <a:xfrm>
            <a:off x="653289" y="4516143"/>
            <a:ext cx="10983731" cy="3112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BC6AA2-E84C-4709-81CB-1DF4D732826D}"/>
              </a:ext>
            </a:extLst>
          </p:cNvPr>
          <p:cNvGrpSpPr/>
          <p:nvPr/>
        </p:nvGrpSpPr>
        <p:grpSpPr>
          <a:xfrm>
            <a:off x="1024128" y="2889504"/>
            <a:ext cx="1327339" cy="1418790"/>
            <a:chOff x="1024128" y="2889504"/>
            <a:chExt cx="1327339" cy="1418790"/>
          </a:xfrm>
        </p:grpSpPr>
        <p:sp>
          <p:nvSpPr>
            <p:cNvPr id="8" name="Rectangle 7"/>
            <p:cNvSpPr/>
            <p:nvPr/>
          </p:nvSpPr>
          <p:spPr>
            <a:xfrm>
              <a:off x="1280160" y="2889504"/>
              <a:ext cx="1024128" cy="10058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4128" y="4036231"/>
              <a:ext cx="1327339" cy="27206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5612" y="3353061"/>
              <a:ext cx="699929" cy="315822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797" y="4939265"/>
            <a:ext cx="3659029" cy="5341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19" y="5725422"/>
            <a:ext cx="11167872" cy="2962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1119" y="6247524"/>
            <a:ext cx="3206903" cy="4795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8836" y="6385117"/>
            <a:ext cx="1339596" cy="2585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1666" y="5003700"/>
            <a:ext cx="2053873" cy="51027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05459" y="6372770"/>
            <a:ext cx="3304126" cy="3304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6A7E13-B9D3-41BA-B7C3-BC96D4968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95898" b="-15815"/>
          <a:stretch/>
        </p:blipFill>
        <p:spPr>
          <a:xfrm>
            <a:off x="494794" y="3284804"/>
            <a:ext cx="474050" cy="3401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DB255F2-F7B9-4A2C-8367-5015ADFC62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29733" y="3181362"/>
            <a:ext cx="1236892" cy="60759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5063106-0886-4030-B6D6-817ADD820E7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34042" y="3145668"/>
            <a:ext cx="1276116" cy="6268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7A1F26E-7F60-4DC3-BFC5-DB65F6D304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40507" y="3207860"/>
            <a:ext cx="2130069" cy="62781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BD2CF91-FE61-4559-A3CE-8BE8F966999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68865" y="3216840"/>
            <a:ext cx="2130069" cy="62781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70D981D-4D19-450B-9E7C-866D21CE731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4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036231"/>
            <a:ext cx="1327339" cy="2720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466" y="1810003"/>
            <a:ext cx="1403398" cy="355791"/>
          </a:xfrm>
          <a:prstGeom prst="rect">
            <a:avLst/>
          </a:prstGeom>
        </p:spPr>
      </p:pic>
      <p:sp>
        <p:nvSpPr>
          <p:cNvPr id="23" name="Right Brace 22"/>
          <p:cNvSpPr/>
          <p:nvPr/>
        </p:nvSpPr>
        <p:spPr>
          <a:xfrm rot="16200000">
            <a:off x="5798023" y="-2182446"/>
            <a:ext cx="458205" cy="949393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612" y="3353061"/>
            <a:ext cx="699929" cy="3158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634" y="4873267"/>
            <a:ext cx="5128165" cy="5441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2576" y="5684856"/>
            <a:ext cx="8631936" cy="3323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2096" y="6180125"/>
            <a:ext cx="5290058" cy="34674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1342AFF-8212-492A-9484-11CF9834326C}"/>
              </a:ext>
            </a:extLst>
          </p:cNvPr>
          <p:cNvGrpSpPr/>
          <p:nvPr/>
        </p:nvGrpSpPr>
        <p:grpSpPr>
          <a:xfrm>
            <a:off x="2929733" y="3145668"/>
            <a:ext cx="8469201" cy="698983"/>
            <a:chOff x="2929733" y="3145668"/>
            <a:chExt cx="8469201" cy="698983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8C83D78-00C0-4747-ABDB-49A69E8AD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29733" y="3181362"/>
              <a:ext cx="1236892" cy="607596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BE1B6AA-F228-45FC-9F8E-B748C4D7F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734042" y="3145668"/>
              <a:ext cx="1276116" cy="626864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F3C88E8-E5EF-49F4-BD92-1D387DD2A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340507" y="3207860"/>
              <a:ext cx="2130069" cy="62781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34DFDE19-8334-4D3B-8F24-2C02D496E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68865" y="3216840"/>
              <a:ext cx="2130069" cy="627811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967880C6-2DA0-4E04-B8C2-F1991CC6D6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7797" y="4939265"/>
            <a:ext cx="3659029" cy="53416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7B4DEE9-6A66-43FA-A3D6-8A15CBFE0465}"/>
              </a:ext>
            </a:extLst>
          </p:cNvPr>
          <p:cNvGrpSpPr/>
          <p:nvPr/>
        </p:nvGrpSpPr>
        <p:grpSpPr>
          <a:xfrm>
            <a:off x="10336925" y="4106770"/>
            <a:ext cx="1235173" cy="832495"/>
            <a:chOff x="10336925" y="4106770"/>
            <a:chExt cx="1235173" cy="832495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588E829-6F57-4D76-B01B-26CF0A91BF42}"/>
                </a:ext>
              </a:extLst>
            </p:cNvPr>
            <p:cNvCxnSpPr>
              <a:cxnSpLocks/>
            </p:cNvCxnSpPr>
            <p:nvPr/>
          </p:nvCxnSpPr>
          <p:spPr>
            <a:xfrm>
              <a:off x="11398934" y="4561490"/>
              <a:ext cx="173164" cy="377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90D4711-63CB-473D-9A39-9E714843A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6925" y="4561490"/>
              <a:ext cx="246992" cy="377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278D19-0768-45E3-A402-9A7FB017AE61}"/>
                </a:ext>
              </a:extLst>
            </p:cNvPr>
            <p:cNvSpPr txBox="1"/>
            <p:nvPr/>
          </p:nvSpPr>
          <p:spPr>
            <a:xfrm>
              <a:off x="10418275" y="4106770"/>
              <a:ext cx="1072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2"/>
                  </a:solidFill>
                </a:rPr>
                <a:t>change</a:t>
              </a:r>
              <a:endParaRPr lang="en-MY" sz="24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33" name="Equals 32">
            <a:extLst>
              <a:ext uri="{FF2B5EF4-FFF2-40B4-BE49-F238E27FC236}">
                <a16:creationId xmlns:a16="http://schemas.microsoft.com/office/drawing/2014/main" id="{28BB2107-AF76-4F48-867E-CD0FFED8A035}"/>
              </a:ext>
            </a:extLst>
          </p:cNvPr>
          <p:cNvSpPr/>
          <p:nvPr/>
        </p:nvSpPr>
        <p:spPr>
          <a:xfrm>
            <a:off x="5616020" y="5022131"/>
            <a:ext cx="788276" cy="41559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CFBE4EB-8EFF-4A7A-A907-355F94C0763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8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90534-31E8-44ED-AB9D-D2AEFA7FD775}"/>
              </a:ext>
            </a:extLst>
          </p:cNvPr>
          <p:cNvGrpSpPr/>
          <p:nvPr/>
        </p:nvGrpSpPr>
        <p:grpSpPr>
          <a:xfrm>
            <a:off x="1280158" y="1810003"/>
            <a:ext cx="9493935" cy="983621"/>
            <a:chOff x="1280158" y="1810003"/>
            <a:chExt cx="9493935" cy="983621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9466" y="1810003"/>
              <a:ext cx="1403398" cy="355791"/>
            </a:xfrm>
            <a:prstGeom prst="rect">
              <a:avLst/>
            </a:prstGeom>
          </p:spPr>
        </p:pic>
        <p:sp>
          <p:nvSpPr>
            <p:cNvPr id="23" name="Right Brace 22"/>
            <p:cNvSpPr/>
            <p:nvPr/>
          </p:nvSpPr>
          <p:spPr>
            <a:xfrm rot="16200000">
              <a:off x="5798023" y="-2182446"/>
              <a:ext cx="458205" cy="949393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966" t="-5966"/>
          <a:stretch/>
        </p:blipFill>
        <p:spPr>
          <a:xfrm>
            <a:off x="653289" y="4516143"/>
            <a:ext cx="10983731" cy="3112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BC6AA2-E84C-4709-81CB-1DF4D732826D}"/>
              </a:ext>
            </a:extLst>
          </p:cNvPr>
          <p:cNvGrpSpPr/>
          <p:nvPr/>
        </p:nvGrpSpPr>
        <p:grpSpPr>
          <a:xfrm>
            <a:off x="1024128" y="2889504"/>
            <a:ext cx="1327339" cy="1418790"/>
            <a:chOff x="1024128" y="2889504"/>
            <a:chExt cx="1327339" cy="1418790"/>
          </a:xfrm>
        </p:grpSpPr>
        <p:sp>
          <p:nvSpPr>
            <p:cNvPr id="8" name="Rectangle 7"/>
            <p:cNvSpPr/>
            <p:nvPr/>
          </p:nvSpPr>
          <p:spPr>
            <a:xfrm>
              <a:off x="1280160" y="2889504"/>
              <a:ext cx="1024128" cy="10058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4128" y="4036231"/>
              <a:ext cx="1327339" cy="27206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5612" y="3353061"/>
              <a:ext cx="699929" cy="315822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6A7E13-B9D3-41BA-B7C3-BC96D4968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95898" b="-15815"/>
          <a:stretch/>
        </p:blipFill>
        <p:spPr>
          <a:xfrm>
            <a:off x="494794" y="3284804"/>
            <a:ext cx="474050" cy="3401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DB255F2-F7B9-4A2C-8367-5015ADFC62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9733" y="3181362"/>
            <a:ext cx="1236892" cy="60759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5063106-0886-4030-B6D6-817ADD820E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4042" y="3145668"/>
            <a:ext cx="1276116" cy="6268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7A1F26E-7F60-4DC3-BFC5-DB65F6D304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0507" y="3207860"/>
            <a:ext cx="2130069" cy="62781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BD2CF91-FE61-4559-A3CE-8BE8F966999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68865" y="3216840"/>
            <a:ext cx="2130069" cy="62781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1028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CA89663-244C-4325-BC83-687CDF80C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1280160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DB4C35C3-9309-49D8-A1C0-7C77602F51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3053740" y="2852571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17755B68-384F-4FB6-9C25-3FFF983A57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4823684" y="2868068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E8A057B-1F63-4136-800E-CA5AE9CCE4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7914926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92E54764-763A-4F05-9945-456F29B71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9703048" y="285592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D9EEEA-3497-4076-A67B-29D6B858B6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8561" y="4964438"/>
            <a:ext cx="5128165" cy="54410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CBDE2FE-4377-4E1B-BDAC-9DE696D535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4503" y="5776027"/>
            <a:ext cx="8631936" cy="3323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545A78E-5FBC-4325-BAEF-23DAE71E94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9724" y="5030436"/>
            <a:ext cx="3659029" cy="534165"/>
          </a:xfrm>
          <a:prstGeom prst="rect">
            <a:avLst/>
          </a:prstGeom>
        </p:spPr>
      </p:pic>
      <p:sp>
        <p:nvSpPr>
          <p:cNvPr id="41" name="Equals 40">
            <a:extLst>
              <a:ext uri="{FF2B5EF4-FFF2-40B4-BE49-F238E27FC236}">
                <a16:creationId xmlns:a16="http://schemas.microsoft.com/office/drawing/2014/main" id="{D0BA15AC-D364-4C0D-B691-421DBB33F292}"/>
              </a:ext>
            </a:extLst>
          </p:cNvPr>
          <p:cNvSpPr/>
          <p:nvPr/>
        </p:nvSpPr>
        <p:spPr>
          <a:xfrm>
            <a:off x="5287947" y="5113302"/>
            <a:ext cx="788276" cy="41559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60162D-EF97-4301-B47B-5390785A26A3}"/>
              </a:ext>
            </a:extLst>
          </p:cNvPr>
          <p:cNvGrpSpPr/>
          <p:nvPr/>
        </p:nvGrpSpPr>
        <p:grpSpPr>
          <a:xfrm>
            <a:off x="2929733" y="2680138"/>
            <a:ext cx="3983131" cy="1869466"/>
            <a:chOff x="2929733" y="2680138"/>
            <a:chExt cx="3983131" cy="18694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F183ABA-04B0-4CBE-A76B-E097BF24E23E}"/>
                </a:ext>
              </a:extLst>
            </p:cNvPr>
            <p:cNvSpPr/>
            <p:nvPr/>
          </p:nvSpPr>
          <p:spPr>
            <a:xfrm>
              <a:off x="2929733" y="2680138"/>
              <a:ext cx="3983131" cy="183253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758B4C1B-DE3B-4989-A530-C3299F1787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t="1" r="61626" b="-3382"/>
            <a:stretch/>
          </p:blipFill>
          <p:spPr>
            <a:xfrm>
              <a:off x="3407132" y="4075901"/>
              <a:ext cx="1236892" cy="473703"/>
            </a:xfrm>
            <a:prstGeom prst="rect">
              <a:avLst/>
            </a:prstGeom>
          </p:spPr>
        </p:pic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09C4A188-4EEE-468C-98FB-84972CD3A8B0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36439" t="17458"/>
          <a:stretch/>
        </p:blipFill>
        <p:spPr>
          <a:xfrm>
            <a:off x="4713350" y="4173207"/>
            <a:ext cx="2048732" cy="3782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7BE57C0-0DCE-47FE-8629-FCBB142B210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82096" y="6180125"/>
            <a:ext cx="5290058" cy="34674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13EF5AF-F02E-4BEB-AEBB-988FC42E432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2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842" y="2426896"/>
            <a:ext cx="3422324" cy="25059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34" y="2954205"/>
            <a:ext cx="6605794" cy="63070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161" y="4128968"/>
            <a:ext cx="5629140" cy="84861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FBEB5138-9658-42D5-8C15-548FDF3E257D}"/>
              </a:ext>
            </a:extLst>
          </p:cNvPr>
          <p:cNvGrpSpPr/>
          <p:nvPr/>
        </p:nvGrpSpPr>
        <p:grpSpPr>
          <a:xfrm>
            <a:off x="786308" y="5357229"/>
            <a:ext cx="8939696" cy="1480619"/>
            <a:chOff x="786308" y="5357229"/>
            <a:chExt cx="8939696" cy="1480619"/>
          </a:xfrm>
        </p:grpSpPr>
        <p:sp>
          <p:nvSpPr>
            <p:cNvPr id="3" name="TextBox 2"/>
            <p:cNvSpPr txBox="1"/>
            <p:nvPr/>
          </p:nvSpPr>
          <p:spPr>
            <a:xfrm>
              <a:off x="878902" y="5357229"/>
              <a:ext cx="8847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Each particle has to follow the Hamiltonian mechanic (Newton law)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6308" y="5847133"/>
              <a:ext cx="7865676" cy="990715"/>
            </a:xfrm>
            <a:prstGeom prst="rect">
              <a:avLst/>
            </a:prstGeom>
          </p:spPr>
        </p:pic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2520" y="2271414"/>
            <a:ext cx="4913416" cy="32205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3E0C529-7B63-479E-9A71-CADC7DF48302}"/>
              </a:ext>
            </a:extLst>
          </p:cNvPr>
          <p:cNvGrpSpPr/>
          <p:nvPr/>
        </p:nvGrpSpPr>
        <p:grpSpPr>
          <a:xfrm>
            <a:off x="7536149" y="3986581"/>
            <a:ext cx="1523768" cy="611354"/>
            <a:chOff x="7157777" y="4595493"/>
            <a:chExt cx="1523768" cy="611354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57777" y="4940796"/>
              <a:ext cx="1378631" cy="266051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9B4FDA4-4D48-48F5-A509-456065705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6408" y="4595493"/>
              <a:ext cx="145137" cy="34530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AFFDA8-105B-47B1-9278-9E9687872F81}"/>
              </a:ext>
            </a:extLst>
          </p:cNvPr>
          <p:cNvGrpSpPr/>
          <p:nvPr/>
        </p:nvGrpSpPr>
        <p:grpSpPr>
          <a:xfrm>
            <a:off x="8402553" y="2105902"/>
            <a:ext cx="1938133" cy="973527"/>
            <a:chOff x="8202377" y="3057483"/>
            <a:chExt cx="1938133" cy="97352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CF793F9-C9D9-42A3-B55F-44FE97D3009E}"/>
                </a:ext>
              </a:extLst>
            </p:cNvPr>
            <p:cNvGrpSpPr/>
            <p:nvPr/>
          </p:nvGrpSpPr>
          <p:grpSpPr>
            <a:xfrm>
              <a:off x="8202377" y="3057483"/>
              <a:ext cx="1938133" cy="461665"/>
              <a:chOff x="8098885" y="2979071"/>
              <a:chExt cx="1938133" cy="461665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98885" y="3059850"/>
                <a:ext cx="1605991" cy="300109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9704876" y="2979071"/>
                <a:ext cx="3321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?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A2A8C40-A69D-46B0-97D1-A3A582AD5292}"/>
                </a:ext>
              </a:extLst>
            </p:cNvPr>
            <p:cNvCxnSpPr>
              <a:cxnSpLocks/>
            </p:cNvCxnSpPr>
            <p:nvPr/>
          </p:nvCxnSpPr>
          <p:spPr>
            <a:xfrm>
              <a:off x="9395769" y="3604914"/>
              <a:ext cx="578068" cy="42609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3859" y="4906471"/>
            <a:ext cx="1623280" cy="266111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529422-DBBA-4353-8CCD-BD35763C23F5}"/>
              </a:ext>
            </a:extLst>
          </p:cNvPr>
          <p:cNvCxnSpPr>
            <a:cxnSpLocks/>
          </p:cNvCxnSpPr>
          <p:nvPr/>
        </p:nvCxnSpPr>
        <p:spPr>
          <a:xfrm>
            <a:off x="1432520" y="3415334"/>
            <a:ext cx="0" cy="9165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8DF45F0-218B-4ABF-97E6-FAF48CA1D1E8}"/>
              </a:ext>
            </a:extLst>
          </p:cNvPr>
          <p:cNvCxnSpPr>
            <a:cxnSpLocks/>
          </p:cNvCxnSpPr>
          <p:nvPr/>
        </p:nvCxnSpPr>
        <p:spPr>
          <a:xfrm flipH="1">
            <a:off x="2186152" y="3415334"/>
            <a:ext cx="2532994" cy="9288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44A7797-8F94-4953-B6ED-CADEAC710D30}"/>
              </a:ext>
            </a:extLst>
          </p:cNvPr>
          <p:cNvCxnSpPr>
            <a:cxnSpLocks/>
          </p:cNvCxnSpPr>
          <p:nvPr/>
        </p:nvCxnSpPr>
        <p:spPr>
          <a:xfrm flipV="1">
            <a:off x="3447393" y="4977582"/>
            <a:ext cx="830317" cy="8882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695E90-57AC-42B7-A608-ACDD60EAA458}"/>
              </a:ext>
            </a:extLst>
          </p:cNvPr>
          <p:cNvCxnSpPr>
            <a:cxnSpLocks/>
          </p:cNvCxnSpPr>
          <p:nvPr/>
        </p:nvCxnSpPr>
        <p:spPr>
          <a:xfrm flipH="1" flipV="1">
            <a:off x="5360276" y="4840522"/>
            <a:ext cx="2554016" cy="11380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FCC53EF-DC1F-45B7-AA38-3503756778EC}"/>
              </a:ext>
            </a:extLst>
          </p:cNvPr>
          <p:cNvSpPr/>
          <p:nvPr/>
        </p:nvSpPr>
        <p:spPr>
          <a:xfrm>
            <a:off x="1580823" y="4816593"/>
            <a:ext cx="1492469" cy="4616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B4FD2F58-4075-4AB1-94C7-3103A0EE71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5548" y="6080792"/>
            <a:ext cx="2766523" cy="5233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9F7A1B4-9254-47D5-A439-E71E0EA312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9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19724" t="-1451"/>
          <a:stretch/>
        </p:blipFill>
        <p:spPr>
          <a:xfrm>
            <a:off x="8030051" y="2212840"/>
            <a:ext cx="1554480" cy="32205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20" y="2271414"/>
            <a:ext cx="4913416" cy="32205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7BF2E327-37AB-49C4-AAF7-602681470DDB}"/>
              </a:ext>
            </a:extLst>
          </p:cNvPr>
          <p:cNvGrpSpPr/>
          <p:nvPr/>
        </p:nvGrpSpPr>
        <p:grpSpPr>
          <a:xfrm>
            <a:off x="1169819" y="4728028"/>
            <a:ext cx="7756344" cy="1709186"/>
            <a:chOff x="1169819" y="4728028"/>
            <a:chExt cx="7756344" cy="1709186"/>
          </a:xfrm>
        </p:grpSpPr>
        <p:sp>
          <p:nvSpPr>
            <p:cNvPr id="4" name="TextBox 3"/>
            <p:cNvSpPr txBox="1"/>
            <p:nvPr/>
          </p:nvSpPr>
          <p:spPr>
            <a:xfrm>
              <a:off x="1169819" y="4728028"/>
              <a:ext cx="75063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Equation of motion for the distribution (</a:t>
              </a:r>
              <a:r>
                <a:rPr lang="en-US" sz="2400" b="1" dirty="0" err="1"/>
                <a:t>Liouville’s</a:t>
              </a:r>
              <a:r>
                <a:rPr lang="en-US" sz="2400" b="1" dirty="0"/>
                <a:t> theorem</a:t>
              </a:r>
              <a:r>
                <a:rPr lang="en-US" sz="2400" dirty="0"/>
                <a:t>):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67887" y="5422972"/>
              <a:ext cx="5758276" cy="1014242"/>
            </a:xfrm>
            <a:prstGeom prst="rect">
              <a:avLst/>
            </a:prstGeom>
          </p:spPr>
        </p:pic>
      </p:grpSp>
      <p:sp>
        <p:nvSpPr>
          <p:cNvPr id="9" name="Rounded Rectangle 8"/>
          <p:cNvSpPr/>
          <p:nvPr/>
        </p:nvSpPr>
        <p:spPr>
          <a:xfrm>
            <a:off x="3113023" y="5386396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E4DDEE-9F41-4D3D-A6A1-B9C10ED164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2454" y="2127941"/>
            <a:ext cx="3507007" cy="60900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3209131-51F6-46E4-A484-50D042C10C6F}"/>
              </a:ext>
            </a:extLst>
          </p:cNvPr>
          <p:cNvGrpSpPr/>
          <p:nvPr/>
        </p:nvGrpSpPr>
        <p:grpSpPr>
          <a:xfrm>
            <a:off x="5798279" y="2652923"/>
            <a:ext cx="4077911" cy="1900546"/>
            <a:chOff x="781839" y="2814712"/>
            <a:chExt cx="4077911" cy="190054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42454" y="3297255"/>
              <a:ext cx="1595253" cy="141800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E4D9E8-AF96-42F5-9F7C-EA2CF501F7E4}"/>
                </a:ext>
              </a:extLst>
            </p:cNvPr>
            <p:cNvSpPr txBox="1"/>
            <p:nvPr/>
          </p:nvSpPr>
          <p:spPr>
            <a:xfrm>
              <a:off x="781839" y="2814712"/>
              <a:ext cx="40779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Hamiltonian equation of motion:</a:t>
              </a:r>
              <a:endParaRPr lang="en-MY" sz="2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9C8241-75AB-4F8E-8D78-B2C289A15EAE}"/>
              </a:ext>
            </a:extLst>
          </p:cNvPr>
          <p:cNvGrpSpPr/>
          <p:nvPr/>
        </p:nvGrpSpPr>
        <p:grpSpPr>
          <a:xfrm>
            <a:off x="1427235" y="2736942"/>
            <a:ext cx="3928373" cy="1704161"/>
            <a:chOff x="6086649" y="2814711"/>
            <a:chExt cx="3928373" cy="170416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37F9BDF-B02F-4CE6-80EB-D64E69F1A5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51626" t="-1564" r="-1989" b="20945"/>
            <a:stretch/>
          </p:blipFill>
          <p:spPr>
            <a:xfrm>
              <a:off x="6086649" y="3919907"/>
              <a:ext cx="3919022" cy="59896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E2969F-971E-4BF3-B822-F63321D65580}"/>
                </a:ext>
              </a:extLst>
            </p:cNvPr>
            <p:cNvSpPr txBox="1"/>
            <p:nvPr/>
          </p:nvSpPr>
          <p:spPr>
            <a:xfrm>
              <a:off x="6950686" y="2814711"/>
              <a:ext cx="19754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Time variation:</a:t>
              </a:r>
              <a:endParaRPr lang="en-MY" sz="240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BCEDA43-A5C4-4958-9340-E775E34E75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49637" b="19381"/>
            <a:stretch/>
          </p:blipFill>
          <p:spPr>
            <a:xfrm>
              <a:off x="6096000" y="3297255"/>
              <a:ext cx="3919022" cy="598965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98E16A8-4E6F-46FE-9043-4F82585235AF}"/>
              </a:ext>
            </a:extLst>
          </p:cNvPr>
          <p:cNvGrpSpPr/>
          <p:nvPr/>
        </p:nvGrpSpPr>
        <p:grpSpPr>
          <a:xfrm>
            <a:off x="1937657" y="2625051"/>
            <a:ext cx="2360647" cy="1390103"/>
            <a:chOff x="1937657" y="2625051"/>
            <a:chExt cx="2360647" cy="139010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9CCA09C-D495-435C-8D6E-ED51551C2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2454" y="2645929"/>
              <a:ext cx="2007032" cy="61213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526E3AE-69D6-470A-8CE4-7029F56DBE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7657" y="2625051"/>
              <a:ext cx="2360647" cy="139010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149E09CB-13FF-4A58-A078-8E26D4B91A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2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0907" y="2084832"/>
            <a:ext cx="265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Liouville’s</a:t>
            </a:r>
            <a:r>
              <a:rPr lang="en-US" sz="2400" b="1" dirty="0"/>
              <a:t> theorem</a:t>
            </a:r>
            <a:r>
              <a:rPr lang="en-US" sz="24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87" y="2588332"/>
            <a:ext cx="5758276" cy="10142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113023" y="2551756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0907" y="3802089"/>
            <a:ext cx="9955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At equilibrium, the ensemble average must be independent in time.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171" y="4342053"/>
            <a:ext cx="3206903" cy="4795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32" y="5076103"/>
            <a:ext cx="1455972" cy="8123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99" y="6161876"/>
            <a:ext cx="11235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distribution of the statistical model must depends on total energy ONLY.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4BF5E0-9484-494A-83AB-5C9AC00418C1}"/>
              </a:ext>
            </a:extLst>
          </p:cNvPr>
          <p:cNvGrpSpPr/>
          <p:nvPr/>
        </p:nvGrpSpPr>
        <p:grpSpPr>
          <a:xfrm>
            <a:off x="6444698" y="5625640"/>
            <a:ext cx="1330621" cy="513496"/>
            <a:chOff x="6444698" y="5625640"/>
            <a:chExt cx="1330621" cy="513496"/>
          </a:xfrm>
        </p:grpSpPr>
        <p:sp>
          <p:nvSpPr>
            <p:cNvPr id="13" name="Rectangle 12"/>
            <p:cNvSpPr/>
            <p:nvPr/>
          </p:nvSpPr>
          <p:spPr>
            <a:xfrm>
              <a:off x="6444698" y="5769804"/>
              <a:ext cx="13306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/>
                <a:t>total energy</a:t>
              </a:r>
              <a:endParaRPr lang="en-US"/>
            </a:p>
          </p:txBody>
        </p:sp>
        <p:sp>
          <p:nvSpPr>
            <p:cNvPr id="14" name="Right Brace 13"/>
            <p:cNvSpPr/>
            <p:nvPr/>
          </p:nvSpPr>
          <p:spPr>
            <a:xfrm rot="5400000">
              <a:off x="6968930" y="5250632"/>
              <a:ext cx="282158" cy="103217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/>
          <a:srcRect r="-3082" b="8806"/>
          <a:stretch/>
        </p:blipFill>
        <p:spPr>
          <a:xfrm>
            <a:off x="8340853" y="5268834"/>
            <a:ext cx="3740761" cy="38933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A6B1E4E-6AB5-48E1-AD7E-CF0F9DDB69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9817" y="4057364"/>
            <a:ext cx="2796624" cy="100041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045CC0E-B95F-4B55-AAB5-091CFEEE11BC}"/>
              </a:ext>
            </a:extLst>
          </p:cNvPr>
          <p:cNvGrpSpPr/>
          <p:nvPr/>
        </p:nvGrpSpPr>
        <p:grpSpPr>
          <a:xfrm>
            <a:off x="2362707" y="5283736"/>
            <a:ext cx="5555997" cy="416215"/>
            <a:chOff x="2362707" y="5283736"/>
            <a:chExt cx="5555997" cy="416215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77464" y="5283736"/>
              <a:ext cx="4841240" cy="416215"/>
            </a:xfrm>
            <a:prstGeom prst="rect">
              <a:avLst/>
            </a:prstGeom>
          </p:spPr>
        </p:pic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84080493-B631-4B5C-B6B3-2065066184F3}"/>
                </a:ext>
              </a:extLst>
            </p:cNvPr>
            <p:cNvSpPr/>
            <p:nvPr/>
          </p:nvSpPr>
          <p:spPr>
            <a:xfrm>
              <a:off x="2362707" y="5325805"/>
              <a:ext cx="565534" cy="33236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9723D52F-2A34-431D-A094-811B310365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153265"/>
            <a:ext cx="5085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If there are some conserved quantities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67" y="2614930"/>
            <a:ext cx="2026626" cy="5854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530" y="2237897"/>
            <a:ext cx="401290" cy="3109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B8968C5-2E3A-4982-822C-D7F9A126DBFD}"/>
              </a:ext>
            </a:extLst>
          </p:cNvPr>
          <p:cNvGrpSpPr/>
          <p:nvPr/>
        </p:nvGrpSpPr>
        <p:grpSpPr>
          <a:xfrm>
            <a:off x="1024128" y="3296397"/>
            <a:ext cx="10408254" cy="1745048"/>
            <a:chOff x="1024128" y="3296397"/>
            <a:chExt cx="10408254" cy="1745048"/>
          </a:xfrm>
        </p:grpSpPr>
        <p:sp>
          <p:nvSpPr>
            <p:cNvPr id="18" name="TextBox 17"/>
            <p:cNvSpPr txBox="1"/>
            <p:nvPr/>
          </p:nvSpPr>
          <p:spPr>
            <a:xfrm>
              <a:off x="6110284" y="4579780"/>
              <a:ext cx="53220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/>
                <a:t>Liouville’s</a:t>
              </a:r>
              <a:r>
                <a:rPr lang="en-US" sz="2400" b="1" dirty="0"/>
                <a:t> theorem still hold in this form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DB6A295-2BBB-4977-92B4-F82905958AFB}"/>
                </a:ext>
              </a:extLst>
            </p:cNvPr>
            <p:cNvGrpSpPr/>
            <p:nvPr/>
          </p:nvGrpSpPr>
          <p:grpSpPr>
            <a:xfrm>
              <a:off x="1024128" y="3296397"/>
              <a:ext cx="8668512" cy="1143132"/>
              <a:chOff x="1024128" y="3296397"/>
              <a:chExt cx="8668512" cy="1143132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06373" y="3922654"/>
                <a:ext cx="6251393" cy="492534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1024128" y="3296397"/>
                <a:ext cx="33166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Generalized the result to</a:t>
                </a: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3294394" y="3796370"/>
                <a:ext cx="6398246" cy="64315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20" name="TextBox 19"/>
          <p:cNvSpPr txBox="1"/>
          <p:nvPr/>
        </p:nvSpPr>
        <p:spPr>
          <a:xfrm>
            <a:off x="1261179" y="5620969"/>
            <a:ext cx="84544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If each particle follows the Newton’s law,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                                        the distribution must look like this.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FFE492-3443-4651-8D6E-3CE8CC7A1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9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CD74B6-4392-494B-BA4C-0106BE2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90" y="2848683"/>
            <a:ext cx="5083302" cy="367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50408-E1A9-4188-9D39-17C7B8165CC1}"/>
              </a:ext>
            </a:extLst>
          </p:cNvPr>
          <p:cNvSpPr txBox="1"/>
          <p:nvPr/>
        </p:nvSpPr>
        <p:spPr>
          <a:xfrm>
            <a:off x="563557" y="3399018"/>
            <a:ext cx="11477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Cannot stay at equilibrium forever, no time direction in Newtonian mechanics.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42FC0-F15A-4D56-BE60-A19A35B66654}"/>
              </a:ext>
            </a:extLst>
          </p:cNvPr>
          <p:cNvSpPr txBox="1"/>
          <p:nvPr/>
        </p:nvSpPr>
        <p:spPr>
          <a:xfrm>
            <a:off x="698307" y="2253523"/>
            <a:ext cx="4915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“Weird” property in ensemble theory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888391-9B2F-4235-9C58-CCF8F07D7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3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7307-6ECD-450B-8CC4-EF4133AE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Time-reversal symmetry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C8D74-5DAA-4E8C-93A8-D3706ADA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1"/>
            <a:ext cx="10232451" cy="803955"/>
          </a:xfrm>
        </p:spPr>
        <p:txBody>
          <a:bodyPr>
            <a:normAutofit/>
          </a:bodyPr>
          <a:lstStyle/>
          <a:p>
            <a:r>
              <a:rPr lang="en-US" dirty="0"/>
              <a:t>If the laws of physics have time-reversal symmetry. The backward-time evolution follows exactly the same laws in forward-time evolution. </a:t>
            </a:r>
            <a:endParaRPr lang="en-MY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BF2C9B-96AE-4DAB-A9FD-FAE77B071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8156" y="4156844"/>
            <a:ext cx="1369772" cy="57281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A9DDA4-524E-423C-9CF8-2DFEA28FC5B4}"/>
              </a:ext>
            </a:extLst>
          </p:cNvPr>
          <p:cNvSpPr txBox="1">
            <a:spLocks/>
          </p:cNvSpPr>
          <p:nvPr/>
        </p:nvSpPr>
        <p:spPr>
          <a:xfrm>
            <a:off x="3299877" y="4230263"/>
            <a:ext cx="3458279" cy="45456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Change the time direction:</a:t>
            </a:r>
            <a:endParaRPr lang="en-MY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6BE57C-DCBE-4968-B7DF-1B230C4D4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3401" y="3126915"/>
            <a:ext cx="2046952" cy="91686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B669B3-91C6-4C0C-8413-ABC1EA05C3FB}"/>
              </a:ext>
            </a:extLst>
          </p:cNvPr>
          <p:cNvSpPr txBox="1">
            <a:spLocks/>
          </p:cNvSpPr>
          <p:nvPr/>
        </p:nvSpPr>
        <p:spPr>
          <a:xfrm>
            <a:off x="979775" y="3392223"/>
            <a:ext cx="3350488" cy="45456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Newton’s Law</a:t>
            </a:r>
            <a:endParaRPr lang="en-MY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D43D102-349C-4103-91A8-39CD206DC9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8608" y="4156844"/>
            <a:ext cx="1198376" cy="53042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44F0D67F-C119-4BB0-BA87-B2F2D792CE57}"/>
              </a:ext>
            </a:extLst>
          </p:cNvPr>
          <p:cNvSpPr/>
          <p:nvPr/>
        </p:nvSpPr>
        <p:spPr>
          <a:xfrm>
            <a:off x="8326101" y="4344879"/>
            <a:ext cx="774334" cy="2415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B32D98F-C553-4AC6-A8AB-41E23C957EC0}"/>
              </a:ext>
            </a:extLst>
          </p:cNvPr>
          <p:cNvSpPr/>
          <p:nvPr/>
        </p:nvSpPr>
        <p:spPr>
          <a:xfrm>
            <a:off x="2822220" y="5135805"/>
            <a:ext cx="774334" cy="2415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3ED93799-9D75-4AF5-B865-45B7768AF3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2190" y="4775703"/>
            <a:ext cx="2613651" cy="81676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621E60D-DC28-4D8D-AB82-C20B284D18CB}"/>
              </a:ext>
            </a:extLst>
          </p:cNvPr>
          <p:cNvSpPr txBox="1">
            <a:spLocks/>
          </p:cNvSpPr>
          <p:nvPr/>
        </p:nvSpPr>
        <p:spPr>
          <a:xfrm>
            <a:off x="2745888" y="5633741"/>
            <a:ext cx="5431163" cy="45456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 you can see the 2</a:t>
            </a:r>
            <a:r>
              <a:rPr lang="en-US" baseline="30000" dirty="0"/>
              <a:t>nd</a:t>
            </a:r>
            <a:r>
              <a:rPr lang="en-US" dirty="0"/>
              <a:t> law remain the same.</a:t>
            </a:r>
            <a:endParaRPr lang="en-MY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DEF963-210C-4D44-8222-9965EA33A0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12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7307-6ECD-450B-8CC4-EF4133AE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Time-reversal symmetry</a:t>
            </a:r>
            <a:endParaRPr lang="en-M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F68D9-6E5A-4AD3-A644-638D4144EEC7}"/>
              </a:ext>
            </a:extLst>
          </p:cNvPr>
          <p:cNvSpPr txBox="1"/>
          <p:nvPr/>
        </p:nvSpPr>
        <p:spPr>
          <a:xfrm>
            <a:off x="641131" y="239635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Consider a the following motion</a:t>
            </a:r>
            <a:endParaRPr lang="en-MY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EFF5B8-FAF7-452C-AB73-BD1C5393E799}"/>
              </a:ext>
            </a:extLst>
          </p:cNvPr>
          <p:cNvSpPr/>
          <p:nvPr/>
        </p:nvSpPr>
        <p:spPr>
          <a:xfrm>
            <a:off x="735725" y="3752194"/>
            <a:ext cx="367862" cy="3888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5D4A44-9BEE-4F0B-9BE9-28820F6417D6}"/>
              </a:ext>
            </a:extLst>
          </p:cNvPr>
          <p:cNvCxnSpPr/>
          <p:nvPr/>
        </p:nvCxnSpPr>
        <p:spPr>
          <a:xfrm>
            <a:off x="1240221" y="3946635"/>
            <a:ext cx="281677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ADBE1-92F5-4538-A54F-DE3C04B79DBC}"/>
              </a:ext>
            </a:extLst>
          </p:cNvPr>
          <p:cNvSpPr txBox="1"/>
          <p:nvPr/>
        </p:nvSpPr>
        <p:spPr>
          <a:xfrm>
            <a:off x="565588" y="4097574"/>
            <a:ext cx="378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to the RIGHT, forward in time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21658BE-CBCA-417B-8911-4EA573E15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6484" y="3689882"/>
            <a:ext cx="599090" cy="51350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8F06894-F2C0-4C6E-A4A8-8413566F4B9A}"/>
              </a:ext>
            </a:extLst>
          </p:cNvPr>
          <p:cNvGrpSpPr/>
          <p:nvPr/>
        </p:nvGrpSpPr>
        <p:grpSpPr>
          <a:xfrm>
            <a:off x="565588" y="4809334"/>
            <a:ext cx="5013305" cy="705665"/>
            <a:chOff x="565588" y="4809334"/>
            <a:chExt cx="5013305" cy="70566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3CBFC6F-E9D9-499B-93C7-F7D76A4FEF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1904" y="5286701"/>
              <a:ext cx="28167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0B2049-5FD9-4E69-8510-DA9D769E4674}"/>
                </a:ext>
              </a:extLst>
            </p:cNvPr>
            <p:cNvSpPr/>
            <p:nvPr/>
          </p:nvSpPr>
          <p:spPr>
            <a:xfrm>
              <a:off x="4141078" y="5126116"/>
              <a:ext cx="367862" cy="3888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38763A-3385-44CC-B4D8-1227D5D2DC1F}"/>
                </a:ext>
              </a:extLst>
            </p:cNvPr>
            <p:cNvSpPr txBox="1"/>
            <p:nvPr/>
          </p:nvSpPr>
          <p:spPr>
            <a:xfrm flipH="1">
              <a:off x="1240221" y="4809334"/>
              <a:ext cx="4338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reverse the above motion</a:t>
              </a:r>
              <a:endParaRPr lang="en-MY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98D7E4B-320C-46C8-B452-8AEFE775D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588" y="5004680"/>
              <a:ext cx="606316" cy="498045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7E49F66-C0E9-4117-BFF5-8579C7BAE140}"/>
              </a:ext>
            </a:extLst>
          </p:cNvPr>
          <p:cNvSpPr txBox="1"/>
          <p:nvPr/>
        </p:nvSpPr>
        <p:spPr>
          <a:xfrm>
            <a:off x="2127294" y="3145954"/>
            <a:ext cx="1765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1</a:t>
            </a:r>
            <a:endParaRPr lang="en-MY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2F727AA-155B-4C8B-ADE7-83E039A831AB}"/>
              </a:ext>
            </a:extLst>
          </p:cNvPr>
          <p:cNvCxnSpPr>
            <a:cxnSpLocks/>
          </p:cNvCxnSpPr>
          <p:nvPr/>
        </p:nvCxnSpPr>
        <p:spPr>
          <a:xfrm flipH="1">
            <a:off x="7469573" y="3909847"/>
            <a:ext cx="281677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AE8C21A-DB96-49D1-9C43-3B4933C19131}"/>
              </a:ext>
            </a:extLst>
          </p:cNvPr>
          <p:cNvSpPr/>
          <p:nvPr/>
        </p:nvSpPr>
        <p:spPr>
          <a:xfrm>
            <a:off x="10438747" y="3749262"/>
            <a:ext cx="367862" cy="3888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02E2350A-4027-4A4C-AE57-15DFBA955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2166" y="3624640"/>
            <a:ext cx="599090" cy="51350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57B4D2E-83B8-4CA1-A8E8-A13C6C1488AC}"/>
              </a:ext>
            </a:extLst>
          </p:cNvPr>
          <p:cNvSpPr txBox="1"/>
          <p:nvPr/>
        </p:nvSpPr>
        <p:spPr>
          <a:xfrm>
            <a:off x="8562649" y="3146705"/>
            <a:ext cx="1765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2</a:t>
            </a:r>
            <a:endParaRPr lang="en-MY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DFF943-14C7-41D2-BC93-313A69FF78C0}"/>
              </a:ext>
            </a:extLst>
          </p:cNvPr>
          <p:cNvGrpSpPr/>
          <p:nvPr/>
        </p:nvGrpSpPr>
        <p:grpSpPr>
          <a:xfrm>
            <a:off x="7032411" y="4688834"/>
            <a:ext cx="4594001" cy="846889"/>
            <a:chOff x="7032411" y="4688834"/>
            <a:chExt cx="4594001" cy="846889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9CDC95F-1BD5-4BF1-B6CB-117898E479BA}"/>
                </a:ext>
              </a:extLst>
            </p:cNvPr>
            <p:cNvSpPr/>
            <p:nvPr/>
          </p:nvSpPr>
          <p:spPr>
            <a:xfrm>
              <a:off x="7032411" y="5092260"/>
              <a:ext cx="367862" cy="3888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1126D1F-9C73-41AD-A01C-193EECE2D088}"/>
                </a:ext>
              </a:extLst>
            </p:cNvPr>
            <p:cNvCxnSpPr/>
            <p:nvPr/>
          </p:nvCxnSpPr>
          <p:spPr>
            <a:xfrm>
              <a:off x="7536907" y="5286701"/>
              <a:ext cx="28167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5FF9EC6-58E6-4679-8BCE-AE00C2E67A98}"/>
                </a:ext>
              </a:extLst>
            </p:cNvPr>
            <p:cNvSpPr txBox="1"/>
            <p:nvPr/>
          </p:nvSpPr>
          <p:spPr>
            <a:xfrm flipH="1">
              <a:off x="7287740" y="4688834"/>
              <a:ext cx="4338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reverse the above motion</a:t>
              </a:r>
              <a:endParaRPr lang="en-MY" dirty="0"/>
            </a:p>
          </p:txBody>
        </p:sp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C11A83D-A268-46A5-B873-B18F7687C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13780" y="5037678"/>
              <a:ext cx="606316" cy="49804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AB5CD59-B2A2-4107-BFE8-B82F3E3E55B0}"/>
              </a:ext>
            </a:extLst>
          </p:cNvPr>
          <p:cNvGrpSpPr/>
          <p:nvPr/>
        </p:nvGrpSpPr>
        <p:grpSpPr>
          <a:xfrm>
            <a:off x="4346029" y="4203387"/>
            <a:ext cx="2565485" cy="1050315"/>
            <a:chOff x="4346029" y="4203387"/>
            <a:chExt cx="2565485" cy="1050315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4221155-3EEA-491C-A524-A775763F3397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4346029" y="4203387"/>
              <a:ext cx="2456137" cy="1050315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1B34CA2-FC5C-4BB3-A237-9F7CF85E67BE}"/>
                </a:ext>
              </a:extLst>
            </p:cNvPr>
            <p:cNvSpPr txBox="1"/>
            <p:nvPr/>
          </p:nvSpPr>
          <p:spPr>
            <a:xfrm rot="1513073">
              <a:off x="4824692" y="4331980"/>
              <a:ext cx="2086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Indistinguishable</a:t>
              </a:r>
              <a:endParaRPr lang="en-MY" dirty="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2C10A55-85F5-4437-8FAA-EE49C24CCFAF}"/>
              </a:ext>
            </a:extLst>
          </p:cNvPr>
          <p:cNvSpPr txBox="1"/>
          <p:nvPr/>
        </p:nvSpPr>
        <p:spPr>
          <a:xfrm>
            <a:off x="1605694" y="6088118"/>
            <a:ext cx="8524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see something move from left to right, we cannot tell the time direction.</a:t>
            </a:r>
            <a:endParaRPr lang="en-MY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A7A3A7-3371-4771-9596-B0684BB4729A}"/>
              </a:ext>
            </a:extLst>
          </p:cNvPr>
          <p:cNvSpPr txBox="1"/>
          <p:nvPr/>
        </p:nvSpPr>
        <p:spPr>
          <a:xfrm>
            <a:off x="7259597" y="4054768"/>
            <a:ext cx="357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to the LEFT, forward in time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6B0A1B0-C1A8-4174-AAC7-9854BCFA1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5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F16A-9CCA-44FC-AA0A-8A8C1B0E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Time-reversal symmetry breaking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6A31A-8083-4951-B128-6F82D184BBDD}"/>
              </a:ext>
            </a:extLst>
          </p:cNvPr>
          <p:cNvSpPr txBox="1"/>
          <p:nvPr/>
        </p:nvSpPr>
        <p:spPr>
          <a:xfrm flipH="1">
            <a:off x="1201856" y="2438399"/>
            <a:ext cx="9224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Weak interaction between elementary particles in the standard model.</a:t>
            </a:r>
            <a:endParaRPr lang="en-MY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91B57-D297-423C-AB78-BA12A6C146FB}"/>
              </a:ext>
            </a:extLst>
          </p:cNvPr>
          <p:cNvSpPr txBox="1"/>
          <p:nvPr/>
        </p:nvSpPr>
        <p:spPr>
          <a:xfrm flipH="1">
            <a:off x="1201856" y="3269396"/>
            <a:ext cx="8877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Hall effects. Magnetic field break time reversal symmetry.</a:t>
            </a:r>
            <a:endParaRPr lang="en-MY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56A99-66FB-4D6E-B594-2D7A40BB11E7}"/>
              </a:ext>
            </a:extLst>
          </p:cNvPr>
          <p:cNvSpPr txBox="1"/>
          <p:nvPr/>
        </p:nvSpPr>
        <p:spPr>
          <a:xfrm flipH="1">
            <a:off x="1201856" y="3717473"/>
            <a:ext cx="8877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etc</a:t>
            </a:r>
            <a:r>
              <a:rPr lang="en-US" sz="2400" b="1" dirty="0"/>
              <a:t> ….</a:t>
            </a:r>
            <a:endParaRPr lang="en-MY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761BD6-9321-42FE-8838-EEAB62637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897" y="4648740"/>
            <a:ext cx="2286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CE3E42-91EE-426B-98A9-AC0A4EAA4F6E}"/>
              </a:ext>
            </a:extLst>
          </p:cNvPr>
          <p:cNvSpPr txBox="1"/>
          <p:nvPr/>
        </p:nvSpPr>
        <p:spPr>
          <a:xfrm flipH="1">
            <a:off x="1201856" y="4934896"/>
            <a:ext cx="7017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example in the class: AMS experiment. The large magnetic field in the detector is to break the time-reversal symmetry of the particle motion. This will help to tell the charges, whether it is a particle or a anti-particle. 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F6AF8-1E6C-447F-BDDE-FEBC7E2EB8C0}"/>
              </a:ext>
            </a:extLst>
          </p:cNvPr>
          <p:cNvSpPr txBox="1"/>
          <p:nvPr/>
        </p:nvSpPr>
        <p:spPr>
          <a:xfrm>
            <a:off x="9421210" y="4319469"/>
            <a:ext cx="2645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AMS detector</a:t>
            </a:r>
            <a:endParaRPr lang="en-MY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6FF2E5-5EC3-49E0-A210-4F5F5AA91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40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CD74B6-4392-494B-BA4C-0106BE2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90" y="2848683"/>
            <a:ext cx="5083302" cy="367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50408-E1A9-4188-9D39-17C7B8165CC1}"/>
              </a:ext>
            </a:extLst>
          </p:cNvPr>
          <p:cNvSpPr txBox="1"/>
          <p:nvPr/>
        </p:nvSpPr>
        <p:spPr>
          <a:xfrm>
            <a:off x="563557" y="3399018"/>
            <a:ext cx="11477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Cannot stay at equilibrium forever, no time direction in Newtonian mechanics.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42FC0-F15A-4D56-BE60-A19A35B66654}"/>
              </a:ext>
            </a:extLst>
          </p:cNvPr>
          <p:cNvSpPr txBox="1"/>
          <p:nvPr/>
        </p:nvSpPr>
        <p:spPr>
          <a:xfrm>
            <a:off x="698307" y="2253523"/>
            <a:ext cx="4915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“Weird” property in ensemble theory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888391-9B2F-4235-9C58-CCF8F07D7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D4206C2-16C9-4A70-9BBE-146D4C98B5BF}"/>
              </a:ext>
            </a:extLst>
          </p:cNvPr>
          <p:cNvGrpSpPr/>
          <p:nvPr/>
        </p:nvGrpSpPr>
        <p:grpSpPr>
          <a:xfrm>
            <a:off x="1089067" y="4530803"/>
            <a:ext cx="7025276" cy="1539998"/>
            <a:chOff x="636306" y="2879973"/>
            <a:chExt cx="7025276" cy="153999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EB6841-7E75-46E5-B62F-21B896128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588" y="2879973"/>
              <a:ext cx="3761994" cy="153999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DCD0A4-48C4-4B33-AA60-72F6552F746C}"/>
                </a:ext>
              </a:extLst>
            </p:cNvPr>
            <p:cNvSpPr txBox="1"/>
            <p:nvPr/>
          </p:nvSpPr>
          <p:spPr>
            <a:xfrm>
              <a:off x="636306" y="3289056"/>
              <a:ext cx="33441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Combining two systems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DC77B5-B197-4A54-8C57-1A1978B54A18}"/>
              </a:ext>
            </a:extLst>
          </p:cNvPr>
          <p:cNvSpPr txBox="1"/>
          <p:nvPr/>
        </p:nvSpPr>
        <p:spPr>
          <a:xfrm flipH="1">
            <a:off x="5884164" y="6070801"/>
            <a:ext cx="395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Can they stay at equilibrium forever?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8B909-34C6-4BA9-8FC1-01BC027CA77F}"/>
              </a:ext>
            </a:extLst>
          </p:cNvPr>
          <p:cNvSpPr txBox="1"/>
          <p:nvPr/>
        </p:nvSpPr>
        <p:spPr>
          <a:xfrm>
            <a:off x="4842769" y="5419307"/>
            <a:ext cx="43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</a:t>
            </a:r>
            <a:r>
              <a:rPr lang="en-MY" baseline="-25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59C7E-7F0F-46DC-8ADB-930276EC07B7}"/>
              </a:ext>
            </a:extLst>
          </p:cNvPr>
          <p:cNvSpPr txBox="1"/>
          <p:nvPr/>
        </p:nvSpPr>
        <p:spPr>
          <a:xfrm>
            <a:off x="6696724" y="5400681"/>
            <a:ext cx="43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</a:t>
            </a:r>
            <a:r>
              <a:rPr lang="en-MY" baseline="-250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D8AAA-74ED-4674-882D-F2D8BF86BFF6}"/>
              </a:ext>
            </a:extLst>
          </p:cNvPr>
          <p:cNvSpPr txBox="1"/>
          <p:nvPr/>
        </p:nvSpPr>
        <p:spPr>
          <a:xfrm>
            <a:off x="7039993" y="6465789"/>
            <a:ext cx="443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Liouville theorem cannot guarantee this.</a:t>
            </a:r>
          </a:p>
        </p:txBody>
      </p:sp>
    </p:spTree>
    <p:extLst>
      <p:ext uri="{BB962C8B-B14F-4D97-AF65-F5344CB8AC3E}">
        <p14:creationId xmlns:p14="http://schemas.microsoft.com/office/powerpoint/2010/main" val="686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CD74B6-4392-494B-BA4C-0106BE2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90" y="2848683"/>
            <a:ext cx="5083302" cy="367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50408-E1A9-4188-9D39-17C7B8165CC1}"/>
              </a:ext>
            </a:extLst>
          </p:cNvPr>
          <p:cNvSpPr txBox="1"/>
          <p:nvPr/>
        </p:nvSpPr>
        <p:spPr>
          <a:xfrm>
            <a:off x="563557" y="3399018"/>
            <a:ext cx="11477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Cannot stay at equilibrium forever, no time direction in Newtonian mechanics.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43A8C0-2169-431F-A5E9-643885C431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55" t="10131"/>
          <a:stretch/>
        </p:blipFill>
        <p:spPr>
          <a:xfrm>
            <a:off x="7007192" y="2848682"/>
            <a:ext cx="4944526" cy="31222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C4AC2CB-FCA9-47C7-9DEA-627170F77692}"/>
              </a:ext>
            </a:extLst>
          </p:cNvPr>
          <p:cNvGrpSpPr/>
          <p:nvPr/>
        </p:nvGrpSpPr>
        <p:grpSpPr>
          <a:xfrm>
            <a:off x="7724254" y="1961136"/>
            <a:ext cx="1660198" cy="887547"/>
            <a:chOff x="7640172" y="1925939"/>
            <a:chExt cx="1660198" cy="88754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009E42-5BF6-425C-AF6C-468A0951EDAE}"/>
                </a:ext>
              </a:extLst>
            </p:cNvPr>
            <p:cNvSpPr txBox="1"/>
            <p:nvPr/>
          </p:nvSpPr>
          <p:spPr>
            <a:xfrm>
              <a:off x="7640172" y="1925939"/>
              <a:ext cx="16601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Ergodicity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8562E54-4C85-472B-B765-F70089567522}"/>
                </a:ext>
              </a:extLst>
            </p:cNvPr>
            <p:cNvCxnSpPr>
              <a:stCxn id="23" idx="2"/>
            </p:cNvCxnSpPr>
            <p:nvPr/>
          </p:nvCxnSpPr>
          <p:spPr>
            <a:xfrm>
              <a:off x="8470271" y="2449159"/>
              <a:ext cx="0" cy="364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E442FC0-F15A-4D56-BE60-A19A35B66654}"/>
              </a:ext>
            </a:extLst>
          </p:cNvPr>
          <p:cNvSpPr txBox="1"/>
          <p:nvPr/>
        </p:nvSpPr>
        <p:spPr>
          <a:xfrm>
            <a:off x="698307" y="2253523"/>
            <a:ext cx="4915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“Weird” property in ensemble theory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3809F4-EBE3-494B-9237-F68C463BDB37}"/>
              </a:ext>
            </a:extLst>
          </p:cNvPr>
          <p:cNvGrpSpPr/>
          <p:nvPr/>
        </p:nvGrpSpPr>
        <p:grpSpPr>
          <a:xfrm>
            <a:off x="8394359" y="3814825"/>
            <a:ext cx="4065472" cy="1810607"/>
            <a:chOff x="8529109" y="3814825"/>
            <a:chExt cx="4065472" cy="181060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81C5EB-5E6B-40E4-9777-5368069A0968}"/>
                </a:ext>
              </a:extLst>
            </p:cNvPr>
            <p:cNvSpPr txBox="1"/>
            <p:nvPr/>
          </p:nvSpPr>
          <p:spPr>
            <a:xfrm>
              <a:off x="8529109" y="3814825"/>
              <a:ext cx="406547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Sometime, the statistical behavior may be convenient to be described by time average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C919A9C-4FC7-41B3-8F02-4618D8E98AB3}"/>
                </a:ext>
              </a:extLst>
            </p:cNvPr>
            <p:cNvCxnSpPr>
              <a:cxnSpLocks/>
            </p:cNvCxnSpPr>
            <p:nvPr/>
          </p:nvCxnSpPr>
          <p:spPr>
            <a:xfrm>
              <a:off x="9722069" y="5154480"/>
              <a:ext cx="556980" cy="4709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D6E3C7-0576-44CE-9CB1-F1638B8E6A92}"/>
              </a:ext>
            </a:extLst>
          </p:cNvPr>
          <p:cNvGrpSpPr/>
          <p:nvPr/>
        </p:nvGrpSpPr>
        <p:grpSpPr>
          <a:xfrm>
            <a:off x="384836" y="4142812"/>
            <a:ext cx="5245312" cy="2379925"/>
            <a:chOff x="384836" y="4142812"/>
            <a:chExt cx="5245312" cy="237992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FFC6B2D-D961-4D7B-BFCF-2611CF639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576" y="5501190"/>
              <a:ext cx="4639213" cy="77159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FC9A365-AAA8-4D4A-9A2D-813D717AA596}"/>
                </a:ext>
              </a:extLst>
            </p:cNvPr>
            <p:cNvSpPr txBox="1"/>
            <p:nvPr/>
          </p:nvSpPr>
          <p:spPr>
            <a:xfrm>
              <a:off x="1887417" y="6061072"/>
              <a:ext cx="25981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(Ensemble average)</a:t>
              </a:r>
              <a:endParaRPr lang="en-US" sz="24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26F7717-299F-43DE-A541-51A32B11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836" y="4142812"/>
              <a:ext cx="5245312" cy="1241673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B396175-E687-4964-863D-98C27054BC68}"/>
              </a:ext>
            </a:extLst>
          </p:cNvPr>
          <p:cNvGrpSpPr/>
          <p:nvPr/>
        </p:nvGrpSpPr>
        <p:grpSpPr>
          <a:xfrm>
            <a:off x="5628248" y="4599655"/>
            <a:ext cx="5758038" cy="1949923"/>
            <a:chOff x="5628248" y="4599655"/>
            <a:chExt cx="5758038" cy="194992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075AFFA-AEB9-4E96-A6B5-BA40F4F8D777}"/>
                </a:ext>
              </a:extLst>
            </p:cNvPr>
            <p:cNvGrpSpPr/>
            <p:nvPr/>
          </p:nvGrpSpPr>
          <p:grpSpPr>
            <a:xfrm>
              <a:off x="5628248" y="5431638"/>
              <a:ext cx="5758038" cy="1117940"/>
              <a:chOff x="5628248" y="5431638"/>
              <a:chExt cx="5758038" cy="1117940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596A2809-2126-4F6D-8288-7341C689D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2387" y="5431638"/>
                <a:ext cx="4873899" cy="896010"/>
              </a:xfrm>
              <a:prstGeom prst="rect">
                <a:avLst/>
              </a:prstGeom>
            </p:spPr>
          </p:pic>
          <p:sp>
            <p:nvSpPr>
              <p:cNvPr id="32" name="Equal 5">
                <a:extLst>
                  <a:ext uri="{FF2B5EF4-FFF2-40B4-BE49-F238E27FC236}">
                    <a16:creationId xmlns:a16="http://schemas.microsoft.com/office/drawing/2014/main" id="{E7EFE049-BE0A-4256-8882-729D09E564AE}"/>
                  </a:ext>
                </a:extLst>
              </p:cNvPr>
              <p:cNvSpPr/>
              <p:nvPr/>
            </p:nvSpPr>
            <p:spPr>
              <a:xfrm>
                <a:off x="5628248" y="5716872"/>
                <a:ext cx="576909" cy="322702"/>
              </a:xfrm>
              <a:prstGeom prst="mathEqual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E82069-FCB8-4392-9BE1-21F16958F182}"/>
                  </a:ext>
                </a:extLst>
              </p:cNvPr>
              <p:cNvSpPr txBox="1"/>
              <p:nvPr/>
            </p:nvSpPr>
            <p:spPr>
              <a:xfrm>
                <a:off x="8933329" y="6087913"/>
                <a:ext cx="1985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(time average)</a:t>
                </a: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D0E1C36-FB19-4F83-AC18-D8202D22D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91666" y="4599655"/>
              <a:ext cx="892181" cy="896010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2888391-9B2F-4235-9C58-CCF8F07D72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8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8288" y="2010396"/>
            <a:ext cx="265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Liouville’s</a:t>
            </a:r>
            <a:r>
              <a:rPr lang="en-US" sz="2400" b="1" dirty="0"/>
              <a:t> theorem</a:t>
            </a:r>
            <a:r>
              <a:rPr lang="en-US" sz="24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87" y="2588332"/>
            <a:ext cx="5758276" cy="10142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113023" y="2551756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039" y="4187174"/>
            <a:ext cx="2026626" cy="58547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440" y="4233642"/>
            <a:ext cx="6251393" cy="49253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946309" y="4143934"/>
            <a:ext cx="6398246" cy="6431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29754" y="5053205"/>
            <a:ext cx="75791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So far we only have a very general statistical model. </a:t>
            </a:r>
          </a:p>
          <a:p>
            <a:pPr algn="ctr"/>
            <a:r>
              <a:rPr lang="en-US" sz="2400" b="1" dirty="0"/>
              <a:t>Relation with thermodynamics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C778C60-78FF-47F3-825D-F78785249C23}"/>
              </a:ext>
            </a:extLst>
          </p:cNvPr>
          <p:cNvGrpSpPr/>
          <p:nvPr/>
        </p:nvGrpSpPr>
        <p:grpSpPr>
          <a:xfrm>
            <a:off x="1977908" y="5855920"/>
            <a:ext cx="9493240" cy="790904"/>
            <a:chOff x="2829754" y="5625100"/>
            <a:chExt cx="9493240" cy="79090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EAB70D-4A21-4547-83FB-ACFE986CEEA1}"/>
                </a:ext>
              </a:extLst>
            </p:cNvPr>
            <p:cNvSpPr txBox="1"/>
            <p:nvPr/>
          </p:nvSpPr>
          <p:spPr>
            <a:xfrm>
              <a:off x="2829754" y="5811119"/>
              <a:ext cx="94932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Next, a specific form of                      ⇒ Microcanonical ensemble</a:t>
              </a: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87289AF-3695-4AF2-86C5-0904C0FD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42356" y="5625100"/>
              <a:ext cx="1807780" cy="790904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7EE319E-C236-4FE3-999C-928492B483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E782899-FE30-4AA5-984D-E9C3C319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C85A6A8-3D79-4A02-9E67-AFC1E5EF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55CDCF5-3971-41FF-BCDD-4AC9228C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页｜Liouville’s theorem and ensemble theory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8A94206-968E-4025-9BBC-E9FE4293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本讲主题：Liouville 定理与系综理论。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E82C963-DAFD-40EA-9478-1070C480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152663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351B3B7-D847-4811-92B5-7C84CC21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6EF849B-193F-4AF1-A1DD-DA9BEBDF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6E5DEEE-57E4-4641-8399-1154290F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4777709-7D2B-49FE-91EB-64944954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第一讲给了一个具体速度分布，本讲回答更一般的问题：经典多粒子系统的概率密度怎样随 Hamilton 动力学演化。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EBBB063-B501-483A-ACC7-A10CC7D6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157530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40C31C9-DCFE-4A03-9007-7F018BF9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EF19940-31B5-4CFB-8D56-72C9DEC3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25D7958-2FAC-4101-88E2-770E7BD5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页｜Building a statistical model for a many-particl…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53BF282-FCF7-4251-BEE6-FB7CA860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一个 N 粒子经典系统的微观态记为 μ=(p⃗1,…,p⃗N,q⃗1,…,q⃗N)，需要 6N 个变量。相空间 Γ 是所有可用状态的集合，每一点代表一个微观态。我们只关心宏观行为，因此要寻找正确的微观态分布；但每个粒子的物理定律不能被违反，所以分布不是任意的。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F14F430-7679-462F-810F-045142D3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780377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9BB74F9-E929-4960-8F83-6FFF0DA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EB8CF71-71BD-43D9-B88C-23D4834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F9101FB-7A67-4E21-B12B-B8066526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ABA398F-A85D-4FB3-AC29-606A0994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μ=(p⃗1,…,p⃗N,q⃗1,…,q⃗N)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 粒子微观态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dim Γ = 6N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三维 N 粒子相空间维数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6C7687C-29C7-4299-91D9-5ED6DE18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668319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92A08D2-74B5-4F53-94F6-D0A7D19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C2D2325-3C46-4F93-AF6A-F492F320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C704ED7-BC7A-42F2-8DF3-1F0D1A74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B5507FE-1E03-4BA0-897F-8821BD68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三维中每个粒子有 3 个位置与 3 个动量坐标。相空间并非普通空间，而是把系统完整初始条件排成一个高维坐标。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F37FACD-FD4B-459E-AD2C-4B67AB18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631367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00E3AE7-2BC6-4F48-94F1-F6B05C5B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A1209A4-B8AE-4210-9ED8-87EE0A40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98141DF-395E-4A81-BD64-BBC6636E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页｜Ensemble theory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F069CC2-AD3C-400B-BD3E-AC6D216E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想象有 𝒩 个完全相同的 N 粒子系统副本。在时刻 t，其中微观态落在 (p,q) 与 (p+dp,q+dq) 之间的副本比例，在 𝒩→∞ 时定义概率密度 ρ(p,q,t)dpdq，并满足 ∫ρ(p,q,t)dpdq=1。宏观量 O 的系综平均是 ⟨O⟩=∫dΓρ(p,q,t)O(p,q)，其中 dΓ=dpdq。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5C5993D-C581-4949-BDB3-2499217C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60704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E8F6D3E-FD80-4417-A397-A0326D1D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6A399AF-CA9B-451F-AAA2-F3D1DA7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8198311-D6A4-4CD5-A410-2DAA68B1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A94981A-F8D2-4ED0-BF16-59F384D9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dΓ = dpdq = ∏ᵢ₌₁ᴺ d³qi d³pi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相空间体积元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lim(𝒩→∞) Δ𝒩/𝒩 = ρ(p,q,t)dpdq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概率密度定义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∫ρ dpdq = 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归一化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⟨O⟩=∫dΓρO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系综平均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5C15061-2011-41F1-8B1C-067FA175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72523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35754A2-F02C-41F8-8D21-39993A83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2BC7136-E11D-4D6D-AC7F-7DE3F9CE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B7D6DC4-9805-45BC-867F-823C8CE2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767D519-D375-4AB5-8711-935A9E9A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“副本”是概率解释，不要求真的制造无限个系统。ρ 是密度，ρdpdq 才是无量纲概率。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14E231A-C3E1-4410-8A2D-A776E37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999368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FCA1CF6-3975-4A18-B071-ED49FA05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6AFCFE1-9917-45C1-A4F7-7DAFFE6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97FF167-B41A-4CFB-A3D8-7F2D4D39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页｜Probability conservation under time evolution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6E7164A-72E2-4B53-A5A2-04B3A17C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在短时间 δt 后，相空间小区域从 (p,q) 变为 (p′,q′)。随同一批副本演化，区域内副本数保持不变：Δ𝒩(p,q,t)=Δ𝒩(p′,q′,t+δt)。因此 ρ(p,q,t)dpdq=ρ(p′,q′,t+δt)dp′dq′。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676438D-0F4A-41B7-A1DE-2EFF84FA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897642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9395A7B-3376-42BF-B06E-57EAA286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AC81B05-9D3C-47EC-BB29-F5C521E6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6E8F68F-CD0E-4FFF-AB2D-D6053359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4CA3EB8-50AB-4BEE-8F76-5756B09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ρ(p,q,t)dpdq = ρ(p′,q′,t+δt)dp′dq′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随流概率守恒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18E31DD-D14A-4DA6-A2BF-679EC43B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664905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4BC1CAA-093D-489A-BB04-B52908E7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42A98A2-F74A-45E5-9FA8-BABFAF42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DE84A4C-F09E-4953-A813-1ACB2CED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09CECDA-7835-4B4D-B747-8DEE0DB2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这是概率守恒的随流写法。下一步只需判断 Hamilton 演化是否改变小体积 dpdq。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B31331D-C1D0-4488-87CC-EB77F8B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608757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A5B8B18-EBFD-4E76-A2D7-1EB544D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CAB55B2-2DC8-4234-BC51-7B228C74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906157-6506-4D6A-82FB-7AB75981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页｜Ensemble as copies moving through phase space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06C737D-6FE6-45E0-8562-22A885BD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老虎机图只是比喻：大量副本在相空间中占据不同微观态。跟踪红框中同一批副本从 t 到 t+δt，仍有 ρ(p,q,t)dpdq=ρ(p′,q′,t+δt)dp′dq′。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46327F0-5D8E-4492-A438-CBB6677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770933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C964657-C46F-40CE-9DAF-EC91A568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EA4610D-1C6A-4513-BD2B-2280EA67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37C507A-BB19-417E-8ECB-B1163BB6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14FC5F8-E377-4D65-80C6-EFC80888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ρ(p,q,t)dpdq = ρ(p′,q′,t+δt)dp′dq′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本页重复概率守恒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67FB1CE-C687-4B48-BD2C-B362F07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374440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134B59E-567A-4C6A-8999-0763A0A6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F3EA3FB-322A-4FEF-950D-6423AED3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74D2FAA-EE43-4F09-A4E3-77A04005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8D9D203-7674-4EE8-980F-3E061231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不要把图片中的“中奖”理解成概率偏好；它只强调统计频数和同一批成员。物理概率由动力学与约束决定。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52D9FF3-E74C-45EF-B0E6-CAB50757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29130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942D4B5-8892-493C-9A72-43D2F352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E211F9A-04FA-48F4-9896-78FC271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2D1B37B-0238-4AA7-98E1-9E8039F2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页｜Hamiltonian flow preserves phase-space volume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3AA670F-C54C-4694-9721-86C9A02A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小时间展开 q′α=qα+q̇αδt+O(δt²)，p′α=pα+ṗαδt+O(δt²)。Jacobian 给 dq′αdp′α=dqαdpα[1+(∂q̇α/∂qα+∂ṗα/∂pα)δt+O(δt²)]。Hamilton 方程使两项为 H 的混合偏导并相消，因此 dΓ′=dΓ。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BFF935E-31C1-4323-83CB-4C4829B7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699094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E9CBC18-874E-4C81-862A-A5FD1CB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FB54BEA-5F93-4A55-87FC-E80CFDFC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159D630-F1A2-4769-8813-F2586EE9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EE95C4B-8131-41D2-9A29-8CDA9479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q′α=qα+q̇αδt+O(δt²)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位置小时间展开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p′α=pα+ṗαδt+O(δt²)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动量小时间展开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∂q̇α/∂qα=∂²H/(∂pα∂qα)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Hamilton 方程后的第一项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∂ṗα/∂pα=−∂²H/(∂qα∂pα)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第二项与第一项相消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dΓ′=dΓ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相空间体积守恒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DB4CF97-0D68-4348-9383-AA88A409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469633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644FBC1-AD81-4260-95A9-5BC45AD6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AE0B400-01FB-4459-ADAB-B2026864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ADD6CF2-950C-44AB-BBA4-A2749F3F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C365BBB-8547-46B7-B47D-87BEDE19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Hamilton 流像不可压缩流体：区域可以拉长、折叠和移动，但随流体积不变。抵消依赖 H 足够光滑，混合偏导可交换。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318D695-1808-4773-A706-A1694AF9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817160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3EA6C78-0CB8-4847-841A-36522B4D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C7563CD-F85A-436B-8E07-39D85460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F1A8EB9-668B-44C2-A580-6B6CD487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页｜Liouville equation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8BEB6E4-3BB7-43BA-86DF-9CAADFCA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结合概率守恒与 dΓ′=dΓ，得到分布的运动方程。Hamilton 方程是 dq⃗i/dt=∂H/∂p⃗i、dp⃗i/dt=−∂H/∂q⃗i。Liouville 方程写为 ∂ρ/∂t=Σα₌₁³ᴺ[(∂ρ/∂pα)(∂H/∂qα)−(∂ρ/∂qα)(∂H/∂pα)]=−{ρ,H}。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F3FE7A5-7FEC-4E32-A546-81AA3BCF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947376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FB8DC0F-61B2-40E1-A2E3-0A34E1D6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914D4AF-FC2D-446B-B69F-4A569C8C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3A484AA-FE73-4DEB-98CD-452C5ACC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744EC0D-A0E4-4739-9BFB-209A2556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dq⃗i/dt=∂H/∂p⃗i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Hamilton 位置方程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dp⃗i/dt=−∂H/∂q⃗i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Hamilton 动量方程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∂ρ/∂t=−{ρ,H}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Liouville 方程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6527A97-970C-4E84-A3B3-B6FD775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8999121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CD3E631-7F1B-49BA-8466-603AF6B0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11258CC-08AD-4739-880F-2A347857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79F587A-D381-4A43-9338-5CF799B1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B6CBF34-D28C-4B3E-A5A6-AB5B921A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这里的 ∂ρ/∂t 是固定相空间坐标下的变化；沿 Hamilton 轨迹的总导数 dρ/dt=∂tρ+{ρ,H}=0。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C63B656-E69F-48E3-B729-C8517A97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8653645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609842E-1345-443A-B66E-2E92AF7F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C169D81-E09B-4C21-9C87-F39A6D4E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27E2D2C-2D3E-4B09-A9A9-9F9B7ADF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页｜Stationary equilibrium distributions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EE550A3-DA74-4EF9-BA2A-A0DAC110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平衡时系综平均不随时间改变。令 ∂ρeq/∂t=0，则 {ρeq,H}=0。若 ρeq 只依赖总能量 H(p,q)，链式法则给 {ρ(H),H}=ρ′(H){H,H}=0。因此课件得出平衡分布必须只依赖总能量。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3CDEF46-2965-4D19-A389-7490DC6C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958094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E7EB44B-57CD-4E41-A35B-FD3DDE34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A092C23-7D57-4196-9E94-3167219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5FA5B6A-E20B-4C0F-9DF9-4AA47472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D362706-6CE5-429A-839A-316CCF7A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∂ρeq/∂t=0 ⇒ {ρeq,H}=0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平衡定常条件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ρeq=ρ(H(p,q))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能量函数形式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{ρ(H),H}=ρ′(H){H,H}=0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充分性的链式法则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90E3388-6BD8-49D2-94FA-033D89BA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0887873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1564E59-EB63-4E41-852F-D8733251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6530F99-EB33-4C2E-9311-6FEA2FD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67F7481-20A9-45AC-9F55-B6D5BB14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FC553BA-A1B7-43ED-B7E5-FA3AF7EC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更准确地说，只依赖 H 是充分条件；若还有其他守恒量，分布也可依赖它们，下一页会推广。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55EBF41-5D4F-48FE-ADB8-D22C2D28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3098793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564127E-8F59-4AC6-AA51-A976CFB4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7AFEEDD-852F-44D0-AC1F-4C87DDAB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1D53EBF-B4E1-4A84-B1BA-E29E5D94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页｜Additional conserved quantities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D9BAD3A-E10D-4C0A-BDA4-3C983E5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若系统还有守恒量 Ln，满足 {Ln,H}=0，则平衡分布可推广为 ρeq(p,q)=ρ(H(p,q),L1(p,q),L2(p,q),…)。这种形式仍满足 Liouville 定理。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1E36BAB-032D-492D-9607-EC7A533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2167166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65D0016-A97F-4BC1-B776-330CA8CE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C6A14D8-A005-4F38-8ED4-7AA9355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87250FA-F968-4144-8905-990901EF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B619C99-A112-4385-986E-A9A64409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{Ln,H}=0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Ln 守恒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ρeq=ρ(H,L1,L2,…)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一般定常分布形式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4BCDC78-34D9-4273-A258-B1679E06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2211525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5216569-C95C-4311-942F-2FEA9035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E5F98CB-AB14-4369-8882-C05CD583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6D506D5-8F17-45E7-AD1E-1037271D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BC17839-13FA-4261-9032-E2BC07AD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守恒量沿轨迹不变，所以它们的任意光滑函数也沿轨迹不变。具体系综要再由宏观控制条件决定函数的形状。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6FB7708-C677-44D4-828D-5C429778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3405576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AE11AD9-CDAC-4754-9D7C-A12BE322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9513C37-3209-4EC3-AF80-350D1B77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C29BD57-7DD2-4AED-B705-A249F9B1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页｜The relaxation puzzle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8AF937C-585A-4C2C-885E-3160256F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系综理论的一个“奇怪”问题：ρ(p,q,t) 是否在 t→∞ 时趋向 ρeq(p,q)？Newton 力学没有内建的时间方向，因此仅靠可逆微观动力学不能直接保证不可逆地趋于平衡。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8A83876-5651-4142-9EA9-3AC58782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3347685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20910D3-08B2-43B3-8E38-52B92FDE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1F83B67-7A19-4058-835E-AF64EDD9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FC9A822-A553-4E60-A3BE-19D7F97D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434D754-6C65-4CF0-970E-D7B9210E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ρ(p,q,t) → ρeq(p,q) as t→∞ ?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课件提出而未由 Liouville 单独解决的问题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C6633E0-D9E1-49C3-B69B-06694960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5346240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0C02A25-3874-4570-BCD4-DFD60730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5BF7E02-DA69-4234-8C19-D920DC4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EA92910-9679-4662-BD2F-DD2E45AA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7E95455-1147-48CF-ACF4-AE5BD57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这就是微观可逆与宏观不可逆的张力。真实平衡论证还涉及典型性、混合、粗粒化或环境，Liouville 定理本身不够。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FC459E3-6513-4363-8E65-A4D0BBFB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688647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5DB6BEC-F79A-40D5-BF28-60440822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B1E19B3-99B4-488E-A7F8-AC3C3D51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E5074DE-87D2-4A2C-81DD-625240B6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页｜Time-reversal symmetry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43DA2DF-52DD-435F-946D-EB15552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若物理定律具有时间反演对称性，倒放的运动仍服从同样的定律。以 Newton 第二定律为例，把 t 换成 −t 时速度变号，而二阶时间导数不变，所以运动方程形式不变。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34692FB-1ECA-46D8-8A21-2FF488AD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0067940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0F5AE28-47F8-4544-9B4F-22F8998E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A9731D1-BC7E-4C58-A096-45EF9D97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3708181-34A2-483C-84F7-DD158427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C8F8C58-56BF-4C46-BADC-A79FA7DD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时间反演不是简单把影片倒放，还要变换所有奇于时间反演的量，例如动量、角动量和磁场。原页中若干公式对象渲染为短横线，无法逐字辨认。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0EED201-F625-45C7-B311-77B2A734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6782120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B1D3AEE-B953-49C7-A8C7-E3C7353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6053955-EB41-4ECE-B336-8D709D62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198A557-D985-41E5-B7B4-451BF26C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页｜Indistinguishable forward and reversed motion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E5D83D0-6DB3-4072-8590-B31FCE45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考虑一个小球匀速运动。向右前进的过程倒放后，看起来与另一个向左前进再倒放的过程不可区分。仅看一个物体从左到右运动，无法判断时间方向。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5E720F1-77C4-477B-8FC5-8A31B6A2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4312858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7BAC416-2AD7-4230-92C7-929B570D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32F6BB8-0E91-437B-A7D8-109BDA19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6430012-14EE-478D-B773-426B23D0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02F48D7-A31E-4AFE-A709-E7F11883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匀速运动没有摩擦、碎裂或扩散等宏观线索，所以影片正放和倒放都符合动力学。时间箭头来自大量自由度的统计行为，不由这条轨迹单独给出。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7791C8C-3602-4E48-A670-C3252DD4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2761974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4F0CD90-7B93-4FE3-B69F-1FE8EB4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E7FD512-41E7-433E-9F08-90825520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5C5C3EC-7890-4695-8818-3FB2CA3F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页｜Examples of time-reversal symmetry breaking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65856E3-C460-412A-B8AB-0B56F8C8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时间反演对称破缺的例子包括标准模型中的弱相互作用，以及 Hall 效应中磁场对时间反演对称性的破坏。课堂例子是 AMS 实验：探测器中的强磁场使带电粒子轨迹弯曲，从而帮助判断电荷正负，区分粒子和反粒子。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6E3B0C5-4EAE-449B-B007-A969658F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5465287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5C396F7-A476-4ED5-A7FB-ECBD1474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08F3A97-792A-4E90-A2CC-47A901ED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372ADD1-07AA-4E22-AE88-FD526B7B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AA52596-9368-4B95-94AE-94626B9E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磁场下严格的时间反演需要同时把 B 反向。若只倒放粒子速度而保持 B 不变，Lorentz 力轨迹一般不再相同。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185D14D-F802-419E-B53D-56A6A427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0139034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887F2EE-F421-4775-9B12-10C04E37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40DC2FA-41E5-4484-8BDD-B403FD5E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00427D2-4D21-477A-9C0F-E2C7FC96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页｜Why Liouville does not guarantee equilibration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D6E8F11-75F0-4929-816D-CA42CB92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把两个温度分别为 T1、T2 的系统接触，总能量 E 在两边交换，E2=E−E1。问题是它们会不会永远停在平衡。课件强调：Liouville 定理不能保证这一点。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ACCE4E8-C52E-4ACC-BE2D-311985CD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8541837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CEC3AB8-F326-4C72-B963-0C3271EC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1413624-FD1F-493D-B26D-2914A55C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4032AEE-C1FF-42A5-8BC8-97BDA865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1EC978A-CC88-4B85-8819-CCF32EAA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E2 = E − E1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两子系统固定总能量下的分配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EA4444E-5749-4946-9ED5-E056E58A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6575706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E576AAE-0C83-4E7D-BBC8-5BCC4AAF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4B37CD3-39D1-4BE3-85F5-F7FCD214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1898043-89F6-4307-8631-ED6AC2F0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DAB3C36-3096-42CB-94A4-DB26A6FC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Liouville 只保证相空间体积守恒和分布沿流输运，并不自动说明宏观变量如何失去初始记忆。弛豫需要更多动力学或统计假设。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566DEE5-C77E-4649-B228-33684C5F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3208298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632BEC6-3608-4E8E-ACC9-35E8A5B9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1DA7B51-3C7D-45E8-9782-B003D690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67EBBB1-C762-404B-B051-549D3E69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页｜Ergodicity and time average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FBD5BDF-284F-4D65-9A4B-AC8C233F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遍历性把系综平均与单个系统的长时间平均联系起来。课件写 ρ(p,q,t)≈ρeq(p,q) 对大多数时刻成立，并比较 ⟨O⟩=∫O(p,q)ρeq(p,q)dpdq 与 Ō=lim(T→∞)(1/T)∫₀ᵀO(p(t),q(t))dt。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BB6D7E3-F880-4A09-9A0D-22A587AF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9098431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9FC7F8F-8C3A-4180-9BE6-3918DF1D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FF0904F-4EDA-4CA7-94E9-07551F8E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154F5BA-420A-4762-BAF6-A44D417B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86D4131-E4A5-4717-92F5-5DF2C8F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⟨O⟩=∫Oρeq dpdq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系综平均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Ō=lim(T→∞)(1/T)∫₀ᵀO(p(t),q(t))dt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时间平均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⟨O⟩ = Ō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遍历条件下的对应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4AB761E-D7FC-4117-9584-23CDB2F9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1212139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CBF7B9E-060F-4C1C-AA90-9CE48C77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0F2E2B3-56B6-4634-B42D-98877F8A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C0694D6-437C-4BB6-A72B-256B139A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853FDE1-CD38-45C6-B48B-D1FB28AF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实验常观察一个系统很久，理论却对许多副本平均。遍历假设允许两者相等，但并非所有系统严格遍历；本课程主要把它作为平衡统计的工作假设。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E131258-9997-4AE8-8D90-61DC0FDA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4893441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801A0FE-4A93-4A3A-81EE-3DD387A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0703F0E-6A51-43EE-A92E-766EF661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C54F771-8259-4EC2-8086-1C624C92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页｜Questions and transition to the microcanonical…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F251686-2B41-44C3-8DDE-AC605ACF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本讲总结：Liouville 方程 ∂ρ/∂t=−{ρ,H}；定常分布可写成 H 与其他守恒量 Ln 的函数，且 {Ln,H}=0。到目前只有很一般的统计模型，还没有建立与热力学的具体联系。下一步选择 ρ 的具体形式，得到微正则系综。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C591CB7-7BD8-4433-A899-373AC70F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4772854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A62603C-7956-42E4-9338-C8F1AFC0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788CD32-7C10-4E98-8FFD-60CAD6FA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B9398A0-1429-45FD-B8BF-0BA9F5E9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A76AF50-6FF3-406D-A3DC-3509F980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∂ρ/∂t=−{ρ,H}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Liouville 方程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ρeq=ρ(H,L1,L2,…)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一般定常形式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{Ln,H}=0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守恒量条件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A369311-7B29-4EB1-A8F4-C0F5C4DB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5587874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8DB8CCC-3448-4C19-9406-EEC75B95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743B115-36DA-4697-AF77-BC647F50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42A81AB-3440-4D4D-94FF-DDEAB78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1C329F1-5E91-4729-986D-3FFC5E04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记住两层结论：动力学限制“哪些分布可以定常”，宏观约束再选择“实际使用哪个系综”。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66CC72B-F4BB-4F43-BF69-B110BBEF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78190296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575</Words>
  <Application>Microsoft Office PowerPoint</Application>
  <PresentationFormat>Widescreen</PresentationFormat>
  <Paragraphs>86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Time-reversal symmetry</vt:lpstr>
      <vt:lpstr>Time-reversal symmetry</vt:lpstr>
      <vt:lpstr>Example for Time-reversal symmetry breaking</vt:lpstr>
      <vt:lpstr>Building a statistical model for a many-particles system</vt:lpstr>
      <vt:lpstr>Building a statistical model for a many-particles system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1660</cp:revision>
  <dcterms:created xsi:type="dcterms:W3CDTF">2024-08-25T23:32:26Z</dcterms:created>
  <dcterms:modified xsi:type="dcterms:W3CDTF">2025-09-29T12:28:23Z</dcterms:modified>
</cp:coreProperties>
</file>