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notesMasterIdLst>
    <p:notesMasterId r:id="rId15"/>
  </p:notesMasterIdLst>
  <p:sldIdLst>
    <p:sldId id="336" r:id="rId2"/>
    <p:sldId id="434" r:id="rId20"/>
    <p:sldId id="435" r:id="rId21"/>
    <p:sldId id="318" r:id="rId3"/>
    <p:sldId id="436" r:id="rId22"/>
    <p:sldId id="437" r:id="rId23"/>
    <p:sldId id="438" r:id="rId24"/>
    <p:sldId id="417" r:id="rId4"/>
    <p:sldId id="439" r:id="rId25"/>
    <p:sldId id="440" r:id="rId26"/>
    <p:sldId id="441" r:id="rId27"/>
    <p:sldId id="420" r:id="rId5"/>
    <p:sldId id="442" r:id="rId28"/>
    <p:sldId id="443" r:id="rId29"/>
    <p:sldId id="444" r:id="rId30"/>
    <p:sldId id="421" r:id="rId6"/>
    <p:sldId id="445" r:id="rId31"/>
    <p:sldId id="446" r:id="rId32"/>
    <p:sldId id="447" r:id="rId33"/>
    <p:sldId id="433" r:id="rId7"/>
    <p:sldId id="448" r:id="rId34"/>
    <p:sldId id="449" r:id="rId35"/>
    <p:sldId id="450" r:id="rId36"/>
    <p:sldId id="418" r:id="rId8"/>
    <p:sldId id="451" r:id="rId37"/>
    <p:sldId id="452" r:id="rId38"/>
    <p:sldId id="453" r:id="rId39"/>
    <p:sldId id="423" r:id="rId9"/>
    <p:sldId id="454" r:id="rId40"/>
    <p:sldId id="455" r:id="rId41"/>
    <p:sldId id="456" r:id="rId42"/>
    <p:sldId id="422" r:id="rId10"/>
    <p:sldId id="457" r:id="rId43"/>
    <p:sldId id="458" r:id="rId44"/>
    <p:sldId id="424" r:id="rId11"/>
    <p:sldId id="459" r:id="rId45"/>
    <p:sldId id="460" r:id="rId46"/>
    <p:sldId id="461" r:id="rId47"/>
    <p:sldId id="425" r:id="rId12"/>
    <p:sldId id="462" r:id="rId48"/>
    <p:sldId id="463" r:id="rId49"/>
    <p:sldId id="464" r:id="rId50"/>
    <p:sldId id="426" r:id="rId13"/>
    <p:sldId id="465" r:id="rId51"/>
    <p:sldId id="466" r:id="rId52"/>
    <p:sldId id="467" r:id="rId53"/>
    <p:sldId id="431" r:id="rId14"/>
    <p:sldId id="468" r:id="rId54"/>
    <p:sldId id="469" r:id="rId55"/>
    <p:sldId id="470" r:id="rId5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1AA0D3"/>
    <a:srgbClr val="FFFFFF"/>
    <a:srgbClr val="DFE3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712"/>
  </p:normalViewPr>
  <p:slideViewPr>
    <p:cSldViewPr snapToGrid="0" snapToObjects="1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0C4CF7-F995-064A-A609-EA130F94374C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F87CB1-692F-4249-B4E0-C0426D9B9C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23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6371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726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7768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08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881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9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540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950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4918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558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9586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smtClean="0"/>
              <a:pPr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0306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13" Type="http://schemas.openxmlformats.org/officeDocument/2006/relationships/image" Target="../media/image13.emf"/><Relationship Id="rId3" Type="http://schemas.openxmlformats.org/officeDocument/2006/relationships/image" Target="../media/image3.emf"/><Relationship Id="rId7" Type="http://schemas.openxmlformats.org/officeDocument/2006/relationships/image" Target="../media/image7.svg"/><Relationship Id="rId12" Type="http://schemas.openxmlformats.org/officeDocument/2006/relationships/image" Target="../media/image12.emf"/><Relationship Id="rId17" Type="http://schemas.openxmlformats.org/officeDocument/2006/relationships/image" Target="../media/image17.png"/><Relationship Id="rId2" Type="http://schemas.openxmlformats.org/officeDocument/2006/relationships/image" Target="../media/image2.emf"/><Relationship Id="rId16" Type="http://schemas.openxmlformats.org/officeDocument/2006/relationships/image" Target="../media/image16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emf"/><Relationship Id="rId5" Type="http://schemas.openxmlformats.org/officeDocument/2006/relationships/image" Target="../media/image5.svg"/><Relationship Id="rId15" Type="http://schemas.openxmlformats.org/officeDocument/2006/relationships/image" Target="../media/image15.png"/><Relationship Id="rId10" Type="http://schemas.openxmlformats.org/officeDocument/2006/relationships/image" Target="../media/image10.emf"/><Relationship Id="rId4" Type="http://schemas.openxmlformats.org/officeDocument/2006/relationships/image" Target="../media/image4.png"/><Relationship Id="rId9" Type="http://schemas.openxmlformats.org/officeDocument/2006/relationships/image" Target="../media/image9.emf"/><Relationship Id="rId14" Type="http://schemas.openxmlformats.org/officeDocument/2006/relationships/image" Target="../media/image14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13" Type="http://schemas.openxmlformats.org/officeDocument/2006/relationships/image" Target="../media/image21.emf"/><Relationship Id="rId3" Type="http://schemas.openxmlformats.org/officeDocument/2006/relationships/image" Target="../media/image5.svg"/><Relationship Id="rId7" Type="http://schemas.openxmlformats.org/officeDocument/2006/relationships/image" Target="../media/image19.emf"/><Relationship Id="rId12" Type="http://schemas.openxmlformats.org/officeDocument/2006/relationships/image" Target="../media/image20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emf"/><Relationship Id="rId11" Type="http://schemas.openxmlformats.org/officeDocument/2006/relationships/image" Target="../media/image10.emf"/><Relationship Id="rId5" Type="http://schemas.openxmlformats.org/officeDocument/2006/relationships/image" Target="../media/image7.svg"/><Relationship Id="rId15" Type="http://schemas.openxmlformats.org/officeDocument/2006/relationships/image" Target="../media/image17.png"/><Relationship Id="rId10" Type="http://schemas.openxmlformats.org/officeDocument/2006/relationships/image" Target="../media/image9.emf"/><Relationship Id="rId4" Type="http://schemas.openxmlformats.org/officeDocument/2006/relationships/image" Target="../media/image6.png"/><Relationship Id="rId9" Type="http://schemas.openxmlformats.org/officeDocument/2006/relationships/image" Target="../media/image8.emf"/><Relationship Id="rId14" Type="http://schemas.openxmlformats.org/officeDocument/2006/relationships/image" Target="../media/image22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13" Type="http://schemas.openxmlformats.org/officeDocument/2006/relationships/image" Target="../media/image27.emf"/><Relationship Id="rId18" Type="http://schemas.openxmlformats.org/officeDocument/2006/relationships/image" Target="../media/image32.emf"/><Relationship Id="rId3" Type="http://schemas.openxmlformats.org/officeDocument/2006/relationships/image" Target="../media/image5.svg"/><Relationship Id="rId7" Type="http://schemas.openxmlformats.org/officeDocument/2006/relationships/image" Target="../media/image8.emf"/><Relationship Id="rId12" Type="http://schemas.openxmlformats.org/officeDocument/2006/relationships/image" Target="../media/image26.emf"/><Relationship Id="rId17" Type="http://schemas.openxmlformats.org/officeDocument/2006/relationships/image" Target="../media/image31.emf"/><Relationship Id="rId2" Type="http://schemas.openxmlformats.org/officeDocument/2006/relationships/image" Target="../media/image4.png"/><Relationship Id="rId16" Type="http://schemas.openxmlformats.org/officeDocument/2006/relationships/image" Target="../media/image30.emf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emf"/><Relationship Id="rId11" Type="http://schemas.openxmlformats.org/officeDocument/2006/relationships/image" Target="../media/image25.emf"/><Relationship Id="rId5" Type="http://schemas.openxmlformats.org/officeDocument/2006/relationships/image" Target="../media/image7.svg"/><Relationship Id="rId15" Type="http://schemas.openxmlformats.org/officeDocument/2006/relationships/image" Target="../media/image29.emf"/><Relationship Id="rId10" Type="http://schemas.openxmlformats.org/officeDocument/2006/relationships/image" Target="../media/image24.emf"/><Relationship Id="rId19" Type="http://schemas.openxmlformats.org/officeDocument/2006/relationships/image" Target="../media/image33.emf"/><Relationship Id="rId4" Type="http://schemas.openxmlformats.org/officeDocument/2006/relationships/image" Target="../media/image6.png"/><Relationship Id="rId9" Type="http://schemas.openxmlformats.org/officeDocument/2006/relationships/image" Target="../media/image23.emf"/><Relationship Id="rId14" Type="http://schemas.openxmlformats.org/officeDocument/2006/relationships/image" Target="../media/image28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13" Type="http://schemas.openxmlformats.org/officeDocument/2006/relationships/image" Target="../media/image27.emf"/><Relationship Id="rId18" Type="http://schemas.openxmlformats.org/officeDocument/2006/relationships/image" Target="../media/image37.emf"/><Relationship Id="rId3" Type="http://schemas.openxmlformats.org/officeDocument/2006/relationships/image" Target="../media/image5.svg"/><Relationship Id="rId21" Type="http://schemas.openxmlformats.org/officeDocument/2006/relationships/image" Target="../media/image17.png"/><Relationship Id="rId7" Type="http://schemas.openxmlformats.org/officeDocument/2006/relationships/image" Target="../media/image8.emf"/><Relationship Id="rId12" Type="http://schemas.openxmlformats.org/officeDocument/2006/relationships/image" Target="../media/image24.emf"/><Relationship Id="rId17" Type="http://schemas.openxmlformats.org/officeDocument/2006/relationships/image" Target="../media/image36.emf"/><Relationship Id="rId2" Type="http://schemas.openxmlformats.org/officeDocument/2006/relationships/image" Target="../media/image4.png"/><Relationship Id="rId16" Type="http://schemas.openxmlformats.org/officeDocument/2006/relationships/image" Target="../media/image35.emf"/><Relationship Id="rId20" Type="http://schemas.openxmlformats.org/officeDocument/2006/relationships/image" Target="../media/image3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emf"/><Relationship Id="rId11" Type="http://schemas.openxmlformats.org/officeDocument/2006/relationships/image" Target="../media/image23.emf"/><Relationship Id="rId5" Type="http://schemas.openxmlformats.org/officeDocument/2006/relationships/image" Target="../media/image7.svg"/><Relationship Id="rId15" Type="http://schemas.openxmlformats.org/officeDocument/2006/relationships/image" Target="../media/image34.emf"/><Relationship Id="rId10" Type="http://schemas.openxmlformats.org/officeDocument/2006/relationships/image" Target="../media/image26.emf"/><Relationship Id="rId19" Type="http://schemas.openxmlformats.org/officeDocument/2006/relationships/image" Target="../media/image32.emf"/><Relationship Id="rId4" Type="http://schemas.openxmlformats.org/officeDocument/2006/relationships/image" Target="../media/image6.png"/><Relationship Id="rId9" Type="http://schemas.openxmlformats.org/officeDocument/2006/relationships/image" Target="../media/image25.emf"/><Relationship Id="rId14" Type="http://schemas.openxmlformats.org/officeDocument/2006/relationships/image" Target="../media/image31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jpeg"/><Relationship Id="rId13" Type="http://schemas.openxmlformats.org/officeDocument/2006/relationships/image" Target="../media/image10.emf"/><Relationship Id="rId3" Type="http://schemas.openxmlformats.org/officeDocument/2006/relationships/image" Target="../media/image39.emf"/><Relationship Id="rId7" Type="http://schemas.openxmlformats.org/officeDocument/2006/relationships/image" Target="../media/image43.emf"/><Relationship Id="rId12" Type="http://schemas.openxmlformats.org/officeDocument/2006/relationships/image" Target="../media/image9.emf"/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emf"/><Relationship Id="rId11" Type="http://schemas.openxmlformats.org/officeDocument/2006/relationships/image" Target="../media/image8.emf"/><Relationship Id="rId5" Type="http://schemas.openxmlformats.org/officeDocument/2006/relationships/image" Target="../media/image41.emf"/><Relationship Id="rId10" Type="http://schemas.openxmlformats.org/officeDocument/2006/relationships/image" Target="../media/image2.emf"/><Relationship Id="rId4" Type="http://schemas.openxmlformats.org/officeDocument/2006/relationships/image" Target="../media/image40.emf"/><Relationship Id="rId9" Type="http://schemas.openxmlformats.org/officeDocument/2006/relationships/image" Target="../media/image45.jpeg"/><Relationship Id="rId1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13" Type="http://schemas.openxmlformats.org/officeDocument/2006/relationships/image" Target="../media/image48.png"/><Relationship Id="rId18" Type="http://schemas.openxmlformats.org/officeDocument/2006/relationships/image" Target="../media/image52.svg"/><Relationship Id="rId3" Type="http://schemas.openxmlformats.org/officeDocument/2006/relationships/image" Target="../media/image5.svg"/><Relationship Id="rId7" Type="http://schemas.openxmlformats.org/officeDocument/2006/relationships/image" Target="../media/image8.emf"/><Relationship Id="rId12" Type="http://schemas.openxmlformats.org/officeDocument/2006/relationships/image" Target="../media/image24.emf"/><Relationship Id="rId17" Type="http://schemas.openxmlformats.org/officeDocument/2006/relationships/image" Target="../media/image51.png"/><Relationship Id="rId2" Type="http://schemas.openxmlformats.org/officeDocument/2006/relationships/image" Target="../media/image4.png"/><Relationship Id="rId16" Type="http://schemas.openxmlformats.org/officeDocument/2006/relationships/image" Target="../media/image5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emf"/><Relationship Id="rId11" Type="http://schemas.openxmlformats.org/officeDocument/2006/relationships/image" Target="../media/image23.emf"/><Relationship Id="rId5" Type="http://schemas.openxmlformats.org/officeDocument/2006/relationships/image" Target="../media/image7.svg"/><Relationship Id="rId15" Type="http://schemas.openxmlformats.org/officeDocument/2006/relationships/image" Target="../media/image17.png"/><Relationship Id="rId10" Type="http://schemas.openxmlformats.org/officeDocument/2006/relationships/image" Target="../media/image47.emf"/><Relationship Id="rId4" Type="http://schemas.openxmlformats.org/officeDocument/2006/relationships/image" Target="../media/image6.png"/><Relationship Id="rId9" Type="http://schemas.openxmlformats.org/officeDocument/2006/relationships/image" Target="../media/image46.emf"/><Relationship Id="rId14" Type="http://schemas.openxmlformats.org/officeDocument/2006/relationships/image" Target="../media/image49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13" Type="http://schemas.openxmlformats.org/officeDocument/2006/relationships/image" Target="../media/image17.png"/><Relationship Id="rId3" Type="http://schemas.openxmlformats.org/officeDocument/2006/relationships/image" Target="../media/image5.svg"/><Relationship Id="rId7" Type="http://schemas.openxmlformats.org/officeDocument/2006/relationships/image" Target="../media/image8.emf"/><Relationship Id="rId12" Type="http://schemas.openxmlformats.org/officeDocument/2006/relationships/image" Target="../media/image24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emf"/><Relationship Id="rId11" Type="http://schemas.openxmlformats.org/officeDocument/2006/relationships/image" Target="../media/image23.emf"/><Relationship Id="rId5" Type="http://schemas.openxmlformats.org/officeDocument/2006/relationships/image" Target="../media/image7.svg"/><Relationship Id="rId10" Type="http://schemas.openxmlformats.org/officeDocument/2006/relationships/image" Target="../media/image53.emf"/><Relationship Id="rId4" Type="http://schemas.openxmlformats.org/officeDocument/2006/relationships/image" Target="../media/image6.png"/><Relationship Id="rId9" Type="http://schemas.openxmlformats.org/officeDocument/2006/relationships/image" Target="../media/image47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emf"/><Relationship Id="rId3" Type="http://schemas.openxmlformats.org/officeDocument/2006/relationships/image" Target="../media/image55.emf"/><Relationship Id="rId7" Type="http://schemas.openxmlformats.org/officeDocument/2006/relationships/image" Target="../media/image59.emf"/><Relationship Id="rId2" Type="http://schemas.openxmlformats.org/officeDocument/2006/relationships/image" Target="../media/image5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emf"/><Relationship Id="rId5" Type="http://schemas.openxmlformats.org/officeDocument/2006/relationships/image" Target="../media/image57.emf"/><Relationship Id="rId10" Type="http://schemas.openxmlformats.org/officeDocument/2006/relationships/image" Target="../media/image17.png"/><Relationship Id="rId4" Type="http://schemas.openxmlformats.org/officeDocument/2006/relationships/image" Target="../media/image56.emf"/><Relationship Id="rId9" Type="http://schemas.openxmlformats.org/officeDocument/2006/relationships/image" Target="../media/image61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emf"/><Relationship Id="rId3" Type="http://schemas.openxmlformats.org/officeDocument/2006/relationships/image" Target="../media/image56.emf"/><Relationship Id="rId7" Type="http://schemas.openxmlformats.org/officeDocument/2006/relationships/image" Target="../media/image64.emf"/><Relationship Id="rId2" Type="http://schemas.openxmlformats.org/officeDocument/2006/relationships/image" Target="../media/image5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emf"/><Relationship Id="rId5" Type="http://schemas.openxmlformats.org/officeDocument/2006/relationships/image" Target="../media/image62.emf"/><Relationship Id="rId10" Type="http://schemas.openxmlformats.org/officeDocument/2006/relationships/image" Target="../media/image17.png"/><Relationship Id="rId4" Type="http://schemas.openxmlformats.org/officeDocument/2006/relationships/image" Target="../media/image59.emf"/><Relationship Id="rId9" Type="http://schemas.openxmlformats.org/officeDocument/2006/relationships/image" Target="../media/image66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emf"/><Relationship Id="rId7" Type="http://schemas.openxmlformats.org/officeDocument/2006/relationships/image" Target="../media/image17.png"/><Relationship Id="rId2" Type="http://schemas.openxmlformats.org/officeDocument/2006/relationships/image" Target="../media/image6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emf"/><Relationship Id="rId5" Type="http://schemas.openxmlformats.org/officeDocument/2006/relationships/image" Target="../media/image65.emf"/><Relationship Id="rId4" Type="http://schemas.openxmlformats.org/officeDocument/2006/relationships/image" Target="../media/image68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emf"/><Relationship Id="rId3" Type="http://schemas.openxmlformats.org/officeDocument/2006/relationships/image" Target="../media/image70.emf"/><Relationship Id="rId7" Type="http://schemas.openxmlformats.org/officeDocument/2006/relationships/image" Target="../media/image74.emf"/><Relationship Id="rId2" Type="http://schemas.openxmlformats.org/officeDocument/2006/relationships/image" Target="../media/image6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emf"/><Relationship Id="rId11" Type="http://schemas.openxmlformats.org/officeDocument/2006/relationships/image" Target="../media/image17.png"/><Relationship Id="rId5" Type="http://schemas.openxmlformats.org/officeDocument/2006/relationships/image" Target="../media/image72.emf"/><Relationship Id="rId10" Type="http://schemas.openxmlformats.org/officeDocument/2006/relationships/image" Target="../media/image77.emf"/><Relationship Id="rId4" Type="http://schemas.openxmlformats.org/officeDocument/2006/relationships/image" Target="../media/image71.emf"/><Relationship Id="rId9" Type="http://schemas.openxmlformats.org/officeDocument/2006/relationships/image" Target="../media/image76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13" Type="http://schemas.openxmlformats.org/officeDocument/2006/relationships/image" Target="../media/image89.emf"/><Relationship Id="rId3" Type="http://schemas.openxmlformats.org/officeDocument/2006/relationships/image" Target="../media/image79.svg"/><Relationship Id="rId7" Type="http://schemas.openxmlformats.org/officeDocument/2006/relationships/image" Target="../media/image83.svg"/><Relationship Id="rId12" Type="http://schemas.openxmlformats.org/officeDocument/2006/relationships/image" Target="../media/image88.emf"/><Relationship Id="rId2" Type="http://schemas.openxmlformats.org/officeDocument/2006/relationships/image" Target="../media/image78.png"/><Relationship Id="rId16" Type="http://schemas.openxmlformats.org/officeDocument/2006/relationships/image" Target="../media/image9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11" Type="http://schemas.openxmlformats.org/officeDocument/2006/relationships/image" Target="../media/image87.svg"/><Relationship Id="rId5" Type="http://schemas.openxmlformats.org/officeDocument/2006/relationships/image" Target="../media/image81.svg"/><Relationship Id="rId15" Type="http://schemas.openxmlformats.org/officeDocument/2006/relationships/image" Target="../media/image90.png"/><Relationship Id="rId10" Type="http://schemas.openxmlformats.org/officeDocument/2006/relationships/image" Target="../media/image86.png"/><Relationship Id="rId4" Type="http://schemas.openxmlformats.org/officeDocument/2006/relationships/image" Target="../media/image80.png"/><Relationship Id="rId9" Type="http://schemas.openxmlformats.org/officeDocument/2006/relationships/image" Target="../media/image85.svg"/><Relationship Id="rId14" Type="http://schemas.openxmlformats.org/officeDocument/2006/relationships/image" Target="../media/image17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Statistical physics phy301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canonical, grand canonical ensemble</a:t>
            </a:r>
          </a:p>
          <a:p>
            <a:endParaRPr lang="en-US" dirty="0"/>
          </a:p>
          <a:p>
            <a:r>
              <a:rPr lang="en-US" dirty="0"/>
              <a:t>Lecturer: Kok Wee Song</a:t>
            </a:r>
          </a:p>
        </p:txBody>
      </p:sp>
    </p:spTree>
    <p:extLst>
      <p:ext uri="{BB962C8B-B14F-4D97-AF65-F5344CB8AC3E}">
        <p14:creationId xmlns:p14="http://schemas.microsoft.com/office/powerpoint/2010/main" val="1460761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canonical ensemble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6150" y="2071996"/>
            <a:ext cx="60861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Microcanonical ensemble is not convenient, </a:t>
            </a:r>
          </a:p>
          <a:p>
            <a:r>
              <a:rPr lang="en-US" sz="2400" dirty="0"/>
              <a:t>we can easily measure T but not E.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081" y="3127257"/>
            <a:ext cx="3225922" cy="227177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3477" y="2622250"/>
            <a:ext cx="5872672" cy="84249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453840" y="5454176"/>
            <a:ext cx="57365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Canonical distribution of </a:t>
            </a:r>
            <a:r>
              <a:rPr lang="en-US" sz="2000" b="1"/>
              <a:t>the microstates in S:</a:t>
            </a:r>
            <a:endParaRPr lang="en-US" sz="2000" b="1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726838" y="5854286"/>
            <a:ext cx="2218086" cy="942196"/>
          </a:xfrm>
          <a:prstGeom prst="rect">
            <a:avLst/>
          </a:prstGeom>
        </p:spPr>
      </p:pic>
      <p:grpSp>
        <p:nvGrpSpPr>
          <p:cNvPr id="22" name="Group 21"/>
          <p:cNvGrpSpPr/>
          <p:nvPr/>
        </p:nvGrpSpPr>
        <p:grpSpPr>
          <a:xfrm>
            <a:off x="8292901" y="5866320"/>
            <a:ext cx="2465891" cy="1076162"/>
            <a:chOff x="8292901" y="5866320"/>
            <a:chExt cx="2465891" cy="1076162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8292901" y="6068742"/>
              <a:ext cx="2465891" cy="873740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8292901" y="5866320"/>
              <a:ext cx="19747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Partition function</a:t>
              </a:r>
            </a:p>
          </p:txBody>
        </p:sp>
      </p:grpSp>
      <p:pic>
        <p:nvPicPr>
          <p:cNvPr id="13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79714" y="3822587"/>
            <a:ext cx="182591" cy="24345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73955" y="3804171"/>
            <a:ext cx="843596" cy="19996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79714" y="3241761"/>
            <a:ext cx="673637" cy="307099"/>
          </a:xfrm>
          <a:prstGeom prst="rect">
            <a:avLst/>
          </a:prstGeom>
        </p:spPr>
      </p:pic>
      <p:grpSp>
        <p:nvGrpSpPr>
          <p:cNvPr id="23" name="Group 22"/>
          <p:cNvGrpSpPr/>
          <p:nvPr/>
        </p:nvGrpSpPr>
        <p:grpSpPr>
          <a:xfrm>
            <a:off x="458260" y="5737801"/>
            <a:ext cx="3469476" cy="646331"/>
            <a:chOff x="458260" y="5737801"/>
            <a:chExt cx="3469476" cy="646331"/>
          </a:xfrm>
        </p:grpSpPr>
        <p:sp>
          <p:nvSpPr>
            <p:cNvPr id="12" name="TextBox 11"/>
            <p:cNvSpPr txBox="1"/>
            <p:nvPr/>
          </p:nvSpPr>
          <p:spPr>
            <a:xfrm>
              <a:off x="458260" y="5737801"/>
              <a:ext cx="346947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       is not a constant.</a:t>
              </a:r>
            </a:p>
            <a:p>
              <a:r>
                <a:rPr lang="en-US" dirty="0">
                  <a:solidFill>
                    <a:srgbClr val="FF0000"/>
                  </a:solidFill>
                </a:rPr>
                <a:t>It fluctuates as a random variable</a:t>
              </a:r>
            </a:p>
          </p:txBody>
        </p:sp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38017" y="5737801"/>
              <a:ext cx="231924" cy="309232"/>
            </a:xfrm>
            <a:prstGeom prst="rect">
              <a:avLst/>
            </a:prstGeom>
          </p:spPr>
        </p:pic>
      </p:grpSp>
      <p:grpSp>
        <p:nvGrpSpPr>
          <p:cNvPr id="21" name="Group 20"/>
          <p:cNvGrpSpPr/>
          <p:nvPr/>
        </p:nvGrpSpPr>
        <p:grpSpPr>
          <a:xfrm>
            <a:off x="6196535" y="4712024"/>
            <a:ext cx="4323003" cy="759146"/>
            <a:chOff x="6196535" y="4712024"/>
            <a:chExt cx="4323003" cy="759146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 rotWithShape="1">
            <a:blip r:embed="rId12"/>
            <a:srcRect l="71279" b="-1090"/>
            <a:stretch/>
          </p:blipFill>
          <p:spPr>
            <a:xfrm>
              <a:off x="8532154" y="4712024"/>
              <a:ext cx="1987384" cy="759146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/>
          </p:nvPicPr>
          <p:blipFill rotWithShape="1">
            <a:blip r:embed="rId12"/>
            <a:srcRect t="-1" r="67467" b="18688"/>
            <a:stretch/>
          </p:blipFill>
          <p:spPr>
            <a:xfrm>
              <a:off x="6196535" y="4714856"/>
              <a:ext cx="2251115" cy="610623"/>
            </a:xfrm>
            <a:prstGeom prst="rect">
              <a:avLst/>
            </a:prstGeom>
          </p:spPr>
        </p:pic>
      </p:grpSp>
      <p:grpSp>
        <p:nvGrpSpPr>
          <p:cNvPr id="20" name="Group 19"/>
          <p:cNvGrpSpPr/>
          <p:nvPr/>
        </p:nvGrpSpPr>
        <p:grpSpPr>
          <a:xfrm>
            <a:off x="6050604" y="3581240"/>
            <a:ext cx="5544246" cy="1039238"/>
            <a:chOff x="6050604" y="3581240"/>
            <a:chExt cx="5544246" cy="1039238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050604" y="3581240"/>
              <a:ext cx="5544246" cy="740826"/>
            </a:xfrm>
            <a:prstGeom prst="rect">
              <a:avLst/>
            </a:prstGeom>
          </p:spPr>
        </p:pic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108642" y="4401666"/>
              <a:ext cx="3410896" cy="218812"/>
            </a:xfrm>
            <a:prstGeom prst="rect">
              <a:avLst/>
            </a:prstGeom>
          </p:spPr>
        </p:pic>
      </p:grpSp>
      <p:pic>
        <p:nvPicPr>
          <p:cNvPr id="24" name="Graphic 23">
            <a:extLst>
              <a:ext uri="{FF2B5EF4-FFF2-40B4-BE49-F238E27FC236}">
                <a16:creationId xmlns:a16="http://schemas.microsoft.com/office/drawing/2014/main" id="{C54BA6B2-F4D6-46F4-B7EC-BD124FAD61B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949940" y="5949345"/>
            <a:ext cx="1071160" cy="70344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A74DE87-ACF4-4D4C-9E47-29762F724DB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08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canonical ensemble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6150" y="2071996"/>
            <a:ext cx="60861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Microcanonical ensemble is not convenient, </a:t>
            </a:r>
          </a:p>
          <a:p>
            <a:r>
              <a:rPr lang="en-US" sz="2400" dirty="0"/>
              <a:t>we can easily measure T but not 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590776" y="2551631"/>
            <a:ext cx="57365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Canonical distribution of the microstates in S: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863774" y="2951741"/>
            <a:ext cx="2218086" cy="94219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429837" y="3166197"/>
            <a:ext cx="2465891" cy="8737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429837" y="2963775"/>
            <a:ext cx="1974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Partition function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5562076" y="3992819"/>
            <a:ext cx="5608764" cy="1257044"/>
            <a:chOff x="5562076" y="3992819"/>
            <a:chExt cx="5608764" cy="1257044"/>
          </a:xfrm>
        </p:grpSpPr>
        <p:sp>
          <p:nvSpPr>
            <p:cNvPr id="13" name="Rectangle 12"/>
            <p:cNvSpPr/>
            <p:nvPr/>
          </p:nvSpPr>
          <p:spPr>
            <a:xfrm>
              <a:off x="5562076" y="3992819"/>
              <a:ext cx="332418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/>
                <a:t>Canonical distribution of     :</a:t>
              </a:r>
            </a:p>
          </p:txBody>
        </p:sp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18270" y="4422933"/>
              <a:ext cx="5452570" cy="826930"/>
            </a:xfrm>
            <a:prstGeom prst="rect">
              <a:avLst/>
            </a:prstGeom>
          </p:spPr>
        </p:pic>
      </p:grpSp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4164" y="5258606"/>
            <a:ext cx="1744979" cy="722920"/>
          </a:xfrm>
          <a:prstGeom prst="rect">
            <a:avLst/>
          </a:prstGeom>
        </p:spPr>
      </p:pic>
      <p:grpSp>
        <p:nvGrpSpPr>
          <p:cNvPr id="4" name="Group 3"/>
          <p:cNvGrpSpPr/>
          <p:nvPr/>
        </p:nvGrpSpPr>
        <p:grpSpPr>
          <a:xfrm>
            <a:off x="693081" y="3127257"/>
            <a:ext cx="3225922" cy="2271776"/>
            <a:chOff x="693081" y="3127257"/>
            <a:chExt cx="3225922" cy="2271776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93081" y="3127257"/>
              <a:ext cx="3225922" cy="2271776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079714" y="3822587"/>
              <a:ext cx="182591" cy="243454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473955" y="3804171"/>
              <a:ext cx="843596" cy="199963"/>
            </a:xfrm>
            <a:prstGeom prst="rect">
              <a:avLst/>
            </a:prstGeom>
          </p:spPr>
        </p:pic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079714" y="3241761"/>
              <a:ext cx="673637" cy="307099"/>
            </a:xfrm>
            <a:prstGeom prst="rect">
              <a:avLst/>
            </a:prstGeom>
          </p:spPr>
        </p:pic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44555" y="4022496"/>
            <a:ext cx="182591" cy="243454"/>
          </a:xfrm>
          <a:prstGeom prst="rect">
            <a:avLst/>
          </a:prstGeom>
        </p:spPr>
      </p:pic>
      <p:grpSp>
        <p:nvGrpSpPr>
          <p:cNvPr id="23" name="Group 22"/>
          <p:cNvGrpSpPr/>
          <p:nvPr/>
        </p:nvGrpSpPr>
        <p:grpSpPr>
          <a:xfrm>
            <a:off x="9609393" y="4113512"/>
            <a:ext cx="1458413" cy="458487"/>
            <a:chOff x="9609393" y="4113512"/>
            <a:chExt cx="1458413" cy="458487"/>
          </a:xfrm>
        </p:grpSpPr>
        <p:sp>
          <p:nvSpPr>
            <p:cNvPr id="21" name="Right Brace 20"/>
            <p:cNvSpPr/>
            <p:nvPr/>
          </p:nvSpPr>
          <p:spPr>
            <a:xfrm rot="16200000">
              <a:off x="10217206" y="3721399"/>
              <a:ext cx="242787" cy="1458413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0153406" y="4113512"/>
              <a:ext cx="541265" cy="278150"/>
            </a:xfrm>
            <a:prstGeom prst="rect">
              <a:avLst/>
            </a:prstGeom>
          </p:spPr>
        </p:pic>
      </p:grpSp>
      <p:pic>
        <p:nvPicPr>
          <p:cNvPr id="24" name="Picture 2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96430" y="6096372"/>
            <a:ext cx="1952773" cy="486633"/>
          </a:xfrm>
          <a:prstGeom prst="rect">
            <a:avLst/>
          </a:prstGeom>
        </p:spPr>
      </p:pic>
      <p:grpSp>
        <p:nvGrpSpPr>
          <p:cNvPr id="31" name="Group 30"/>
          <p:cNvGrpSpPr/>
          <p:nvPr/>
        </p:nvGrpSpPr>
        <p:grpSpPr>
          <a:xfrm>
            <a:off x="9351213" y="5249863"/>
            <a:ext cx="2327884" cy="1099206"/>
            <a:chOff x="9351213" y="5249863"/>
            <a:chExt cx="2327884" cy="1099206"/>
          </a:xfrm>
        </p:grpSpPr>
        <p:sp>
          <p:nvSpPr>
            <p:cNvPr id="26" name="TextBox 25"/>
            <p:cNvSpPr txBox="1"/>
            <p:nvPr/>
          </p:nvSpPr>
          <p:spPr>
            <a:xfrm>
              <a:off x="9351213" y="5249863"/>
              <a:ext cx="19747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Partition function</a:t>
              </a:r>
            </a:p>
          </p:txBody>
        </p:sp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361261" y="5804517"/>
              <a:ext cx="2317836" cy="544552"/>
            </a:xfrm>
            <a:prstGeom prst="rect">
              <a:avLst/>
            </a:prstGeom>
          </p:spPr>
        </p:pic>
      </p:grpSp>
      <p:sp>
        <p:nvSpPr>
          <p:cNvPr id="29" name="TextBox 28"/>
          <p:cNvSpPr txBox="1"/>
          <p:nvPr/>
        </p:nvSpPr>
        <p:spPr>
          <a:xfrm>
            <a:off x="227510" y="5680984"/>
            <a:ext cx="52276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How are these distributions related to thermodynamic?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94C489-BFD3-486F-A2A5-021954BD64F0}"/>
              </a:ext>
            </a:extLst>
          </p:cNvPr>
          <p:cNvSpPr txBox="1"/>
          <p:nvPr/>
        </p:nvSpPr>
        <p:spPr>
          <a:xfrm>
            <a:off x="2558551" y="6142649"/>
            <a:ext cx="2997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What is the internal energy?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F45ED3E-5269-48A0-B179-B98AB606EC6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98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canonical ensemble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885097" y="2158504"/>
            <a:ext cx="57365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Canonical distribution of the microstates in S: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58095" y="2558614"/>
            <a:ext cx="2218086" cy="94219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035389" y="2773070"/>
            <a:ext cx="2465891" cy="8737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35389" y="2570648"/>
            <a:ext cx="1974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Partition function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70491" y="2132990"/>
            <a:ext cx="3324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Canonical distribution of     :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7602" y="2562584"/>
            <a:ext cx="1744979" cy="72292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447" y="2195929"/>
            <a:ext cx="182591" cy="24345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609393" y="2512033"/>
            <a:ext cx="1974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Partition function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9393" y="2882350"/>
            <a:ext cx="2317836" cy="544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04880" y="1580629"/>
            <a:ext cx="2463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Helmholtz free energy: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36E47B8-D426-46C4-A8D9-2BC5217D040B}"/>
              </a:ext>
            </a:extLst>
          </p:cNvPr>
          <p:cNvGrpSpPr/>
          <p:nvPr/>
        </p:nvGrpSpPr>
        <p:grpSpPr>
          <a:xfrm>
            <a:off x="651866" y="5762041"/>
            <a:ext cx="5410279" cy="1083923"/>
            <a:chOff x="651866" y="5762041"/>
            <a:chExt cx="5410279" cy="1083923"/>
          </a:xfrm>
        </p:grpSpPr>
        <p:pic>
          <p:nvPicPr>
            <p:cNvPr id="33" name="Picture 3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199351" y="5762041"/>
              <a:ext cx="1347223" cy="513229"/>
            </a:xfrm>
            <a:prstGeom prst="rect">
              <a:avLst/>
            </a:prstGeom>
          </p:spPr>
        </p:pic>
        <p:pic>
          <p:nvPicPr>
            <p:cNvPr id="34" name="Picture 33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64966" y="6107671"/>
              <a:ext cx="5397179" cy="738293"/>
            </a:xfrm>
            <a:prstGeom prst="rect">
              <a:avLst/>
            </a:prstGeom>
          </p:spPr>
        </p:pic>
        <p:sp>
          <p:nvSpPr>
            <p:cNvPr id="38" name="TextBox 37"/>
            <p:cNvSpPr txBox="1"/>
            <p:nvPr/>
          </p:nvSpPr>
          <p:spPr>
            <a:xfrm>
              <a:off x="651866" y="5767300"/>
              <a:ext cx="5693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The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15FFF8A-9E54-4393-A3E7-6DB07908C832}"/>
              </a:ext>
            </a:extLst>
          </p:cNvPr>
          <p:cNvGrpSpPr/>
          <p:nvPr/>
        </p:nvGrpSpPr>
        <p:grpSpPr>
          <a:xfrm>
            <a:off x="561553" y="4752640"/>
            <a:ext cx="4760646" cy="970131"/>
            <a:chOff x="561553" y="4752640"/>
            <a:chExt cx="4760646" cy="970131"/>
          </a:xfrm>
        </p:grpSpPr>
        <p:grpSp>
          <p:nvGrpSpPr>
            <p:cNvPr id="27" name="Group 26"/>
            <p:cNvGrpSpPr/>
            <p:nvPr/>
          </p:nvGrpSpPr>
          <p:grpSpPr>
            <a:xfrm>
              <a:off x="1041148" y="4752640"/>
              <a:ext cx="4281051" cy="369332"/>
              <a:chOff x="1864076" y="4949618"/>
              <a:chExt cx="4281051" cy="369332"/>
            </a:xfrm>
          </p:grpSpPr>
          <p:pic>
            <p:nvPicPr>
              <p:cNvPr id="19" name="Picture 18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864076" y="5036932"/>
                <a:ext cx="1889274" cy="249135"/>
              </a:xfrm>
              <a:prstGeom prst="rect">
                <a:avLst/>
              </a:prstGeom>
            </p:spPr>
          </p:pic>
          <p:pic>
            <p:nvPicPr>
              <p:cNvPr id="25" name="Picture 24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826361" y="4978627"/>
                <a:ext cx="311315" cy="311315"/>
              </a:xfrm>
              <a:prstGeom prst="rect">
                <a:avLst/>
              </a:prstGeom>
            </p:spPr>
          </p:pic>
          <p:sp>
            <p:nvSpPr>
              <p:cNvPr id="29" name="TextBox 28"/>
              <p:cNvSpPr txBox="1"/>
              <p:nvPr/>
            </p:nvSpPr>
            <p:spPr>
              <a:xfrm>
                <a:off x="4210687" y="4949618"/>
                <a:ext cx="19344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gives minimum A</a:t>
                </a:r>
              </a:p>
            </p:txBody>
          </p:sp>
        </p:grpSp>
        <p:sp>
          <p:nvSpPr>
            <p:cNvPr id="36" name="TextBox 35"/>
            <p:cNvSpPr txBox="1"/>
            <p:nvPr/>
          </p:nvSpPr>
          <p:spPr>
            <a:xfrm>
              <a:off x="561553" y="4764515"/>
              <a:ext cx="5693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The</a:t>
              </a:r>
            </a:p>
          </p:txBody>
        </p:sp>
        <p:pic>
          <p:nvPicPr>
            <p:cNvPr id="41" name="Picture 40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747261" y="5209751"/>
              <a:ext cx="2696646" cy="513020"/>
            </a:xfrm>
            <a:prstGeom prst="rect">
              <a:avLst/>
            </a:prstGeom>
          </p:spPr>
        </p:pic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70491" y="3509701"/>
            <a:ext cx="2311974" cy="91462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44252" y="4187809"/>
            <a:ext cx="3510491" cy="82461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75316" y="4855301"/>
            <a:ext cx="1907176" cy="76782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96530" y="6147793"/>
            <a:ext cx="5405195" cy="698171"/>
          </a:xfrm>
          <a:prstGeom prst="rect">
            <a:avLst/>
          </a:prstGeom>
        </p:spPr>
      </p:pic>
      <p:grpSp>
        <p:nvGrpSpPr>
          <p:cNvPr id="18" name="Group 17"/>
          <p:cNvGrpSpPr/>
          <p:nvPr/>
        </p:nvGrpSpPr>
        <p:grpSpPr>
          <a:xfrm>
            <a:off x="10694671" y="5649323"/>
            <a:ext cx="1533433" cy="652955"/>
            <a:chOff x="10694671" y="5649323"/>
            <a:chExt cx="1533433" cy="652955"/>
          </a:xfrm>
        </p:grpSpPr>
        <p:sp>
          <p:nvSpPr>
            <p:cNvPr id="14" name="TextBox 13"/>
            <p:cNvSpPr txBox="1"/>
            <p:nvPr/>
          </p:nvSpPr>
          <p:spPr>
            <a:xfrm>
              <a:off x="10694671" y="5649323"/>
              <a:ext cx="15334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Heat capacity</a:t>
              </a:r>
            </a:p>
          </p:txBody>
        </p:sp>
        <p:cxnSp>
          <p:nvCxnSpPr>
            <p:cNvPr id="17" name="Straight Arrow Connector 16"/>
            <p:cNvCxnSpPr/>
            <p:nvPr/>
          </p:nvCxnSpPr>
          <p:spPr>
            <a:xfrm>
              <a:off x="11927229" y="6018655"/>
              <a:ext cx="0" cy="2836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/>
          <p:cNvGrpSpPr/>
          <p:nvPr/>
        </p:nvGrpSpPr>
        <p:grpSpPr>
          <a:xfrm>
            <a:off x="871798" y="3707590"/>
            <a:ext cx="5721067" cy="1016301"/>
            <a:chOff x="871798" y="3628078"/>
            <a:chExt cx="5721067" cy="1016301"/>
          </a:xfrm>
        </p:grpSpPr>
        <p:sp>
          <p:nvSpPr>
            <p:cNvPr id="52" name="TextBox 51"/>
            <p:cNvSpPr txBox="1"/>
            <p:nvPr/>
          </p:nvSpPr>
          <p:spPr>
            <a:xfrm>
              <a:off x="881699" y="4275047"/>
              <a:ext cx="7667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we let</a:t>
              </a:r>
            </a:p>
          </p:txBody>
        </p:sp>
        <p:pic>
          <p:nvPicPr>
            <p:cNvPr id="53" name="Picture 52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871798" y="3628078"/>
              <a:ext cx="5721067" cy="506185"/>
            </a:xfrm>
            <a:prstGeom prst="rect">
              <a:avLst/>
            </a:prstGeom>
          </p:spPr>
        </p:pic>
        <p:pic>
          <p:nvPicPr>
            <p:cNvPr id="55" name="Picture 54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758114" y="4344816"/>
              <a:ext cx="1471917" cy="229793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AEB531F-3A5C-40EC-9EDD-C10428A1A37B}"/>
              </a:ext>
            </a:extLst>
          </p:cNvPr>
          <p:cNvGrpSpPr/>
          <p:nvPr/>
        </p:nvGrpSpPr>
        <p:grpSpPr>
          <a:xfrm>
            <a:off x="1067710" y="5073764"/>
            <a:ext cx="6204056" cy="1243091"/>
            <a:chOff x="1067710" y="5073764"/>
            <a:chExt cx="6204056" cy="1243091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729932F-2E71-49A3-BB8C-BB7CD176248A}"/>
                </a:ext>
              </a:extLst>
            </p:cNvPr>
            <p:cNvSpPr txBox="1"/>
            <p:nvPr/>
          </p:nvSpPr>
          <p:spPr>
            <a:xfrm>
              <a:off x="4642648" y="5462343"/>
              <a:ext cx="262911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Which one should I use?</a:t>
              </a:r>
            </a:p>
            <a:p>
              <a:r>
                <a:rPr lang="en-US" dirty="0"/>
                <a:t>Is that really matter?</a:t>
              </a: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2E111AF6-A205-40CE-B157-4E0DA908DC7A}"/>
                </a:ext>
              </a:extLst>
            </p:cNvPr>
            <p:cNvCxnSpPr/>
            <p:nvPr/>
          </p:nvCxnSpPr>
          <p:spPr>
            <a:xfrm flipH="1" flipV="1">
              <a:off x="3314748" y="5073764"/>
              <a:ext cx="1327900" cy="52787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A6BB5EB6-9F74-4BBB-BC5E-2F83145A7691}"/>
                </a:ext>
              </a:extLst>
            </p:cNvPr>
            <p:cNvCxnSpPr/>
            <p:nvPr/>
          </p:nvCxnSpPr>
          <p:spPr>
            <a:xfrm flipH="1">
              <a:off x="1067710" y="5601635"/>
              <a:ext cx="3574938" cy="71522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4" name="Picture 43">
            <a:extLst>
              <a:ext uri="{FF2B5EF4-FFF2-40B4-BE49-F238E27FC236}">
                <a16:creationId xmlns:a16="http://schemas.microsoft.com/office/drawing/2014/main" id="{D8ACC406-ED1E-4C7A-90F2-66C7751CFFE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487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canonical ensemble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885097" y="2158504"/>
            <a:ext cx="57365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Canonical distribution of the microstates in S: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58095" y="2558614"/>
            <a:ext cx="2218086" cy="94219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035389" y="2773070"/>
            <a:ext cx="2465891" cy="8737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35389" y="2570648"/>
            <a:ext cx="1974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Partition function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70491" y="2132990"/>
            <a:ext cx="3324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Canonical distribution of     :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7602" y="2562584"/>
            <a:ext cx="1744979" cy="72292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447" y="2195929"/>
            <a:ext cx="182591" cy="24345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609393" y="2512033"/>
            <a:ext cx="1974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Partition function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9393" y="2882350"/>
            <a:ext cx="2317836" cy="544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04880" y="1580629"/>
            <a:ext cx="2463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Helmholtz free energy: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1041148" y="4752640"/>
            <a:ext cx="4281051" cy="369332"/>
            <a:chOff x="1864076" y="4949618"/>
            <a:chExt cx="4281051" cy="369332"/>
          </a:xfrm>
        </p:grpSpPr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864076" y="5036932"/>
              <a:ext cx="1889274" cy="249135"/>
            </a:xfrm>
            <a:prstGeom prst="rect">
              <a:avLst/>
            </a:prstGeom>
          </p:spPr>
        </p:pic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826361" y="4978627"/>
              <a:ext cx="311315" cy="311315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4210687" y="4949618"/>
              <a:ext cx="19344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gives minimum A</a:t>
              </a:r>
            </a:p>
          </p:txBody>
        </p:sp>
      </p:grpSp>
      <p:pic>
        <p:nvPicPr>
          <p:cNvPr id="33" name="Picture 3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99351" y="5762041"/>
            <a:ext cx="1347223" cy="513229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4966" y="6107671"/>
            <a:ext cx="5397179" cy="738293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61553" y="4764515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The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1866" y="5767300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The</a:t>
            </a: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47261" y="5209751"/>
            <a:ext cx="2696646" cy="51302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96530" y="6147793"/>
            <a:ext cx="5405195" cy="698171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75804" y="3945682"/>
            <a:ext cx="3113374" cy="2329588"/>
          </a:xfrm>
          <a:prstGeom prst="rect">
            <a:avLst/>
          </a:prstGeom>
        </p:spPr>
      </p:pic>
      <p:grpSp>
        <p:nvGrpSpPr>
          <p:cNvPr id="21" name="Group 20"/>
          <p:cNvGrpSpPr/>
          <p:nvPr/>
        </p:nvGrpSpPr>
        <p:grpSpPr>
          <a:xfrm>
            <a:off x="8289135" y="3652224"/>
            <a:ext cx="2307643" cy="838995"/>
            <a:chOff x="9371768" y="4533458"/>
            <a:chExt cx="2307643" cy="838995"/>
          </a:xfrm>
        </p:grpSpPr>
        <p:grpSp>
          <p:nvGrpSpPr>
            <p:cNvPr id="17" name="Group 16"/>
            <p:cNvGrpSpPr/>
            <p:nvPr/>
          </p:nvGrpSpPr>
          <p:grpSpPr>
            <a:xfrm>
              <a:off x="9371768" y="4893191"/>
              <a:ext cx="2307643" cy="479262"/>
              <a:chOff x="9371768" y="4893191"/>
              <a:chExt cx="2307643" cy="479262"/>
            </a:xfrm>
          </p:grpSpPr>
          <p:pic>
            <p:nvPicPr>
              <p:cNvPr id="3" name="Picture 2"/>
              <p:cNvPicPr>
                <a:picLocks noChangeAspect="1"/>
              </p:cNvPicPr>
              <p:nvPr/>
            </p:nvPicPr>
            <p:blipFill rotWithShape="1">
              <a:blip r:embed="rId16"/>
              <a:srcRect r="5324"/>
              <a:stretch/>
            </p:blipFill>
            <p:spPr>
              <a:xfrm>
                <a:off x="9371768" y="4893191"/>
                <a:ext cx="1299365" cy="479262"/>
              </a:xfrm>
              <a:prstGeom prst="rect">
                <a:avLst/>
              </a:prstGeom>
            </p:spPr>
          </p:pic>
          <p:pic>
            <p:nvPicPr>
              <p:cNvPr id="14" name="Picture 13"/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773803" y="5012603"/>
                <a:ext cx="297349" cy="270317"/>
              </a:xfrm>
              <a:prstGeom prst="rect">
                <a:avLst/>
              </a:prstGeom>
            </p:spPr>
          </p:pic>
          <p:pic>
            <p:nvPicPr>
              <p:cNvPr id="16" name="Picture 15"/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1071152" y="4969895"/>
                <a:ext cx="608259" cy="325853"/>
              </a:xfrm>
              <a:prstGeom prst="rect">
                <a:avLst/>
              </a:prstGeom>
            </p:spPr>
          </p:pic>
        </p:grpSp>
        <p:sp>
          <p:nvSpPr>
            <p:cNvPr id="18" name="TextBox 17"/>
            <p:cNvSpPr txBox="1"/>
            <p:nvPr/>
          </p:nvSpPr>
          <p:spPr>
            <a:xfrm>
              <a:off x="9452288" y="4533458"/>
              <a:ext cx="15783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Relative error: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10694671" y="5649323"/>
            <a:ext cx="1533433" cy="652955"/>
            <a:chOff x="10694671" y="5649323"/>
            <a:chExt cx="1533433" cy="652955"/>
          </a:xfrm>
        </p:grpSpPr>
        <p:sp>
          <p:nvSpPr>
            <p:cNvPr id="43" name="TextBox 42"/>
            <p:cNvSpPr txBox="1"/>
            <p:nvPr/>
          </p:nvSpPr>
          <p:spPr>
            <a:xfrm>
              <a:off x="10694671" y="5649323"/>
              <a:ext cx="15334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Heat capacity</a:t>
              </a:r>
            </a:p>
          </p:txBody>
        </p:sp>
        <p:cxnSp>
          <p:nvCxnSpPr>
            <p:cNvPr id="44" name="Straight Arrow Connector 43"/>
            <p:cNvCxnSpPr/>
            <p:nvPr/>
          </p:nvCxnSpPr>
          <p:spPr>
            <a:xfrm>
              <a:off x="11927229" y="6018655"/>
              <a:ext cx="0" cy="2836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CE9BD17-513A-46AE-AC44-09053F0F9A3E}"/>
              </a:ext>
            </a:extLst>
          </p:cNvPr>
          <p:cNvGrpSpPr/>
          <p:nvPr/>
        </p:nvGrpSpPr>
        <p:grpSpPr>
          <a:xfrm>
            <a:off x="871798" y="3707590"/>
            <a:ext cx="5721067" cy="1016301"/>
            <a:chOff x="871798" y="3628078"/>
            <a:chExt cx="5721067" cy="1016301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5AD20ED-6EC7-48F9-82AD-70706E9CCD64}"/>
                </a:ext>
              </a:extLst>
            </p:cNvPr>
            <p:cNvSpPr txBox="1"/>
            <p:nvPr/>
          </p:nvSpPr>
          <p:spPr>
            <a:xfrm>
              <a:off x="881699" y="4275047"/>
              <a:ext cx="7667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we let</a:t>
              </a:r>
            </a:p>
          </p:txBody>
        </p: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AF60A4B1-405E-4592-898E-242E62DDBB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871798" y="3628078"/>
              <a:ext cx="5721067" cy="506185"/>
            </a:xfrm>
            <a:prstGeom prst="rect">
              <a:avLst/>
            </a:prstGeom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DCBFB055-412F-4C3A-9A84-EB87548D26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758114" y="4344816"/>
              <a:ext cx="1471917" cy="229793"/>
            </a:xfrm>
            <a:prstGeom prst="rect">
              <a:avLst/>
            </a:prstGeom>
          </p:spPr>
        </p:pic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D739FA63-015F-4781-BA24-3C6B3E61BB01}"/>
              </a:ext>
            </a:extLst>
          </p:cNvPr>
          <p:cNvSpPr/>
          <p:nvPr/>
        </p:nvSpPr>
        <p:spPr>
          <a:xfrm>
            <a:off x="483476" y="3551563"/>
            <a:ext cx="6138128" cy="2215737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3813A979-E2B2-4DD5-BC63-980EAC389D6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723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Thermodynamics potential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5024" y="2084832"/>
            <a:ext cx="40308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How to reach equilibrium?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30351" y="2620190"/>
            <a:ext cx="7572953" cy="964258"/>
          </a:xfrm>
          <a:custGeom>
            <a:avLst/>
            <a:gdLst>
              <a:gd name="connsiteX0" fmla="*/ 0 w 6568973"/>
              <a:gd name="connsiteY0" fmla="*/ 0 h 836422"/>
              <a:gd name="connsiteX1" fmla="*/ 6568973 w 6568973"/>
              <a:gd name="connsiteY1" fmla="*/ 0 h 836422"/>
              <a:gd name="connsiteX2" fmla="*/ 6568973 w 6568973"/>
              <a:gd name="connsiteY2" fmla="*/ 580210 h 836422"/>
              <a:gd name="connsiteX3" fmla="*/ 548641 w 6568973"/>
              <a:gd name="connsiteY3" fmla="*/ 580210 h 836422"/>
              <a:gd name="connsiteX4" fmla="*/ 548641 w 6568973"/>
              <a:gd name="connsiteY4" fmla="*/ 836422 h 836422"/>
              <a:gd name="connsiteX5" fmla="*/ 0 w 6568973"/>
              <a:gd name="connsiteY5" fmla="*/ 836422 h 836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68973" h="836422">
                <a:moveTo>
                  <a:pt x="0" y="0"/>
                </a:moveTo>
                <a:lnTo>
                  <a:pt x="6568973" y="0"/>
                </a:lnTo>
                <a:lnTo>
                  <a:pt x="6568973" y="580210"/>
                </a:lnTo>
                <a:lnTo>
                  <a:pt x="548641" y="580210"/>
                </a:lnTo>
                <a:lnTo>
                  <a:pt x="548641" y="836422"/>
                </a:lnTo>
                <a:lnTo>
                  <a:pt x="0" y="836422"/>
                </a:lnTo>
                <a:close/>
              </a:path>
            </a:pathLst>
          </a:cu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848" y="3328090"/>
            <a:ext cx="1971757" cy="568776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42D889A-2022-47F8-BE8B-C9C1D2576A1B}"/>
              </a:ext>
            </a:extLst>
          </p:cNvPr>
          <p:cNvGrpSpPr/>
          <p:nvPr/>
        </p:nvGrpSpPr>
        <p:grpSpPr>
          <a:xfrm>
            <a:off x="530351" y="4015641"/>
            <a:ext cx="7395573" cy="814853"/>
            <a:chOff x="530351" y="3676429"/>
            <a:chExt cx="7395573" cy="814853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4A0154E-7C74-4C95-86A4-420701A598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530351" y="3676429"/>
              <a:ext cx="7395573" cy="577779"/>
            </a:xfrm>
            <a:custGeom>
              <a:avLst/>
              <a:gdLst>
                <a:gd name="connsiteX0" fmla="*/ 0 w 7395573"/>
                <a:gd name="connsiteY0" fmla="*/ 0 h 577779"/>
                <a:gd name="connsiteX1" fmla="*/ 7395573 w 7395573"/>
                <a:gd name="connsiteY1" fmla="*/ 0 h 577779"/>
                <a:gd name="connsiteX2" fmla="*/ 7395573 w 7395573"/>
                <a:gd name="connsiteY2" fmla="*/ 297115 h 577779"/>
                <a:gd name="connsiteX3" fmla="*/ 3894504 w 7395573"/>
                <a:gd name="connsiteY3" fmla="*/ 297115 h 577779"/>
                <a:gd name="connsiteX4" fmla="*/ 3894504 w 7395573"/>
                <a:gd name="connsiteY4" fmla="*/ 365219 h 577779"/>
                <a:gd name="connsiteX5" fmla="*/ 3840481 w 7395573"/>
                <a:gd name="connsiteY5" fmla="*/ 365219 h 577779"/>
                <a:gd name="connsiteX6" fmla="*/ 3840481 w 7395573"/>
                <a:gd name="connsiteY6" fmla="*/ 577779 h 577779"/>
                <a:gd name="connsiteX7" fmla="*/ 0 w 7395573"/>
                <a:gd name="connsiteY7" fmla="*/ 577779 h 5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95573" h="577779">
                  <a:moveTo>
                    <a:pt x="0" y="0"/>
                  </a:moveTo>
                  <a:lnTo>
                    <a:pt x="7395573" y="0"/>
                  </a:lnTo>
                  <a:lnTo>
                    <a:pt x="7395573" y="297115"/>
                  </a:lnTo>
                  <a:lnTo>
                    <a:pt x="3894504" y="297115"/>
                  </a:lnTo>
                  <a:lnTo>
                    <a:pt x="3894504" y="365219"/>
                  </a:lnTo>
                  <a:lnTo>
                    <a:pt x="3840481" y="365219"/>
                  </a:lnTo>
                  <a:lnTo>
                    <a:pt x="3840481" y="577779"/>
                  </a:lnTo>
                  <a:lnTo>
                    <a:pt x="0" y="577779"/>
                  </a:lnTo>
                  <a:close/>
                </a:path>
              </a:pathLst>
            </a:cu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00848" y="3944585"/>
              <a:ext cx="1796289" cy="546697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5BD4A39-3CEB-40D1-9191-F1E8E709319D}"/>
              </a:ext>
            </a:extLst>
          </p:cNvPr>
          <p:cNvGrpSpPr/>
          <p:nvPr/>
        </p:nvGrpSpPr>
        <p:grpSpPr>
          <a:xfrm>
            <a:off x="530351" y="4980649"/>
            <a:ext cx="7242050" cy="1004623"/>
            <a:chOff x="530351" y="4449707"/>
            <a:chExt cx="7242050" cy="1004623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4E0D975A-5FB4-4D00-BF6A-24F2D423441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530351" y="4449707"/>
              <a:ext cx="7242050" cy="607253"/>
            </a:xfrm>
            <a:custGeom>
              <a:avLst/>
              <a:gdLst>
                <a:gd name="connsiteX0" fmla="*/ 0 w 7242050"/>
                <a:gd name="connsiteY0" fmla="*/ 0 h 607253"/>
                <a:gd name="connsiteX1" fmla="*/ 7242050 w 7242050"/>
                <a:gd name="connsiteY1" fmla="*/ 0 h 607253"/>
                <a:gd name="connsiteX2" fmla="*/ 7242050 w 7242050"/>
                <a:gd name="connsiteY2" fmla="*/ 294498 h 607253"/>
                <a:gd name="connsiteX3" fmla="*/ 3579194 w 7242050"/>
                <a:gd name="connsiteY3" fmla="*/ 294498 h 607253"/>
                <a:gd name="connsiteX4" fmla="*/ 3579194 w 7242050"/>
                <a:gd name="connsiteY4" fmla="*/ 607253 h 607253"/>
                <a:gd name="connsiteX5" fmla="*/ 0 w 7242050"/>
                <a:gd name="connsiteY5" fmla="*/ 607253 h 607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2050" h="607253">
                  <a:moveTo>
                    <a:pt x="0" y="0"/>
                  </a:moveTo>
                  <a:lnTo>
                    <a:pt x="7242050" y="0"/>
                  </a:lnTo>
                  <a:lnTo>
                    <a:pt x="7242050" y="294498"/>
                  </a:lnTo>
                  <a:lnTo>
                    <a:pt x="3579194" y="294498"/>
                  </a:lnTo>
                  <a:lnTo>
                    <a:pt x="3579194" y="607253"/>
                  </a:lnTo>
                  <a:lnTo>
                    <a:pt x="0" y="607253"/>
                  </a:lnTo>
                  <a:close/>
                </a:path>
              </a:pathLst>
            </a:custGeom>
          </p:spPr>
        </p:pic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595115" y="4959900"/>
              <a:ext cx="2578098" cy="494430"/>
            </a:xfrm>
            <a:prstGeom prst="rect">
              <a:avLst/>
            </a:prstGeom>
          </p:spPr>
        </p:pic>
      </p:grpSp>
      <p:sp>
        <p:nvSpPr>
          <p:cNvPr id="20" name="TextBox 19"/>
          <p:cNvSpPr txBox="1"/>
          <p:nvPr/>
        </p:nvSpPr>
        <p:spPr>
          <a:xfrm>
            <a:off x="1335024" y="6121967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mr-IN" dirty="0"/>
              <a:t>……</a:t>
            </a:r>
            <a:r>
              <a:rPr lang="en-US" dirty="0"/>
              <a:t>.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6A55AC8-27F9-49AB-8593-A015D9E96522}"/>
              </a:ext>
            </a:extLst>
          </p:cNvPr>
          <p:cNvGrpSpPr/>
          <p:nvPr/>
        </p:nvGrpSpPr>
        <p:grpSpPr>
          <a:xfrm>
            <a:off x="9583735" y="1293640"/>
            <a:ext cx="2942721" cy="2918497"/>
            <a:chOff x="2486113" y="3307097"/>
            <a:chExt cx="2942721" cy="2918497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32A405FC-D54B-4C85-AF61-605B4AA46FE0}"/>
                </a:ext>
              </a:extLst>
            </p:cNvPr>
            <p:cNvGrpSpPr/>
            <p:nvPr/>
          </p:nvGrpSpPr>
          <p:grpSpPr>
            <a:xfrm>
              <a:off x="2486113" y="3307097"/>
              <a:ext cx="2942721" cy="2343730"/>
              <a:chOff x="2486113" y="3307097"/>
              <a:chExt cx="2942721" cy="2343730"/>
            </a:xfrm>
          </p:grpSpPr>
          <p:pic>
            <p:nvPicPr>
              <p:cNvPr id="12" name="Picture 2" descr="Isentrophic Compression | Glenn Research Center | NASA">
                <a:extLst>
                  <a:ext uri="{FF2B5EF4-FFF2-40B4-BE49-F238E27FC236}">
                    <a16:creationId xmlns:a16="http://schemas.microsoft.com/office/drawing/2014/main" id="{1F4F6621-EE43-4DDB-96B4-29B3B22580B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6839" r="68822" b="38266"/>
              <a:stretch/>
            </p:blipFill>
            <p:spPr bwMode="auto">
              <a:xfrm>
                <a:off x="2486113" y="3676429"/>
                <a:ext cx="1830714" cy="19743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FD6DD2BE-5FA2-47EA-91A1-ECE3EBDD4BCE}"/>
                  </a:ext>
                </a:extLst>
              </p:cNvPr>
              <p:cNvGrpSpPr/>
              <p:nvPr/>
            </p:nvGrpSpPr>
            <p:grpSpPr>
              <a:xfrm>
                <a:off x="3677896" y="3307097"/>
                <a:ext cx="1750938" cy="987174"/>
                <a:chOff x="3677896" y="3307097"/>
                <a:chExt cx="1750938" cy="987174"/>
              </a:xfrm>
            </p:grpSpPr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2906817-67E8-43C8-BBB3-87466B463BF8}"/>
                    </a:ext>
                  </a:extLst>
                </p:cNvPr>
                <p:cNvSpPr txBox="1"/>
                <p:nvPr/>
              </p:nvSpPr>
              <p:spPr>
                <a:xfrm>
                  <a:off x="3863662" y="3307097"/>
                  <a:ext cx="156517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MY" dirty="0"/>
                    <a:t>External force</a:t>
                  </a:r>
                </a:p>
              </p:txBody>
            </p:sp>
            <p:cxnSp>
              <p:nvCxnSpPr>
                <p:cNvPr id="18" name="Straight Arrow Connector 17">
                  <a:extLst>
                    <a:ext uri="{FF2B5EF4-FFF2-40B4-BE49-F238E27FC236}">
                      <a16:creationId xmlns:a16="http://schemas.microsoft.com/office/drawing/2014/main" id="{AF014CFC-41D6-4056-A1B8-C84C18207388}"/>
                    </a:ext>
                  </a:extLst>
                </p:cNvPr>
                <p:cNvCxnSpPr>
                  <a:cxnSpLocks/>
                  <a:stCxn id="13" idx="1"/>
                </p:cNvCxnSpPr>
                <p:nvPr/>
              </p:nvCxnSpPr>
              <p:spPr>
                <a:xfrm flipH="1">
                  <a:off x="3677896" y="3491763"/>
                  <a:ext cx="185766" cy="802508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29" name="Picture 2" descr="Isentrophic Compression | Glenn Research Center | NASA">
              <a:extLst>
                <a:ext uri="{FF2B5EF4-FFF2-40B4-BE49-F238E27FC236}">
                  <a16:creationId xmlns:a16="http://schemas.microsoft.com/office/drawing/2014/main" id="{9B9BD89F-D06E-4C96-B4C0-899B5606ED7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414" t="1217" r="639" b="85792"/>
            <a:stretch/>
          </p:blipFill>
          <p:spPr bwMode="auto">
            <a:xfrm>
              <a:off x="3434133" y="5654278"/>
              <a:ext cx="936352" cy="5713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8" name="Picture 4" descr="Helmholtz Free Energy: Definition and Equation">
            <a:extLst>
              <a:ext uri="{FF2B5EF4-FFF2-40B4-BE49-F238E27FC236}">
                <a16:creationId xmlns:a16="http://schemas.microsoft.com/office/drawing/2014/main" id="{CD4B8BCC-BABF-4626-9BB6-88117A0E1A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5334" y="4139255"/>
            <a:ext cx="2757732" cy="2491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1" name="Group 30"/>
          <p:cNvGrpSpPr/>
          <p:nvPr/>
        </p:nvGrpSpPr>
        <p:grpSpPr>
          <a:xfrm>
            <a:off x="582984" y="1725213"/>
            <a:ext cx="3225922" cy="2271776"/>
            <a:chOff x="693081" y="3127257"/>
            <a:chExt cx="3225922" cy="2271776"/>
          </a:xfrm>
        </p:grpSpPr>
        <p:pic>
          <p:nvPicPr>
            <p:cNvPr id="32" name="Picture 31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93081" y="3127257"/>
              <a:ext cx="3225922" cy="2271776"/>
            </a:xfrm>
            <a:prstGeom prst="rect">
              <a:avLst/>
            </a:prstGeom>
          </p:spPr>
        </p:pic>
        <p:pic>
          <p:nvPicPr>
            <p:cNvPr id="36" name="Picture 35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079714" y="3822587"/>
              <a:ext cx="182591" cy="243454"/>
            </a:xfrm>
            <a:prstGeom prst="rect">
              <a:avLst/>
            </a:prstGeom>
          </p:spPr>
        </p:pic>
        <p:pic>
          <p:nvPicPr>
            <p:cNvPr id="37" name="Picture 36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473955" y="3804171"/>
              <a:ext cx="843596" cy="199963"/>
            </a:xfrm>
            <a:prstGeom prst="rect">
              <a:avLst/>
            </a:prstGeom>
          </p:spPr>
        </p:pic>
        <p:pic>
          <p:nvPicPr>
            <p:cNvPr id="38" name="Picture 37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079714" y="3241761"/>
              <a:ext cx="673637" cy="307099"/>
            </a:xfrm>
            <a:prstGeom prst="rect">
              <a:avLst/>
            </a:prstGeom>
          </p:spPr>
        </p:pic>
      </p:grp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6DFAC93-0174-4F77-814F-D0D7F49A4DAE}"/>
              </a:ext>
            </a:extLst>
          </p:cNvPr>
          <p:cNvSpPr/>
          <p:nvPr/>
        </p:nvSpPr>
        <p:spPr>
          <a:xfrm>
            <a:off x="530351" y="3996989"/>
            <a:ext cx="7572953" cy="96425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25BEC51A-F17B-4952-907F-6FEA9E936E9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637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canonical ensemble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885097" y="2158504"/>
            <a:ext cx="57365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Canonical distribution of the microstates in S: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58095" y="2558614"/>
            <a:ext cx="2218086" cy="94219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035389" y="2773070"/>
            <a:ext cx="2465891" cy="8737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35389" y="2570648"/>
            <a:ext cx="1974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Partition function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70491" y="2132990"/>
            <a:ext cx="3324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Canonical distribution of     :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7602" y="2562584"/>
            <a:ext cx="1744979" cy="72292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447" y="2195929"/>
            <a:ext cx="182591" cy="24345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609393" y="2512033"/>
            <a:ext cx="1974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Partition function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9393" y="2882350"/>
            <a:ext cx="2317836" cy="544552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62796" y="5003473"/>
            <a:ext cx="2246597" cy="603773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34316" y="6041265"/>
            <a:ext cx="2479243" cy="330566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7690960" y="6459639"/>
            <a:ext cx="4501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Connect to </a:t>
            </a:r>
            <a:r>
              <a:rPr lang="en-US">
                <a:solidFill>
                  <a:srgbClr val="FF0000"/>
                </a:solidFill>
              </a:rPr>
              <a:t>the thermodynamics </a:t>
            </a:r>
            <a:r>
              <a:rPr lang="en-US" dirty="0">
                <a:solidFill>
                  <a:srgbClr val="FF0000"/>
                </a:solidFill>
              </a:rPr>
              <a:t>quantities.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DFA4354-0545-4788-B9B7-29261BD58758}"/>
              </a:ext>
            </a:extLst>
          </p:cNvPr>
          <p:cNvGrpSpPr/>
          <p:nvPr/>
        </p:nvGrpSpPr>
        <p:grpSpPr>
          <a:xfrm>
            <a:off x="867241" y="3519675"/>
            <a:ext cx="5410279" cy="1083923"/>
            <a:chOff x="651866" y="5762041"/>
            <a:chExt cx="5410279" cy="1083923"/>
          </a:xfrm>
        </p:grpSpPr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8025DC2F-2A54-40A0-8925-96FC2589E4C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199351" y="5762041"/>
              <a:ext cx="1347223" cy="513229"/>
            </a:xfrm>
            <a:prstGeom prst="rect">
              <a:avLst/>
            </a:prstGeom>
          </p:spPr>
        </p:pic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8CC81778-2BF0-4560-91FA-16362A126F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64966" y="6107671"/>
              <a:ext cx="5397179" cy="738293"/>
            </a:xfrm>
            <a:prstGeom prst="rect">
              <a:avLst/>
            </a:prstGeom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8A6C36B-43F1-4970-8A24-EC5D8EA969DF}"/>
                </a:ext>
              </a:extLst>
            </p:cNvPr>
            <p:cNvSpPr txBox="1"/>
            <p:nvPr/>
          </p:nvSpPr>
          <p:spPr>
            <a:xfrm>
              <a:off x="651866" y="5767300"/>
              <a:ext cx="5693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The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D8F4BFD-01FE-4DDD-84D3-2153CFA996E4}"/>
              </a:ext>
            </a:extLst>
          </p:cNvPr>
          <p:cNvGrpSpPr/>
          <p:nvPr/>
        </p:nvGrpSpPr>
        <p:grpSpPr>
          <a:xfrm>
            <a:off x="724172" y="4746203"/>
            <a:ext cx="3091083" cy="957658"/>
            <a:chOff x="724172" y="4746203"/>
            <a:chExt cx="3091083" cy="957658"/>
          </a:xfrm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762CDC3E-6532-44FC-A3EA-D5B7510DFC6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236034" y="4974384"/>
              <a:ext cx="2579221" cy="729477"/>
            </a:xfrm>
            <a:prstGeom prst="rect">
              <a:avLst/>
            </a:prstGeom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C1CAB6A-20D7-49C4-80AE-CE93851F77BE}"/>
                </a:ext>
              </a:extLst>
            </p:cNvPr>
            <p:cNvSpPr txBox="1"/>
            <p:nvPr/>
          </p:nvSpPr>
          <p:spPr>
            <a:xfrm>
              <a:off x="724172" y="4746203"/>
              <a:ext cx="26810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Helmholtz free energy:</a:t>
              </a:r>
            </a:p>
          </p:txBody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4ABB1D36-270C-4D7E-8699-C7E21F4F9C7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F98E1941-D61A-4C54-B946-0DF560434F62}"/>
              </a:ext>
            </a:extLst>
          </p:cNvPr>
          <p:cNvGrpSpPr/>
          <p:nvPr/>
        </p:nvGrpSpPr>
        <p:grpSpPr>
          <a:xfrm>
            <a:off x="3815255" y="5115535"/>
            <a:ext cx="3489095" cy="981701"/>
            <a:chOff x="3815255" y="5115535"/>
            <a:chExt cx="3489095" cy="981701"/>
          </a:xfrm>
        </p:grpSpPr>
        <p:pic>
          <p:nvPicPr>
            <p:cNvPr id="44" name="Picture 43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5624373" y="5559378"/>
              <a:ext cx="1679977" cy="537858"/>
            </a:xfrm>
            <a:prstGeom prst="rect">
              <a:avLst/>
            </a:prstGeom>
          </p:spPr>
        </p:pic>
        <p:sp>
          <p:nvSpPr>
            <p:cNvPr id="45" name="TextBox 44"/>
            <p:cNvSpPr txBox="1"/>
            <p:nvPr/>
          </p:nvSpPr>
          <p:spPr>
            <a:xfrm>
              <a:off x="3815255" y="5674418"/>
              <a:ext cx="160319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(using 1</a:t>
              </a:r>
              <a:r>
                <a:rPr lang="en-US" sz="1400" baseline="30000" dirty="0"/>
                <a:t>st</a:t>
              </a:r>
              <a:r>
                <a:rPr lang="en-US" sz="1400" dirty="0"/>
                <a:t> law in F.)</a:t>
              </a:r>
            </a:p>
          </p:txBody>
        </p:sp>
        <p:sp>
          <p:nvSpPr>
            <p:cNvPr id="3" name="Arrow: Right 2">
              <a:extLst>
                <a:ext uri="{FF2B5EF4-FFF2-40B4-BE49-F238E27FC236}">
                  <a16:creationId xmlns:a16="http://schemas.microsoft.com/office/drawing/2014/main" id="{5AC2AE7F-143D-4BFE-B784-782ED5A0F8C3}"/>
                </a:ext>
              </a:extLst>
            </p:cNvPr>
            <p:cNvSpPr/>
            <p:nvPr/>
          </p:nvSpPr>
          <p:spPr>
            <a:xfrm>
              <a:off x="4164759" y="5115535"/>
              <a:ext cx="2675312" cy="32042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EAAEA73-0334-4FDC-A6A7-F7B7F16A2AE5}"/>
              </a:ext>
            </a:extLst>
          </p:cNvPr>
          <p:cNvGrpSpPr/>
          <p:nvPr/>
        </p:nvGrpSpPr>
        <p:grpSpPr>
          <a:xfrm>
            <a:off x="8025153" y="4215225"/>
            <a:ext cx="1245832" cy="734432"/>
            <a:chOff x="8025153" y="4215225"/>
            <a:chExt cx="1245832" cy="734432"/>
          </a:xfrm>
        </p:grpSpPr>
        <p:sp>
          <p:nvSpPr>
            <p:cNvPr id="7" name="Right Brace 6">
              <a:extLst>
                <a:ext uri="{FF2B5EF4-FFF2-40B4-BE49-F238E27FC236}">
                  <a16:creationId xmlns:a16="http://schemas.microsoft.com/office/drawing/2014/main" id="{8EF28A45-813E-4698-B234-92064558027A}"/>
                </a:ext>
              </a:extLst>
            </p:cNvPr>
            <p:cNvSpPr/>
            <p:nvPr/>
          </p:nvSpPr>
          <p:spPr>
            <a:xfrm rot="16200000">
              <a:off x="8626570" y="4543646"/>
              <a:ext cx="250463" cy="561559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C42222DA-9C88-4D06-8D75-7453FE7BC2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8025153" y="4215225"/>
              <a:ext cx="1245832" cy="517499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B3412DE-0E42-4EAA-AD26-3DE9E884D991}"/>
              </a:ext>
            </a:extLst>
          </p:cNvPr>
          <p:cNvSpPr txBox="1"/>
          <p:nvPr/>
        </p:nvSpPr>
        <p:spPr>
          <a:xfrm>
            <a:off x="1151934" y="6413572"/>
            <a:ext cx="3953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Average energy == Internal Energy </a:t>
            </a:r>
            <a:endParaRPr lang="en-MY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9239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canonical ensemble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885097" y="2158504"/>
            <a:ext cx="57365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Canonical distribution of the microstates in S: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58095" y="2558614"/>
            <a:ext cx="2218086" cy="94219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035389" y="2773070"/>
            <a:ext cx="2465891" cy="8737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35389" y="2570648"/>
            <a:ext cx="1974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Partition function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70491" y="2132990"/>
            <a:ext cx="3324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Canonical distribution of     :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7602" y="2562584"/>
            <a:ext cx="1744979" cy="72292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447" y="2195929"/>
            <a:ext cx="182591" cy="24345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609393" y="2512033"/>
            <a:ext cx="1974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Partition function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9393" y="2882350"/>
            <a:ext cx="2317836" cy="544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04880" y="1580629"/>
            <a:ext cx="2463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Helmholtz free energy:</a:t>
            </a:r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76384" y="4081552"/>
            <a:ext cx="2479243" cy="33056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474572" y="3603800"/>
            <a:ext cx="2681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Helmholtz free energy:</a:t>
            </a:r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5962" y="4851946"/>
            <a:ext cx="7958918" cy="2091921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D281844B-C79C-491E-B0A5-11A563F10975}"/>
              </a:ext>
            </a:extLst>
          </p:cNvPr>
          <p:cNvGrpSpPr/>
          <p:nvPr/>
        </p:nvGrpSpPr>
        <p:grpSpPr>
          <a:xfrm>
            <a:off x="867241" y="3519675"/>
            <a:ext cx="5410279" cy="1083923"/>
            <a:chOff x="651866" y="5762041"/>
            <a:chExt cx="5410279" cy="1083923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B3ACA4FC-F5AB-4BB4-AC1C-3760AEC0D7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199351" y="5762041"/>
              <a:ext cx="1347223" cy="513229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BA315965-CB3E-469D-92CE-81C4DBFE0E3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64966" y="6107671"/>
              <a:ext cx="5397179" cy="738293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6867D82-0B19-4A78-BA8C-2E8C1FAA0AE3}"/>
                </a:ext>
              </a:extLst>
            </p:cNvPr>
            <p:cNvSpPr txBox="1"/>
            <p:nvPr/>
          </p:nvSpPr>
          <p:spPr>
            <a:xfrm>
              <a:off x="651866" y="5767300"/>
              <a:ext cx="5693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The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6BDBA9BC-93D5-40B5-8DB5-04754F4F5CC5}"/>
              </a:ext>
            </a:extLst>
          </p:cNvPr>
          <p:cNvGrpSpPr/>
          <p:nvPr/>
        </p:nvGrpSpPr>
        <p:grpSpPr>
          <a:xfrm>
            <a:off x="8160091" y="5897906"/>
            <a:ext cx="4085019" cy="807544"/>
            <a:chOff x="8160091" y="5897906"/>
            <a:chExt cx="4085019" cy="807544"/>
          </a:xfrm>
        </p:grpSpPr>
        <p:sp>
          <p:nvSpPr>
            <p:cNvPr id="3" name="Right Brace 2">
              <a:extLst>
                <a:ext uri="{FF2B5EF4-FFF2-40B4-BE49-F238E27FC236}">
                  <a16:creationId xmlns:a16="http://schemas.microsoft.com/office/drawing/2014/main" id="{3705AEF0-CD7C-4A31-8A3B-202E5C0250E2}"/>
                </a:ext>
              </a:extLst>
            </p:cNvPr>
            <p:cNvSpPr/>
            <p:nvPr/>
          </p:nvSpPr>
          <p:spPr>
            <a:xfrm>
              <a:off x="8160091" y="5897906"/>
              <a:ext cx="458129" cy="807544"/>
            </a:xfrm>
            <a:prstGeom prst="righ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A085EF9-05C8-4005-A0B5-C74C2BC89B4C}"/>
                </a:ext>
              </a:extLst>
            </p:cNvPr>
            <p:cNvSpPr txBox="1"/>
            <p:nvPr/>
          </p:nvSpPr>
          <p:spPr>
            <a:xfrm>
              <a:off x="8618220" y="6117012"/>
              <a:ext cx="36268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>
                  <a:solidFill>
                    <a:srgbClr val="FF0000"/>
                  </a:solidFill>
                </a:rPr>
                <a:t>Connection to the thermodynamic</a:t>
              </a:r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0E790376-6F45-4C8E-83EA-D800A0F4954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580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canonical ensemble: two level system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1952" y="5060255"/>
            <a:ext cx="2785707" cy="78887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2139" y="2279417"/>
            <a:ext cx="3183310" cy="914355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8787912" y="3063238"/>
            <a:ext cx="2661390" cy="2577445"/>
            <a:chOff x="8616462" y="3192098"/>
            <a:chExt cx="2661390" cy="2985796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61646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148338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9680214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212090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743966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H="1">
              <a:off x="1127584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/>
          <p:cNvGrpSpPr/>
          <p:nvPr/>
        </p:nvGrpSpPr>
        <p:grpSpPr>
          <a:xfrm rot="16200000">
            <a:off x="8828880" y="3012468"/>
            <a:ext cx="2567641" cy="2669183"/>
            <a:chOff x="8616462" y="3192098"/>
            <a:chExt cx="2661390" cy="2985796"/>
          </a:xfrm>
        </p:grpSpPr>
        <p:cxnSp>
          <p:nvCxnSpPr>
            <p:cNvPr id="15" name="Straight Connector 14"/>
            <p:cNvCxnSpPr/>
            <p:nvPr/>
          </p:nvCxnSpPr>
          <p:spPr>
            <a:xfrm flipH="1">
              <a:off x="861646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H="1">
              <a:off x="9148338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H="1">
              <a:off x="9680214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flipH="1">
              <a:off x="10212090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10743966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1127584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7912" y="2552036"/>
            <a:ext cx="1073555" cy="251463"/>
          </a:xfrm>
          <a:prstGeom prst="rect">
            <a:avLst/>
          </a:prstGeom>
        </p:spPr>
      </p:pic>
      <p:sp>
        <p:nvSpPr>
          <p:cNvPr id="22" name="Freeform 21"/>
          <p:cNvSpPr/>
          <p:nvPr/>
        </p:nvSpPr>
        <p:spPr>
          <a:xfrm>
            <a:off x="8191276" y="3371180"/>
            <a:ext cx="1234440" cy="971550"/>
          </a:xfrm>
          <a:custGeom>
            <a:avLst/>
            <a:gdLst>
              <a:gd name="connsiteX0" fmla="*/ 0 w 1234440"/>
              <a:gd name="connsiteY0" fmla="*/ 0 h 971550"/>
              <a:gd name="connsiteX1" fmla="*/ 388620 w 1234440"/>
              <a:gd name="connsiteY1" fmla="*/ 697230 h 971550"/>
              <a:gd name="connsiteX2" fmla="*/ 708660 w 1234440"/>
              <a:gd name="connsiteY2" fmla="*/ 34290 h 971550"/>
              <a:gd name="connsiteX3" fmla="*/ 1234440 w 1234440"/>
              <a:gd name="connsiteY3" fmla="*/ 971550 h 971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34440" h="971550">
                <a:moveTo>
                  <a:pt x="0" y="0"/>
                </a:moveTo>
                <a:cubicBezTo>
                  <a:pt x="135255" y="345757"/>
                  <a:pt x="270510" y="691515"/>
                  <a:pt x="388620" y="697230"/>
                </a:cubicBezTo>
                <a:cubicBezTo>
                  <a:pt x="506730" y="702945"/>
                  <a:pt x="567690" y="-11430"/>
                  <a:pt x="708660" y="34290"/>
                </a:cubicBezTo>
                <a:cubicBezTo>
                  <a:pt x="849630" y="80010"/>
                  <a:pt x="1234440" y="971550"/>
                  <a:pt x="1234440" y="971550"/>
                </a:cubicBezTo>
              </a:path>
            </a:pathLst>
          </a:custGeom>
          <a:noFill/>
          <a:ln w="28575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2044" y="4321286"/>
            <a:ext cx="759966" cy="17801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7270" y="2997332"/>
            <a:ext cx="2760216" cy="266612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506DEC65-6D20-4DC9-83BD-31F04E925826}"/>
              </a:ext>
            </a:extLst>
          </p:cNvPr>
          <p:cNvGrpSpPr/>
          <p:nvPr/>
        </p:nvGrpSpPr>
        <p:grpSpPr>
          <a:xfrm>
            <a:off x="8806758" y="3067719"/>
            <a:ext cx="2634042" cy="2561061"/>
            <a:chOff x="8806758" y="3067719"/>
            <a:chExt cx="2634042" cy="2561061"/>
          </a:xfrm>
        </p:grpSpPr>
        <p:grpSp>
          <p:nvGrpSpPr>
            <p:cNvPr id="26" name="Group 25"/>
            <p:cNvGrpSpPr/>
            <p:nvPr/>
          </p:nvGrpSpPr>
          <p:grpSpPr>
            <a:xfrm>
              <a:off x="10933794" y="3067719"/>
              <a:ext cx="507006" cy="503341"/>
              <a:chOff x="10933794" y="3067719"/>
              <a:chExt cx="507006" cy="503341"/>
            </a:xfrm>
          </p:grpSpPr>
          <p:sp>
            <p:nvSpPr>
              <p:cNvPr id="39" name="Rectangle 38"/>
              <p:cNvSpPr/>
              <p:nvPr/>
            </p:nvSpPr>
            <p:spPr>
              <a:xfrm>
                <a:off x="10933794" y="3067719"/>
                <a:ext cx="507006" cy="50334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40" name="Picture 39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095327" y="3193772"/>
                <a:ext cx="165100" cy="203200"/>
              </a:xfrm>
              <a:prstGeom prst="rect">
                <a:avLst/>
              </a:prstGeom>
            </p:spPr>
          </p:pic>
        </p:grpSp>
        <p:grpSp>
          <p:nvGrpSpPr>
            <p:cNvPr id="27" name="Group 26"/>
            <p:cNvGrpSpPr/>
            <p:nvPr/>
          </p:nvGrpSpPr>
          <p:grpSpPr>
            <a:xfrm>
              <a:off x="10932841" y="3593019"/>
              <a:ext cx="507006" cy="503341"/>
              <a:chOff x="10933794" y="3067719"/>
              <a:chExt cx="507006" cy="503341"/>
            </a:xfrm>
          </p:grpSpPr>
          <p:sp>
            <p:nvSpPr>
              <p:cNvPr id="37" name="Rectangle 36"/>
              <p:cNvSpPr/>
              <p:nvPr/>
            </p:nvSpPr>
            <p:spPr>
              <a:xfrm>
                <a:off x="10933794" y="3067719"/>
                <a:ext cx="507006" cy="50334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38" name="Picture 37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095327" y="3193772"/>
                <a:ext cx="165100" cy="203200"/>
              </a:xfrm>
              <a:prstGeom prst="rect">
                <a:avLst/>
              </a:prstGeom>
            </p:spPr>
          </p:pic>
        </p:grpSp>
        <p:grpSp>
          <p:nvGrpSpPr>
            <p:cNvPr id="28" name="Group 27"/>
            <p:cNvGrpSpPr/>
            <p:nvPr/>
          </p:nvGrpSpPr>
          <p:grpSpPr>
            <a:xfrm>
              <a:off x="10400509" y="4100347"/>
              <a:ext cx="507006" cy="503341"/>
              <a:chOff x="10933794" y="3067719"/>
              <a:chExt cx="507006" cy="503341"/>
            </a:xfrm>
          </p:grpSpPr>
          <p:sp>
            <p:nvSpPr>
              <p:cNvPr id="35" name="Rectangle 34"/>
              <p:cNvSpPr/>
              <p:nvPr/>
            </p:nvSpPr>
            <p:spPr>
              <a:xfrm>
                <a:off x="10933794" y="3067719"/>
                <a:ext cx="507006" cy="50334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36" name="Picture 35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095327" y="3193772"/>
                <a:ext cx="165100" cy="203200"/>
              </a:xfrm>
              <a:prstGeom prst="rect">
                <a:avLst/>
              </a:prstGeom>
            </p:spPr>
          </p:pic>
        </p:grpSp>
        <p:grpSp>
          <p:nvGrpSpPr>
            <p:cNvPr id="29" name="Group 28"/>
            <p:cNvGrpSpPr/>
            <p:nvPr/>
          </p:nvGrpSpPr>
          <p:grpSpPr>
            <a:xfrm>
              <a:off x="9336191" y="3579571"/>
              <a:ext cx="507006" cy="503341"/>
              <a:chOff x="10933794" y="3067719"/>
              <a:chExt cx="507006" cy="503341"/>
            </a:xfrm>
          </p:grpSpPr>
          <p:sp>
            <p:nvSpPr>
              <p:cNvPr id="33" name="Rectangle 32"/>
              <p:cNvSpPr/>
              <p:nvPr/>
            </p:nvSpPr>
            <p:spPr>
              <a:xfrm>
                <a:off x="10933794" y="3067719"/>
                <a:ext cx="507006" cy="50334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34" name="Picture 33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095327" y="3193772"/>
                <a:ext cx="165100" cy="203200"/>
              </a:xfrm>
              <a:prstGeom prst="rect">
                <a:avLst/>
              </a:prstGeom>
            </p:spPr>
          </p:pic>
        </p:grpSp>
        <p:grpSp>
          <p:nvGrpSpPr>
            <p:cNvPr id="30" name="Group 29"/>
            <p:cNvGrpSpPr/>
            <p:nvPr/>
          </p:nvGrpSpPr>
          <p:grpSpPr>
            <a:xfrm>
              <a:off x="8806758" y="5125439"/>
              <a:ext cx="507006" cy="503341"/>
              <a:chOff x="10933794" y="3067719"/>
              <a:chExt cx="507006" cy="503341"/>
            </a:xfrm>
          </p:grpSpPr>
          <p:sp>
            <p:nvSpPr>
              <p:cNvPr id="31" name="Rectangle 30"/>
              <p:cNvSpPr/>
              <p:nvPr/>
            </p:nvSpPr>
            <p:spPr>
              <a:xfrm>
                <a:off x="10933794" y="3067719"/>
                <a:ext cx="507006" cy="50334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32" name="Picture 31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095327" y="3193772"/>
                <a:ext cx="165100" cy="203200"/>
              </a:xfrm>
              <a:prstGeom prst="rect">
                <a:avLst/>
              </a:prstGeom>
            </p:spPr>
          </p:pic>
        </p:grp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A87DD0B-6C3B-4139-A595-D06F18613C37}"/>
              </a:ext>
            </a:extLst>
          </p:cNvPr>
          <p:cNvGrpSpPr/>
          <p:nvPr/>
        </p:nvGrpSpPr>
        <p:grpSpPr>
          <a:xfrm>
            <a:off x="3668427" y="1962194"/>
            <a:ext cx="1302381" cy="617045"/>
            <a:chOff x="3668427" y="1962194"/>
            <a:chExt cx="1302381" cy="617045"/>
          </a:xfrm>
        </p:grpSpPr>
        <p:cxnSp>
          <p:nvCxnSpPr>
            <p:cNvPr id="42" name="Straight Arrow Connector 41"/>
            <p:cNvCxnSpPr/>
            <p:nvPr/>
          </p:nvCxnSpPr>
          <p:spPr>
            <a:xfrm>
              <a:off x="4141694" y="2279417"/>
              <a:ext cx="13448" cy="2998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3" name="Picture 4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668427" y="1962194"/>
              <a:ext cx="1302381" cy="237493"/>
            </a:xfrm>
            <a:prstGeom prst="rect">
              <a:avLst/>
            </a:pr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B4BB6C3-BD1B-4A4C-9B3B-81CC0C439408}"/>
              </a:ext>
            </a:extLst>
          </p:cNvPr>
          <p:cNvGrpSpPr/>
          <p:nvPr/>
        </p:nvGrpSpPr>
        <p:grpSpPr>
          <a:xfrm>
            <a:off x="5088285" y="2063378"/>
            <a:ext cx="2929023" cy="515861"/>
            <a:chOff x="5088285" y="2063378"/>
            <a:chExt cx="2929023" cy="515861"/>
          </a:xfrm>
        </p:grpSpPr>
        <p:cxnSp>
          <p:nvCxnSpPr>
            <p:cNvPr id="45" name="Straight Arrow Connector 44"/>
            <p:cNvCxnSpPr/>
            <p:nvPr/>
          </p:nvCxnSpPr>
          <p:spPr>
            <a:xfrm flipH="1">
              <a:off x="5088285" y="2279417"/>
              <a:ext cx="440649" cy="2998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/>
            <p:cNvSpPr txBox="1"/>
            <p:nvPr/>
          </p:nvSpPr>
          <p:spPr>
            <a:xfrm>
              <a:off x="5528934" y="2063378"/>
              <a:ext cx="2488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Number of excited states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D369015-D614-4885-9680-3CA65613DA29}"/>
              </a:ext>
            </a:extLst>
          </p:cNvPr>
          <p:cNvGrpSpPr/>
          <p:nvPr/>
        </p:nvGrpSpPr>
        <p:grpSpPr>
          <a:xfrm>
            <a:off x="2810949" y="3602255"/>
            <a:ext cx="3902267" cy="1139409"/>
            <a:chOff x="3668427" y="4359933"/>
            <a:chExt cx="3902267" cy="1139409"/>
          </a:xfrm>
        </p:grpSpPr>
        <p:sp>
          <p:nvSpPr>
            <p:cNvPr id="49" name="Rectangle 48"/>
            <p:cNvSpPr/>
            <p:nvPr/>
          </p:nvSpPr>
          <p:spPr>
            <a:xfrm>
              <a:off x="5959338" y="4359933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dirty="0"/>
            </a:p>
          </p:txBody>
        </p:sp>
        <p:pic>
          <p:nvPicPr>
            <p:cNvPr id="50" name="Picture 49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668427" y="4773494"/>
              <a:ext cx="3902267" cy="725848"/>
            </a:xfrm>
            <a:prstGeom prst="rect">
              <a:avLst/>
            </a:prstGeom>
          </p:spPr>
        </p:pic>
      </p:grpSp>
      <p:sp>
        <p:nvSpPr>
          <p:cNvPr id="51" name="Rectangle 50"/>
          <p:cNvSpPr/>
          <p:nvPr/>
        </p:nvSpPr>
        <p:spPr>
          <a:xfrm>
            <a:off x="849648" y="4171960"/>
            <a:ext cx="17908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Microcanonical</a:t>
            </a:r>
            <a:r>
              <a:rPr lang="en-US" dirty="0"/>
              <a:t>: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375725" y="5271351"/>
            <a:ext cx="12458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Canonical: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F5F8B7E0-41F5-424D-B04F-27F41955EA7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994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canonical ensemble: two level system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959" y="2388189"/>
            <a:ext cx="2785707" cy="788873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8787912" y="3063238"/>
            <a:ext cx="2661390" cy="2577445"/>
            <a:chOff x="8616462" y="3192098"/>
            <a:chExt cx="2661390" cy="2985796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61646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148338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9680214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212090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743966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H="1">
              <a:off x="1127584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/>
          <p:cNvGrpSpPr/>
          <p:nvPr/>
        </p:nvGrpSpPr>
        <p:grpSpPr>
          <a:xfrm rot="16200000">
            <a:off x="8828880" y="3012468"/>
            <a:ext cx="2567641" cy="2669183"/>
            <a:chOff x="8616462" y="3192098"/>
            <a:chExt cx="2661390" cy="2985796"/>
          </a:xfrm>
        </p:grpSpPr>
        <p:cxnSp>
          <p:nvCxnSpPr>
            <p:cNvPr id="15" name="Straight Connector 14"/>
            <p:cNvCxnSpPr/>
            <p:nvPr/>
          </p:nvCxnSpPr>
          <p:spPr>
            <a:xfrm flipH="1">
              <a:off x="861646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H="1">
              <a:off x="9148338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H="1">
              <a:off x="9680214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flipH="1">
              <a:off x="10212090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10743966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1127584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7912" y="2552036"/>
            <a:ext cx="1073555" cy="251463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506DEC65-6D20-4DC9-83BD-31F04E925826}"/>
              </a:ext>
            </a:extLst>
          </p:cNvPr>
          <p:cNvGrpSpPr/>
          <p:nvPr/>
        </p:nvGrpSpPr>
        <p:grpSpPr>
          <a:xfrm>
            <a:off x="8806758" y="3067719"/>
            <a:ext cx="2634042" cy="2561061"/>
            <a:chOff x="8806758" y="3067719"/>
            <a:chExt cx="2634042" cy="2561061"/>
          </a:xfrm>
        </p:grpSpPr>
        <p:grpSp>
          <p:nvGrpSpPr>
            <p:cNvPr id="26" name="Group 25"/>
            <p:cNvGrpSpPr/>
            <p:nvPr/>
          </p:nvGrpSpPr>
          <p:grpSpPr>
            <a:xfrm>
              <a:off x="10933794" y="3067719"/>
              <a:ext cx="507006" cy="503341"/>
              <a:chOff x="10933794" y="3067719"/>
              <a:chExt cx="507006" cy="503341"/>
            </a:xfrm>
          </p:grpSpPr>
          <p:sp>
            <p:nvSpPr>
              <p:cNvPr id="39" name="Rectangle 38"/>
              <p:cNvSpPr/>
              <p:nvPr/>
            </p:nvSpPr>
            <p:spPr>
              <a:xfrm>
                <a:off x="10933794" y="3067719"/>
                <a:ext cx="507006" cy="50334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40" name="Picture 39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095327" y="3193772"/>
                <a:ext cx="165100" cy="203200"/>
              </a:xfrm>
              <a:prstGeom prst="rect">
                <a:avLst/>
              </a:prstGeom>
            </p:spPr>
          </p:pic>
        </p:grpSp>
        <p:grpSp>
          <p:nvGrpSpPr>
            <p:cNvPr id="27" name="Group 26"/>
            <p:cNvGrpSpPr/>
            <p:nvPr/>
          </p:nvGrpSpPr>
          <p:grpSpPr>
            <a:xfrm>
              <a:off x="10932841" y="3593019"/>
              <a:ext cx="507006" cy="503341"/>
              <a:chOff x="10933794" y="3067719"/>
              <a:chExt cx="507006" cy="503341"/>
            </a:xfrm>
          </p:grpSpPr>
          <p:sp>
            <p:nvSpPr>
              <p:cNvPr id="37" name="Rectangle 36"/>
              <p:cNvSpPr/>
              <p:nvPr/>
            </p:nvSpPr>
            <p:spPr>
              <a:xfrm>
                <a:off x="10933794" y="3067719"/>
                <a:ext cx="507006" cy="50334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38" name="Picture 37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095327" y="3193772"/>
                <a:ext cx="165100" cy="203200"/>
              </a:xfrm>
              <a:prstGeom prst="rect">
                <a:avLst/>
              </a:prstGeom>
            </p:spPr>
          </p:pic>
        </p:grpSp>
        <p:grpSp>
          <p:nvGrpSpPr>
            <p:cNvPr id="28" name="Group 27"/>
            <p:cNvGrpSpPr/>
            <p:nvPr/>
          </p:nvGrpSpPr>
          <p:grpSpPr>
            <a:xfrm>
              <a:off x="10400509" y="4100347"/>
              <a:ext cx="507006" cy="503341"/>
              <a:chOff x="10933794" y="3067719"/>
              <a:chExt cx="507006" cy="503341"/>
            </a:xfrm>
          </p:grpSpPr>
          <p:sp>
            <p:nvSpPr>
              <p:cNvPr id="35" name="Rectangle 34"/>
              <p:cNvSpPr/>
              <p:nvPr/>
            </p:nvSpPr>
            <p:spPr>
              <a:xfrm>
                <a:off x="10933794" y="3067719"/>
                <a:ext cx="507006" cy="50334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36" name="Picture 35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095327" y="3193772"/>
                <a:ext cx="165100" cy="203200"/>
              </a:xfrm>
              <a:prstGeom prst="rect">
                <a:avLst/>
              </a:prstGeom>
            </p:spPr>
          </p:pic>
        </p:grpSp>
        <p:grpSp>
          <p:nvGrpSpPr>
            <p:cNvPr id="29" name="Group 28"/>
            <p:cNvGrpSpPr/>
            <p:nvPr/>
          </p:nvGrpSpPr>
          <p:grpSpPr>
            <a:xfrm>
              <a:off x="9336191" y="3579571"/>
              <a:ext cx="507006" cy="503341"/>
              <a:chOff x="10933794" y="3067719"/>
              <a:chExt cx="507006" cy="503341"/>
            </a:xfrm>
          </p:grpSpPr>
          <p:sp>
            <p:nvSpPr>
              <p:cNvPr id="33" name="Rectangle 32"/>
              <p:cNvSpPr/>
              <p:nvPr/>
            </p:nvSpPr>
            <p:spPr>
              <a:xfrm>
                <a:off x="10933794" y="3067719"/>
                <a:ext cx="507006" cy="50334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34" name="Picture 33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095327" y="3193772"/>
                <a:ext cx="165100" cy="203200"/>
              </a:xfrm>
              <a:prstGeom prst="rect">
                <a:avLst/>
              </a:prstGeom>
            </p:spPr>
          </p:pic>
        </p:grpSp>
        <p:grpSp>
          <p:nvGrpSpPr>
            <p:cNvPr id="30" name="Group 29"/>
            <p:cNvGrpSpPr/>
            <p:nvPr/>
          </p:nvGrpSpPr>
          <p:grpSpPr>
            <a:xfrm>
              <a:off x="8806758" y="5125439"/>
              <a:ext cx="507006" cy="503341"/>
              <a:chOff x="10933794" y="3067719"/>
              <a:chExt cx="507006" cy="503341"/>
            </a:xfrm>
          </p:grpSpPr>
          <p:sp>
            <p:nvSpPr>
              <p:cNvPr id="31" name="Rectangle 30"/>
              <p:cNvSpPr/>
              <p:nvPr/>
            </p:nvSpPr>
            <p:spPr>
              <a:xfrm>
                <a:off x="10933794" y="3067719"/>
                <a:ext cx="507006" cy="50334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32" name="Picture 31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095327" y="3193772"/>
                <a:ext cx="165100" cy="203200"/>
              </a:xfrm>
              <a:prstGeom prst="rect">
                <a:avLst/>
              </a:prstGeom>
            </p:spPr>
          </p:pic>
        </p:grpSp>
      </p:grpSp>
      <p:sp>
        <p:nvSpPr>
          <p:cNvPr id="52" name="Rectangle 51"/>
          <p:cNvSpPr/>
          <p:nvPr/>
        </p:nvSpPr>
        <p:spPr>
          <a:xfrm>
            <a:off x="330524" y="2030578"/>
            <a:ext cx="13468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Canonical: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1886" y="3193772"/>
            <a:ext cx="48777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Much straightforward than </a:t>
            </a:r>
            <a:r>
              <a:rPr lang="en-US" sz="1600" dirty="0" err="1"/>
              <a:t>microcanonical</a:t>
            </a:r>
            <a:r>
              <a:rPr lang="en-US" sz="1600" dirty="0"/>
              <a:t> ensemble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721B450-2EF8-41AF-9B27-07BC0431857C}"/>
              </a:ext>
            </a:extLst>
          </p:cNvPr>
          <p:cNvGrpSpPr/>
          <p:nvPr/>
        </p:nvGrpSpPr>
        <p:grpSpPr>
          <a:xfrm>
            <a:off x="205593" y="3577092"/>
            <a:ext cx="5631491" cy="1383095"/>
            <a:chOff x="205593" y="3577092"/>
            <a:chExt cx="5631491" cy="1383095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4899" y="3761297"/>
              <a:ext cx="5352185" cy="1198890"/>
            </a:xfrm>
            <a:prstGeom prst="rect">
              <a:avLst/>
            </a:prstGeom>
          </p:spPr>
        </p:pic>
        <p:sp>
          <p:nvSpPr>
            <p:cNvPr id="53" name="Rectangle 52"/>
            <p:cNvSpPr/>
            <p:nvPr/>
          </p:nvSpPr>
          <p:spPr>
            <a:xfrm>
              <a:off x="205593" y="3577092"/>
              <a:ext cx="216392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1. Partition function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CFB9D62-914B-4794-94FF-69D4EE7161FC}"/>
              </a:ext>
            </a:extLst>
          </p:cNvPr>
          <p:cNvGrpSpPr/>
          <p:nvPr/>
        </p:nvGrpSpPr>
        <p:grpSpPr>
          <a:xfrm>
            <a:off x="205593" y="4882160"/>
            <a:ext cx="4495976" cy="829872"/>
            <a:chOff x="205593" y="4882160"/>
            <a:chExt cx="4495976" cy="829872"/>
          </a:xfrm>
        </p:grpSpPr>
        <p:sp>
          <p:nvSpPr>
            <p:cNvPr id="54" name="Rectangle 53"/>
            <p:cNvSpPr/>
            <p:nvPr/>
          </p:nvSpPr>
          <p:spPr>
            <a:xfrm>
              <a:off x="205593" y="4882160"/>
              <a:ext cx="161903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2. Free energy</a:t>
              </a:r>
            </a:p>
          </p:txBody>
        </p:sp>
        <p:pic>
          <p:nvPicPr>
            <p:cNvPr id="48" name="Picture 4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35082" y="5274666"/>
              <a:ext cx="4166487" cy="437366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07F21C8-8274-4C7D-9D49-4890D1A79296}"/>
              </a:ext>
            </a:extLst>
          </p:cNvPr>
          <p:cNvGrpSpPr/>
          <p:nvPr/>
        </p:nvGrpSpPr>
        <p:grpSpPr>
          <a:xfrm>
            <a:off x="205592" y="5698059"/>
            <a:ext cx="6159580" cy="1167461"/>
            <a:chOff x="205592" y="5698059"/>
            <a:chExt cx="6159580" cy="1167461"/>
          </a:xfrm>
        </p:grpSpPr>
        <p:sp>
          <p:nvSpPr>
            <p:cNvPr id="55" name="Rectangle 54"/>
            <p:cNvSpPr/>
            <p:nvPr/>
          </p:nvSpPr>
          <p:spPr>
            <a:xfrm>
              <a:off x="205592" y="5698059"/>
              <a:ext cx="383374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3. Get the thermodynamic quantities</a:t>
              </a:r>
            </a:p>
          </p:txBody>
        </p:sp>
        <p:pic>
          <p:nvPicPr>
            <p:cNvPr id="56" name="Picture 5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81361" y="5991219"/>
              <a:ext cx="5883811" cy="874301"/>
            </a:xfrm>
            <a:prstGeom prst="rect">
              <a:avLst/>
            </a:prstGeom>
          </p:spPr>
        </p:pic>
      </p:grpSp>
      <p:pic>
        <p:nvPicPr>
          <p:cNvPr id="58" name="Picture 5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3630" y="5973243"/>
            <a:ext cx="2554093" cy="714048"/>
          </a:xfrm>
          <a:prstGeom prst="rect">
            <a:avLst/>
          </a:prstGeom>
        </p:spPr>
      </p:pic>
      <p:pic>
        <p:nvPicPr>
          <p:cNvPr id="59" name="Picture 5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70644" y="5964099"/>
            <a:ext cx="1647459" cy="639312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63732C38-043D-4B46-9264-1CEAE69FF95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070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canonical ensemble: two level system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49684" y="4738099"/>
            <a:ext cx="5534480" cy="677212"/>
            <a:chOff x="579905" y="3294428"/>
            <a:chExt cx="5534480" cy="677212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2"/>
            <a:srcRect r="81861" b="50938"/>
            <a:stretch/>
          </p:blipFill>
          <p:spPr>
            <a:xfrm>
              <a:off x="579905" y="3353127"/>
              <a:ext cx="990906" cy="618513"/>
            </a:xfrm>
            <a:prstGeom prst="rect">
              <a:avLst/>
            </a:prstGeom>
          </p:spPr>
        </p:pic>
        <p:pic>
          <p:nvPicPr>
            <p:cNvPr id="76" name="Picture 75"/>
            <p:cNvPicPr>
              <a:picLocks noChangeAspect="1"/>
            </p:cNvPicPr>
            <p:nvPr/>
          </p:nvPicPr>
          <p:blipFill rotWithShape="1">
            <a:blip r:embed="rId2"/>
            <a:srcRect l="17550" t="47050"/>
            <a:stretch/>
          </p:blipFill>
          <p:spPr>
            <a:xfrm>
              <a:off x="1610257" y="3294428"/>
              <a:ext cx="4504128" cy="667527"/>
            </a:xfrm>
            <a:prstGeom prst="rect">
              <a:avLst/>
            </a:prstGeom>
          </p:spPr>
        </p:pic>
      </p:grpSp>
      <p:sp>
        <p:nvSpPr>
          <p:cNvPr id="9" name="Rectangle 8"/>
          <p:cNvSpPr/>
          <p:nvPr/>
        </p:nvSpPr>
        <p:spPr>
          <a:xfrm>
            <a:off x="330524" y="2030578"/>
            <a:ext cx="13468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Canonical: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59" y="2558499"/>
            <a:ext cx="5883811" cy="87430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3216B6A-867C-4F06-909C-C633DE610AF0}"/>
              </a:ext>
            </a:extLst>
          </p:cNvPr>
          <p:cNvGrpSpPr/>
          <p:nvPr/>
        </p:nvGrpSpPr>
        <p:grpSpPr>
          <a:xfrm>
            <a:off x="7341116" y="2455191"/>
            <a:ext cx="3022824" cy="3000622"/>
            <a:chOff x="7341116" y="2455191"/>
            <a:chExt cx="3022824" cy="3000622"/>
          </a:xfrm>
        </p:grpSpPr>
        <p:pic>
          <p:nvPicPr>
            <p:cNvPr id="84" name="Picture 83"/>
            <p:cNvPicPr>
              <a:picLocks noChangeAspect="1"/>
            </p:cNvPicPr>
            <p:nvPr/>
          </p:nvPicPr>
          <p:blipFill rotWithShape="1">
            <a:blip r:embed="rId4"/>
            <a:srcRect l="10553"/>
            <a:stretch/>
          </p:blipFill>
          <p:spPr>
            <a:xfrm>
              <a:off x="7341116" y="4904509"/>
              <a:ext cx="2525036" cy="551304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428436" y="2455191"/>
              <a:ext cx="2935504" cy="820679"/>
            </a:xfrm>
            <a:prstGeom prst="rect">
              <a:avLst/>
            </a:prstGeom>
          </p:spPr>
        </p:pic>
      </p:grpSp>
      <p:sp>
        <p:nvSpPr>
          <p:cNvPr id="14" name="Rectangle 13"/>
          <p:cNvSpPr/>
          <p:nvPr/>
        </p:nvSpPr>
        <p:spPr>
          <a:xfrm>
            <a:off x="289671" y="4249922"/>
            <a:ext cx="19430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/>
              <a:t>Mircocanonical</a:t>
            </a:r>
            <a:r>
              <a:rPr lang="en-US" b="1" dirty="0"/>
              <a:t>: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6C34EC7-FF19-418F-BAFA-8FF166D2A6C7}"/>
              </a:ext>
            </a:extLst>
          </p:cNvPr>
          <p:cNvGrpSpPr/>
          <p:nvPr/>
        </p:nvGrpSpPr>
        <p:grpSpPr>
          <a:xfrm>
            <a:off x="7428436" y="3432800"/>
            <a:ext cx="1784144" cy="2982403"/>
            <a:chOff x="7428436" y="3432800"/>
            <a:chExt cx="1784144" cy="2982403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428436" y="3432800"/>
              <a:ext cx="1784144" cy="692354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439126" y="5775891"/>
              <a:ext cx="1647459" cy="639312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5D81CCA6-566F-4C7D-82CF-DA92F194C5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935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Canonical Ensemble: Idea gas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30524" y="2030578"/>
            <a:ext cx="13468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Canonical: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05593" y="3358432"/>
            <a:ext cx="21639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1. Partition function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5593" y="5771448"/>
            <a:ext cx="16190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2. Free energy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31848" y="2538548"/>
            <a:ext cx="38337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3. Get the thermodynamic quantities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886" y="2332420"/>
            <a:ext cx="4572000" cy="754602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227" y="3727764"/>
            <a:ext cx="4592265" cy="1435083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5571" y="5162847"/>
            <a:ext cx="1887896" cy="621333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921" y="5255607"/>
            <a:ext cx="655259" cy="317061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684" y="6219775"/>
            <a:ext cx="1327942" cy="442647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25799" y="6129108"/>
            <a:ext cx="3343833" cy="596352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1848" y="3095181"/>
            <a:ext cx="6077036" cy="645546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9726" y="3928028"/>
            <a:ext cx="1495143" cy="367228"/>
          </a:xfrm>
          <a:prstGeom prst="rect">
            <a:avLst/>
          </a:prstGeom>
        </p:spPr>
      </p:pic>
      <p:sp>
        <p:nvSpPr>
          <p:cNvPr id="57" name="Rectangle 56"/>
          <p:cNvSpPr/>
          <p:nvPr/>
        </p:nvSpPr>
        <p:spPr>
          <a:xfrm>
            <a:off x="8380434" y="3891477"/>
            <a:ext cx="27145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equipartition of energy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20360" y="4751076"/>
            <a:ext cx="4534831" cy="767433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0115271" y="5333843"/>
            <a:ext cx="14794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Idea gas law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768609" y="6083537"/>
            <a:ext cx="503150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Microcanonical</a:t>
            </a:r>
            <a:r>
              <a:rPr lang="en-US" b="1" dirty="0">
                <a:solidFill>
                  <a:srgbClr val="FF0000"/>
                </a:solidFill>
              </a:rPr>
              <a:t> and Canonical ensemble gives the same thermodynamic properties.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1C1D357-0D93-4144-8F92-A5DA514B12FF}"/>
              </a:ext>
            </a:extLst>
          </p:cNvPr>
          <p:cNvSpPr/>
          <p:nvPr/>
        </p:nvSpPr>
        <p:spPr>
          <a:xfrm>
            <a:off x="2914650" y="4080173"/>
            <a:ext cx="410247" cy="27465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1F71AAE-2902-4636-B950-6DEB7B06A80D}"/>
              </a:ext>
            </a:extLst>
          </p:cNvPr>
          <p:cNvSpPr/>
          <p:nvPr/>
        </p:nvSpPr>
        <p:spPr>
          <a:xfrm>
            <a:off x="2081090" y="4087730"/>
            <a:ext cx="410247" cy="27465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F654470-1B70-4B7F-8F62-479E3F95720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128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4" grpId="0"/>
      <p:bldP spid="55" grpId="0"/>
      <p:bldP spid="57" grpId="0"/>
      <p:bldP spid="60" grpId="0"/>
      <p:bldP spid="61" grpId="0"/>
      <p:bldP spid="3" grpId="0" animBg="1"/>
      <p:bldP spid="2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886D9-5DA7-41D8-8EEF-C51A80D33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Virial theorem and equipartition of energy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43820C-7CDF-4E9E-8621-06700695D718}"/>
              </a:ext>
            </a:extLst>
          </p:cNvPr>
          <p:cNvSpPr txBox="1"/>
          <p:nvPr/>
        </p:nvSpPr>
        <p:spPr>
          <a:xfrm>
            <a:off x="1024128" y="2632668"/>
            <a:ext cx="2398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Virial theorem:</a:t>
            </a:r>
            <a:endParaRPr lang="en-MY" sz="2400" b="1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9D43F3E-0CF7-42DD-A22B-527D1643FAED}"/>
              </a:ext>
            </a:extLst>
          </p:cNvPr>
          <p:cNvGrpSpPr/>
          <p:nvPr/>
        </p:nvGrpSpPr>
        <p:grpSpPr>
          <a:xfrm>
            <a:off x="872770" y="5292778"/>
            <a:ext cx="2550092" cy="1352844"/>
            <a:chOff x="935421" y="4482657"/>
            <a:chExt cx="2550092" cy="1352844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9CFC887-D3E2-44C5-94CA-B3E22FC27005}"/>
                </a:ext>
              </a:extLst>
            </p:cNvPr>
            <p:cNvSpPr txBox="1"/>
            <p:nvPr/>
          </p:nvSpPr>
          <p:spPr>
            <a:xfrm>
              <a:off x="935421" y="4482657"/>
              <a:ext cx="21032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Integrating by part,</a:t>
              </a:r>
              <a:endParaRPr lang="en-MY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A4056BCB-344E-4E91-B70C-AD98F9275F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24128" y="4931711"/>
              <a:ext cx="2461385" cy="903790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D68668B-CC0B-4D35-A3F1-8C203A8AD7CB}"/>
              </a:ext>
            </a:extLst>
          </p:cNvPr>
          <p:cNvGrpSpPr/>
          <p:nvPr/>
        </p:nvGrpSpPr>
        <p:grpSpPr>
          <a:xfrm>
            <a:off x="4745421" y="4333777"/>
            <a:ext cx="4100685" cy="2275313"/>
            <a:chOff x="4745421" y="4333777"/>
            <a:chExt cx="4100685" cy="227531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BED3898-A3B7-4A75-8B48-264208700DFE}"/>
                </a:ext>
              </a:extLst>
            </p:cNvPr>
            <p:cNvSpPr txBox="1"/>
            <p:nvPr/>
          </p:nvSpPr>
          <p:spPr>
            <a:xfrm>
              <a:off x="4745421" y="6239758"/>
              <a:ext cx="37624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Generalized equipartition of energy.</a:t>
              </a:r>
              <a:endParaRPr lang="en-MY" dirty="0"/>
            </a:p>
          </p:txBody>
        </p:sp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1A95EE9F-79A8-4E67-8002-8D5A781648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745421" y="4333777"/>
              <a:ext cx="3850723" cy="908969"/>
            </a:xfrm>
            <a:prstGeom prst="rect">
              <a:avLst/>
            </a:prstGeom>
          </p:spPr>
        </p:pic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F601CF91-1212-4C91-B2CB-BC7076E0339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797063" y="5266182"/>
              <a:ext cx="4049043" cy="908969"/>
            </a:xfrm>
            <a:prstGeom prst="rect">
              <a:avLst/>
            </a:prstGeom>
          </p:spPr>
        </p:pic>
      </p:grpSp>
      <p:pic>
        <p:nvPicPr>
          <p:cNvPr id="15" name="Graphic 14">
            <a:extLst>
              <a:ext uri="{FF2B5EF4-FFF2-40B4-BE49-F238E27FC236}">
                <a16:creationId xmlns:a16="http://schemas.microsoft.com/office/drawing/2014/main" id="{66ABF782-C8D3-4AA3-8162-94A9F42F844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98796" y="3505940"/>
            <a:ext cx="1699163" cy="482478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9952BCEA-8856-4623-A5B1-CFBEF8A1DD8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394636" y="2993016"/>
            <a:ext cx="4552750" cy="1577487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DB1C9E14-D1E7-469F-9F28-CB8703E49E71}"/>
              </a:ext>
            </a:extLst>
          </p:cNvPr>
          <p:cNvGrpSpPr/>
          <p:nvPr/>
        </p:nvGrpSpPr>
        <p:grpSpPr>
          <a:xfrm>
            <a:off x="8214336" y="2382783"/>
            <a:ext cx="3801615" cy="1956632"/>
            <a:chOff x="8214336" y="2382783"/>
            <a:chExt cx="3801615" cy="195663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2073A5E-B375-48D3-B708-80B9B245C57E}"/>
                </a:ext>
              </a:extLst>
            </p:cNvPr>
            <p:cNvGrpSpPr/>
            <p:nvPr/>
          </p:nvGrpSpPr>
          <p:grpSpPr>
            <a:xfrm>
              <a:off x="8589882" y="2775551"/>
              <a:ext cx="3426069" cy="1563864"/>
              <a:chOff x="8589882" y="2775551"/>
              <a:chExt cx="3426069" cy="1563864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FF20EC73-399C-4852-97D2-AE043A81EF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589882" y="2775551"/>
                <a:ext cx="2406632" cy="867507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98391460-E112-4A09-8C45-915DBF6EF4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589882" y="3671363"/>
                <a:ext cx="3426069" cy="668052"/>
              </a:xfrm>
              <a:prstGeom prst="rect">
                <a:avLst/>
              </a:prstGeom>
            </p:spPr>
          </p:pic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E887F38-27ED-4D83-B87F-23D0C92C2510}"/>
                </a:ext>
              </a:extLst>
            </p:cNvPr>
            <p:cNvSpPr txBox="1"/>
            <p:nvPr/>
          </p:nvSpPr>
          <p:spPr>
            <a:xfrm>
              <a:off x="8214336" y="2382783"/>
              <a:ext cx="3157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b="1" dirty="0"/>
                <a:t>Easy to check with ideal gas</a:t>
              </a: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774D5E7D-B929-4884-83F6-28156E7CD9D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3BD8646E-0024-41EB-8640-AB6E70A43EC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55987" y="4473553"/>
            <a:ext cx="2872364" cy="931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127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05899493-BCC7-4364-874C-005B16DD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E22C8726-953D-4FBA-9450-6480352A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 · 中文翻译与导读 1/2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8CC76104-4950-47B4-B913-20BB9BB2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 页｜Canonical and grand canonical ensembles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DF7F34F0-F3CF-4B54-9DDF-6905ABBD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本讲主题：正则系综与巨正则系综。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CF3EE97D-13A7-4EA0-B13E-AD84F618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04338367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8460875B-CA8B-4354-A63F-B276EBBE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E49D3652-E924-4D7E-B5A9-ADCC38B8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 · 中文翻译与导读 2/2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B6318643-8154-43EF-BD5C-EB0CFF57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CF8A7F7B-A4E8-454B-9B83-24135470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这一讲先完整建立正则系综：系统可与热库交换能量，控制量从 E 改为 T；最后用二能级系统与经典理想气体作例题。巨正则系综将在下一讲继续。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0B1CDC14-C280-4F01-85B9-D3A1B582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96802294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8D23F664-2D27-4AD7-95C5-959D5BA2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0DDBBFD-EE88-429D-B468-EFA4BC97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A043876B-8689-401F-A744-FC72AD6A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 页｜Canonical ensemble from a system plus reservoir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BD1FF7B6-6720-4B54-B226-406E1AD9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把小系统 S 与巨大热库 R 合成能量固定的总系统。小系统处于微观态 μS 时，其概率正比于热库剩余能量 ETot−HS(μS) 的态数：p(μS)=ΩR(ETot−HS(μS))/ΩS⊕R(ETot)。用 SR=kB lnΩR 并在 ETot 附近展开，SR(ETot−HS)≈SR(ETot)−HS(μS)/T，于是得到 Boltzmann 型权重。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23BF610C-8D90-4256-B1FE-117B4720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32274296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CDB6832F-8233-46EC-977B-4D3C955D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2A57C1D9-3350-4AA9-AE20-6CDA4B97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B292D271-E78F-4254-B7F7-234AD4EC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E54A3922-786B-450F-BD4C-6887C95F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p(μS)=ΩR(ETot−HS(μS))/ΩS⊕R(ETot)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小系统微观态概率的态数比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SR(ETot−HS)≈SR(ETot)−HS(μS)/T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热库熵的一阶展开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0701A205-B627-408E-82CB-8550B204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33547041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CB042268-F49B-4731-8FB5-E2FE853B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18C4E2B9-6FB9-4024-9C40-F3626945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91FCFA02-2C1D-4FA3-A700-4B50F0C6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7F48159A-6CAE-47C8-B9E3-30C31B79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正则分布不是凭空假设：它是总系统微正则分布的边缘概率。热库很大，所以小系统交换有限能量时热库温度近似不变；展开的一阶系数正是 1/T。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0363AEC8-9AA7-43A9-8279-57043F080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8646929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A3DA93EB-6C62-4617-9FA6-55299597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99F5743A-0B40-4EDD-BF93-E7D1E415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3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A0E8887C-4343-4564-AF21-75A91358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3 页｜Probability of an energy level in the canonical…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BC54B304-4952-456D-9BC6-0BEF9D7B5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微观态概率按能量加总后，能级 ε 的概率为 p(ε)=Σμ p(μ)δ(H(μ)−ε)=e^(−βε)/Z Σμδ(H(μ)−ε)=Ω(ε)e^(−βε)/Z。配分函数 Z(T)=Σε Ω(ε)e^(−βε)，它保证 Σμp(μ)=1。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3DE158F0-82F6-4D99-AA99-43609478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25225932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A9D0D623-F2E2-474A-8728-92C15F92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4FEB39B2-C99C-45A9-B283-8CF77601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3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4D53DA13-45CF-4619-9149-17D73709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3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13A13083-09D9-4EF7-9AB3-F6CAB0D3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p(ε)=Σμ p(μ)δ(H(μ)−ε)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从微观态概率得到能量概率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p(ε)=Ω(ε)e^(−βε)/Z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能级概率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Z(T)=Σε Ω(ε)e^(−βε)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能级形式的配分函数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Σμ p(μ)=1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归一化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44B4374E-6AB7-4C14-9B29-7AAE3BFE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82047257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7ACFE01F-61C1-4C43-BFF3-DB5A1E65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4CEAA3BB-D9DB-4B82-A6A1-8F0E3D88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3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AE85602E-7DE6-4CBB-91E9-E9D0FA3B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3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879EE110-E411-49C4-8A0E-5670DB77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必须区分“一个微观态的概率”和“一个能级的概率”。同一能量若有 Ω(ε) 个微观态，能级总概率要多乘简并度 Ω(ε)。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4102AF77-7DBD-4B35-B2E5-2287D722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05016359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1F2206C8-4BD4-4DEF-970E-9C83E1D3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7BF6784D-357B-4F59-A68A-D708A09C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4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53CECCAE-9368-43F1-A48B-FA096FC2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4 页｜Free-energy weighting and energy fluctuations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625A5E61-559E-4FEA-9369-0B2EF3CA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能级概率可重写为 p(ε)=Ωe^(−βε)/Z=(1/Z)exp[S(ε)/kB−ε/kBT]=(1/Z)exp[−A(ε)/kBT]，其中 A=ε−TS(ε)。最概然能量 E* 使 A 最小。平均能量满足 ⟨H⟩=−∂lnZ/∂β；能量方差 ⟨H²⟩c=⟨H²⟩−⟨H⟩²=∂²lnZ/∂β²=−∂⟨H⟩/∂β=kBT²Cx。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20567687-4FE4-4F88-8159-1FDB5CAC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95804913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BBFF2EE8-F467-4081-9F5C-08915CA4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F5357BD9-0D85-4F26-A652-E583DB23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4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042BD829-6057-4087-A143-29BA29BC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4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A7CFAC7A-EF84-42C3-AC17-10DF02AA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p(ε)=Ωe^(−βε)/Z=(1/Z)exp[S(ε)/kB−ε/kBT]=(1/Z)exp[−A(ε)/kBT]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能级概率与自由能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A=ε−TS(ε)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本页自由能定义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Z=Σ_ε e^(βA(ε))≈e^(−βA(E*))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按原页可见符号转录；前一式指数正号与同页其他式不一致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⟨H⟩=−∂lnZ/∂β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平均能量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⟨H²⟩c=⟨H²⟩−⟨H⟩²=∂²lnZ/∂β²=−∂⟨H⟩/∂β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能量方差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⟨H²⟩c=kBT² Cx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涨落—响应关系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505AFAE5-7AC1-46C5-8BBE-9709DCB9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31065117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83476F07-90E9-4714-990D-37AEE93C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14834F67-EA23-48AD-9416-31CAC7DC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4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99973B9F-B0D2-473B-86ED-EC1BD1AB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4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0A27B764-D169-483B-8A6D-54A2AFA3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Ω(ε) 偏爱高熵能量，e^(−βε) 惩罚高能量，两者竞争等价于最小化自由能 A。配分函数的 β 导数会“拉下”一个 H，因此能同时生成均值与涨落。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5C52B7AD-CB9F-441E-855D-AE3D1726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4775636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58FBBE2D-B421-4DB4-AC59-D45B9086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DAE39EBD-B5D2-4D93-BD9C-18F82EF0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5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5DAE04E9-7154-44EE-8C23-A6426878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5 页｜Thermodynamic limit of energy fluctuations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0275D4A8-C363-4B7F-8622-479EE0B4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正则系综能量分布的宽度约为 δε∼√(kBT²Cx)。由于平均能量和热容都随粒子数 N 成正比，相对涨落 √⟨H²⟩c/⟨H⟩∝1/√N。因此宏观极限 N→∞ 时，能量相对涨落消失。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0C355AC4-1315-4C3A-B366-B38AD74B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58849190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52B591C6-4E17-474E-AE1D-596A9093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47A87FF2-B35A-47E1-9823-8AA5E00F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5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22D4E37D-2F0E-4CBB-B20D-63A65D86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5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EC3302A0-AD55-41F6-91E1-81B716AD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δε∼√(kBT² Cx)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能量分布宽度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√⟨H²⟩c/⟨H⟩∝1/√N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相对能量涨落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84DD81B7-841C-4B19-8B2E-D66FA958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97357447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A9CCE16D-52C4-4DB8-9512-6D0803B6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5435EE50-D49A-411F-81F9-56B54EAD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5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62AEC39-8E45-4B1D-B48A-CC315F34F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5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DDF491A4-8EC4-4ED3-BE57-73A81542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正则系综虽然允许能量变化，但宏观系统的分布极尖，所以它与固定能量的微正则系综给出相同热力学结果。绝对涨落通常随 √N 增大，相对涨落却按 1/√N 变小。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2472CACE-5533-4EF8-B39F-3D71245F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57817960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DD54F0BD-1385-4CB6-B108-690FD9F4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58A0823D-0BDC-4F8C-89D9-D8639614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6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3306BBF9-B093-4BEF-AAD9-2843D71C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6 页｜Thermodynamic potentials and natural variables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B1A66D1F-D666-4384-B612-79C7F1C7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课件回顾热力学势。一般写 H=E−J·x；Helmholtz 自由能 F=E−TS；Gibbs 自由能 G=E−TS−J·x。课件说明 J 是广义力、x 是相应广义位移，并用这些 Legendre 变换改变自然控制变量。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0CE514F2-5FBE-44F4-85A7-21BFFA55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65152611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6B796F85-0376-4F35-B542-53D625BE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828D4979-EE62-4C02-BE2D-DD391532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6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D330E5FB-F7A5-495E-80C5-C4EB82A4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6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5C5076C5-510D-4C0D-9547-F0967961F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H=E−J·x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课件的一般势记号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F=E−TS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Helmholtz 自由能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G=E−TS−J·x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加入广义力项的势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FD8452BB-2FBF-4D09-8A6E-6526E76B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8913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257081EF-6135-4D2F-85D4-DEA1E6B2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A910CC61-219F-4D3D-AB44-003C9781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6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37FE1D41-A225-4547-9357-9C4DE8DC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6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2EB5462D-91AF-4393-A82E-8CB72596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热力学势的选择取决于实验控制什么：固定 E 用熵或内能表述，固定 T 用 F，若再固定广义力 J 则使用 G。不要把本页记号 H 与力学 Hamiltonian 混为一谈，需由上下文判断。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AC3398F7-8596-45DA-827E-F1AC393C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10681481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2EC64366-1545-4C0F-BCDE-D78D1283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CCBCA1D4-EA46-4942-8CDE-ACA83C7A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7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6DF370E6-498A-4BD8-A208-97CE7D35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7 页｜Thermodynamics from the canonical partition fun…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54DBFE74-E080-422F-9B2D-CECB8BFE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正则系综的能级概率与配分函数为 p(ε)=Ωe^(−βε)/Z、Z=ΣΩe^(−βε)。平均能量 ⟨H⟩=−∂lnZ/∂β，也写成 ⟨H⟩=(∂(F/T)/∂(1/T))N,V。熵满足 S=−(∂F/∂T)N,V，而自由能由 F=−kBT lnZ 给出。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AA1CD6B2-74B2-4B0D-A638-67116BE0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91469571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070948BF-A7A9-4C87-B77C-A9D3A92B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C9A714A4-C3E8-48B8-BCC2-DAF25420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7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969E49F7-65C5-422F-B898-1540B268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7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F0F283CC-D764-4A99-9E80-479C9EC7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p(ε)=Ωe^(−βε)/Z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能级概率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Z=ΣΩe^(−βε)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配分函数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⟨H⟩=−∂lnZ/∂β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平均能量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⟨H⟩=(∂(F/T)/∂(1/T))N,V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自由能导数形式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S=−(∂F/∂T)N,V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熵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F=−kBT ln Z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自由能—配分函数关系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1859A011-6FC3-46E3-A0B7-8AF643F5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3548649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7CB83E71-F952-4532-87E6-9608DB70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2CF41E30-C3C6-4710-BCC1-406BE2B4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7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8D5F3D93-8B82-4DB6-ACE4-2C9376EF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7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6A7E8BCB-803A-4A13-B2F2-1B8189E2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Z 是正则系综的“生成器”：先求 Z，再取 ln 并求导，能得到 E、S、P 等宏观量。最重要的流程是先确认 Z 的自然变量，再注明偏导中固定哪些量。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FD7A2509-AE62-4256-B4A6-AEDB7C8B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64150557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750873E1-9005-4118-AED2-DB42B77D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18605F4F-C72D-4DB8-ACD8-578CEE48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8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2BCCF760-C917-4ED9-8DAF-75A1F117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8 页｜Microcanonical versus canonical ensemble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E5458DDC-5413-4F96-9884-E9F10518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微正则系综的控制变量是 (E,x)，分布为 δ(H−E)/Ω，热力学势是 S=kB lnΩ。正则系综的控制变量是 (T,x)，分布为 exp(−βH)/Z，热力学势是 F=−kBT lnZ。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16BFE2C6-44C5-49C5-9897-17107955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56188505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06CBE5F0-C6DE-489E-AC22-8880D756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C14B23DA-BAC0-4582-BF7C-CA239A01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8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8B38FA0B-CBD8-4844-B49D-B5F39241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8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CD3B9B11-3646-42DE-A2DD-BC1B3A32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ρmicro=δ(H−E)/Ω; S=kB lnΩ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微正则一行总结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ρcanonical=exp(−βH)/Z; F=−kBT lnZ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正则一行总结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5CCA1986-A352-4135-A8A2-146D5894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70578999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328DCF65-95F1-4F0D-B11E-C42A2792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FA96BB4C-7AD2-4AFC-BD29-F6ACAC4B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8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F5EF540-5D68-43F2-8E9A-5F5063ED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8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5A480BA9-6C04-45A5-A217-DD1334C4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两个系综不是互相矛盾，而是适用于不同边界条件：孤立系统固定 E；接触热库固定 T。宏观极限下，只要没有特殊长程相互作用等问题，它们通常给出等价的状态方程。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3646B788-0E40-474D-9F24-9AB0A3B9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4925465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FA9CFB53-3BE2-44DB-BDF8-3FAAB361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CD1276CB-3EAD-42A4-9531-81B52F0E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9 · 中文翻译与导读 1/2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D948682F-891A-40A9-A122-93657712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9 页｜Two-level system: microcanonical and canonical…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ABA93833-DAD5-4B2B-8FA9-584B99F8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本页把二能级系统的微正则与正则描述并列。微正则固定总激发数或总能量并对允许配置等权；正则允许总能量涨落，每个配置按 e^(−βH) 加权。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CD497002-3472-4457-8F9F-AA4DB3D2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02097388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66E19EA9-3A1C-4BF0-BEA5-1DE5CDA2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527718F0-4868-402B-87DA-289CF330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9 · 中文翻译与导读 2/2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52B226DA-EF10-4A99-B051-29688A06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9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F7EDFEB5-8E2B-490A-A311-FD4E1D6A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微正则计算依赖组合数，正则计算可因独立单元而把配分函数因子化。两条路线最后应得到相同的宏观 E(T)、S(T) 和热容，可用于互相校验。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DAC42A47-CC48-48DA-969D-34BF0F21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48245474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D550E7FF-9F70-441F-B462-89680E95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CFAC2CE-80FC-49F6-A7B8-9F997479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10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E5C2FE91-139A-4C23-A6E6-4E37C0FF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10 页｜Canonical solution of the two-level system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A9549B76-C56B-4321-A1AD-C53B27E3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每个单元能量为 0 或 ε，独立 N 单元的配分函数是 Z=(1+e^(−βε))^N。自由能 F=−NkBT ln[1+e^(−ε/kBT)]。平均能量 E=−∂lnZ/∂β=Nεe^(−βε)/(1+e^(−βε))。单元占据概率 pi(ni)=e^(−βεni)/(1+e^(−βε))。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4C760F5E-C489-4861-A15A-119F0FEF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10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66912474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B169D2FF-2AA3-4386-AED9-764A20DA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D1A1CF0E-D147-46D1-93EB-D69DD999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10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125FE3C6-C551-4879-8B4A-A17743FB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10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356C71EB-EE7D-4111-A9B2-3BFB8308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Z=(1+e^(−βε))^N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N 个独立二能级单元的配分函数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F=−NkBT ln[1+e^(−ε/kBT)]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自由能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E=−∂lnZ/∂β=Nεe^(−βε)/(1+e^(−βε))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平均能量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pi(ni)=e^(−βεni)/(1+e^(−βε))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单元占据概率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16395E97-B0E8-4331-8A5A-81B901E9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10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92629083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D7DBD271-98F4-4A00-B49D-E3E2A9FB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EE9306F-5CDA-4E73-A106-79386BF1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10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9460F474-18DA-4D2B-866C-5DD4DA11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10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946DBE1D-D995-41AA-B597-C51688DE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先求单个单元 z1=1+e^(−βε)，独立性给 Z=z1^N。这样不需要枚举 2^N 个配置。ni=0 时权重为 1，ni=1 时权重为 e^(−βε)。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BB9AB4E0-99DC-4537-BD68-7B850885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10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85663787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CA483074-2AFF-4E45-8A69-EE8A95A8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BA9C6C7B-5631-4B28-9321-1BB84557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11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B764048F-19BD-47C3-9272-CAD1E624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11 页｜Agreement of the two-level ensembles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488ADE43-D184-4BB9-B22A-13E198D9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本页把微正则方法得到的熵、能量和占据概率，与正则方法由 Z 得到的结果进行比较。宏观极限下两者一致；正则路线通常更短，微正则路线更直接展示态数与熵。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7AC04901-28CA-4509-B2A3-E32031FE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823679676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EF468CB3-1DE5-4024-846B-4670CC0E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9AF060EE-02F6-4272-A9A1-F907A0B1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11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96015FAF-36AB-4174-B071-7B6CE669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11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60C68DF1-FD9C-4A28-BDD5-2DD83CB5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E(T)=Nε/[e^(βε)+1]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两种系综共同得到的能量关系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CC47B163-9084-400C-B85E-53A55100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429006816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A375827A-1437-406D-AA71-413F2871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EB9F5C9-F54A-4658-A12E-86CF133E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11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64D54234-B634-4B2E-A27A-77B11A67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11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B20B1709-D8E2-45A7-B2CF-AF7B64A6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复习时至少用一个量做交叉检查：把正则 E(T)=Nε/[e^(βε)+1] 代回微正则的 1/T=(kB/ε)ln[(Nε−E)/E]，应得到恒等式。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F5A52908-556E-4986-9474-B23B3D8D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337307508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F3AD2358-B852-49B8-8CF2-17BA1B6A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B3D89430-3B21-47F1-B392-59B63C7B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12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3881DFF2-3F42-4838-BD3B-C678F5DE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12 页｜Canonical ensemble of a classical ideal gas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F46B69A9-C86A-4FFA-8944-572DE5FA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经典理想气体的正则配分函数为 Z=V^N/N! (2πmkBT/h²)^(3N/2)=1/N!(V/λ³)^N，其中 λ=h/√(2πmkBT)。由此 F=−NkBT[ln(Ve/N)+(3/2)ln(2πmkBT/h²)]。原页写 −S=∂F/∂T=…=(F−E)/T；并给出 E=3NkBT/2、P=−∂F/∂V=NkBT/V、PV=NkBT。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E774D0E8-B4EB-4255-AC4F-D269A016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640453087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F2E006AA-0F77-42A7-97E3-85EB3484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9752246E-A93E-4B6A-8231-FA0A6B41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12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41152DB9-EAEA-4F50-93E0-3B3A0F04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12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5C5F2135-FE63-45CE-9DDA-75717351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Z=V^N/N! (2πmkBT/h²)^(3N/2)=1/N!(V/λ³)^N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理想气体配分函数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λ=h/√(2πmkBT)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热德布罗意波长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F=−NkBT[ln(Ve/N)+(3/2)ln(2πmkBT/h²)]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自由能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−S=∂F/∂T=…=(F−E)/T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按原页可见关系保留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E=3NkBT/2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内能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P=−∂F/∂V=NkBT/V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压强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PV=NkBT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状态方程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88EEB24B-27E5-4071-9AD9-FBD5E792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010816426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2F68374C-4717-4E24-BD46-97190418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42605A38-A6E5-4BDB-B2A3-F49A1AD2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12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24B0D46A-8334-428C-8CF4-E709A394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12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C9222F68-3DBB-408C-817F-439F25E0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h 使经典相空间计数无量纲，1/N! 修正相同粒子不可区分。λ 是热德布罗意波长；当 Nλ³/V 不再很小时，经典 Maxwell–Boltzmann 近似会失效。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16DD982D-6850-4E9B-B122-BB585731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516640009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7A2DE0CF-202C-4C34-A671-D857E3A4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73A938E4-966E-4C20-8CB8-E9A31769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13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BD6E8CD5-8370-45FE-8B76-7D857BC1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13 页｜Virial theorem and equipartition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85726456-B628-469A-AA87-D37FB741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本页标题为 Virial Theorem（位力定理），并回到理想气体 Hamiltonian H=Σ[p_i²/(2m)+U(q_i)] 与硬壁势 U。课件意图是从正则平均连接位力关系与经典能量均分。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652CC16D-68DB-4352-BCFC-0A4A35C9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587543043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873E1975-2C39-4FEF-8732-17D22B5E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A499CB64-2950-4BFA-AE23-56E90342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13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6A04350B-ACDF-428A-BBAE-0D6406EC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13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5C2D3D25-F5D4-4E01-840C-9172CA8D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H=Σ[p_i²/(2m)+U(q_i)]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原页可辨认的理想气体 Hamiltonian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U(q)=0 inside; ∞ outside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硬壁势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95B0E210-E91E-43A6-92AF-7039384D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388831573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F994C4F1-8EBE-4F52-BB45-6D254FA1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AC38ECD4-F6F4-4D9B-868B-2232C5A2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13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8ED39418-0538-44F3-81A3-BCBC5EFF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13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DF065380-19B9-43E4-9F35-E9C42115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位力定理把动能平均与位置—力的平均联系起来；能量均分则说明经典平衡中每个二次项贡献 kBT/2。二者都要求注意势能形式和边界条件。由于本页核心公式对象未正常渲染，下面解释只作为学习导向，不冒充原页逐字公式。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40D3A812-EFEC-48C0-A299-A97A7EA2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241866491"/>
      </p:ext>
    </p:extLst>
  </p:cSld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Custom 1">
      <a:majorFont>
        <a:latin typeface="Cambria"/>
        <a:ea typeface=""/>
        <a:cs typeface=""/>
      </a:majorFont>
      <a:minorFont>
        <a:latin typeface="Constantia"/>
        <a:ea typeface=""/>
        <a:cs typeface="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50270</TotalTime>
  <Words>370</Words>
  <Application>Microsoft Office PowerPoint</Application>
  <PresentationFormat>Widescreen</PresentationFormat>
  <Paragraphs>94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Calibri</vt:lpstr>
      <vt:lpstr>Cambria</vt:lpstr>
      <vt:lpstr>Constantia</vt:lpstr>
      <vt:lpstr>Tw Cen MT</vt:lpstr>
      <vt:lpstr>Wingdings 3</vt:lpstr>
      <vt:lpstr>Integral</vt:lpstr>
      <vt:lpstr>Statistical physics phy301</vt:lpstr>
      <vt:lpstr>canonical ensemble</vt:lpstr>
      <vt:lpstr>canonical ensemble</vt:lpstr>
      <vt:lpstr>canonical ensemble</vt:lpstr>
      <vt:lpstr>canonical ensemble</vt:lpstr>
      <vt:lpstr>Thermodynamics potential</vt:lpstr>
      <vt:lpstr>canonical ensemble</vt:lpstr>
      <vt:lpstr>canonical ensemble</vt:lpstr>
      <vt:lpstr>canonical ensemble: two level system</vt:lpstr>
      <vt:lpstr>canonical ensemble: two level system</vt:lpstr>
      <vt:lpstr>canonical ensemble: two level system</vt:lpstr>
      <vt:lpstr>Canonical Ensemble: Idea gas</vt:lpstr>
      <vt:lpstr>Virial theorem and equipartition of energy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Mechanics phy101</dc:title>
  <dc:creator>Kok Wee Song</dc:creator>
  <cp:lastModifiedBy>Song Kok Wee</cp:lastModifiedBy>
  <cp:revision>1666</cp:revision>
  <dcterms:created xsi:type="dcterms:W3CDTF">2024-08-25T23:32:26Z</dcterms:created>
  <dcterms:modified xsi:type="dcterms:W3CDTF">2025-10-21T08:25:05Z</dcterms:modified>
</cp:coreProperties>
</file>