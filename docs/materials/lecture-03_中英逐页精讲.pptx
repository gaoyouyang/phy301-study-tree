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9"/>
  </p:notesMasterIdLst>
  <p:sldIdLst>
    <p:sldId id="266" r:id="rId2"/>
    <p:sldId id="430" r:id="rId34"/>
    <p:sldId id="431" r:id="rId35"/>
    <p:sldId id="298" r:id="rId3"/>
    <p:sldId id="432" r:id="rId36"/>
    <p:sldId id="433" r:id="rId37"/>
    <p:sldId id="434" r:id="rId38"/>
    <p:sldId id="313" r:id="rId4"/>
    <p:sldId id="435" r:id="rId39"/>
    <p:sldId id="436" r:id="rId40"/>
    <p:sldId id="437" r:id="rId41"/>
    <p:sldId id="315" r:id="rId5"/>
    <p:sldId id="438" r:id="rId42"/>
    <p:sldId id="439" r:id="rId43"/>
    <p:sldId id="440" r:id="rId44"/>
    <p:sldId id="316" r:id="rId6"/>
    <p:sldId id="441" r:id="rId45"/>
    <p:sldId id="442" r:id="rId46"/>
    <p:sldId id="443" r:id="rId47"/>
    <p:sldId id="321" r:id="rId7"/>
    <p:sldId id="444" r:id="rId48"/>
    <p:sldId id="445" r:id="rId49"/>
    <p:sldId id="446" r:id="rId50"/>
    <p:sldId id="317" r:id="rId8"/>
    <p:sldId id="447" r:id="rId51"/>
    <p:sldId id="448" r:id="rId52"/>
    <p:sldId id="449" r:id="rId53"/>
    <p:sldId id="322" r:id="rId9"/>
    <p:sldId id="450" r:id="rId54"/>
    <p:sldId id="451" r:id="rId55"/>
    <p:sldId id="452" r:id="rId56"/>
    <p:sldId id="323" r:id="rId10"/>
    <p:sldId id="453" r:id="rId57"/>
    <p:sldId id="454" r:id="rId58"/>
    <p:sldId id="455" r:id="rId59"/>
    <p:sldId id="320" r:id="rId11"/>
    <p:sldId id="456" r:id="rId60"/>
    <p:sldId id="457" r:id="rId61"/>
    <p:sldId id="458" r:id="rId62"/>
    <p:sldId id="324" r:id="rId12"/>
    <p:sldId id="459" r:id="rId63"/>
    <p:sldId id="460" r:id="rId64"/>
    <p:sldId id="461" r:id="rId65"/>
    <p:sldId id="325" r:id="rId13"/>
    <p:sldId id="462" r:id="rId66"/>
    <p:sldId id="463" r:id="rId67"/>
    <p:sldId id="464" r:id="rId68"/>
    <p:sldId id="326" r:id="rId14"/>
    <p:sldId id="465" r:id="rId69"/>
    <p:sldId id="466" r:id="rId70"/>
    <p:sldId id="467" r:id="rId71"/>
    <p:sldId id="428" r:id="rId15"/>
    <p:sldId id="468" r:id="rId72"/>
    <p:sldId id="469" r:id="rId73"/>
    <p:sldId id="429" r:id="rId16"/>
    <p:sldId id="470" r:id="rId74"/>
    <p:sldId id="471" r:id="rId75"/>
    <p:sldId id="327" r:id="rId17"/>
    <p:sldId id="472" r:id="rId76"/>
    <p:sldId id="473" r:id="rId77"/>
    <p:sldId id="474" r:id="rId78"/>
    <p:sldId id="329" r:id="rId18"/>
    <p:sldId id="475" r:id="rId79"/>
    <p:sldId id="476" r:id="rId80"/>
    <p:sldId id="477" r:id="rId81"/>
    <p:sldId id="330" r:id="rId19"/>
    <p:sldId id="478" r:id="rId82"/>
    <p:sldId id="479" r:id="rId83"/>
    <p:sldId id="480" r:id="rId84"/>
    <p:sldId id="331" r:id="rId20"/>
    <p:sldId id="481" r:id="rId85"/>
    <p:sldId id="482" r:id="rId86"/>
    <p:sldId id="483" r:id="rId87"/>
    <p:sldId id="332" r:id="rId21"/>
    <p:sldId id="484" r:id="rId88"/>
    <p:sldId id="485" r:id="rId89"/>
    <p:sldId id="486" r:id="rId90"/>
    <p:sldId id="333" r:id="rId22"/>
    <p:sldId id="487" r:id="rId91"/>
    <p:sldId id="488" r:id="rId92"/>
    <p:sldId id="489" r:id="rId93"/>
    <p:sldId id="328" r:id="rId23"/>
    <p:sldId id="490" r:id="rId94"/>
    <p:sldId id="491" r:id="rId95"/>
    <p:sldId id="492" r:id="rId96"/>
    <p:sldId id="414" r:id="rId24"/>
    <p:sldId id="493" r:id="rId97"/>
    <p:sldId id="494" r:id="rId98"/>
    <p:sldId id="495" r:id="rId99"/>
    <p:sldId id="334" r:id="rId25"/>
    <p:sldId id="496" r:id="rId100"/>
    <p:sldId id="497" r:id="rId101"/>
    <p:sldId id="498" r:id="rId102"/>
    <p:sldId id="411" r:id="rId26"/>
    <p:sldId id="499" r:id="rId103"/>
    <p:sldId id="500" r:id="rId104"/>
    <p:sldId id="501" r:id="rId105"/>
    <p:sldId id="412" r:id="rId27"/>
    <p:sldId id="502" r:id="rId106"/>
    <p:sldId id="503" r:id="rId107"/>
    <p:sldId id="504" r:id="rId108"/>
    <p:sldId id="413" r:id="rId28"/>
    <p:sldId id="505" r:id="rId109"/>
    <p:sldId id="506" r:id="rId110"/>
    <p:sldId id="507" r:id="rId1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png"/><Relationship Id="rId5" Type="http://schemas.openxmlformats.org/officeDocument/2006/relationships/image" Target="../media/image5.emf"/><Relationship Id="rId10" Type="http://schemas.openxmlformats.org/officeDocument/2006/relationships/image" Target="../media/image10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3.svg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12" Type="http://schemas.openxmlformats.org/officeDocument/2006/relationships/image" Target="../media/image22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11" Type="http://schemas.openxmlformats.org/officeDocument/2006/relationships/image" Target="../media/image21.svg"/><Relationship Id="rId5" Type="http://schemas.openxmlformats.org/officeDocument/2006/relationships/image" Target="../media/image15.emf"/><Relationship Id="rId10" Type="http://schemas.openxmlformats.org/officeDocument/2006/relationships/image" Target="../media/image20.png"/><Relationship Id="rId4" Type="http://schemas.openxmlformats.org/officeDocument/2006/relationships/image" Target="../media/image14.emf"/><Relationship Id="rId9" Type="http://schemas.openxmlformats.org/officeDocument/2006/relationships/image" Target="../media/image19.emf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image" Target="../media/image11.png"/><Relationship Id="rId3" Type="http://schemas.openxmlformats.org/officeDocument/2006/relationships/image" Target="../media/image12.emf"/><Relationship Id="rId7" Type="http://schemas.openxmlformats.org/officeDocument/2006/relationships/image" Target="../media/image25.emf"/><Relationship Id="rId12" Type="http://schemas.openxmlformats.org/officeDocument/2006/relationships/image" Target="../media/image29.sv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11" Type="http://schemas.openxmlformats.org/officeDocument/2006/relationships/image" Target="../media/image28.png"/><Relationship Id="rId5" Type="http://schemas.openxmlformats.org/officeDocument/2006/relationships/image" Target="../media/image16.emf"/><Relationship Id="rId10" Type="http://schemas.openxmlformats.org/officeDocument/2006/relationships/image" Target="../media/image19.emf"/><Relationship Id="rId4" Type="http://schemas.openxmlformats.org/officeDocument/2006/relationships/image" Target="../media/image13.emf"/><Relationship Id="rId9" Type="http://schemas.openxmlformats.org/officeDocument/2006/relationships/image" Target="../media/image2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13.emf"/><Relationship Id="rId7" Type="http://schemas.openxmlformats.org/officeDocument/2006/relationships/image" Target="../media/image30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11" Type="http://schemas.openxmlformats.org/officeDocument/2006/relationships/image" Target="../media/image11.png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6.emf"/><Relationship Id="rId9" Type="http://schemas.openxmlformats.org/officeDocument/2006/relationships/image" Target="../media/image3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png"/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12" Type="http://schemas.openxmlformats.org/officeDocument/2006/relationships/image" Target="../media/image37.sv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36.png"/><Relationship Id="rId5" Type="http://schemas.openxmlformats.org/officeDocument/2006/relationships/image" Target="../media/image3.emf"/><Relationship Id="rId10" Type="http://schemas.openxmlformats.org/officeDocument/2006/relationships/image" Target="../media/image35.emf"/><Relationship Id="rId4" Type="http://schemas.openxmlformats.org/officeDocument/2006/relationships/image" Target="../media/image7.emf"/><Relationship Id="rId9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12" Type="http://schemas.openxmlformats.org/officeDocument/2006/relationships/image" Target="../media/image1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11" Type="http://schemas.openxmlformats.org/officeDocument/2006/relationships/image" Target="../media/image46.emf"/><Relationship Id="rId5" Type="http://schemas.openxmlformats.org/officeDocument/2006/relationships/image" Target="../media/image40.emf"/><Relationship Id="rId10" Type="http://schemas.openxmlformats.org/officeDocument/2006/relationships/image" Target="../media/image45.emf"/><Relationship Id="rId4" Type="http://schemas.openxmlformats.org/officeDocument/2006/relationships/image" Target="../media/image39.emf"/><Relationship Id="rId9" Type="http://schemas.openxmlformats.org/officeDocument/2006/relationships/image" Target="../media/image4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8.emf"/><Relationship Id="rId7" Type="http://schemas.openxmlformats.org/officeDocument/2006/relationships/image" Target="../media/image25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18.emf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10" Type="http://schemas.openxmlformats.org/officeDocument/2006/relationships/image" Target="../media/image11.png"/><Relationship Id="rId4" Type="http://schemas.openxmlformats.org/officeDocument/2006/relationships/image" Target="../media/image52.emf"/><Relationship Id="rId9" Type="http://schemas.openxmlformats.org/officeDocument/2006/relationships/image" Target="../media/image5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image" Target="../media/image59.emf"/><Relationship Id="rId7" Type="http://schemas.openxmlformats.org/officeDocument/2006/relationships/image" Target="../media/image63.emf"/><Relationship Id="rId12" Type="http://schemas.openxmlformats.org/officeDocument/2006/relationships/image" Target="../media/image11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image" Target="../media/image67.emf"/><Relationship Id="rId5" Type="http://schemas.openxmlformats.org/officeDocument/2006/relationships/image" Target="../media/image61.emf"/><Relationship Id="rId10" Type="http://schemas.openxmlformats.org/officeDocument/2006/relationships/image" Target="../media/image66.emf"/><Relationship Id="rId4" Type="http://schemas.openxmlformats.org/officeDocument/2006/relationships/image" Target="../media/image60.emf"/><Relationship Id="rId9" Type="http://schemas.openxmlformats.org/officeDocument/2006/relationships/image" Target="../media/image6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image" Target="../media/image61.emf"/><Relationship Id="rId3" Type="http://schemas.openxmlformats.org/officeDocument/2006/relationships/image" Target="../media/image59.emf"/><Relationship Id="rId7" Type="http://schemas.openxmlformats.org/officeDocument/2006/relationships/image" Target="../media/image68.emf"/><Relationship Id="rId12" Type="http://schemas.openxmlformats.org/officeDocument/2006/relationships/image" Target="../media/image67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11" Type="http://schemas.openxmlformats.org/officeDocument/2006/relationships/image" Target="../media/image66.emf"/><Relationship Id="rId5" Type="http://schemas.openxmlformats.org/officeDocument/2006/relationships/image" Target="../media/image62.emf"/><Relationship Id="rId15" Type="http://schemas.openxmlformats.org/officeDocument/2006/relationships/image" Target="../media/image11.png"/><Relationship Id="rId10" Type="http://schemas.openxmlformats.org/officeDocument/2006/relationships/image" Target="../media/image71.emf"/><Relationship Id="rId4" Type="http://schemas.openxmlformats.org/officeDocument/2006/relationships/image" Target="../media/image60.emf"/><Relationship Id="rId9" Type="http://schemas.openxmlformats.org/officeDocument/2006/relationships/image" Target="../media/image70.emf"/><Relationship Id="rId14" Type="http://schemas.openxmlformats.org/officeDocument/2006/relationships/image" Target="../media/image7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image" Target="../media/image75.emf"/><Relationship Id="rId3" Type="http://schemas.openxmlformats.org/officeDocument/2006/relationships/image" Target="../media/image59.emf"/><Relationship Id="rId7" Type="http://schemas.openxmlformats.org/officeDocument/2006/relationships/image" Target="../media/image72.emf"/><Relationship Id="rId12" Type="http://schemas.openxmlformats.org/officeDocument/2006/relationships/image" Target="../media/image74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image" Target="../media/image63.emf"/><Relationship Id="rId5" Type="http://schemas.openxmlformats.org/officeDocument/2006/relationships/image" Target="../media/image60.emf"/><Relationship Id="rId15" Type="http://schemas.openxmlformats.org/officeDocument/2006/relationships/image" Target="../media/image11.png"/><Relationship Id="rId10" Type="http://schemas.openxmlformats.org/officeDocument/2006/relationships/image" Target="../media/image66.emf"/><Relationship Id="rId4" Type="http://schemas.openxmlformats.org/officeDocument/2006/relationships/image" Target="../media/image61.emf"/><Relationship Id="rId9" Type="http://schemas.openxmlformats.org/officeDocument/2006/relationships/image" Target="../media/image58.emf"/><Relationship Id="rId14" Type="http://schemas.openxmlformats.org/officeDocument/2006/relationships/image" Target="../media/image7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image" Target="../media/image78.emf"/><Relationship Id="rId18" Type="http://schemas.openxmlformats.org/officeDocument/2006/relationships/image" Target="../media/image11.png"/><Relationship Id="rId3" Type="http://schemas.openxmlformats.org/officeDocument/2006/relationships/image" Target="../media/image59.emf"/><Relationship Id="rId7" Type="http://schemas.openxmlformats.org/officeDocument/2006/relationships/image" Target="../media/image66.emf"/><Relationship Id="rId12" Type="http://schemas.openxmlformats.org/officeDocument/2006/relationships/image" Target="../media/image77.emf"/><Relationship Id="rId17" Type="http://schemas.openxmlformats.org/officeDocument/2006/relationships/image" Target="../media/image82.emf"/><Relationship Id="rId2" Type="http://schemas.openxmlformats.org/officeDocument/2006/relationships/image" Target="../media/image58.emf"/><Relationship Id="rId16" Type="http://schemas.openxmlformats.org/officeDocument/2006/relationships/image" Target="../media/image8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image" Target="../media/image76.emf"/><Relationship Id="rId5" Type="http://schemas.openxmlformats.org/officeDocument/2006/relationships/image" Target="../media/image61.emf"/><Relationship Id="rId15" Type="http://schemas.openxmlformats.org/officeDocument/2006/relationships/image" Target="../media/image80.png"/><Relationship Id="rId10" Type="http://schemas.openxmlformats.org/officeDocument/2006/relationships/image" Target="../media/image71.emf"/><Relationship Id="rId4" Type="http://schemas.openxmlformats.org/officeDocument/2006/relationships/image" Target="../media/image60.emf"/><Relationship Id="rId9" Type="http://schemas.openxmlformats.org/officeDocument/2006/relationships/image" Target="../media/image63.emf"/><Relationship Id="rId14" Type="http://schemas.openxmlformats.org/officeDocument/2006/relationships/image" Target="../media/image79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sv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21" Type="http://schemas.openxmlformats.org/officeDocument/2006/relationships/image" Target="../media/image102.svg"/><Relationship Id="rId34" Type="http://schemas.openxmlformats.org/officeDocument/2006/relationships/image" Target="../media/image115.png"/><Relationship Id="rId7" Type="http://schemas.openxmlformats.org/officeDocument/2006/relationships/image" Target="../media/image88.svg"/><Relationship Id="rId12" Type="http://schemas.openxmlformats.org/officeDocument/2006/relationships/image" Target="../media/image93.png"/><Relationship Id="rId17" Type="http://schemas.openxmlformats.org/officeDocument/2006/relationships/image" Target="../media/image98.svg"/><Relationship Id="rId25" Type="http://schemas.openxmlformats.org/officeDocument/2006/relationships/image" Target="../media/image106.svg"/><Relationship Id="rId33" Type="http://schemas.openxmlformats.org/officeDocument/2006/relationships/image" Target="../media/image114.svg"/><Relationship Id="rId38" Type="http://schemas.openxmlformats.org/officeDocument/2006/relationships/image" Target="../media/image11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29" Type="http://schemas.openxmlformats.org/officeDocument/2006/relationships/image" Target="../media/image1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svg"/><Relationship Id="rId24" Type="http://schemas.openxmlformats.org/officeDocument/2006/relationships/image" Target="../media/image105.png"/><Relationship Id="rId32" Type="http://schemas.openxmlformats.org/officeDocument/2006/relationships/image" Target="../media/image113.png"/><Relationship Id="rId37" Type="http://schemas.openxmlformats.org/officeDocument/2006/relationships/image" Target="../media/image118.svg"/><Relationship Id="rId5" Type="http://schemas.openxmlformats.org/officeDocument/2006/relationships/image" Target="../media/image86.svg"/><Relationship Id="rId15" Type="http://schemas.openxmlformats.org/officeDocument/2006/relationships/image" Target="../media/image96.svg"/><Relationship Id="rId23" Type="http://schemas.openxmlformats.org/officeDocument/2006/relationships/image" Target="../media/image104.svg"/><Relationship Id="rId28" Type="http://schemas.openxmlformats.org/officeDocument/2006/relationships/image" Target="../media/image109.png"/><Relationship Id="rId36" Type="http://schemas.openxmlformats.org/officeDocument/2006/relationships/image" Target="../media/image117.png"/><Relationship Id="rId10" Type="http://schemas.openxmlformats.org/officeDocument/2006/relationships/image" Target="../media/image91.png"/><Relationship Id="rId19" Type="http://schemas.openxmlformats.org/officeDocument/2006/relationships/image" Target="../media/image100.svg"/><Relationship Id="rId31" Type="http://schemas.openxmlformats.org/officeDocument/2006/relationships/image" Target="../media/image112.svg"/><Relationship Id="rId4" Type="http://schemas.openxmlformats.org/officeDocument/2006/relationships/image" Target="../media/image85.png"/><Relationship Id="rId9" Type="http://schemas.openxmlformats.org/officeDocument/2006/relationships/image" Target="../media/image90.sv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Relationship Id="rId27" Type="http://schemas.openxmlformats.org/officeDocument/2006/relationships/image" Target="../media/image108.svg"/><Relationship Id="rId30" Type="http://schemas.openxmlformats.org/officeDocument/2006/relationships/image" Target="../media/image111.png"/><Relationship Id="rId35" Type="http://schemas.openxmlformats.org/officeDocument/2006/relationships/image" Target="../media/image116.svg"/><Relationship Id="rId8" Type="http://schemas.openxmlformats.org/officeDocument/2006/relationships/image" Target="../media/image89.png"/><Relationship Id="rId3" Type="http://schemas.openxmlformats.org/officeDocument/2006/relationships/image" Target="../media/image84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sv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3" Type="http://schemas.openxmlformats.org/officeDocument/2006/relationships/image" Target="../media/image84.svg"/><Relationship Id="rId21" Type="http://schemas.openxmlformats.org/officeDocument/2006/relationships/image" Target="../media/image102.svg"/><Relationship Id="rId34" Type="http://schemas.openxmlformats.org/officeDocument/2006/relationships/image" Target="../media/image121.png"/><Relationship Id="rId7" Type="http://schemas.openxmlformats.org/officeDocument/2006/relationships/image" Target="../media/image88.svg"/><Relationship Id="rId12" Type="http://schemas.openxmlformats.org/officeDocument/2006/relationships/image" Target="../media/image93.png"/><Relationship Id="rId17" Type="http://schemas.openxmlformats.org/officeDocument/2006/relationships/image" Target="../media/image98.svg"/><Relationship Id="rId25" Type="http://schemas.openxmlformats.org/officeDocument/2006/relationships/image" Target="../media/image106.svg"/><Relationship Id="rId33" Type="http://schemas.openxmlformats.org/officeDocument/2006/relationships/image" Target="../media/image120.sv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29" Type="http://schemas.openxmlformats.org/officeDocument/2006/relationships/image" Target="../media/image1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svg"/><Relationship Id="rId24" Type="http://schemas.openxmlformats.org/officeDocument/2006/relationships/image" Target="../media/image105.png"/><Relationship Id="rId32" Type="http://schemas.openxmlformats.org/officeDocument/2006/relationships/image" Target="../media/image119.png"/><Relationship Id="rId5" Type="http://schemas.openxmlformats.org/officeDocument/2006/relationships/image" Target="../media/image86.svg"/><Relationship Id="rId15" Type="http://schemas.openxmlformats.org/officeDocument/2006/relationships/image" Target="../media/image96.svg"/><Relationship Id="rId23" Type="http://schemas.openxmlformats.org/officeDocument/2006/relationships/image" Target="../media/image104.svg"/><Relationship Id="rId28" Type="http://schemas.openxmlformats.org/officeDocument/2006/relationships/image" Target="../media/image109.png"/><Relationship Id="rId36" Type="http://schemas.openxmlformats.org/officeDocument/2006/relationships/image" Target="../media/image11.png"/><Relationship Id="rId10" Type="http://schemas.openxmlformats.org/officeDocument/2006/relationships/image" Target="../media/image91.png"/><Relationship Id="rId19" Type="http://schemas.openxmlformats.org/officeDocument/2006/relationships/image" Target="../media/image100.svg"/><Relationship Id="rId31" Type="http://schemas.openxmlformats.org/officeDocument/2006/relationships/image" Target="../media/image112.svg"/><Relationship Id="rId4" Type="http://schemas.openxmlformats.org/officeDocument/2006/relationships/image" Target="../media/image85.png"/><Relationship Id="rId9" Type="http://schemas.openxmlformats.org/officeDocument/2006/relationships/image" Target="../media/image90.sv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Relationship Id="rId27" Type="http://schemas.openxmlformats.org/officeDocument/2006/relationships/image" Target="../media/image108.svg"/><Relationship Id="rId30" Type="http://schemas.openxmlformats.org/officeDocument/2006/relationships/image" Target="../media/image111.png"/><Relationship Id="rId35" Type="http://schemas.openxmlformats.org/officeDocument/2006/relationships/image" Target="../media/image122.svg"/><Relationship Id="rId8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emf"/><Relationship Id="rId7" Type="http://schemas.openxmlformats.org/officeDocument/2006/relationships/image" Target="../media/image128.emf"/><Relationship Id="rId12" Type="http://schemas.openxmlformats.org/officeDocument/2006/relationships/image" Target="../media/image11.png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emf"/><Relationship Id="rId11" Type="http://schemas.openxmlformats.org/officeDocument/2006/relationships/image" Target="../media/image132.svg"/><Relationship Id="rId5" Type="http://schemas.openxmlformats.org/officeDocument/2006/relationships/image" Target="../media/image126.emf"/><Relationship Id="rId10" Type="http://schemas.openxmlformats.org/officeDocument/2006/relationships/image" Target="../media/image131.png"/><Relationship Id="rId4" Type="http://schemas.openxmlformats.org/officeDocument/2006/relationships/image" Target="../media/image125.emf"/><Relationship Id="rId9" Type="http://schemas.openxmlformats.org/officeDocument/2006/relationships/image" Target="../media/image13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13" Type="http://schemas.openxmlformats.org/officeDocument/2006/relationships/image" Target="../media/image138.png"/><Relationship Id="rId3" Type="http://schemas.openxmlformats.org/officeDocument/2006/relationships/image" Target="../media/image124.emf"/><Relationship Id="rId7" Type="http://schemas.openxmlformats.org/officeDocument/2006/relationships/image" Target="../media/image128.emf"/><Relationship Id="rId12" Type="http://schemas.openxmlformats.org/officeDocument/2006/relationships/image" Target="../media/image137.svg"/><Relationship Id="rId17" Type="http://schemas.openxmlformats.org/officeDocument/2006/relationships/image" Target="../media/image11.png"/><Relationship Id="rId2" Type="http://schemas.openxmlformats.org/officeDocument/2006/relationships/image" Target="../media/image123.emf"/><Relationship Id="rId16" Type="http://schemas.openxmlformats.org/officeDocument/2006/relationships/image" Target="../media/image1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emf"/><Relationship Id="rId11" Type="http://schemas.openxmlformats.org/officeDocument/2006/relationships/image" Target="../media/image136.png"/><Relationship Id="rId5" Type="http://schemas.openxmlformats.org/officeDocument/2006/relationships/image" Target="../media/image127.emf"/><Relationship Id="rId15" Type="http://schemas.openxmlformats.org/officeDocument/2006/relationships/image" Target="../media/image140.png"/><Relationship Id="rId10" Type="http://schemas.openxmlformats.org/officeDocument/2006/relationships/image" Target="../media/image135.svg"/><Relationship Id="rId4" Type="http://schemas.openxmlformats.org/officeDocument/2006/relationships/image" Target="../media/image125.emf"/><Relationship Id="rId9" Type="http://schemas.openxmlformats.org/officeDocument/2006/relationships/image" Target="../media/image134.png"/><Relationship Id="rId14" Type="http://schemas.openxmlformats.org/officeDocument/2006/relationships/image" Target="../media/image13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svg"/><Relationship Id="rId3" Type="http://schemas.openxmlformats.org/officeDocument/2006/relationships/image" Target="../media/image143.emf"/><Relationship Id="rId7" Type="http://schemas.openxmlformats.org/officeDocument/2006/relationships/image" Target="../media/image147.png"/><Relationship Id="rId2" Type="http://schemas.openxmlformats.org/officeDocument/2006/relationships/image" Target="../media/image14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svg"/><Relationship Id="rId11" Type="http://schemas.openxmlformats.org/officeDocument/2006/relationships/image" Target="../media/image11.png"/><Relationship Id="rId5" Type="http://schemas.openxmlformats.org/officeDocument/2006/relationships/image" Target="../media/image145.png"/><Relationship Id="rId10" Type="http://schemas.openxmlformats.org/officeDocument/2006/relationships/image" Target="../media/image150.svg"/><Relationship Id="rId4" Type="http://schemas.openxmlformats.org/officeDocument/2006/relationships/image" Target="../media/image144.emf"/><Relationship Id="rId9" Type="http://schemas.openxmlformats.org/officeDocument/2006/relationships/image" Target="../media/image1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svg"/><Relationship Id="rId13" Type="http://schemas.openxmlformats.org/officeDocument/2006/relationships/image" Target="../media/image68.emf"/><Relationship Id="rId3" Type="http://schemas.openxmlformats.org/officeDocument/2006/relationships/image" Target="../media/image124.emf"/><Relationship Id="rId7" Type="http://schemas.openxmlformats.org/officeDocument/2006/relationships/image" Target="../media/image136.png"/><Relationship Id="rId12" Type="http://schemas.openxmlformats.org/officeDocument/2006/relationships/image" Target="../media/image152.emf"/><Relationship Id="rId2" Type="http://schemas.openxmlformats.org/officeDocument/2006/relationships/image" Target="../media/image123.emf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emf"/><Relationship Id="rId11" Type="http://schemas.openxmlformats.org/officeDocument/2006/relationships/image" Target="../media/image151.emf"/><Relationship Id="rId5" Type="http://schemas.openxmlformats.org/officeDocument/2006/relationships/image" Target="../media/image127.emf"/><Relationship Id="rId15" Type="http://schemas.openxmlformats.org/officeDocument/2006/relationships/image" Target="../media/image154.emf"/><Relationship Id="rId10" Type="http://schemas.openxmlformats.org/officeDocument/2006/relationships/image" Target="../media/image150.svg"/><Relationship Id="rId4" Type="http://schemas.openxmlformats.org/officeDocument/2006/relationships/image" Target="../media/image125.emf"/><Relationship Id="rId9" Type="http://schemas.openxmlformats.org/officeDocument/2006/relationships/image" Target="../media/image149.png"/><Relationship Id="rId14" Type="http://schemas.openxmlformats.org/officeDocument/2006/relationships/image" Target="../media/image15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image" Target="../media/image136.png"/><Relationship Id="rId3" Type="http://schemas.openxmlformats.org/officeDocument/2006/relationships/image" Target="../media/image124.emf"/><Relationship Id="rId7" Type="http://schemas.openxmlformats.org/officeDocument/2006/relationships/image" Target="../media/image152.emf"/><Relationship Id="rId12" Type="http://schemas.openxmlformats.org/officeDocument/2006/relationships/image" Target="../media/image11.png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emf"/><Relationship Id="rId11" Type="http://schemas.openxmlformats.org/officeDocument/2006/relationships/image" Target="../media/image156.emf"/><Relationship Id="rId5" Type="http://schemas.openxmlformats.org/officeDocument/2006/relationships/image" Target="../media/image127.emf"/><Relationship Id="rId15" Type="http://schemas.openxmlformats.org/officeDocument/2006/relationships/image" Target="../media/image151.emf"/><Relationship Id="rId10" Type="http://schemas.openxmlformats.org/officeDocument/2006/relationships/image" Target="../media/image155.emf"/><Relationship Id="rId4" Type="http://schemas.openxmlformats.org/officeDocument/2006/relationships/image" Target="../media/image125.emf"/><Relationship Id="rId9" Type="http://schemas.openxmlformats.org/officeDocument/2006/relationships/image" Target="../media/image154.emf"/><Relationship Id="rId14" Type="http://schemas.openxmlformats.org/officeDocument/2006/relationships/image" Target="../media/image137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13" Type="http://schemas.openxmlformats.org/officeDocument/2006/relationships/image" Target="../media/image162.emf"/><Relationship Id="rId3" Type="http://schemas.openxmlformats.org/officeDocument/2006/relationships/image" Target="../media/image123.emf"/><Relationship Id="rId7" Type="http://schemas.openxmlformats.org/officeDocument/2006/relationships/image" Target="../media/image126.emf"/><Relationship Id="rId12" Type="http://schemas.openxmlformats.org/officeDocument/2006/relationships/image" Target="../media/image161.emf"/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emf"/><Relationship Id="rId11" Type="http://schemas.openxmlformats.org/officeDocument/2006/relationships/image" Target="../media/image160.emf"/><Relationship Id="rId5" Type="http://schemas.openxmlformats.org/officeDocument/2006/relationships/image" Target="../media/image125.emf"/><Relationship Id="rId15" Type="http://schemas.openxmlformats.org/officeDocument/2006/relationships/image" Target="../media/image11.png"/><Relationship Id="rId10" Type="http://schemas.openxmlformats.org/officeDocument/2006/relationships/image" Target="../media/image159.emf"/><Relationship Id="rId4" Type="http://schemas.openxmlformats.org/officeDocument/2006/relationships/image" Target="../media/image124.emf"/><Relationship Id="rId9" Type="http://schemas.openxmlformats.org/officeDocument/2006/relationships/image" Target="../media/image158.emf"/><Relationship Id="rId14" Type="http://schemas.openxmlformats.org/officeDocument/2006/relationships/image" Target="../media/image1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svg"/><Relationship Id="rId5" Type="http://schemas.openxmlformats.org/officeDocument/2006/relationships/image" Target="../media/image164.png"/><Relationship Id="rId4" Type="http://schemas.openxmlformats.org/officeDocument/2006/relationships/image" Target="../media/image6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1.png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12" Type="http://schemas.openxmlformats.org/officeDocument/2006/relationships/image" Target="../media/image169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68.png"/><Relationship Id="rId5" Type="http://schemas.openxmlformats.org/officeDocument/2006/relationships/image" Target="../media/image5.emf"/><Relationship Id="rId10" Type="http://schemas.openxmlformats.org/officeDocument/2006/relationships/image" Target="../media/image167.png"/><Relationship Id="rId4" Type="http://schemas.openxmlformats.org/officeDocument/2006/relationships/image" Target="../media/image4.emf"/><Relationship Id="rId9" Type="http://schemas.openxmlformats.org/officeDocument/2006/relationships/image" Target="../media/image16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emf"/><Relationship Id="rId13" Type="http://schemas.openxmlformats.org/officeDocument/2006/relationships/image" Target="../media/image179.emf"/><Relationship Id="rId18" Type="http://schemas.openxmlformats.org/officeDocument/2006/relationships/image" Target="../media/image184.png"/><Relationship Id="rId3" Type="http://schemas.openxmlformats.org/officeDocument/2006/relationships/image" Target="../media/image170.emf"/><Relationship Id="rId7" Type="http://schemas.openxmlformats.org/officeDocument/2006/relationships/image" Target="../media/image160.emf"/><Relationship Id="rId12" Type="http://schemas.openxmlformats.org/officeDocument/2006/relationships/image" Target="../media/image178.emf"/><Relationship Id="rId17" Type="http://schemas.openxmlformats.org/officeDocument/2006/relationships/image" Target="../media/image183.svg"/><Relationship Id="rId2" Type="http://schemas.openxmlformats.org/officeDocument/2006/relationships/image" Target="../media/image152.emf"/><Relationship Id="rId16" Type="http://schemas.openxmlformats.org/officeDocument/2006/relationships/image" Target="../media/image182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emf"/><Relationship Id="rId11" Type="http://schemas.openxmlformats.org/officeDocument/2006/relationships/image" Target="../media/image177.emf"/><Relationship Id="rId5" Type="http://schemas.openxmlformats.org/officeDocument/2006/relationships/image" Target="../media/image172.emf"/><Relationship Id="rId15" Type="http://schemas.openxmlformats.org/officeDocument/2006/relationships/image" Target="../media/image181.emf"/><Relationship Id="rId10" Type="http://schemas.openxmlformats.org/officeDocument/2006/relationships/image" Target="../media/image176.emf"/><Relationship Id="rId19" Type="http://schemas.openxmlformats.org/officeDocument/2006/relationships/image" Target="../media/image185.svg"/><Relationship Id="rId4" Type="http://schemas.openxmlformats.org/officeDocument/2006/relationships/image" Target="../media/image171.emf"/><Relationship Id="rId9" Type="http://schemas.openxmlformats.org/officeDocument/2006/relationships/image" Target="../media/image175.emf"/><Relationship Id="rId14" Type="http://schemas.openxmlformats.org/officeDocument/2006/relationships/image" Target="../media/image18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13" Type="http://schemas.openxmlformats.org/officeDocument/2006/relationships/image" Target="../media/image181.emf"/><Relationship Id="rId3" Type="http://schemas.openxmlformats.org/officeDocument/2006/relationships/image" Target="../media/image183.svg"/><Relationship Id="rId7" Type="http://schemas.openxmlformats.org/officeDocument/2006/relationships/image" Target="../media/image180.emf"/><Relationship Id="rId12" Type="http://schemas.openxmlformats.org/officeDocument/2006/relationships/image" Target="../media/image188.emf"/><Relationship Id="rId2" Type="http://schemas.openxmlformats.org/officeDocument/2006/relationships/image" Target="../media/image182.png"/><Relationship Id="rId16" Type="http://schemas.openxmlformats.org/officeDocument/2006/relationships/image" Target="../media/image17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emf"/><Relationship Id="rId11" Type="http://schemas.openxmlformats.org/officeDocument/2006/relationships/image" Target="../media/image127.emf"/><Relationship Id="rId5" Type="http://schemas.openxmlformats.org/officeDocument/2006/relationships/image" Target="../media/image185.svg"/><Relationship Id="rId15" Type="http://schemas.openxmlformats.org/officeDocument/2006/relationships/image" Target="../media/image176.emf"/><Relationship Id="rId10" Type="http://schemas.openxmlformats.org/officeDocument/2006/relationships/image" Target="../media/image151.emf"/><Relationship Id="rId4" Type="http://schemas.openxmlformats.org/officeDocument/2006/relationships/image" Target="../media/image184.png"/><Relationship Id="rId9" Type="http://schemas.openxmlformats.org/officeDocument/2006/relationships/image" Target="../media/image187.emf"/><Relationship Id="rId1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13" Type="http://schemas.openxmlformats.org/officeDocument/2006/relationships/image" Target="../media/image192.emf"/><Relationship Id="rId18" Type="http://schemas.openxmlformats.org/officeDocument/2006/relationships/image" Target="../media/image184.png"/><Relationship Id="rId3" Type="http://schemas.openxmlformats.org/officeDocument/2006/relationships/image" Target="../media/image180.emf"/><Relationship Id="rId21" Type="http://schemas.openxmlformats.org/officeDocument/2006/relationships/image" Target="../media/image177.emf"/><Relationship Id="rId7" Type="http://schemas.openxmlformats.org/officeDocument/2006/relationships/image" Target="../media/image152.emf"/><Relationship Id="rId12" Type="http://schemas.openxmlformats.org/officeDocument/2006/relationships/image" Target="../media/image191.emf"/><Relationship Id="rId17" Type="http://schemas.openxmlformats.org/officeDocument/2006/relationships/image" Target="../media/image183.svg"/><Relationship Id="rId2" Type="http://schemas.openxmlformats.org/officeDocument/2006/relationships/image" Target="../media/image179.emf"/><Relationship Id="rId16" Type="http://schemas.openxmlformats.org/officeDocument/2006/relationships/image" Target="../media/image182.png"/><Relationship Id="rId20" Type="http://schemas.openxmlformats.org/officeDocument/2006/relationships/image" Target="../media/image17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emf"/><Relationship Id="rId11" Type="http://schemas.openxmlformats.org/officeDocument/2006/relationships/image" Target="../media/image190.emf"/><Relationship Id="rId5" Type="http://schemas.openxmlformats.org/officeDocument/2006/relationships/image" Target="../media/image127.emf"/><Relationship Id="rId15" Type="http://schemas.openxmlformats.org/officeDocument/2006/relationships/image" Target="../media/image11.png"/><Relationship Id="rId10" Type="http://schemas.openxmlformats.org/officeDocument/2006/relationships/image" Target="../media/image181.emf"/><Relationship Id="rId19" Type="http://schemas.openxmlformats.org/officeDocument/2006/relationships/image" Target="../media/image185.svg"/><Relationship Id="rId4" Type="http://schemas.openxmlformats.org/officeDocument/2006/relationships/image" Target="../media/image151.emf"/><Relationship Id="rId9" Type="http://schemas.openxmlformats.org/officeDocument/2006/relationships/image" Target="../media/image189.emf"/><Relationship Id="rId14" Type="http://schemas.openxmlformats.org/officeDocument/2006/relationships/image" Target="../media/image19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emf"/><Relationship Id="rId13" Type="http://schemas.openxmlformats.org/officeDocument/2006/relationships/image" Target="../media/image195.emf"/><Relationship Id="rId18" Type="http://schemas.openxmlformats.org/officeDocument/2006/relationships/image" Target="../media/image199.png"/><Relationship Id="rId26" Type="http://schemas.openxmlformats.org/officeDocument/2006/relationships/image" Target="../media/image185.svg"/><Relationship Id="rId3" Type="http://schemas.openxmlformats.org/officeDocument/2006/relationships/image" Target="../media/image180.emf"/><Relationship Id="rId21" Type="http://schemas.openxmlformats.org/officeDocument/2006/relationships/image" Target="../media/image202.svg"/><Relationship Id="rId7" Type="http://schemas.openxmlformats.org/officeDocument/2006/relationships/image" Target="../media/image173.emf"/><Relationship Id="rId12" Type="http://schemas.openxmlformats.org/officeDocument/2006/relationships/image" Target="../media/image194.emf"/><Relationship Id="rId17" Type="http://schemas.openxmlformats.org/officeDocument/2006/relationships/image" Target="../media/image198.emf"/><Relationship Id="rId25" Type="http://schemas.openxmlformats.org/officeDocument/2006/relationships/image" Target="../media/image184.png"/><Relationship Id="rId2" Type="http://schemas.openxmlformats.org/officeDocument/2006/relationships/image" Target="../media/image179.emf"/><Relationship Id="rId16" Type="http://schemas.openxmlformats.org/officeDocument/2006/relationships/image" Target="../media/image197.emf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emf"/><Relationship Id="rId11" Type="http://schemas.openxmlformats.org/officeDocument/2006/relationships/image" Target="../media/image193.emf"/><Relationship Id="rId24" Type="http://schemas.openxmlformats.org/officeDocument/2006/relationships/image" Target="../media/image183.svg"/><Relationship Id="rId5" Type="http://schemas.openxmlformats.org/officeDocument/2006/relationships/image" Target="../media/image127.emf"/><Relationship Id="rId15" Type="http://schemas.openxmlformats.org/officeDocument/2006/relationships/image" Target="../media/image191.emf"/><Relationship Id="rId23" Type="http://schemas.openxmlformats.org/officeDocument/2006/relationships/image" Target="../media/image182.png"/><Relationship Id="rId28" Type="http://schemas.openxmlformats.org/officeDocument/2006/relationships/image" Target="../media/image177.emf"/><Relationship Id="rId10" Type="http://schemas.openxmlformats.org/officeDocument/2006/relationships/image" Target="../media/image190.emf"/><Relationship Id="rId19" Type="http://schemas.openxmlformats.org/officeDocument/2006/relationships/image" Target="../media/image200.svg"/><Relationship Id="rId4" Type="http://schemas.openxmlformats.org/officeDocument/2006/relationships/image" Target="../media/image151.emf"/><Relationship Id="rId9" Type="http://schemas.openxmlformats.org/officeDocument/2006/relationships/image" Target="../media/image181.emf"/><Relationship Id="rId14" Type="http://schemas.openxmlformats.org/officeDocument/2006/relationships/image" Target="../media/image196.emf"/><Relationship Id="rId22" Type="http://schemas.openxmlformats.org/officeDocument/2006/relationships/image" Target="../media/image11.png"/><Relationship Id="rId27" Type="http://schemas.openxmlformats.org/officeDocument/2006/relationships/image" Target="../media/image176.emf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Microcanonical</a:t>
            </a:r>
            <a:r>
              <a:rPr lang="en-US" dirty="0"/>
              <a:t>, canonical, grand canonical ensemble</a:t>
            </a:r>
          </a:p>
          <a:p>
            <a:endParaRPr lang="en-US" dirty="0"/>
          </a:p>
          <a:p>
            <a:r>
              <a:rPr lang="en-US" dirty="0"/>
              <a:t>Laws of thermodynamic and idea gas</a:t>
            </a:r>
          </a:p>
        </p:txBody>
      </p:sp>
    </p:spTree>
    <p:extLst>
      <p:ext uri="{BB962C8B-B14F-4D97-AF65-F5344CB8AC3E}">
        <p14:creationId xmlns:p14="http://schemas.microsoft.com/office/powerpoint/2010/main" val="94445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58" y="2119174"/>
            <a:ext cx="1274918" cy="261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6327" y="1980440"/>
            <a:ext cx="5734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Isolated                  system with total energy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92" y="2098887"/>
            <a:ext cx="311658" cy="28857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BD96C4E-820E-455F-AA2D-4E72E0060C4E}"/>
              </a:ext>
            </a:extLst>
          </p:cNvPr>
          <p:cNvGrpSpPr/>
          <p:nvPr/>
        </p:nvGrpSpPr>
        <p:grpSpPr>
          <a:xfrm>
            <a:off x="3554793" y="2713336"/>
            <a:ext cx="8231315" cy="688232"/>
            <a:chOff x="3554793" y="2713336"/>
            <a:chExt cx="8231315" cy="688232"/>
          </a:xfrm>
        </p:grpSpPr>
        <p:sp>
          <p:nvSpPr>
            <p:cNvPr id="15" name="TextBox 14"/>
            <p:cNvSpPr txBox="1"/>
            <p:nvPr/>
          </p:nvSpPr>
          <p:spPr>
            <a:xfrm>
              <a:off x="3554793" y="2779483"/>
              <a:ext cx="3679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number of microstates: 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688" y="2713336"/>
              <a:ext cx="4215420" cy="688232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182F12-1F0E-44AC-AF83-8D718565D41D}"/>
              </a:ext>
            </a:extLst>
          </p:cNvPr>
          <p:cNvGrpSpPr/>
          <p:nvPr/>
        </p:nvGrpSpPr>
        <p:grpSpPr>
          <a:xfrm>
            <a:off x="3869628" y="3514726"/>
            <a:ext cx="7649737" cy="1556209"/>
            <a:chOff x="3869628" y="3514726"/>
            <a:chExt cx="7649737" cy="1556209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0041" y="4407408"/>
              <a:ext cx="1721875" cy="36350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02857" y="4118678"/>
              <a:ext cx="5416508" cy="952257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869628" y="3514726"/>
              <a:ext cx="74395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The very 1</a:t>
              </a:r>
              <a:r>
                <a:rPr lang="en-US" sz="2400" b="1" baseline="30000" dirty="0"/>
                <a:t>st</a:t>
              </a:r>
              <a:r>
                <a:rPr lang="en-US" sz="2400" b="1" dirty="0"/>
                <a:t> statistical model: microcanonical ensemble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946971" y="4943905"/>
            <a:ext cx="5416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postulate uniform probability distribution. All microstates with E are equally probable.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E7725B-7F1F-45F7-85AC-4B2E925C37A0}"/>
              </a:ext>
            </a:extLst>
          </p:cNvPr>
          <p:cNvGrpSpPr/>
          <p:nvPr/>
        </p:nvGrpSpPr>
        <p:grpSpPr>
          <a:xfrm>
            <a:off x="7369781" y="4980711"/>
            <a:ext cx="3323960" cy="794191"/>
            <a:chOff x="7369781" y="4980711"/>
            <a:chExt cx="3323960" cy="794191"/>
          </a:xfrm>
        </p:grpSpPr>
        <p:cxnSp>
          <p:nvCxnSpPr>
            <p:cNvPr id="23" name="Straight Arrow Connector 22"/>
            <p:cNvCxnSpPr/>
            <p:nvPr/>
          </p:nvCxnSpPr>
          <p:spPr>
            <a:xfrm flipH="1" flipV="1">
              <a:off x="8195405" y="4980711"/>
              <a:ext cx="436531" cy="378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369781" y="5313237"/>
              <a:ext cx="3323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Function of total energy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944612" y="6293259"/>
            <a:ext cx="7549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we get the laws of thermodynamic from this model?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3858" y="6293258"/>
            <a:ext cx="710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YES!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5ECD2A-23FA-4EF5-9997-2EBFA811F9DC}"/>
              </a:ext>
            </a:extLst>
          </p:cNvPr>
          <p:cNvGrpSpPr/>
          <p:nvPr/>
        </p:nvGrpSpPr>
        <p:grpSpPr>
          <a:xfrm>
            <a:off x="1719072" y="2580196"/>
            <a:ext cx="1502791" cy="1978309"/>
            <a:chOff x="1719072" y="2580196"/>
            <a:chExt cx="1502791" cy="1978309"/>
          </a:xfrm>
        </p:grpSpPr>
        <p:sp>
          <p:nvSpPr>
            <p:cNvPr id="5" name="Rectangle 4"/>
            <p:cNvSpPr/>
            <p:nvPr/>
          </p:nvSpPr>
          <p:spPr>
            <a:xfrm>
              <a:off x="1719072" y="2580196"/>
              <a:ext cx="1499616" cy="15894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70012" y="3737109"/>
              <a:ext cx="699929" cy="31582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4524" y="2866030"/>
              <a:ext cx="311658" cy="2885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E1A41A-F677-4693-A84A-7339F417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4524" y="4286442"/>
              <a:ext cx="1327339" cy="27206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1AC77AA-569F-4E87-A018-B6795F1EAF37}"/>
              </a:ext>
            </a:extLst>
          </p:cNvPr>
          <p:cNvGrpSpPr/>
          <p:nvPr/>
        </p:nvGrpSpPr>
        <p:grpSpPr>
          <a:xfrm>
            <a:off x="386613" y="3010316"/>
            <a:ext cx="1507911" cy="551087"/>
            <a:chOff x="386613" y="3010316"/>
            <a:chExt cx="1507911" cy="551087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1445058" y="3010316"/>
              <a:ext cx="449466" cy="144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6613" y="3099738"/>
              <a:ext cx="13129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Conserve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1CF531-C471-42B2-8E8B-59B175944690}"/>
              </a:ext>
            </a:extLst>
          </p:cNvPr>
          <p:cNvGrpSpPr/>
          <p:nvPr/>
        </p:nvGrpSpPr>
        <p:grpSpPr>
          <a:xfrm>
            <a:off x="7771365" y="1950410"/>
            <a:ext cx="3191809" cy="851531"/>
            <a:chOff x="7771365" y="1950410"/>
            <a:chExt cx="3191809" cy="85153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35402-BE6C-4E3B-9B23-510DF8FAB9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25394" b="-2980"/>
            <a:stretch/>
          </p:blipFill>
          <p:spPr>
            <a:xfrm>
              <a:off x="7771365" y="1950410"/>
              <a:ext cx="1284610" cy="374335"/>
            </a:xfrm>
            <a:prstGeom prst="rect">
              <a:avLst/>
            </a:prstGeom>
          </p:spPr>
        </p:pic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DB4723C3-7F0A-4119-9707-C2A82BD0CC0C}"/>
                </a:ext>
              </a:extLst>
            </p:cNvPr>
            <p:cNvSpPr/>
            <p:nvPr/>
          </p:nvSpPr>
          <p:spPr>
            <a:xfrm rot="16200000">
              <a:off x="9901968" y="1740735"/>
              <a:ext cx="328903" cy="179350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9665" y="1708925"/>
            <a:ext cx="2642767" cy="82049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E01A2CD-04DD-4058-A10B-127330B240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4221" y="5359404"/>
            <a:ext cx="1792129" cy="64206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D616CA0-F31F-4A25-9AF9-49CE3A7E52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8529" y="6066331"/>
            <a:ext cx="2220810" cy="76454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124C5F8-C0BA-4002-ABA2-E8E754451F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78665"/>
            <a:ext cx="6113612" cy="49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346" y="18047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of thermodynamic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6071" y="2278665"/>
            <a:ext cx="2818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concept of temperature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E2E035-6524-4D98-B03A-B7B0E0D545E4}"/>
              </a:ext>
            </a:extLst>
          </p:cNvPr>
          <p:cNvGrpSpPr/>
          <p:nvPr/>
        </p:nvGrpSpPr>
        <p:grpSpPr>
          <a:xfrm>
            <a:off x="636306" y="2879973"/>
            <a:ext cx="7025276" cy="1539998"/>
            <a:chOff x="636306" y="2879973"/>
            <a:chExt cx="7025276" cy="153999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99588" y="2879973"/>
              <a:ext cx="3761994" cy="1539998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636306" y="3289056"/>
              <a:ext cx="33441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Combining two systems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6BD59A-3484-4F6B-8A7D-A5129B4AACAC}"/>
              </a:ext>
            </a:extLst>
          </p:cNvPr>
          <p:cNvGrpSpPr/>
          <p:nvPr/>
        </p:nvGrpSpPr>
        <p:grpSpPr>
          <a:xfrm>
            <a:off x="176356" y="4293715"/>
            <a:ext cx="8960256" cy="1377244"/>
            <a:chOff x="176356" y="4293715"/>
            <a:chExt cx="8960256" cy="137724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3007" y="4755465"/>
              <a:ext cx="6083605" cy="915494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76356" y="4293715"/>
              <a:ext cx="4521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The distribution for the total system: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7973F5-CBF1-4752-838A-C1C8984CF855}"/>
              </a:ext>
            </a:extLst>
          </p:cNvPr>
          <p:cNvGrpSpPr/>
          <p:nvPr/>
        </p:nvGrpSpPr>
        <p:grpSpPr>
          <a:xfrm>
            <a:off x="7716446" y="3608291"/>
            <a:ext cx="4160934" cy="369332"/>
            <a:chOff x="7716446" y="3608291"/>
            <a:chExt cx="4160934" cy="36933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0112" y="3675542"/>
              <a:ext cx="1837268" cy="257624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7716446" y="3608291"/>
              <a:ext cx="21961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Separate microstates: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FD431D-B966-4B27-8F69-CB10944BC9D5}"/>
              </a:ext>
            </a:extLst>
          </p:cNvPr>
          <p:cNvGrpSpPr/>
          <p:nvPr/>
        </p:nvGrpSpPr>
        <p:grpSpPr>
          <a:xfrm>
            <a:off x="8384028" y="2983491"/>
            <a:ext cx="2861592" cy="369332"/>
            <a:chOff x="8384028" y="2983491"/>
            <a:chExt cx="2861592" cy="369332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57761" y="3081769"/>
              <a:ext cx="1387859" cy="212989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8384028" y="2983491"/>
              <a:ext cx="13846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Total energy: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FDB6E5-A3F1-44BA-92F5-8C691EDC5002}"/>
              </a:ext>
            </a:extLst>
          </p:cNvPr>
          <p:cNvGrpSpPr/>
          <p:nvPr/>
        </p:nvGrpSpPr>
        <p:grpSpPr>
          <a:xfrm>
            <a:off x="7152535" y="4100752"/>
            <a:ext cx="4793205" cy="369332"/>
            <a:chOff x="7152535" y="4100752"/>
            <a:chExt cx="4793205" cy="369332"/>
          </a:xfrm>
        </p:grpSpPr>
        <p:sp>
          <p:nvSpPr>
            <p:cNvPr id="16" name="Rectangle 15"/>
            <p:cNvSpPr/>
            <p:nvPr/>
          </p:nvSpPr>
          <p:spPr>
            <a:xfrm>
              <a:off x="7152535" y="4100752"/>
              <a:ext cx="17405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Total microstates: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21596" y="4148917"/>
              <a:ext cx="2824144" cy="266565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904371-F2B4-4F77-B4ED-7F429CA476B1}"/>
              </a:ext>
            </a:extLst>
          </p:cNvPr>
          <p:cNvGrpSpPr/>
          <p:nvPr/>
        </p:nvGrpSpPr>
        <p:grpSpPr>
          <a:xfrm>
            <a:off x="945414" y="5476952"/>
            <a:ext cx="3731086" cy="663566"/>
            <a:chOff x="945414" y="5476952"/>
            <a:chExt cx="3731086" cy="663566"/>
          </a:xfrm>
        </p:grpSpPr>
        <p:sp>
          <p:nvSpPr>
            <p:cNvPr id="18" name="TextBox 17"/>
            <p:cNvSpPr txBox="1"/>
            <p:nvPr/>
          </p:nvSpPr>
          <p:spPr>
            <a:xfrm>
              <a:off x="945414" y="5678853"/>
              <a:ext cx="3731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number </a:t>
              </a:r>
              <a:r>
                <a:rPr lang="en-US" sz="2400"/>
                <a:t>of microstates? </a:t>
              </a:r>
              <a:endParaRPr lang="en-US" sz="24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4184152" y="5476952"/>
              <a:ext cx="492348" cy="329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9828" y="6140518"/>
            <a:ext cx="7208874" cy="73448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34B811E-50BC-434F-A344-345ACAD6E1F0}"/>
              </a:ext>
            </a:extLst>
          </p:cNvPr>
          <p:cNvGrpSpPr/>
          <p:nvPr/>
        </p:nvGrpSpPr>
        <p:grpSpPr>
          <a:xfrm>
            <a:off x="9377541" y="5295751"/>
            <a:ext cx="2215551" cy="642476"/>
            <a:chOff x="9377541" y="5295751"/>
            <a:chExt cx="2215551" cy="642476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77541" y="5295751"/>
              <a:ext cx="2215551" cy="263586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10584279" y="5568895"/>
              <a:ext cx="9947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(Entropy)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AD020B2-EA82-4943-8DCB-06DCDC5B532B}"/>
              </a:ext>
            </a:extLst>
          </p:cNvPr>
          <p:cNvGrpSpPr/>
          <p:nvPr/>
        </p:nvGrpSpPr>
        <p:grpSpPr>
          <a:xfrm>
            <a:off x="10040112" y="4408039"/>
            <a:ext cx="1128708" cy="734885"/>
            <a:chOff x="10040112" y="4408039"/>
            <a:chExt cx="1128708" cy="734885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568CEC3D-0DDC-4E0C-8C1C-D7183A5EB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040112" y="4568309"/>
              <a:ext cx="1128708" cy="574615"/>
            </a:xfrm>
            <a:prstGeom prst="rect">
              <a:avLst/>
            </a:prstGeom>
          </p:spPr>
        </p:pic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F95A2539-B83D-4482-AE2B-5CF2CD0C53D8}"/>
                </a:ext>
              </a:extLst>
            </p:cNvPr>
            <p:cNvSpPr/>
            <p:nvPr/>
          </p:nvSpPr>
          <p:spPr>
            <a:xfrm rot="5400000">
              <a:off x="10517894" y="4198647"/>
              <a:ext cx="240112" cy="65889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25291A6-82B3-4DA7-A6E9-89E0E07BE4A4}"/>
              </a:ext>
            </a:extLst>
          </p:cNvPr>
          <p:cNvGrpSpPr/>
          <p:nvPr/>
        </p:nvGrpSpPr>
        <p:grpSpPr>
          <a:xfrm>
            <a:off x="11127984" y="4423934"/>
            <a:ext cx="1115711" cy="702816"/>
            <a:chOff x="11127984" y="4423934"/>
            <a:chExt cx="1115711" cy="702816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CD1CF87D-DADD-44BC-A62D-0BC484C65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27984" y="4558751"/>
              <a:ext cx="1115711" cy="567999"/>
            </a:xfrm>
            <a:prstGeom prst="rect">
              <a:avLst/>
            </a:prstGeom>
          </p:spPr>
        </p:pic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6FF705C6-B1C6-490E-975D-69A56966015E}"/>
                </a:ext>
              </a:extLst>
            </p:cNvPr>
            <p:cNvSpPr/>
            <p:nvPr/>
          </p:nvSpPr>
          <p:spPr>
            <a:xfrm rot="5400000">
              <a:off x="11398167" y="4214542"/>
              <a:ext cx="240112" cy="65889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BE16FB56-F30D-4D3D-B986-64FC84AA27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D654A03-2D25-41FD-8342-3BE22B7F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28" y="6140518"/>
            <a:ext cx="7208874" cy="7344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6" y="2278665"/>
            <a:ext cx="6113612" cy="49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346" y="18047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</a:t>
            </a:r>
            <a:r>
              <a:rPr lang="en-US"/>
              <a:t>of thermodynamic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396071" y="2278665"/>
            <a:ext cx="2776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=&gt; concept of temperature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588" y="2879973"/>
            <a:ext cx="3761994" cy="15399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761" y="3081769"/>
            <a:ext cx="1387859" cy="21298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84028" y="2983491"/>
            <a:ext cx="1384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Total energy: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95735" y="5012045"/>
            <a:ext cx="328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major contribution is from saddle point: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070" y="5872309"/>
            <a:ext cx="3472591" cy="5284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6225" y="6221035"/>
            <a:ext cx="4263026" cy="48720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0573" y="5068785"/>
            <a:ext cx="3280547" cy="57235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7289" y="4419972"/>
            <a:ext cx="2896762" cy="23631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B42FBBD-6E66-4250-8C6D-01A5DFB891AC}"/>
              </a:ext>
            </a:extLst>
          </p:cNvPr>
          <p:cNvGrpSpPr/>
          <p:nvPr/>
        </p:nvGrpSpPr>
        <p:grpSpPr>
          <a:xfrm>
            <a:off x="9547888" y="4029780"/>
            <a:ext cx="2684709" cy="831824"/>
            <a:chOff x="9547888" y="4029780"/>
            <a:chExt cx="2684709" cy="831824"/>
          </a:xfrm>
        </p:grpSpPr>
        <p:sp>
          <p:nvSpPr>
            <p:cNvPr id="29" name="TextBox 28"/>
            <p:cNvSpPr txBox="1"/>
            <p:nvPr/>
          </p:nvSpPr>
          <p:spPr>
            <a:xfrm>
              <a:off x="9547888" y="4029780"/>
              <a:ext cx="26847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Most probable states</a:t>
              </a:r>
            </a:p>
            <a:p>
              <a:r>
                <a:rPr lang="en-US" sz="2000" b="1" dirty="0"/>
                <a:t>(equilibrium)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H="1">
              <a:off x="10803735" y="4582763"/>
              <a:ext cx="368733" cy="278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FEAF00-176A-456B-9721-3A4E51B3ECB2}"/>
              </a:ext>
            </a:extLst>
          </p:cNvPr>
          <p:cNvGrpSpPr/>
          <p:nvPr/>
        </p:nvGrpSpPr>
        <p:grpSpPr>
          <a:xfrm>
            <a:off x="9377541" y="5295751"/>
            <a:ext cx="2215551" cy="642476"/>
            <a:chOff x="9377541" y="5295751"/>
            <a:chExt cx="2215551" cy="64247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964FCF0-DF60-46F6-B107-C2606124A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77541" y="5295751"/>
              <a:ext cx="2215551" cy="263586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7E048E-D207-49A7-B5A1-639001316A93}"/>
                </a:ext>
              </a:extLst>
            </p:cNvPr>
            <p:cNvSpPr txBox="1"/>
            <p:nvPr/>
          </p:nvSpPr>
          <p:spPr>
            <a:xfrm>
              <a:off x="10584279" y="5568895"/>
              <a:ext cx="9947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(Entropy)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6594950-9DCE-4395-9642-65FAF51F6D63}"/>
              </a:ext>
            </a:extLst>
          </p:cNvPr>
          <p:cNvSpPr txBox="1"/>
          <p:nvPr/>
        </p:nvSpPr>
        <p:spPr>
          <a:xfrm>
            <a:off x="4656225" y="5850633"/>
            <a:ext cx="2149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Maximum entropy</a:t>
            </a:r>
            <a:endParaRPr lang="en-MY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C62129-2624-49E1-99AE-209BD4B052C7}"/>
              </a:ext>
            </a:extLst>
          </p:cNvPr>
          <p:cNvSpPr txBox="1"/>
          <p:nvPr/>
        </p:nvSpPr>
        <p:spPr>
          <a:xfrm>
            <a:off x="636306" y="3289056"/>
            <a:ext cx="334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Combining two systems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0522CFD-5257-488E-B1F4-1ADF144993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6557" y="6379459"/>
            <a:ext cx="3903615" cy="5284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3E490EE-208C-416F-9F70-8080131A17E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8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59259E-6 L -0.03971 -0.270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2" y="-1354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48148E-6 L 0.02213 -0.2682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7" y="-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78665"/>
            <a:ext cx="6113612" cy="49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346" y="18047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</a:t>
            </a:r>
            <a:r>
              <a:rPr lang="en-US"/>
              <a:t>of thermodynamic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396071" y="2278665"/>
            <a:ext cx="2776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=&gt; concept of temperature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588" y="2879973"/>
            <a:ext cx="3761994" cy="15399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761" y="3081769"/>
            <a:ext cx="1387859" cy="21298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84028" y="2983491"/>
            <a:ext cx="1384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Total energy: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149" y="3471997"/>
            <a:ext cx="2215551" cy="26358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76887" y="3745141"/>
            <a:ext cx="99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(Entropy)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7289" y="4419972"/>
            <a:ext cx="2896762" cy="2363148"/>
          </a:xfrm>
          <a:prstGeom prst="rect">
            <a:avLst/>
          </a:prstGeom>
        </p:spPr>
      </p:pic>
      <p:cxnSp>
        <p:nvCxnSpPr>
          <p:cNvPr id="30" name="Straight Arrow Connector 29"/>
          <p:cNvCxnSpPr/>
          <p:nvPr/>
        </p:nvCxnSpPr>
        <p:spPr>
          <a:xfrm flipH="1">
            <a:off x="10803735" y="4582763"/>
            <a:ext cx="368733" cy="278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6228" y="5466054"/>
            <a:ext cx="3638972" cy="5825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5550" y="6464218"/>
            <a:ext cx="1851406" cy="31890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F44F274-2630-4039-B8CC-7EB95B0176A5}"/>
              </a:ext>
            </a:extLst>
          </p:cNvPr>
          <p:cNvGrpSpPr/>
          <p:nvPr/>
        </p:nvGrpSpPr>
        <p:grpSpPr>
          <a:xfrm>
            <a:off x="3613206" y="6048564"/>
            <a:ext cx="3731194" cy="762463"/>
            <a:chOff x="3613206" y="6048564"/>
            <a:chExt cx="3731194" cy="762463"/>
          </a:xfrm>
        </p:grpSpPr>
        <p:sp>
          <p:nvSpPr>
            <p:cNvPr id="13" name="Left Brace 12"/>
            <p:cNvSpPr/>
            <p:nvPr/>
          </p:nvSpPr>
          <p:spPr>
            <a:xfrm rot="16200000">
              <a:off x="5297639" y="4364131"/>
              <a:ext cx="362327" cy="373119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654469" y="6349362"/>
              <a:ext cx="17218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Temperature</a:t>
              </a:r>
              <a:endParaRPr lang="en-US" sz="2400" dirty="0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1854" y="5386018"/>
            <a:ext cx="550198" cy="6076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D2D828C-CB3F-43BE-82CC-91DEB72590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087" y="6039773"/>
            <a:ext cx="3472591" cy="5284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E8227C-2674-48CF-89B3-078F9D896393}"/>
              </a:ext>
            </a:extLst>
          </p:cNvPr>
          <p:cNvSpPr txBox="1"/>
          <p:nvPr/>
        </p:nvSpPr>
        <p:spPr>
          <a:xfrm>
            <a:off x="636306" y="3289056"/>
            <a:ext cx="334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Combining two systems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B6934A1-DEE7-451E-9D04-B3A2237DA990}"/>
              </a:ext>
            </a:extLst>
          </p:cNvPr>
          <p:cNvGrpSpPr/>
          <p:nvPr/>
        </p:nvGrpSpPr>
        <p:grpSpPr>
          <a:xfrm>
            <a:off x="9547888" y="4029780"/>
            <a:ext cx="2684709" cy="831824"/>
            <a:chOff x="9547888" y="4029780"/>
            <a:chExt cx="2684709" cy="83182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6240CE-BFB2-4E04-89A7-220D5C0F8E67}"/>
                </a:ext>
              </a:extLst>
            </p:cNvPr>
            <p:cNvSpPr txBox="1"/>
            <p:nvPr/>
          </p:nvSpPr>
          <p:spPr>
            <a:xfrm>
              <a:off x="9547888" y="4029780"/>
              <a:ext cx="26847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Most probable states</a:t>
              </a:r>
            </a:p>
            <a:p>
              <a:r>
                <a:rPr lang="en-US" sz="2000" b="1" dirty="0"/>
                <a:t>(equilibrium)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95AD75B-83ED-42A9-AE1F-37231BDB625E}"/>
                </a:ext>
              </a:extLst>
            </p:cNvPr>
            <p:cNvCxnSpPr/>
            <p:nvPr/>
          </p:nvCxnSpPr>
          <p:spPr>
            <a:xfrm flipH="1">
              <a:off x="10803735" y="4582763"/>
              <a:ext cx="368733" cy="278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DF4D4AB-BB18-4934-AE6B-4E01F56EC1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6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0.27253 -0.21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20" y="-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346" y="1823044"/>
            <a:ext cx="255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59772"/>
            <a:ext cx="6599528" cy="112724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719072" y="3988372"/>
            <a:ext cx="1499616" cy="15894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058" y="3527350"/>
            <a:ext cx="1274918" cy="26131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012" y="5145285"/>
            <a:ext cx="699929" cy="31582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524" y="4274206"/>
            <a:ext cx="311658" cy="28857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8CC1B22-879D-4AF4-B506-9D90710AF4EE}"/>
              </a:ext>
            </a:extLst>
          </p:cNvPr>
          <p:cNvGrpSpPr/>
          <p:nvPr/>
        </p:nvGrpSpPr>
        <p:grpSpPr>
          <a:xfrm>
            <a:off x="334452" y="3399126"/>
            <a:ext cx="6086073" cy="461665"/>
            <a:chOff x="334452" y="3388616"/>
            <a:chExt cx="6086073" cy="461665"/>
          </a:xfrm>
        </p:grpSpPr>
        <p:sp>
          <p:nvSpPr>
            <p:cNvPr id="32" name="TextBox 31"/>
            <p:cNvSpPr txBox="1"/>
            <p:nvPr/>
          </p:nvSpPr>
          <p:spPr>
            <a:xfrm>
              <a:off x="334452" y="3388616"/>
              <a:ext cx="57345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Isolated                  system with total energy </a:t>
              </a: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8867" y="3507836"/>
              <a:ext cx="311658" cy="288572"/>
            </a:xfrm>
            <a:prstGeom prst="rect">
              <a:avLst/>
            </a:prstGeom>
          </p:spPr>
        </p:pic>
      </p:grpSp>
      <p:cxnSp>
        <p:nvCxnSpPr>
          <p:cNvPr id="35" name="Straight Arrow Connector 34"/>
          <p:cNvCxnSpPr/>
          <p:nvPr/>
        </p:nvCxnSpPr>
        <p:spPr>
          <a:xfrm flipV="1">
            <a:off x="1445058" y="4418492"/>
            <a:ext cx="449466" cy="144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6613" y="4507914"/>
            <a:ext cx="1312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Conserve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8261" y="4187659"/>
            <a:ext cx="3679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Total number of microstates: 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296" y="4121512"/>
            <a:ext cx="4215420" cy="688232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0041" y="5815584"/>
            <a:ext cx="1721875" cy="363507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2857" y="5526854"/>
            <a:ext cx="5416508" cy="95225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720881" y="4933864"/>
            <a:ext cx="7359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very 1</a:t>
            </a:r>
            <a:r>
              <a:rPr lang="en-US" sz="2400" b="1" baseline="30000" dirty="0"/>
              <a:t>st</a:t>
            </a:r>
            <a:r>
              <a:rPr lang="en-US" sz="2400" b="1" dirty="0"/>
              <a:t> statistical model (microcanonical ensemble)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715" y="4303578"/>
            <a:ext cx="1084717" cy="32629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3099" y="6047034"/>
            <a:ext cx="1084717" cy="3262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EF3828F-8C96-4BC8-9878-9038A6799ABB}"/>
              </a:ext>
            </a:extLst>
          </p:cNvPr>
          <p:cNvGrpSpPr/>
          <p:nvPr/>
        </p:nvGrpSpPr>
        <p:grpSpPr>
          <a:xfrm>
            <a:off x="-18288" y="5547499"/>
            <a:ext cx="4982849" cy="1235775"/>
            <a:chOff x="-18288" y="5547499"/>
            <a:chExt cx="4982849" cy="123577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329DCA4-0E4A-41F3-AFF9-6E66E9D9CCCF}"/>
                </a:ext>
              </a:extLst>
            </p:cNvPr>
            <p:cNvGrpSpPr/>
            <p:nvPr/>
          </p:nvGrpSpPr>
          <p:grpSpPr>
            <a:xfrm>
              <a:off x="-18288" y="5547499"/>
              <a:ext cx="4575548" cy="1235775"/>
              <a:chOff x="-18288" y="5547499"/>
              <a:chExt cx="4575548" cy="1235775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-18288" y="6321609"/>
                <a:ext cx="45755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The available positions depends on </a:t>
                </a:r>
              </a:p>
            </p:txBody>
          </p:sp>
          <p:cxnSp>
            <p:nvCxnSpPr>
              <p:cNvPr id="6" name="Straight Arrow Connector 5"/>
              <p:cNvCxnSpPr/>
              <p:nvPr/>
            </p:nvCxnSpPr>
            <p:spPr>
              <a:xfrm flipV="1">
                <a:off x="2269486" y="5547499"/>
                <a:ext cx="620018" cy="9316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97686" y="6433468"/>
              <a:ext cx="266875" cy="266875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3C8B9ADD-787D-4D8C-BF0C-89DCA810FC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73314" y="4465628"/>
            <a:ext cx="611605" cy="6116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79DC602-6AB9-4C90-8C9C-50DE5BC73B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9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346" y="1823044"/>
            <a:ext cx="255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59772"/>
            <a:ext cx="6599528" cy="112724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852" y="3406242"/>
            <a:ext cx="2887540" cy="28041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942" y="3222428"/>
            <a:ext cx="1355896" cy="52464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08D8512-AF93-4A45-902E-BE45BDA2E79D}"/>
              </a:ext>
            </a:extLst>
          </p:cNvPr>
          <p:cNvGrpSpPr/>
          <p:nvPr/>
        </p:nvGrpSpPr>
        <p:grpSpPr>
          <a:xfrm>
            <a:off x="993513" y="4445216"/>
            <a:ext cx="7130222" cy="369332"/>
            <a:chOff x="993513" y="4445216"/>
            <a:chExt cx="7130222" cy="36933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6DF5263-AC65-459C-BCE5-10134F187CEF}"/>
                </a:ext>
              </a:extLst>
            </p:cNvPr>
            <p:cNvGrpSpPr/>
            <p:nvPr/>
          </p:nvGrpSpPr>
          <p:grpSpPr>
            <a:xfrm>
              <a:off x="993513" y="4445216"/>
              <a:ext cx="7130222" cy="369332"/>
              <a:chOff x="993513" y="4445216"/>
              <a:chExt cx="7130222" cy="369332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993513" y="4445216"/>
                <a:ext cx="5461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All the work done                    on the system turn into:</a:t>
                </a:r>
              </a:p>
            </p:txBody>
          </p:sp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5008" y="4536863"/>
                <a:ext cx="1738727" cy="220188"/>
              </a:xfrm>
              <a:prstGeom prst="rect">
                <a:avLst/>
              </a:prstGeom>
            </p:spPr>
          </p:pic>
        </p:grp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3295" y="4574621"/>
              <a:ext cx="1042760" cy="18363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472D6F6-F4E8-48C3-A839-FF2D6F1ACC90}"/>
              </a:ext>
            </a:extLst>
          </p:cNvPr>
          <p:cNvGrpSpPr/>
          <p:nvPr/>
        </p:nvGrpSpPr>
        <p:grpSpPr>
          <a:xfrm>
            <a:off x="276753" y="5485967"/>
            <a:ext cx="1252459" cy="528949"/>
            <a:chOff x="276753" y="5485967"/>
            <a:chExt cx="1252459" cy="528949"/>
          </a:xfrm>
        </p:grpSpPr>
        <p:sp>
          <p:nvSpPr>
            <p:cNvPr id="50" name="Rectangle 49"/>
            <p:cNvSpPr/>
            <p:nvPr/>
          </p:nvSpPr>
          <p:spPr>
            <a:xfrm>
              <a:off x="276753" y="5645584"/>
              <a:ext cx="125245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reversibility</a:t>
              </a:r>
              <a:endParaRPr lang="en-US" dirty="0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 flipV="1">
              <a:off x="902983" y="5485967"/>
              <a:ext cx="460696" cy="1961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7870" y="6014916"/>
            <a:ext cx="4491977" cy="59634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7254372" y="6370279"/>
            <a:ext cx="944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(Heat)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66249" y="5970012"/>
            <a:ext cx="1059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b="1" baseline="30000" dirty="0"/>
              <a:t>st</a:t>
            </a:r>
            <a:r>
              <a:rPr lang="en-US" sz="2400" b="1" dirty="0"/>
              <a:t> law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CDA0B0-E86C-4F86-BEB2-982EB10D097A}"/>
              </a:ext>
            </a:extLst>
          </p:cNvPr>
          <p:cNvGrpSpPr/>
          <p:nvPr/>
        </p:nvGrpSpPr>
        <p:grpSpPr>
          <a:xfrm>
            <a:off x="1127346" y="3931920"/>
            <a:ext cx="4784318" cy="369332"/>
            <a:chOff x="1127346" y="3931920"/>
            <a:chExt cx="4784318" cy="369332"/>
          </a:xfrm>
        </p:grpSpPr>
        <p:sp>
          <p:nvSpPr>
            <p:cNvPr id="18" name="TextBox 17"/>
            <p:cNvSpPr txBox="1"/>
            <p:nvPr/>
          </p:nvSpPr>
          <p:spPr>
            <a:xfrm>
              <a:off x="1127346" y="3931920"/>
              <a:ext cx="2868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 a REVERSIBLE process with </a:t>
              </a:r>
            </a:p>
          </p:txBody>
        </p: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4493" y="4008482"/>
              <a:ext cx="1567171" cy="218312"/>
            </a:xfrm>
            <a:prstGeom prst="rect">
              <a:avLst/>
            </a:prstGeom>
          </p:spPr>
        </p:pic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346" y="5063069"/>
            <a:ext cx="7143148" cy="614551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8837" y="6110807"/>
            <a:ext cx="3011434" cy="267069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9384" y="4993618"/>
            <a:ext cx="2095838" cy="6455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B16EB00-84F4-44B4-A27E-1266666142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6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645" y="2817900"/>
            <a:ext cx="1102868" cy="2990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096" y="4526777"/>
            <a:ext cx="5541264" cy="28836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r="89478" b="25018"/>
          <a:stretch/>
        </p:blipFill>
        <p:spPr>
          <a:xfrm>
            <a:off x="3941513" y="3305033"/>
            <a:ext cx="994314" cy="72194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827" y="3430167"/>
            <a:ext cx="3280547" cy="57235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083" y="3359268"/>
            <a:ext cx="2896762" cy="236314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6977C66-9258-449A-A452-D25799005AAF}"/>
              </a:ext>
            </a:extLst>
          </p:cNvPr>
          <p:cNvGrpSpPr/>
          <p:nvPr/>
        </p:nvGrpSpPr>
        <p:grpSpPr>
          <a:xfrm>
            <a:off x="10481627" y="3207591"/>
            <a:ext cx="1404552" cy="593309"/>
            <a:chOff x="10691833" y="3207591"/>
            <a:chExt cx="1404552" cy="593309"/>
          </a:xfrm>
        </p:grpSpPr>
        <p:sp>
          <p:nvSpPr>
            <p:cNvPr id="28" name="TextBox 27"/>
            <p:cNvSpPr txBox="1"/>
            <p:nvPr/>
          </p:nvSpPr>
          <p:spPr>
            <a:xfrm>
              <a:off x="10691833" y="3207591"/>
              <a:ext cx="1404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equilibrium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10803735" y="3522059"/>
              <a:ext cx="368733" cy="278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D418158-3E5F-49B4-A3AE-DD8B6E53BDA1}"/>
              </a:ext>
            </a:extLst>
          </p:cNvPr>
          <p:cNvGrpSpPr/>
          <p:nvPr/>
        </p:nvGrpSpPr>
        <p:grpSpPr>
          <a:xfrm>
            <a:off x="637454" y="5446961"/>
            <a:ext cx="7676009" cy="550154"/>
            <a:chOff x="637454" y="5446961"/>
            <a:chExt cx="7676009" cy="550154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7"/>
            <a:srcRect l="56041" r="507" b="-8648"/>
            <a:stretch/>
          </p:blipFill>
          <p:spPr>
            <a:xfrm>
              <a:off x="3783751" y="5446961"/>
              <a:ext cx="1925203" cy="55015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84164" y="5558336"/>
              <a:ext cx="2429299" cy="306772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7"/>
            <a:srcRect r="49676"/>
            <a:stretch/>
          </p:blipFill>
          <p:spPr>
            <a:xfrm>
              <a:off x="637454" y="5458541"/>
              <a:ext cx="2229699" cy="506361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93F369D3-8D3B-4AC2-BB13-97809040E5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4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346" y="2261956"/>
            <a:ext cx="259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Law of thermodynamic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2"/>
            <a:ext cx="8083166" cy="7028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10" y="3688421"/>
            <a:ext cx="1607717" cy="3831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416" y="3663256"/>
            <a:ext cx="2485831" cy="46954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939" y="4487881"/>
            <a:ext cx="3224588" cy="57742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2728C98-6BEC-4F3B-9825-4153859833C1}"/>
              </a:ext>
            </a:extLst>
          </p:cNvPr>
          <p:cNvGrpSpPr/>
          <p:nvPr/>
        </p:nvGrpSpPr>
        <p:grpSpPr>
          <a:xfrm>
            <a:off x="6415574" y="4029528"/>
            <a:ext cx="1981977" cy="1035779"/>
            <a:chOff x="6415574" y="4029528"/>
            <a:chExt cx="1981977" cy="103577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15574" y="4698641"/>
              <a:ext cx="1981977" cy="366666"/>
            </a:xfrm>
            <a:prstGeom prst="rect">
              <a:avLst/>
            </a:prstGeom>
          </p:spPr>
        </p:pic>
        <p:cxnSp>
          <p:nvCxnSpPr>
            <p:cNvPr id="13" name="Straight Arrow Connector 12"/>
            <p:cNvCxnSpPr>
              <a:cxnSpLocks/>
            </p:cNvCxnSpPr>
            <p:nvPr/>
          </p:nvCxnSpPr>
          <p:spPr>
            <a:xfrm flipV="1">
              <a:off x="8154955" y="4029528"/>
              <a:ext cx="0" cy="4583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650" y="3644595"/>
            <a:ext cx="2578472" cy="38781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4340" y="6105700"/>
            <a:ext cx="7382174" cy="34057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7952" y="5402997"/>
            <a:ext cx="9695243" cy="36455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738886" y="6231364"/>
            <a:ext cx="2162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More Examples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F04276-33E2-4F5E-8EE1-1F6FA67CAD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56" name="Freeform 55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06DEC65-6D20-4DC9-83BD-31F04E925826}"/>
              </a:ext>
            </a:extLst>
          </p:cNvPr>
          <p:cNvGrpSpPr/>
          <p:nvPr/>
        </p:nvGrpSpPr>
        <p:grpSpPr>
          <a:xfrm>
            <a:off x="8806758" y="3067719"/>
            <a:ext cx="2634042" cy="2561061"/>
            <a:chOff x="8806758" y="3067719"/>
            <a:chExt cx="2634042" cy="2561061"/>
          </a:xfrm>
        </p:grpSpPr>
        <p:grpSp>
          <p:nvGrpSpPr>
            <p:cNvPr id="63" name="Group 62"/>
            <p:cNvGrpSpPr/>
            <p:nvPr/>
          </p:nvGrpSpPr>
          <p:grpSpPr>
            <a:xfrm>
              <a:off x="10933794" y="3067719"/>
              <a:ext cx="507006" cy="503341"/>
              <a:chOff x="10933794" y="3067719"/>
              <a:chExt cx="507006" cy="503341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64" name="Group 63"/>
            <p:cNvGrpSpPr/>
            <p:nvPr/>
          </p:nvGrpSpPr>
          <p:grpSpPr>
            <a:xfrm>
              <a:off x="10932841" y="3593019"/>
              <a:ext cx="507006" cy="503341"/>
              <a:chOff x="10933794" y="3067719"/>
              <a:chExt cx="507006" cy="503341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6" name="Picture 6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67" name="Group 66"/>
            <p:cNvGrpSpPr/>
            <p:nvPr/>
          </p:nvGrpSpPr>
          <p:grpSpPr>
            <a:xfrm>
              <a:off x="10400509" y="4100347"/>
              <a:ext cx="507006" cy="503341"/>
              <a:chOff x="10933794" y="3067719"/>
              <a:chExt cx="507006" cy="503341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9" name="Picture 6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70" name="Group 69"/>
            <p:cNvGrpSpPr/>
            <p:nvPr/>
          </p:nvGrpSpPr>
          <p:grpSpPr>
            <a:xfrm>
              <a:off x="9336191" y="3579571"/>
              <a:ext cx="507006" cy="503341"/>
              <a:chOff x="10933794" y="3067719"/>
              <a:chExt cx="507006" cy="503341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2" name="Picture 7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73" name="Group 72"/>
            <p:cNvGrpSpPr/>
            <p:nvPr/>
          </p:nvGrpSpPr>
          <p:grpSpPr>
            <a:xfrm>
              <a:off x="8806758" y="5125439"/>
              <a:ext cx="507006" cy="503341"/>
              <a:chOff x="10933794" y="3067719"/>
              <a:chExt cx="507006" cy="503341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5" name="Picture 7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A87DD0B-6C3B-4139-A595-D06F18613C37}"/>
              </a:ext>
            </a:extLst>
          </p:cNvPr>
          <p:cNvGrpSpPr/>
          <p:nvPr/>
        </p:nvGrpSpPr>
        <p:grpSpPr>
          <a:xfrm>
            <a:off x="3668427" y="1962194"/>
            <a:ext cx="1302381" cy="617045"/>
            <a:chOff x="3668427" y="1962194"/>
            <a:chExt cx="1302381" cy="617045"/>
          </a:xfrm>
        </p:grpSpPr>
        <p:cxnSp>
          <p:nvCxnSpPr>
            <p:cNvPr id="78" name="Straight Arrow Connector 77"/>
            <p:cNvCxnSpPr/>
            <p:nvPr/>
          </p:nvCxnSpPr>
          <p:spPr>
            <a:xfrm>
              <a:off x="4141694" y="2279417"/>
              <a:ext cx="13448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68427" y="1962194"/>
              <a:ext cx="1302381" cy="237493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4BB6C3-BD1B-4A4C-9B3B-81CC0C439408}"/>
              </a:ext>
            </a:extLst>
          </p:cNvPr>
          <p:cNvGrpSpPr/>
          <p:nvPr/>
        </p:nvGrpSpPr>
        <p:grpSpPr>
          <a:xfrm>
            <a:off x="5088285" y="2063378"/>
            <a:ext cx="2929023" cy="515861"/>
            <a:chOff x="5088285" y="2063378"/>
            <a:chExt cx="2929023" cy="515861"/>
          </a:xfrm>
        </p:grpSpPr>
        <p:cxnSp>
          <p:nvCxnSpPr>
            <p:cNvPr id="80" name="Straight Arrow Connector 79"/>
            <p:cNvCxnSpPr/>
            <p:nvPr/>
          </p:nvCxnSpPr>
          <p:spPr>
            <a:xfrm flipH="1">
              <a:off x="5088285" y="2279417"/>
              <a:ext cx="440649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5528934" y="2063378"/>
              <a:ext cx="2488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excited states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9571DA7-67B1-4758-A668-EDE54649F5AC}"/>
              </a:ext>
            </a:extLst>
          </p:cNvPr>
          <p:cNvGrpSpPr/>
          <p:nvPr/>
        </p:nvGrpSpPr>
        <p:grpSpPr>
          <a:xfrm>
            <a:off x="521203" y="3967935"/>
            <a:ext cx="5241938" cy="461665"/>
            <a:chOff x="521203" y="3967935"/>
            <a:chExt cx="5241938" cy="461665"/>
          </a:xfrm>
        </p:grpSpPr>
        <p:sp>
          <p:nvSpPr>
            <p:cNvPr id="83" name="TextBox 82"/>
            <p:cNvSpPr txBox="1"/>
            <p:nvPr/>
          </p:nvSpPr>
          <p:spPr>
            <a:xfrm>
              <a:off x="521203" y="3967935"/>
              <a:ext cx="1621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Microstates:</a:t>
              </a:r>
            </a:p>
          </p:txBody>
        </p:sp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74155" y="4042843"/>
              <a:ext cx="3488986" cy="359589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D369015-D614-4885-9680-3CA65613DA29}"/>
              </a:ext>
            </a:extLst>
          </p:cNvPr>
          <p:cNvGrpSpPr/>
          <p:nvPr/>
        </p:nvGrpSpPr>
        <p:grpSpPr>
          <a:xfrm>
            <a:off x="247935" y="4359933"/>
            <a:ext cx="8295957" cy="1139409"/>
            <a:chOff x="247935" y="4359933"/>
            <a:chExt cx="8295957" cy="1139409"/>
          </a:xfrm>
        </p:grpSpPr>
        <p:sp>
          <p:nvSpPr>
            <p:cNvPr id="85" name="TextBox 84"/>
            <p:cNvSpPr txBox="1"/>
            <p:nvPr/>
          </p:nvSpPr>
          <p:spPr>
            <a:xfrm>
              <a:off x="247935" y="4878674"/>
              <a:ext cx="31280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Microstates distribution: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5959338" y="4359933"/>
              <a:ext cx="2584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(</a:t>
              </a:r>
              <a:r>
                <a:rPr lang="en-US" dirty="0" err="1"/>
                <a:t>Microcanonical</a:t>
              </a:r>
              <a:r>
                <a:rPr lang="en-US" dirty="0"/>
                <a:t> ensemble)</a:t>
              </a:r>
            </a:p>
          </p:txBody>
        </p:sp>
        <p:pic>
          <p:nvPicPr>
            <p:cNvPr id="88" name="Picture 8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68427" y="4773494"/>
              <a:ext cx="3902267" cy="725848"/>
            </a:xfrm>
            <a:prstGeom prst="rect">
              <a:avLst/>
            </a:prstGeom>
          </p:spPr>
        </p:pic>
      </p:grpSp>
      <p:pic>
        <p:nvPicPr>
          <p:cNvPr id="89" name="Picture 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0396" y="5779805"/>
            <a:ext cx="2762746" cy="769012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3089" y="6088760"/>
            <a:ext cx="1695210" cy="30010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7B703C0-6A10-4F5C-B85A-7A68A7CCEE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0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56" name="Freeform 55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10933794" y="3067719"/>
            <a:ext cx="507006" cy="503341"/>
            <a:chOff x="10933794" y="3067719"/>
            <a:chExt cx="507006" cy="503341"/>
          </a:xfrm>
        </p:grpSpPr>
        <p:sp>
          <p:nvSpPr>
            <p:cNvPr id="61" name="Rectangle 6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4" name="Group 63"/>
          <p:cNvGrpSpPr/>
          <p:nvPr/>
        </p:nvGrpSpPr>
        <p:grpSpPr>
          <a:xfrm>
            <a:off x="10932841" y="3593019"/>
            <a:ext cx="507006" cy="503341"/>
            <a:chOff x="10933794" y="3067719"/>
            <a:chExt cx="507006" cy="503341"/>
          </a:xfrm>
        </p:grpSpPr>
        <p:sp>
          <p:nvSpPr>
            <p:cNvPr id="65" name="Rectangle 64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0400509" y="4100347"/>
            <a:ext cx="507006" cy="503341"/>
            <a:chOff x="10933794" y="3067719"/>
            <a:chExt cx="507006" cy="503341"/>
          </a:xfrm>
        </p:grpSpPr>
        <p:sp>
          <p:nvSpPr>
            <p:cNvPr id="68" name="Rectangle 67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0" name="Group 69"/>
          <p:cNvGrpSpPr/>
          <p:nvPr/>
        </p:nvGrpSpPr>
        <p:grpSpPr>
          <a:xfrm>
            <a:off x="9336191" y="3579571"/>
            <a:ext cx="507006" cy="503341"/>
            <a:chOff x="10933794" y="3067719"/>
            <a:chExt cx="507006" cy="503341"/>
          </a:xfrm>
        </p:grpSpPr>
        <p:sp>
          <p:nvSpPr>
            <p:cNvPr id="71" name="Rectangle 7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3" name="Group 72"/>
          <p:cNvGrpSpPr/>
          <p:nvPr/>
        </p:nvGrpSpPr>
        <p:grpSpPr>
          <a:xfrm>
            <a:off x="8806758" y="5125439"/>
            <a:ext cx="507006" cy="503341"/>
            <a:chOff x="10933794" y="3067719"/>
            <a:chExt cx="507006" cy="503341"/>
          </a:xfrm>
        </p:grpSpPr>
        <p:sp>
          <p:nvSpPr>
            <p:cNvPr id="74" name="Rectangle 73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cxnSp>
        <p:nvCxnSpPr>
          <p:cNvPr id="80" name="Straight Arrow Connector 79"/>
          <p:cNvCxnSpPr/>
          <p:nvPr/>
        </p:nvCxnSpPr>
        <p:spPr>
          <a:xfrm flipH="1">
            <a:off x="5088285" y="2279417"/>
            <a:ext cx="440649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28934" y="2063378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excited states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141694" y="2279417"/>
            <a:ext cx="13448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427" y="1962194"/>
            <a:ext cx="1302381" cy="2374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106" y="4319648"/>
            <a:ext cx="1655856" cy="2927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/>
          <a:srcRect r="81861" b="50938"/>
          <a:stretch/>
        </p:blipFill>
        <p:spPr>
          <a:xfrm>
            <a:off x="158389" y="4719101"/>
            <a:ext cx="1402095" cy="875173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 rotWithShape="1">
          <a:blip r:embed="rId8"/>
          <a:srcRect l="17550" t="47050"/>
          <a:stretch/>
        </p:blipFill>
        <p:spPr>
          <a:xfrm>
            <a:off x="1613318" y="4628008"/>
            <a:ext cx="6373175" cy="9445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7768" y="5761300"/>
            <a:ext cx="4177204" cy="98674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9037" y="5926979"/>
            <a:ext cx="3494975" cy="682548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0396" y="5779805"/>
            <a:ext cx="2762746" cy="769012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3089" y="6088760"/>
            <a:ext cx="1695210" cy="300109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1802" y="2530438"/>
            <a:ext cx="4340198" cy="3248492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4" name="Group 13"/>
          <p:cNvGrpSpPr/>
          <p:nvPr/>
        </p:nvGrpSpPr>
        <p:grpSpPr>
          <a:xfrm>
            <a:off x="8617486" y="5480892"/>
            <a:ext cx="1682247" cy="488890"/>
            <a:chOff x="8617486" y="5480892"/>
            <a:chExt cx="1682247" cy="488890"/>
          </a:xfrm>
        </p:grpSpPr>
        <p:sp>
          <p:nvSpPr>
            <p:cNvPr id="9" name="TextBox 8"/>
            <p:cNvSpPr txBox="1"/>
            <p:nvPr/>
          </p:nvSpPr>
          <p:spPr>
            <a:xfrm>
              <a:off x="9126463" y="5508117"/>
              <a:ext cx="1173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</a:rPr>
                <a:t>3</a:t>
              </a:r>
              <a:r>
                <a:rPr lang="en-US" sz="2400" b="1" baseline="30000">
                  <a:solidFill>
                    <a:srgbClr val="FF0000"/>
                  </a:solidFill>
                </a:rPr>
                <a:t>rd</a:t>
              </a:r>
              <a:r>
                <a:rPr lang="en-US" sz="2400" b="1">
                  <a:solidFill>
                    <a:srgbClr val="FF0000"/>
                  </a:solidFill>
                </a:rPr>
                <a:t> law 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8617486" y="5480892"/>
              <a:ext cx="487144" cy="2181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5C3AFF04-EDBB-4630-A01F-1574EFAF88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4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-0.08816 -0.373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14" y="-1868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7.40741E-7 L -0.09466 -0.365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1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761" y="3602298"/>
            <a:ext cx="1695210" cy="300109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5857270" y="2997332"/>
            <a:ext cx="5590022" cy="2633548"/>
            <a:chOff x="5857270" y="2997332"/>
            <a:chExt cx="5590022" cy="2633548"/>
          </a:xfrm>
        </p:grpSpPr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7270" y="2997332"/>
              <a:ext cx="2760216" cy="266612"/>
            </a:xfrm>
            <a:prstGeom prst="rect">
              <a:avLst/>
            </a:prstGeom>
          </p:spPr>
        </p:pic>
        <p:grpSp>
          <p:nvGrpSpPr>
            <p:cNvPr id="4" name="Group 3"/>
            <p:cNvGrpSpPr/>
            <p:nvPr/>
          </p:nvGrpSpPr>
          <p:grpSpPr>
            <a:xfrm>
              <a:off x="8191276" y="3063239"/>
              <a:ext cx="3256016" cy="2567641"/>
              <a:chOff x="8191276" y="3063239"/>
              <a:chExt cx="3256016" cy="2567641"/>
            </a:xfrm>
          </p:grpSpPr>
          <p:grpSp>
            <p:nvGrpSpPr>
              <p:cNvPr id="48" name="Group 47"/>
              <p:cNvGrpSpPr/>
              <p:nvPr/>
            </p:nvGrpSpPr>
            <p:grpSpPr>
              <a:xfrm rot="16200000">
                <a:off x="8828880" y="3012468"/>
                <a:ext cx="2567641" cy="2669183"/>
                <a:chOff x="8616462" y="3192098"/>
                <a:chExt cx="2661390" cy="2985796"/>
              </a:xfrm>
            </p:grpSpPr>
            <p:cxnSp>
              <p:nvCxnSpPr>
                <p:cNvPr id="49" name="Straight Connector 48"/>
                <p:cNvCxnSpPr/>
                <p:nvPr/>
              </p:nvCxnSpPr>
              <p:spPr>
                <a:xfrm flipH="1">
                  <a:off x="8616462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 flipH="1">
                  <a:off x="9148338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 flipH="1">
                  <a:off x="9680214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 flipH="1">
                  <a:off x="10212090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 flipH="1">
                  <a:off x="10743966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 flipH="1">
                  <a:off x="11275842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Freeform 55"/>
              <p:cNvSpPr/>
              <p:nvPr/>
            </p:nvSpPr>
            <p:spPr>
              <a:xfrm>
                <a:off x="8191276" y="3371180"/>
                <a:ext cx="1234440" cy="971550"/>
              </a:xfrm>
              <a:custGeom>
                <a:avLst/>
                <a:gdLst>
                  <a:gd name="connsiteX0" fmla="*/ 0 w 1234440"/>
                  <a:gd name="connsiteY0" fmla="*/ 0 h 971550"/>
                  <a:gd name="connsiteX1" fmla="*/ 388620 w 1234440"/>
                  <a:gd name="connsiteY1" fmla="*/ 697230 h 971550"/>
                  <a:gd name="connsiteX2" fmla="*/ 708660 w 1234440"/>
                  <a:gd name="connsiteY2" fmla="*/ 34290 h 971550"/>
                  <a:gd name="connsiteX3" fmla="*/ 1234440 w 1234440"/>
                  <a:gd name="connsiteY3" fmla="*/ 971550 h 971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4440" h="971550">
                    <a:moveTo>
                      <a:pt x="0" y="0"/>
                    </a:moveTo>
                    <a:cubicBezTo>
                      <a:pt x="135255" y="345757"/>
                      <a:pt x="270510" y="691515"/>
                      <a:pt x="388620" y="697230"/>
                    </a:cubicBezTo>
                    <a:cubicBezTo>
                      <a:pt x="506730" y="702945"/>
                      <a:pt x="567690" y="-11430"/>
                      <a:pt x="708660" y="34290"/>
                    </a:cubicBezTo>
                    <a:cubicBezTo>
                      <a:pt x="849630" y="80010"/>
                      <a:pt x="1234440" y="971550"/>
                      <a:pt x="1234440" y="971550"/>
                    </a:cubicBezTo>
                  </a:path>
                </a:pathLst>
              </a:cu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8" name="Picture 5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22044" y="4321286"/>
                <a:ext cx="759966" cy="178010"/>
              </a:xfrm>
              <a:prstGeom prst="rect">
                <a:avLst/>
              </a:prstGeom>
            </p:spPr>
          </p:pic>
          <p:grpSp>
            <p:nvGrpSpPr>
              <p:cNvPr id="63" name="Group 62"/>
              <p:cNvGrpSpPr/>
              <p:nvPr/>
            </p:nvGrpSpPr>
            <p:grpSpPr>
              <a:xfrm>
                <a:off x="10933794" y="3067719"/>
                <a:ext cx="507006" cy="503341"/>
                <a:chOff x="10933794" y="3067719"/>
                <a:chExt cx="507006" cy="503341"/>
              </a:xfrm>
            </p:grpSpPr>
            <p:sp>
              <p:nvSpPr>
                <p:cNvPr id="61" name="Rectangle 60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2" name="Picture 6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64" name="Group 63"/>
              <p:cNvGrpSpPr/>
              <p:nvPr/>
            </p:nvGrpSpPr>
            <p:grpSpPr>
              <a:xfrm>
                <a:off x="10932841" y="3593019"/>
                <a:ext cx="507006" cy="503341"/>
                <a:chOff x="10933794" y="3067719"/>
                <a:chExt cx="507006" cy="503341"/>
              </a:xfrm>
            </p:grpSpPr>
            <p:sp>
              <p:nvSpPr>
                <p:cNvPr id="65" name="Rectangle 64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6" name="Picture 65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oup 66"/>
              <p:cNvGrpSpPr/>
              <p:nvPr/>
            </p:nvGrpSpPr>
            <p:grpSpPr>
              <a:xfrm>
                <a:off x="10400509" y="4100347"/>
                <a:ext cx="507006" cy="503341"/>
                <a:chOff x="10933794" y="3067719"/>
                <a:chExt cx="507006" cy="503341"/>
              </a:xfrm>
            </p:grpSpPr>
            <p:sp>
              <p:nvSpPr>
                <p:cNvPr id="68" name="Rectangle 67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9" name="Picture 68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70" name="Group 69"/>
              <p:cNvGrpSpPr/>
              <p:nvPr/>
            </p:nvGrpSpPr>
            <p:grpSpPr>
              <a:xfrm>
                <a:off x="9336191" y="3579571"/>
                <a:ext cx="507006" cy="503341"/>
                <a:chOff x="10933794" y="3067719"/>
                <a:chExt cx="507006" cy="503341"/>
              </a:xfrm>
            </p:grpSpPr>
            <p:sp>
              <p:nvSpPr>
                <p:cNvPr id="71" name="Rectangle 70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2" name="Picture 7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73" name="Group 72"/>
              <p:cNvGrpSpPr/>
              <p:nvPr/>
            </p:nvGrpSpPr>
            <p:grpSpPr>
              <a:xfrm>
                <a:off x="8806758" y="5125439"/>
                <a:ext cx="507006" cy="503341"/>
                <a:chOff x="10933794" y="3067719"/>
                <a:chExt cx="507006" cy="503341"/>
              </a:xfrm>
            </p:grpSpPr>
            <p:sp>
              <p:nvSpPr>
                <p:cNvPr id="74" name="Rectangle 73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5" name="Picture 74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6" name="Picture 7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802" y="2530438"/>
            <a:ext cx="4340198" cy="324849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040" y="2469341"/>
            <a:ext cx="5640792" cy="286613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cxnSp>
        <p:nvCxnSpPr>
          <p:cNvPr id="80" name="Straight Arrow Connector 79"/>
          <p:cNvCxnSpPr/>
          <p:nvPr/>
        </p:nvCxnSpPr>
        <p:spPr>
          <a:xfrm flipH="1">
            <a:off x="5088285" y="2279417"/>
            <a:ext cx="440649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28934" y="2063378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excited states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0068" y="3293343"/>
            <a:ext cx="2762746" cy="769012"/>
          </a:xfrm>
          <a:prstGeom prst="rect">
            <a:avLst/>
          </a:prstGeom>
        </p:spPr>
      </p:pic>
      <p:cxnSp>
        <p:nvCxnSpPr>
          <p:cNvPr id="57" name="Straight Arrow Connector 56"/>
          <p:cNvCxnSpPr/>
          <p:nvPr/>
        </p:nvCxnSpPr>
        <p:spPr>
          <a:xfrm>
            <a:off x="4141694" y="2279417"/>
            <a:ext cx="13448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8427" y="1962194"/>
            <a:ext cx="1302381" cy="237493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05381" y="4915746"/>
            <a:ext cx="7331827" cy="1360702"/>
            <a:chOff x="505381" y="4915746"/>
            <a:chExt cx="7331827" cy="136070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46905" y="5307292"/>
              <a:ext cx="6690303" cy="96915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505381" y="4915746"/>
              <a:ext cx="1699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Heat capacity: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365614" y="2815092"/>
            <a:ext cx="3748594" cy="441322"/>
            <a:chOff x="8365614" y="2815092"/>
            <a:chExt cx="3748594" cy="441322"/>
          </a:xfrm>
        </p:grpSpPr>
        <p:sp>
          <p:nvSpPr>
            <p:cNvPr id="21" name="TextBox 20"/>
            <p:cNvSpPr txBox="1"/>
            <p:nvPr/>
          </p:nvSpPr>
          <p:spPr>
            <a:xfrm>
              <a:off x="8563492" y="2815092"/>
              <a:ext cx="3550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Started to deplete </a:t>
              </a:r>
              <a:r>
                <a:rPr lang="en-US"/>
                <a:t>the excited states</a:t>
              </a:r>
              <a:endParaRPr lang="en-US" dirty="0"/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 flipH="1">
              <a:off x="8365614" y="3010946"/>
              <a:ext cx="187558" cy="2454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977630" y="2496722"/>
            <a:ext cx="3896497" cy="2234498"/>
            <a:chOff x="6977630" y="2496722"/>
            <a:chExt cx="3896497" cy="2234498"/>
          </a:xfrm>
        </p:grpSpPr>
        <p:cxnSp>
          <p:nvCxnSpPr>
            <p:cNvPr id="78" name="Straight Arrow Connector 77"/>
            <p:cNvCxnSpPr/>
            <p:nvPr/>
          </p:nvCxnSpPr>
          <p:spPr>
            <a:xfrm flipH="1">
              <a:off x="6977630" y="3193772"/>
              <a:ext cx="260341" cy="15374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61552" y="2909813"/>
              <a:ext cx="847769" cy="19658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7005439" y="2496722"/>
              <a:ext cx="38686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Energy gap (minimum excitation energy)</a:t>
              </a:r>
            </a:p>
          </p:txBody>
        </p:sp>
      </p:grpSp>
      <p:pic>
        <p:nvPicPr>
          <p:cNvPr id="81" name="Picture 80"/>
          <p:cNvPicPr>
            <a:picLocks noChangeAspect="1"/>
          </p:cNvPicPr>
          <p:nvPr/>
        </p:nvPicPr>
        <p:blipFill rotWithShape="1">
          <a:blip r:embed="rId14"/>
          <a:srcRect l="10553"/>
          <a:stretch/>
        </p:blipFill>
        <p:spPr>
          <a:xfrm>
            <a:off x="1854815" y="4017744"/>
            <a:ext cx="2929529" cy="63961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C9BE32C3-14F1-4C41-972E-35676435848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7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56" name="Freeform 55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10933794" y="3067719"/>
            <a:ext cx="507006" cy="503341"/>
            <a:chOff x="10933794" y="3067719"/>
            <a:chExt cx="507006" cy="503341"/>
          </a:xfrm>
        </p:grpSpPr>
        <p:sp>
          <p:nvSpPr>
            <p:cNvPr id="61" name="Rectangle 6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4" name="Group 63"/>
          <p:cNvGrpSpPr/>
          <p:nvPr/>
        </p:nvGrpSpPr>
        <p:grpSpPr>
          <a:xfrm>
            <a:off x="10932841" y="3593019"/>
            <a:ext cx="507006" cy="503341"/>
            <a:chOff x="10933794" y="3067719"/>
            <a:chExt cx="507006" cy="503341"/>
          </a:xfrm>
        </p:grpSpPr>
        <p:sp>
          <p:nvSpPr>
            <p:cNvPr id="65" name="Rectangle 64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0400509" y="4100347"/>
            <a:ext cx="507006" cy="503341"/>
            <a:chOff x="10933794" y="3067719"/>
            <a:chExt cx="507006" cy="503341"/>
          </a:xfrm>
        </p:grpSpPr>
        <p:sp>
          <p:nvSpPr>
            <p:cNvPr id="68" name="Rectangle 67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0" name="Group 69"/>
          <p:cNvGrpSpPr/>
          <p:nvPr/>
        </p:nvGrpSpPr>
        <p:grpSpPr>
          <a:xfrm>
            <a:off x="9336191" y="3579571"/>
            <a:ext cx="507006" cy="503341"/>
            <a:chOff x="10933794" y="3067719"/>
            <a:chExt cx="507006" cy="503341"/>
          </a:xfrm>
        </p:grpSpPr>
        <p:sp>
          <p:nvSpPr>
            <p:cNvPr id="71" name="Rectangle 7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3" name="Group 72"/>
          <p:cNvGrpSpPr/>
          <p:nvPr/>
        </p:nvGrpSpPr>
        <p:grpSpPr>
          <a:xfrm>
            <a:off x="8806758" y="5125439"/>
            <a:ext cx="507006" cy="503341"/>
            <a:chOff x="10933794" y="3067719"/>
            <a:chExt cx="507006" cy="503341"/>
          </a:xfrm>
        </p:grpSpPr>
        <p:sp>
          <p:nvSpPr>
            <p:cNvPr id="74" name="Rectangle 73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cxnSp>
        <p:nvCxnSpPr>
          <p:cNvPr id="80" name="Straight Arrow Connector 79"/>
          <p:cNvCxnSpPr/>
          <p:nvPr/>
        </p:nvCxnSpPr>
        <p:spPr>
          <a:xfrm flipH="1">
            <a:off x="5088285" y="2279417"/>
            <a:ext cx="440649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28934" y="2063378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excited states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0068" y="3293343"/>
            <a:ext cx="2762746" cy="769012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2761" y="3602298"/>
            <a:ext cx="1695210" cy="300109"/>
          </a:xfrm>
          <a:prstGeom prst="rect">
            <a:avLst/>
          </a:prstGeom>
        </p:spPr>
      </p:pic>
      <p:cxnSp>
        <p:nvCxnSpPr>
          <p:cNvPr id="57" name="Straight Arrow Connector 56"/>
          <p:cNvCxnSpPr/>
          <p:nvPr/>
        </p:nvCxnSpPr>
        <p:spPr>
          <a:xfrm>
            <a:off x="4141694" y="2279417"/>
            <a:ext cx="13448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8427" y="1962194"/>
            <a:ext cx="1302381" cy="237493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 rotWithShape="1">
          <a:blip r:embed="rId10"/>
          <a:srcRect l="10553"/>
          <a:stretch/>
        </p:blipFill>
        <p:spPr>
          <a:xfrm>
            <a:off x="1854815" y="4017744"/>
            <a:ext cx="2929529" cy="6396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2890" y="5852794"/>
            <a:ext cx="3615081" cy="4802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2731" y="2470493"/>
            <a:ext cx="4293926" cy="29918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3" name="Group 22"/>
          <p:cNvGrpSpPr/>
          <p:nvPr/>
        </p:nvGrpSpPr>
        <p:grpSpPr>
          <a:xfrm>
            <a:off x="7920337" y="2063378"/>
            <a:ext cx="2302424" cy="754993"/>
            <a:chOff x="7920337" y="2063378"/>
            <a:chExt cx="2302424" cy="754993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7920337" y="2429328"/>
              <a:ext cx="505877" cy="38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218558" y="2063378"/>
              <a:ext cx="200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Lowest energy state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956675" y="4418772"/>
            <a:ext cx="1635062" cy="490189"/>
            <a:chOff x="9956675" y="4418772"/>
            <a:chExt cx="1635062" cy="490189"/>
          </a:xfrm>
        </p:grpSpPr>
        <p:sp>
          <p:nvSpPr>
            <p:cNvPr id="7" name="TextBox 6"/>
            <p:cNvSpPr txBox="1"/>
            <p:nvPr/>
          </p:nvSpPr>
          <p:spPr>
            <a:xfrm>
              <a:off x="9956675" y="4418772"/>
              <a:ext cx="11821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Randomize</a:t>
              </a:r>
            </a:p>
          </p:txBody>
        </p:sp>
        <p:sp>
          <p:nvSpPr>
            <p:cNvPr id="81" name="Right Arrow 80"/>
            <p:cNvSpPr/>
            <p:nvPr/>
          </p:nvSpPr>
          <p:spPr>
            <a:xfrm>
              <a:off x="10873138" y="4657363"/>
              <a:ext cx="718599" cy="251598"/>
            </a:xfrm>
            <a:prstGeom prst="rightArrow">
              <a:avLst/>
            </a:prstGeom>
            <a:gradFill>
              <a:gsLst>
                <a:gs pos="0">
                  <a:schemeClr val="bg1">
                    <a:alpha val="60000"/>
                  </a:schemeClr>
                </a:gs>
                <a:gs pos="74000">
                  <a:schemeClr val="bg1">
                    <a:lumMod val="75000"/>
                  </a:schemeClr>
                </a:gs>
                <a:gs pos="8300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59A8FA-53EC-4D63-8C31-86CE957E5552}"/>
              </a:ext>
            </a:extLst>
          </p:cNvPr>
          <p:cNvGrpSpPr/>
          <p:nvPr/>
        </p:nvGrpSpPr>
        <p:grpSpPr>
          <a:xfrm>
            <a:off x="505381" y="4822390"/>
            <a:ext cx="6328276" cy="1525189"/>
            <a:chOff x="505381" y="4822390"/>
            <a:chExt cx="6328276" cy="1525189"/>
          </a:xfrm>
        </p:grpSpPr>
        <p:grpSp>
          <p:nvGrpSpPr>
            <p:cNvPr id="9" name="Group 8"/>
            <p:cNvGrpSpPr/>
            <p:nvPr/>
          </p:nvGrpSpPr>
          <p:grpSpPr>
            <a:xfrm>
              <a:off x="505381" y="4915746"/>
              <a:ext cx="6113981" cy="1431833"/>
              <a:chOff x="505381" y="4915746"/>
              <a:chExt cx="6113981" cy="1431833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505381" y="4915746"/>
                <a:ext cx="6113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At each site, what is the probability to find a     or  </a:t>
                </a:r>
              </a:p>
              <a:p>
                <a:r>
                  <a:rPr lang="en-US" sz="2000" b="1" dirty="0"/>
                  <a:t>energy state:</a:t>
                </a:r>
              </a:p>
            </p:txBody>
          </p:sp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63413" y="5020412"/>
                <a:ext cx="125042" cy="203193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22695" y="5864634"/>
                <a:ext cx="2347336" cy="482945"/>
              </a:xfrm>
              <a:prstGeom prst="rect">
                <a:avLst/>
              </a:prstGeom>
            </p:spPr>
          </p:pic>
        </p:grp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E86A7E2-A04B-4B75-B916-D4DF63062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242956" y="4822390"/>
              <a:ext cx="590701" cy="590701"/>
            </a:xfrm>
            <a:prstGeom prst="rect">
              <a:avLst/>
            </a:prstGeom>
          </p:spPr>
        </p:pic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1465" y="5702990"/>
            <a:ext cx="4282717" cy="86838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46A2CD8-F870-4795-8718-9A366607CE2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8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4B76-0A5B-4199-A1FC-E2E86B0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Lagrange Multiplier and the most probable distribution.</a:t>
            </a:r>
            <a:endParaRPr lang="en-MY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B90379-F79A-40FC-9107-FBDCF992CD5C}"/>
              </a:ext>
            </a:extLst>
          </p:cNvPr>
          <p:cNvGrpSpPr/>
          <p:nvPr/>
        </p:nvGrpSpPr>
        <p:grpSpPr>
          <a:xfrm>
            <a:off x="1176528" y="3210172"/>
            <a:ext cx="4314667" cy="1013289"/>
            <a:chOff x="1176528" y="3210172"/>
            <a:chExt cx="4314667" cy="10132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40229-46B5-4E46-9A19-C4BA88DC1673}"/>
                </a:ext>
              </a:extLst>
            </p:cNvPr>
            <p:cNvSpPr/>
            <p:nvPr/>
          </p:nvSpPr>
          <p:spPr>
            <a:xfrm>
              <a:off x="179201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1E3D61-95FA-430B-886A-F7DC46FF1B4B}"/>
                </a:ext>
              </a:extLst>
            </p:cNvPr>
            <p:cNvSpPr/>
            <p:nvPr/>
          </p:nvSpPr>
          <p:spPr>
            <a:xfrm>
              <a:off x="117652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F7FDB0-BC1A-423D-9159-A21B1B9BE2D2}"/>
                </a:ext>
              </a:extLst>
            </p:cNvPr>
            <p:cNvSpPr/>
            <p:nvPr/>
          </p:nvSpPr>
          <p:spPr>
            <a:xfrm>
              <a:off x="3022986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5588FD-3A56-4FE7-A6A6-B9492BCAEE35}"/>
                </a:ext>
              </a:extLst>
            </p:cNvPr>
            <p:cNvSpPr/>
            <p:nvPr/>
          </p:nvSpPr>
          <p:spPr>
            <a:xfrm>
              <a:off x="2407500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80BC6A-2FE8-4FDC-AA2B-7321276E95A3}"/>
                </a:ext>
              </a:extLst>
            </p:cNvPr>
            <p:cNvSpPr/>
            <p:nvPr/>
          </p:nvSpPr>
          <p:spPr>
            <a:xfrm>
              <a:off x="486944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049395-444B-4372-B8FD-3B9A28A9FE22}"/>
                </a:ext>
              </a:extLst>
            </p:cNvPr>
            <p:cNvSpPr/>
            <p:nvPr/>
          </p:nvSpPr>
          <p:spPr>
            <a:xfrm>
              <a:off x="425395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265871-D734-43E0-975A-AC4E9B5D1A22}"/>
                </a:ext>
              </a:extLst>
            </p:cNvPr>
            <p:cNvSpPr txBox="1"/>
            <p:nvPr/>
          </p:nvSpPr>
          <p:spPr>
            <a:xfrm>
              <a:off x="3623050" y="3210172"/>
              <a:ext cx="64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……</a:t>
              </a:r>
              <a:endParaRPr lang="en-MY" sz="2400" b="1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E2D07A7-F221-46F4-B1E3-6524D9976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8046" y="3802142"/>
              <a:ext cx="466863" cy="39769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8B92377-FEA7-438F-B85D-B1CC10204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0758" y="3815534"/>
              <a:ext cx="466863" cy="397698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A44C600-07F6-4E0B-89BF-744E7BAD4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67636" y="3818982"/>
              <a:ext cx="466863" cy="397698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7A9D5E01-1B17-4BB8-9F78-C15C5A059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08709" y="3783746"/>
              <a:ext cx="484155" cy="397699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4D5D980-9165-4F96-BA92-79514D16F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4200" y="3825763"/>
              <a:ext cx="778105" cy="397698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FC45FF5-878A-480D-B0AC-81F7E4F2A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55167" y="3786349"/>
              <a:ext cx="536028" cy="397698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72228F-50B9-470B-BF39-47D46C6C6ABE}"/>
              </a:ext>
            </a:extLst>
          </p:cNvPr>
          <p:cNvGrpSpPr/>
          <p:nvPr/>
        </p:nvGrpSpPr>
        <p:grpSpPr>
          <a:xfrm>
            <a:off x="853425" y="2209768"/>
            <a:ext cx="2326342" cy="807766"/>
            <a:chOff x="853425" y="2209768"/>
            <a:chExt cx="2326342" cy="807766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C520C1E4-D76B-4A80-9076-F35A37B81EE8}"/>
                </a:ext>
              </a:extLst>
            </p:cNvPr>
            <p:cNvSpPr/>
            <p:nvPr/>
          </p:nvSpPr>
          <p:spPr>
            <a:xfrm rot="2557179">
              <a:off x="1704509" y="2758343"/>
              <a:ext cx="670084" cy="2591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F3F57E-BB3B-4CC2-BFC0-DC866D8AB4AC}"/>
                </a:ext>
              </a:extLst>
            </p:cNvPr>
            <p:cNvSpPr txBox="1"/>
            <p:nvPr/>
          </p:nvSpPr>
          <p:spPr>
            <a:xfrm>
              <a:off x="853425" y="2209768"/>
              <a:ext cx="2326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particles in K levels</a:t>
              </a:r>
              <a:endParaRPr lang="en-MY" dirty="0"/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064C0175-BC1F-4D33-828C-67F03B3FC3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95263" y="2810789"/>
            <a:ext cx="2710281" cy="85793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6D2BDD5-BF6F-49C2-B5C9-C372B77342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251" y="4406523"/>
            <a:ext cx="1846458" cy="47480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9513070-CF78-4DD9-9CAA-138682C4B928}"/>
              </a:ext>
            </a:extLst>
          </p:cNvPr>
          <p:cNvGrpSpPr/>
          <p:nvPr/>
        </p:nvGrpSpPr>
        <p:grpSpPr>
          <a:xfrm>
            <a:off x="6413101" y="3726496"/>
            <a:ext cx="4874604" cy="521282"/>
            <a:chOff x="7495263" y="3749788"/>
            <a:chExt cx="4874604" cy="52128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9488E6-4B43-452E-85E4-F0CE13779E67}"/>
                </a:ext>
              </a:extLst>
            </p:cNvPr>
            <p:cNvSpPr txBox="1"/>
            <p:nvPr/>
          </p:nvSpPr>
          <p:spPr>
            <a:xfrm>
              <a:off x="7495263" y="3825763"/>
              <a:ext cx="4874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What distribution of        give largest                ? </a:t>
              </a:r>
              <a:endParaRPr lang="en-MY" dirty="0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1D515F3-10D6-40AB-A542-46F4762FA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093585" y="3749788"/>
              <a:ext cx="1098415" cy="521282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583766F7-FFAC-4A2D-982E-32D76D136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13884" y="3783746"/>
              <a:ext cx="646331" cy="464032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32572F5-58A3-41B7-BF8B-4ED62A191408}"/>
              </a:ext>
            </a:extLst>
          </p:cNvPr>
          <p:cNvSpPr txBox="1"/>
          <p:nvPr/>
        </p:nvSpPr>
        <p:spPr>
          <a:xfrm>
            <a:off x="6413101" y="4296386"/>
            <a:ext cx="212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the constraint:</a:t>
            </a:r>
            <a:endParaRPr lang="en-MY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CB69D7A5-5583-4E7A-BD09-91B0E0DA2B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91981" y="4116956"/>
            <a:ext cx="1319441" cy="908187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25BC3B9-78BF-4172-BF67-44763542DD0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71681" y="4160849"/>
            <a:ext cx="1409503" cy="87886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5911D84-8CE4-49E0-BE5C-2BF95AA0568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08060" y="3409734"/>
            <a:ext cx="431401" cy="413426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7EE1695-09C9-4B8B-A1FE-E340C36EA1B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819394" y="3409731"/>
            <a:ext cx="431401" cy="41342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1C49BB5E-1D01-4595-AEC8-6DDE916170B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932881" y="3409730"/>
            <a:ext cx="507790" cy="417113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ACC0C7A3-0FD6-4814-8670-3F7A3509621D}"/>
              </a:ext>
            </a:extLst>
          </p:cNvPr>
          <p:cNvGrpSpPr/>
          <p:nvPr/>
        </p:nvGrpSpPr>
        <p:grpSpPr>
          <a:xfrm>
            <a:off x="4277900" y="4937444"/>
            <a:ext cx="2184957" cy="775025"/>
            <a:chOff x="3623050" y="4688544"/>
            <a:chExt cx="2184957" cy="775025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77A9A70-79F7-4D11-9C92-1A0A1AB519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8472" y="4992498"/>
              <a:ext cx="307743" cy="47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585773-655D-4022-987E-921CCA48E622}"/>
                </a:ext>
              </a:extLst>
            </p:cNvPr>
            <p:cNvSpPr txBox="1"/>
            <p:nvPr/>
          </p:nvSpPr>
          <p:spPr>
            <a:xfrm>
              <a:off x="3623050" y="4688544"/>
              <a:ext cx="2184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Monotonic function</a:t>
              </a:r>
              <a:endParaRPr lang="en-MY" dirty="0"/>
            </a:p>
          </p:txBody>
        </p:sp>
      </p:grpSp>
      <p:pic>
        <p:nvPicPr>
          <p:cNvPr id="63" name="Graphic 62">
            <a:extLst>
              <a:ext uri="{FF2B5EF4-FFF2-40B4-BE49-F238E27FC236}">
                <a16:creationId xmlns:a16="http://schemas.microsoft.com/office/drawing/2014/main" id="{351F1747-45A0-4D64-8FBB-9480E3814B0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481270" y="5526077"/>
            <a:ext cx="5716046" cy="765542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97EEAA8-2126-42DC-8607-B1C13640CC65}"/>
              </a:ext>
            </a:extLst>
          </p:cNvPr>
          <p:cNvGrpSpPr/>
          <p:nvPr/>
        </p:nvGrpSpPr>
        <p:grpSpPr>
          <a:xfrm>
            <a:off x="5053566" y="6028024"/>
            <a:ext cx="2243371" cy="774186"/>
            <a:chOff x="4398716" y="5779124"/>
            <a:chExt cx="2243371" cy="774186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ABB1830-5BED-43F0-A8A9-4AE77295B9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1701" y="5779124"/>
              <a:ext cx="393466" cy="493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F056C85-1003-4560-B2C1-F1B821A0C5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5779124"/>
              <a:ext cx="189186" cy="3841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2E363FF-3B8D-4A7D-8858-5AA628DBADD8}"/>
                </a:ext>
              </a:extLst>
            </p:cNvPr>
            <p:cNvSpPr txBox="1"/>
            <p:nvPr/>
          </p:nvSpPr>
          <p:spPr>
            <a:xfrm>
              <a:off x="4398716" y="6183978"/>
              <a:ext cx="2243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Lagrange multipliers</a:t>
              </a:r>
              <a:endParaRPr lang="en-MY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6F9758C-3FD3-463C-B7BE-41252FFEEFC6}"/>
              </a:ext>
            </a:extLst>
          </p:cNvPr>
          <p:cNvGrpSpPr/>
          <p:nvPr/>
        </p:nvGrpSpPr>
        <p:grpSpPr>
          <a:xfrm>
            <a:off x="1792014" y="5920669"/>
            <a:ext cx="2743636" cy="983539"/>
            <a:chOff x="1137164" y="5671769"/>
            <a:chExt cx="2743636" cy="983539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5C84864-47A7-4333-819B-BE6FEBA4E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4158" y="5671769"/>
              <a:ext cx="363333" cy="501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AD26337-7BCE-4541-B3FC-84EF902FB31A}"/>
                </a:ext>
              </a:extLst>
            </p:cNvPr>
            <p:cNvGrpSpPr/>
            <p:nvPr/>
          </p:nvGrpSpPr>
          <p:grpSpPr>
            <a:xfrm>
              <a:off x="1137164" y="6188936"/>
              <a:ext cx="2743636" cy="466372"/>
              <a:chOff x="1160302" y="6272784"/>
              <a:chExt cx="2743636" cy="466372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23E24FD-A536-4CD8-9821-D9676694CAC7}"/>
                  </a:ext>
                </a:extLst>
              </p:cNvPr>
              <p:cNvSpPr txBox="1"/>
              <p:nvPr/>
            </p:nvSpPr>
            <p:spPr>
              <a:xfrm>
                <a:off x="1160302" y="6285976"/>
                <a:ext cx="27436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Varying     independently </a:t>
                </a:r>
                <a:endParaRPr lang="en-MY" dirty="0"/>
              </a:p>
            </p:txBody>
          </p:sp>
          <p:pic>
            <p:nvPicPr>
              <p:cNvPr id="79" name="Graphic 78">
                <a:extLst>
                  <a:ext uri="{FF2B5EF4-FFF2-40B4-BE49-F238E27FC236}">
                    <a16:creationId xmlns:a16="http://schemas.microsoft.com/office/drawing/2014/main" id="{90CE68BA-2FCF-4340-9C79-A8F5B29B3B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1932017" y="6272784"/>
                <a:ext cx="506926" cy="466372"/>
              </a:xfrm>
              <a:prstGeom prst="rect">
                <a:avLst/>
              </a:prstGeom>
            </p:spPr>
          </p:pic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2491A7A-5E1F-48D4-A683-58CD4B71AE03}"/>
              </a:ext>
            </a:extLst>
          </p:cNvPr>
          <p:cNvGrpSpPr/>
          <p:nvPr/>
        </p:nvGrpSpPr>
        <p:grpSpPr>
          <a:xfrm>
            <a:off x="294585" y="5039715"/>
            <a:ext cx="3404394" cy="445189"/>
            <a:chOff x="294585" y="5039715"/>
            <a:chExt cx="3404394" cy="445189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65E9BC2-2116-4F80-846A-1905CEC7D819}"/>
                </a:ext>
              </a:extLst>
            </p:cNvPr>
            <p:cNvSpPr txBox="1"/>
            <p:nvPr/>
          </p:nvSpPr>
          <p:spPr>
            <a:xfrm>
              <a:off x="294585" y="5105583"/>
              <a:ext cx="3404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Maximize      without constraint:</a:t>
              </a:r>
              <a:endParaRPr lang="en-MY" dirty="0"/>
            </a:p>
          </p:txBody>
        </p:sp>
        <p:pic>
          <p:nvPicPr>
            <p:cNvPr id="86" name="Graphic 85">
              <a:extLst>
                <a:ext uri="{FF2B5EF4-FFF2-40B4-BE49-F238E27FC236}">
                  <a16:creationId xmlns:a16="http://schemas.microsoft.com/office/drawing/2014/main" id="{E9FCC93B-398B-4C06-99F1-2317357B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304601" y="5039715"/>
              <a:ext cx="426639" cy="445189"/>
            </a:xfrm>
            <a:prstGeom prst="rect">
              <a:avLst/>
            </a:prstGeom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112E82D7-6448-48C6-B2F3-13D5E62B10F5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2E71C3-3BFA-4408-AA7B-D12CBB5F88AB}"/>
              </a:ext>
            </a:extLst>
          </p:cNvPr>
          <p:cNvSpPr txBox="1"/>
          <p:nvPr/>
        </p:nvSpPr>
        <p:spPr>
          <a:xfrm>
            <a:off x="4293322" y="2218646"/>
            <a:ext cx="348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2 level it is easy to fix the energy </a:t>
            </a:r>
          </a:p>
        </p:txBody>
      </p:sp>
    </p:spTree>
    <p:extLst>
      <p:ext uri="{BB962C8B-B14F-4D97-AF65-F5344CB8AC3E}">
        <p14:creationId xmlns:p14="http://schemas.microsoft.com/office/powerpoint/2010/main" val="60668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4B76-0A5B-4199-A1FC-E2E86B0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Lagrange Multiplier and the most probable distribution.</a:t>
            </a:r>
            <a:endParaRPr lang="en-MY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B90379-F79A-40FC-9107-FBDCF992CD5C}"/>
              </a:ext>
            </a:extLst>
          </p:cNvPr>
          <p:cNvGrpSpPr/>
          <p:nvPr/>
        </p:nvGrpSpPr>
        <p:grpSpPr>
          <a:xfrm>
            <a:off x="1176528" y="3210172"/>
            <a:ext cx="4314667" cy="1013289"/>
            <a:chOff x="1176528" y="3210172"/>
            <a:chExt cx="4314667" cy="10132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40229-46B5-4E46-9A19-C4BA88DC1673}"/>
                </a:ext>
              </a:extLst>
            </p:cNvPr>
            <p:cNvSpPr/>
            <p:nvPr/>
          </p:nvSpPr>
          <p:spPr>
            <a:xfrm>
              <a:off x="179201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1E3D61-95FA-430B-886A-F7DC46FF1B4B}"/>
                </a:ext>
              </a:extLst>
            </p:cNvPr>
            <p:cNvSpPr/>
            <p:nvPr/>
          </p:nvSpPr>
          <p:spPr>
            <a:xfrm>
              <a:off x="117652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F7FDB0-BC1A-423D-9159-A21B1B9BE2D2}"/>
                </a:ext>
              </a:extLst>
            </p:cNvPr>
            <p:cNvSpPr/>
            <p:nvPr/>
          </p:nvSpPr>
          <p:spPr>
            <a:xfrm>
              <a:off x="3022986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5588FD-3A56-4FE7-A6A6-B9492BCAEE35}"/>
                </a:ext>
              </a:extLst>
            </p:cNvPr>
            <p:cNvSpPr/>
            <p:nvPr/>
          </p:nvSpPr>
          <p:spPr>
            <a:xfrm>
              <a:off x="2407500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80BC6A-2FE8-4FDC-AA2B-7321276E95A3}"/>
                </a:ext>
              </a:extLst>
            </p:cNvPr>
            <p:cNvSpPr/>
            <p:nvPr/>
          </p:nvSpPr>
          <p:spPr>
            <a:xfrm>
              <a:off x="486944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049395-444B-4372-B8FD-3B9A28A9FE22}"/>
                </a:ext>
              </a:extLst>
            </p:cNvPr>
            <p:cNvSpPr/>
            <p:nvPr/>
          </p:nvSpPr>
          <p:spPr>
            <a:xfrm>
              <a:off x="425395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265871-D734-43E0-975A-AC4E9B5D1A22}"/>
                </a:ext>
              </a:extLst>
            </p:cNvPr>
            <p:cNvSpPr txBox="1"/>
            <p:nvPr/>
          </p:nvSpPr>
          <p:spPr>
            <a:xfrm>
              <a:off x="3623050" y="3210172"/>
              <a:ext cx="64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……</a:t>
              </a:r>
              <a:endParaRPr lang="en-MY" sz="2400" b="1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E2D07A7-F221-46F4-B1E3-6524D9976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8046" y="3802142"/>
              <a:ext cx="466863" cy="39769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8B92377-FEA7-438F-B85D-B1CC10204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0758" y="3815534"/>
              <a:ext cx="466863" cy="397698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A44C600-07F6-4E0B-89BF-744E7BAD4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67636" y="3818982"/>
              <a:ext cx="466863" cy="397698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7A9D5E01-1B17-4BB8-9F78-C15C5A059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08709" y="3783746"/>
              <a:ext cx="484155" cy="397699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4D5D980-9165-4F96-BA92-79514D16F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4200" y="3825763"/>
              <a:ext cx="778105" cy="397698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FC45FF5-878A-480D-B0AC-81F7E4F2A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55167" y="3786349"/>
              <a:ext cx="536028" cy="397698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72228F-50B9-470B-BF39-47D46C6C6ABE}"/>
              </a:ext>
            </a:extLst>
          </p:cNvPr>
          <p:cNvGrpSpPr/>
          <p:nvPr/>
        </p:nvGrpSpPr>
        <p:grpSpPr>
          <a:xfrm>
            <a:off x="853425" y="2209768"/>
            <a:ext cx="1521168" cy="807766"/>
            <a:chOff x="853425" y="2209768"/>
            <a:chExt cx="1521168" cy="807766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C520C1E4-D76B-4A80-9076-F35A37B81EE8}"/>
                </a:ext>
              </a:extLst>
            </p:cNvPr>
            <p:cNvSpPr/>
            <p:nvPr/>
          </p:nvSpPr>
          <p:spPr>
            <a:xfrm rot="2557179">
              <a:off x="1704509" y="2758343"/>
              <a:ext cx="670084" cy="2591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F3F57E-BB3B-4CC2-BFC0-DC866D8AB4AC}"/>
                </a:ext>
              </a:extLst>
            </p:cNvPr>
            <p:cNvSpPr txBox="1"/>
            <p:nvPr/>
          </p:nvSpPr>
          <p:spPr>
            <a:xfrm>
              <a:off x="853425" y="2209768"/>
              <a:ext cx="1261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particles</a:t>
              </a:r>
              <a:endParaRPr lang="en-MY" dirty="0"/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064C0175-BC1F-4D33-828C-67F03B3FC3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95263" y="2810789"/>
            <a:ext cx="2710281" cy="85793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6D2BDD5-BF6F-49C2-B5C9-C372B77342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251" y="4406523"/>
            <a:ext cx="1846458" cy="47480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9513070-CF78-4DD9-9CAA-138682C4B928}"/>
              </a:ext>
            </a:extLst>
          </p:cNvPr>
          <p:cNvGrpSpPr/>
          <p:nvPr/>
        </p:nvGrpSpPr>
        <p:grpSpPr>
          <a:xfrm>
            <a:off x="6413101" y="3726496"/>
            <a:ext cx="4874604" cy="521282"/>
            <a:chOff x="7495263" y="3749788"/>
            <a:chExt cx="4874604" cy="52128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9488E6-4B43-452E-85E4-F0CE13779E67}"/>
                </a:ext>
              </a:extLst>
            </p:cNvPr>
            <p:cNvSpPr txBox="1"/>
            <p:nvPr/>
          </p:nvSpPr>
          <p:spPr>
            <a:xfrm>
              <a:off x="7495263" y="3825763"/>
              <a:ext cx="4874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What distribution of        give largest                ? </a:t>
              </a:r>
              <a:endParaRPr lang="en-MY" dirty="0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1D515F3-10D6-40AB-A542-46F4762FA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093585" y="3749788"/>
              <a:ext cx="1098415" cy="521282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583766F7-FFAC-4A2D-982E-32D76D136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13884" y="3783746"/>
              <a:ext cx="646331" cy="464032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32572F5-58A3-41B7-BF8B-4ED62A191408}"/>
              </a:ext>
            </a:extLst>
          </p:cNvPr>
          <p:cNvSpPr txBox="1"/>
          <p:nvPr/>
        </p:nvSpPr>
        <p:spPr>
          <a:xfrm>
            <a:off x="6413101" y="4296386"/>
            <a:ext cx="212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the constraint:</a:t>
            </a:r>
            <a:endParaRPr lang="en-MY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CB69D7A5-5583-4E7A-BD09-91B0E0DA2B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91981" y="4116956"/>
            <a:ext cx="1319441" cy="908187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25BC3B9-78BF-4172-BF67-44763542DD0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71681" y="4160849"/>
            <a:ext cx="1409503" cy="87886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5911D84-8CE4-49E0-BE5C-2BF95AA0568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08060" y="3409734"/>
            <a:ext cx="431401" cy="413426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7EE1695-09C9-4B8B-A1FE-E340C36EA1B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819394" y="3409731"/>
            <a:ext cx="431401" cy="41342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1C49BB5E-1D01-4595-AEC8-6DDE916170B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932881" y="3409730"/>
            <a:ext cx="507790" cy="417113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EE158959-2BD0-4150-AB4C-6E44926169F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623050" y="5129226"/>
            <a:ext cx="3233552" cy="77246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C839F68-8A20-49D0-BF0C-A702DF560A2B}"/>
              </a:ext>
            </a:extLst>
          </p:cNvPr>
          <p:cNvGrpSpPr/>
          <p:nvPr/>
        </p:nvGrpSpPr>
        <p:grpSpPr>
          <a:xfrm>
            <a:off x="5884164" y="4828644"/>
            <a:ext cx="4387517" cy="1151742"/>
            <a:chOff x="5884164" y="4828644"/>
            <a:chExt cx="4387517" cy="115174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E434930-0CFB-4362-8F57-27304259427A}"/>
                </a:ext>
              </a:extLst>
            </p:cNvPr>
            <p:cNvGrpSpPr/>
            <p:nvPr/>
          </p:nvGrpSpPr>
          <p:grpSpPr>
            <a:xfrm>
              <a:off x="5884164" y="4828644"/>
              <a:ext cx="4387517" cy="1151742"/>
              <a:chOff x="5884164" y="4828644"/>
              <a:chExt cx="4387517" cy="1151742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3FDF3B7-83A2-4373-95F2-08AFAEFCC7DE}"/>
                  </a:ext>
                </a:extLst>
              </p:cNvPr>
              <p:cNvCxnSpPr/>
              <p:nvPr/>
            </p:nvCxnSpPr>
            <p:spPr>
              <a:xfrm flipV="1">
                <a:off x="5884164" y="4881326"/>
                <a:ext cx="2807817" cy="10990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EB44612B-D6D8-455C-B657-B64701FD0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80965" y="4828644"/>
                <a:ext cx="4290716" cy="11367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503708-0BFA-47D6-BC54-8420E0F50DC9}"/>
                </a:ext>
              </a:extLst>
            </p:cNvPr>
            <p:cNvSpPr txBox="1"/>
            <p:nvPr/>
          </p:nvSpPr>
          <p:spPr>
            <a:xfrm rot="20700482">
              <a:off x="7164408" y="5410652"/>
              <a:ext cx="2560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Solve for the multipliers</a:t>
              </a:r>
              <a:endParaRPr lang="en-MY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28A6DD-B7C6-43F5-9327-BF631A0B8798}"/>
              </a:ext>
            </a:extLst>
          </p:cNvPr>
          <p:cNvGrpSpPr/>
          <p:nvPr/>
        </p:nvGrpSpPr>
        <p:grpSpPr>
          <a:xfrm>
            <a:off x="3977479" y="5885564"/>
            <a:ext cx="3027432" cy="830667"/>
            <a:chOff x="3977479" y="5885564"/>
            <a:chExt cx="3027432" cy="830667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35C1510-885B-47A4-AE29-8F39C7CDB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4373409" y="5885564"/>
              <a:ext cx="1607556" cy="582739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17AE58D-19E3-4C6D-BC6E-9FD2FF716DC6}"/>
                </a:ext>
              </a:extLst>
            </p:cNvPr>
            <p:cNvSpPr txBox="1"/>
            <p:nvPr/>
          </p:nvSpPr>
          <p:spPr>
            <a:xfrm>
              <a:off x="3977479" y="6346899"/>
              <a:ext cx="3027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(Most probable distribution)</a:t>
              </a:r>
              <a:endParaRPr lang="en-MY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6DD4696-0FBA-4555-8B73-022DB3D32539}"/>
              </a:ext>
            </a:extLst>
          </p:cNvPr>
          <p:cNvSpPr txBox="1"/>
          <p:nvPr/>
        </p:nvSpPr>
        <p:spPr>
          <a:xfrm>
            <a:off x="8439399" y="6309310"/>
            <a:ext cx="3538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may want this technique later.</a:t>
            </a:r>
            <a:endParaRPr lang="en-MY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9542317-54B5-4359-9EC9-661B88E1445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770185" y="4076835"/>
            <a:ext cx="9806247" cy="1478755"/>
            <a:chOff x="1770185" y="4076835"/>
            <a:chExt cx="9806247" cy="1478755"/>
          </a:xfrm>
        </p:grpSpPr>
        <p:grpSp>
          <p:nvGrpSpPr>
            <p:cNvPr id="3" name="Group 2"/>
            <p:cNvGrpSpPr/>
            <p:nvPr/>
          </p:nvGrpSpPr>
          <p:grpSpPr>
            <a:xfrm>
              <a:off x="1770185" y="4076835"/>
              <a:ext cx="8760792" cy="1157501"/>
              <a:chOff x="1770185" y="4076835"/>
              <a:chExt cx="8760792" cy="1157501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70185" y="4076835"/>
                <a:ext cx="3727033" cy="1157501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5649704" y="4525079"/>
                <a:ext cx="48812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Hypersurface of a 3N-dimensial sphere with radius</a:t>
                </a:r>
              </a:p>
            </p:txBody>
          </p:sp>
        </p:grp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43047" y="4911999"/>
              <a:ext cx="2133385" cy="643591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1171965" y="5295871"/>
            <a:ext cx="6002925" cy="1173893"/>
            <a:chOff x="1171965" y="5295871"/>
            <a:chExt cx="6002925" cy="1173893"/>
          </a:xfrm>
        </p:grpSpPr>
        <p:grpSp>
          <p:nvGrpSpPr>
            <p:cNvPr id="5" name="Group 4"/>
            <p:cNvGrpSpPr/>
            <p:nvPr/>
          </p:nvGrpSpPr>
          <p:grpSpPr>
            <a:xfrm>
              <a:off x="1171965" y="5295871"/>
              <a:ext cx="6002925" cy="1173893"/>
              <a:chOff x="1171965" y="5295871"/>
              <a:chExt cx="6002925" cy="1173893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171965" y="5295871"/>
                <a:ext cx="6002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Similar to 3D, we write the differential volume using solid angle:</a:t>
                </a:r>
              </a:p>
            </p:txBody>
          </p:sp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617408" y="5645918"/>
                <a:ext cx="1614064" cy="823846"/>
              </a:xfrm>
              <a:prstGeom prst="rect">
                <a:avLst/>
              </a:prstGeom>
            </p:spPr>
          </p:pic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4838330" y="5745890"/>
              <a:ext cx="2171893" cy="477159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E96ACAA9-C499-43A7-A9F4-A98529917D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6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0185" y="4076835"/>
            <a:ext cx="3727033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49704" y="4525079"/>
            <a:ext cx="4881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Hypersurface of a 3N-dimensial sphere with radius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3047" y="4911999"/>
            <a:ext cx="2133385" cy="6435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/>
          <a:srcRect b="49463"/>
          <a:stretch/>
        </p:blipFill>
        <p:spPr>
          <a:xfrm>
            <a:off x="6858000" y="5036948"/>
            <a:ext cx="2758083" cy="6522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701849" y="5235902"/>
            <a:ext cx="3568385" cy="8496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831130" y="6096014"/>
            <a:ext cx="3439105" cy="70381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413C706-76BB-4BF9-A3F2-7A34F167DC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29209" y="5647670"/>
            <a:ext cx="1804345" cy="4920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B802C8-782C-49B2-923F-B374D49844BA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4026" b="14026"/>
          <a:stretch/>
        </p:blipFill>
        <p:spPr>
          <a:xfrm>
            <a:off x="6857999" y="6111842"/>
            <a:ext cx="2758083" cy="6435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6511A9-51C3-47F8-AA9C-BC18390517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04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2084831"/>
            <a:ext cx="3169443" cy="807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18738" y="2320606"/>
            <a:ext cx="1796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Gaussian integral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24128" y="2892143"/>
            <a:ext cx="3246415" cy="1288281"/>
            <a:chOff x="1024128" y="2892143"/>
            <a:chExt cx="3246415" cy="12882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555" y="3166395"/>
              <a:ext cx="3146988" cy="1014029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24128" y="2892143"/>
              <a:ext cx="18614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the other hand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125416" y="4156115"/>
            <a:ext cx="6010821" cy="1051548"/>
            <a:chOff x="1125416" y="4156115"/>
            <a:chExt cx="6010821" cy="1051548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47336" y="4539560"/>
              <a:ext cx="1427970" cy="507723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125416" y="4557181"/>
              <a:ext cx="6859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Let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78521" y="4518563"/>
              <a:ext cx="686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and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870" b="870"/>
            <a:stretch/>
          </p:blipFill>
          <p:spPr>
            <a:xfrm>
              <a:off x="4369970" y="4156115"/>
              <a:ext cx="2766267" cy="1051548"/>
            </a:xfrm>
            <a:prstGeom prst="rect">
              <a:avLst/>
            </a:prstGeom>
          </p:spPr>
        </p:pic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22773" y="5189285"/>
            <a:ext cx="5813463" cy="9369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149700" y="3429000"/>
            <a:ext cx="2766267" cy="114698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4DD0104-9FE7-4F03-A929-CF86716123F6}"/>
              </a:ext>
            </a:extLst>
          </p:cNvPr>
          <p:cNvGrpSpPr/>
          <p:nvPr/>
        </p:nvGrpSpPr>
        <p:grpSpPr>
          <a:xfrm>
            <a:off x="2495608" y="5896303"/>
            <a:ext cx="2947808" cy="987182"/>
            <a:chOff x="2495608" y="5896303"/>
            <a:chExt cx="2947808" cy="98718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74185A-F3B8-449B-8EBC-DD85349D903A}"/>
                </a:ext>
              </a:extLst>
            </p:cNvPr>
            <p:cNvSpPr txBox="1"/>
            <p:nvPr/>
          </p:nvSpPr>
          <p:spPr>
            <a:xfrm>
              <a:off x="2495608" y="6421820"/>
              <a:ext cx="29478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(Gamma function)</a:t>
              </a:r>
              <a:endParaRPr lang="en-MY" sz="2400" b="1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862DE7C-2D4D-4A5C-9ED8-A46D821169D0}"/>
                </a:ext>
              </a:extLst>
            </p:cNvPr>
            <p:cNvCxnSpPr/>
            <p:nvPr/>
          </p:nvCxnSpPr>
          <p:spPr>
            <a:xfrm flipH="1" flipV="1">
              <a:off x="2974428" y="5896303"/>
              <a:ext cx="599089" cy="5255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E5EE5D87-71C5-4A72-922A-27CAC1535A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7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72066"/>
          <a:stretch/>
        </p:blipFill>
        <p:spPr>
          <a:xfrm>
            <a:off x="1770186" y="4076835"/>
            <a:ext cx="1041102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811288" y="3950234"/>
            <a:ext cx="3833197" cy="7844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98781" y="3687545"/>
            <a:ext cx="2114202" cy="8766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1"/>
          <a:srcRect l="65951" t="-13914" b="-1"/>
          <a:stretch/>
        </p:blipFill>
        <p:spPr>
          <a:xfrm>
            <a:off x="5701553" y="4012987"/>
            <a:ext cx="1129218" cy="62507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8" name="Group 7"/>
          <p:cNvGrpSpPr/>
          <p:nvPr/>
        </p:nvGrpSpPr>
        <p:grpSpPr>
          <a:xfrm>
            <a:off x="148462" y="4835770"/>
            <a:ext cx="8151476" cy="1460499"/>
            <a:chOff x="148462" y="4835770"/>
            <a:chExt cx="8151476" cy="146049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11288" y="4835770"/>
              <a:ext cx="5488650" cy="1460499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488488" y="5008605"/>
              <a:ext cx="921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Entropy:</a:t>
              </a: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8462" y="5128331"/>
              <a:ext cx="1199177" cy="212009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6262" y="5978397"/>
            <a:ext cx="926122" cy="54023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18708" y="6139483"/>
            <a:ext cx="1950489" cy="26338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418708" y="5540709"/>
            <a:ext cx="2714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equipartition </a:t>
            </a:r>
            <a:r>
              <a:rPr lang="en-US" b="1" dirty="0">
                <a:solidFill>
                  <a:srgbClr val="FF0000"/>
                </a:solidFill>
              </a:rPr>
              <a:t>of energy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5E0FBC-46A5-4CF2-8ED8-4439FDF81D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9CE233-C976-4464-8C77-2C85A284550C}"/>
              </a:ext>
            </a:extLst>
          </p:cNvPr>
          <p:cNvSpPr txBox="1"/>
          <p:nvPr/>
        </p:nvSpPr>
        <p:spPr>
          <a:xfrm>
            <a:off x="8312600" y="4976859"/>
            <a:ext cx="2194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(assume N is large)</a:t>
            </a:r>
          </a:p>
        </p:txBody>
      </p:sp>
    </p:spTree>
    <p:extLst>
      <p:ext uri="{BB962C8B-B14F-4D97-AF65-F5344CB8AC3E}">
        <p14:creationId xmlns:p14="http://schemas.microsoft.com/office/powerpoint/2010/main" val="176745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72066"/>
          <a:stretch/>
        </p:blipFill>
        <p:spPr>
          <a:xfrm>
            <a:off x="1770186" y="4076835"/>
            <a:ext cx="1041102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 r="81715"/>
          <a:stretch/>
        </p:blipFill>
        <p:spPr>
          <a:xfrm>
            <a:off x="2811288" y="4835770"/>
            <a:ext cx="1003596" cy="14604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7"/>
          <a:srcRect l="18156" t="50000" r="34300"/>
          <a:stretch/>
        </p:blipFill>
        <p:spPr>
          <a:xfrm>
            <a:off x="3911208" y="4835770"/>
            <a:ext cx="2609486" cy="73024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593029" y="2877819"/>
            <a:ext cx="3151171" cy="998882"/>
            <a:chOff x="7593029" y="2877819"/>
            <a:chExt cx="3151171" cy="99888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71265" y="3336463"/>
              <a:ext cx="926122" cy="54023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793711" y="3497549"/>
              <a:ext cx="1950489" cy="263387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7593029" y="2877819"/>
              <a:ext cx="16372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Internal energy</a:t>
              </a:r>
              <a:endParaRPr lang="en-US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669571" y="3986048"/>
            <a:ext cx="2271598" cy="862980"/>
            <a:chOff x="7669571" y="3986048"/>
            <a:chExt cx="2271598" cy="862980"/>
          </a:xfrm>
        </p:grpSpPr>
        <p:sp>
          <p:nvSpPr>
            <p:cNvPr id="22" name="Rectangle 21"/>
            <p:cNvSpPr/>
            <p:nvPr/>
          </p:nvSpPr>
          <p:spPr>
            <a:xfrm>
              <a:off x="7669571" y="3986048"/>
              <a:ext cx="14797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Heat capacity</a:t>
              </a:r>
              <a:endParaRPr lang="en-US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780927" y="4400676"/>
              <a:ext cx="2160242" cy="448352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7680234" y="4865004"/>
            <a:ext cx="4455967" cy="954003"/>
            <a:chOff x="7680234" y="4865004"/>
            <a:chExt cx="4455967" cy="954003"/>
          </a:xfrm>
        </p:grpSpPr>
        <p:sp>
          <p:nvSpPr>
            <p:cNvPr id="23" name="Rectangle 22"/>
            <p:cNvSpPr/>
            <p:nvPr/>
          </p:nvSpPr>
          <p:spPr>
            <a:xfrm>
              <a:off x="7680234" y="4865004"/>
              <a:ext cx="14867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Ideal gas law</a:t>
              </a:r>
              <a:endParaRPr lang="en-US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91957" y="5250312"/>
              <a:ext cx="4444244" cy="568695"/>
            </a:xfrm>
            <a:prstGeom prst="rect">
              <a:avLst/>
            </a:prstGeom>
          </p:spPr>
        </p:pic>
      </p:grpSp>
      <p:sp>
        <p:nvSpPr>
          <p:cNvPr id="25" name="Rectangle 24"/>
          <p:cNvSpPr/>
          <p:nvPr/>
        </p:nvSpPr>
        <p:spPr>
          <a:xfrm>
            <a:off x="7662517" y="5834983"/>
            <a:ext cx="3462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Maxwell–Boltzmann distribution ?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8234328" y="4900173"/>
            <a:ext cx="3497998" cy="588595"/>
            <a:chOff x="8234328" y="4900173"/>
            <a:chExt cx="3497998" cy="588595"/>
          </a:xfrm>
        </p:grpSpPr>
        <p:sp>
          <p:nvSpPr>
            <p:cNvPr id="26" name="TextBox 25"/>
            <p:cNvSpPr txBox="1"/>
            <p:nvPr/>
          </p:nvSpPr>
          <p:spPr>
            <a:xfrm>
              <a:off x="9206826" y="4900173"/>
              <a:ext cx="2525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From the proof of 1</a:t>
              </a:r>
              <a:r>
                <a:rPr lang="en-US" baseline="30000" dirty="0"/>
                <a:t>st</a:t>
              </a:r>
              <a:r>
                <a:rPr lang="en-US" dirty="0"/>
                <a:t> Law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flipH="1">
              <a:off x="8234328" y="5199167"/>
              <a:ext cx="932660" cy="2896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09F33E59-428C-44C5-99D2-AB7168EFEE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505FD7E-BA7C-4C67-AEDF-89A88D4FF328}"/>
              </a:ext>
            </a:extLst>
          </p:cNvPr>
          <p:cNvGrpSpPr/>
          <p:nvPr/>
        </p:nvGrpSpPr>
        <p:grpSpPr>
          <a:xfrm>
            <a:off x="2811288" y="3950234"/>
            <a:ext cx="4019483" cy="784468"/>
            <a:chOff x="2811288" y="3950234"/>
            <a:chExt cx="4019483" cy="784468"/>
          </a:xfrm>
        </p:grpSpPr>
        <p:pic>
          <p:nvPicPr>
            <p:cNvPr id="31" name="Picture 10">
              <a:extLst>
                <a:ext uri="{FF2B5EF4-FFF2-40B4-BE49-F238E27FC236}">
                  <a16:creationId xmlns:a16="http://schemas.microsoft.com/office/drawing/2014/main" id="{C78651AF-9CEA-40D3-AE08-14324937D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2811288" y="3950234"/>
              <a:ext cx="3833197" cy="78446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0BBB03B-1AD5-489E-96BB-5D03232201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65951" t="-13914" b="-1"/>
            <a:stretch/>
          </p:blipFill>
          <p:spPr>
            <a:xfrm>
              <a:off x="5701553" y="4012987"/>
              <a:ext cx="1129218" cy="625070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244971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072" y="4025530"/>
            <a:ext cx="3601236" cy="5958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/>
          <a:srcRect r="72066"/>
          <a:stretch/>
        </p:blipFill>
        <p:spPr>
          <a:xfrm>
            <a:off x="1770186" y="4076835"/>
            <a:ext cx="1041102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69591" y="5948240"/>
            <a:ext cx="3790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Maxwell–Boltzmann distribution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6767" y="5032051"/>
            <a:ext cx="3177397" cy="1230682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37651" y="4630321"/>
            <a:ext cx="5157949" cy="369332"/>
            <a:chOff x="437651" y="4630321"/>
            <a:chExt cx="5157949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437651" y="4630321"/>
              <a:ext cx="5016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Probability of getting a particle with momentum      :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9229" y="4654022"/>
              <a:ext cx="256371" cy="264140"/>
            </a:xfrm>
            <a:prstGeom prst="rect">
              <a:avLst/>
            </a:prstGeom>
          </p:spPr>
        </p:pic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6749" y="6194281"/>
            <a:ext cx="4225682" cy="66372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7318131" y="4172767"/>
            <a:ext cx="4152086" cy="1898195"/>
            <a:chOff x="7318131" y="4172767"/>
            <a:chExt cx="4152086" cy="189819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18131" y="4172767"/>
              <a:ext cx="3987769" cy="234202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741775" y="5310556"/>
              <a:ext cx="3728442" cy="760406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2424" y="6457972"/>
            <a:ext cx="4127500" cy="317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7D617D-474F-4DF5-BAE8-D57E3264A1F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7848" y="4535038"/>
            <a:ext cx="1948514" cy="5416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C164BA-A471-44ED-AB1C-564356E6A2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7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487" y="3859954"/>
            <a:ext cx="3917887" cy="6396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050" y="2858518"/>
            <a:ext cx="1721875" cy="3635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866" y="2569788"/>
            <a:ext cx="5416508" cy="95225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3676" y="2412445"/>
            <a:ext cx="4288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Microcanonical</a:t>
            </a:r>
            <a:r>
              <a:rPr lang="en-US" sz="2400" b="1" dirty="0"/>
              <a:t> ensemble: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483676" y="4615724"/>
            <a:ext cx="6124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Study cases: 2 level system and Ideal gas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EF2C26-1417-4628-B708-83A132A73AF0}"/>
              </a:ext>
            </a:extLst>
          </p:cNvPr>
          <p:cNvGrpSpPr/>
          <p:nvPr/>
        </p:nvGrpSpPr>
        <p:grpSpPr>
          <a:xfrm>
            <a:off x="764411" y="5575920"/>
            <a:ext cx="11041549" cy="1182706"/>
            <a:chOff x="575225" y="5593289"/>
            <a:chExt cx="11041549" cy="1182706"/>
          </a:xfrm>
        </p:grpSpPr>
        <p:sp>
          <p:nvSpPr>
            <p:cNvPr id="4" name="TextBox 3"/>
            <p:cNvSpPr txBox="1"/>
            <p:nvPr/>
          </p:nvSpPr>
          <p:spPr>
            <a:xfrm>
              <a:off x="575225" y="5593289"/>
              <a:ext cx="110415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All the thermodynamic phenomena can be understand as statistical (thermal) fluctuation.</a:t>
              </a:r>
            </a:p>
            <a:p>
              <a:endParaRPr lang="en-US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The energy fluctuation of each particles is                                 </a:t>
              </a: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B7FA38D-0C85-436C-9A57-E262914CE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20292" y="6100931"/>
              <a:ext cx="1725163" cy="675064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43AC8C8-27FB-4815-B0D6-A10A4F4F0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50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58" y="2119174"/>
            <a:ext cx="1274918" cy="261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6327" y="1980440"/>
            <a:ext cx="5734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Isolated                  system with total energy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92" y="2098887"/>
            <a:ext cx="311658" cy="28857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BD96C4E-820E-455F-AA2D-4E72E0060C4E}"/>
              </a:ext>
            </a:extLst>
          </p:cNvPr>
          <p:cNvGrpSpPr/>
          <p:nvPr/>
        </p:nvGrpSpPr>
        <p:grpSpPr>
          <a:xfrm>
            <a:off x="3554793" y="2713336"/>
            <a:ext cx="8231315" cy="688232"/>
            <a:chOff x="3554793" y="2713336"/>
            <a:chExt cx="8231315" cy="688232"/>
          </a:xfrm>
        </p:grpSpPr>
        <p:sp>
          <p:nvSpPr>
            <p:cNvPr id="15" name="TextBox 14"/>
            <p:cNvSpPr txBox="1"/>
            <p:nvPr/>
          </p:nvSpPr>
          <p:spPr>
            <a:xfrm>
              <a:off x="3554793" y="2779483"/>
              <a:ext cx="3679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number of microstates: 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688" y="2713336"/>
              <a:ext cx="4215420" cy="688232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182F12-1F0E-44AC-AF83-8D718565D41D}"/>
              </a:ext>
            </a:extLst>
          </p:cNvPr>
          <p:cNvGrpSpPr/>
          <p:nvPr/>
        </p:nvGrpSpPr>
        <p:grpSpPr>
          <a:xfrm>
            <a:off x="3869628" y="3514726"/>
            <a:ext cx="7649737" cy="1556209"/>
            <a:chOff x="3869628" y="3514726"/>
            <a:chExt cx="7649737" cy="1556209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0041" y="4407408"/>
              <a:ext cx="1721875" cy="36350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02857" y="4118678"/>
              <a:ext cx="5416508" cy="952257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869628" y="3514726"/>
              <a:ext cx="74395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The very 1</a:t>
              </a:r>
              <a:r>
                <a:rPr lang="en-US" sz="2400" b="1" baseline="30000" dirty="0"/>
                <a:t>st</a:t>
              </a:r>
              <a:r>
                <a:rPr lang="en-US" sz="2400" b="1" dirty="0"/>
                <a:t> statistical model: microcanonical ensemble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E7725B-7F1F-45F7-85AC-4B2E925C37A0}"/>
              </a:ext>
            </a:extLst>
          </p:cNvPr>
          <p:cNvGrpSpPr/>
          <p:nvPr/>
        </p:nvGrpSpPr>
        <p:grpSpPr>
          <a:xfrm>
            <a:off x="7234583" y="4980711"/>
            <a:ext cx="4551524" cy="794191"/>
            <a:chOff x="7234583" y="4980711"/>
            <a:chExt cx="4551524" cy="794191"/>
          </a:xfrm>
        </p:grpSpPr>
        <p:cxnSp>
          <p:nvCxnSpPr>
            <p:cNvPr id="23" name="Straight Arrow Connector 22"/>
            <p:cNvCxnSpPr/>
            <p:nvPr/>
          </p:nvCxnSpPr>
          <p:spPr>
            <a:xfrm flipH="1" flipV="1">
              <a:off x="8195405" y="4980711"/>
              <a:ext cx="436531" cy="378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234583" y="5313237"/>
              <a:ext cx="45515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Function of total energy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5ECD2A-23FA-4EF5-9997-2EBFA811F9DC}"/>
              </a:ext>
            </a:extLst>
          </p:cNvPr>
          <p:cNvGrpSpPr/>
          <p:nvPr/>
        </p:nvGrpSpPr>
        <p:grpSpPr>
          <a:xfrm>
            <a:off x="1719072" y="2580196"/>
            <a:ext cx="1502791" cy="1978309"/>
            <a:chOff x="1719072" y="2580196"/>
            <a:chExt cx="1502791" cy="1978309"/>
          </a:xfrm>
        </p:grpSpPr>
        <p:sp>
          <p:nvSpPr>
            <p:cNvPr id="5" name="Rectangle 4"/>
            <p:cNvSpPr/>
            <p:nvPr/>
          </p:nvSpPr>
          <p:spPr>
            <a:xfrm>
              <a:off x="1719072" y="2580196"/>
              <a:ext cx="1499616" cy="15894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70012" y="3737109"/>
              <a:ext cx="699929" cy="31582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4524" y="2866030"/>
              <a:ext cx="311658" cy="2885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E1A41A-F677-4693-A84A-7339F417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4524" y="4286442"/>
              <a:ext cx="1327339" cy="27206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1AC77AA-569F-4E87-A018-B6795F1EAF37}"/>
              </a:ext>
            </a:extLst>
          </p:cNvPr>
          <p:cNvGrpSpPr/>
          <p:nvPr/>
        </p:nvGrpSpPr>
        <p:grpSpPr>
          <a:xfrm>
            <a:off x="386613" y="3010316"/>
            <a:ext cx="1507911" cy="551087"/>
            <a:chOff x="386613" y="3010316"/>
            <a:chExt cx="1507911" cy="551087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1445058" y="3010316"/>
              <a:ext cx="449466" cy="144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6613" y="3099738"/>
              <a:ext cx="13129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Conserve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1CF531-C471-42B2-8E8B-59B175944690}"/>
              </a:ext>
            </a:extLst>
          </p:cNvPr>
          <p:cNvGrpSpPr/>
          <p:nvPr/>
        </p:nvGrpSpPr>
        <p:grpSpPr>
          <a:xfrm>
            <a:off x="7771365" y="1950410"/>
            <a:ext cx="3191809" cy="851531"/>
            <a:chOff x="7771365" y="1950410"/>
            <a:chExt cx="3191809" cy="85153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35402-BE6C-4E3B-9B23-510DF8FAB9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25394" b="-2980"/>
            <a:stretch/>
          </p:blipFill>
          <p:spPr>
            <a:xfrm>
              <a:off x="7771365" y="1950410"/>
              <a:ext cx="1284610" cy="374335"/>
            </a:xfrm>
            <a:prstGeom prst="rect">
              <a:avLst/>
            </a:prstGeom>
          </p:spPr>
        </p:pic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DB4723C3-7F0A-4119-9707-C2A82BD0CC0C}"/>
                </a:ext>
              </a:extLst>
            </p:cNvPr>
            <p:cNvSpPr/>
            <p:nvPr/>
          </p:nvSpPr>
          <p:spPr>
            <a:xfrm rot="16200000">
              <a:off x="9901968" y="1740735"/>
              <a:ext cx="328903" cy="179350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9665" y="1708925"/>
            <a:ext cx="2642767" cy="8204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D3F287-D13D-4C04-921A-D3AEE0DDD59F}"/>
              </a:ext>
            </a:extLst>
          </p:cNvPr>
          <p:cNvSpPr txBox="1"/>
          <p:nvPr/>
        </p:nvSpPr>
        <p:spPr>
          <a:xfrm>
            <a:off x="7750219" y="2264432"/>
            <a:ext cx="143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 Unique</a:t>
            </a:r>
            <a:endParaRPr lang="en-MY" b="1" dirty="0">
              <a:solidFill>
                <a:srgbClr val="FF0000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838853-F136-458C-89C1-4AA0F3C054FE}"/>
              </a:ext>
            </a:extLst>
          </p:cNvPr>
          <p:cNvGrpSpPr/>
          <p:nvPr/>
        </p:nvGrpSpPr>
        <p:grpSpPr>
          <a:xfrm>
            <a:off x="63448" y="4735207"/>
            <a:ext cx="10002971" cy="2081951"/>
            <a:chOff x="63448" y="4735207"/>
            <a:chExt cx="10002971" cy="2081951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38FB8C9-DF73-482D-88DF-774D43218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60989" y="6168799"/>
              <a:ext cx="2871304" cy="648359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63448" y="4735207"/>
              <a:ext cx="32721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Up to an unimportant constant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22B7809-5444-410D-A455-3D6D0C328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6613" y="5032691"/>
              <a:ext cx="2286637" cy="1652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612308D-77EB-419B-B6A0-86E84FF8A00E}"/>
                </a:ext>
              </a:extLst>
            </p:cNvPr>
            <p:cNvSpPr txBox="1"/>
            <p:nvPr/>
          </p:nvSpPr>
          <p:spPr>
            <a:xfrm>
              <a:off x="5850999" y="5849506"/>
              <a:ext cx="42154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 Kerson Huang, Statistical Mechanics, Wiley (1991)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41E0A48-A768-471A-9265-8A9F86800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44992" y="5329975"/>
              <a:ext cx="2002815" cy="918939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F54D315-9ED3-40FD-B5F3-97B49B5E6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88745" y="4927586"/>
              <a:ext cx="2116818" cy="557516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DB08821-B093-4FD1-AB03-49693D651FC9}"/>
              </a:ext>
            </a:extLst>
          </p:cNvPr>
          <p:cNvSpPr txBox="1"/>
          <p:nvPr/>
        </p:nvSpPr>
        <p:spPr>
          <a:xfrm>
            <a:off x="8374309" y="6466294"/>
            <a:ext cx="3934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laws of thermodynamic?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EB83E0C-5DA0-44F7-BFB1-6A9732D138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1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l="18156" t="50000" r="34300"/>
          <a:stretch/>
        </p:blipFill>
        <p:spPr>
          <a:xfrm>
            <a:off x="1483496" y="2063913"/>
            <a:ext cx="3537015" cy="98981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4A4A075-9730-4CC7-9349-A7AEC6672ADD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C397C2-54B1-4097-AF0D-EFA84AAA95D0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BE1E7A-B36B-4F50-B329-F677C1C603BF}"/>
              </a:ext>
            </a:extLst>
          </p:cNvPr>
          <p:cNvSpPr/>
          <p:nvPr/>
        </p:nvSpPr>
        <p:spPr>
          <a:xfrm>
            <a:off x="9252406" y="977001"/>
            <a:ext cx="114556" cy="1331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F03EE0-846F-4397-BC7F-3340037EFD21}"/>
              </a:ext>
            </a:extLst>
          </p:cNvPr>
          <p:cNvGrpSpPr/>
          <p:nvPr/>
        </p:nvGrpSpPr>
        <p:grpSpPr>
          <a:xfrm>
            <a:off x="8283459" y="1049189"/>
            <a:ext cx="2494446" cy="1213259"/>
            <a:chOff x="8283459" y="818361"/>
            <a:chExt cx="2494446" cy="1213259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3459" y="1719453"/>
              <a:ext cx="907238" cy="312167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74077" y="1692452"/>
              <a:ext cx="903828" cy="307686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3529" y="818361"/>
              <a:ext cx="273765" cy="263236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898" y="818361"/>
              <a:ext cx="273765" cy="263236"/>
            </a:xfrm>
            <a:prstGeom prst="rect">
              <a:avLst/>
            </a:prstGeom>
          </p:spPr>
        </p:pic>
      </p:grpSp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79" y="2074131"/>
            <a:ext cx="1359917" cy="77463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7"/>
          <a:srcRect l="15209" t="-4159" r="46570" b="-15692"/>
          <a:stretch/>
        </p:blipFill>
        <p:spPr>
          <a:xfrm>
            <a:off x="2451769" y="5709188"/>
            <a:ext cx="1805819" cy="33255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572" y="5545023"/>
            <a:ext cx="2120787" cy="50368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740" y="4764752"/>
            <a:ext cx="3289290" cy="2753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C6E593E-3358-4201-91A6-2D8E4868C34A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42" name="TextBox 41"/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1F1C83-E878-4472-9A15-C0ABBA257030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45" name="TextBox 44"/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021F5C8-1251-4CB2-ACA3-2CADDAA348CF}"/>
              </a:ext>
            </a:extLst>
          </p:cNvPr>
          <p:cNvGrpSpPr/>
          <p:nvPr/>
        </p:nvGrpSpPr>
        <p:grpSpPr>
          <a:xfrm>
            <a:off x="450684" y="3085910"/>
            <a:ext cx="3782103" cy="786097"/>
            <a:chOff x="450684" y="3085910"/>
            <a:chExt cx="3782103" cy="786097"/>
          </a:xfrm>
        </p:grpSpPr>
        <p:sp>
          <p:nvSpPr>
            <p:cNvPr id="48" name="TextBox 47"/>
            <p:cNvSpPr txBox="1"/>
            <p:nvPr/>
          </p:nvSpPr>
          <p:spPr>
            <a:xfrm>
              <a:off x="450684" y="3085910"/>
              <a:ext cx="31550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Not a extensive quantity:</a:t>
              </a:r>
            </a:p>
          </p:txBody>
        </p:sp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24128" y="3615591"/>
              <a:ext cx="3208659" cy="256416"/>
            </a:xfrm>
            <a:prstGeom prst="rect">
              <a:avLst/>
            </a:prstGeom>
          </p:spPr>
        </p:pic>
      </p:grpSp>
      <p:pic>
        <p:nvPicPr>
          <p:cNvPr id="53" name="Picture 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06996" y="6182022"/>
            <a:ext cx="4051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 gas 1 = gas 2, we have problem!</a:t>
            </a: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(increase)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2325F33-F72E-4456-9446-1D6A7FDC4372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501818B-8FDD-4B41-8A50-B16BE2F5C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82DAD7A1-FBD8-498F-97E2-F3082D384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C30C3842-217C-4011-A85E-CCBE2807226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0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 animBg="1"/>
      <p:bldP spid="26" grpId="0" animBg="1"/>
      <p:bldP spid="27" grpId="0" animBg="1"/>
      <p:bldP spid="27" grpId="1" animBg="1"/>
      <p:bldP spid="56" grpId="0"/>
      <p:bldP spid="5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870F44F-A5BA-44B1-86CB-79283A3EDA55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6910C7B-FD84-4213-ACB0-6137D2385EFC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171FE806-4400-4AA6-9903-B4ADDD4F4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6E1A03C1-76AB-4800-B6DE-06D68D268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06996" y="6182022"/>
            <a:ext cx="4051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 gas 1 = gas 2, we </a:t>
            </a:r>
            <a:r>
              <a:rPr lang="en-US" sz="2000" b="1"/>
              <a:t>have problem!</a:t>
            </a:r>
            <a:endParaRPr lang="en-US" sz="2000" b="1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(increase)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C6F38C-4A44-4298-B6CB-F4624C326B5C}"/>
              </a:ext>
            </a:extLst>
          </p:cNvPr>
          <p:cNvGrpSpPr/>
          <p:nvPr/>
        </p:nvGrpSpPr>
        <p:grpSpPr>
          <a:xfrm>
            <a:off x="964288" y="1932655"/>
            <a:ext cx="2870334" cy="1178051"/>
            <a:chOff x="964288" y="1932655"/>
            <a:chExt cx="2870334" cy="117805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4288" y="2332765"/>
              <a:ext cx="2870334" cy="777941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021926" y="1932655"/>
              <a:ext cx="21178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Distinguishable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D99AD7F-0DFF-46B9-91F5-83AF29FBF0B6}"/>
              </a:ext>
            </a:extLst>
          </p:cNvPr>
          <p:cNvGrpSpPr/>
          <p:nvPr/>
        </p:nvGrpSpPr>
        <p:grpSpPr>
          <a:xfrm>
            <a:off x="964288" y="3499130"/>
            <a:ext cx="2787172" cy="1666741"/>
            <a:chOff x="964288" y="3499130"/>
            <a:chExt cx="2787172" cy="166674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8D50B39-72B9-43F8-B31F-90CAAD34289D}"/>
                </a:ext>
              </a:extLst>
            </p:cNvPr>
            <p:cNvGrpSpPr/>
            <p:nvPr/>
          </p:nvGrpSpPr>
          <p:grpSpPr>
            <a:xfrm>
              <a:off x="964288" y="3499130"/>
              <a:ext cx="2787172" cy="1223569"/>
              <a:chOff x="964288" y="3499130"/>
              <a:chExt cx="2787172" cy="1223569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705" y="3942302"/>
                <a:ext cx="2771755" cy="780397"/>
              </a:xfrm>
              <a:prstGeom prst="rect">
                <a:avLst/>
              </a:prstGeom>
            </p:spPr>
          </p:pic>
          <p:sp>
            <p:nvSpPr>
              <p:cNvPr id="30" name="TextBox 29"/>
              <p:cNvSpPr txBox="1"/>
              <p:nvPr/>
            </p:nvSpPr>
            <p:spPr>
              <a:xfrm>
                <a:off x="964288" y="3499130"/>
                <a:ext cx="23391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/>
                  <a:t>Indistinguishable</a:t>
                </a:r>
                <a:endParaRPr lang="en-US" sz="2000" b="1" dirty="0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1288826" y="4765761"/>
              <a:ext cx="2252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</a:t>
              </a:r>
              <a:r>
                <a:rPr lang="en-US" sz="2000" i="1" dirty="0"/>
                <a:t>Identical</a:t>
              </a:r>
              <a:r>
                <a:rPr lang="en-US" sz="2000" dirty="0"/>
                <a:t> particle)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980479" y="2546366"/>
            <a:ext cx="1797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 configurations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3850039" y="4147834"/>
            <a:ext cx="166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configuration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17F36F-2E89-44A3-80FE-9D4250F3CD25}"/>
              </a:ext>
            </a:extLst>
          </p:cNvPr>
          <p:cNvGrpSpPr/>
          <p:nvPr/>
        </p:nvGrpSpPr>
        <p:grpSpPr>
          <a:xfrm>
            <a:off x="153306" y="5511526"/>
            <a:ext cx="5562394" cy="704572"/>
            <a:chOff x="153306" y="5511526"/>
            <a:chExt cx="5562394" cy="704572"/>
          </a:xfrm>
        </p:grpSpPr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57290" y="5511526"/>
              <a:ext cx="4258410" cy="70457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 rotWithShape="1">
            <a:blip r:embed="rId11"/>
            <a:srcRect r="72066" b="66351"/>
            <a:stretch/>
          </p:blipFill>
          <p:spPr>
            <a:xfrm>
              <a:off x="153306" y="5571061"/>
              <a:ext cx="1251382" cy="468157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611221-59D2-429B-8C21-BB97DE3F054F}"/>
              </a:ext>
            </a:extLst>
          </p:cNvPr>
          <p:cNvGrpSpPr/>
          <p:nvPr/>
        </p:nvGrpSpPr>
        <p:grpSpPr>
          <a:xfrm>
            <a:off x="44752" y="5025768"/>
            <a:ext cx="1839071" cy="681857"/>
            <a:chOff x="44752" y="5025768"/>
            <a:chExt cx="1839071" cy="681857"/>
          </a:xfrm>
        </p:grpSpPr>
        <p:sp>
          <p:nvSpPr>
            <p:cNvPr id="6" name="TextBox 5"/>
            <p:cNvSpPr txBox="1"/>
            <p:nvPr/>
          </p:nvSpPr>
          <p:spPr>
            <a:xfrm>
              <a:off x="44752" y="5025768"/>
              <a:ext cx="18390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rgbClr val="FF0000"/>
                  </a:solidFill>
                </a:rPr>
                <a:t>Overcounting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024128" y="5357361"/>
              <a:ext cx="433162" cy="350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60AE0B-BD62-40DC-B9FD-5664EFB4262F}"/>
              </a:ext>
            </a:extLst>
          </p:cNvPr>
          <p:cNvGrpSpPr/>
          <p:nvPr/>
        </p:nvGrpSpPr>
        <p:grpSpPr>
          <a:xfrm>
            <a:off x="1806597" y="6216098"/>
            <a:ext cx="3909103" cy="458802"/>
            <a:chOff x="1806597" y="6216098"/>
            <a:chExt cx="3909103" cy="458802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806597" y="6216098"/>
              <a:ext cx="39091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40917" y="6387002"/>
              <a:ext cx="415853" cy="287898"/>
            </a:xfrm>
            <a:prstGeom prst="rect">
              <a:avLst/>
            </a:prstGeom>
          </p:spPr>
        </p:pic>
      </p:grpSp>
      <p:pic>
        <p:nvPicPr>
          <p:cNvPr id="51" name="Picture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4ADF666-56DE-4ACF-8E33-56403D3FFF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94A4D3B-6B88-4F2E-90A3-4FC1FFE4F91E}"/>
              </a:ext>
            </a:extLst>
          </p:cNvPr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460E29C-9BC4-4D04-813E-652B6B7B1E59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DAAE0DB-4505-4B9F-8FAD-6EE36160DB9F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6AC729-3CE5-4443-BF41-0471256811FC}"/>
                </a:ext>
              </a:extLst>
            </p:cNvPr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32F264D0-76EC-47B9-A5AE-BDD404832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8CF14AA-8D6E-46D1-8DA6-7CF4BF4D06B2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0A349BC-0915-43B7-B667-960B9BECA853}"/>
                </a:ext>
              </a:extLst>
            </p:cNvPr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7A5FD954-BB4D-4D29-88CC-F92EC7583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15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37" grpId="0"/>
      <p:bldP spid="40" grpId="0"/>
      <p:bldP spid="48" grpId="0"/>
      <p:bldP spid="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06996" y="6182022"/>
            <a:ext cx="4051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 gas 1 = gas 2, we </a:t>
            </a:r>
            <a:r>
              <a:rPr lang="en-US" sz="2000" b="1"/>
              <a:t>have problem!</a:t>
            </a:r>
            <a:endParaRPr lang="en-US" sz="2000" b="1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(increase)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290" y="5511526"/>
            <a:ext cx="4258410" cy="70457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5"/>
          <a:srcRect r="72066" b="66351"/>
          <a:stretch/>
        </p:blipFill>
        <p:spPr>
          <a:xfrm>
            <a:off x="153306" y="5571061"/>
            <a:ext cx="1251382" cy="46815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806597" y="6216098"/>
            <a:ext cx="3909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0917" y="6387002"/>
            <a:ext cx="415853" cy="287898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7"/>
          <a:srcRect l="18156" t="50000" r="34300"/>
          <a:stretch/>
        </p:blipFill>
        <p:spPr>
          <a:xfrm>
            <a:off x="1806597" y="2044158"/>
            <a:ext cx="3537015" cy="98981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680" y="2054376"/>
            <a:ext cx="1359917" cy="774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1968" y="2679675"/>
            <a:ext cx="264692" cy="213461"/>
          </a:xfrm>
          <a:prstGeom prst="rect">
            <a:avLst/>
          </a:prstGeom>
        </p:spPr>
      </p:pic>
      <p:cxnSp>
        <p:nvCxnSpPr>
          <p:cNvPr id="43" name="Straight Connector 42"/>
          <p:cNvCxnSpPr/>
          <p:nvPr/>
        </p:nvCxnSpPr>
        <p:spPr>
          <a:xfrm>
            <a:off x="3121968" y="2637994"/>
            <a:ext cx="2646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4833" y="3908624"/>
            <a:ext cx="4739842" cy="3807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9040" y="4677373"/>
            <a:ext cx="5214874" cy="4108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215" y="3361642"/>
            <a:ext cx="2569702" cy="61001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16533" y="4105473"/>
            <a:ext cx="2570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Density is the same.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9419316" y="5061926"/>
            <a:ext cx="1472045" cy="1040092"/>
            <a:chOff x="9419316" y="5061926"/>
            <a:chExt cx="1472045" cy="1040092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9419316" y="5225823"/>
              <a:ext cx="1238854" cy="87619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738961" y="5061926"/>
              <a:ext cx="152400" cy="317500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CE9757-4FDE-4E71-B401-BB743F6D6EE7}"/>
              </a:ext>
            </a:extLst>
          </p:cNvPr>
          <p:cNvCxnSpPr>
            <a:endCxn id="56" idx="3"/>
          </p:cNvCxnSpPr>
          <p:nvPr/>
        </p:nvCxnSpPr>
        <p:spPr>
          <a:xfrm>
            <a:off x="6371924" y="6382077"/>
            <a:ext cx="42862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D82D0605-80E3-4680-A946-8A48B65BF65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6CE779C-F67F-4F03-BA82-5305ACF7F846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BFBFCE-5367-4EB4-A769-44366FE746D3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0F0AD88C-BE75-4BD7-8EE0-4A1DED2D4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D7E530FB-D496-4796-8DB1-6BFB164E5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353B79A-8104-44B2-A3C1-5BBF81F430BE}"/>
              </a:ext>
            </a:extLst>
          </p:cNvPr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066CBCC-5BA9-49BB-A1DA-C2F8ABA37197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6BA61BC-75BD-4F9A-83E8-BB008FFDB16E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2DFD3B-5B6F-4B4C-9D96-A83729F1E5EE}"/>
                </a:ext>
              </a:extLst>
            </p:cNvPr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03FF12C6-6A68-444A-AF2D-86F93D7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E116609-50EB-49AA-8B0F-DAC1EE13E23D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218848D-802F-4897-B8F1-096CBCDAC0F0}"/>
                </a:ext>
              </a:extLst>
            </p:cNvPr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D07B6A0-4312-48EE-A86B-E18A33585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5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35" grpId="0" animBg="1"/>
      <p:bldP spid="51" grpId="0"/>
      <p:bldP spid="5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(increase)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290" y="5511526"/>
            <a:ext cx="4258410" cy="70457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5"/>
          <a:srcRect r="72066" b="66351"/>
          <a:stretch/>
        </p:blipFill>
        <p:spPr>
          <a:xfrm>
            <a:off x="153306" y="5571061"/>
            <a:ext cx="1251382" cy="46815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806597" y="6216098"/>
            <a:ext cx="3909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6"/>
          <a:srcRect l="18156" t="50000" r="34300"/>
          <a:stretch/>
        </p:blipFill>
        <p:spPr>
          <a:xfrm>
            <a:off x="1806597" y="2044158"/>
            <a:ext cx="3537015" cy="98981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680" y="2054376"/>
            <a:ext cx="1359917" cy="774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0478" y="2715443"/>
            <a:ext cx="264692" cy="213461"/>
          </a:xfrm>
          <a:prstGeom prst="rect">
            <a:avLst/>
          </a:prstGeom>
        </p:spPr>
      </p:pic>
      <p:cxnSp>
        <p:nvCxnSpPr>
          <p:cNvPr id="43" name="Straight Connector 42"/>
          <p:cNvCxnSpPr/>
          <p:nvPr/>
        </p:nvCxnSpPr>
        <p:spPr>
          <a:xfrm>
            <a:off x="3121968" y="2637994"/>
            <a:ext cx="2646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4833" y="3908624"/>
            <a:ext cx="4739842" cy="380741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52" name="Group 51"/>
          <p:cNvGrpSpPr/>
          <p:nvPr/>
        </p:nvGrpSpPr>
        <p:grpSpPr>
          <a:xfrm>
            <a:off x="9419316" y="5061926"/>
            <a:ext cx="1472045" cy="1040092"/>
            <a:chOff x="9419316" y="5061926"/>
            <a:chExt cx="1472045" cy="1040092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9419316" y="5225823"/>
              <a:ext cx="1238854" cy="87619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738961" y="5061926"/>
              <a:ext cx="152400" cy="317500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1968" y="6414030"/>
            <a:ext cx="1079930" cy="336204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7962" y="5101400"/>
            <a:ext cx="956166" cy="628289"/>
            <a:chOff x="67962" y="5101400"/>
            <a:chExt cx="956166" cy="62828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962" y="5101400"/>
              <a:ext cx="956166" cy="260010"/>
            </a:xfrm>
            <a:prstGeom prst="rect">
              <a:avLst/>
            </a:prstGeom>
          </p:spPr>
        </p:pic>
        <p:cxnSp>
          <p:nvCxnSpPr>
            <p:cNvPr id="8" name="Straight Arrow Connector 7"/>
            <p:cNvCxnSpPr>
              <a:stCxn id="4" idx="2"/>
            </p:cNvCxnSpPr>
            <p:nvPr/>
          </p:nvCxnSpPr>
          <p:spPr>
            <a:xfrm>
              <a:off x="546045" y="5361410"/>
              <a:ext cx="232952" cy="3682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024128" y="4826881"/>
            <a:ext cx="1086210" cy="837039"/>
            <a:chOff x="1024128" y="4826881"/>
            <a:chExt cx="1086210" cy="83703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24128" y="4826881"/>
              <a:ext cx="1086210" cy="259019"/>
            </a:xfrm>
            <a:prstGeom prst="rect">
              <a:avLst/>
            </a:prstGeom>
          </p:spPr>
        </p:pic>
        <p:cxnSp>
          <p:nvCxnSpPr>
            <p:cNvPr id="40" name="Straight Arrow Connector 39"/>
            <p:cNvCxnSpPr/>
            <p:nvPr/>
          </p:nvCxnSpPr>
          <p:spPr>
            <a:xfrm flipH="1">
              <a:off x="1190342" y="5144341"/>
              <a:ext cx="250539" cy="519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Picture 4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79040" y="4677373"/>
            <a:ext cx="5214874" cy="4108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4518" y="4912189"/>
            <a:ext cx="751085" cy="2707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10030" y="5187180"/>
            <a:ext cx="1967875" cy="94001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1" name="TextBox 50"/>
          <p:cNvSpPr txBox="1"/>
          <p:nvPr/>
        </p:nvSpPr>
        <p:spPr>
          <a:xfrm>
            <a:off x="2474357" y="4394672"/>
            <a:ext cx="1676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gas 1 ≠ gas 2?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BDE1EAA-80F6-46A4-B497-A4AF4586236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1124" y="2574304"/>
            <a:ext cx="423004" cy="33047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6E567D3-97A7-42D8-9EA1-480BCC94E699}"/>
              </a:ext>
            </a:extLst>
          </p:cNvPr>
          <p:cNvGrpSpPr/>
          <p:nvPr/>
        </p:nvGrpSpPr>
        <p:grpSpPr>
          <a:xfrm>
            <a:off x="411799" y="3150742"/>
            <a:ext cx="4896932" cy="989812"/>
            <a:chOff x="411799" y="3150742"/>
            <a:chExt cx="4896932" cy="989812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62323" y="3824031"/>
              <a:ext cx="751085" cy="27074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2E244B8-7198-46B6-B800-B45D1E22F5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8156" t="50000" r="34300"/>
            <a:stretch/>
          </p:blipFill>
          <p:spPr>
            <a:xfrm>
              <a:off x="1771716" y="3150742"/>
              <a:ext cx="3537015" cy="98981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8FEA58BB-FF19-44B0-94D5-73F1517BC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1799" y="3160960"/>
              <a:ext cx="1359917" cy="774636"/>
            </a:xfrm>
            <a:prstGeom prst="rect">
              <a:avLst/>
            </a:prstGeom>
          </p:spPr>
        </p:pic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0E2107A-D175-4B71-93AC-B67208E83D53}"/>
                </a:ext>
              </a:extLst>
            </p:cNvPr>
            <p:cNvCxnSpPr/>
            <p:nvPr/>
          </p:nvCxnSpPr>
          <p:spPr>
            <a:xfrm>
              <a:off x="3131768" y="3752921"/>
              <a:ext cx="2646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3A60370-8303-4119-8172-3BBF9312E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10649" y="3645648"/>
              <a:ext cx="494965" cy="367232"/>
            </a:xfrm>
            <a:prstGeom prst="rect">
              <a:avLst/>
            </a:prstGeom>
          </p:spPr>
        </p:pic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04786E41-D471-4DD5-BDF5-8CA57C46562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564C2DC7-55AC-40BE-96EC-CAA4FBDCFB5A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EF9D4A6-2685-4075-8DE6-A60B16DB8AB6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1A4FDA1C-C41D-4D14-8A01-46B6F9253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CF627AB6-9D32-4B31-9631-B50D6E711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183338CE-36B5-444C-A293-1505E67E26FF}"/>
              </a:ext>
            </a:extLst>
          </p:cNvPr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59A92D8-1089-42BD-8D3B-BF4698EEAFC1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2FCE240-C6E7-4DF6-A642-D21F82AAD138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1B0736E-B182-41F5-B86B-EC37E647BE21}"/>
                </a:ext>
              </a:extLst>
            </p:cNvPr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83B8A0AC-2935-45E2-A182-440910087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D1AF164-D622-4AB7-A252-ADFB5B9B0968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2559749-AB47-4AFE-9CBE-E02FC517E67F}"/>
                </a:ext>
              </a:extLst>
            </p:cNvPr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DD31693-030A-4623-8DC4-89B8BA07B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35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63" grpId="0" animBg="1"/>
      <p:bldP spid="67" grpId="0"/>
      <p:bldP spid="68" grpId="0" animBg="1"/>
    </p:bldLst>
  </p:timing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2EEBE45-35D8-40BE-B26D-AB0C473C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114355B-D258-41C9-916F-C29FEA02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D04B66A-6147-4B91-ABBA-911CA324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页｜Microcanonical, canonical, grand canonical ensemble / Laws of thermodynamic and idea gas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16F4E3D-8763-407A-BC9B-6A82156B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本讲主题：微正则、正则与巨正则系综；热力学定律与理想气体。原页写成 “idea gas”，按上下文应理解为 “ideal gas（理想气体）”。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EE18BE4-19D4-49F3-BAE0-DDDC66A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40361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3E6214C-70D7-4FF7-84AA-338419A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8EFC570-99FC-411B-9024-9D0B66B0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7C0ED85-B726-4537-843A-2FE6CD67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095EEEE-2EA0-4B83-8A96-020F73F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这一讲真正展开的是微正则系综：先从孤立系统的等概率假设得到熵与温度，再计算二能级系统和经典理想气体。正则与巨正则只在标题中预告，后续讲次再系统推导。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4035140-C356-4258-B548-418E5C74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690301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64B7D29-F397-4DDD-908D-132E2CA9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863A84D-C821-4EA6-B574-02368384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2B40229-98B6-4E2A-A69D-3A525BE0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页｜Microcanonical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5C38B71-56BE-4598-8307-D5EFB06E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微正则系综描述总能量严格等于 E 的孤立系统。平衡概率密度为 ρeq(p,q)=δ(H(p,q)−E)/Ω(E)，其中 Ω(E)=∫δ(H(p,q)−E)dpdq 是能量壳的相空间“面积”。离散写法是：若 H(p,q)=E，则 pE=1/Ω(E)；否则为 0。相空间体积元为 dpdq=∏i=1^N d³qi d³pi。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28CDF66-AF04-464D-9EDA-D5E2AD0A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138184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52FAECA-1D97-4D90-B62B-D7154E1E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97D4148-133E-4D90-A99E-DDC70358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490C3FB-F5F3-45CE-AC06-D65BA66B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0F30747-91FF-4B64-BFEE-2F002E8B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ρeq(p,q)=δ(H(p,q)−E)/Ω(E)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微正则平衡密度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Ω(E)=∫δ(H(p,q)−E) dpdq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能量壳态数或相空间测度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pE=1/Ω(E) if H(p,q)=E; 0 otherwise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课件的分段离散表述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dpdq=∏i=1^N d³qi d³pi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 粒子相空间体积元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A494963-44F6-486E-9522-A4B9EFF3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29351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9911EF0-CA08-491F-A0E7-1E870A2B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947EF72-158F-4E7D-863D-C5D9D514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596FE2-892D-41A6-A363-F5E0770A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53C6A77-9C93-4727-A5E3-09211BD2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 函数把概率限制在 H=E 的能量壳上，除以 Ω(E) 才能归一化。“等概率”不是整个相空间均匀，而是所有满足宏观约束的可达微观态等权。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BD61F96-E3F7-4784-B359-5A86E26E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92321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ADDAD34-BE8F-47F7-AABB-F693F4BA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E0D0D3B-723F-45D8-95CC-1092B416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E73C518-A3E5-4623-BEAB-7D0C17C4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页｜Two weakly coupled systems in a microcanonical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5888B28-26E1-4DE0-911B-5AF03282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把两个弱耦合子系统 1、2 合成总能量固定的系统，E=E1+E2。各自微观态记为 μ1=(p1,q1)、μ2=(p2,q2)，联合微观态是 μ1⊗μ2。联合概率在 H1(μ1)+H2(μ2)=E 时为 1/Ω(E)，否则为 0。定义 Si(Ei)=kB ln Ωi(Ei)，则总态数 Ω(E)=∫dE1 Ω1(E1)Ω2(E−E1)=∫dE1 exp{[S1(E1)+S2(E−E1)]/kB}。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971639E-4C3C-43FE-A2F7-2C099FD3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319527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BD77670-73D6-471B-A2A9-532433E9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2C89926-EBDB-4F95-9DA3-733C6D34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BB6F9AC-7743-43F7-92F2-07E7ED9B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AF98681-CB19-4041-B121-51DE5445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E=E1+E2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总能量守恒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μ1,2=(p1,2,q1,2)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两个子系统的微观态记号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pE(μ1⊗μ2)=1/Ω(E) if H1(μ1)+H2(μ2)=E; 0 otherwise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联合微正则概率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Si(Ei)=kB ln Ωi(Ei)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Boltzmann 熵定义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Ω(E)=∫dE1 Ω1(E1)Ω2(E−E1)=∫dE1 exp([S1(E1)+S2(E−E1)]/kB)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对能量分配的态数卷积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41D2C00-4FF8-4E4A-808E-3961B3E0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580379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DEF8172-F18D-406E-85BF-C61F1EB3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44AF845-28BA-4615-9817-801598FF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EE7C827-37B8-476E-8B81-FBC3FCED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6A37A6D-139F-43AE-A84E-2E1F3B32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给定能量分配 E1，两个子系统的组合数相乘；再对所有可能 E1 求和或积分。宏观平衡会被组合数最大的能量分配压倒，这是“最大熵”的计数来源。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B8AD007-6505-434E-8197-E3235BD7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491531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BF41D02-A32A-4E91-A9F7-15EF1674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AF26624-8EF3-433F-9898-35566714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3DED8EC-3E68-424D-BAA7-4B635E03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页｜Most probable energy division and maximum entropy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7E7A30B-B1A5-4E0B-AFA7-6968835E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当粒子数很大时，能量分配积分由尖锐峰值 E1* 主导。峰值条件为 ∂/∂E1[S1(E1)+S2(E−E1)]|E1*=0。于是 Ω(E)≈exp{[S1(E1*)+S2(E−E1*)]/kB}，平衡能量分配使总熵最大。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0CB8E24-DE48-4BDB-B9BA-4E091991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908394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06FDB15-5DE3-421B-8439-1BC09A7E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E82B697-C908-4CFB-99EA-BE04039B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65A7C79-8F4F-4D8F-9AAF-570289C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263039A-DB23-4E6B-B137-F108E3C4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∂/∂E1 [S1(E1)+S2(E−E1)]|E1*=0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平衡能量分配的驻点条件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Ω(E)≈exp([S1(E1*)+S2(E−E1*)]/kB)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最大项近似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425F03E-A04A-44E9-9AF9-8687E38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285025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5D23432-3083-4382-A8A2-768DE43C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DB6367D-D49F-4EC8-A4D5-C2784A3D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4052B93-4B99-4B2C-BBA6-A4AFE10E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16B4039-90A1-43CD-9129-A6F75824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这是鞍点近似或最大项近似：宏观系统的指数因子极尖，偏离 E1* 的分配相对权重指数级小。先求一阶导数为零，再检查它是最大值。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9EEAD31-B7F4-492B-A737-9B64BB9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7768816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930ED76-371F-4F06-BBF6-A959C7AA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3A1C98B-FEB8-4C53-A63B-FD8B0E33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71A3D3C-DEAE-4123-B6D7-041EC2DB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页｜Thermal equilibrium condition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A10170F-E82D-4A52-9DD7-5864AAD9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对上一页的峰值条件用链式法则，得到 (∂S1/∂E1)*=(∂S2/∂E2)*=1/T，并有 E1*+E2*=E。也就是说，能量交换达到平衡时两个子系统温度相同。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74343BB-93DE-4B6B-8066-C5D1C33F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424048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1DB14B8-8386-4646-A539-50AC5CA4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39A7414-70AA-420A-A6A3-9C35ED39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EEFD8FE-19DC-4F45-85E0-E0AD9655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088CE19-D6AA-44D1-8A32-4B34A7C4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∂S1/∂E1|*=∂S2/∂E2|*=1/T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热平衡与温度定义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E1*+E2*=E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平衡时仍满足总能量守恒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6A30004-3201-4E7C-A13B-5234F9A1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2113643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8180922-9059-4C1B-9EA9-E0F2A66E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7A61011-7C36-430F-905A-E0FCF90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7B87246-F5A5-462F-8ABB-3148F810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BEF9F78-8C84-4121-8788-F8449EC3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温度在统计力学中可由熵对能量的斜率定义：1/T=∂S/∂E。斜率较大的一方得到少量能量所增加的态数更多，因此能量会重分配，直到两边斜率相等。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83D3DC1-666C-47B0-AA67-1DE0B4D9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1884280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CFA53EF-32A4-4FB5-AF4F-14E561D8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E63CF2C-E8AF-4587-A363-1CE4B62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EB1F10E-5B95-4FAC-AC05-2E6114BA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页｜Microcanonical ensemble with volume dependence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7DBA54A-3284-4360-B0A7-88002594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再次写出微正则分布：ρeq(p,q)=δ(H(p,q)−E)/Ω(E)，Ω(E)=∫δ(H(p,q)−E)dpdq。这里进一步强调，可达位置 q 的范围还取决于容器体积 V，因此态数和熵应写成 Ω(E,V) 与 S(E,V)。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DC9CCAD-3AB6-4D44-BC67-2568163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4721071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1503F48-C0F4-4E79-BC7A-BE75B491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BA5CE0F-5A6B-45B4-826E-3540CF61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BE05725-326F-43B0-95CE-7F9E2DFC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E47AF29-8CF1-4E74-ABAE-77E3179E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ρeq(p,q)=δ(H(p,q)−E)/Ω(E)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微正则密度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Ω(E)=∫δ(H(p,q)−E) dpdq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能量壳测度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5077346-6F58-4B34-8D72-EEA0B7BE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3937864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8F4BE94-16BC-4022-BE5B-4F90FB15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2CEC50F-662C-4F00-951E-6E5560FE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37A981F-F2C0-4E8E-BCA0-ACA89F3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26EB0E9-F5DD-4A2C-AB47-72E559A1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体积不是在 Hamiltonian 公式外无关的标签；它通过边界条件限制位置积分范围。改变 V 会改变可达微观态数，从而改变熵与压强。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53A521B-DAE0-4DB0-BFAC-89850CD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4825288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D8937C5-B34F-4DD7-ABD2-A2DCB218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46A2C33-89E6-48B9-B189-AE9B376C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51E5D24-6D9F-4C4C-93B4-17320D6E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页｜Statistical derivation of the first law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F705D66-ECAA-47A1-BDC8-62D9699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定义 S(E,V)=kB ln Ω(E,V)，并有 (∂S/∂E)V=1/T。让容器发生可逆微小变化 V→V−δV；课件采用功 W=PδV，因此能量 E→E+PδV。熵的全微分给出 (∂S/∂V)E=P/T，最终得到 dS=(∂S/∂E)VdE+(∂S/∂V)EdV，以及 TdS=dE+PdV。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2CA1071-9762-46BD-8DE1-33E1F300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9325248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F9D11FC-4CF6-422B-86E3-1C027B8C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135A398-BD88-41D4-97DF-09BCA945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6334542-6CEC-474B-8E8E-F8536E28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DA18384-5B9F-4040-9D3F-A0DEEA49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S(E,V)=kB ln Ω(E,V)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(∂S/∂E)V=1/T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温度的统计定义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V→V−δV; E→E+PδV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课件采用的压缩过程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(∂S/∂V)E=P/T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压强的熵偏导定义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dS=(∂S/∂E)V dE+(∂S/∂V)E dV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熵的全微分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TdS=dE+PdV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原页得到的热力学恒等式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EF4A5DC-B0FE-44AB-88CD-EEB1CDDB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0854553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AE0DAC2-1981-4227-A406-95D7A191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955D299-3148-472B-8488-B4CD29A6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8C25097-8BA3-41AB-8852-17D0658B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8F067BD-06B9-4C7D-BA66-EA75DF5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统计定义把温度和压强都变成熵的偏导数。符号来自课件选取的体积变化方向；做题时先写完整微分，再核对“系统对外做功”还是“外界对系统做功”。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7B48D77-31B8-488C-8692-8DE18623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7321532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BE5B62D-C70A-4709-A255-8862A349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FABFC2C-A164-4437-8CD7-019E81B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173CFEB-6A4E-4A8C-AD76-5F9A0116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页｜Statistical interpretation of the second law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E2BDC35-1B13-4787-9CBC-48B0A103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第二定律的统计解释是 ΔS≥0。对两个交换能量的子系统，平衡分配 E1*、E2* 的组合态数不小于任意非平衡分配：Ω1(E1*,V1)Ω2(E2*,V2)≥Ω1(E1,V1)Ω2(E2,V2)。取对数即 S1(E1*)+S2(E2*)≥S1(E1)+S2(E2)。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3926E94-9EC8-4295-802B-CF995075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5075844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E743A3D-3D10-4CC1-A284-8D976C58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DB7F8B0-256B-4FAB-A579-EC4992DE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989D89F-F4F6-47AC-A722-65CD8F14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4C79504-72B2-4513-9DB1-4BB80F5E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ΔS≥0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孤立系统的第二定律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Ω(E)≈exp([S1(E1*)+S2(E−E1*)]/kB)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大系统峰值权重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Ω1(E1*,V1)Ω2(E2*,V2)≥Ω1(E1,V1)Ω2(E2,V2)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平衡组合态数最大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S1(E1*)+S2(E2*)≥S1(E1)+S2(E2)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取对数后的最大熵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2C80117-AFD9-4E69-97E9-D648150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7278511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5ADB296-A6FF-4925-A7BB-662D03B0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1B16125-B730-4E21-BB7E-FE9625C8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4BBE150-F8D3-4D2C-AE8F-448AACC6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D6D19DF-5D31-412B-9E3A-925FC8F2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孤立总系统不是被一条新力“推”向高熵，而是高熵宏观态对应压倒性更多的微观态。大系统离开峰值的概率极小，所以宏观上呈现不可逆方向。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738F36A-57D4-4B90-BD47-04629C8A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4989016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257B548-47CC-448A-8A24-355FE31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1B86DC9-9476-415D-B231-754E3807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AC969E5-B71C-43B9-A2F7-9D9F8A76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页｜Third law from the ground-state degeneracy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34E527C-30CF-4453-9ECC-71BD8C2A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第三定律的统计表述：lim(T→0)S(E)=lim(T→0)kB ln Ω(E)=kB ln Ω(E(0))。由 ∂S/∂E=kB∂lnΩ/∂E=1/T 可把能量写成 E(T)。E(0) 是基态能量，Ω(E(0)) 是基态简并度。若基态唯一，T→0 时 S→0；若有简并，残余熵为 kB ln Ω(E(0))。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94A77F3-6B42-491E-AB0D-92B9A610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441864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4D7EFA9-083E-4E79-81D4-69331598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D7948D7-1AE5-416A-B30D-F26A1E3C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E0CA00D-B47F-48F4-9C17-133BDEC8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0BBACAE-F740-4E9C-B561-82242C4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lim(T→0)S(E)=kB ln Ω(E(0))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零温熵与基态简并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∂S/∂E=kB∂lnΩ/∂E=1/T ⇒ E=E(T)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温度和能量的关系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E(0)=ground state energy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基态能量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Ω(E(0))=ground-state degeneracy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基态简并度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2A51B44-0109-4532-A9C4-3F20010A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1466209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C10F3E0-F1C7-4410-A0CE-E9689BB3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02CF3F2-D9AE-4307-B0AD-649F8C3D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B4F51C4-96D5-4339-88E7-10B071B3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D1BD76A-9F7A-4894-8586-168D82F9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“熵趋零”需要唯一基态这一额外条件。存在冻结无序或基态简并时，零温仍可能有残余熵，因此不要把第三定律背成无条件等号 S(0)=0。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9A6AF62-B52E-4CEB-8CFE-94BE9CF0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92914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C2E1EA5-329B-46F9-BC30-2CC79C7A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D8EBB8E-2AF7-45D2-B88E-2A788652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DD69A04-C253-4B73-9266-E2EB0171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页｜Two-level system in the microcanonical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685095A-476A-4D13-A8A8-AC848F3E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考虑 N 个相互独立的二能级单元，每个占据数 ni=0 或 1，Hamiltonian 为 H({ni})=εΣi ni=εN1，其中 N1 是激发单元数。微正则概率仅在 E=εΣni 时非零。满足该能量的微观态数是 Ω(E,N)=N!/[N1!(N−N1)!]，并且 N1(E)=E/ε。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365143A-C887-49B6-9B79-10B70FFB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6594399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B250FBF-8D4D-4E7B-AAE6-1C08649E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6157B7C-C325-478B-A694-4E876920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5E71CC0-F8D7-45D7-837B-60C4C2F3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0FD15C5-955A-43D0-958B-EFC03903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ni=0 or 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每个单元的两种状态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H({ni})=εΣi ni=εN1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p({ni})=1/Ω(E,N) if E=εΣni; 0 otherwise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Ω(E,N)=N!/[N1!(N−N1)!]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给定激发数的组合数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N1(E)=E/ε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能量对应的激发数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3C04C12-D25D-487D-9973-C38CBF52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833665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59C78BE-46CA-4EC7-A5E0-A56BF33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C2A7149-0534-44E0-93B4-E32D9AD4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ACF0ABE-5BC5-4430-AD41-D205CE84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3861CD8-E9E6-488F-AAFB-CE7C6CA4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宏观条件只规定“有 N1 个激发”，没有规定是哪 N1 个。因此态数就是从 N 个位置中选 N1 个的组合数。能量只能取 0、ε、2ε……Nε。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4A3B4CD-F2AA-40EC-AFDC-A60507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9642129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F3FE1EF-2A55-496A-BE56-D95201C1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8F17592-9109-4D76-A0F0-A631DD35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05792C0-BF5C-4AC3-AF97-ED6143B2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页｜Entropy and caloric curve of the two-level system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1857249-EAF0-4D84-8353-6649B671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由 S=kB ln Ω，并对大 N 使用 Stirling 近似，课件得到 S(E,N)≈−NkB[(E/Nε)ln(E/Nε)+(1−E/Nε)ln(1−E/Nε)]。温度关系是 1/T=∂S/∂E=(kB/ε)ln[(Nε−E)/E]，反解得 E(T)=Nε/[exp(ε/kBT)+1]。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18F9437-732F-4F18-958A-B90C5E7B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458502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4DFC9BE-AAFA-467B-AAE5-83B46639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63EBD02-767C-45AE-B779-97C2CC0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86A3D87-A714-4793-84F4-B60078A8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D9E8198-F537-44C9-AB2F-2048658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S=kB ln 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Boltzmann 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S(E,N)≈−NkB[(E/Nε)ln(E/Nε)+(1−E/Nε)ln(1−E/Nε)]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二能级系统熵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1/T=∂S/∂E=(kB/ε)ln[(Nε−E)/E]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微正则温度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E(T)=Nε/[exp(ε/kBT)+1]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能量—温度关系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AF29CBF-3CE6-489D-8151-C7B3DE28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7153258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049B0AB-3FEF-439C-A653-91920998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5C1AA25-2D9F-44E1-B919-B403EDB6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56BEE48-6803-4A13-BC0D-87F3FFE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8D6FAA3-C4FD-4FE5-A705-32A41BBD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令 x=E/(Nε) 是激发比例。熵在 x=1/2 最大；正温区对应 x&lt;1/2。公式也展示能量随温度从 0 上升并趋近 Nε/2。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EB4161D-230A-4CC8-B43D-42D8022F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3606287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3DA7888-28D4-4F0D-8D1F-902BB09B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AE0A212-6266-4A8C-BF91-97CD817E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57D1DC6-0331-4B57-9855-B90B8F94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页｜Heat capacity of the two-level system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8437C19-6E82-4956-8F3B-B3BC4B8F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二能级系统的能量为 E(T)=Nε/[exp(ε/kBT)+1]。定容热容 C=dE/dT=NkB(ε/kBT)² exp(ε/kBT)[exp(ε/kBT)+1]⁻²。低温时由能隙导致指数抑制 e^(−ε/kBT)；高温时热容按 (ε/2kBT)² 衰减。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A4AE681-12EB-4ADC-816D-8DA1877D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0327029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A71741C-F9CF-455B-82FF-7B48D855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A299DB2-E111-449A-8C75-65ECA6ED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6DE52FC-9668-49F9-B7D8-B9FB082A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572E82E-DF09-4AF4-A2A0-8E259493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E(T)=Nε/[exp(ε/kBT)+1]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二能级能量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C=dE/dT=NkB(ε/kBT)² exp(ε/kBT)[exp(ε/kBT)+1]⁻²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热容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C∝e^(−ε/kBT) at low 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课件指出的低温指数行为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C∼(ε/2kBT)² at high 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课件指出的高温行为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78434C1-0ED4-4388-8B25-E64AF6A9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2508406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4977C93-7457-4F78-8ED7-569CE588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6B67CE9-BF7D-4A89-83DE-CF18DB58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74528E3-5211-46A4-AB44-F6A571CD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6081C22-2014-4389-A65B-8E14FFA9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热容在低温和高温都趋零，中间出现峰值。低温下很少有单元能跨越能隙 ε；高温下两能级占据接近各半，能量趋于饱和，再升温也难以增加能量。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6C165F6-3F0C-4BC1-B78B-DAC3FB49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4261297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5EE8301-A17B-4866-ACEF-691E4739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AC23628-0C42-4262-94BA-3C4D10F8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20AE350-D679-4CBB-B013-E6A5C50E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页｜Single-site occupation probability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58E29DE-D834-464F-91BB-9FD0A0BF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固定总能量时，第一个单元处于 ni 状态的概率可由剩余 N−1 个单元的态数比得到：p(ni)=Ω(E−niε,N−1)/Ω(E,N)。因此 p(0)=1−N1/N，p(1)=1−p(0)。写成温度形式，p(0)=1/[1+exp(−ε/kBT)]，p(1)=exp(−ε/kBT)/[1+exp(−ε/kBT)]。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A70D8E2-7DC8-4875-B309-912E3C7B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816931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785938B-2CB7-47CA-BDCD-3EA95DED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683EC7F-615F-4BE7-B949-791F0C68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4A4F0A1-BB24-4E14-857A-3644468A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37A2933-046F-4741-BF9E-11096499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p(ni)=Ω(E−niε,N−1)/Ω(E,N)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单个单元概率的态数比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p(0)=1−N1/N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基态概率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p(1)=1−p(0)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激发态概率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p(0)=1/[1+exp(−ε/kBT)]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温度形式的基态概率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p(1)=exp(−ε/kBT)/[1+exp(−ε/kBT)]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温度形式的激发态概率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F9F61BF-F3F0-4F61-BBCD-C48F2EB5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9708710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4AD50D7-7DAB-4BBA-82FE-A2C96FC0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604A906-FB0E-47D7-8735-552E0F8C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8D9042A-A3CB-458A-A65C-C50BA8E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0D45D03-E4A5-4DC2-9101-59F43629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虽然总系统处在微正则系综，单个小单元把其余部分看作热库后呈现 Boltzmann 型权重。这里已经预示正则分布从“大系统的一小部分”自然出现。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4F63CAE-1C80-4E99-90FD-3F44B24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6409393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812B5EE-B3A8-419B-A5FC-2E2A0472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B689E9D-F01A-41AE-A673-957530A3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1649A65-8F98-49EB-8489-72AEA024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页｜Classical particles with K energy levels: constrained counting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D5FF658-C840-4059-A48A-770123CD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本页开始把二能级推广到 N 个经典粒子和 K 个能级：用各能级占据数描述宏观分布，并在总粒子数、总能量约束下寻找微观态数最大的分布。课件说明将使用 Lagrange 乘子法。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4209A78-8DA8-43A7-B3A6-4B3EBDDA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3054672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40EF4D6-0335-4FF9-A163-766D784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0A53B19-642E-43AF-93E6-C0942E62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A84CC3B-0C6B-4EDB-89B3-3F389223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F6A3173-7020-4644-8D8A-C0DE54B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先分清三个层次：单粒子能级、每级有多少粒子、满足同一组占据数的排列数。极值问题的目标是最大化组合数（或其对数），约束是粒子数守恒和能量守恒。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4C02B92-D4D5-408D-8617-5497F46F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0550961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DDE2061-A0B9-4C36-B072-7D2BC3E2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630028F-6C64-4459-A0B3-BB2072F4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851A47F-BADA-4632-8D60-46073963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页｜Most probable distribution from Lagrange multipliers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AE315DB-E7AB-4A84-A6FF-7B63426D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本页延续约束极值计算：对占据数使用 Lagrange 乘子，解出最概然的能级分布，并把乘子与归一化、能量约束联系起来。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AF6AAB1-6DD5-4896-835B-E8EEA51C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8123444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343613F-9A62-43E4-BA82-C1253B00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F0BE5D4-A046-4F4F-9097-95D69CCB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76EB24E-7FAB-417C-9F1C-D98EF3D3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65A70A6-00EC-4CF1-BA4D-67F3994E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学习时应能复述流程：写 ln(组合数)；对每个占据数求偏导；加入两个约束；解出指数形式；最后用约束确定常数。原页关键公式对象未正常渲染，因此这里不把标准结果冒充为课件原式。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270E0F3-A117-4B13-B8FA-9CB4737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587948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29F52CE-FAC0-4376-864D-83EFD8BC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68DC931-A02A-4692-AA98-3D03DFED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FFB8FB9-1091-4F47-A93B-7AFD3890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页｜Classical ideal gas in the microcanonical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70AA8EF-3C1C-4AC6-A55C-B74E96A1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经典理想气体的 Hamiltonian 为 H=Σ[p_i²/(2m)+U(q_i)]。硬壁容器内 U=0，容器外 U=∞。因此 Ω(E,V,N)=∫δ(H−E)dpdq=V^N∫δ(Σp_i²/2m−E)dp。动量约束对应 3N 维空间中的球面，半径 R=√(Σ_i p_i²)=√(2mE)。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D05A2FC-531A-4532-99D0-F60D6F53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7406695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91FE7E9-E999-4123-867F-709954FC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827B6CB-B0C5-4F7A-855A-37E2AE3B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E264E27-10D4-43E1-9C1F-E831CB52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7ADAC6C-F933-4B1B-A341-6EE18F7A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H=Σ[p_i²/(2m)+U(q_i)]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 Hamiltonian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U(q)=0 inside; ∞ outside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硬壁边界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Ω(E,V,N)=∫δ(H−E)dpdq=V^N∫δ(Σp_i²/2m−E)dp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位置积分后的态数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R=√(Σ_i p_i²)=√(2mE)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动量球面半径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0CE769C-B816-4205-B955-4378BC16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3960092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51AE42A-AFAC-4159-B139-4622F88C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2AFB08C-05D4-4470-BDE3-14225348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4FA97BF-B85D-4A98-9121-0F54ECE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76A138C-06A1-43AE-86A9-BE4D8142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位置积分每个粒子给一个 V，所以得到 V^N；剩余问题是计算 3N 维动量球壳的面积。高维几何是这里最容易卡住的前置知识。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3C7BF7D-F6B0-4295-ADF6-B08EFE20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6902945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D46AD5D-2EFF-4573-81AB-51920DA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445D7ED-7EA5-426F-8821-A744DF53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05EE946-E8BF-40DB-B0E8-5E501C61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17 页｜Surface area of a high-dimensional sphere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616436F-994A-448E-B7B1-8EA3FDE4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本页用二维球面（普通球面）面积 ∫₂-sphere dS₂=4π 作为检查，随后把结果推广到高维动量球面，以便计算理想气体的 Ω(E,V,N)。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611EDFB-DB9B-49A5-9A36-8AFB13C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7718181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36F4324-71B4-4C4C-8B31-D93FC441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735166C-51A7-4C56-832F-91057795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1729A5B-4B5F-406A-A444-A65AD786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183FEE9-423E-4DDD-8CDA-9CEF881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∫₂-sphere dS₂=4π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原页可辨认的单位二维球面面积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82C4FCA-66D1-4F08-AC85-4399013F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9022712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2EF715D-C0D8-428F-ACE1-2D5047BD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3924E65-1065-481C-9121-BA7E3167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C316AF4-8C00-4EA9-B9A9-F889C7C2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3F2922A-9323-4587-8365-E88B81C6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普通三维空间中半径为 1 的球面面积是 4π；统计力学需要的是 3N 维动量空间的球面测度。要特别区分“d 维球体的体积”和“其边界 (d−1) 维球面的面积”。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62F78FA-DE33-4DBB-904C-7FF9E9E4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0277515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52A5874-5353-419B-9E8F-222C89D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133B51E-B6F1-42DF-B02F-06B1B41A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1E42AD8-39F3-4E29-A950-4CE179DC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18 页｜Gaussian integral and Gamma function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ED9AD7F-91C6-433B-A582-6AA9AE6F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为求高维球面因子，课件引入 d 维 Gaussian 积分：I_d≡(∫_{−∞}^{∞}dx e^{−x²})^d=π^{d/2}，也可写成 I_d=∫∏_{i=1}^d dx_i exp(−Σ_i x_i²)，并令 R²=Σ_i x_i²。随后用径向积分与 Gamma 函数比较系数。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DB6A7DB-2502-4F46-8060-744D030A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7778436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769B966-9BDA-47D2-9AC2-1CD182E8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E56369D-997A-4F8D-A8F8-F21B4F17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AB9BD2D-EF52-4E9B-8884-AE3A1392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F9ED809-00A6-4249-B0FC-73C3E69E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I_d≡(∫_{−∞}^{∞} dx e^{−x²})^d=π^{d/2}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 个独立一维 Gaussian 积分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I_d=∫∏_{i=1}^d dx_i exp(−Σ_i x_i²)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 维直角坐标形式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R²=Σ_i x_i²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高维径向坐标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5782C44-B692-4975-A59D-60413C9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68913389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BFE339C-770F-49D2-B933-BF42AD91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F939B8A-7781-4C72-A5EE-36AB76F1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DBACBB3-D6CB-436F-AE82-FA6184D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73329C0-6E36-41F7-B458-6C022B04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同一个积分用直角坐标算一次、用高维球坐标再算一次，就能反推出球面面积常数。Gamma 函数把阶乘推广到非整数，尤其处理 d/2 为半整数的情形。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1501CB2-F634-40EE-AF6B-796DAFAE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154750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1EF102C-68F7-4AC7-A8B7-99427F0D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155A458-93C2-454E-9DD8-117F83A6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400AD7A-19AF-469A-89C1-CED4ABA7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19 页｜Entropy of a classical ideal gas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72A3CB9-83D2-46C0-BD2B-3FD0F42F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代入高维球面结果后，课件写出理想气体态数的系数，其中可辨部分包含 2π^(3N/2)/(3N/2−1)!。使用 Stirling 近似后，S(E,V,N)=kB[N ln V+(3N/2)ln(2πmE)−(3N/2)ln(3N/2)+3N/2]=NkB ln[V(4πemE/3N)^(3/2)]。由 ∂S/∂E=1/T 得 E=3NkBT/2。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91FA2CD-FC24-431F-91D4-E893DB84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6031882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56E0476-FB16-4F8B-B317-F4AC4151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90FB3AF-9D47-45B7-855B-D0B47274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A94B691-5772-40BB-85BA-B185B08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6B38468-8462-4AB0-9643-FA4DFBE0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2π^(3N/2)/(3N/2−1)!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原页态数表达式中可辨认的高维球面系数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S(E,V,N)=kB[N ln V+(3N/2)ln(2πmE)−(3N/2)ln(3N/2)+3N/2]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Stirling 近似后的熵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S(E,V,N)=NkB ln[V(4πemE/3N)^(3/2)]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原页合并形式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∂S/∂E=1/T ⇒ E=3NkBT/2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理想气体内能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607E3C4-F417-44A3-94F4-ADEFA9AA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9794366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75E6F1D-534E-4D1F-9FC0-D5903CD2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A2F42FC-04CD-4F6D-8018-2277C66A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77151C2-461F-4CC9-B438-040575C2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C8F1619-55EA-4B53-898C-E9634DCC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这版熵暂未除以 N!，所以还不是最终的广延形式；后面讨论 Gibbs paradox 时会修正。此处先看能量依赖：3N 个二次动量自由度各贡献平均能量 kBT/2。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4154A2F-6426-43AF-AA75-CCBC6F7F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6569923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05AA105-E718-47A8-B6AB-03ED9A07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09D7ABB-2810-4EC2-B0E5-D3B54661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F46A5DC-A19B-41ED-880F-8F4CE95B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20 页｜Ideal-gas energy, heat capacity, and equation of state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F159286-CFF7-4A7A-8299-82169836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由上一页得到 E=3NkBT/2，因此定容热容 CV=(∂E/∂T)V=3NkB/2。再由 P/T=(∂S/∂V)E,N=NkB/V，得到理想气体状态方程 PV=NkBT。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EA5E447-B985-4B56-93A9-685252D8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0418732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AF1C9A0-275C-42CB-900B-D038AC5D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B6B5821-D010-40F5-8FCC-D80F811A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E386F69-62B3-48BE-9E13-C950CFBB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2F714E5-1088-4B23-B680-56E787B0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E=3NkBT/2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理想气体内能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CV=(∂E/∂T)V=3NkB/2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定容热容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P/T=(∂S/∂V)E,N=NkB/V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压强的熵导数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PV=NkBT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理想气体状态方程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0C85D53-9BB0-45AA-8C19-1B48D359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36507692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7D8210B-E224-45D5-959B-5CE5ADB9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599600A-369A-411C-8AAA-89527355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6514E99-A126-4A8C-9964-B4AE94BC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C26ABB2-C6A2-4F64-8395-925EF21F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同一个微正则熵同时产生量热关系和力学状态方程：对 E 求偏导定义 T，对 V 求偏导定义 P/T。这正是“从态数导出热力学”的核心范例。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02133DB-6804-48DF-ADC3-DB506587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50262367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0EF9789-3E54-451E-8DF8-ED286730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17CB707-B3C0-459C-B631-B7564EC3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BA33EF9-EEAD-43F8-B104-4AE3C0A1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21 页｜Maxwell–Boltzmann momentum distribution from the microcanonical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B697BBA-E578-406D-9AD5-7B5E452B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抽取第一个粒子的动量 p⃗1，其余 N−1 个粒子承担能量 E−p⃗1²/(2m)。态数比给出中间因子 VΩ(E−p⃗1²/2m,V,N−1)/Ω(E,V,N)，大 N 极限使用 (1−p⃗1²/2mE)^(3N/2−2)，最终得到 p(p⃗1)=1/(2πmkBT)^(3/2) exp[−p⃗1²/(2mkBT)]。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DC00519-1014-4EC6-BEC0-A59BD613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89608269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3E3C243-3423-47B7-8557-FF2B8F6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320E2CB-173D-4AF0-8DA9-7D5F977C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7A2A210-6FA8-41D5-A9B9-4EFD7B75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21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24524DA-E292-446F-AF8B-88377743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V Ω(E−p⃗1²/2m,V,N−1)/Ω(E,V,N)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单粒子动量的态数比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(1−p⃗1²/2mE)^(3N/2−2)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大 N 极限前的因子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p(p⃗1)=1/(2πmkBT)^(3/2) exp(−p⃗1²/(2mkBT))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三维动量分布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2995269-F403-4916-979F-7918AD44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1692696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B0D15F3-A7A4-4F95-9379-2DD3E217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8106969-97AF-4E7A-AAF6-E9E95286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EE44C94-648C-4E32-951A-BC51AB1E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C2B9CAC-4041-4D98-8D5E-9C97849D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总系统能量固定，但一个粒子与其余粒子交换能量，因此单粒子呈现正则的 Gaussian 动量分布。关键近似是 N 大且单粒子能量远小于总能量。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2F3DD97-3C00-470F-9C2C-2E80A41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44220202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FB9BE7F-942E-4012-B6C5-D609859F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90B8C9D-9E6B-40D5-9FD8-9964892B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C54EFE6-68EF-4309-B829-67447C5D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22 页｜Microcanonical ensemble summary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CF70E01-4382-4BB8-98AF-A084412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总结：微正则系综适用于固定 E、V、N 的孤立系统，能量壳上等概率；熵为 S=kB ln Ω；温度和压强由熵的偏导得到。本讲用二能级系统与理想气体检验这些关系，并得到单粒子 Maxwell–Boltzmann 分布。原页最后一句 “energy fluctuation of each particles is” 后没有给出完整内容。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06AE496-8E64-45E2-976A-504767B8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5936524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AD0350F-433F-4E9A-8AEC-FCE22AFA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27C5188-0AC5-4C55-97A3-266DBA29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3A4D48E-001F-417B-BFA9-DAF22962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FC7B674-4A58-4AC0-8B70-0FD5AFB2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ρeq=δ(H−E)/Ω(E)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微正则分布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S=kB ln 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Boltzmann 熵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EC22501-7B3C-49D5-9799-29A8FE15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40336088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7C27765-DBD6-4060-B17F-51EABB3C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D320A34-BA36-4792-8B68-2CC1C059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D6CBF8C-FEBA-4008-93EC-7AE1AA5D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16F5C29-70EF-44BA-A2A4-445A6D25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复习时按一条链记忆：约束 → ρ 与 Ω → S → 偏导定义 T、P → 具体模型积分或计数。若这条链能独立写出，就不容易把各公式孤立背诵。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9036C73-DA20-4783-817A-A6E87253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6046595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E78D5AF-6CC0-4699-ADAB-2C943134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63EB79E-B832-4562-A887-A6A61109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AFB0425-FECB-44E5-B008-DDB13502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23 页｜Different definitions of the microcanonical entropy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869774E-5718-49AC-B3D9-23850C9B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微正则态数有多种接近但不完全相同的定义。能量窗态数 Γ(E)=ω(E)Δ；态密度 ω(E)=∂Σ(E)/∂E；累积相空间体积 Σ(E)=∫_{H(p,q)&lt;E}d^{3N}p d^{3N}q。相应熵可写作 S∼k log Γ(E)、S=k log ω(E) 或 S=k log Σ(E)，并可能相差常数。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C117BC4-C854-451C-8C07-80BB146F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71938338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D0F91E0-2642-4929-8BE8-CB808F91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716CA61-E44E-45E0-B3E2-97A7C220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D99D54F-277E-4254-A53C-E85987AF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D43FDEC-396B-4912-B1AF-43BA0D2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Γ(E)=ω(E)Δ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窄能量窗中的态数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ω(E)=∂Σ(E)/∂E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态密度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Σ(E)=∫_{H(p,q)&lt;E} d^{3N}p d^{3N}q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能量壳内部的累积相空间体积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S∼k log Γ(E)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能量窗熵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S=k log ω(E)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态密度熵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S=k log Σ(E)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累积体积熵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AE65CEB-263A-4BA2-A9E9-98E07BD8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3321605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BD6B109-41D0-40FC-8E6B-965DC563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4F7ED3D-8D54-4660-AA00-206A1BA9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434178A-EBD2-4674-92B7-8FAF434F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B86EB07-648C-4D6C-A230-75145B40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有限系统中这些定义可产生细微差别；热力学极限下常给出相同的主导行为。做题必须先看老师把 Ω 指能量壳、能量窗还是壳内体积，不能只凭字母猜。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CCFD0CC-673A-4BE6-A282-9C51AA9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18502628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8AE4CD3-FD88-4B39-8EBC-64749505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B952CAA-E2B8-48DC-9AD0-DBB0D335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4FB6B74-58C2-40DB-B1BF-D476B262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24 页｜Gibbs paradox: mixing identical gases without N!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7FBBA26-334F-4A58-915D-C1833981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课件先使用未作不可区分性修正的熵 S(E,V,N)=NkB ln[V(4πemE/3N)^(3/2)]，并写成 S(T,V,N)=NkB ln[Vσ(T)]，σ(T)=(2πemT)^(3/2)，且 E=3NkBT/2。两份气体混合后，得到 ΔS=kB ln[(V1+V2)^(N1+N2)/(V1^N1 V2^N2)]，即使气体完全相同也预测正混合熵，这就是 Gibbs 悖论。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10490C6-B747-4CAF-89D1-DA2BF846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838605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05D5335-1BB3-4BD3-9805-15C49C7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DFDC826-2242-4E06-82EE-1C2C3CFA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D6EC26B-A518-4201-A40A-335AA2C1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3A8B5C8-0C5B-4BE5-B09B-4052AC5F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S(E,V,N)=NkB ln[V(4πemE/3N)^(3/2)]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未除 N! 的熵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S(T,V,N)=NkB ln[Vσ(T)]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温度形式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σ(T)=(2πemT)^(3/2)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原页定义；按原式保留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E=3NkBT/2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理想气体内能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ΔS=kB ln[(V1+V2)^(N1+N2)/(V1^N1 V2^N2)]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未修正计数得到的混合熵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7417B35-87B4-485D-8BF9-5A7BC962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39967679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29F3FD5-8608-4236-A24C-2E53078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1E6F54C-07BC-4424-B991-8625EF42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2DE4491-CF71-49C5-9C5F-F9DD1466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EAEFAA0-F11F-4B5A-873B-EE51E0CF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悖论来自把同种粒子的交换误计为新微观态。移去隔板前后，若气体相同、密度相同，宏观上没有可区分变化，熵不应跳增。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F6E6ECC-8DB8-4752-8F2A-A5FBF6F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7112059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346C534-D0ED-4DA7-8FD2-6D3F2A2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F5C6439-F635-422E-B837-8CD895A1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3EABB8F-BE37-490C-9AC8-C39EA3DD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25 页｜Indistinguishable particles and the N! correction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E0BFB5A-01AB-434D-8D8B-A29764F6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对相同粒子，交换两个粒子标签不产生新的物理微观态。因此经典相空间计数要把原来的 Ω 除以 N!，消除由标签排列造成的重复计数。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E5A6091-24C4-4B98-8A0F-0D405D8D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1987708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0BF0AD4-DE8F-492D-AA66-A0FD7CF1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A7D0508-1414-4134-A138-92E7658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803107-5426-415E-B2F1-8F494A0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014C2FF-E91C-4F02-8D11-D7520C67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Ωcorrected=Ω/N!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不可区分粒子的计数修正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7E89E51-C7FF-4F27-8CFD-FCCB8300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008935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8D69EBA-52C8-4469-BE86-9A2FB73D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2CC31F4-1BE2-4A69-A5CD-EB69EF5B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C37503B-90EE-4B5C-BB6E-1B528DC1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318E903-3181-47AA-87CA-AA37052D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N! 修正不是随意“修公式”，而是在承认相同粒子的标签不可观测。用 Stirling 近似 ln N!≈N ln N−N 后，熵中会出现 V/N，使其恢复广延性。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AC12C83-991C-4690-ABE5-FDEE20BD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13820374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2661564-DD74-4E5D-A98A-6F42DFC1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1D235E5-CAC8-4770-9BFD-44D2BD7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D1A30B7-25D8-4ACF-85AD-83E3995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26 页｜Resolution of Gibbs paradox for identical gases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32E3B29-4C80-4170-AEEE-D5514915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除以 N! 后，熵改为 S=NkB ln[(V/N)(4πemE/3N)^(3/2)]。若两侧同种气体密度相同，N1/V1=N2/V2=(N1+N2)/(V1+V2)，移除隔板后每一项的 V/N 不变，因此 ΔS 变为 ln1=0。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BE73752-5514-4BEF-B50E-D12D3620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60799826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A7504A5-9E40-45C2-8AB0-82F4C6C9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9935CDE-63BB-4A1E-974A-199C50E4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8CAB3B1-22A8-4A41-B28F-F4AE59D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D6DEA7F-C703-4B76-A83D-0ABD0B76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S=NkB ln[(V/N)(4πemE/3N)^(3/2)]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N! 修正后的熵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N1/V1=N2/V2=(N1+N2)/(V1+V2)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同种气体等密度条件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ΔS=kB ln 1=0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同种气体混合无熵变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2EFEB04-277B-4A22-BC78-B7E10C8A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1062808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2153B9D-DC21-4111-A9ED-A80BE32D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D626610-6697-49CE-B2DD-557BE359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A938648-2C17-4B0C-8A2F-3A261A4C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2FBE029-53CA-43E2-A5E3-35A069FA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这里的取消依赖“同种气体且初始密度相同”。修正后的熵只依赖每粒子可用体积 V/N，而不是独立依赖 V。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1120A69-FBED-4772-A17A-B40A9CE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0929342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63F191E-D86D-4F0B-A21A-281C9179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AFFBCB0-08C3-4BC8-B33B-CD0A5D9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F791B34-F6F4-4C5D-873E-843A4820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27 页｜Mixing different gases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06117C3-726B-41D8-A4AF-80001F4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若两侧是不同种气体，交换不同种类的粒子是可辨别的。计数只能分别除以 N1! 与 N2!，不能除以 (N1+N2)!。移除隔板后每种气体都可进入更大体积，因此仍有真实的正混合熵。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A32A9FF-126C-4B51-9234-1C15B3E6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2892548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04552E3-7DF9-450F-9BBF-A297B694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432F103-FC0A-4D8E-9502-31B92691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7F0A127-FC82-4D31-892A-1A7E0C73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360A1D8-BE95-41A7-9181-8EC20227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divide by N1!N2!, not by (N1+N2)!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不同组分分别做不可区分修正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1BEA4D5-9838-4E37-9860-367F9760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7338902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61DD6DE-5202-4438-98B8-348FE0AB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DBA7D60-859B-4B9C-87F9-E402D5D2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362A5C1-3728-45B8-83A7-B0925037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93D765D-190A-414B-B56F-6BA1B249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判断该除哪个阶乘：只对“交换后不可观测”的同种粒子标签做商除。不同气体的种类标签可观测，所以混合前后的组分分布确实改变。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7B8E783-5D29-4FF4-A6F0-EE9304F6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43980597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700</Words>
  <Application>Microsoft Office PowerPoint</Application>
  <PresentationFormat>Widescreen</PresentationFormat>
  <Paragraphs>171</Paragraphs>
  <Slides>105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ensemble: two level system</vt:lpstr>
      <vt:lpstr>Microcanonical ensemble: two level system</vt:lpstr>
      <vt:lpstr>Microcanonical ensemble: two level system</vt:lpstr>
      <vt:lpstr>Microcanonical ensemble: two level system</vt:lpstr>
      <vt:lpstr>Lagrange Multiplier and the most probable distribution.</vt:lpstr>
      <vt:lpstr>Lagrange Multiplier and the most probable distribution.</vt:lpstr>
      <vt:lpstr>Microcanonical ensemble: Ideal Gas</vt:lpstr>
      <vt:lpstr>Microcanonical ensemble: Ideal Gas</vt:lpstr>
      <vt:lpstr>Microcanonical ensemble: Ideal Gas</vt:lpstr>
      <vt:lpstr>Microcanonical ensemble: Ideal Gas</vt:lpstr>
      <vt:lpstr>Microcanonical ensemble: Ideal Gas</vt:lpstr>
      <vt:lpstr>Microcanonical ensemble: Ideal Gas</vt:lpstr>
      <vt:lpstr>Questions</vt:lpstr>
      <vt:lpstr>Microcanonical ensemble</vt:lpstr>
      <vt:lpstr>Gibbs paradox</vt:lpstr>
      <vt:lpstr>Gibbs paradox</vt:lpstr>
      <vt:lpstr>Gibbs paradox</vt:lpstr>
      <vt:lpstr>Gibbs paradox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1662</cp:revision>
  <dcterms:created xsi:type="dcterms:W3CDTF">2024-08-25T23:32:26Z</dcterms:created>
  <dcterms:modified xsi:type="dcterms:W3CDTF">2025-09-29T12:34:38Z</dcterms:modified>
</cp:coreProperties>
</file>