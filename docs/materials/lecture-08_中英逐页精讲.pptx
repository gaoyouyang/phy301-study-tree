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1"/>
  </p:notesMasterIdLst>
  <p:sldIdLst>
    <p:sldId id="287" r:id="rId2"/>
    <p:sldId id="559" r:id="rId26"/>
    <p:sldId id="560" r:id="rId27"/>
    <p:sldId id="495" r:id="rId3"/>
    <p:sldId id="561" r:id="rId28"/>
    <p:sldId id="562" r:id="rId29"/>
    <p:sldId id="563" r:id="rId30"/>
    <p:sldId id="499" r:id="rId4"/>
    <p:sldId id="564" r:id="rId31"/>
    <p:sldId id="565" r:id="rId32"/>
    <p:sldId id="566" r:id="rId33"/>
    <p:sldId id="500" r:id="rId5"/>
    <p:sldId id="567" r:id="rId34"/>
    <p:sldId id="568" r:id="rId35"/>
    <p:sldId id="569" r:id="rId36"/>
    <p:sldId id="537" r:id="rId6"/>
    <p:sldId id="570" r:id="rId37"/>
    <p:sldId id="571" r:id="rId38"/>
    <p:sldId id="572" r:id="rId39"/>
    <p:sldId id="501" r:id="rId7"/>
    <p:sldId id="573" r:id="rId40"/>
    <p:sldId id="574" r:id="rId41"/>
    <p:sldId id="575" r:id="rId42"/>
    <p:sldId id="502" r:id="rId8"/>
    <p:sldId id="576" r:id="rId43"/>
    <p:sldId id="577" r:id="rId44"/>
    <p:sldId id="578" r:id="rId45"/>
    <p:sldId id="503" r:id="rId9"/>
    <p:sldId id="579" r:id="rId46"/>
    <p:sldId id="580" r:id="rId47"/>
    <p:sldId id="581" r:id="rId48"/>
    <p:sldId id="504" r:id="rId10"/>
    <p:sldId id="582" r:id="rId49"/>
    <p:sldId id="583" r:id="rId50"/>
    <p:sldId id="584" r:id="rId51"/>
    <p:sldId id="536" r:id="rId11"/>
    <p:sldId id="585" r:id="rId52"/>
    <p:sldId id="586" r:id="rId53"/>
    <p:sldId id="587" r:id="rId54"/>
    <p:sldId id="505" r:id="rId12"/>
    <p:sldId id="588" r:id="rId55"/>
    <p:sldId id="589" r:id="rId56"/>
    <p:sldId id="590" r:id="rId57"/>
    <p:sldId id="507" r:id="rId13"/>
    <p:sldId id="591" r:id="rId58"/>
    <p:sldId id="592" r:id="rId59"/>
    <p:sldId id="593" r:id="rId60"/>
    <p:sldId id="509" r:id="rId14"/>
    <p:sldId id="594" r:id="rId61"/>
    <p:sldId id="595" r:id="rId62"/>
    <p:sldId id="596" r:id="rId63"/>
    <p:sldId id="510" r:id="rId15"/>
    <p:sldId id="597" r:id="rId64"/>
    <p:sldId id="598" r:id="rId65"/>
    <p:sldId id="599" r:id="rId66"/>
    <p:sldId id="557" r:id="rId16"/>
    <p:sldId id="600" r:id="rId67"/>
    <p:sldId id="601" r:id="rId68"/>
    <p:sldId id="602" r:id="rId69"/>
    <p:sldId id="558" r:id="rId17"/>
    <p:sldId id="603" r:id="rId70"/>
    <p:sldId id="604" r:id="rId71"/>
    <p:sldId id="605" r:id="rId72"/>
    <p:sldId id="556" r:id="rId18"/>
    <p:sldId id="606" r:id="rId73"/>
    <p:sldId id="607" r:id="rId74"/>
    <p:sldId id="608" r:id="rId75"/>
    <p:sldId id="555" r:id="rId19"/>
    <p:sldId id="609" r:id="rId76"/>
    <p:sldId id="610" r:id="rId77"/>
    <p:sldId id="611" r:id="rId78"/>
    <p:sldId id="550" r:id="rId20"/>
    <p:sldId id="612" r:id="rId79"/>
    <p:sldId id="613" r:id="rId80"/>
    <p:sldId id="614" r:id="rId8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5" d="100"/>
          <a:sy n="65" d="100"/>
        </p:scale>
        <p:origin x="6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25.svg"/><Relationship Id="rId18" Type="http://schemas.openxmlformats.org/officeDocument/2006/relationships/image" Target="../media/image32.png"/><Relationship Id="rId3" Type="http://schemas.openxmlformats.org/officeDocument/2006/relationships/image" Target="../media/image35.svg"/><Relationship Id="rId21" Type="http://schemas.openxmlformats.org/officeDocument/2006/relationships/image" Target="../media/image44.png"/><Relationship Id="rId7" Type="http://schemas.openxmlformats.org/officeDocument/2006/relationships/image" Target="../media/image39.png"/><Relationship Id="rId12" Type="http://schemas.openxmlformats.org/officeDocument/2006/relationships/image" Target="../media/image24.png"/><Relationship Id="rId17" Type="http://schemas.openxmlformats.org/officeDocument/2006/relationships/image" Target="../media/image31.png"/><Relationship Id="rId2" Type="http://schemas.openxmlformats.org/officeDocument/2006/relationships/image" Target="../media/image34.png"/><Relationship Id="rId16" Type="http://schemas.openxmlformats.org/officeDocument/2006/relationships/image" Target="../media/image28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23.png"/><Relationship Id="rId5" Type="http://schemas.openxmlformats.org/officeDocument/2006/relationships/image" Target="../media/image37.svg"/><Relationship Id="rId15" Type="http://schemas.openxmlformats.org/officeDocument/2006/relationships/image" Target="../media/image27.svg"/><Relationship Id="rId23" Type="http://schemas.openxmlformats.org/officeDocument/2006/relationships/image" Target="../media/image20.png"/><Relationship Id="rId10" Type="http://schemas.openxmlformats.org/officeDocument/2006/relationships/image" Target="../media/image42.svg"/><Relationship Id="rId19" Type="http://schemas.openxmlformats.org/officeDocument/2006/relationships/image" Target="../media/image33.sv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26.png"/><Relationship Id="rId22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8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12" Type="http://schemas.openxmlformats.org/officeDocument/2006/relationships/image" Target="../media/image49.svg"/><Relationship Id="rId2" Type="http://schemas.openxmlformats.org/officeDocument/2006/relationships/image" Target="../media/image2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48.png"/><Relationship Id="rId5" Type="http://schemas.openxmlformats.org/officeDocument/2006/relationships/image" Target="../media/image34.png"/><Relationship Id="rId15" Type="http://schemas.openxmlformats.org/officeDocument/2006/relationships/image" Target="../media/image51.svg"/><Relationship Id="rId10" Type="http://schemas.openxmlformats.org/officeDocument/2006/relationships/image" Target="../media/image47.png"/><Relationship Id="rId4" Type="http://schemas.openxmlformats.org/officeDocument/2006/relationships/image" Target="../media/image25.svg"/><Relationship Id="rId9" Type="http://schemas.openxmlformats.org/officeDocument/2006/relationships/image" Target="../media/image46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20.png"/><Relationship Id="rId5" Type="http://schemas.openxmlformats.org/officeDocument/2006/relationships/image" Target="../media/image28.png"/><Relationship Id="rId10" Type="http://schemas.openxmlformats.org/officeDocument/2006/relationships/image" Target="../media/image43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svg"/><Relationship Id="rId18" Type="http://schemas.openxmlformats.org/officeDocument/2006/relationships/image" Target="../media/image69.png"/><Relationship Id="rId3" Type="http://schemas.openxmlformats.org/officeDocument/2006/relationships/image" Target="../media/image24.png"/><Relationship Id="rId21" Type="http://schemas.openxmlformats.org/officeDocument/2006/relationships/image" Target="../media/image72.sv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svg"/><Relationship Id="rId2" Type="http://schemas.openxmlformats.org/officeDocument/2006/relationships/image" Target="../media/image23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2.svg"/><Relationship Id="rId24" Type="http://schemas.openxmlformats.org/officeDocument/2006/relationships/image" Target="../media/image20.png"/><Relationship Id="rId5" Type="http://schemas.openxmlformats.org/officeDocument/2006/relationships/image" Target="../media/image57.png"/><Relationship Id="rId15" Type="http://schemas.openxmlformats.org/officeDocument/2006/relationships/image" Target="../media/image66.svg"/><Relationship Id="rId23" Type="http://schemas.openxmlformats.org/officeDocument/2006/relationships/image" Target="../media/image51.svg"/><Relationship Id="rId10" Type="http://schemas.openxmlformats.org/officeDocument/2006/relationships/image" Target="../media/image61.png"/><Relationship Id="rId19" Type="http://schemas.openxmlformats.org/officeDocument/2006/relationships/image" Target="../media/image70.svg"/><Relationship Id="rId4" Type="http://schemas.openxmlformats.org/officeDocument/2006/relationships/image" Target="../media/image25.sv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50.png"/><Relationship Id="rId18" Type="http://schemas.openxmlformats.org/officeDocument/2006/relationships/image" Target="../media/image79.png"/><Relationship Id="rId3" Type="http://schemas.openxmlformats.org/officeDocument/2006/relationships/image" Target="../media/image24.png"/><Relationship Id="rId7" Type="http://schemas.openxmlformats.org/officeDocument/2006/relationships/image" Target="../media/image58.png"/><Relationship Id="rId12" Type="http://schemas.openxmlformats.org/officeDocument/2006/relationships/image" Target="../media/image75.png"/><Relationship Id="rId17" Type="http://schemas.openxmlformats.org/officeDocument/2006/relationships/image" Target="../media/image78.png"/><Relationship Id="rId2" Type="http://schemas.openxmlformats.org/officeDocument/2006/relationships/image" Target="../media/image23.png"/><Relationship Id="rId16" Type="http://schemas.openxmlformats.org/officeDocument/2006/relationships/image" Target="../media/image77.sv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5" Type="http://schemas.openxmlformats.org/officeDocument/2006/relationships/image" Target="../media/image76.png"/><Relationship Id="rId10" Type="http://schemas.openxmlformats.org/officeDocument/2006/relationships/image" Target="../media/image74.png"/><Relationship Id="rId19" Type="http://schemas.openxmlformats.org/officeDocument/2006/relationships/image" Target="../media/image80.svg"/><Relationship Id="rId4" Type="http://schemas.openxmlformats.org/officeDocument/2006/relationships/image" Target="../media/image25.svg"/><Relationship Id="rId9" Type="http://schemas.openxmlformats.org/officeDocument/2006/relationships/image" Target="../media/image73.png"/><Relationship Id="rId14" Type="http://schemas.openxmlformats.org/officeDocument/2006/relationships/image" Target="../media/image5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81.png"/><Relationship Id="rId18" Type="http://schemas.openxmlformats.org/officeDocument/2006/relationships/image" Target="../media/image60.png"/><Relationship Id="rId3" Type="http://schemas.openxmlformats.org/officeDocument/2006/relationships/image" Target="../media/image24.png"/><Relationship Id="rId21" Type="http://schemas.openxmlformats.org/officeDocument/2006/relationships/image" Target="../media/image82.png"/><Relationship Id="rId7" Type="http://schemas.openxmlformats.org/officeDocument/2006/relationships/image" Target="../media/image58.png"/><Relationship Id="rId12" Type="http://schemas.openxmlformats.org/officeDocument/2006/relationships/image" Target="../media/image51.svg"/><Relationship Id="rId17" Type="http://schemas.openxmlformats.org/officeDocument/2006/relationships/image" Target="../media/image64.svg"/><Relationship Id="rId2" Type="http://schemas.openxmlformats.org/officeDocument/2006/relationships/image" Target="../media/image23.png"/><Relationship Id="rId16" Type="http://schemas.openxmlformats.org/officeDocument/2006/relationships/image" Target="../media/image63.png"/><Relationship Id="rId20" Type="http://schemas.openxmlformats.org/officeDocument/2006/relationships/image" Target="../media/image7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0.png"/><Relationship Id="rId5" Type="http://schemas.openxmlformats.org/officeDocument/2006/relationships/image" Target="../media/image57.png"/><Relationship Id="rId15" Type="http://schemas.openxmlformats.org/officeDocument/2006/relationships/image" Target="../media/image62.svg"/><Relationship Id="rId23" Type="http://schemas.openxmlformats.org/officeDocument/2006/relationships/image" Target="../media/image20.png"/><Relationship Id="rId10" Type="http://schemas.openxmlformats.org/officeDocument/2006/relationships/image" Target="../media/image74.png"/><Relationship Id="rId19" Type="http://schemas.openxmlformats.org/officeDocument/2006/relationships/image" Target="../media/image76.png"/><Relationship Id="rId4" Type="http://schemas.openxmlformats.org/officeDocument/2006/relationships/image" Target="../media/image25.svg"/><Relationship Id="rId9" Type="http://schemas.openxmlformats.org/officeDocument/2006/relationships/image" Target="../media/image73.png"/><Relationship Id="rId14" Type="http://schemas.openxmlformats.org/officeDocument/2006/relationships/image" Target="../media/image61.png"/><Relationship Id="rId22" Type="http://schemas.openxmlformats.org/officeDocument/2006/relationships/image" Target="../media/image83.sv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97.svg"/><Relationship Id="rId26" Type="http://schemas.openxmlformats.org/officeDocument/2006/relationships/image" Target="../media/image105.svg"/><Relationship Id="rId3" Type="http://schemas.openxmlformats.org/officeDocument/2006/relationships/image" Target="../media/image24.png"/><Relationship Id="rId21" Type="http://schemas.openxmlformats.org/officeDocument/2006/relationships/image" Target="../media/image100.png"/><Relationship Id="rId34" Type="http://schemas.openxmlformats.org/officeDocument/2006/relationships/image" Target="../media/image113.svg"/><Relationship Id="rId7" Type="http://schemas.openxmlformats.org/officeDocument/2006/relationships/image" Target="../media/image86.png"/><Relationship Id="rId12" Type="http://schemas.openxmlformats.org/officeDocument/2006/relationships/image" Target="../media/image91.sv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2" Type="http://schemas.openxmlformats.org/officeDocument/2006/relationships/image" Target="../media/image23.png"/><Relationship Id="rId16" Type="http://schemas.openxmlformats.org/officeDocument/2006/relationships/image" Target="../media/image95.svg"/><Relationship Id="rId20" Type="http://schemas.openxmlformats.org/officeDocument/2006/relationships/image" Target="../media/image99.svg"/><Relationship Id="rId29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svg"/><Relationship Id="rId11" Type="http://schemas.openxmlformats.org/officeDocument/2006/relationships/image" Target="../media/image90.png"/><Relationship Id="rId24" Type="http://schemas.openxmlformats.org/officeDocument/2006/relationships/image" Target="../media/image103.svg"/><Relationship Id="rId32" Type="http://schemas.openxmlformats.org/officeDocument/2006/relationships/image" Target="../media/image111.sv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10" Type="http://schemas.openxmlformats.org/officeDocument/2006/relationships/image" Target="../media/image89.sv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" Type="http://schemas.openxmlformats.org/officeDocument/2006/relationships/image" Target="../media/image25.svg"/><Relationship Id="rId9" Type="http://schemas.openxmlformats.org/officeDocument/2006/relationships/image" Target="../media/image88.png"/><Relationship Id="rId14" Type="http://schemas.openxmlformats.org/officeDocument/2006/relationships/image" Target="../media/image93.svg"/><Relationship Id="rId22" Type="http://schemas.openxmlformats.org/officeDocument/2006/relationships/image" Target="../media/image101.svg"/><Relationship Id="rId27" Type="http://schemas.openxmlformats.org/officeDocument/2006/relationships/image" Target="../media/image106.png"/><Relationship Id="rId30" Type="http://schemas.openxmlformats.org/officeDocument/2006/relationships/image" Target="../media/image109.svg"/><Relationship Id="rId35" Type="http://schemas.openxmlformats.org/officeDocument/2006/relationships/image" Target="../media/image20.png"/><Relationship Id="rId8" Type="http://schemas.openxmlformats.org/officeDocument/2006/relationships/image" Target="../media/image87.sv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svg"/><Relationship Id="rId18" Type="http://schemas.openxmlformats.org/officeDocument/2006/relationships/image" Target="../media/image48.png"/><Relationship Id="rId26" Type="http://schemas.openxmlformats.org/officeDocument/2006/relationships/image" Target="../media/image126.png"/><Relationship Id="rId21" Type="http://schemas.openxmlformats.org/officeDocument/2006/relationships/image" Target="../media/image124.png"/><Relationship Id="rId34" Type="http://schemas.openxmlformats.org/officeDocument/2006/relationships/image" Target="../media/image132.emf"/><Relationship Id="rId7" Type="http://schemas.openxmlformats.org/officeDocument/2006/relationships/image" Target="../media/image103.sv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31.png"/><Relationship Id="rId33" Type="http://schemas.openxmlformats.org/officeDocument/2006/relationships/image" Target="../media/image131.svg"/><Relationship Id="rId38" Type="http://schemas.openxmlformats.org/officeDocument/2006/relationships/image" Target="../media/image20.png"/><Relationship Id="rId2" Type="http://schemas.openxmlformats.org/officeDocument/2006/relationships/image" Target="../media/image94.png"/><Relationship Id="rId16" Type="http://schemas.openxmlformats.org/officeDocument/2006/relationships/image" Target="../media/image122.png"/><Relationship Id="rId20" Type="http://schemas.openxmlformats.org/officeDocument/2006/relationships/image" Target="../media/image55.png"/><Relationship Id="rId29" Type="http://schemas.openxmlformats.org/officeDocument/2006/relationships/image" Target="../media/image9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17.svg"/><Relationship Id="rId24" Type="http://schemas.openxmlformats.org/officeDocument/2006/relationships/image" Target="../media/image28.png"/><Relationship Id="rId32" Type="http://schemas.openxmlformats.org/officeDocument/2006/relationships/image" Target="../media/image130.png"/><Relationship Id="rId37" Type="http://schemas.openxmlformats.org/officeDocument/2006/relationships/image" Target="../media/image135.png"/><Relationship Id="rId5" Type="http://schemas.openxmlformats.org/officeDocument/2006/relationships/image" Target="../media/image115.svg"/><Relationship Id="rId15" Type="http://schemas.openxmlformats.org/officeDocument/2006/relationships/image" Target="../media/image121.png"/><Relationship Id="rId23" Type="http://schemas.openxmlformats.org/officeDocument/2006/relationships/image" Target="../media/image38.png"/><Relationship Id="rId28" Type="http://schemas.openxmlformats.org/officeDocument/2006/relationships/image" Target="../media/image98.png"/><Relationship Id="rId36" Type="http://schemas.openxmlformats.org/officeDocument/2006/relationships/image" Target="../media/image134.svg"/><Relationship Id="rId10" Type="http://schemas.openxmlformats.org/officeDocument/2006/relationships/image" Target="../media/image116.png"/><Relationship Id="rId19" Type="http://schemas.openxmlformats.org/officeDocument/2006/relationships/image" Target="../media/image49.svg"/><Relationship Id="rId31" Type="http://schemas.openxmlformats.org/officeDocument/2006/relationships/image" Target="../media/image129.svg"/><Relationship Id="rId4" Type="http://schemas.openxmlformats.org/officeDocument/2006/relationships/image" Target="../media/image114.png"/><Relationship Id="rId9" Type="http://schemas.openxmlformats.org/officeDocument/2006/relationships/image" Target="../media/image97.svg"/><Relationship Id="rId14" Type="http://schemas.openxmlformats.org/officeDocument/2006/relationships/image" Target="../media/image120.png"/><Relationship Id="rId22" Type="http://schemas.openxmlformats.org/officeDocument/2006/relationships/image" Target="../media/image125.svg"/><Relationship Id="rId27" Type="http://schemas.openxmlformats.org/officeDocument/2006/relationships/image" Target="../media/image127.svg"/><Relationship Id="rId30" Type="http://schemas.openxmlformats.org/officeDocument/2006/relationships/image" Target="../media/image128.png"/><Relationship Id="rId35" Type="http://schemas.openxmlformats.org/officeDocument/2006/relationships/image" Target="../media/image133.png"/><Relationship Id="rId8" Type="http://schemas.openxmlformats.org/officeDocument/2006/relationships/image" Target="../media/image96.png"/><Relationship Id="rId3" Type="http://schemas.openxmlformats.org/officeDocument/2006/relationships/image" Target="../media/image9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19.svg"/><Relationship Id="rId18" Type="http://schemas.openxmlformats.org/officeDocument/2006/relationships/image" Target="../media/image104.png"/><Relationship Id="rId26" Type="http://schemas.openxmlformats.org/officeDocument/2006/relationships/image" Target="../media/image20.png"/><Relationship Id="rId3" Type="http://schemas.openxmlformats.org/officeDocument/2006/relationships/image" Target="../media/image103.svg"/><Relationship Id="rId21" Type="http://schemas.openxmlformats.org/officeDocument/2006/relationships/image" Target="../media/image107.png"/><Relationship Id="rId7" Type="http://schemas.openxmlformats.org/officeDocument/2006/relationships/image" Target="../media/image139.svg"/><Relationship Id="rId12" Type="http://schemas.openxmlformats.org/officeDocument/2006/relationships/image" Target="../media/image118.png"/><Relationship Id="rId17" Type="http://schemas.openxmlformats.org/officeDocument/2006/relationships/image" Target="../media/image99.svg"/><Relationship Id="rId25" Type="http://schemas.openxmlformats.org/officeDocument/2006/relationships/image" Target="../media/image113.svg"/><Relationship Id="rId2" Type="http://schemas.openxmlformats.org/officeDocument/2006/relationships/image" Target="../media/image102.png"/><Relationship Id="rId16" Type="http://schemas.openxmlformats.org/officeDocument/2006/relationships/image" Target="../media/image98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svg"/><Relationship Id="rId24" Type="http://schemas.openxmlformats.org/officeDocument/2006/relationships/image" Target="../media/image112.png"/><Relationship Id="rId5" Type="http://schemas.openxmlformats.org/officeDocument/2006/relationships/image" Target="../media/image137.svg"/><Relationship Id="rId15" Type="http://schemas.openxmlformats.org/officeDocument/2006/relationships/image" Target="../media/image97.svg"/><Relationship Id="rId23" Type="http://schemas.openxmlformats.org/officeDocument/2006/relationships/image" Target="../media/image125.svg"/><Relationship Id="rId10" Type="http://schemas.openxmlformats.org/officeDocument/2006/relationships/image" Target="../media/image142.png"/><Relationship Id="rId19" Type="http://schemas.openxmlformats.org/officeDocument/2006/relationships/image" Target="../media/image105.svg"/><Relationship Id="rId4" Type="http://schemas.openxmlformats.org/officeDocument/2006/relationships/image" Target="../media/image136.png"/><Relationship Id="rId9" Type="http://schemas.openxmlformats.org/officeDocument/2006/relationships/image" Target="../media/image141.svg"/><Relationship Id="rId14" Type="http://schemas.openxmlformats.org/officeDocument/2006/relationships/image" Target="../media/image96.png"/><Relationship Id="rId22" Type="http://schemas.openxmlformats.org/officeDocument/2006/relationships/image" Target="../media/image1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97.svg"/><Relationship Id="rId18" Type="http://schemas.openxmlformats.org/officeDocument/2006/relationships/image" Target="../media/image124.png"/><Relationship Id="rId3" Type="http://schemas.openxmlformats.org/officeDocument/2006/relationships/image" Target="../media/image101.svg"/><Relationship Id="rId21" Type="http://schemas.openxmlformats.org/officeDocument/2006/relationships/image" Target="../media/image112.png"/><Relationship Id="rId7" Type="http://schemas.openxmlformats.org/officeDocument/2006/relationships/image" Target="../media/image119.svg"/><Relationship Id="rId12" Type="http://schemas.openxmlformats.org/officeDocument/2006/relationships/image" Target="../media/image96.png"/><Relationship Id="rId17" Type="http://schemas.openxmlformats.org/officeDocument/2006/relationships/image" Target="../media/image149.svg"/><Relationship Id="rId2" Type="http://schemas.openxmlformats.org/officeDocument/2006/relationships/image" Target="../media/image100.png"/><Relationship Id="rId16" Type="http://schemas.openxmlformats.org/officeDocument/2006/relationships/image" Target="../media/image148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03.svg"/><Relationship Id="rId5" Type="http://schemas.openxmlformats.org/officeDocument/2006/relationships/image" Target="../media/image145.svg"/><Relationship Id="rId15" Type="http://schemas.openxmlformats.org/officeDocument/2006/relationships/image" Target="../media/image99.svg"/><Relationship Id="rId23" Type="http://schemas.openxmlformats.org/officeDocument/2006/relationships/image" Target="../media/image20.png"/><Relationship Id="rId10" Type="http://schemas.openxmlformats.org/officeDocument/2006/relationships/image" Target="../media/image102.png"/><Relationship Id="rId19" Type="http://schemas.openxmlformats.org/officeDocument/2006/relationships/image" Target="../media/image125.svg"/><Relationship Id="rId4" Type="http://schemas.openxmlformats.org/officeDocument/2006/relationships/image" Target="../media/image144.png"/><Relationship Id="rId9" Type="http://schemas.openxmlformats.org/officeDocument/2006/relationships/image" Target="../media/image147.svg"/><Relationship Id="rId14" Type="http://schemas.openxmlformats.org/officeDocument/2006/relationships/image" Target="../media/image98.png"/><Relationship Id="rId22" Type="http://schemas.openxmlformats.org/officeDocument/2006/relationships/image" Target="../media/image113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2.svg"/><Relationship Id="rId18" Type="http://schemas.openxmlformats.org/officeDocument/2006/relationships/image" Target="../media/image167.png"/><Relationship Id="rId26" Type="http://schemas.openxmlformats.org/officeDocument/2006/relationships/image" Target="../media/image175.png"/><Relationship Id="rId39" Type="http://schemas.openxmlformats.org/officeDocument/2006/relationships/image" Target="../media/image188.svg"/><Relationship Id="rId21" Type="http://schemas.openxmlformats.org/officeDocument/2006/relationships/image" Target="../media/image170.svg"/><Relationship Id="rId34" Type="http://schemas.openxmlformats.org/officeDocument/2006/relationships/image" Target="../media/image183.png"/><Relationship Id="rId42" Type="http://schemas.openxmlformats.org/officeDocument/2006/relationships/image" Target="../media/image20.png"/><Relationship Id="rId7" Type="http://schemas.openxmlformats.org/officeDocument/2006/relationships/image" Target="../media/image156.svg"/><Relationship Id="rId2" Type="http://schemas.openxmlformats.org/officeDocument/2006/relationships/image" Target="../media/image151.png"/><Relationship Id="rId16" Type="http://schemas.openxmlformats.org/officeDocument/2006/relationships/image" Target="../media/image165.png"/><Relationship Id="rId20" Type="http://schemas.openxmlformats.org/officeDocument/2006/relationships/image" Target="../media/image169.png"/><Relationship Id="rId29" Type="http://schemas.openxmlformats.org/officeDocument/2006/relationships/image" Target="../media/image178.svg"/><Relationship Id="rId41" Type="http://schemas.openxmlformats.org/officeDocument/2006/relationships/image" Target="../media/image19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60.svg"/><Relationship Id="rId24" Type="http://schemas.openxmlformats.org/officeDocument/2006/relationships/image" Target="../media/image173.png"/><Relationship Id="rId32" Type="http://schemas.openxmlformats.org/officeDocument/2006/relationships/image" Target="../media/image181.png"/><Relationship Id="rId37" Type="http://schemas.openxmlformats.org/officeDocument/2006/relationships/image" Target="../media/image186.svg"/><Relationship Id="rId40" Type="http://schemas.openxmlformats.org/officeDocument/2006/relationships/image" Target="../media/image189.png"/><Relationship Id="rId5" Type="http://schemas.openxmlformats.org/officeDocument/2006/relationships/image" Target="../media/image154.svg"/><Relationship Id="rId15" Type="http://schemas.openxmlformats.org/officeDocument/2006/relationships/image" Target="../media/image164.svg"/><Relationship Id="rId23" Type="http://schemas.openxmlformats.org/officeDocument/2006/relationships/image" Target="../media/image172.svg"/><Relationship Id="rId28" Type="http://schemas.openxmlformats.org/officeDocument/2006/relationships/image" Target="../media/image177.png"/><Relationship Id="rId36" Type="http://schemas.openxmlformats.org/officeDocument/2006/relationships/image" Target="../media/image185.png"/><Relationship Id="rId10" Type="http://schemas.openxmlformats.org/officeDocument/2006/relationships/image" Target="../media/image159.png"/><Relationship Id="rId19" Type="http://schemas.openxmlformats.org/officeDocument/2006/relationships/image" Target="../media/image168.svg"/><Relationship Id="rId31" Type="http://schemas.openxmlformats.org/officeDocument/2006/relationships/image" Target="../media/image180.svg"/><Relationship Id="rId4" Type="http://schemas.openxmlformats.org/officeDocument/2006/relationships/image" Target="../media/image153.png"/><Relationship Id="rId9" Type="http://schemas.openxmlformats.org/officeDocument/2006/relationships/image" Target="../media/image158.svg"/><Relationship Id="rId14" Type="http://schemas.openxmlformats.org/officeDocument/2006/relationships/image" Target="../media/image163.png"/><Relationship Id="rId22" Type="http://schemas.openxmlformats.org/officeDocument/2006/relationships/image" Target="../media/image171.png"/><Relationship Id="rId27" Type="http://schemas.openxmlformats.org/officeDocument/2006/relationships/image" Target="../media/image176.svg"/><Relationship Id="rId30" Type="http://schemas.openxmlformats.org/officeDocument/2006/relationships/image" Target="../media/image179.png"/><Relationship Id="rId35" Type="http://schemas.openxmlformats.org/officeDocument/2006/relationships/image" Target="../media/image184.svg"/><Relationship Id="rId8" Type="http://schemas.openxmlformats.org/officeDocument/2006/relationships/image" Target="../media/image157.png"/><Relationship Id="rId3" Type="http://schemas.openxmlformats.org/officeDocument/2006/relationships/image" Target="../media/image152.svg"/><Relationship Id="rId12" Type="http://schemas.openxmlformats.org/officeDocument/2006/relationships/image" Target="../media/image161.png"/><Relationship Id="rId17" Type="http://schemas.openxmlformats.org/officeDocument/2006/relationships/image" Target="../media/image166.svg"/><Relationship Id="rId25" Type="http://schemas.openxmlformats.org/officeDocument/2006/relationships/image" Target="../media/image174.svg"/><Relationship Id="rId33" Type="http://schemas.openxmlformats.org/officeDocument/2006/relationships/image" Target="../media/image182.svg"/><Relationship Id="rId38" Type="http://schemas.openxmlformats.org/officeDocument/2006/relationships/image" Target="../media/image18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96.png"/><Relationship Id="rId18" Type="http://schemas.openxmlformats.org/officeDocument/2006/relationships/image" Target="../media/image201.svg"/><Relationship Id="rId3" Type="http://schemas.openxmlformats.org/officeDocument/2006/relationships/image" Target="../media/image172.svg"/><Relationship Id="rId21" Type="http://schemas.openxmlformats.org/officeDocument/2006/relationships/image" Target="../media/image20.png"/><Relationship Id="rId7" Type="http://schemas.openxmlformats.org/officeDocument/2006/relationships/image" Target="../media/image192.svg"/><Relationship Id="rId12" Type="http://schemas.openxmlformats.org/officeDocument/2006/relationships/image" Target="../media/image188.svg"/><Relationship Id="rId17" Type="http://schemas.openxmlformats.org/officeDocument/2006/relationships/image" Target="../media/image200.png"/><Relationship Id="rId2" Type="http://schemas.openxmlformats.org/officeDocument/2006/relationships/image" Target="../media/image171.png"/><Relationship Id="rId16" Type="http://schemas.openxmlformats.org/officeDocument/2006/relationships/image" Target="../media/image199.svg"/><Relationship Id="rId20" Type="http://schemas.openxmlformats.org/officeDocument/2006/relationships/image" Target="../media/image20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187.png"/><Relationship Id="rId5" Type="http://schemas.openxmlformats.org/officeDocument/2006/relationships/image" Target="../media/image158.svg"/><Relationship Id="rId15" Type="http://schemas.openxmlformats.org/officeDocument/2006/relationships/image" Target="../media/image198.png"/><Relationship Id="rId10" Type="http://schemas.openxmlformats.org/officeDocument/2006/relationships/image" Target="../media/image195.png"/><Relationship Id="rId19" Type="http://schemas.openxmlformats.org/officeDocument/2006/relationships/image" Target="../media/image202.png"/><Relationship Id="rId4" Type="http://schemas.openxmlformats.org/officeDocument/2006/relationships/image" Target="../media/image157.png"/><Relationship Id="rId9" Type="http://schemas.openxmlformats.org/officeDocument/2006/relationships/image" Target="../media/image194.svg"/><Relationship Id="rId14" Type="http://schemas.openxmlformats.org/officeDocument/2006/relationships/image" Target="../media/image19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svg"/><Relationship Id="rId18" Type="http://schemas.openxmlformats.org/officeDocument/2006/relationships/image" Target="../media/image216.png"/><Relationship Id="rId3" Type="http://schemas.openxmlformats.org/officeDocument/2006/relationships/image" Target="../media/image197.svg"/><Relationship Id="rId21" Type="http://schemas.openxmlformats.org/officeDocument/2006/relationships/image" Target="../media/image20.png"/><Relationship Id="rId7" Type="http://schemas.openxmlformats.org/officeDocument/2006/relationships/image" Target="../media/image205.sv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" Type="http://schemas.openxmlformats.org/officeDocument/2006/relationships/image" Target="../media/image196.png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image" Target="../media/image209.svg"/><Relationship Id="rId5" Type="http://schemas.openxmlformats.org/officeDocument/2006/relationships/image" Target="../media/image199.svg"/><Relationship Id="rId15" Type="http://schemas.openxmlformats.org/officeDocument/2006/relationships/image" Target="../media/image213.svg"/><Relationship Id="rId10" Type="http://schemas.openxmlformats.org/officeDocument/2006/relationships/image" Target="../media/image208.png"/><Relationship Id="rId19" Type="http://schemas.openxmlformats.org/officeDocument/2006/relationships/image" Target="../media/image217.png"/><Relationship Id="rId4" Type="http://schemas.openxmlformats.org/officeDocument/2006/relationships/image" Target="../media/image198.png"/><Relationship Id="rId9" Type="http://schemas.openxmlformats.org/officeDocument/2006/relationships/image" Target="../media/image207.svg"/><Relationship Id="rId14" Type="http://schemas.openxmlformats.org/officeDocument/2006/relationships/image" Target="../media/image2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svg"/><Relationship Id="rId13" Type="http://schemas.openxmlformats.org/officeDocument/2006/relationships/image" Target="../media/image227.png"/><Relationship Id="rId18" Type="http://schemas.openxmlformats.org/officeDocument/2006/relationships/image" Target="../media/image230.svg"/><Relationship Id="rId26" Type="http://schemas.openxmlformats.org/officeDocument/2006/relationships/image" Target="../media/image236.svg"/><Relationship Id="rId3" Type="http://schemas.openxmlformats.org/officeDocument/2006/relationships/image" Target="../media/image219.png"/><Relationship Id="rId21" Type="http://schemas.openxmlformats.org/officeDocument/2006/relationships/image" Target="../media/image231.png"/><Relationship Id="rId7" Type="http://schemas.openxmlformats.org/officeDocument/2006/relationships/image" Target="../media/image223.png"/><Relationship Id="rId12" Type="http://schemas.openxmlformats.org/officeDocument/2006/relationships/image" Target="../media/image27.svg"/><Relationship Id="rId17" Type="http://schemas.openxmlformats.org/officeDocument/2006/relationships/image" Target="../media/image229.png"/><Relationship Id="rId25" Type="http://schemas.openxmlformats.org/officeDocument/2006/relationships/image" Target="../media/image235.png"/><Relationship Id="rId2" Type="http://schemas.openxmlformats.org/officeDocument/2006/relationships/image" Target="../media/image218.png"/><Relationship Id="rId16" Type="http://schemas.openxmlformats.org/officeDocument/2006/relationships/image" Target="../media/image85.svg"/><Relationship Id="rId20" Type="http://schemas.openxmlformats.org/officeDocument/2006/relationships/image" Target="../media/image9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svg"/><Relationship Id="rId11" Type="http://schemas.openxmlformats.org/officeDocument/2006/relationships/image" Target="../media/image26.png"/><Relationship Id="rId24" Type="http://schemas.openxmlformats.org/officeDocument/2006/relationships/image" Target="../media/image234.svg"/><Relationship Id="rId5" Type="http://schemas.openxmlformats.org/officeDocument/2006/relationships/image" Target="../media/image221.png"/><Relationship Id="rId15" Type="http://schemas.openxmlformats.org/officeDocument/2006/relationships/image" Target="../media/image84.png"/><Relationship Id="rId23" Type="http://schemas.openxmlformats.org/officeDocument/2006/relationships/image" Target="../media/image233.png"/><Relationship Id="rId10" Type="http://schemas.openxmlformats.org/officeDocument/2006/relationships/image" Target="../media/image226.svg"/><Relationship Id="rId19" Type="http://schemas.openxmlformats.org/officeDocument/2006/relationships/image" Target="../media/image90.png"/><Relationship Id="rId4" Type="http://schemas.openxmlformats.org/officeDocument/2006/relationships/image" Target="../media/image220.svg"/><Relationship Id="rId9" Type="http://schemas.openxmlformats.org/officeDocument/2006/relationships/image" Target="../media/image225.png"/><Relationship Id="rId14" Type="http://schemas.openxmlformats.org/officeDocument/2006/relationships/image" Target="../media/image228.svg"/><Relationship Id="rId22" Type="http://schemas.openxmlformats.org/officeDocument/2006/relationships/image" Target="../media/image232.svg"/><Relationship Id="rId27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19.svg"/><Relationship Id="rId18" Type="http://schemas.openxmlformats.org/officeDocument/2006/relationships/image" Target="../media/image125.svg"/><Relationship Id="rId26" Type="http://schemas.openxmlformats.org/officeDocument/2006/relationships/image" Target="../media/image20.png"/><Relationship Id="rId3" Type="http://schemas.openxmlformats.org/officeDocument/2006/relationships/image" Target="../media/image95.svg"/><Relationship Id="rId21" Type="http://schemas.openxmlformats.org/officeDocument/2006/relationships/image" Target="../media/image31.png"/><Relationship Id="rId7" Type="http://schemas.openxmlformats.org/officeDocument/2006/relationships/image" Target="../media/image103.svg"/><Relationship Id="rId12" Type="http://schemas.openxmlformats.org/officeDocument/2006/relationships/image" Target="../media/image118.png"/><Relationship Id="rId17" Type="http://schemas.openxmlformats.org/officeDocument/2006/relationships/image" Target="../media/image124.png"/><Relationship Id="rId25" Type="http://schemas.openxmlformats.org/officeDocument/2006/relationships/image" Target="../media/image99.svg"/><Relationship Id="rId2" Type="http://schemas.openxmlformats.org/officeDocument/2006/relationships/image" Target="../media/image94.png"/><Relationship Id="rId16" Type="http://schemas.openxmlformats.org/officeDocument/2006/relationships/image" Target="../media/image55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17.svg"/><Relationship Id="rId24" Type="http://schemas.openxmlformats.org/officeDocument/2006/relationships/image" Target="../media/image98.png"/><Relationship Id="rId5" Type="http://schemas.openxmlformats.org/officeDocument/2006/relationships/image" Target="../media/image115.svg"/><Relationship Id="rId15" Type="http://schemas.openxmlformats.org/officeDocument/2006/relationships/image" Target="../media/image49.svg"/><Relationship Id="rId23" Type="http://schemas.openxmlformats.org/officeDocument/2006/relationships/image" Target="../media/image127.svg"/><Relationship Id="rId10" Type="http://schemas.openxmlformats.org/officeDocument/2006/relationships/image" Target="../media/image116.png"/><Relationship Id="rId19" Type="http://schemas.openxmlformats.org/officeDocument/2006/relationships/image" Target="../media/image38.png"/><Relationship Id="rId4" Type="http://schemas.openxmlformats.org/officeDocument/2006/relationships/image" Target="../media/image114.png"/><Relationship Id="rId9" Type="http://schemas.openxmlformats.org/officeDocument/2006/relationships/image" Target="../media/image97.svg"/><Relationship Id="rId14" Type="http://schemas.openxmlformats.org/officeDocument/2006/relationships/image" Target="../media/image48.png"/><Relationship Id="rId22" Type="http://schemas.openxmlformats.org/officeDocument/2006/relationships/image" Target="../media/image12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Quantum statistics with identical particles</a:t>
            </a:r>
          </a:p>
          <a:p>
            <a:endParaRPr lang="en-US" dirty="0"/>
          </a:p>
          <a:p>
            <a:r>
              <a:rPr lang="en-US" dirty="0"/>
              <a:t>Fermi and Bose statistics</a:t>
            </a:r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1252794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D407-E4C0-4D8E-A04A-D420DEE3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 with N-particles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757F7-496D-4F40-B17D-40B8E7BF611A}"/>
              </a:ext>
            </a:extLst>
          </p:cNvPr>
          <p:cNvSpPr txBox="1"/>
          <p:nvPr/>
        </p:nvSpPr>
        <p:spPr>
          <a:xfrm>
            <a:off x="4238966" y="2002055"/>
            <a:ext cx="2522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Boson </a:t>
            </a:r>
            <a:r>
              <a:rPr lang="en-MY" sz="2400" b="1" dirty="0" err="1"/>
              <a:t>v.s</a:t>
            </a:r>
            <a:r>
              <a:rPr lang="en-MY" sz="2400" b="1" dirty="0"/>
              <a:t>. Fermi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C98AC-3092-4DDD-96B3-746402E15BB9}"/>
              </a:ext>
            </a:extLst>
          </p:cNvPr>
          <p:cNvSpPr txBox="1"/>
          <p:nvPr/>
        </p:nvSpPr>
        <p:spPr>
          <a:xfrm flipH="1">
            <a:off x="536607" y="2874382"/>
            <a:ext cx="439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Consider a two identical particle system: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631505-B119-480D-B56C-173A396AF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907" y="2874382"/>
            <a:ext cx="3062489" cy="48999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8A1BE7-5C73-4CE8-90EC-DEB697D31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2370" y="3531914"/>
            <a:ext cx="1547913" cy="64688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5A48908-B136-4F27-8DE8-E1C53A56570A}"/>
              </a:ext>
            </a:extLst>
          </p:cNvPr>
          <p:cNvGrpSpPr/>
          <p:nvPr/>
        </p:nvGrpSpPr>
        <p:grpSpPr>
          <a:xfrm>
            <a:off x="2955046" y="4056447"/>
            <a:ext cx="4254275" cy="785517"/>
            <a:chOff x="2955046" y="4056447"/>
            <a:chExt cx="4254275" cy="785517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8719AE33-1971-48A7-BBCD-0B510CD4001D}"/>
                </a:ext>
              </a:extLst>
            </p:cNvPr>
            <p:cNvSpPr/>
            <p:nvPr/>
          </p:nvSpPr>
          <p:spPr>
            <a:xfrm rot="5400000">
              <a:off x="4965048" y="2100931"/>
              <a:ext cx="288758" cy="419978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B5B012-15E2-40C7-B0CF-0FE03E21E45F}"/>
                </a:ext>
              </a:extLst>
            </p:cNvPr>
            <p:cNvSpPr txBox="1"/>
            <p:nvPr/>
          </p:nvSpPr>
          <p:spPr>
            <a:xfrm>
              <a:off x="2955046" y="4472632"/>
              <a:ext cx="253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Must be the same state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8F97373-3BA8-4115-A1C3-6CBD8C40AFAB}"/>
              </a:ext>
            </a:extLst>
          </p:cNvPr>
          <p:cNvSpPr txBox="1"/>
          <p:nvPr/>
        </p:nvSpPr>
        <p:spPr>
          <a:xfrm>
            <a:off x="3128044" y="6424587"/>
            <a:ext cx="241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(+) Boson is symmetry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618C67-CA68-4113-89AB-2659C7082811}"/>
              </a:ext>
            </a:extLst>
          </p:cNvPr>
          <p:cNvSpPr txBox="1"/>
          <p:nvPr/>
        </p:nvSpPr>
        <p:spPr>
          <a:xfrm>
            <a:off x="6005985" y="6435477"/>
            <a:ext cx="3072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(-) Fermion is anti-symmetry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4DEE7E-F501-472C-AEB7-190B6D87B217}"/>
              </a:ext>
            </a:extLst>
          </p:cNvPr>
          <p:cNvSpPr txBox="1"/>
          <p:nvPr/>
        </p:nvSpPr>
        <p:spPr>
          <a:xfrm>
            <a:off x="9302138" y="6317177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 err="1"/>
              <a:t>Anyon</a:t>
            </a:r>
            <a:r>
              <a:rPr lang="en-MY" dirty="0"/>
              <a:t>. (only in 2D system)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8005D7-B3F9-473F-BCC2-3BBE87B7A5E5}"/>
              </a:ext>
            </a:extLst>
          </p:cNvPr>
          <p:cNvGrpSpPr/>
          <p:nvPr/>
        </p:nvGrpSpPr>
        <p:grpSpPr>
          <a:xfrm>
            <a:off x="5430165" y="3226698"/>
            <a:ext cx="3151720" cy="894179"/>
            <a:chOff x="5430165" y="3226698"/>
            <a:chExt cx="3151720" cy="89417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2AC0BB-EB5E-41A4-95A1-4A6E1DAE4AAD}"/>
                </a:ext>
              </a:extLst>
            </p:cNvPr>
            <p:cNvSpPr txBox="1"/>
            <p:nvPr/>
          </p:nvSpPr>
          <p:spPr>
            <a:xfrm>
              <a:off x="5690501" y="3226698"/>
              <a:ext cx="185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Exchange 1 and 2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EABF31F8-4ED9-42CD-A49B-DCC9D6E93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0165" y="3524606"/>
              <a:ext cx="3151720" cy="596271"/>
            </a:xfrm>
            <a:prstGeom prst="rect">
              <a:avLst/>
            </a:prstGeom>
          </p:spPr>
        </p:pic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7853BAF9-42CF-48D9-9CD1-08DDFD89B3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9396" y="4820065"/>
            <a:ext cx="3474369" cy="62257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A213D40-6783-45D7-82F6-55D543BAD296}"/>
              </a:ext>
            </a:extLst>
          </p:cNvPr>
          <p:cNvGrpSpPr/>
          <p:nvPr/>
        </p:nvGrpSpPr>
        <p:grpSpPr>
          <a:xfrm>
            <a:off x="7859661" y="5329151"/>
            <a:ext cx="1656194" cy="519617"/>
            <a:chOff x="7859661" y="5329151"/>
            <a:chExt cx="1656194" cy="5196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DAE26E-0D52-411E-8C6E-4C3738200BE7}"/>
                </a:ext>
              </a:extLst>
            </p:cNvPr>
            <p:cNvSpPr txBox="1"/>
            <p:nvPr/>
          </p:nvSpPr>
          <p:spPr>
            <a:xfrm>
              <a:off x="7859661" y="544806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But</a:t>
              </a: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ACD0E04F-FF61-4101-B575-D407807F2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57375" y="5329151"/>
              <a:ext cx="1058480" cy="519617"/>
            </a:xfrm>
            <a:prstGeom prst="rect">
              <a:avLst/>
            </a:prstGeom>
          </p:spPr>
        </p:pic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0C6BA77B-7918-43C9-8F5C-749647BF7C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57524" y="5396858"/>
            <a:ext cx="1441254" cy="512024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FA99C78D-4AAD-4ED2-BFC2-903FADC847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0283" y="5999961"/>
            <a:ext cx="2884124" cy="545645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B81C054-D717-4E46-B0F8-1A5B2D799B5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62982" y="5371052"/>
            <a:ext cx="3611564" cy="60518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05D628A-6AC8-46AE-B051-09561896BC85}"/>
              </a:ext>
            </a:extLst>
          </p:cNvPr>
          <p:cNvGrpSpPr/>
          <p:nvPr/>
        </p:nvGrpSpPr>
        <p:grpSpPr>
          <a:xfrm>
            <a:off x="5594492" y="4352061"/>
            <a:ext cx="3390956" cy="588576"/>
            <a:chOff x="5594492" y="4352061"/>
            <a:chExt cx="3390956" cy="588576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501C81EB-925B-4982-83E3-673CEB8EC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042568" y="4352061"/>
              <a:ext cx="2942880" cy="588576"/>
            </a:xfrm>
            <a:prstGeom prst="rect">
              <a:avLst/>
            </a:prstGeom>
          </p:spPr>
        </p:pic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6A6F21D9-ED88-46F2-855C-FA665FBB8141}"/>
                </a:ext>
              </a:extLst>
            </p:cNvPr>
            <p:cNvSpPr/>
            <p:nvPr/>
          </p:nvSpPr>
          <p:spPr>
            <a:xfrm>
              <a:off x="5594492" y="4548112"/>
              <a:ext cx="462856" cy="1965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2D2357B-11C8-45D8-B9CF-BF383C30B7F9}"/>
              </a:ext>
            </a:extLst>
          </p:cNvPr>
          <p:cNvSpPr txBox="1"/>
          <p:nvPr/>
        </p:nvSpPr>
        <p:spPr>
          <a:xfrm>
            <a:off x="2399208" y="5444897"/>
            <a:ext cx="177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Exchange again: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D61B7D-A4D3-41CF-BDE7-19CEECE8D5DC}"/>
              </a:ext>
            </a:extLst>
          </p:cNvPr>
          <p:cNvGrpSpPr/>
          <p:nvPr/>
        </p:nvGrpSpPr>
        <p:grpSpPr>
          <a:xfrm>
            <a:off x="8457375" y="3630510"/>
            <a:ext cx="2466041" cy="1228710"/>
            <a:chOff x="8457375" y="3630510"/>
            <a:chExt cx="2466041" cy="12287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8A6FAC-6388-441F-A1A5-96E5A4ECC254}"/>
                </a:ext>
              </a:extLst>
            </p:cNvPr>
            <p:cNvSpPr txBox="1"/>
            <p:nvPr/>
          </p:nvSpPr>
          <p:spPr>
            <a:xfrm>
              <a:off x="8969483" y="4489888"/>
              <a:ext cx="19539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Substitute into (1)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5D9E05-E5BD-4B2E-99FC-4EF3DAF8A45B}"/>
                </a:ext>
              </a:extLst>
            </p:cNvPr>
            <p:cNvSpPr txBox="1"/>
            <p:nvPr/>
          </p:nvSpPr>
          <p:spPr>
            <a:xfrm>
              <a:off x="8457375" y="3630510"/>
              <a:ext cx="4788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(1)</a:t>
              </a: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B2D56DCA-6B3B-4E03-B9C4-46B270EE664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4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9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D407-E4C0-4D8E-A04A-D420DEE3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 with N-particles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757F7-496D-4F40-B17D-40B8E7BF611A}"/>
              </a:ext>
            </a:extLst>
          </p:cNvPr>
          <p:cNvSpPr txBox="1"/>
          <p:nvPr/>
        </p:nvSpPr>
        <p:spPr>
          <a:xfrm>
            <a:off x="4238966" y="2002055"/>
            <a:ext cx="2522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Boson </a:t>
            </a:r>
            <a:r>
              <a:rPr lang="en-MY" sz="2400" b="1" dirty="0" err="1"/>
              <a:t>v.s</a:t>
            </a:r>
            <a:r>
              <a:rPr lang="en-MY" sz="2400" b="1" dirty="0"/>
              <a:t>. Fermi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97373-3BA8-4115-A1C3-6CBD8C40AFAB}"/>
              </a:ext>
            </a:extLst>
          </p:cNvPr>
          <p:cNvSpPr txBox="1"/>
          <p:nvPr/>
        </p:nvSpPr>
        <p:spPr>
          <a:xfrm>
            <a:off x="3133783" y="3380652"/>
            <a:ext cx="241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(+) Boson is symmetry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618C67-CA68-4113-89AB-2659C7082811}"/>
              </a:ext>
            </a:extLst>
          </p:cNvPr>
          <p:cNvSpPr txBox="1"/>
          <p:nvPr/>
        </p:nvSpPr>
        <p:spPr>
          <a:xfrm>
            <a:off x="6011724" y="3391542"/>
            <a:ext cx="3072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(-) Fermion is anti-symmetry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FA99C78D-4AAD-4ED2-BFC2-903FADC84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022" y="2845897"/>
            <a:ext cx="2884124" cy="54564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E2C6D17-6BC1-48DC-9EF0-BC218820C92F}"/>
              </a:ext>
            </a:extLst>
          </p:cNvPr>
          <p:cNvGrpSpPr/>
          <p:nvPr/>
        </p:nvGrpSpPr>
        <p:grpSpPr>
          <a:xfrm>
            <a:off x="1722922" y="3728638"/>
            <a:ext cx="3598357" cy="1770959"/>
            <a:chOff x="1722922" y="3728638"/>
            <a:chExt cx="3598357" cy="17709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199111-CF5C-4327-8C68-AC83ED1BF0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r="56523" b="-2266"/>
            <a:stretch/>
          </p:blipFill>
          <p:spPr>
            <a:xfrm>
              <a:off x="2341718" y="3728638"/>
              <a:ext cx="2979561" cy="57983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0B1A1F-0204-4DE5-BE5F-ECE36268EBE1}"/>
                </a:ext>
              </a:extLst>
            </p:cNvPr>
            <p:cNvSpPr txBox="1"/>
            <p:nvPr/>
          </p:nvSpPr>
          <p:spPr>
            <a:xfrm>
              <a:off x="1722922" y="4418599"/>
              <a:ext cx="3598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Boson like to share the same state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343A52-3C98-4A16-86E2-478D0DB68925}"/>
                </a:ext>
              </a:extLst>
            </p:cNvPr>
            <p:cNvSpPr txBox="1"/>
            <p:nvPr/>
          </p:nvSpPr>
          <p:spPr>
            <a:xfrm>
              <a:off x="2030931" y="5130265"/>
              <a:ext cx="2473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Bose-Einstein statistics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504B3E5-D234-41AD-8E36-C40154CF2B20}"/>
              </a:ext>
            </a:extLst>
          </p:cNvPr>
          <p:cNvGrpSpPr/>
          <p:nvPr/>
        </p:nvGrpSpPr>
        <p:grpSpPr>
          <a:xfrm>
            <a:off x="5727032" y="3717748"/>
            <a:ext cx="4573374" cy="1780126"/>
            <a:chOff x="5727032" y="3717748"/>
            <a:chExt cx="4573374" cy="178012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B6EB4A-930C-4656-8FD7-D3B44D218B82}"/>
                </a:ext>
              </a:extLst>
            </p:cNvPr>
            <p:cNvSpPr txBox="1"/>
            <p:nvPr/>
          </p:nvSpPr>
          <p:spPr>
            <a:xfrm>
              <a:off x="6331819" y="4409935"/>
              <a:ext cx="3968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Fermion does not share the same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94344F-1E5B-46BB-AAAE-B9B4470E33F5}"/>
                </a:ext>
              </a:extLst>
            </p:cNvPr>
            <p:cNvSpPr txBox="1"/>
            <p:nvPr/>
          </p:nvSpPr>
          <p:spPr>
            <a:xfrm>
              <a:off x="7016154" y="5128542"/>
              <a:ext cx="2309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Fermi-Dirac statistics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A93A5CB-58E5-46DF-84D2-2CDE182286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7496" t="1" b="-22081"/>
            <a:stretch/>
          </p:blipFill>
          <p:spPr>
            <a:xfrm>
              <a:off x="5727032" y="3717748"/>
              <a:ext cx="3598216" cy="692187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1931F3A-9D25-4D0D-9E01-6534E97A94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2860"/>
          <a:stretch/>
        </p:blipFill>
        <p:spPr>
          <a:xfrm>
            <a:off x="148792" y="5663869"/>
            <a:ext cx="5969982" cy="1029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890599-2F6E-442C-B393-C4E2F4B715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4836" b="-1976"/>
          <a:stretch/>
        </p:blipFill>
        <p:spPr>
          <a:xfrm>
            <a:off x="6258887" y="5705194"/>
            <a:ext cx="5969982" cy="1029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C2D7B8-FFCA-454F-97C0-F87F9FAFD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2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280B6C1-69CA-4E8F-928B-6FFBCD12F433}"/>
              </a:ext>
            </a:extLst>
          </p:cNvPr>
          <p:cNvGrpSpPr/>
          <p:nvPr/>
        </p:nvGrpSpPr>
        <p:grpSpPr>
          <a:xfrm>
            <a:off x="40175" y="2935705"/>
            <a:ext cx="738665" cy="3590224"/>
            <a:chOff x="40175" y="2935705"/>
            <a:chExt cx="738665" cy="35902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90E3B3-FE1D-4564-8365-922A4E503C9D}"/>
                </a:ext>
              </a:extLst>
            </p:cNvPr>
            <p:cNvSpPr txBox="1"/>
            <p:nvPr/>
          </p:nvSpPr>
          <p:spPr>
            <a:xfrm rot="16200000">
              <a:off x="-664153" y="4514249"/>
              <a:ext cx="1777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Quantum states</a:t>
              </a:r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3302D394-6902-4550-A610-69F3F8A8CF2A}"/>
                </a:ext>
              </a:extLst>
            </p:cNvPr>
            <p:cNvSpPr/>
            <p:nvPr/>
          </p:nvSpPr>
          <p:spPr>
            <a:xfrm>
              <a:off x="409507" y="2935705"/>
              <a:ext cx="369333" cy="359022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B7206B6-A844-44C9-BE65-14CB00EB721A}"/>
              </a:ext>
            </a:extLst>
          </p:cNvPr>
          <p:cNvGrpSpPr/>
          <p:nvPr/>
        </p:nvGrpSpPr>
        <p:grpSpPr>
          <a:xfrm>
            <a:off x="1887754" y="2606661"/>
            <a:ext cx="1307409" cy="1203260"/>
            <a:chOff x="2242686" y="2751039"/>
            <a:chExt cx="1307409" cy="108869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512667-D149-4BE5-8179-FE662BD57326}"/>
                </a:ext>
              </a:extLst>
            </p:cNvPr>
            <p:cNvSpPr txBox="1"/>
            <p:nvPr/>
          </p:nvSpPr>
          <p:spPr>
            <a:xfrm>
              <a:off x="2242686" y="2751039"/>
              <a:ext cx="13074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degeneracy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BF387AA-9F09-48EB-A9FE-A3F96406ABD9}"/>
                </a:ext>
              </a:extLst>
            </p:cNvPr>
            <p:cNvCxnSpPr>
              <a:cxnSpLocks/>
            </p:cNvCxnSpPr>
            <p:nvPr/>
          </p:nvCxnSpPr>
          <p:spPr>
            <a:xfrm>
              <a:off x="2887579" y="3243714"/>
              <a:ext cx="312153" cy="5960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74B0CBB-1381-41B4-91BA-157BFCADF935}"/>
              </a:ext>
            </a:extLst>
          </p:cNvPr>
          <p:cNvGrpSpPr/>
          <p:nvPr/>
        </p:nvGrpSpPr>
        <p:grpSpPr>
          <a:xfrm>
            <a:off x="2577797" y="2919470"/>
            <a:ext cx="2262271" cy="900156"/>
            <a:chOff x="2577797" y="2919470"/>
            <a:chExt cx="2262271" cy="900156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41B3B7C-6568-4AA2-BA1F-4AC40EF44B5A}"/>
                </a:ext>
              </a:extLst>
            </p:cNvPr>
            <p:cNvCxnSpPr>
              <a:cxnSpLocks/>
            </p:cNvCxnSpPr>
            <p:nvPr/>
          </p:nvCxnSpPr>
          <p:spPr>
            <a:xfrm>
              <a:off x="3252788" y="3240088"/>
              <a:ext cx="18198" cy="5795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327D0F2-40B0-4D95-BAF5-44CEBD512175}"/>
                </a:ext>
              </a:extLst>
            </p:cNvPr>
            <p:cNvGrpSpPr/>
            <p:nvPr/>
          </p:nvGrpSpPr>
          <p:grpSpPr>
            <a:xfrm>
              <a:off x="2577797" y="2919470"/>
              <a:ext cx="2262271" cy="496042"/>
              <a:chOff x="2577797" y="2919470"/>
              <a:chExt cx="2262271" cy="49604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CA7131-B538-45B5-AC7C-506D9E37D4CA}"/>
                  </a:ext>
                </a:extLst>
              </p:cNvPr>
              <p:cNvSpPr txBox="1"/>
              <p:nvPr/>
            </p:nvSpPr>
            <p:spPr>
              <a:xfrm>
                <a:off x="2577797" y="2927437"/>
                <a:ext cx="2020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# of particles with </a:t>
                </a:r>
              </a:p>
            </p:txBody>
          </p: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8D6F94D0-4051-41CD-8EBC-4842C44BAE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322459" y="2919470"/>
                <a:ext cx="517609" cy="496042"/>
              </a:xfrm>
              <a:prstGeom prst="rect">
                <a:avLst/>
              </a:prstGeom>
            </p:spPr>
          </p:pic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A2E822-AFCA-4988-BF23-A8C158368610}"/>
              </a:ext>
            </a:extLst>
          </p:cNvPr>
          <p:cNvGrpSpPr/>
          <p:nvPr/>
        </p:nvGrpSpPr>
        <p:grpSpPr>
          <a:xfrm>
            <a:off x="1613224" y="2059752"/>
            <a:ext cx="5432469" cy="778641"/>
            <a:chOff x="5699226" y="2356821"/>
            <a:chExt cx="5432469" cy="7786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B82320-751D-47BA-9965-8F3FEF8F3849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9ABFC08-E18C-4201-9BC5-23D69717F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940637" y="2356821"/>
              <a:ext cx="2191058" cy="778641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389DBDA-04D7-4296-A84A-58EE5D3E4D15}"/>
              </a:ext>
            </a:extLst>
          </p:cNvPr>
          <p:cNvSpPr txBox="1"/>
          <p:nvPr/>
        </p:nvSpPr>
        <p:spPr>
          <a:xfrm>
            <a:off x="4220750" y="4335992"/>
            <a:ext cx="2309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Fermi-Dirac statistics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554115-8347-4A73-A694-4DB4C7C46441}"/>
              </a:ext>
            </a:extLst>
          </p:cNvPr>
          <p:cNvGrpSpPr/>
          <p:nvPr/>
        </p:nvGrpSpPr>
        <p:grpSpPr>
          <a:xfrm>
            <a:off x="3476830" y="3234673"/>
            <a:ext cx="3090354" cy="1306707"/>
            <a:chOff x="3476830" y="3234673"/>
            <a:chExt cx="3090354" cy="130670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7ABA877-DD8F-49BC-B0FB-B7C2564B5D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3582"/>
            <a:stretch/>
          </p:blipFill>
          <p:spPr>
            <a:xfrm>
              <a:off x="4135433" y="3644218"/>
              <a:ext cx="2297130" cy="590174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5DE4A03-BD8F-4C5E-B385-78A608922DD3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flipV="1">
              <a:off x="3476830" y="3939305"/>
              <a:ext cx="658603" cy="6020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87C678-27A2-4CC2-A764-8BDCFA96267B}"/>
                </a:ext>
              </a:extLst>
            </p:cNvPr>
            <p:cNvSpPr txBox="1"/>
            <p:nvPr/>
          </p:nvSpPr>
          <p:spPr>
            <a:xfrm>
              <a:off x="4093493" y="3234673"/>
              <a:ext cx="2473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Bose-Einstein statistics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A8530E-AD74-4A1E-AD27-E5E594880B6D}"/>
              </a:ext>
            </a:extLst>
          </p:cNvPr>
          <p:cNvGrpSpPr/>
          <p:nvPr/>
        </p:nvGrpSpPr>
        <p:grpSpPr>
          <a:xfrm>
            <a:off x="7477533" y="3125220"/>
            <a:ext cx="4140655" cy="1109172"/>
            <a:chOff x="7001893" y="3613420"/>
            <a:chExt cx="4140655" cy="110917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F43C4D4-370F-44EC-BB7D-F35916D9B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91012" y="3958164"/>
              <a:ext cx="2918340" cy="764428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3222EE4-AC4C-4F82-9394-83DF08339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40550" y="4122416"/>
              <a:ext cx="1101998" cy="554747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39706E7-8D7D-4985-B6B3-134CDF0B0466}"/>
                </a:ext>
              </a:extLst>
            </p:cNvPr>
            <p:cNvSpPr txBox="1"/>
            <p:nvPr/>
          </p:nvSpPr>
          <p:spPr>
            <a:xfrm>
              <a:off x="7001893" y="3613420"/>
              <a:ext cx="2816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R balls in N boxes problem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046252-9E78-43CC-8169-9D171287E6A0}"/>
              </a:ext>
            </a:extLst>
          </p:cNvPr>
          <p:cNvGrpSpPr/>
          <p:nvPr/>
        </p:nvGrpSpPr>
        <p:grpSpPr>
          <a:xfrm>
            <a:off x="3509899" y="4589589"/>
            <a:ext cx="3967634" cy="908665"/>
            <a:chOff x="3509899" y="4611979"/>
            <a:chExt cx="3967634" cy="9086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AA8865C-5DE1-4B16-AB43-28A63B793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181774" y="4798002"/>
              <a:ext cx="2297130" cy="556147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D5462DD-1AFE-4FD5-A0F8-2A56CD9706FB}"/>
                </a:ext>
              </a:extLst>
            </p:cNvPr>
            <p:cNvCxnSpPr>
              <a:cxnSpLocks/>
            </p:cNvCxnSpPr>
            <p:nvPr/>
          </p:nvCxnSpPr>
          <p:spPr>
            <a:xfrm>
              <a:off x="3509899" y="4798002"/>
              <a:ext cx="625534" cy="2779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2D114934-7138-44DF-AAF5-3D99B068F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375536" y="4611979"/>
              <a:ext cx="1101997" cy="908665"/>
            </a:xfrm>
            <a:prstGeom prst="rect">
              <a:avLst/>
            </a:prstGeom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3A4C9B86-31D8-41C8-8CB8-92F941D7F2E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7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93B034-A1F6-4107-983D-1F879274E612}"/>
              </a:ext>
            </a:extLst>
          </p:cNvPr>
          <p:cNvGrpSpPr/>
          <p:nvPr/>
        </p:nvGrpSpPr>
        <p:grpSpPr>
          <a:xfrm>
            <a:off x="9695611" y="1865653"/>
            <a:ext cx="2547277" cy="1301838"/>
            <a:chOff x="9323213" y="5607849"/>
            <a:chExt cx="2547277" cy="1301838"/>
          </a:xfrm>
        </p:grpSpPr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77AC50FD-9B14-46F8-92E4-921EF41A5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3213" y="5607849"/>
              <a:ext cx="1225082" cy="684136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4D104475-B8CC-414E-8DF4-738C1E58F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23213" y="6233558"/>
              <a:ext cx="1273638" cy="676129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02DBAFF-8DCD-421C-BF92-57B99D7DC573}"/>
                </a:ext>
              </a:extLst>
            </p:cNvPr>
            <p:cNvSpPr txBox="1"/>
            <p:nvPr/>
          </p:nvSpPr>
          <p:spPr>
            <a:xfrm>
              <a:off x="10596851" y="6126184"/>
              <a:ext cx="12736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Constraint</a:t>
              </a:r>
            </a:p>
            <a:p>
              <a:r>
                <a:rPr lang="en-MY" dirty="0"/>
                <a:t>(difficulty)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C0CDCD2-353A-4C20-84EE-0322EC00F1DE}"/>
              </a:ext>
            </a:extLst>
          </p:cNvPr>
          <p:cNvGrpSpPr/>
          <p:nvPr/>
        </p:nvGrpSpPr>
        <p:grpSpPr>
          <a:xfrm>
            <a:off x="7325014" y="2264443"/>
            <a:ext cx="2196657" cy="1144602"/>
            <a:chOff x="7677016" y="2178921"/>
            <a:chExt cx="2196657" cy="1144602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5D467A6-D86E-473A-A841-883986142F19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8773974" y="2782813"/>
              <a:ext cx="1371" cy="54071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101237-BF89-42BC-A382-8BA4D2FD0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77016" y="2178921"/>
              <a:ext cx="2196657" cy="60389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B1ABA8E-FE0F-443B-8777-597A63266829}"/>
              </a:ext>
            </a:extLst>
          </p:cNvPr>
          <p:cNvGrpSpPr/>
          <p:nvPr/>
        </p:nvGrpSpPr>
        <p:grpSpPr>
          <a:xfrm>
            <a:off x="8093210" y="3448955"/>
            <a:ext cx="2856922" cy="1715267"/>
            <a:chOff x="7579412" y="3625255"/>
            <a:chExt cx="2856922" cy="1715267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10F5385E-05F4-4E56-9BDD-E1610994B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15736" y="4656386"/>
              <a:ext cx="2784273" cy="684136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E15FE5-EEBB-4527-94C4-C1D451EAA829}"/>
                </a:ext>
              </a:extLst>
            </p:cNvPr>
            <p:cNvGrpSpPr/>
            <p:nvPr/>
          </p:nvGrpSpPr>
          <p:grpSpPr>
            <a:xfrm>
              <a:off x="7579412" y="3625255"/>
              <a:ext cx="2856922" cy="1061787"/>
              <a:chOff x="7579412" y="3625255"/>
              <a:chExt cx="2856922" cy="1061787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20A3FB9-B9A2-48FF-B1EE-2A90D2A6EAFF}"/>
                  </a:ext>
                </a:extLst>
              </p:cNvPr>
              <p:cNvSpPr txBox="1"/>
              <p:nvPr/>
            </p:nvSpPr>
            <p:spPr>
              <a:xfrm>
                <a:off x="7676218" y="3625255"/>
                <a:ext cx="2464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Total number of states:</a:t>
                </a:r>
              </a:p>
            </p:txBody>
          </p:sp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89F23134-B050-40CA-AD43-48820ADC8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579412" y="3976940"/>
                <a:ext cx="2856922" cy="710102"/>
              </a:xfrm>
              <a:prstGeom prst="rect">
                <a:avLst/>
              </a:prstGeom>
            </p:spPr>
          </p:pic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BC73B8-6481-46AE-A989-67513FF05668}"/>
              </a:ext>
            </a:extLst>
          </p:cNvPr>
          <p:cNvGrpSpPr/>
          <p:nvPr/>
        </p:nvGrpSpPr>
        <p:grpSpPr>
          <a:xfrm>
            <a:off x="40175" y="1895034"/>
            <a:ext cx="7437358" cy="4877481"/>
            <a:chOff x="40175" y="1895034"/>
            <a:chExt cx="7437358" cy="4877481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363DAFD-E0FF-4237-8890-231D65FC4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9507" y="1895034"/>
              <a:ext cx="3067478" cy="4877481"/>
            </a:xfrm>
            <a:prstGeom prst="rect">
              <a:avLst/>
            </a:prstGeom>
          </p:spPr>
        </p:pic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B567B12-F056-420D-AD87-207D0B3FD8F1}"/>
                </a:ext>
              </a:extLst>
            </p:cNvPr>
            <p:cNvGrpSpPr/>
            <p:nvPr/>
          </p:nvGrpSpPr>
          <p:grpSpPr>
            <a:xfrm>
              <a:off x="40175" y="2935705"/>
              <a:ext cx="738665" cy="3590224"/>
              <a:chOff x="40175" y="2935705"/>
              <a:chExt cx="738665" cy="3590224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F1831C6-D699-42D0-9D9B-40C5AA166AC3}"/>
                  </a:ext>
                </a:extLst>
              </p:cNvPr>
              <p:cNvSpPr txBox="1"/>
              <p:nvPr/>
            </p:nvSpPr>
            <p:spPr>
              <a:xfrm rot="16200000">
                <a:off x="-664153" y="4514249"/>
                <a:ext cx="1777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Quantum states</a:t>
                </a:r>
              </a:p>
            </p:txBody>
          </p:sp>
          <p:sp>
            <p:nvSpPr>
              <p:cNvPr id="82" name="Left Brace 81">
                <a:extLst>
                  <a:ext uri="{FF2B5EF4-FFF2-40B4-BE49-F238E27FC236}">
                    <a16:creationId xmlns:a16="http://schemas.microsoft.com/office/drawing/2014/main" id="{E6346AB9-9308-489D-AB2D-CD3673D0A4CF}"/>
                  </a:ext>
                </a:extLst>
              </p:cNvPr>
              <p:cNvSpPr/>
              <p:nvPr/>
            </p:nvSpPr>
            <p:spPr>
              <a:xfrm>
                <a:off x="409507" y="2935705"/>
                <a:ext cx="369333" cy="3590224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1BE6B4A-81EC-4134-B030-FFC20AA53A29}"/>
                </a:ext>
              </a:extLst>
            </p:cNvPr>
            <p:cNvGrpSpPr/>
            <p:nvPr/>
          </p:nvGrpSpPr>
          <p:grpSpPr>
            <a:xfrm>
              <a:off x="1887754" y="2606661"/>
              <a:ext cx="1307409" cy="1203260"/>
              <a:chOff x="2242686" y="2751039"/>
              <a:chExt cx="1307409" cy="1088691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5445F5F-1BA7-45CC-A0B3-4406734A36B1}"/>
                  </a:ext>
                </a:extLst>
              </p:cNvPr>
              <p:cNvSpPr txBox="1"/>
              <p:nvPr/>
            </p:nvSpPr>
            <p:spPr>
              <a:xfrm>
                <a:off x="2242686" y="2751039"/>
                <a:ext cx="1307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degeneracy</a:t>
                </a:r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F5F7DC3-2E9A-42BB-A87B-48D2846AFF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579" y="3243714"/>
                <a:ext cx="312153" cy="5960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6694933-D8F5-4172-ABA0-B58A8D1F87BE}"/>
                </a:ext>
              </a:extLst>
            </p:cNvPr>
            <p:cNvGrpSpPr/>
            <p:nvPr/>
          </p:nvGrpSpPr>
          <p:grpSpPr>
            <a:xfrm>
              <a:off x="2577797" y="2919470"/>
              <a:ext cx="2262271" cy="900156"/>
              <a:chOff x="2577797" y="2919470"/>
              <a:chExt cx="2262271" cy="900156"/>
            </a:xfrm>
          </p:grpSpPr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94B24528-87F1-480B-B1BE-FC49FAB40C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788" y="3240088"/>
                <a:ext cx="18198" cy="5795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1B18E3EC-C11D-4822-8A23-DFDD04E7E77C}"/>
                  </a:ext>
                </a:extLst>
              </p:cNvPr>
              <p:cNvGrpSpPr/>
              <p:nvPr/>
            </p:nvGrpSpPr>
            <p:grpSpPr>
              <a:xfrm>
                <a:off x="2577797" y="2919470"/>
                <a:ext cx="2262271" cy="496042"/>
                <a:chOff x="2577797" y="2919470"/>
                <a:chExt cx="2262271" cy="496042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3AB5E9D-4DD8-4736-B12E-D9488A2FAA11}"/>
                    </a:ext>
                  </a:extLst>
                </p:cNvPr>
                <p:cNvSpPr txBox="1"/>
                <p:nvPr/>
              </p:nvSpPr>
              <p:spPr>
                <a:xfrm>
                  <a:off x="2577797" y="2927437"/>
                  <a:ext cx="20208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# of particles with </a:t>
                  </a:r>
                </a:p>
              </p:txBody>
            </p:sp>
            <p:pic>
              <p:nvPicPr>
                <p:cNvPr id="90" name="Graphic 89">
                  <a:extLst>
                    <a:ext uri="{FF2B5EF4-FFF2-40B4-BE49-F238E27FC236}">
                      <a16:creationId xmlns:a16="http://schemas.microsoft.com/office/drawing/2014/main" id="{A0115C33-9C1B-4598-AA47-5A37D7D64C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22459" y="2919470"/>
                  <a:ext cx="517609" cy="49604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18A437E-DED5-4D9F-ADBF-F608A581F0B0}"/>
                </a:ext>
              </a:extLst>
            </p:cNvPr>
            <p:cNvGrpSpPr/>
            <p:nvPr/>
          </p:nvGrpSpPr>
          <p:grpSpPr>
            <a:xfrm>
              <a:off x="1613224" y="2059752"/>
              <a:ext cx="5432469" cy="778641"/>
              <a:chOff x="5699226" y="2356821"/>
              <a:chExt cx="5432469" cy="778641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4820648-59DA-405D-A564-59265F2BCE9D}"/>
                  </a:ext>
                </a:extLst>
              </p:cNvPr>
              <p:cNvSpPr txBox="1"/>
              <p:nvPr/>
            </p:nvSpPr>
            <p:spPr>
              <a:xfrm>
                <a:off x="5699226" y="2396819"/>
                <a:ext cx="3053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b="1" dirty="0"/>
                  <a:t>Microcanonical ensemble:</a:t>
                </a:r>
              </a:p>
            </p:txBody>
          </p:sp>
          <p:pic>
            <p:nvPicPr>
              <p:cNvPr id="93" name="Graphic 92">
                <a:extLst>
                  <a:ext uri="{FF2B5EF4-FFF2-40B4-BE49-F238E27FC236}">
                    <a16:creationId xmlns:a16="http://schemas.microsoft.com/office/drawing/2014/main" id="{B056F13A-5D1B-406F-A5D8-755DFB22CB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8940637" y="2356821"/>
                <a:ext cx="2191058" cy="778641"/>
              </a:xfrm>
              <a:prstGeom prst="rect">
                <a:avLst/>
              </a:prstGeom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F5D3814-BB91-4112-9E88-76A5263F5A59}"/>
                </a:ext>
              </a:extLst>
            </p:cNvPr>
            <p:cNvSpPr txBox="1"/>
            <p:nvPr/>
          </p:nvSpPr>
          <p:spPr>
            <a:xfrm>
              <a:off x="4220750" y="4335992"/>
              <a:ext cx="2309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Fermi-Dirac statistics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C15D60E-0574-4E14-934A-C77A54DAE548}"/>
                </a:ext>
              </a:extLst>
            </p:cNvPr>
            <p:cNvGrpSpPr/>
            <p:nvPr/>
          </p:nvGrpSpPr>
          <p:grpSpPr>
            <a:xfrm>
              <a:off x="3476830" y="3234673"/>
              <a:ext cx="3090354" cy="1306707"/>
              <a:chOff x="3476830" y="3234673"/>
              <a:chExt cx="3090354" cy="1306707"/>
            </a:xfrm>
          </p:grpSpPr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E5C0E3F5-36C6-49B5-AA8A-610D43998C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/>
              <a:srcRect t="13582"/>
              <a:stretch/>
            </p:blipFill>
            <p:spPr>
              <a:xfrm>
                <a:off x="4135433" y="3644218"/>
                <a:ext cx="2297130" cy="590174"/>
              </a:xfrm>
              <a:prstGeom prst="rect">
                <a:avLst/>
              </a:prstGeom>
            </p:spPr>
          </p:pic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12A60AFB-E6A4-479C-9783-997B7116F1EC}"/>
                  </a:ext>
                </a:extLst>
              </p:cNvPr>
              <p:cNvCxnSpPr>
                <a:cxnSpLocks/>
                <a:endCxn id="96" idx="1"/>
              </p:cNvCxnSpPr>
              <p:nvPr/>
            </p:nvCxnSpPr>
            <p:spPr>
              <a:xfrm flipV="1">
                <a:off x="3476830" y="3939305"/>
                <a:ext cx="658603" cy="6020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30DDBA8-C5C2-47CB-9928-D4FB74124588}"/>
                  </a:ext>
                </a:extLst>
              </p:cNvPr>
              <p:cNvSpPr txBox="1"/>
              <p:nvPr/>
            </p:nvSpPr>
            <p:spPr>
              <a:xfrm>
                <a:off x="4093493" y="3234673"/>
                <a:ext cx="24736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Bose-Einstein statistics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B8361D1-43CF-4F33-BAC5-8AE291D2428D}"/>
                </a:ext>
              </a:extLst>
            </p:cNvPr>
            <p:cNvGrpSpPr/>
            <p:nvPr/>
          </p:nvGrpSpPr>
          <p:grpSpPr>
            <a:xfrm>
              <a:off x="3509899" y="4589589"/>
              <a:ext cx="3967634" cy="908665"/>
              <a:chOff x="3509899" y="4611979"/>
              <a:chExt cx="3967634" cy="908665"/>
            </a:xfrm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587C9A7E-10B6-4389-930E-2D121C2816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81774" y="4798002"/>
                <a:ext cx="2297130" cy="556147"/>
              </a:xfrm>
              <a:prstGeom prst="rect">
                <a:avLst/>
              </a:prstGeom>
            </p:spPr>
          </p:pic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319EAD9E-7FB4-4F4C-A6B5-AB0725DFF5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9899" y="4798002"/>
                <a:ext cx="625534" cy="2779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2" name="Graphic 101">
                <a:extLst>
                  <a:ext uri="{FF2B5EF4-FFF2-40B4-BE49-F238E27FC236}">
                    <a16:creationId xmlns:a16="http://schemas.microsoft.com/office/drawing/2014/main" id="{2534724D-6C2C-492C-9110-768568D239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6375536" y="4611979"/>
                <a:ext cx="1101997" cy="908665"/>
              </a:xfrm>
              <a:prstGeom prst="rect">
                <a:avLst/>
              </a:prstGeom>
            </p:spPr>
          </p:pic>
        </p:grpSp>
      </p:grpSp>
      <p:pic>
        <p:nvPicPr>
          <p:cNvPr id="133" name="Picture 132">
            <a:extLst>
              <a:ext uri="{FF2B5EF4-FFF2-40B4-BE49-F238E27FC236}">
                <a16:creationId xmlns:a16="http://schemas.microsoft.com/office/drawing/2014/main" id="{144E5EA0-9898-4B9E-8634-5B48B45D38B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3567" y="4897502"/>
            <a:ext cx="2229988" cy="702177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B65D9249-E702-4E6C-A1B8-D3D6EB508DD3}"/>
              </a:ext>
            </a:extLst>
          </p:cNvPr>
          <p:cNvSpPr txBox="1"/>
          <p:nvPr/>
        </p:nvSpPr>
        <p:spPr>
          <a:xfrm>
            <a:off x="4064780" y="5420505"/>
            <a:ext cx="311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Maxwell-Boltzmann statistics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E25193D-C6B8-48C8-8AA4-CFDDBEA30C14}"/>
              </a:ext>
            </a:extLst>
          </p:cNvPr>
          <p:cNvGrpSpPr/>
          <p:nvPr/>
        </p:nvGrpSpPr>
        <p:grpSpPr>
          <a:xfrm>
            <a:off x="4389840" y="6112306"/>
            <a:ext cx="3070478" cy="243374"/>
            <a:chOff x="4389840" y="6112306"/>
            <a:chExt cx="3070478" cy="243374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E1BF60F6-48E1-49B4-B2A7-FC5FF5A4555F}"/>
                </a:ext>
              </a:extLst>
            </p:cNvPr>
            <p:cNvSpPr/>
            <p:nvPr/>
          </p:nvSpPr>
          <p:spPr>
            <a:xfrm>
              <a:off x="4389840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1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E8EDD5B-5CB1-457F-8222-0A3CA0C8D164}"/>
                </a:ext>
              </a:extLst>
            </p:cNvPr>
            <p:cNvSpPr/>
            <p:nvPr/>
          </p:nvSpPr>
          <p:spPr>
            <a:xfrm>
              <a:off x="4739824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2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4F84F5E-FCCE-4B34-AD14-E6A41F9743D4}"/>
                </a:ext>
              </a:extLst>
            </p:cNvPr>
            <p:cNvSpPr/>
            <p:nvPr/>
          </p:nvSpPr>
          <p:spPr>
            <a:xfrm>
              <a:off x="5089808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3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A9CCD00-E5BA-498A-AB32-7D50B6F7C981}"/>
                </a:ext>
              </a:extLst>
            </p:cNvPr>
            <p:cNvSpPr/>
            <p:nvPr/>
          </p:nvSpPr>
          <p:spPr>
            <a:xfrm>
              <a:off x="5439792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4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2B319B8-6102-4634-AADD-1609066F9CB8}"/>
                </a:ext>
              </a:extLst>
            </p:cNvPr>
            <p:cNvSpPr/>
            <p:nvPr/>
          </p:nvSpPr>
          <p:spPr>
            <a:xfrm>
              <a:off x="5789776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5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D09C6CC-FE31-4DC4-A334-DBB603DB6B01}"/>
                </a:ext>
              </a:extLst>
            </p:cNvPr>
            <p:cNvSpPr/>
            <p:nvPr/>
          </p:nvSpPr>
          <p:spPr>
            <a:xfrm>
              <a:off x="6139760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6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D33A2F4-1542-4455-B839-29D9F4AB72CF}"/>
                </a:ext>
              </a:extLst>
            </p:cNvPr>
            <p:cNvSpPr/>
            <p:nvPr/>
          </p:nvSpPr>
          <p:spPr>
            <a:xfrm>
              <a:off x="6489744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7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A6A6D24-2812-4B9D-A269-88281CE090DF}"/>
                </a:ext>
              </a:extLst>
            </p:cNvPr>
            <p:cNvSpPr/>
            <p:nvPr/>
          </p:nvSpPr>
          <p:spPr>
            <a:xfrm>
              <a:off x="6839728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8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D614E99-BDB4-4AE9-81CC-C6CCF2BC6BD8}"/>
                </a:ext>
              </a:extLst>
            </p:cNvPr>
            <p:cNvSpPr/>
            <p:nvPr/>
          </p:nvSpPr>
          <p:spPr>
            <a:xfrm>
              <a:off x="7189709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9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491278F-4813-4B0F-A4BA-BAFDB14B6FA6}"/>
              </a:ext>
            </a:extLst>
          </p:cNvPr>
          <p:cNvGrpSpPr/>
          <p:nvPr/>
        </p:nvGrpSpPr>
        <p:grpSpPr>
          <a:xfrm>
            <a:off x="1799931" y="4584735"/>
            <a:ext cx="669550" cy="267769"/>
            <a:chOff x="1799931" y="4584735"/>
            <a:chExt cx="669550" cy="267769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B3266A7F-D5FB-46B8-8506-99FFBEB85916}"/>
                </a:ext>
              </a:extLst>
            </p:cNvPr>
            <p:cNvSpPr/>
            <p:nvPr/>
          </p:nvSpPr>
          <p:spPr>
            <a:xfrm>
              <a:off x="2198872" y="4584735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B7E7BF01-A29B-4C91-A918-CCF43BAF885E}"/>
                </a:ext>
              </a:extLst>
            </p:cNvPr>
            <p:cNvSpPr/>
            <p:nvPr/>
          </p:nvSpPr>
          <p:spPr>
            <a:xfrm>
              <a:off x="1799931" y="4609130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3</a:t>
              </a:r>
            </a:p>
          </p:txBody>
        </p:sp>
      </p:grpSp>
      <p:sp>
        <p:nvSpPr>
          <p:cNvPr id="161" name="Oval 160">
            <a:extLst>
              <a:ext uri="{FF2B5EF4-FFF2-40B4-BE49-F238E27FC236}">
                <a16:creationId xmlns:a16="http://schemas.microsoft.com/office/drawing/2014/main" id="{67B7FA39-DAFB-4511-AF46-30B20BB3B29C}"/>
              </a:ext>
            </a:extLst>
          </p:cNvPr>
          <p:cNvSpPr/>
          <p:nvPr/>
        </p:nvSpPr>
        <p:spPr>
          <a:xfrm>
            <a:off x="2014610" y="6112306"/>
            <a:ext cx="270609" cy="2433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6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5DE0575-9653-4F70-9832-3D69D044CB3C}"/>
              </a:ext>
            </a:extLst>
          </p:cNvPr>
          <p:cNvGrpSpPr/>
          <p:nvPr/>
        </p:nvGrpSpPr>
        <p:grpSpPr>
          <a:xfrm>
            <a:off x="1799931" y="5105147"/>
            <a:ext cx="849679" cy="636481"/>
            <a:chOff x="1799931" y="5105147"/>
            <a:chExt cx="849679" cy="63648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3B074A47-412A-4E16-8B71-387ACA6D8456}"/>
                </a:ext>
              </a:extLst>
            </p:cNvPr>
            <p:cNvSpPr/>
            <p:nvPr/>
          </p:nvSpPr>
          <p:spPr>
            <a:xfrm>
              <a:off x="2379001" y="5498254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1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B7CA81C8-7A48-4191-8355-A541BFC21D07}"/>
                </a:ext>
              </a:extLst>
            </p:cNvPr>
            <p:cNvSpPr/>
            <p:nvPr/>
          </p:nvSpPr>
          <p:spPr>
            <a:xfrm>
              <a:off x="2334176" y="5159409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4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FAE513A9-2E76-46D4-A820-A892EDC57D20}"/>
                </a:ext>
              </a:extLst>
            </p:cNvPr>
            <p:cNvSpPr/>
            <p:nvPr/>
          </p:nvSpPr>
          <p:spPr>
            <a:xfrm>
              <a:off x="1995259" y="5331759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5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188E18E9-DF22-4154-81A0-3799C6CFE66A}"/>
                </a:ext>
              </a:extLst>
            </p:cNvPr>
            <p:cNvSpPr/>
            <p:nvPr/>
          </p:nvSpPr>
          <p:spPr>
            <a:xfrm>
              <a:off x="1799931" y="5105147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7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FAC28C1-8384-4CB9-AEB9-154C4FA9676A}"/>
              </a:ext>
            </a:extLst>
          </p:cNvPr>
          <p:cNvGrpSpPr/>
          <p:nvPr/>
        </p:nvGrpSpPr>
        <p:grpSpPr>
          <a:xfrm>
            <a:off x="1930716" y="3678110"/>
            <a:ext cx="466703" cy="530711"/>
            <a:chOff x="1930716" y="3678110"/>
            <a:chExt cx="466703" cy="530711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15D2EA0-ADFD-4802-B722-AF2305155C4C}"/>
                </a:ext>
              </a:extLst>
            </p:cNvPr>
            <p:cNvSpPr/>
            <p:nvPr/>
          </p:nvSpPr>
          <p:spPr>
            <a:xfrm>
              <a:off x="1930716" y="3965447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8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2C3A1F4B-0562-41B2-A4FE-3A069F589BA4}"/>
                </a:ext>
              </a:extLst>
            </p:cNvPr>
            <p:cNvSpPr/>
            <p:nvPr/>
          </p:nvSpPr>
          <p:spPr>
            <a:xfrm>
              <a:off x="2126810" y="3678110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9</a:t>
              </a:r>
            </a:p>
          </p:txBody>
        </p:sp>
      </p:grpSp>
      <p:pic>
        <p:nvPicPr>
          <p:cNvPr id="170" name="Picture 169">
            <a:extLst>
              <a:ext uri="{FF2B5EF4-FFF2-40B4-BE49-F238E27FC236}">
                <a16:creationId xmlns:a16="http://schemas.microsoft.com/office/drawing/2014/main" id="{601CE20E-A1F6-4C76-8F5C-AC3FE72FE86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47646" y="6036639"/>
            <a:ext cx="510304" cy="357213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19F6FB70-8642-4D67-B64C-9A8BEA75D11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64182" y="5826021"/>
            <a:ext cx="1114977" cy="678343"/>
          </a:xfrm>
          <a:prstGeom prst="rect">
            <a:avLst/>
          </a:prstGeom>
        </p:spPr>
      </p:pic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9F56435-8F7E-4A5E-9F50-E06D8C62A12F}"/>
              </a:ext>
            </a:extLst>
          </p:cNvPr>
          <p:cNvGrpSpPr/>
          <p:nvPr/>
        </p:nvGrpSpPr>
        <p:grpSpPr>
          <a:xfrm>
            <a:off x="8680226" y="5880868"/>
            <a:ext cx="391048" cy="623496"/>
            <a:chOff x="8680226" y="5880868"/>
            <a:chExt cx="391048" cy="623496"/>
          </a:xfrm>
        </p:grpSpPr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5A4D2F35-ABDD-4DC2-B43E-CA3AF6A7D8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/>
            <a:srcRect l="40180" t="9478" r="28189" b="47537"/>
            <a:stretch/>
          </p:blipFill>
          <p:spPr>
            <a:xfrm>
              <a:off x="8718594" y="6212781"/>
              <a:ext cx="352680" cy="291583"/>
            </a:xfrm>
            <a:prstGeom prst="rect">
              <a:avLst/>
            </a:prstGeom>
          </p:spPr>
        </p:pic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9A3505B-83FB-4DEB-9F3A-0892B992B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0226" y="6212781"/>
              <a:ext cx="391048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8DF61EE-C1F2-4940-929F-B55A5F05AB27}"/>
                </a:ext>
              </a:extLst>
            </p:cNvPr>
            <p:cNvSpPr txBox="1"/>
            <p:nvPr/>
          </p:nvSpPr>
          <p:spPr>
            <a:xfrm>
              <a:off x="8734883" y="58808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DBB01B29-A4D5-49AB-9971-3E015698BD9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4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87A4CC2-5ABA-4A22-8A71-BE0E6EABFE14}"/>
              </a:ext>
            </a:extLst>
          </p:cNvPr>
          <p:cNvGrpSpPr/>
          <p:nvPr/>
        </p:nvGrpSpPr>
        <p:grpSpPr>
          <a:xfrm>
            <a:off x="9571674" y="2872254"/>
            <a:ext cx="2580152" cy="1329609"/>
            <a:chOff x="9571674" y="2872254"/>
            <a:chExt cx="2580152" cy="132960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7F7B1BA-A596-4F06-8E9A-F2AFB2775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1675" y="2872254"/>
              <a:ext cx="1225082" cy="68413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27CD888E-3A66-4BF4-BB3C-71A07968E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71674" y="3525734"/>
              <a:ext cx="1273638" cy="676129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5833E98-1A17-42BE-908A-369FD816FCDD}"/>
                </a:ext>
              </a:extLst>
            </p:cNvPr>
            <p:cNvSpPr txBox="1"/>
            <p:nvPr/>
          </p:nvSpPr>
          <p:spPr>
            <a:xfrm>
              <a:off x="10878187" y="3326769"/>
              <a:ext cx="12736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Constraint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76307F-5D22-428E-A7E4-7261C7960E29}"/>
              </a:ext>
            </a:extLst>
          </p:cNvPr>
          <p:cNvGrpSpPr/>
          <p:nvPr/>
        </p:nvGrpSpPr>
        <p:grpSpPr>
          <a:xfrm>
            <a:off x="4120428" y="4325390"/>
            <a:ext cx="3298595" cy="852008"/>
            <a:chOff x="4120428" y="4325390"/>
            <a:chExt cx="3298595" cy="8520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F230CA-20EA-48AC-9D52-A773F02CE792}"/>
                </a:ext>
              </a:extLst>
            </p:cNvPr>
            <p:cNvSpPr txBox="1"/>
            <p:nvPr/>
          </p:nvSpPr>
          <p:spPr>
            <a:xfrm>
              <a:off x="4120428" y="4325390"/>
              <a:ext cx="3298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Method of Lagrange multiplier: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D20037E-0171-4B8D-9210-3B5B74B7F8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018" b="3018"/>
            <a:stretch/>
          </p:blipFill>
          <p:spPr>
            <a:xfrm>
              <a:off x="4301035" y="4758053"/>
              <a:ext cx="2660473" cy="419345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4CA7916-F219-4674-9406-CB4F065FAF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9717" y="5582179"/>
            <a:ext cx="3965879" cy="7963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3E39A79-2AED-4B63-811D-E1DE5779907B}"/>
              </a:ext>
            </a:extLst>
          </p:cNvPr>
          <p:cNvGrpSpPr/>
          <p:nvPr/>
        </p:nvGrpSpPr>
        <p:grpSpPr>
          <a:xfrm>
            <a:off x="5631272" y="2998264"/>
            <a:ext cx="3503170" cy="931855"/>
            <a:chOff x="5631272" y="2998264"/>
            <a:chExt cx="3503170" cy="931855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201F4EE-F9B2-48E6-A489-EF6CD99BD5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0394"/>
            <a:stretch/>
          </p:blipFill>
          <p:spPr>
            <a:xfrm>
              <a:off x="7860804" y="3396119"/>
              <a:ext cx="1273638" cy="486933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F32DDA7-7ACD-4227-82D6-3DE46DCCF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631272" y="3326227"/>
              <a:ext cx="2196657" cy="603892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EFD40F-03C9-4146-9273-E4EB466873D8}"/>
                </a:ext>
              </a:extLst>
            </p:cNvPr>
            <p:cNvSpPr txBox="1"/>
            <p:nvPr/>
          </p:nvSpPr>
          <p:spPr>
            <a:xfrm>
              <a:off x="5714985" y="2998264"/>
              <a:ext cx="312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Keep the most probable term: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7A9F7C7-5F60-4D04-815A-6D58C56560A3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2D950B8-6FEF-40D3-835B-2FB3CEB904FE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7678B4FD-6AE5-4ED9-B4E6-4BD95A6F3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6676C134-47AB-4229-BCE7-937A67EBD5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6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CA7916-F219-4674-9406-CB4F065FA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56" y="2164634"/>
            <a:ext cx="3568466" cy="7165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B29F6B3-47E9-4F2E-9ABB-E2224B7B3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6" y="4516543"/>
            <a:ext cx="6653412" cy="2763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CC84A09-5262-4335-8194-A406C0B3F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06" y="3079420"/>
            <a:ext cx="4426322" cy="13770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FFB78E-F921-4BDA-B351-D22FF6BC13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582"/>
          <a:stretch/>
        </p:blipFill>
        <p:spPr>
          <a:xfrm>
            <a:off x="9069664" y="1878302"/>
            <a:ext cx="2297130" cy="5901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2B96185-CB40-4084-BA16-1F0358149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005" y="2619336"/>
            <a:ext cx="2297130" cy="5561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280E9B-B591-4EBC-9604-9515E1E70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9306" y="5232487"/>
            <a:ext cx="3712222" cy="61870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EE3D83F-EB2B-4CE0-B0CF-7CC6AE6145B0}"/>
              </a:ext>
            </a:extLst>
          </p:cNvPr>
          <p:cNvGrpSpPr/>
          <p:nvPr/>
        </p:nvGrpSpPr>
        <p:grpSpPr>
          <a:xfrm>
            <a:off x="4590873" y="5851191"/>
            <a:ext cx="2262314" cy="781159"/>
            <a:chOff x="4590873" y="5851191"/>
            <a:chExt cx="2262314" cy="78115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ED1C27D-8D26-404D-A48D-9292397F8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90873" y="5851191"/>
              <a:ext cx="2105319" cy="781159"/>
            </a:xfrm>
            <a:prstGeom prst="rect">
              <a:avLst/>
            </a:prstGeom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28AC993-A631-4EAB-8242-9C9EB2A6BC57}"/>
                </a:ext>
              </a:extLst>
            </p:cNvPr>
            <p:cNvSpPr/>
            <p:nvPr/>
          </p:nvSpPr>
          <p:spPr>
            <a:xfrm>
              <a:off x="4590873" y="5958038"/>
              <a:ext cx="2262314" cy="67431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924DB63-2D68-4384-966E-67F651BFE0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7107" y="3717534"/>
            <a:ext cx="6777891" cy="65067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FD2F58-45A0-4AB0-B0A2-9594FCE9D026}"/>
              </a:ext>
            </a:extLst>
          </p:cNvPr>
          <p:cNvSpPr/>
          <p:nvPr/>
        </p:nvSpPr>
        <p:spPr>
          <a:xfrm>
            <a:off x="7217878" y="3909448"/>
            <a:ext cx="3159760" cy="2763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040E5-3AF4-4AF0-BFFD-21AD82A279EB}"/>
              </a:ext>
            </a:extLst>
          </p:cNvPr>
          <p:cNvSpPr txBox="1"/>
          <p:nvPr/>
        </p:nvSpPr>
        <p:spPr>
          <a:xfrm>
            <a:off x="7421078" y="6189044"/>
            <a:ext cx="410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(Non-interacting particles)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5D684D-8C09-4C35-991E-1535E29881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3066" y="2471854"/>
            <a:ext cx="2229988" cy="7021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152F97-631D-45FC-B18E-62A35BD2A3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9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B89A91-1F3A-47C0-9393-7A41509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293" y="3122138"/>
            <a:ext cx="2425567" cy="373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D4CD10-9D6A-403B-876D-3B3A7A18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043" y="2863016"/>
            <a:ext cx="2105319" cy="78115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A9F3C-FDF9-493B-9BFD-DAB22F78D92B}"/>
              </a:ext>
            </a:extLst>
          </p:cNvPr>
          <p:cNvSpPr/>
          <p:nvPr/>
        </p:nvSpPr>
        <p:spPr>
          <a:xfrm>
            <a:off x="9613043" y="2969863"/>
            <a:ext cx="2262314" cy="674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65D22A-7875-48B9-A347-06FA93F80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62404" y="3703074"/>
            <a:ext cx="2163591" cy="8749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0C0CC14-BE24-494F-ACD2-512458C3FC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7572" y="6053072"/>
            <a:ext cx="1970562" cy="57540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0130988-A194-414C-AB23-AC5479494DE4}"/>
              </a:ext>
            </a:extLst>
          </p:cNvPr>
          <p:cNvGrpSpPr/>
          <p:nvPr/>
        </p:nvGrpSpPr>
        <p:grpSpPr>
          <a:xfrm>
            <a:off x="3804708" y="3577617"/>
            <a:ext cx="3570708" cy="1740090"/>
            <a:chOff x="3804708" y="3577617"/>
            <a:chExt cx="3570708" cy="1740090"/>
          </a:xfrm>
        </p:grpSpPr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4814AFF3-999E-43F7-A29E-59809895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223272" y="3819626"/>
              <a:ext cx="3152144" cy="783682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B561C5A0-DEB7-412F-B808-EFEA9F76C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223273" y="4575055"/>
              <a:ext cx="3152143" cy="74265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7F1D870-6892-4F9D-8BB4-5A6FE3EF7086}"/>
                </a:ext>
              </a:extLst>
            </p:cNvPr>
            <p:cNvSpPr txBox="1"/>
            <p:nvPr/>
          </p:nvSpPr>
          <p:spPr>
            <a:xfrm>
              <a:off x="3804708" y="3577617"/>
              <a:ext cx="130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Constraint: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2CDA062-EA66-405F-B544-2B36E363B175}"/>
              </a:ext>
            </a:extLst>
          </p:cNvPr>
          <p:cNvGrpSpPr/>
          <p:nvPr/>
        </p:nvGrpSpPr>
        <p:grpSpPr>
          <a:xfrm>
            <a:off x="3846318" y="5130617"/>
            <a:ext cx="4902141" cy="738085"/>
            <a:chOff x="3846318" y="5130617"/>
            <a:chExt cx="4902141" cy="73808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F562F62-2331-49BE-A26A-05FB323A073B}"/>
                </a:ext>
              </a:extLst>
            </p:cNvPr>
            <p:cNvSpPr txBox="1"/>
            <p:nvPr/>
          </p:nvSpPr>
          <p:spPr>
            <a:xfrm>
              <a:off x="3846318" y="5312280"/>
              <a:ext cx="3443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continuous quantum number:</a:t>
              </a: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EB45E67A-47EB-46FE-831F-F313E7634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289453" y="5130617"/>
              <a:ext cx="1459006" cy="73808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58D76C6-EA49-442F-A2DE-6F587E70C6F7}"/>
              </a:ext>
            </a:extLst>
          </p:cNvPr>
          <p:cNvGrpSpPr/>
          <p:nvPr/>
        </p:nvGrpSpPr>
        <p:grpSpPr>
          <a:xfrm>
            <a:off x="3947569" y="5675096"/>
            <a:ext cx="4504648" cy="438625"/>
            <a:chOff x="3947569" y="5675096"/>
            <a:chExt cx="4504648" cy="438625"/>
          </a:xfrm>
        </p:grpSpPr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C39BCE9A-C37E-4A76-8E4E-42598928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32191" y="5675096"/>
              <a:ext cx="893495" cy="438625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C93DD9-9C43-44E1-8BB4-4BAF7B9AA753}"/>
                </a:ext>
              </a:extLst>
            </p:cNvPr>
            <p:cNvSpPr txBox="1"/>
            <p:nvPr/>
          </p:nvSpPr>
          <p:spPr>
            <a:xfrm>
              <a:off x="3947569" y="5703804"/>
              <a:ext cx="33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3C400C2-33FC-4743-9477-A7F98B715F42}"/>
                </a:ext>
              </a:extLst>
            </p:cNvPr>
            <p:cNvSpPr txBox="1"/>
            <p:nvPr/>
          </p:nvSpPr>
          <p:spPr>
            <a:xfrm>
              <a:off x="5048272" y="5683740"/>
              <a:ext cx="3403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, we recover Maxwell-Boltzmann</a:t>
              </a:r>
            </a:p>
          </p:txBody>
        </p:sp>
      </p:grpSp>
      <p:pic>
        <p:nvPicPr>
          <p:cNvPr id="48" name="Graphic 47">
            <a:extLst>
              <a:ext uri="{FF2B5EF4-FFF2-40B4-BE49-F238E27FC236}">
                <a16:creationId xmlns:a16="http://schemas.microsoft.com/office/drawing/2014/main" id="{AE7D23D2-A9E7-46AF-A3FE-AEF97D6023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62791" y="6154307"/>
            <a:ext cx="1579460" cy="634736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0F94E220-5380-4219-BC46-A36684226D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49531" y="5032065"/>
            <a:ext cx="1826733" cy="780352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AFC48659-429D-4A51-9160-A8EE263CC079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2D8345-6B80-4F4C-8AD6-52D31BCF3115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9C319FB1-8076-4FCA-8667-49EEC8A9F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949911-09FA-42F5-90C2-6819F8C7B3D8}"/>
              </a:ext>
            </a:extLst>
          </p:cNvPr>
          <p:cNvCxnSpPr>
            <a:cxnSpLocks/>
          </p:cNvCxnSpPr>
          <p:nvPr/>
        </p:nvCxnSpPr>
        <p:spPr>
          <a:xfrm>
            <a:off x="3947569" y="5425440"/>
            <a:ext cx="6986730" cy="11004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0BDF392-786E-4671-82DE-A0164543CFC0}"/>
              </a:ext>
            </a:extLst>
          </p:cNvPr>
          <p:cNvSpPr txBox="1"/>
          <p:nvPr/>
        </p:nvSpPr>
        <p:spPr>
          <a:xfrm>
            <a:off x="5948413" y="6506996"/>
            <a:ext cx="3484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From K. Huang, not good for me.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13844F0-3D7E-4676-B926-C88D98AFD6A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8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B89A91-1F3A-47C0-9393-7A41509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293" y="3122138"/>
            <a:ext cx="2425567" cy="373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D4CD10-9D6A-403B-876D-3B3A7A18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043" y="2863016"/>
            <a:ext cx="2105319" cy="78115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A9F3C-FDF9-493B-9BFD-DAB22F78D92B}"/>
              </a:ext>
            </a:extLst>
          </p:cNvPr>
          <p:cNvSpPr/>
          <p:nvPr/>
        </p:nvSpPr>
        <p:spPr>
          <a:xfrm>
            <a:off x="9613043" y="2969863"/>
            <a:ext cx="2262314" cy="674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65D22A-7875-48B9-A347-06FA93F80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62404" y="3703074"/>
            <a:ext cx="2163591" cy="8749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3062E6-7682-4D4C-8E67-CB15BCD59B9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3677"/>
          <a:stretch/>
        </p:blipFill>
        <p:spPr>
          <a:xfrm>
            <a:off x="3839023" y="3717221"/>
            <a:ext cx="5411981" cy="8446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6C07916-C2E5-4A85-835D-1013C02504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9801" y="4744819"/>
            <a:ext cx="3915911" cy="7527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5421FD-19AF-4FD3-B20C-9583D8300F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7460" y="4567597"/>
            <a:ext cx="2277155" cy="6649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9E9157C-1F45-4258-BFA0-DE2DBD59CDD8}"/>
              </a:ext>
            </a:extLst>
          </p:cNvPr>
          <p:cNvGrpSpPr/>
          <p:nvPr/>
        </p:nvGrpSpPr>
        <p:grpSpPr>
          <a:xfrm>
            <a:off x="9035676" y="5178559"/>
            <a:ext cx="3156324" cy="1117375"/>
            <a:chOff x="8932896" y="5689123"/>
            <a:chExt cx="3156324" cy="111737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F79D69C-31F8-436B-8764-75762BABE9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7731"/>
            <a:stretch/>
          </p:blipFill>
          <p:spPr>
            <a:xfrm>
              <a:off x="8932896" y="6093415"/>
              <a:ext cx="3156324" cy="71308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A411C2-912C-4F05-A37E-E794FD735EAA}"/>
                </a:ext>
              </a:extLst>
            </p:cNvPr>
            <p:cNvSpPr txBox="1"/>
            <p:nvPr/>
          </p:nvSpPr>
          <p:spPr>
            <a:xfrm>
              <a:off x="9282791" y="5689123"/>
              <a:ext cx="266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Quantum gas equation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FE19566-F565-4D34-AA17-4821659042FE}"/>
              </a:ext>
            </a:extLst>
          </p:cNvPr>
          <p:cNvSpPr txBox="1"/>
          <p:nvPr/>
        </p:nvSpPr>
        <p:spPr>
          <a:xfrm>
            <a:off x="3495616" y="6341263"/>
            <a:ext cx="1821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Grand potential: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B2263C-7F16-4C5D-A132-F68FB4EC82C1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69F3F2-A0D4-4F61-BB02-8E3426599ADF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7784614-0A11-4A6D-BABA-1200AB0A1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A79BD355-7D02-450A-9C9A-8AA1A998DC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709920" y="5596382"/>
            <a:ext cx="797401" cy="67472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5A087D2-D374-4B0C-9320-9D81A28C1BF0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r="59209"/>
          <a:stretch/>
        </p:blipFill>
        <p:spPr>
          <a:xfrm>
            <a:off x="7214054" y="6111290"/>
            <a:ext cx="1381944" cy="654802"/>
          </a:xfrm>
          <a:prstGeom prst="rect">
            <a:avLst/>
          </a:prstGeom>
        </p:spPr>
      </p:pic>
      <p:sp>
        <p:nvSpPr>
          <p:cNvPr id="22" name="Left Brace 21">
            <a:extLst>
              <a:ext uri="{FF2B5EF4-FFF2-40B4-BE49-F238E27FC236}">
                <a16:creationId xmlns:a16="http://schemas.microsoft.com/office/drawing/2014/main" id="{3FC306D9-DA41-4DB4-A864-CC8C600D9FEA}"/>
              </a:ext>
            </a:extLst>
          </p:cNvPr>
          <p:cNvSpPr/>
          <p:nvPr/>
        </p:nvSpPr>
        <p:spPr>
          <a:xfrm rot="16200000">
            <a:off x="5010091" y="4312011"/>
            <a:ext cx="272431" cy="23902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D3BAE36C-03B5-429F-9A3A-505F563988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02349" y="6313026"/>
            <a:ext cx="1908243" cy="425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C9A72F-8CBE-4D3C-9C7E-05FA0F768F40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80519" t="1" b="-12541"/>
          <a:stretch/>
        </p:blipFill>
        <p:spPr>
          <a:xfrm>
            <a:off x="8605250" y="6111290"/>
            <a:ext cx="660015" cy="7369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1B64978-AA05-4284-A5A6-F0F34CCFD54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0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B89A91-1F3A-47C0-9393-7A41509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293" y="3122138"/>
            <a:ext cx="2425567" cy="373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D4CD10-9D6A-403B-876D-3B3A7A18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043" y="2863016"/>
            <a:ext cx="2105319" cy="78115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A9F3C-FDF9-493B-9BFD-DAB22F78D92B}"/>
              </a:ext>
            </a:extLst>
          </p:cNvPr>
          <p:cNvSpPr/>
          <p:nvPr/>
        </p:nvSpPr>
        <p:spPr>
          <a:xfrm>
            <a:off x="9613043" y="2969863"/>
            <a:ext cx="2262314" cy="674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65D22A-7875-48B9-A347-06FA93F80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62404" y="3703074"/>
            <a:ext cx="2163591" cy="8749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3062E6-7682-4D4C-8E67-CB15BCD59B9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3677"/>
          <a:stretch/>
        </p:blipFill>
        <p:spPr>
          <a:xfrm>
            <a:off x="3839023" y="3717221"/>
            <a:ext cx="5411981" cy="8446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6C07916-C2E5-4A85-835D-1013C02504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9801" y="4744819"/>
            <a:ext cx="3915911" cy="7527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A411C2-912C-4F05-A37E-E794FD735EAA}"/>
              </a:ext>
            </a:extLst>
          </p:cNvPr>
          <p:cNvSpPr txBox="1"/>
          <p:nvPr/>
        </p:nvSpPr>
        <p:spPr>
          <a:xfrm>
            <a:off x="8899081" y="5250233"/>
            <a:ext cx="242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Maxwell-Boltzmann: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B2263C-7F16-4C5D-A132-F68FB4EC82C1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69F3F2-A0D4-4F61-BB02-8E3426599ADF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7784614-0A11-4A6D-BABA-1200AB0A1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00CBF74-5AEE-4EAD-BF92-E6F750B18A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8466" y="5628295"/>
            <a:ext cx="4153534" cy="67201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53E5811D-2FF5-4BB1-A28A-5CA37D7C21A2}"/>
              </a:ext>
            </a:extLst>
          </p:cNvPr>
          <p:cNvGrpSpPr/>
          <p:nvPr/>
        </p:nvGrpSpPr>
        <p:grpSpPr>
          <a:xfrm>
            <a:off x="8419612" y="1229705"/>
            <a:ext cx="3570708" cy="1740090"/>
            <a:chOff x="3804708" y="3577617"/>
            <a:chExt cx="3570708" cy="1740090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C2464AB-9636-4A7C-AA59-48A68C5C5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223272" y="3819626"/>
              <a:ext cx="3152144" cy="783682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9AD38EE4-2004-477B-8D4B-1D7AACE01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23273" y="4575055"/>
              <a:ext cx="3152143" cy="74265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158EB71-7B1F-4687-9609-DB07862F47D1}"/>
                </a:ext>
              </a:extLst>
            </p:cNvPr>
            <p:cNvSpPr txBox="1"/>
            <p:nvPr/>
          </p:nvSpPr>
          <p:spPr>
            <a:xfrm>
              <a:off x="3804708" y="3577617"/>
              <a:ext cx="130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Constraint: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4CC7B2E7-DC38-4931-ACD3-01CC3409F71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17460" y="4567597"/>
            <a:ext cx="2277155" cy="66492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52806E0C-21E9-42C7-AD72-939156EEDA73}"/>
              </a:ext>
            </a:extLst>
          </p:cNvPr>
          <p:cNvGrpSpPr/>
          <p:nvPr/>
        </p:nvGrpSpPr>
        <p:grpSpPr>
          <a:xfrm>
            <a:off x="3495616" y="5370896"/>
            <a:ext cx="3614975" cy="1367936"/>
            <a:chOff x="3495616" y="5370896"/>
            <a:chExt cx="3614975" cy="136793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867501E-0BA0-4BD8-9218-860BD38E076E}"/>
                </a:ext>
              </a:extLst>
            </p:cNvPr>
            <p:cNvGrpSpPr/>
            <p:nvPr/>
          </p:nvGrpSpPr>
          <p:grpSpPr>
            <a:xfrm>
              <a:off x="3495616" y="5370896"/>
              <a:ext cx="2845792" cy="1339699"/>
              <a:chOff x="3495616" y="5370896"/>
              <a:chExt cx="2845792" cy="1339699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5571131-1A51-4B98-9E3A-A6FD30F01E58}"/>
                  </a:ext>
                </a:extLst>
              </p:cNvPr>
              <p:cNvSpPr txBox="1"/>
              <p:nvPr/>
            </p:nvSpPr>
            <p:spPr>
              <a:xfrm>
                <a:off x="3495616" y="6341263"/>
                <a:ext cx="1821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Grand potential:</a:t>
                </a: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76161C90-315C-403E-AAB2-F517C690F5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4709920" y="5596382"/>
                <a:ext cx="797401" cy="674724"/>
              </a:xfrm>
              <a:prstGeom prst="rect">
                <a:avLst/>
              </a:prstGeom>
            </p:spPr>
          </p:pic>
          <p:sp>
            <p:nvSpPr>
              <p:cNvPr id="44" name="Left Brace 43">
                <a:extLst>
                  <a:ext uri="{FF2B5EF4-FFF2-40B4-BE49-F238E27FC236}">
                    <a16:creationId xmlns:a16="http://schemas.microsoft.com/office/drawing/2014/main" id="{CD4C7522-8C5C-4391-81E8-5036D9429127}"/>
                  </a:ext>
                </a:extLst>
              </p:cNvPr>
              <p:cNvSpPr/>
              <p:nvPr/>
            </p:nvSpPr>
            <p:spPr>
              <a:xfrm rot="16200000">
                <a:off x="5010091" y="4312011"/>
                <a:ext cx="272431" cy="2390202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31258528-9EA2-4EE3-83D5-20375ECC4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5202350" y="6313026"/>
              <a:ext cx="1908241" cy="425806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44309CD6-6277-450D-8D23-C9F9A388227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0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A7289A-33EC-421C-AD2B-EB0BEF83C8D1}"/>
              </a:ext>
            </a:extLst>
          </p:cNvPr>
          <p:cNvGrpSpPr/>
          <p:nvPr/>
        </p:nvGrpSpPr>
        <p:grpSpPr>
          <a:xfrm>
            <a:off x="1574690" y="2043101"/>
            <a:ext cx="3807793" cy="482072"/>
            <a:chOff x="5361819" y="2267133"/>
            <a:chExt cx="3807793" cy="48207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B82320-751D-47BA-9965-8F3FEF8F3849}"/>
                </a:ext>
              </a:extLst>
            </p:cNvPr>
            <p:cNvSpPr txBox="1"/>
            <p:nvPr/>
          </p:nvSpPr>
          <p:spPr>
            <a:xfrm>
              <a:off x="5361819" y="2356822"/>
              <a:ext cx="2452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Canonical ensemble: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CD811CA5-1A68-492D-80DD-748C29E8B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87687" y="2267133"/>
              <a:ext cx="1481925" cy="482072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22EEFDF-4FC9-41B9-BFF1-85AAEB7A3AB3}"/>
              </a:ext>
            </a:extLst>
          </p:cNvPr>
          <p:cNvGrpSpPr/>
          <p:nvPr/>
        </p:nvGrpSpPr>
        <p:grpSpPr>
          <a:xfrm>
            <a:off x="5220525" y="2780733"/>
            <a:ext cx="4776140" cy="2133458"/>
            <a:chOff x="5231261" y="2683276"/>
            <a:chExt cx="4776140" cy="213345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33DBB8F0-5755-4172-AE57-BAD3255ED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231261" y="2683276"/>
              <a:ext cx="2426503" cy="93621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5BD00160-7D32-423A-A491-FDFC7FB15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99992" y="4088557"/>
              <a:ext cx="1307409" cy="728177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54BAC1-5919-4162-83EE-F5AA2396824D}"/>
              </a:ext>
            </a:extLst>
          </p:cNvPr>
          <p:cNvGrpSpPr/>
          <p:nvPr/>
        </p:nvGrpSpPr>
        <p:grpSpPr>
          <a:xfrm>
            <a:off x="3324423" y="4214708"/>
            <a:ext cx="4934013" cy="482072"/>
            <a:chOff x="3335159" y="4117251"/>
            <a:chExt cx="4934013" cy="482072"/>
          </a:xfrm>
        </p:grpSpPr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8822DC73-5C66-4321-98AC-4C3C3787B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323665" y="4117251"/>
              <a:ext cx="1945507" cy="48207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1733EC7-1362-431A-A0E3-C7A29C91169D}"/>
                </a:ext>
              </a:extLst>
            </p:cNvPr>
            <p:cNvSpPr txBox="1"/>
            <p:nvPr/>
          </p:nvSpPr>
          <p:spPr>
            <a:xfrm>
              <a:off x="3335159" y="4199817"/>
              <a:ext cx="3143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Grand canonical ensemble:</a:t>
              </a:r>
            </a:p>
          </p:txBody>
        </p:sp>
      </p:grpSp>
      <p:pic>
        <p:nvPicPr>
          <p:cNvPr id="39" name="Graphic 38">
            <a:extLst>
              <a:ext uri="{FF2B5EF4-FFF2-40B4-BE49-F238E27FC236}">
                <a16:creationId xmlns:a16="http://schemas.microsoft.com/office/drawing/2014/main" id="{3152FF8B-72C5-4ADC-9EDF-D7ADAB05D2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26536" y="4550103"/>
            <a:ext cx="2268800" cy="92170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2DACFB40-2D35-4A4C-B8E3-D2F275D1695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92875" y="3435736"/>
            <a:ext cx="2382541" cy="858415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D68620C7-E2D3-4137-998A-9E5ED17B23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97582" y="5314222"/>
            <a:ext cx="2880084" cy="94853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AD8F9D13-3212-4410-89EE-823239A015A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63545" y="5457810"/>
            <a:ext cx="989783" cy="468845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0401A996-C31E-4BCF-A71F-DB58DD25D6F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755653" y="6125923"/>
            <a:ext cx="3927327" cy="800011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E2CBFE42-94F4-4394-9B7F-18C6CB2506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779595" y="5501546"/>
            <a:ext cx="3305397" cy="131219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E2386E1-BFDA-4455-A4BA-6BFF89F7652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r="79737"/>
          <a:stretch/>
        </p:blipFill>
        <p:spPr>
          <a:xfrm>
            <a:off x="7732497" y="2614421"/>
            <a:ext cx="677829" cy="10354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9EB98EC-F726-4743-BC9B-239FC23DEC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7973"/>
          <a:stretch/>
        </p:blipFill>
        <p:spPr>
          <a:xfrm>
            <a:off x="8410326" y="2645926"/>
            <a:ext cx="2354645" cy="72817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5EDD79A-9DB3-4E80-8B26-D3E26759FF0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738915" y="2714258"/>
            <a:ext cx="1452956" cy="62178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DB0D9D5-5E1D-4A8E-BABC-06DDC9764A4B}"/>
              </a:ext>
            </a:extLst>
          </p:cNvPr>
          <p:cNvSpPr txBox="1"/>
          <p:nvPr/>
        </p:nvSpPr>
        <p:spPr>
          <a:xfrm>
            <a:off x="7889189" y="228797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Classical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39312C-7389-4B08-B2EB-4AFCA5BE5582}"/>
              </a:ext>
            </a:extLst>
          </p:cNvPr>
          <p:cNvSpPr txBox="1"/>
          <p:nvPr/>
        </p:nvSpPr>
        <p:spPr>
          <a:xfrm>
            <a:off x="10021969" y="4199684"/>
            <a:ext cx="2177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Difficult to proceed.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1EBBA4-78D9-47FB-9CF6-DD0DE5CB7CB5}"/>
              </a:ext>
            </a:extLst>
          </p:cNvPr>
          <p:cNvSpPr txBox="1"/>
          <p:nvPr/>
        </p:nvSpPr>
        <p:spPr>
          <a:xfrm>
            <a:off x="5385882" y="2300659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Quantum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C8C9C45D-069D-4C10-84AC-430AE7BFC0A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14845" y="3363046"/>
            <a:ext cx="2950126" cy="806139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6115D94F-8A71-46AD-B73C-86C7ECF2DB9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778425" y="3307103"/>
            <a:ext cx="1238958" cy="757141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101E2C5A-C050-40AB-954E-2B51173C82E1}"/>
              </a:ext>
            </a:extLst>
          </p:cNvPr>
          <p:cNvGrpSpPr/>
          <p:nvPr/>
        </p:nvGrpSpPr>
        <p:grpSpPr>
          <a:xfrm>
            <a:off x="8682980" y="4767648"/>
            <a:ext cx="3577313" cy="804289"/>
            <a:chOff x="8682980" y="4767648"/>
            <a:chExt cx="3577313" cy="804289"/>
          </a:xfrm>
        </p:grpSpPr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3A154F2C-E6C1-48AA-8B39-6090A39F8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682980" y="4767648"/>
              <a:ext cx="2737679" cy="804289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0522BDE-224B-42B0-96C0-04C32557328F}"/>
                </a:ext>
              </a:extLst>
            </p:cNvPr>
            <p:cNvSpPr txBox="1"/>
            <p:nvPr/>
          </p:nvSpPr>
          <p:spPr>
            <a:xfrm>
              <a:off x="11262904" y="4944890"/>
              <a:ext cx="9973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classical</a:t>
              </a:r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33490C4-AF57-411F-9C0C-0982BE68A8E1}"/>
              </a:ext>
            </a:extLst>
          </p:cNvPr>
          <p:cNvSpPr/>
          <p:nvPr/>
        </p:nvSpPr>
        <p:spPr>
          <a:xfrm>
            <a:off x="8724909" y="4812870"/>
            <a:ext cx="3466962" cy="1959645"/>
          </a:xfrm>
          <a:prstGeom prst="roundRect">
            <a:avLst>
              <a:gd name="adj" fmla="val 958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07CA669-789F-452B-8755-595643B5AC2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51DE-29FA-4675-A191-C96A4F76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5A5BE1-254E-4A0A-8ADB-1438C49468CA}"/>
              </a:ext>
            </a:extLst>
          </p:cNvPr>
          <p:cNvGrpSpPr/>
          <p:nvPr/>
        </p:nvGrpSpPr>
        <p:grpSpPr>
          <a:xfrm>
            <a:off x="4719623" y="2039803"/>
            <a:ext cx="2544341" cy="1510019"/>
            <a:chOff x="4719623" y="2039803"/>
            <a:chExt cx="2544341" cy="1510019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917B587-68E7-4183-9715-855D3C3E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19623" y="2408207"/>
              <a:ext cx="2382541" cy="85841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AF06C4-3597-4329-B403-581420C34502}"/>
                </a:ext>
              </a:extLst>
            </p:cNvPr>
            <p:cNvSpPr txBox="1"/>
            <p:nvPr/>
          </p:nvSpPr>
          <p:spPr>
            <a:xfrm>
              <a:off x="4884786" y="3180490"/>
              <a:ext cx="2177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Difficult to proceed.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94C571-2A4A-4501-AFC7-4811F7511250}"/>
                </a:ext>
              </a:extLst>
            </p:cNvPr>
            <p:cNvSpPr txBox="1"/>
            <p:nvPr/>
          </p:nvSpPr>
          <p:spPr>
            <a:xfrm>
              <a:off x="4811754" y="2039803"/>
              <a:ext cx="2452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Canonical ensemble: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4C614752-0594-41F9-9767-89C9C84EA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6912" y="4742321"/>
            <a:ext cx="491340" cy="5127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B9491C-0BB4-4114-9E46-5D75DF1AE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7694E19-50E2-419B-92E2-D5B35449BB42}"/>
              </a:ext>
            </a:extLst>
          </p:cNvPr>
          <p:cNvGrpSpPr/>
          <p:nvPr/>
        </p:nvGrpSpPr>
        <p:grpSpPr>
          <a:xfrm>
            <a:off x="8395703" y="1984271"/>
            <a:ext cx="3143233" cy="1363061"/>
            <a:chOff x="8395703" y="1984271"/>
            <a:chExt cx="3143233" cy="13630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EB5469-FFF3-4F89-8C06-DA8DD48D8229}"/>
                </a:ext>
              </a:extLst>
            </p:cNvPr>
            <p:cNvSpPr txBox="1"/>
            <p:nvPr/>
          </p:nvSpPr>
          <p:spPr>
            <a:xfrm>
              <a:off x="8395703" y="1984271"/>
              <a:ext cx="3143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Grand canonical ensemble: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54550B2-C911-422E-9169-3AF030A59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95703" y="2524122"/>
              <a:ext cx="2499567" cy="823210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6BC2EE6-AEAE-49CE-9FC7-45C061C288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5476" y="4547052"/>
            <a:ext cx="1827898" cy="73442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2288D98-4D1B-4B8A-AAF7-B4569363DF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87477" y="5233789"/>
            <a:ext cx="1994566" cy="7207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A1D1A5-5BE2-4A47-B6ED-4CB150EE14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3035" y="4083665"/>
            <a:ext cx="4089841" cy="25058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09B924B-B05C-4B38-AEF0-7B78EA6F54A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63029" y="5111991"/>
            <a:ext cx="790263" cy="224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ACB314-9D74-4B39-B785-67A91CD795C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38041" y="4435005"/>
            <a:ext cx="600251" cy="22409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E83B160-49D9-4EE5-BEA2-A2EAB43BD8D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96544" y="3899253"/>
            <a:ext cx="1713495" cy="18441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9E59BDE-424B-4D88-A48F-86633463DBDD}"/>
              </a:ext>
            </a:extLst>
          </p:cNvPr>
          <p:cNvGrpSpPr/>
          <p:nvPr/>
        </p:nvGrpSpPr>
        <p:grpSpPr>
          <a:xfrm>
            <a:off x="223846" y="4432948"/>
            <a:ext cx="2973039" cy="2533831"/>
            <a:chOff x="223846" y="4432948"/>
            <a:chExt cx="2973039" cy="253383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446772EE-7B30-46E5-AA28-2D51BF6109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 l="20394"/>
            <a:stretch/>
          </p:blipFill>
          <p:spPr>
            <a:xfrm>
              <a:off x="1791605" y="4794542"/>
              <a:ext cx="1273638" cy="48693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FBD501C-2C76-4B07-8A90-17DA9C7E0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337354" y="5289331"/>
              <a:ext cx="1727889" cy="64111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39E6A0-AA39-44F2-A95E-7A0E7A366C82}"/>
                </a:ext>
              </a:extLst>
            </p:cNvPr>
            <p:cNvSpPr txBox="1"/>
            <p:nvPr/>
          </p:nvSpPr>
          <p:spPr>
            <a:xfrm>
              <a:off x="223846" y="4432948"/>
              <a:ext cx="220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Occupation number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AD2C15B-7C02-45BA-A064-A9440A1D8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1165659" y="5865885"/>
              <a:ext cx="2031226" cy="110089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D457CF-48D6-4B9D-84E8-A93DFCAF5139}"/>
              </a:ext>
            </a:extLst>
          </p:cNvPr>
          <p:cNvGrpSpPr/>
          <p:nvPr/>
        </p:nvGrpSpPr>
        <p:grpSpPr>
          <a:xfrm>
            <a:off x="624626" y="2039803"/>
            <a:ext cx="3713298" cy="2237474"/>
            <a:chOff x="624626" y="2039803"/>
            <a:chExt cx="3713298" cy="22374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6054B8-33C4-482A-B82B-915D39139ECE}"/>
                </a:ext>
              </a:extLst>
            </p:cNvPr>
            <p:cNvSpPr txBox="1"/>
            <p:nvPr/>
          </p:nvSpPr>
          <p:spPr>
            <a:xfrm>
              <a:off x="881452" y="2039803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8582914-C07F-44DC-8ADE-E6E6F5C1B1BA}"/>
                </a:ext>
              </a:extLst>
            </p:cNvPr>
            <p:cNvGrpSpPr/>
            <p:nvPr/>
          </p:nvGrpSpPr>
          <p:grpSpPr>
            <a:xfrm>
              <a:off x="624626" y="2543177"/>
              <a:ext cx="3713298" cy="1734100"/>
              <a:chOff x="624626" y="2543177"/>
              <a:chExt cx="3713298" cy="173410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A20AE5A-3E1A-4BA6-B81C-C7414039ADA8}"/>
                  </a:ext>
                </a:extLst>
              </p:cNvPr>
              <p:cNvGrpSpPr/>
              <p:nvPr/>
            </p:nvGrpSpPr>
            <p:grpSpPr>
              <a:xfrm>
                <a:off x="624626" y="2543177"/>
                <a:ext cx="2625618" cy="1734100"/>
                <a:chOff x="624626" y="2543177"/>
                <a:chExt cx="2625618" cy="1734100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A109E37A-AC0F-41D5-A3DD-CDFBF658C1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3"/>
                <a:srcRect l="1" t="2" r="-1343" b="-5536"/>
                <a:stretch/>
              </p:blipFill>
              <p:spPr>
                <a:xfrm>
                  <a:off x="1024128" y="2543177"/>
                  <a:ext cx="2226116" cy="637313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29DC75A5-C6C8-4965-94AB-A7C3CFC4C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4"/>
                <a:srcRect t="13582"/>
                <a:stretch/>
              </p:blipFill>
              <p:spPr>
                <a:xfrm>
                  <a:off x="624626" y="3225519"/>
                  <a:ext cx="1834575" cy="471335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11200CE-4BE1-4FAA-98B3-F75BC4DA78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0879" y="3833117"/>
                  <a:ext cx="1834575" cy="444160"/>
                </a:xfrm>
                <a:prstGeom prst="rect">
                  <a:avLst/>
                </a:prstGeom>
              </p:spPr>
            </p:pic>
          </p:grp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EF595EAD-99DA-4584-B995-8E4C02DC6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2624429" y="3474737"/>
                <a:ext cx="1713495" cy="608928"/>
              </a:xfrm>
              <a:prstGeom prst="rect">
                <a:avLst/>
              </a:prstGeom>
            </p:spPr>
          </p:pic>
        </p:grp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43B7EFA3-BB86-4B55-AFAF-32D53F4ED2D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019859F-60D7-4F01-8101-B543819E9A60}"/>
              </a:ext>
            </a:extLst>
          </p:cNvPr>
          <p:cNvGrpSpPr/>
          <p:nvPr/>
        </p:nvGrpSpPr>
        <p:grpSpPr>
          <a:xfrm>
            <a:off x="7237745" y="5874747"/>
            <a:ext cx="3651517" cy="1172604"/>
            <a:chOff x="7237745" y="5874747"/>
            <a:chExt cx="3651517" cy="1172604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02AC294-E1F6-4F6D-B8C1-ED7C55C2D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8151952" y="6299803"/>
              <a:ext cx="1686329" cy="74754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256E56A-95BA-46CE-B0D2-CDEE15D475E6}"/>
                </a:ext>
              </a:extLst>
            </p:cNvPr>
            <p:cNvSpPr txBox="1"/>
            <p:nvPr/>
          </p:nvSpPr>
          <p:spPr>
            <a:xfrm>
              <a:off x="7850076" y="5874747"/>
              <a:ext cx="30391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In classical regime</a:t>
              </a: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01ADB43B-99CB-4290-B437-2A0C609DC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237745" y="6354239"/>
              <a:ext cx="891347" cy="455156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DD575DB5-4469-4A3D-9230-33C38B24564A}"/>
              </a:ext>
            </a:extLst>
          </p:cNvPr>
          <p:cNvPicPr>
            <a:picLocks noChangeAspect="1"/>
          </p:cNvPicPr>
          <p:nvPr/>
        </p:nvPicPr>
        <p:blipFill rotWithShape="1">
          <a:blip r:embed="rId34"/>
          <a:srcRect l="66246"/>
          <a:stretch/>
        </p:blipFill>
        <p:spPr>
          <a:xfrm>
            <a:off x="9807801" y="6168087"/>
            <a:ext cx="731750" cy="74754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47D6763C-5517-404F-B60C-97E51C1CFF6B}"/>
              </a:ext>
            </a:extLst>
          </p:cNvPr>
          <p:cNvGrpSpPr/>
          <p:nvPr/>
        </p:nvGrpSpPr>
        <p:grpSpPr>
          <a:xfrm>
            <a:off x="10582894" y="6244079"/>
            <a:ext cx="1639610" cy="468845"/>
            <a:chOff x="10582894" y="6244079"/>
            <a:chExt cx="1639610" cy="468845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4C3322A9-6CBB-414A-ADAF-73B273EFA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0770597" y="6244079"/>
              <a:ext cx="1451907" cy="468845"/>
            </a:xfrm>
            <a:prstGeom prst="rect">
              <a:avLst/>
            </a:prstGeom>
          </p:spPr>
        </p:pic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7F26A1F3-3FAF-40D2-8DA9-C7F937073C6E}"/>
                </a:ext>
              </a:extLst>
            </p:cNvPr>
            <p:cNvSpPr/>
            <p:nvPr/>
          </p:nvSpPr>
          <p:spPr>
            <a:xfrm>
              <a:off x="10582894" y="6416332"/>
              <a:ext cx="241994" cy="1731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4E49301E-432F-416C-AD3F-20171A00463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35473" y="5817387"/>
            <a:ext cx="1713495" cy="356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7E007DB-F72D-40DC-BD07-CB3B30CA2CC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4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08F6-5AFB-41C4-90A2-7A40F93B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05A94A-2C2F-4FEA-8D22-3DCB245C3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F649815-E10F-4CB4-8143-D22631F07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381" y="3129039"/>
            <a:ext cx="3186840" cy="75877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68C0FCE-D6FF-4622-98E0-DB14A7042C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748" y="3976700"/>
            <a:ext cx="1466956" cy="75877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39B1EB8-3D7A-4196-8DCF-872855A2AA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79033" y="3969975"/>
            <a:ext cx="2196537" cy="77222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E960B99-A375-4C08-A3A9-BAECB297FE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914" y="4783222"/>
            <a:ext cx="3609656" cy="80404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4A4B7AD-0D63-4CC0-B40F-10CE4843C095}"/>
              </a:ext>
            </a:extLst>
          </p:cNvPr>
          <p:cNvGrpSpPr/>
          <p:nvPr/>
        </p:nvGrpSpPr>
        <p:grpSpPr>
          <a:xfrm>
            <a:off x="1556665" y="5490760"/>
            <a:ext cx="1536615" cy="457076"/>
            <a:chOff x="4931562" y="6429800"/>
            <a:chExt cx="1536615" cy="45707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9B6CD47-09AC-42B1-BC5A-F062A0682D84}"/>
                </a:ext>
              </a:extLst>
            </p:cNvPr>
            <p:cNvSpPr txBox="1"/>
            <p:nvPr/>
          </p:nvSpPr>
          <p:spPr>
            <a:xfrm>
              <a:off x="4931562" y="6517544"/>
              <a:ext cx="10422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Classical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E7034D2-C6A6-4313-BFD1-E7B457BCEFA8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5973835" y="6429800"/>
              <a:ext cx="494342" cy="272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7553352C-A326-4332-A216-4C09730917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0704" y="4927007"/>
            <a:ext cx="1994566" cy="72072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C18D9A9-0098-41BC-B1A0-6B54C318F22A}"/>
              </a:ext>
            </a:extLst>
          </p:cNvPr>
          <p:cNvSpPr txBox="1"/>
          <p:nvPr/>
        </p:nvSpPr>
        <p:spPr>
          <a:xfrm>
            <a:off x="8369140" y="4574756"/>
            <a:ext cx="220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Occupation number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B04D7156-A731-44F0-A031-2F4A02723E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95703" y="2524122"/>
            <a:ext cx="2499567" cy="82321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88D420CA-21FF-4662-A2F7-56D765EFD2E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5E3C7066-7F95-4C0E-B3B4-91806A9FA145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r="79737"/>
          <a:stretch/>
        </p:blipFill>
        <p:spPr>
          <a:xfrm>
            <a:off x="5078714" y="2667500"/>
            <a:ext cx="677829" cy="10354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089740F-65F9-4A05-9F60-9996D249EF93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7973"/>
          <a:stretch/>
        </p:blipFill>
        <p:spPr>
          <a:xfrm>
            <a:off x="5824115" y="2667500"/>
            <a:ext cx="2354645" cy="72817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C216F76-9961-4BE9-BBEE-CF6A2AED36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48481" y="3571906"/>
            <a:ext cx="1452956" cy="62178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9755A9C-F155-4538-8B4A-3357B8F44777}"/>
              </a:ext>
            </a:extLst>
          </p:cNvPr>
          <p:cNvSpPr txBox="1"/>
          <p:nvPr/>
        </p:nvSpPr>
        <p:spPr>
          <a:xfrm>
            <a:off x="5858754" y="2308916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Classical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CD28D55-6EFC-4735-B3D5-124D8BAEEC9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95483" y="5708466"/>
            <a:ext cx="1978553" cy="107234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88AF12B-42AC-4F51-8C60-E3A6D45A36AF}"/>
              </a:ext>
            </a:extLst>
          </p:cNvPr>
          <p:cNvSpPr txBox="1"/>
          <p:nvPr/>
        </p:nvSpPr>
        <p:spPr>
          <a:xfrm>
            <a:off x="241526" y="2684468"/>
            <a:ext cx="3181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Occupation number statistics: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385844BA-1F64-4719-9C50-957DDC085AE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02690" y="4385618"/>
            <a:ext cx="2737679" cy="80428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9991401-8382-42F1-B9BA-220926339321}"/>
              </a:ext>
            </a:extLst>
          </p:cNvPr>
          <p:cNvSpPr txBox="1"/>
          <p:nvPr/>
        </p:nvSpPr>
        <p:spPr>
          <a:xfrm>
            <a:off x="6953668" y="1954716"/>
            <a:ext cx="3143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Grand canonical ensemble: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61013F-DECA-4354-9791-7B517E2EC7A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9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08F6-5AFB-41C4-90A2-7A40F93B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83CBFA9C-C13E-4A86-BCA3-5F7906C5D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855" y="6201124"/>
            <a:ext cx="3481137" cy="709120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98CDD76A-5391-4D1A-A943-5D74C08A3F0F}"/>
              </a:ext>
            </a:extLst>
          </p:cNvPr>
          <p:cNvGrpSpPr/>
          <p:nvPr/>
        </p:nvGrpSpPr>
        <p:grpSpPr>
          <a:xfrm>
            <a:off x="93115" y="2672953"/>
            <a:ext cx="5637956" cy="1292153"/>
            <a:chOff x="3125275" y="4079534"/>
            <a:chExt cx="5637956" cy="1292153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D500E9A-DADD-4AEA-9FBF-6F91A9532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25275" y="4493252"/>
              <a:ext cx="5637956" cy="87843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E602E4-3A83-4C39-AA30-D3D024B0DCFB}"/>
                </a:ext>
              </a:extLst>
            </p:cNvPr>
            <p:cNvSpPr txBox="1"/>
            <p:nvPr/>
          </p:nvSpPr>
          <p:spPr>
            <a:xfrm>
              <a:off x="3200508" y="4079534"/>
              <a:ext cx="3957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Probability for finding </a:t>
              </a:r>
              <a:r>
                <a:rPr lang="en-MY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MY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MY" dirty="0"/>
                <a:t> particle in</a:t>
              </a:r>
              <a:r>
                <a:rPr lang="en-MY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MY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MY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MY" dirty="0"/>
                <a:t>:</a:t>
              </a:r>
            </a:p>
          </p:txBody>
        </p:sp>
      </p:grpSp>
      <p:pic>
        <p:nvPicPr>
          <p:cNvPr id="25" name="Graphic 24">
            <a:extLst>
              <a:ext uri="{FF2B5EF4-FFF2-40B4-BE49-F238E27FC236}">
                <a16:creationId xmlns:a16="http://schemas.microsoft.com/office/drawing/2014/main" id="{AFD36D99-7B86-4C0A-BBB5-8C1E1B5BC6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0863" y="4619589"/>
            <a:ext cx="1994566" cy="72072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127FF89-C270-4586-9C45-4EE9DEF048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52626" y="3837969"/>
            <a:ext cx="3724099" cy="9352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8E1C2EA-9DF4-4C31-8A43-DC78753B7248}"/>
              </a:ext>
            </a:extLst>
          </p:cNvPr>
          <p:cNvGrpSpPr/>
          <p:nvPr/>
        </p:nvGrpSpPr>
        <p:grpSpPr>
          <a:xfrm>
            <a:off x="8743609" y="5318486"/>
            <a:ext cx="3216282" cy="1425978"/>
            <a:chOff x="8817545" y="5128182"/>
            <a:chExt cx="3216282" cy="142597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A67283A-0922-4153-A2B5-04CD39243DE9}"/>
                </a:ext>
              </a:extLst>
            </p:cNvPr>
            <p:cNvSpPr txBox="1"/>
            <p:nvPr/>
          </p:nvSpPr>
          <p:spPr>
            <a:xfrm>
              <a:off x="8817545" y="5907829"/>
              <a:ext cx="32162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/>
                <a:t>General result for noninteracting particles.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E2CDA6F-B75C-4737-80FA-ABB72BC9F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3133" y="5128182"/>
              <a:ext cx="0" cy="7796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Graphic 43">
            <a:extLst>
              <a:ext uri="{FF2B5EF4-FFF2-40B4-BE49-F238E27FC236}">
                <a16:creationId xmlns:a16="http://schemas.microsoft.com/office/drawing/2014/main" id="{34D62F59-4017-42D3-BA57-E34F94CD60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B6CCF69-B773-42C5-9051-1DCFB737522B}"/>
              </a:ext>
            </a:extLst>
          </p:cNvPr>
          <p:cNvSpPr txBox="1"/>
          <p:nvPr/>
        </p:nvSpPr>
        <p:spPr>
          <a:xfrm>
            <a:off x="6953668" y="1954716"/>
            <a:ext cx="3143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Grand canonical ensemble: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E1BC71F-9FF3-4C55-A960-535FD53AC6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95703" y="2524122"/>
            <a:ext cx="2499567" cy="82321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0A6ACE8A-D5D3-416A-B0A4-20D78E67AF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9CBD463C-1A6D-4FAE-B0A6-44974772B9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95441" y="6434823"/>
            <a:ext cx="2947466" cy="436662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765C0292-C3CC-4997-A55A-D2FF965E374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35525" y="5128778"/>
            <a:ext cx="1978553" cy="10723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F0580-53AA-42A7-A743-E6F9F4DFDE0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8315" y="5052415"/>
            <a:ext cx="4185076" cy="681292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7BF10AA3-2A99-469D-BD8D-E251F732BFD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07039" y="2593339"/>
            <a:ext cx="2737679" cy="80428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C27B19E-694F-44A0-BF81-172EF4590B6A}"/>
              </a:ext>
            </a:extLst>
          </p:cNvPr>
          <p:cNvSpPr txBox="1"/>
          <p:nvPr/>
        </p:nvSpPr>
        <p:spPr>
          <a:xfrm>
            <a:off x="6377303" y="2315679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Classical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0C86E5-13FA-4CC8-8CDF-B5BE6450D90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9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015-02EF-4FA7-9F62-6FCBE322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51BE5A-6709-4637-9F40-0AE044A6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443" y="1992296"/>
            <a:ext cx="3812056" cy="9397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E709B2C-A22F-4B23-AE17-C66645E4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153" y="2147475"/>
            <a:ext cx="1876926" cy="7218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DBF0CE1-6443-4FB5-840E-2C432A5A8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652" y="2226271"/>
            <a:ext cx="908585" cy="4717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49F00B-CAC8-4723-BF37-6FB69F203F98}"/>
              </a:ext>
            </a:extLst>
          </p:cNvPr>
          <p:cNvSpPr txBox="1"/>
          <p:nvPr/>
        </p:nvSpPr>
        <p:spPr>
          <a:xfrm>
            <a:off x="9187596" y="2264644"/>
            <a:ext cx="28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(Real space representation)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76803-4F67-41EF-8A6C-505861825D34}"/>
              </a:ext>
            </a:extLst>
          </p:cNvPr>
          <p:cNvSpPr txBox="1"/>
          <p:nvPr/>
        </p:nvSpPr>
        <p:spPr>
          <a:xfrm>
            <a:off x="721443" y="3004883"/>
            <a:ext cx="407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Energy eigenstates of the Hamiltonian: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5CC74-A2CD-48F5-A2DE-6DE1B96087BF}"/>
              </a:ext>
            </a:extLst>
          </p:cNvPr>
          <p:cNvGrpSpPr/>
          <p:nvPr/>
        </p:nvGrpSpPr>
        <p:grpSpPr>
          <a:xfrm>
            <a:off x="8301887" y="3365264"/>
            <a:ext cx="1915428" cy="1713297"/>
            <a:chOff x="6699183" y="4995512"/>
            <a:chExt cx="1915428" cy="17132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14C2818-2CAA-40E4-BA14-271F5E68B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89A997-50BD-43D1-80F2-6CCF3CEFC4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1E1C3-FA87-4742-8FA8-87E740F7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7E9F57-33AD-4B33-9195-510A54E7A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3A8277A-7B36-43BF-B417-607A4114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45427" y="5266242"/>
              <a:ext cx="557667" cy="50369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BAE2D7-397C-4167-8678-12792F6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8BBB6F-9BD6-428C-97BE-4DAD25802A86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CE33F8-F93C-4210-A28F-6F09B39A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82963727-6D40-44BC-9211-62A6A7B3B8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4667" y="2950305"/>
            <a:ext cx="540026" cy="54002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D50A9AD6-975E-45B0-92FE-A37C77F307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27937" y="4300167"/>
            <a:ext cx="498010" cy="49801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8D22F1-2791-4C4E-A30E-4B1FC61FC9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94641" y="4998549"/>
            <a:ext cx="540025" cy="540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5F5964-5953-4762-B019-A22F9CC8A59E}"/>
              </a:ext>
            </a:extLst>
          </p:cNvPr>
          <p:cNvSpPr txBox="1"/>
          <p:nvPr/>
        </p:nvSpPr>
        <p:spPr>
          <a:xfrm>
            <a:off x="721426" y="4773295"/>
            <a:ext cx="1370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Observable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EC56BC-E3C3-4EDB-9B69-2E4D2C151C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43346" y="4733907"/>
            <a:ext cx="472318" cy="4723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A9D96D6-D78B-44FF-99EC-4E8B287C48F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0496" y="5267889"/>
            <a:ext cx="1921812" cy="51358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F9F9E87-957B-4BF9-9341-114C6458A0D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199755" y="5303377"/>
            <a:ext cx="2544176" cy="4781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8E08E61-59A1-4CFC-9766-E2FEF7E4A53E}"/>
              </a:ext>
            </a:extLst>
          </p:cNvPr>
          <p:cNvSpPr txBox="1"/>
          <p:nvPr/>
        </p:nvSpPr>
        <p:spPr>
          <a:xfrm>
            <a:off x="3242205" y="5049776"/>
            <a:ext cx="247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Measure in experiment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00FC91-D781-4B9A-9E0F-EB15A8722F05}"/>
              </a:ext>
            </a:extLst>
          </p:cNvPr>
          <p:cNvSpPr txBox="1"/>
          <p:nvPr/>
        </p:nvSpPr>
        <p:spPr>
          <a:xfrm>
            <a:off x="323689" y="2236371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3B2A6-E3A7-4786-9618-EE4626AA04A5}"/>
              </a:ext>
            </a:extLst>
          </p:cNvPr>
          <p:cNvSpPr txBox="1"/>
          <p:nvPr/>
        </p:nvSpPr>
        <p:spPr>
          <a:xfrm>
            <a:off x="312751" y="2952285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91437-0FFF-4B13-A8E3-D1581B99F231}"/>
              </a:ext>
            </a:extLst>
          </p:cNvPr>
          <p:cNvSpPr txBox="1"/>
          <p:nvPr/>
        </p:nvSpPr>
        <p:spPr>
          <a:xfrm>
            <a:off x="289740" y="4678467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8271A8-94A9-4176-8157-31A6263EF011}"/>
              </a:ext>
            </a:extLst>
          </p:cNvPr>
          <p:cNvGrpSpPr/>
          <p:nvPr/>
        </p:nvGrpSpPr>
        <p:grpSpPr>
          <a:xfrm>
            <a:off x="317741" y="5755780"/>
            <a:ext cx="1604556" cy="461665"/>
            <a:chOff x="317741" y="5755780"/>
            <a:chExt cx="1604556" cy="46166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9967DCF-3BAF-4D43-A079-D0181220D601}"/>
                </a:ext>
              </a:extLst>
            </p:cNvPr>
            <p:cNvSpPr txBox="1"/>
            <p:nvPr/>
          </p:nvSpPr>
          <p:spPr>
            <a:xfrm>
              <a:off x="317741" y="5755780"/>
              <a:ext cx="540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/>
                <a:t>4)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B1C865-898D-4904-B70D-76D6DA2F1D9D}"/>
                </a:ext>
              </a:extLst>
            </p:cNvPr>
            <p:cNvSpPr txBox="1"/>
            <p:nvPr/>
          </p:nvSpPr>
          <p:spPr>
            <a:xfrm>
              <a:off x="690550" y="5848113"/>
              <a:ext cx="123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Dynamics </a:t>
              </a:r>
            </a:p>
          </p:txBody>
        </p:sp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5F7E3133-A349-458A-BA0F-D19C38B7FD9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4686" y="6131479"/>
            <a:ext cx="2544176" cy="75448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D5188B1-185C-4B73-A20A-5A4E75F8233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556036" y="6324414"/>
            <a:ext cx="2988117" cy="47809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197E636-0BFD-472D-BEE2-AA60973D8EC7}"/>
              </a:ext>
            </a:extLst>
          </p:cNvPr>
          <p:cNvGrpSpPr/>
          <p:nvPr/>
        </p:nvGrpSpPr>
        <p:grpSpPr>
          <a:xfrm>
            <a:off x="5628809" y="5882651"/>
            <a:ext cx="2876031" cy="961287"/>
            <a:chOff x="5628809" y="5882651"/>
            <a:chExt cx="2876031" cy="961287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A86449FA-17FF-40FB-B2A8-9EA28CF7A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628809" y="6212972"/>
              <a:ext cx="2876031" cy="63096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9B66CA-1C6B-4908-BB32-A68DC9C0CEE0}"/>
                </a:ext>
              </a:extLst>
            </p:cNvPr>
            <p:cNvSpPr txBox="1"/>
            <p:nvPr/>
          </p:nvSpPr>
          <p:spPr>
            <a:xfrm>
              <a:off x="5763198" y="5882651"/>
              <a:ext cx="11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Formally:</a:t>
              </a: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8FABF666-3352-49EF-AAE9-90817636FEE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73965" y="5026194"/>
            <a:ext cx="1121910" cy="53506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D6045B3-3470-456A-99F9-26078D3271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084020" y="5561258"/>
            <a:ext cx="2701156" cy="56578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45CFC61-8975-4E8C-AA6E-FF554F4F32E6}"/>
              </a:ext>
            </a:extLst>
          </p:cNvPr>
          <p:cNvSpPr txBox="1"/>
          <p:nvPr/>
        </p:nvSpPr>
        <p:spPr>
          <a:xfrm>
            <a:off x="8904170" y="6060062"/>
            <a:ext cx="328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Unitary: preserving probability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390BC2DF-22B7-4910-A7EE-14743DB8432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18824" y="3483786"/>
            <a:ext cx="1793657" cy="540026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152A0FEA-20C2-4218-8ACE-88FDE373754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24128" y="4063614"/>
            <a:ext cx="2034100" cy="75401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1ADA7EC5-F833-4363-AF6C-931437FF6C4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09144" y="3906393"/>
            <a:ext cx="1027330" cy="558724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E649B057-AD3A-417D-AE42-1C3323D1B6E6}"/>
              </a:ext>
            </a:extLst>
          </p:cNvPr>
          <p:cNvGrpSpPr/>
          <p:nvPr/>
        </p:nvGrpSpPr>
        <p:grpSpPr>
          <a:xfrm>
            <a:off x="4525124" y="3937901"/>
            <a:ext cx="3682425" cy="557667"/>
            <a:chOff x="9971767" y="5779885"/>
            <a:chExt cx="3682425" cy="55766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DFDA3A2-4C4F-4315-878C-44E70D8F1124}"/>
                </a:ext>
              </a:extLst>
            </p:cNvPr>
            <p:cNvSpPr txBox="1"/>
            <p:nvPr/>
          </p:nvSpPr>
          <p:spPr>
            <a:xfrm>
              <a:off x="9971767" y="5862470"/>
              <a:ext cx="3412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= probability to find        in state </a:t>
              </a:r>
            </a:p>
          </p:txBody>
        </p: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35CA5BBF-632C-4E2C-8446-3080F1D34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997787" y="5797526"/>
              <a:ext cx="557667" cy="503699"/>
            </a:xfrm>
            <a:prstGeom prst="rect">
              <a:avLst/>
            </a:prstGeom>
          </p:spPr>
        </p:pic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8B1E03EB-1F09-4141-829D-D926CD5DE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096525" y="5779885"/>
              <a:ext cx="557667" cy="557667"/>
            </a:xfrm>
            <a:prstGeom prst="rect">
              <a:avLst/>
            </a:prstGeom>
          </p:spPr>
        </p:pic>
      </p:grpSp>
      <p:pic>
        <p:nvPicPr>
          <p:cNvPr id="73" name="Graphic 72">
            <a:extLst>
              <a:ext uri="{FF2B5EF4-FFF2-40B4-BE49-F238E27FC236}">
                <a16:creationId xmlns:a16="http://schemas.microsoft.com/office/drawing/2014/main" id="{D298D096-664B-4931-AADE-C6E3B58BE83C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17157" t="4345"/>
          <a:stretch/>
        </p:blipFill>
        <p:spPr>
          <a:xfrm>
            <a:off x="3655639" y="3383091"/>
            <a:ext cx="1554909" cy="69550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44BD569-C027-416C-AEDC-52DC6763FAA0}"/>
              </a:ext>
            </a:extLst>
          </p:cNvPr>
          <p:cNvSpPr txBox="1"/>
          <p:nvPr/>
        </p:nvSpPr>
        <p:spPr>
          <a:xfrm>
            <a:off x="5089489" y="3426869"/>
            <a:ext cx="178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(Completeness)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5F83F9-29DE-4369-8FFB-7D37F35C0101}"/>
              </a:ext>
            </a:extLst>
          </p:cNvPr>
          <p:cNvSpPr txBox="1"/>
          <p:nvPr/>
        </p:nvSpPr>
        <p:spPr>
          <a:xfrm>
            <a:off x="4737652" y="4446206"/>
            <a:ext cx="192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(Normalization)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E1618FC8-F610-4C57-AC59-B2980B512184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63742" b="27638"/>
          <a:stretch/>
        </p:blipFill>
        <p:spPr>
          <a:xfrm>
            <a:off x="10067128" y="6398809"/>
            <a:ext cx="1128906" cy="5293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6BB92C6-1DCA-47B9-A101-A17C3A0B0F41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5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7C6BD-31ED-4E6F-B792-B46A8C0EAD69}"/>
              </a:ext>
            </a:extLst>
          </p:cNvPr>
          <p:cNvSpPr txBox="1"/>
          <p:nvPr/>
        </p:nvSpPr>
        <p:spPr>
          <a:xfrm>
            <a:off x="121078" y="1670115"/>
            <a:ext cx="3289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Schrodinger equation:</a:t>
            </a:r>
            <a:endParaRPr lang="en-MY" sz="24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597EE2-48D3-430E-B453-F0B200E81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257" y="2362613"/>
            <a:ext cx="2767157" cy="8206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D272C-4C97-494D-97B6-FC7471BBA067}"/>
              </a:ext>
            </a:extLst>
          </p:cNvPr>
          <p:cNvSpPr txBox="1"/>
          <p:nvPr/>
        </p:nvSpPr>
        <p:spPr>
          <a:xfrm>
            <a:off x="5544305" y="1715500"/>
            <a:ext cx="551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Hilbert space</a:t>
            </a:r>
            <a:r>
              <a:rPr lang="en-US" dirty="0"/>
              <a:t> (n-dimensional complex vector space):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903636-2C7B-408D-B6E4-C1915E8ABCDA}"/>
              </a:ext>
            </a:extLst>
          </p:cNvPr>
          <p:cNvGrpSpPr/>
          <p:nvPr/>
        </p:nvGrpSpPr>
        <p:grpSpPr>
          <a:xfrm>
            <a:off x="6616973" y="2223580"/>
            <a:ext cx="1915428" cy="1713297"/>
            <a:chOff x="6699183" y="4995512"/>
            <a:chExt cx="1915428" cy="171329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F825C1-BEB4-439D-8BC0-A7B5B5521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09E56C4-D4D0-497B-8EAB-B4FD6FF1440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55B815-6D02-47BF-9A4C-D86FA26107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7108BB0-0573-4937-8819-6E8FB5689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A381BF8-AD45-4B7A-800F-8297CD4D30A4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F56DF6-4E7C-4B3B-8F98-95889C59478C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A9BCE8-1C2F-4414-B54C-FA86A6CA2D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FA01BC-FD1D-43A2-A9B0-36211BC52E10}"/>
              </a:ext>
            </a:extLst>
          </p:cNvPr>
          <p:cNvGrpSpPr/>
          <p:nvPr/>
        </p:nvGrpSpPr>
        <p:grpSpPr>
          <a:xfrm>
            <a:off x="484554" y="3155638"/>
            <a:ext cx="5850269" cy="714479"/>
            <a:chOff x="8772568" y="5953158"/>
            <a:chExt cx="5850269" cy="71447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49EEE9-56EC-4103-9AF2-835917171A4F}"/>
                </a:ext>
              </a:extLst>
            </p:cNvPr>
            <p:cNvSpPr txBox="1"/>
            <p:nvPr/>
          </p:nvSpPr>
          <p:spPr>
            <a:xfrm>
              <a:off x="8772568" y="6021306"/>
              <a:ext cx="5850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How to model the quantum microstates         statistically that is compatible with quantum mechanics?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E029B42-957B-405E-94DF-85F56E65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70630" y="5953158"/>
              <a:ext cx="557667" cy="503699"/>
            </a:xfrm>
            <a:prstGeom prst="rect">
              <a:avLst/>
            </a:prstGeom>
          </p:spPr>
        </p:pic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BAC4DFFC-2FC6-461E-B8BA-847E207435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8437" y="2561192"/>
            <a:ext cx="623385" cy="44755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AD5F3F4-E4FB-46FD-9BEE-2E03271C67E9}"/>
              </a:ext>
            </a:extLst>
          </p:cNvPr>
          <p:cNvGrpSpPr/>
          <p:nvPr/>
        </p:nvGrpSpPr>
        <p:grpSpPr>
          <a:xfrm>
            <a:off x="8353935" y="2536639"/>
            <a:ext cx="2113903" cy="419041"/>
            <a:chOff x="8353935" y="2536639"/>
            <a:chExt cx="2113903" cy="419041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4B83E04F-2870-4BE3-BF89-BFD7C1CF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57701" y="2536639"/>
              <a:ext cx="510137" cy="41904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102A3D-532E-4AA2-BEF5-B2962BF68450}"/>
                </a:ext>
              </a:extLst>
            </p:cNvPr>
            <p:cNvSpPr txBox="1"/>
            <p:nvPr/>
          </p:nvSpPr>
          <p:spPr>
            <a:xfrm>
              <a:off x="8353935" y="2567486"/>
              <a:ext cx="1846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with probability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3F571D8-ED79-46A5-88EE-2AD757F7C704}"/>
              </a:ext>
            </a:extLst>
          </p:cNvPr>
          <p:cNvGrpSpPr/>
          <p:nvPr/>
        </p:nvGrpSpPr>
        <p:grpSpPr>
          <a:xfrm>
            <a:off x="673523" y="4045027"/>
            <a:ext cx="3224709" cy="964045"/>
            <a:chOff x="673523" y="4045027"/>
            <a:chExt cx="3224709" cy="96404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A6792AE-9CFF-400F-A988-977CD13451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57791" b="50000"/>
            <a:stretch/>
          </p:blipFill>
          <p:spPr>
            <a:xfrm>
              <a:off x="1617649" y="4414360"/>
              <a:ext cx="2280583" cy="594712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AC1E4BA-10DA-46A5-B890-FAD01AA704AC}"/>
                </a:ext>
              </a:extLst>
            </p:cNvPr>
            <p:cNvSpPr txBox="1"/>
            <p:nvPr/>
          </p:nvSpPr>
          <p:spPr>
            <a:xfrm>
              <a:off x="673523" y="4045027"/>
              <a:ext cx="2829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Experiment measurement: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A70631B-68D9-4CA6-8F96-F794474CC13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2806" r="1001" b="45660"/>
          <a:stretch/>
        </p:blipFill>
        <p:spPr>
          <a:xfrm>
            <a:off x="4023607" y="4389677"/>
            <a:ext cx="3036130" cy="64633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3391C5F-2A7A-4890-94D3-3E4462B21795}"/>
              </a:ext>
            </a:extLst>
          </p:cNvPr>
          <p:cNvGrpSpPr/>
          <p:nvPr/>
        </p:nvGrpSpPr>
        <p:grpSpPr>
          <a:xfrm>
            <a:off x="7836635" y="4375500"/>
            <a:ext cx="3306297" cy="695502"/>
            <a:chOff x="7836635" y="4375500"/>
            <a:chExt cx="3306297" cy="695502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E793E4CD-8590-48FF-A334-4258D3809D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17157" t="4345"/>
            <a:stretch/>
          </p:blipFill>
          <p:spPr>
            <a:xfrm>
              <a:off x="7836635" y="4375500"/>
              <a:ext cx="1554909" cy="69550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50470C8-916A-4F8F-B207-BE4A6C837AFB}"/>
                </a:ext>
              </a:extLst>
            </p:cNvPr>
            <p:cNvSpPr txBox="1"/>
            <p:nvPr/>
          </p:nvSpPr>
          <p:spPr>
            <a:xfrm>
              <a:off x="9359814" y="4419393"/>
              <a:ext cx="17831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(Completeness)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34526664-5C53-4525-933C-24D3366D84E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383" t="48579" r="54584" b="-2919"/>
          <a:stretch/>
        </p:blipFill>
        <p:spPr>
          <a:xfrm>
            <a:off x="1876129" y="4958602"/>
            <a:ext cx="2108977" cy="64633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952CB74-E914-4AA3-8107-D2688055CEC3}"/>
              </a:ext>
            </a:extLst>
          </p:cNvPr>
          <p:cNvGrpSpPr/>
          <p:nvPr/>
        </p:nvGrpSpPr>
        <p:grpSpPr>
          <a:xfrm>
            <a:off x="793952" y="5418560"/>
            <a:ext cx="2407088" cy="678997"/>
            <a:chOff x="793952" y="5418560"/>
            <a:chExt cx="2407088" cy="678997"/>
          </a:xfrm>
        </p:grpSpPr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831F525A-E69A-440E-8D24-1CA1402F9422}"/>
                </a:ext>
              </a:extLst>
            </p:cNvPr>
            <p:cNvSpPr/>
            <p:nvPr/>
          </p:nvSpPr>
          <p:spPr>
            <a:xfrm rot="5400000">
              <a:off x="2748354" y="5235381"/>
              <a:ext cx="269507" cy="63586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5F333E-19CF-47A2-B664-573870D3E723}"/>
                </a:ext>
              </a:extLst>
            </p:cNvPr>
            <p:cNvSpPr txBox="1"/>
            <p:nvPr/>
          </p:nvSpPr>
          <p:spPr>
            <a:xfrm>
              <a:off x="793952" y="5728225"/>
              <a:ext cx="172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48521" y="5674909"/>
            <a:ext cx="3272269" cy="7290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DD77B3D-2A41-42C8-AEE8-CBFFFD296CE5}"/>
              </a:ext>
            </a:extLst>
          </p:cNvPr>
          <p:cNvGrpSpPr/>
          <p:nvPr/>
        </p:nvGrpSpPr>
        <p:grpSpPr>
          <a:xfrm>
            <a:off x="6398528" y="5785893"/>
            <a:ext cx="3137406" cy="1079281"/>
            <a:chOff x="6398528" y="5785893"/>
            <a:chExt cx="3137406" cy="107928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F0999C-3D7C-463A-AC14-F6EE3A22A127}"/>
                </a:ext>
              </a:extLst>
            </p:cNvPr>
            <p:cNvSpPr txBox="1"/>
            <p:nvPr/>
          </p:nvSpPr>
          <p:spPr>
            <a:xfrm>
              <a:off x="6398528" y="5785893"/>
              <a:ext cx="1985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basis-free form: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EA610D47-AF15-46A9-8946-9BE664DA4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600435" y="6131300"/>
              <a:ext cx="2935499" cy="733874"/>
            </a:xfrm>
            <a:prstGeom prst="rect">
              <a:avLst/>
            </a:prstGeom>
          </p:spPr>
        </p:pic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6600436" y="6175005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94271F8-10EE-4B9F-9838-6065453CA7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37841" y="6155225"/>
            <a:ext cx="1576649" cy="60340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07E0F65-3653-470A-9438-4AA7A7D85025}"/>
              </a:ext>
            </a:extLst>
          </p:cNvPr>
          <p:cNvGrpSpPr/>
          <p:nvPr/>
        </p:nvGrpSpPr>
        <p:grpSpPr>
          <a:xfrm>
            <a:off x="3985106" y="6403964"/>
            <a:ext cx="2723702" cy="436836"/>
            <a:chOff x="3985106" y="6403964"/>
            <a:chExt cx="2723702" cy="43683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1621A4-AA7D-4007-A83C-C7E2C708A263}"/>
                </a:ext>
              </a:extLst>
            </p:cNvPr>
            <p:cNvSpPr txBox="1"/>
            <p:nvPr/>
          </p:nvSpPr>
          <p:spPr>
            <a:xfrm>
              <a:off x="3985106" y="6471468"/>
              <a:ext cx="2169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What form is allow?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D30C4F4-5D73-4972-90D2-B2073A553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7545" y="6403964"/>
              <a:ext cx="481263" cy="13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F3D1C3-1E71-40A8-BA18-78AAC457A7B8}"/>
              </a:ext>
            </a:extLst>
          </p:cNvPr>
          <p:cNvGrpSpPr/>
          <p:nvPr/>
        </p:nvGrpSpPr>
        <p:grpSpPr>
          <a:xfrm>
            <a:off x="7829756" y="5436846"/>
            <a:ext cx="4474558" cy="903414"/>
            <a:chOff x="7829756" y="5436846"/>
            <a:chExt cx="4474558" cy="903414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659E939-5459-4D13-BE7F-F2E9E61A6C01}"/>
                </a:ext>
              </a:extLst>
            </p:cNvPr>
            <p:cNvCxnSpPr>
              <a:cxnSpLocks/>
            </p:cNvCxnSpPr>
            <p:nvPr/>
          </p:nvCxnSpPr>
          <p:spPr>
            <a:xfrm>
              <a:off x="10866923" y="5970559"/>
              <a:ext cx="0" cy="3697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AD15785-7F63-461A-905C-C6B15A1E68E0}"/>
                </a:ext>
              </a:extLst>
            </p:cNvPr>
            <p:cNvGrpSpPr/>
            <p:nvPr/>
          </p:nvGrpSpPr>
          <p:grpSpPr>
            <a:xfrm>
              <a:off x="7829756" y="5436846"/>
              <a:ext cx="4474558" cy="465393"/>
              <a:chOff x="7646306" y="5407704"/>
              <a:chExt cx="4474558" cy="465393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4EB3FD0-B743-487E-92E6-299BE4201ACC}"/>
                  </a:ext>
                </a:extLst>
              </p:cNvPr>
              <p:cNvSpPr txBox="1"/>
              <p:nvPr/>
            </p:nvSpPr>
            <p:spPr>
              <a:xfrm>
                <a:off x="7646306" y="5466233"/>
                <a:ext cx="4474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>
                    <a:solidFill>
                      <a:srgbClr val="FF0000"/>
                    </a:solidFill>
                  </a:rPr>
                  <a:t>play the role like                  in classical case.</a:t>
                </a:r>
              </a:p>
            </p:txBody>
          </p:sp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54DDFEA5-F001-4689-9314-9A7586886B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 r="65547" b="918"/>
              <a:stretch/>
            </p:blipFill>
            <p:spPr>
              <a:xfrm>
                <a:off x="9348295" y="5407704"/>
                <a:ext cx="931904" cy="465393"/>
              </a:xfrm>
              <a:prstGeom prst="rect">
                <a:avLst/>
              </a:pr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9D54EF-7CCC-4AEB-B62B-5007EA7E1B0B}"/>
              </a:ext>
            </a:extLst>
          </p:cNvPr>
          <p:cNvGrpSpPr/>
          <p:nvPr/>
        </p:nvGrpSpPr>
        <p:grpSpPr>
          <a:xfrm>
            <a:off x="197847" y="6097557"/>
            <a:ext cx="3289600" cy="782775"/>
            <a:chOff x="197847" y="6097557"/>
            <a:chExt cx="3289600" cy="78277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D86115-63FE-4AAB-BA26-769F09872262}"/>
                </a:ext>
              </a:extLst>
            </p:cNvPr>
            <p:cNvSpPr txBox="1"/>
            <p:nvPr/>
          </p:nvSpPr>
          <p:spPr>
            <a:xfrm>
              <a:off x="197847" y="6234001"/>
              <a:ext cx="328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Is the tool to build statistical model in quantum mechanics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011B32C-8954-41E7-B670-21D3EDAD24A2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1490203" y="6097557"/>
              <a:ext cx="165107" cy="175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38624FE0-277C-4A0A-A7A4-1E9861E2645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0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F333E-19CF-47A2-B664-573870D3E723}"/>
              </a:ext>
            </a:extLst>
          </p:cNvPr>
          <p:cNvSpPr txBox="1"/>
          <p:nvPr/>
        </p:nvSpPr>
        <p:spPr>
          <a:xfrm>
            <a:off x="640718" y="2070911"/>
            <a:ext cx="172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F0999C-3D7C-463A-AC14-F6EE3A22A127}"/>
              </a:ext>
            </a:extLst>
          </p:cNvPr>
          <p:cNvSpPr txBox="1"/>
          <p:nvPr/>
        </p:nvSpPr>
        <p:spPr>
          <a:xfrm>
            <a:off x="7014545" y="201279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basis-free form: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287" y="2017595"/>
            <a:ext cx="3272269" cy="72905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610D47-AF15-46A9-8946-9BE664DA4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141" y="2299917"/>
            <a:ext cx="2935499" cy="733874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8210142" y="2343622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BB87B49-8240-4B37-A73C-AB830BE4CCC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86163" b="11061"/>
          <a:stretch/>
        </p:blipFill>
        <p:spPr>
          <a:xfrm>
            <a:off x="866082" y="2551309"/>
            <a:ext cx="431142" cy="6476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DB2170B-F29F-44E9-B5CC-6A7560C83B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2383" y="2601044"/>
            <a:ext cx="606342" cy="42260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4B51372-C313-4ACC-B634-9FDE512D2F31}"/>
              </a:ext>
            </a:extLst>
          </p:cNvPr>
          <p:cNvSpPr txBox="1"/>
          <p:nvPr/>
        </p:nvSpPr>
        <p:spPr>
          <a:xfrm>
            <a:off x="475933" y="257508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E088CF4-0DE5-4DE3-A894-6DCC4D038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0972" y="2652022"/>
            <a:ext cx="4011331" cy="86518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C76FEAE5-449F-4FAE-82AF-37537B5149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21990" y="3658453"/>
            <a:ext cx="959257" cy="5349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99DB9B7-4643-458C-B09D-4D16D121C78B}"/>
              </a:ext>
            </a:extLst>
          </p:cNvPr>
          <p:cNvSpPr txBox="1"/>
          <p:nvPr/>
        </p:nvSpPr>
        <p:spPr>
          <a:xfrm>
            <a:off x="475933" y="4064980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159A34-3B93-40B5-92F7-68CA98B8BA62}"/>
              </a:ext>
            </a:extLst>
          </p:cNvPr>
          <p:cNvSpPr txBox="1"/>
          <p:nvPr/>
        </p:nvSpPr>
        <p:spPr>
          <a:xfrm>
            <a:off x="877355" y="4157313"/>
            <a:ext cx="110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Positivity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D9878-1234-4B56-81C4-12ED1F2ED63F}"/>
              </a:ext>
            </a:extLst>
          </p:cNvPr>
          <p:cNvGrpSpPr/>
          <p:nvPr/>
        </p:nvGrpSpPr>
        <p:grpSpPr>
          <a:xfrm>
            <a:off x="3920229" y="4399566"/>
            <a:ext cx="3927870" cy="573836"/>
            <a:chOff x="8201250" y="6040069"/>
            <a:chExt cx="3927870" cy="57383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70A58B-A21E-4F14-827F-51A9710F4492}"/>
                </a:ext>
              </a:extLst>
            </p:cNvPr>
            <p:cNvSpPr txBox="1"/>
            <p:nvPr/>
          </p:nvSpPr>
          <p:spPr>
            <a:xfrm>
              <a:off x="8201250" y="6142320"/>
              <a:ext cx="392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 any states        in the Hilbert space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EEC9821-831D-4DB6-BA08-87211784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500310" y="6040069"/>
              <a:ext cx="635319" cy="57383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9EE6E2F-74DC-40FB-AD86-26771CCE43A3}"/>
              </a:ext>
            </a:extLst>
          </p:cNvPr>
          <p:cNvSpPr txBox="1"/>
          <p:nvPr/>
        </p:nvSpPr>
        <p:spPr>
          <a:xfrm>
            <a:off x="460901" y="331110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6A9F7C-636C-422B-B4A0-C73423571858}"/>
              </a:ext>
            </a:extLst>
          </p:cNvPr>
          <p:cNvSpPr txBox="1"/>
          <p:nvPr/>
        </p:nvSpPr>
        <p:spPr>
          <a:xfrm>
            <a:off x="862323" y="3403441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Hermiticity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866904-0958-442B-805E-DBB18B53B124}"/>
              </a:ext>
            </a:extLst>
          </p:cNvPr>
          <p:cNvGrpSpPr/>
          <p:nvPr/>
        </p:nvGrpSpPr>
        <p:grpSpPr>
          <a:xfrm>
            <a:off x="2363434" y="4429015"/>
            <a:ext cx="1176645" cy="514940"/>
            <a:chOff x="2856992" y="5192813"/>
            <a:chExt cx="1176645" cy="5149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209A59-C152-4D1F-AC24-70EA01FA0F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r="83209" b="2616"/>
            <a:stretch/>
          </p:blipFill>
          <p:spPr>
            <a:xfrm>
              <a:off x="2856992" y="5192814"/>
              <a:ext cx="762107" cy="51493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2CF908-9057-49CA-A062-2BF53CBF18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92929" t="-1915" r="-1325" b="4531"/>
            <a:stretch/>
          </p:blipFill>
          <p:spPr>
            <a:xfrm>
              <a:off x="3652583" y="5192813"/>
              <a:ext cx="381054" cy="514939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BAB22D3-B414-42C5-B125-8D2FEA77BFF5}"/>
              </a:ext>
            </a:extLst>
          </p:cNvPr>
          <p:cNvSpPr txBox="1"/>
          <p:nvPr/>
        </p:nvSpPr>
        <p:spPr>
          <a:xfrm>
            <a:off x="488081" y="4956923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C6D6F0-C910-46FC-B77C-12A75598349D}"/>
              </a:ext>
            </a:extLst>
          </p:cNvPr>
          <p:cNvSpPr txBox="1"/>
          <p:nvPr/>
        </p:nvSpPr>
        <p:spPr>
          <a:xfrm>
            <a:off x="889503" y="5049256"/>
            <a:ext cx="573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Time evolution: Liouville’s theorem for quantum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342D0B-FADE-47E3-9CE9-98C93F11C0E9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t="9529"/>
          <a:stretch/>
        </p:blipFill>
        <p:spPr>
          <a:xfrm>
            <a:off x="862323" y="5446940"/>
            <a:ext cx="4124326" cy="5570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12F216-9EE3-4A66-9550-7600EF4605B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1472" y="6121693"/>
            <a:ext cx="2855711" cy="520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DB417B-A8F3-45AC-BE91-7FF495327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7183" y="6206620"/>
            <a:ext cx="1815341" cy="3503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846018-80C7-4BF5-9965-119FCE6B79CD}"/>
              </a:ext>
            </a:extLst>
          </p:cNvPr>
          <p:cNvGrpSpPr/>
          <p:nvPr/>
        </p:nvGrpSpPr>
        <p:grpSpPr>
          <a:xfrm>
            <a:off x="8624236" y="5637693"/>
            <a:ext cx="1713886" cy="733874"/>
            <a:chOff x="8624236" y="5637693"/>
            <a:chExt cx="1713886" cy="73387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4A11AE-41BD-45D4-837F-732BA012A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826A78-16AE-4C0B-95BC-96EDCDD46806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3409B1D-8901-474C-892F-6677F5B44737}"/>
              </a:ext>
            </a:extLst>
          </p:cNvPr>
          <p:cNvSpPr txBox="1"/>
          <p:nvPr/>
        </p:nvSpPr>
        <p:spPr>
          <a:xfrm>
            <a:off x="8518359" y="6381996"/>
            <a:ext cx="308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(Conservation of probability)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6C6D49D-F1EF-4A4F-9A97-61E6A6ABE0B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7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9C92-4E56-44FE-8D4C-924ECA98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Equilibrium in quantum 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E321C8-3774-4CB7-BF0E-5BB462CF942A}"/>
              </a:ext>
            </a:extLst>
          </p:cNvPr>
          <p:cNvGrpSpPr/>
          <p:nvPr/>
        </p:nvGrpSpPr>
        <p:grpSpPr>
          <a:xfrm>
            <a:off x="933650" y="2307352"/>
            <a:ext cx="1713886" cy="733874"/>
            <a:chOff x="8624236" y="5637693"/>
            <a:chExt cx="1713886" cy="7338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FDFB5D-C1A7-4CD4-9AAC-C3F3E7D4B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3BCAC3-C7E6-4180-9B0C-561F68698B4E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07017330-7A01-45F1-8168-C63C20A09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270954"/>
            <a:ext cx="1033513" cy="793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08EB75-9C5B-4074-9D36-AEFD0EEC2079}"/>
              </a:ext>
            </a:extLst>
          </p:cNvPr>
          <p:cNvSpPr txBox="1"/>
          <p:nvPr/>
        </p:nvSpPr>
        <p:spPr>
          <a:xfrm>
            <a:off x="3268601" y="2468980"/>
            <a:ext cx="2529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thermal equilibrium: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F9F472C-0331-4B15-83D5-54C4586CD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4243" y="3222459"/>
            <a:ext cx="2916164" cy="57099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278CA63-11AC-46D9-9E61-A07E59D54C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8656" y="5958919"/>
            <a:ext cx="1945506" cy="87921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49D62BA-CCE2-449A-9D93-D8046AFD7173}"/>
              </a:ext>
            </a:extLst>
          </p:cNvPr>
          <p:cNvGrpSpPr/>
          <p:nvPr/>
        </p:nvGrpSpPr>
        <p:grpSpPr>
          <a:xfrm>
            <a:off x="977655" y="3992868"/>
            <a:ext cx="4484405" cy="1117584"/>
            <a:chOff x="977655" y="3992868"/>
            <a:chExt cx="4484405" cy="11175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F4EFF5-86EA-45AD-B322-A89BC671D610}"/>
                </a:ext>
              </a:extLst>
            </p:cNvPr>
            <p:cNvSpPr txBox="1"/>
            <p:nvPr/>
          </p:nvSpPr>
          <p:spPr>
            <a:xfrm>
              <a:off x="977655" y="4476535"/>
              <a:ext cx="27949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Microcanonical ensemble: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9DA634E-9749-420D-A88C-74D10F0B5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72587" y="4283980"/>
              <a:ext cx="1688114" cy="82647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DC44F4-8E7C-4018-9E16-7F4D36B00F7E}"/>
                </a:ext>
              </a:extLst>
            </p:cNvPr>
            <p:cNvSpPr txBox="1"/>
            <p:nvPr/>
          </p:nvSpPr>
          <p:spPr>
            <a:xfrm>
              <a:off x="3798656" y="3992868"/>
              <a:ext cx="1663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E4458D4-E92F-4650-BB1D-F05D4BE64613}"/>
              </a:ext>
            </a:extLst>
          </p:cNvPr>
          <p:cNvGrpSpPr/>
          <p:nvPr/>
        </p:nvGrpSpPr>
        <p:grpSpPr>
          <a:xfrm>
            <a:off x="5896551" y="4033951"/>
            <a:ext cx="1957607" cy="1138262"/>
            <a:chOff x="5896551" y="4033951"/>
            <a:chExt cx="1957607" cy="1138262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B32E4A2-BFE3-4EAF-A632-D68925C05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896551" y="4476534"/>
              <a:ext cx="1957607" cy="69567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8D82A6-476B-47AA-BBC9-811FE754C9FC}"/>
                </a:ext>
              </a:extLst>
            </p:cNvPr>
            <p:cNvSpPr txBox="1"/>
            <p:nvPr/>
          </p:nvSpPr>
          <p:spPr>
            <a:xfrm>
              <a:off x="6045067" y="4033951"/>
              <a:ext cx="1636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Normalization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A636542-C3DE-4D2E-A0EC-DB57CABCF18C}"/>
              </a:ext>
            </a:extLst>
          </p:cNvPr>
          <p:cNvGrpSpPr/>
          <p:nvPr/>
        </p:nvGrpSpPr>
        <p:grpSpPr>
          <a:xfrm>
            <a:off x="5183441" y="2881834"/>
            <a:ext cx="4836950" cy="432584"/>
            <a:chOff x="5316709" y="2958836"/>
            <a:chExt cx="4836950" cy="43258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EC5719-F545-4130-BBE7-0CE21BADB164}"/>
                </a:ext>
              </a:extLst>
            </p:cNvPr>
            <p:cNvSpPr txBox="1"/>
            <p:nvPr/>
          </p:nvSpPr>
          <p:spPr>
            <a:xfrm>
              <a:off x="5826321" y="2958836"/>
              <a:ext cx="4327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Independent random phases assumption.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90E139E-2788-48E7-8B2C-E7ED4E3EF832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>
              <a:off x="5316709" y="3143502"/>
              <a:ext cx="509612" cy="24791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D7F640-20B2-4E37-B910-BFA80D102900}"/>
              </a:ext>
            </a:extLst>
          </p:cNvPr>
          <p:cNvGrpSpPr/>
          <p:nvPr/>
        </p:nvGrpSpPr>
        <p:grpSpPr>
          <a:xfrm>
            <a:off x="1444893" y="5110160"/>
            <a:ext cx="8575498" cy="805562"/>
            <a:chOff x="1444893" y="5110160"/>
            <a:chExt cx="8575498" cy="80556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1F1ED8-7491-489D-8458-378FBD840345}"/>
                </a:ext>
              </a:extLst>
            </p:cNvPr>
            <p:cNvSpPr txBox="1"/>
            <p:nvPr/>
          </p:nvSpPr>
          <p:spPr>
            <a:xfrm>
              <a:off x="1444893" y="5437221"/>
              <a:ext cx="2250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Canonical ensemble:</a:t>
              </a: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65EBA3D-C7EE-4071-B25C-1B2D8C1F8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83556" y="5110160"/>
              <a:ext cx="1299884" cy="805562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2CFD091-3AB4-475F-97E5-C01667BBA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884164" y="5271905"/>
              <a:ext cx="1481925" cy="482072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5D01C4AE-EF15-47BB-B538-8A6AF62080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r="26027" b="4429"/>
            <a:stretch/>
          </p:blipFill>
          <p:spPr>
            <a:xfrm>
              <a:off x="8004961" y="5113679"/>
              <a:ext cx="2015430" cy="76893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397498-FE77-4690-A7A0-097D2C31E680}"/>
              </a:ext>
            </a:extLst>
          </p:cNvPr>
          <p:cNvGrpSpPr/>
          <p:nvPr/>
        </p:nvGrpSpPr>
        <p:grpSpPr>
          <a:xfrm>
            <a:off x="892503" y="5996308"/>
            <a:ext cx="9714538" cy="733096"/>
            <a:chOff x="892503" y="5996308"/>
            <a:chExt cx="9714538" cy="73309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DC9D9C-F569-4AA4-8882-CEEB0DA7C73C}"/>
                </a:ext>
              </a:extLst>
            </p:cNvPr>
            <p:cNvSpPr txBox="1"/>
            <p:nvPr/>
          </p:nvSpPr>
          <p:spPr>
            <a:xfrm>
              <a:off x="892503" y="6247331"/>
              <a:ext cx="2880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Grand canonical ensemble: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E564249D-0F7A-4B56-8EBC-5E81EF83E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896552" y="6247331"/>
              <a:ext cx="1945507" cy="482072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A990F16D-BFFC-478D-861B-71B22AD0E4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r="21359" b="12916"/>
            <a:stretch/>
          </p:blipFill>
          <p:spPr>
            <a:xfrm>
              <a:off x="8057553" y="5996308"/>
              <a:ext cx="2549488" cy="733096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02B6DD-4387-4CB6-8ADA-BA2CAB5B595F}"/>
              </a:ext>
            </a:extLst>
          </p:cNvPr>
          <p:cNvGrpSpPr/>
          <p:nvPr/>
        </p:nvGrpSpPr>
        <p:grpSpPr>
          <a:xfrm>
            <a:off x="7979295" y="4033951"/>
            <a:ext cx="3727735" cy="990180"/>
            <a:chOff x="7979295" y="4033951"/>
            <a:chExt cx="3727735" cy="99018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B44DC7-4A1B-419C-9AEE-40B5912E9D40}"/>
                </a:ext>
              </a:extLst>
            </p:cNvPr>
            <p:cNvSpPr txBox="1"/>
            <p:nvPr/>
          </p:nvSpPr>
          <p:spPr>
            <a:xfrm>
              <a:off x="8264869" y="4033951"/>
              <a:ext cx="34421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Energy eigenstate representation</a:t>
              </a: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038D4FA5-61C9-4DEA-86EB-0BC268B072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t="1" r="22474" b="6070"/>
            <a:stretch/>
          </p:blipFill>
          <p:spPr>
            <a:xfrm>
              <a:off x="7979295" y="4328451"/>
              <a:ext cx="2310112" cy="6956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B15115D-579E-495A-9C2B-79E0B8272155}"/>
              </a:ext>
            </a:extLst>
          </p:cNvPr>
          <p:cNvGrpSpPr/>
          <p:nvPr/>
        </p:nvGrpSpPr>
        <p:grpSpPr>
          <a:xfrm>
            <a:off x="7129513" y="3162116"/>
            <a:ext cx="3732176" cy="743203"/>
            <a:chOff x="7129513" y="3162116"/>
            <a:chExt cx="3732176" cy="743203"/>
          </a:xfrm>
        </p:grpSpPr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9CA4A5EF-6D7A-44AC-8D25-6AFBA9424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8099605" y="3162116"/>
              <a:ext cx="1934632" cy="462989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AAA09A-52D7-4B81-B3A9-9100C5247003}"/>
                </a:ext>
              </a:extLst>
            </p:cNvPr>
            <p:cNvSpPr txBox="1"/>
            <p:nvPr/>
          </p:nvSpPr>
          <p:spPr>
            <a:xfrm>
              <a:off x="7129513" y="3535987"/>
              <a:ext cx="3732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It is okay to have off diagonal terms.</a:t>
              </a:r>
            </a:p>
          </p:txBody>
        </p: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67C1351-D649-4775-8126-F9A0DC08F2F6}"/>
              </a:ext>
            </a:extLst>
          </p:cNvPr>
          <p:cNvSpPr/>
          <p:nvPr/>
        </p:nvSpPr>
        <p:spPr>
          <a:xfrm>
            <a:off x="5798396" y="4403283"/>
            <a:ext cx="2043663" cy="24348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671ABD-4BF9-4888-B782-658A3794A02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8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51DE-29FA-4675-A191-C96A4F76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5A5BE1-254E-4A0A-8ADB-1438C49468CA}"/>
              </a:ext>
            </a:extLst>
          </p:cNvPr>
          <p:cNvGrpSpPr/>
          <p:nvPr/>
        </p:nvGrpSpPr>
        <p:grpSpPr>
          <a:xfrm>
            <a:off x="4719623" y="2039803"/>
            <a:ext cx="2544341" cy="1510019"/>
            <a:chOff x="4719623" y="2039803"/>
            <a:chExt cx="2544341" cy="1510019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917B587-68E7-4183-9715-855D3C3E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19623" y="2408207"/>
              <a:ext cx="2382541" cy="85841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AF06C4-3597-4329-B403-581420C34502}"/>
                </a:ext>
              </a:extLst>
            </p:cNvPr>
            <p:cNvSpPr txBox="1"/>
            <p:nvPr/>
          </p:nvSpPr>
          <p:spPr>
            <a:xfrm>
              <a:off x="4884786" y="3180490"/>
              <a:ext cx="1884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Too complicated.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94C571-2A4A-4501-AFC7-4811F7511250}"/>
                </a:ext>
              </a:extLst>
            </p:cNvPr>
            <p:cNvSpPr txBox="1"/>
            <p:nvPr/>
          </p:nvSpPr>
          <p:spPr>
            <a:xfrm>
              <a:off x="4811754" y="2039803"/>
              <a:ext cx="2452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Canonical ensemble: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4C614752-0594-41F9-9767-89C9C84EA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6912" y="4742321"/>
            <a:ext cx="491340" cy="5127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B9491C-0BB4-4114-9E46-5D75DF1AE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7694E19-50E2-419B-92E2-D5B35449BB42}"/>
              </a:ext>
            </a:extLst>
          </p:cNvPr>
          <p:cNvGrpSpPr/>
          <p:nvPr/>
        </p:nvGrpSpPr>
        <p:grpSpPr>
          <a:xfrm>
            <a:off x="8395703" y="1984271"/>
            <a:ext cx="3143233" cy="1363061"/>
            <a:chOff x="8395703" y="1984271"/>
            <a:chExt cx="3143233" cy="13630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EB5469-FFF3-4F89-8C06-DA8DD48D8229}"/>
                </a:ext>
              </a:extLst>
            </p:cNvPr>
            <p:cNvSpPr txBox="1"/>
            <p:nvPr/>
          </p:nvSpPr>
          <p:spPr>
            <a:xfrm>
              <a:off x="8395703" y="1984271"/>
              <a:ext cx="3143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Grand canonical ensemble: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54550B2-C911-422E-9169-3AF030A59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95703" y="2524122"/>
              <a:ext cx="2499567" cy="823210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6BC2EE6-AEAE-49CE-9FC7-45C061C288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5476" y="4547052"/>
            <a:ext cx="1827898" cy="73442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2288D98-4D1B-4B8A-AAF7-B4569363DF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87477" y="5233789"/>
            <a:ext cx="1994566" cy="7207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9E59BDE-424B-4D88-A48F-86633463DBDD}"/>
              </a:ext>
            </a:extLst>
          </p:cNvPr>
          <p:cNvGrpSpPr/>
          <p:nvPr/>
        </p:nvGrpSpPr>
        <p:grpSpPr>
          <a:xfrm>
            <a:off x="223846" y="4432948"/>
            <a:ext cx="2973039" cy="2533831"/>
            <a:chOff x="223846" y="4432948"/>
            <a:chExt cx="2973039" cy="253383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446772EE-7B30-46E5-AA28-2D51BF6109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20394"/>
            <a:stretch/>
          </p:blipFill>
          <p:spPr>
            <a:xfrm>
              <a:off x="1791605" y="4794542"/>
              <a:ext cx="1273638" cy="48693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FBD501C-2C76-4B07-8A90-17DA9C7E0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37354" y="5289331"/>
              <a:ext cx="1727889" cy="64111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39E6A0-AA39-44F2-A95E-7A0E7A366C82}"/>
                </a:ext>
              </a:extLst>
            </p:cNvPr>
            <p:cNvSpPr txBox="1"/>
            <p:nvPr/>
          </p:nvSpPr>
          <p:spPr>
            <a:xfrm>
              <a:off x="223846" y="4432948"/>
              <a:ext cx="220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Occupation number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AD2C15B-7C02-45BA-A064-A9440A1D8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1165659" y="5865885"/>
              <a:ext cx="2031226" cy="110089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D457CF-48D6-4B9D-84E8-A93DFCAF5139}"/>
              </a:ext>
            </a:extLst>
          </p:cNvPr>
          <p:cNvGrpSpPr/>
          <p:nvPr/>
        </p:nvGrpSpPr>
        <p:grpSpPr>
          <a:xfrm>
            <a:off x="624626" y="2039803"/>
            <a:ext cx="3713298" cy="2237474"/>
            <a:chOff x="624626" y="2039803"/>
            <a:chExt cx="3713298" cy="22374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6054B8-33C4-482A-B82B-915D39139ECE}"/>
                </a:ext>
              </a:extLst>
            </p:cNvPr>
            <p:cNvSpPr txBox="1"/>
            <p:nvPr/>
          </p:nvSpPr>
          <p:spPr>
            <a:xfrm>
              <a:off x="881452" y="2039803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8582914-C07F-44DC-8ADE-E6E6F5C1B1BA}"/>
                </a:ext>
              </a:extLst>
            </p:cNvPr>
            <p:cNvGrpSpPr/>
            <p:nvPr/>
          </p:nvGrpSpPr>
          <p:grpSpPr>
            <a:xfrm>
              <a:off x="624626" y="2543177"/>
              <a:ext cx="3713298" cy="1734100"/>
              <a:chOff x="624626" y="2543177"/>
              <a:chExt cx="3713298" cy="173410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A20AE5A-3E1A-4BA6-B81C-C7414039ADA8}"/>
                  </a:ext>
                </a:extLst>
              </p:cNvPr>
              <p:cNvGrpSpPr/>
              <p:nvPr/>
            </p:nvGrpSpPr>
            <p:grpSpPr>
              <a:xfrm>
                <a:off x="624626" y="2543177"/>
                <a:ext cx="2625618" cy="1734100"/>
                <a:chOff x="624626" y="2543177"/>
                <a:chExt cx="2625618" cy="1734100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A109E37A-AC0F-41D5-A3DD-CDFBF658C1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9"/>
                <a:srcRect l="1" t="2" r="-1343" b="-5536"/>
                <a:stretch/>
              </p:blipFill>
              <p:spPr>
                <a:xfrm>
                  <a:off x="1024128" y="2543177"/>
                  <a:ext cx="2226116" cy="637313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29DC75A5-C6C8-4965-94AB-A7C3CFC4C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0"/>
                <a:srcRect t="13582"/>
                <a:stretch/>
              </p:blipFill>
              <p:spPr>
                <a:xfrm>
                  <a:off x="624626" y="3225519"/>
                  <a:ext cx="1834575" cy="471335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11200CE-4BE1-4FAA-98B3-F75BC4DA78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0879" y="3833117"/>
                  <a:ext cx="1834575" cy="444160"/>
                </a:xfrm>
                <a:prstGeom prst="rect">
                  <a:avLst/>
                </a:prstGeom>
              </p:spPr>
            </p:pic>
          </p:grp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EF595EAD-99DA-4584-B995-8E4C02DC6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2624429" y="3474737"/>
                <a:ext cx="1713495" cy="608928"/>
              </a:xfrm>
              <a:prstGeom prst="rect">
                <a:avLst/>
              </a:prstGeom>
            </p:spPr>
          </p:pic>
        </p:grp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43B7EFA3-BB86-4B55-AFAF-32D53F4ED2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1DEB06-46E7-4CF8-9202-DCCA8441A588}"/>
              </a:ext>
            </a:extLst>
          </p:cNvPr>
          <p:cNvSpPr/>
          <p:nvPr/>
        </p:nvSpPr>
        <p:spPr>
          <a:xfrm>
            <a:off x="1356911" y="5333696"/>
            <a:ext cx="1839973" cy="5567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9CC5F18-AED9-4D6C-8ED8-BEB194C02030}"/>
              </a:ext>
            </a:extLst>
          </p:cNvPr>
          <p:cNvSpPr/>
          <p:nvPr/>
        </p:nvSpPr>
        <p:spPr>
          <a:xfrm>
            <a:off x="8863918" y="5326390"/>
            <a:ext cx="1960970" cy="5567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BDE8CA-0FA3-4B81-AE61-51E9BD7DA867}"/>
              </a:ext>
            </a:extLst>
          </p:cNvPr>
          <p:cNvSpPr txBox="1"/>
          <p:nvPr/>
        </p:nvSpPr>
        <p:spPr>
          <a:xfrm>
            <a:off x="3196885" y="5409486"/>
            <a:ext cx="161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Most probable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77BC37-1EAB-4260-9D74-FE1DAE8C72E1}"/>
              </a:ext>
            </a:extLst>
          </p:cNvPr>
          <p:cNvSpPr txBox="1"/>
          <p:nvPr/>
        </p:nvSpPr>
        <p:spPr>
          <a:xfrm>
            <a:off x="9036968" y="5890404"/>
            <a:ext cx="161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Average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2C9220B-4CC8-4562-9CEA-162526DFC17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57291"/>
      </p:ext>
    </p:extLst>
  </p:cSld>
  <p:clrMapOvr>
    <a:masterClrMapping/>
  </p:clrMapOvr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0651A4B-DED7-4B88-B9F6-BF71A62E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773E72F-A8D5-43F0-8C10-1EF21CB6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094DDE9-A80A-4305-BBDF-62BBF243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45C261E-7EC8-4DE4-8C3D-C2D781B1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【忠实翻译】统计物理 PHY301：相同粒子的量子统计——Fermi 与 Bose 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identical particles｜全同粒子：所有内禀性质相同、交换后不可区分的粒子。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Bose statistics｜玻色统计：多体波函数交换对称的粒子统计。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Fermi statistics｜费米统计：多体波函数交换反对称的粒子统计。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7F270F4-8B6B-4A16-9D59-CD00058A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702108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3D8D4CE-31E2-47AC-AC96-68AA7FE9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ABB26AE-D0B6-485B-B9FD-B9E0A4D2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704E3D6-0127-4D04-AD69-0FCF9354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4A4FBE1-B8EF-46A8-9C30-8DAE7EEA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【从零讲懂】本讲的核心问题是：相同粒子不可逐个贴标签后，怎样计数多体量子态？交换对称性把粒子分成玻色子与费米子，并最终产生 Bose–Einstein、Fermi–Dirac 与经典 Maxwell–Boltzmann 三种分布。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第7讲：Hilbert 空间、密度矩阵、正则与巨正则系综。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“相同”不只是实验分不出来，而是量子理论中交换不产生新的物理状态。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95B55DB-FC2F-4EE3-A38D-CA6216FC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965371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0DD0F71-2D4A-482E-8F57-83E54CF5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3C5E415-65A1-4CDF-A77C-63F59580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4E52558-28A2-4B25-8BB0-2CF249FE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3E1DC06-AA92-4494-9668-DD2E0A28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【忠实翻译】对两个全同粒子，交换算符 P 只改变粒子标签。交换后的态必须与原态代表同一物理状态，最多相差相位；因 P²=1，在普通三维量子力学中相位只能为 +1 或 -1，分别对应玻色子与费米子。二维还可能出现任意子。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exchange operator｜交换算符：互换两个粒子标签的算符。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anyon｜任意子：二维中交换相位可既非 0 也非 π 的准粒子。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971D73D-19BC-490E-BF35-D011EA6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926735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998A5AA-BDB4-43FF-BD87-256E798E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3C6F865-6BFE-4257-B858-E409667D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FFB1B2F-1E86-4E11-8A17-6E884D0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4C58594-B95E-4DE4-813E-C61A7561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【从零讲懂】连续交换两次回到原态，所以 e^{2iφ}=1。玻色波函数对交换对称，费米波函数反对称。二维粒子的交换路径可拓扑上绕行，因而允许更一般相位，这是 anyon 的来源。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第7讲第11–14页：态矢与幺正算符。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±号作用在整个多体态，不是说粒子带“正/负概率”。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5110F19-F65A-402D-AA2D-D70D5411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663361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496C8F8-B5D8-488B-A26E-B25A41B6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0885E92-638A-42D4-BF70-0F52095E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88E373D-64A7-4826-9EE5-0480D4F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C602D84-9018-4671-B08A-D1363945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P|Ψ(1,2)⟩=e^{iφ}|Ψ(1,2)⟩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P²=1 ⇒ e^{2iφ}=1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boson: P|Ψ⟩=+|Ψ⟩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fermion: P|Ψ⟩=-|Ψ⟩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F0F2C61-F5C9-4273-B5E5-79958E07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303479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70A1A9D-35B2-42CB-8DC9-340F3489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6D6C302-11EF-4058-972B-9F0D771C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FD8D3E8-9CC8-4E13-BF6A-69774F36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4AACAD5-FF4D-423F-9042-E61D1FE6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【忠实翻译】N 粒子玻色态在任意两粒子交换下保持不变；费米态交换任意两粒子时变号。玻色子可有任意多个占据同一单粒子态；费米子受 Pauli 不相容原理限制，同一单粒子态最多一个。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Pauli exclusion principle｜泡利不相容原理：每个费米单粒子态最多占据一个粒子。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occupation number｜占据数：某单粒子能级/态中粒子数。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A6F3FC3-19EC-4808-8B56-F9FC17E5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865541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7AFE9A8-87B8-4E1A-98D1-78F80B3B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D209A9A-062D-412A-833D-832E43A6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870C8F8-22A9-442D-B9E8-748CAF46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C31F310-A052-4194-B4D1-4976378F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【从零讲懂】若两个费米子占据完全相同单粒子态，交换前后波函数一模一样，但反对称又要求它等于自身的负数，只能为零，因此该配置不允许。这里的“态”包含所有量子数；不同自旋仍可算不同单粒子态。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第8讲第2页：交换对称性。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“同一能级”若有简并 g_i，可容纳多个费米子，但每个简并单粒子态仍最多1个。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6437DB0-D678-4EAF-920A-9DBBE361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50423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62B0BE0-4652-4562-96D9-33B0DCA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DFBFEFA-1970-43CA-B7BF-8A640B55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7BDAA3F-BFF0-4975-AA67-07F1209F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A983A0F-707E-4A1A-AF94-B89F775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Ψ_B(…,i,…,j,…)=+Ψ_B(…,j,…,i,…)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Ψ_F(…,i,…,j,…)=-Ψ_F(…,j,…,i,…)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fermion occupation n_i=0 or 1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937D8A6-650C-462D-A581-15A520D5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352458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BAD6AC6-EDC6-40A4-933E-89AB2D39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41C4F05-6B79-4129-A038-3897F2C5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22355A1-BB50-46C7-83BF-BCB505D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0A2A083-B24A-474A-97D1-2336E392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【忠实翻译】能量 εi 的能级有 gi 个简并单粒子态，ni 个粒子占据该能级。玻色计数为 (ni+gi−1)!/[ni!(gi−1)!]；费米计数为 gi!/[ni!(gi−ni)!]。玻色公式可用“星与隔板”理解，费米公式是从 gi 个态选 ni 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degeneracy g_i｜简并度 g_i：同一能量对应的独立单粒子态数。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stars and bars｜星与隔板法：把相同物体分入不同盒子的组合计数。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857F983-3BF0-479E-943B-F203DBA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647690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8ED6437-ACD7-4B77-B8E6-01F4E2FB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ABE5315-3F7F-486E-8455-2B8F00E8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EC29936-45A4-41FB-9C25-CC5C6313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38E15BC-2965-4735-A348-2A48216B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【从零讲懂】宏观态只指定每个能级的总占据 ni；微观态还要指定粒子分布在 gi 个子态的方式。玻色子可重复放入同一格，费米子只能选不同格，因此组合数不同。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组合数与阶乘。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第8讲第3页：占据数限制。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ni 是粒子数，gi 是可用单粒子态数；不要互换。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费米计数要求 ni≤gi。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044A73B-ED04-4071-A9AA-7B2CBCE6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18076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E522AB8-9A32-455D-8101-66E4CD66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8646022-E5CD-4DEE-9ADF-1ABBE42B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1B7E630-C95E-488F-9BDF-AE2CBDA7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D884CEE-9735-4587-A1B2-B509510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W_i^BE=(n_i+g_i-1)!/[n_i!(g_i-1)!]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W_i^FD=g_i!/[n_i!(g_i-n_i)!]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F726551-DE24-471B-B7D5-D7BE0F1C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56877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4B61583-FAE9-44C9-A932-3F8536D3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9C6B266-22BA-4C12-8E74-700B095B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DC7DAA3-4364-483C-B940-95DFE89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2A211F4-3FAC-41C8-8D9B-9B5FD9D5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【忠实翻译】独立能级的总微观态数是各能级计数的乘积。经典 Maxwell–Boltzmann 极限下，第 i 能级的因子为 gi^{ni}/ni!。所有占据数必须满足 ∑i ni=N 与 ∑i niεi=E。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multiplicity｜多重度：与一个宏观占据分布对应的微观态数量。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Maxwell–Boltzmann statistics｜麦克斯韦—玻尔兹曼统计：低占据、可忽略交换效应的经典极限。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0C34828-8B1A-4510-8C0E-850203B1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439954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F90E424-1644-40B5-9421-559FE028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62A9DC6-0EA5-4A57-B123-1BEE5C99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DD9428F-4443-49F1-A68B-EB1D7B3A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4AF86B0-3A46-4851-BE11-E950CAC1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【从零讲懂】1/ni! 消除同能级内对相同粒子的重复标签计数。真正的任务是在两个约束下寻找 W({ni}) 最大的宏观占据分布；粒子数和总能量约束分别引入两个 Lagrange 乘子。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第8讲第4页：单能级计数。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不能把各能级微观态数相加；独立选择应相乘。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AACBA78-9347-4629-9372-39A62733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640952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5654A5A-C2C7-4C00-BB36-D1F87C77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76E63D0-2C2C-4300-9FCA-4FA0E4F8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A51F768-2577-45FE-A744-3CAEBD8F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F562E4B-B930-4C7B-BD2A-93D21101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W_BE=∏i(n_i+g_i-1)!/[n_i!(g_i-1)!]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W_FD=∏i g_i!/[n_i!(g_i-n_i)!]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W_MB=∏i g_i^{n_i}/n_i!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∑i n_i=N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∑i n_iε_i=E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8136C5B-624D-4AE7-8E95-175414DE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521116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BE62223-3B1B-4F80-B0DE-2C143859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4967EDB-C607-4796-B0A7-782AE931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D025DB9-4973-4693-9B00-8032C072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19CEB6D-519C-4E60-8422-CA682CC5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【忠实翻译】热力学极限下，状态总数 Ω 由使 W({ni}) 最大的占据分布 {ni*} 主导，S≈kBlnW({ni*})。在粒子数与能量约束下令 δlnW−α∑δni−β∑εiδni=0。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most probable macrostate｜最概然宏观态：微观态数最大的占据分布。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Lagrange multiplier｜拉格朗日乘子：在极值问题中实施约束的辅助参数。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698CB12-F1CD-45FD-8CE0-C1729BEE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107332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5F6ECCA-8591-4632-94F2-4402B203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FBA78D0-796C-428F-9DE2-7B5BCCCE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8934CE3-D90B-4B4C-A087-86222946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8FB9CB0-6A77-46A4-A43E-52087E16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【从零讲懂】取 ln 把巨大的乘积变成求和，再用 Stirling 近似对 ni 求导。α、β 不是随意常数：与约束匹配后分别成为 -βμ 与 1/(kBT)。最大项主导体现宏观分布的相对涨落很小。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第8讲第5页：W 与两个约束。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Stirling 近似 ln n!≈n ln n-n。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这里 β 最后才由热力学识别为 1/kBT；不要在变分前直接假定而跳过约束。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3E56787-14F5-4EE9-BDD1-0379E8AE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2154495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4DBD324-89BE-46D6-8536-F49E515A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D636560-A3DB-490F-A8ED-6A0A36E3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F3B39FE-1AEF-4CC7-A067-322F3437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175EE1B-0EAB-4BBB-9C59-0CA9E1CA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Ω≈W({n_i*})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S≈kB lnW({n_i*})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δlnW-[α∑iδn_i+β∑iε_iδn_i]=0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2DB23EF-B1A0-45BB-8F5B-5FB2E7A4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33423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3322488-EBB7-4787-BF06-6E8F78E4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E608572-9BB9-4095-850D-55852BF4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BC1FBCD-2362-43E0-BB7A-DD000255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55A201B-1806-4D5A-AB9B-3665DDD9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【忠实翻译】用 a=-1 表示 Bose、a=+1 表示 Fermi、a=0 表示 Maxwell–Boltzmann，最大化得到 ni*=gi/[exp(α+βεi)+a]。识别 α=-βμ、β=1/(kBT) 后，就是三种占据分布的统一写法。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Bose enhancement｜玻色增强：已有粒子会提高同态进一步占据的统计权重。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Pauli blocking｜泡利阻塞：费米态占满后不能再被占据。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63A6B95-1F78-4D2C-B3BF-4CBB6F3D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089840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1FD3858-04B9-4467-B929-2A0B134A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B277FDC-5B07-4B5E-A096-C97D6068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909CD20-5D98-4AED-B227-B29CD6DE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E0E2BBC-26A0-4D16-AF55-C8AC1F3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【从零讲懂】分母的 ±1 是交换统计留下的全部关键差异：玻色的 -1 增强已有占据，费米的 +1 抑制占据；当 exp[β(ε−μ)] 很大时，±1 都可忽略，二者回到经典 Boltzmann 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第8讲第6页：约束极值。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本课件的 a 约定为 BE=-1、FD=+1；有些教材用相反符号变量，必须看分母。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54438BB-4B7D-464C-8F02-9DB1DD06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387881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8F84270-F4CA-4D7B-B901-96212CF0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0A47E98-31BA-4F56-9B9F-1A34C8D4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5774970-D9C4-4225-AA79-4994D47A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27C48FE-2A1E-466B-982D-E6E0B66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a=-1 (BE), +1 (FD), 0 (MB)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n_i*=g_i/[e^{α+βε_i}+a]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α=-βμ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β=1/(kBT)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5. n_i*=g_i/[e^{β(ε_i-μ)}+a]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A52389F-6701-4B1E-93EA-2DCE5E47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321424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510906F-7135-4602-8E56-50378683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8DA7821-5632-49AB-BEFA-C59098A7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8D9A196-EE0C-4B21-8F47-4B38F57C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B65B98A-4E3B-40B8-AEBC-281BC2D5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【忠实翻译】将统一分布代入 ∑ni=N 与 ∑niεi=E 以确定 α、β。课件划掉了“把量子数连续化并令 β→∞ 就得到 MB”的路线，并注明该说法不适合本课。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fugacity z｜逸度 z：z=e^{βμ}，控制平均粒子数。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continuum approximation｜连续谱近似：用能态密度积分替代离散求和。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83C6358-9073-4428-9EF5-B81990A4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58176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A5AD04D-2C46-43E9-9238-708A1EE6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7D28B31-B1C6-4DED-B86F-8183A1F8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66C6E76-6A1F-420F-AA60-39D5C189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52B822D-8296-4293-A92D-D0493FB6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【从零讲懂】正确的经典极限不是单纯 β→∞（低温反而更量子），而是每个态的平均占据很小：z e^{-βε}≪1，等价于 nλT³≪1。连续态近似则要求能级间隔远小于 kBT，是另一项独立条件。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第8讲第7页：统一分布。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热波长和数密度。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不要把 β→∞ 当成经典极限；β→∞ 是低温极限，通常量子效应更强。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课件划线删除的推理应当作为被否定内容呈现。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27D5DFC-269C-4290-AB6C-1750BCDE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1999242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1F032BB-FA76-4B56-902E-F70D15B2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69CDAAC-037E-4197-91F5-09B7AF3A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57288A3-AF93-4AF3-9615-410A56E4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L08-08｜公式与符号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6B4DD86-F45C-4E8B-BD89-A71EB2CB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∑i g_i/[e^{α+βε_i}+a]=N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∑i g_iε_i/[e^{α+βε_i}+a]=E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classical dilute condition: z e^{-βε}≪1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nλ_T³≪1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B071265-31F4-462B-ADDC-C31782B8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0286151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A1DB8EF-A8E2-4710-83E3-E45D7392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755DF54-2FF7-46FD-A2C9-6058A949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C1E91B8-8DF5-4D3B-BD93-4AA83BF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33C6559-267A-4623-AE34-0724622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【忠实翻译】由最大多重度可写出 Bose/Fermi 熵，再与热力学关系比较得到 α=-μ/(kBT)、β=1/(kBT)。量子理想气体满足 PV=(kBT/a)∑i gi ln[1+a exp(-α-βεi)]。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quantum-gas equation｜量子气体状态方程：由 Bose/Fermi 统计决定的 P,T,μ 关系。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grand potential｜巨势：𝒢=-kBTlnQ=-PV（均匀体系）。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C527663-5D17-47EE-BC55-06C1411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891681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C903A57-2BAB-4DF0-88E2-2DF474F1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CAEE11F-8E70-47E0-932C-CD9847D3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BFB796D-BFA5-4B83-874C-5DA6D328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95C680E-C582-4C3E-B40C-75EF2316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【从零讲懂】压力来自巨势：lnQ 对体积通常成正比，故 PV=kBTlnQ。统一参数 a 让两种量子统计共用一个表达式；a→0 的极限需先展开 ln(1+ax)≈ax，不能直接除以零。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第8讲第6–8页：最概然分布。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巨正则系综 kBTlnQ=PV。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a=0 时要取极限而不是直接把 a 代入分母。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B1EBC74-5FA0-495E-A36C-75AA7989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1095816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C2E44AC-1031-4CD7-A3B0-D0500B5F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6FC27D0-9FE5-4640-9CD4-7E7A4007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7774FA1-E865-417E-A181-13153146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L08-09｜公式与符号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21DC426-5C30-4E1D-9958-182F240A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α=-μ/(kBT), β=1/(kBT)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PV=(kBT/a)∑i g_i ln{1+a e^{-α-βε_i}}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35A073C-BDEB-4CAB-BC0A-66F25A3E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8460465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3713678-3427-44B6-8039-FDB1269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A35ACE2-978C-4AEA-A166-8C7586FF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A834F72-408B-48A1-A429-31B2311B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L08-10｜忠实翻译与术语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1BC8B67-B748-46CA-9622-7B2E903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【忠实翻译】在低逸度/低占据极限，ln(1+a x)≈a x，量子气体状态方程退化为 PV=kBT∑i gi e^{-α-βεi}=NkBT，即经典理想气体定律。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dilute limit｜稀薄极限：每个单粒子态的平均占据远小于1。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classical limit｜经典极限：交换统计对宏观量的修正可忽略。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8936B37-EB29-434F-9BBA-5A59786C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7299807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41E720E-CE91-422D-989F-2447A204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77B0F76-279B-4DCA-B653-9E18207B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0F9FAC8-86F7-47CD-A958-0163BD5F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L08-10｜入门讲解与易错点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34AF88F-F88E-4E9E-B6AF-3973A5F8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【从零讲懂】这说明 MB 分布不是第三种基本交换对称性，而是 BE 与 FD 在粒子稀、波包重叠可忽略时的共同近似。首个量子修正的正负则区分玻色“有效吸引”和费米“有效排斥”。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第8讲第9页：量子气体方程。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高温通常有利于经典极限，但决定量是 nλT³，而非只看 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EAA281F-FDD2-4530-B1F0-15FFCDEF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0123463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28B57B3-643F-4029-9444-26CCDEF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F0D292F-7FFA-438B-A815-2B0440FD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6737185-F726-4507-806D-9656E77E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L08-10｜公式与符号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31457BD-8C46-496C-A0EA-0D7D8B96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ln(1+a x)≈a 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PV=kBT∑i g_i e^{-α-βε_i}=NkBT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03143A9-8E96-4FE4-8746-2DD2E310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6000029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DE0219F-33D3-4F67-B884-40C8223F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609C64B-204C-4FF7-AEE4-0C1C2FB2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3B035CB-1FA2-46CB-9F83-7CEA93F2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L08-11｜忠实翻译与术语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E21C9D7-2022-4F67-AD77-48CE70D2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【忠实翻译】量子正则系综必须对所有满足 ∑nε=N 的占据数组合求和，约束把各能级耦合起来，计算困难。巨正则系综允许 N 涨落，能级因子化：玻色 Q=∏ε[1−ze^{-βε}]^{-1}，费米 Q=∏ε(1+ze^{-βε})；经典结果为 Q=exp(zV/λ³)。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factorization｜因子化：总配分函数写成各单粒子态因子的乘积。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geometric series｜几何级数：玻色单态占据和 ∑n(ze^{-βε})^n。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883ED1E-9CFF-4906-A488-32713BAA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6074642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E5227DD-43F4-4652-97A6-8D40EAC1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995F52E-FF7F-43D0-887E-1629D325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4B7AB58-95F8-420C-91A3-83B48DAD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L08-11｜入门讲解与易错点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2BA4F8A-CCF2-4A9A-BCD2-5782C03F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【从零讲懂】巨正则的便利来自“每个单粒子态可独立决定占据数”。玻色态对 n=0,1,2,… 求几何级数；费米态只对 n=0,1 求和。最后再用 μ 调节平均粒子数，而不必逐项强制 N 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第8讲第3页：玻色/费米占据限制。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巨正则系综与 z=e^{βμ}。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玻色乘积要求 ze^{-βε}&lt;1；基态处这约束导向 μ≤ε0。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35BC52B-262B-4C6C-A73B-0283E704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3215465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2AD7C38-31E7-4715-861E-0E8D620E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CB9F509-5A87-42C8-93E7-E9EABE0B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482EC39-233C-4FF9-BA40-3FDA9E73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L08-11｜公式与符号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B8573F1-CF77-4A96-A825-B7BC8997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Q_BE=∏ε[1-ze^{-βε}]^{-1}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Q_FD=∏ε(1+ze^{-βε})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Q_MB=exp(zV/λ³)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148D733-5060-4FEF-80B6-BDD0FCC9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8831520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1B1EB89-AC7B-40B1-8B75-46A2347C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6DCD12F-034E-448B-BEB1-55CF609F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FCA8409-38C7-4F7E-90E4-6D02C72A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L08-12｜忠实翻译与术语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7918D15-F287-4D8D-A627-A7B7A208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【忠实翻译】单粒子态 ε 的平均占据为 ⟨nε⟩=1/[z^{-1}e^{βε}+a]。当 z≪1 或更精确地 nλT³≪1 时回到 Maxwell–Boltzmann；图中比较 Bose、Fermi 与经典曲线。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mean occupation｜平均占据数：一个单粒子态的期望粒子数。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phase-space density｜相空间密度：无量纲简并参数 nλT³。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628D8B6-73D1-47A0-BAD9-72ACD29E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0849543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6F9BE2E-A0DA-440D-9F4A-9E715068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7544366-06E8-4C0E-9487-D4F414AB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41FDCF7-C3DA-497F-A354-CD401C67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L08-12｜入门讲解与易错点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07B24D7-E25D-40E0-BBFF-80AD2A40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【从零讲懂】玻色分布在低能处高于经典值，费米分布则被限制不超过1。化学势通过 z 控制整体占据。经典判据可写成平均间距远大于热波长，即 n^{-1/3}≫λT。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第8讲第7、11页：统一分布和巨配分函数。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源页似乎写 n^{-1/3}≪λ 作为 classical regime，这与标准判据相反；经典应为平均间距远大于热波长。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C8197AD-52CA-4CC7-B053-7EA2CC33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82064817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4353C3B-24A6-44B8-9D25-98490DAE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A5D46DA-BF52-46AA-87A3-EE34124E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D3CD077-E9A4-4C50-9D4E-287C9D4E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L08-12｜公式与符号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DD9619D-E2E1-4719-A0CF-0E93C424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⟨n_ε⟩=1/[z^{-1}e^{βε}+a]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classical: z≪1, nλ_T³≪1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equivalently n^{-1/3}≫λ_T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B9F2073-61FA-4AB9-A54D-1BAE9D2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0266135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1F57D91-7A5F-4859-B62C-409FAC7B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3F9BA26-B499-4634-8F9A-6FED1FCF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C4EB50B-6CF2-4A85-8D2F-EA4143F8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L08-13｜忠实翻译与术语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AC8697C-8637-4F13-9B2B-21884D3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【忠实翻译】单态占据涨落满足 [⟨n²⟩−⟨n⟩²]/⟨n⟩²=z^{-1}e^{βε}=1/⟨n⟩+a。经典 a=0 时相对方差为 1/⟨n⟩；玻色 a=-1 增强涨落，费米 a=+1 因泡利限制而抑制绝对方差。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bunching｜聚束：玻色子更倾向同时出现，涨落增强。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antibunching｜反聚束：费米子因不相容而避免同态出现。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F4A007B-C338-42EE-93C3-DE58CBF3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2333234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547BF4B-6953-4645-845E-33AC37F9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8DE2D14-A187-407A-A7A6-2A939F7F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215E9BA-926B-4D4F-A88F-1715192A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L08-13｜入门讲解与易错点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0F4F974-CBB9-4EAF-924A-8320F192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【从零讲懂】可改写为 Var(n)=⟨n⟩[1−a⟨n⟩]：玻色为 n̄(1+n̄)，费米为 n̄(1−n̄)。这正是 bunching 与 antibunching 的数学来源，也是粒子统计可由噪声测量识别的原因。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第8讲第12页：平均占据。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方差定义。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相对方差和绝对方差不要混用；当 n̄ 很小时相对涨落可很大。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15382EB-D777-4016-A24F-04A1F6DD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0536138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FF81D68-AF93-41CC-9A09-23A49CA5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58FD281-8285-4125-80B0-032AE6D9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ED4D5F7-0DA4-4C09-8200-E267F8B0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L08-13｜公式与符号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F4A5D53-2864-47CE-BC0B-4A28F669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Var(n)/⟨n⟩²=z^{-1}e^{βε}=1/⟨n⟩+a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Var_BE(n)=n̄(1+n̄)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Var_FD(n)=n̄(1-n̄)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Var_MB(n)=n̄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9113F80-9192-4B3E-A8A5-7A0B2E57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1645464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22F1771-1E10-4D1C-BB6D-0CE92198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F4EC2D7-F689-4F5B-AF02-B4BB8EA1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45F737B-9286-41F0-8F68-B9725114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L08-14｜忠实翻译与术语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FDCFDF6-33D5-4A3A-9683-2C8D9C52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【忠实翻译】单态占据的完整概率分布：玻色为几何分布，允许 n=0,1,2,…；费米为 Bernoulli 分布，只允许0或1；经典为 Poisson 分布。它们的均值相近时，方差与高阶统计仍不同。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geometric distribution｜几何分布：玻色单态占据的分布。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Bernoulli distribution｜伯努利分布：只有0/1两种结果的分布。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Poisson distribution｜泊松分布：独立稀有事件计数分布。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C2B5D6F-E90F-48DC-9B7B-5A51CD7A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0047432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EB41A26-7935-44C3-9FA5-924A84FE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6CD9624-E1C6-4177-807C-DBC215B8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1A79960-705A-4768-8905-56F800CB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L08-14｜入门讲解与易错点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1849C2D-E16D-4963-99C4-7EF247CA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【从零讲懂】只知道平均值不足以区分统计。玻色几何分布尾巴更长，费米 Bernoulli 被严格截断，经典 Poisson 介于直观之间。由单态巨配分函数除以归一化即可得到 P(n)。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第8讲第11–13页：单态配分因子与涨落。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费米“每个态最多1个”不等于每个能级最多1个；简并子态各自可占1个。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F3639B4-05C9-4B36-ABEC-FE2440FE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0586418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9BAD54A-D8E6-4046-A805-AE2431AD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2FD4248-92E8-4749-8F4C-493FA829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56FA814-1ED5-4E36-B768-AF1B9996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L08-14｜公式与符号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4C1B6C1-B9A3-4352-9B30-8BDDE25A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BE: P(n)=(1-ze^{-βε})(ze^{-βε})^n, n=0,1,…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FD: P(1)=ze^{-βε}/(1+ze^{-βε}), P(0)=1/(1+ze^{-βε})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MB: P(n)=e^{-n̄}n̄^n/n!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2611353-4720-46B2-AB72-E4E89004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9243576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6CFB52F-F667-43CF-8097-4A6BBEB9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0E906AF-B607-4543-AEC2-DEBA79AD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9801532-98AD-480D-A02D-4318A9A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L08-15｜忠实翻译与术语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59ADE0D-3E6B-4EDA-8A51-2E30E118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【忠实翻译】本页复习：能量本征态满足 H|n⟩=En|n⟩，可观测量由 Hermitian 算符表示，测量概率由投影给出；封闭系统按幺正演化前进。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observable｜可观测量：由 Hermitian 算符表示。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unitary evolution｜幺正演化：保持内积与概率的演化。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DEBD675-B1FF-4E16-8974-92753E7C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9701193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009C276-684D-4342-9623-536B4E7C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5582BCF-AA7E-4B22-A9D1-4438E247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152960D-C304-4BED-BD58-62DF913F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L08-15｜入门讲解与易错点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EE4D7F0-84FE-4699-AEEB-7A2D23E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【从零讲懂】这些规则是后续密度矩阵和量子系综的底座。统计混合不能破坏量子测量规则，只是把纯态期望值再按制备概率平均。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第7讲第12–14页；本页为重复复习。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期望值不是一次测量必得值。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C6F8FDD-75A1-41A0-8494-721A0365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4376153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4930B2B-7150-4F32-83C7-B14732C1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4FBA232-478C-477C-9CE5-B5C0127E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27DD86C-3A0C-459A-9336-05215B00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L08-15｜公式与符号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69733C8-8F72-41C3-985A-7EEDC02C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H|n⟩=E_n|n⟩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O†=O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⟨O⟩=⟨Ψ|O|Ψ⟩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U(t)=e^{-iHt/ℏ}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DC9E817-D8F2-4112-B1A7-41C0BC76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8630910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7AD6EF3-D8F4-45DD-86D8-8D4357F8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1DA956E-8606-4D8D-A402-B490084A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2D2B63F-3108-4655-B249-CD5885FB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L08-16｜忠实翻译与术语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87D213C-09B9-45EA-994C-8FA60A7D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【忠实翻译】若系统以概率 pα 处于 |Ψα⟩，密度矩阵为 ρ=∑αpα|Ψα⟩⟨Ψα|，任意可观测量平均为 tr(ρO)。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density matrix｜密度矩阵：编码量子与经典统计不确定性的算符。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mixed state｜混合态：由多个纯态按概率组成的状态。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1A59538-B316-43EE-A562-CAF384E2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2738309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A022940-48F2-4941-B303-4E3CF7A2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5CC7E21-34DF-4E1D-95C8-F1C331C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E5BCCFB-4732-49D2-B465-DFB5300B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L08-16｜入门讲解与易错点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951EF5E-1236-4240-B060-4011303D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【从零讲懂】密度矩阵是从单个量子态过渡到量子统计系综的桥梁。正则密度算符 e^{-βH}/Z 就是能量本征态按 Boltzmann 权重混合的特殊例子。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第7讲第15页；本页为重复复习。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同一个 ρ 可有不同纯态分解，分解本身通常不是唯一物理事实。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19B5384-D8FF-4714-A73B-8C8135A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3706566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CA99F16-16F5-48AE-9243-F417F031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207D624-A71A-4CD2-A8A5-C3FD04DF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24F0E7C-D33E-44A6-8F06-CF262ECF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L08-16｜公式与符号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78B689B-E3D6-4AE8-8D76-CF9DC064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ρ=∑αpα|Ψα⟩⟨Ψα|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⟨O⟩=tr(ρO)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0E0347A-4212-4D59-8E48-9B7F5ED9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7495052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2028A75-8F6E-41BE-B5EB-E39D02AA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9750420-BDFD-4DB8-B82A-183F30C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15B22D7-F1DE-4046-AE54-00AC74DE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L08-17｜忠实翻译与术语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EF15F72-1676-4BE9-A6E5-68135881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【忠实翻译】合法密度矩阵满足 trρ=1、ρ=ρ†、ρ≥0；纯度由 trρ² 判断。封闭系统按 iℏ∂ρ/∂t=[H,ρ] 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positivity｜正性：所有测量概率非负。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von Neumann equation｜冯诺依曼方程：密度矩阵的量子运动方程。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F326EC4-2B88-49CA-8D6A-91495FC7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8113340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0D7F45A-94ED-4262-A23B-EE130CDA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5B983F7-8F12-41F3-9D28-641CDDBB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7BAB919-A9AE-41CA-8102-951674A5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L08-17｜入门讲解与易错点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7484E4E-B134-4DD3-BABE-F8DC466D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【从零讲懂】归一、Hermitian、正性三条件确保概率解释；冯诺依曼方程确保这些性质在幺正演化中保持。热平衡需要 [H,ρ]=0。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第7讲第16–18页；本页为重复复习。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矩阵元逐项非负不是正半定的定义。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F6B0997-CC6D-4977-B2D5-69EE781B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8278535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ECBA5A4-5220-407D-B82A-DBC8303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879B15C-0442-4DF4-95A8-3B911350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1A3B8AD-9B5F-45E7-8214-6F0C578D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L08-17｜公式与符号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7A0E36A-5086-4D4E-8DA4-3F2BC008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trρ=1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ρ†=ρ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ρ≥0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4. iℏ∂ρ/∂t=[H,ρ]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C2F2DC7-1A26-423C-92A6-42FD14B1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5333516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CC260C7-A1AB-42CF-8701-677092C8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A477A8E-0B25-4F9A-B1A1-C22AC2A3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A6CEC41-B7A8-4AF3-861F-81F2E108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L08-18｜忠实翻译与术语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05AEA27-B634-4D46-AC3D-38E90C96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【忠实翻译】热平衡要求 [H,ρ]=0。微正则密度算符投影到固定能量壳；正则为 ρ=e^{-βH}/Z；巨正则为 ρ=e^{-β(H-μN)}/Q。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thermal density operator｜热密度算符：平衡量子系综的 ρ。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Hilbert-space trace｜希尔伯特空间迹：对完备量子基求对角元和。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A21ABEA-1D90-4713-B325-EF0DACBA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78916697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5C230BC-D992-40B5-8097-D17F6AED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F4B3EB5-037D-4356-A2F0-20DCC0FB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C1037FF-24EC-4B42-BCED-78B4047B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L08-18｜入门讲解与易错点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51ACEC2-7CCD-4236-A1CE-2FBC810C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【从零讲懂】量子系综与经典系综结构相同，但 H、N 是算符，归一化用 Hilbert 空间迹。对无相互作用系统，巨正则形式可在单粒子态上因子化，直接导出 Bose/Fermi 占据。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第7讲第19页；本页为重复复习。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若 H 与 N 不对易，简单的 e^{-β(H-μN)} 形式需要重新审视；通常粒子数守恒时 [H,N]=0。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7FB1E42-0007-4D70-8354-0E20AA91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6326285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CB9050A-0D6F-41C3-B467-5A7B2B2B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CDF7668-DF8A-414A-A381-12C4D578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B40713D-87CF-4DDB-9990-50D59B84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L08-18｜公式与符号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C8C7DD2-1AC3-44B0-9805-0306D3BF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ρ_micro∝δ(H-E)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ρ_can=e^{-βH}/Z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3. ρ_grand=e^{-β(H-μN)}/Q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3BAFBF4-1B3D-45E4-9DB6-E164E922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3116180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44DE235-E6B6-45D6-844D-5A5C1592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F446163-A47F-47DF-8227-F1FAE63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376053B-B7C1-4383-8DC8-6F0BD8FB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L08-19｜忠实翻译与术语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997AD49-B1E3-40E3-B052-DE36A847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【忠实翻译】微正则和正则系综中固定 N 的占据数组合约束使量子计数非常复杂；巨正则系综允许 N 涨落后，每个单粒子态独立，平均占据直接得到 1/[z^{-1}e^{βε}+a]。热力学极限中，微正则最概然占据与巨正则平均占据相同。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【术语卡】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ensemble equivalence｜系综等价：热力学极限下不同约束给出相同宏观结果。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most probable vs mean｜最概然值与平均值：大系统分布尖锐时二者重合。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EC5E622-0C8A-43F3-9A6E-91B90B7F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7738270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0408AAF-5661-438A-A4C8-D416DAEC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CF65AB1-1B82-437B-9B89-108B41DC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D095A0B-E12C-4528-9E59-F2AEA772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L08-19｜入门讲解与易错点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DE89A9F-44A3-42B7-9937-B8BA343D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【从零讲懂】这不是说真实系统必须大量交换粒子，而是利用系综等价选择最方便的计算语言。算完后通过化学势使 ⟨N⟩ 等于目标 N；相对粒子数涨落通常按 1/√N 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【读本页前先会】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第8讲第11–14页：巨正则因子化和占据统计。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【最容易错】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• 系综等价不是所有有限系统或临界条件下都严格成立。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7C7CF1A-67AA-4015-A5A1-2455C769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1667049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17AB5DC-B538-44FC-AD49-42B7AFFD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19B073A-7127-4C7D-9B08-B0A1163A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2756407-0E6D-4373-8A6B-AAF957BA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L08-19｜公式与符号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5CB7647-25BF-4536-BBC6-A024DCD1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【逐式核对原页】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1. ⟨n_ε⟩=1/[z^{-1}e^{βε}+a]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2. relative number fluctuation ∝1/√N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30285BA-6836-4668-88D3-DDA77B96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17194783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50535</TotalTime>
  <Words>595</Words>
  <Application>Microsoft Office PowerPoint</Application>
  <PresentationFormat>Widescreen</PresentationFormat>
  <Paragraphs>183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</vt:lpstr>
      <vt:lpstr>Constantia</vt:lpstr>
      <vt:lpstr>Times New Roman</vt:lpstr>
      <vt:lpstr>Tw Cen MT</vt:lpstr>
      <vt:lpstr>Wingdings 3</vt:lpstr>
      <vt:lpstr>Integral</vt:lpstr>
      <vt:lpstr>Statistical physics phy301</vt:lpstr>
      <vt:lpstr>Quantum mechanics with N-particles</vt:lpstr>
      <vt:lpstr>Quantum mechanics with N-particles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Mechanics</vt:lpstr>
      <vt:lpstr>Density matrix</vt:lpstr>
      <vt:lpstr>Density matrix</vt:lpstr>
      <vt:lpstr>Equilibrium in quantum system</vt:lpstr>
      <vt:lpstr>Quantum statistics of non-interacting particles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1672</cp:revision>
  <dcterms:created xsi:type="dcterms:W3CDTF">2024-08-25T23:32:26Z</dcterms:created>
  <dcterms:modified xsi:type="dcterms:W3CDTF">2025-10-29T12:02:28Z</dcterms:modified>
</cp:coreProperties>
</file>